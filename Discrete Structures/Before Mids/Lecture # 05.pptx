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257" r:id="rId4"/>
    <p:sldId id="258" r:id="rId5"/>
    <p:sldId id="259" r:id="rId6"/>
    <p:sldId id="260" r:id="rId7"/>
    <p:sldId id="261" r:id="rId8"/>
    <p:sldId id="262" r:id="rId9"/>
    <p:sldId id="263" r:id="rId10"/>
    <p:sldId id="281" r:id="rId11"/>
    <p:sldId id="283" r:id="rId12"/>
    <p:sldId id="264" r:id="rId13"/>
    <p:sldId id="265" r:id="rId14"/>
    <p:sldId id="266" r:id="rId15"/>
    <p:sldId id="267" r:id="rId16"/>
    <p:sldId id="268" r:id="rId17"/>
    <p:sldId id="269" r:id="rId18"/>
    <p:sldId id="270" r:id="rId19"/>
    <p:sldId id="271" r:id="rId20"/>
    <p:sldId id="272" r:id="rId21"/>
    <p:sldId id="274"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23" autoAdjust="0"/>
    <p:restoredTop sz="94660"/>
  </p:normalViewPr>
  <p:slideViewPr>
    <p:cSldViewPr showGuides="1">
      <p:cViewPr varScale="1">
        <p:scale>
          <a:sx n="66" d="100"/>
          <a:sy n="66" d="100"/>
        </p:scale>
        <p:origin x="143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32FFEF-1113-4E60-88FE-EA47470A374B}"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CEA7A-0DCF-4742-BD22-DF14B59E452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73AE37AA-4ADA-4492-8893-14EEC95ADC5E}" type="datetimeFigureOut">
              <a:rPr lang="en-US" smtClean="0"/>
            </a:fld>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CB2CFDAD-2A26-4686-9CA8-B01433D3CFBE}" type="slidenum">
              <a:rPr lang="en-US" smtClean="0"/>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a:xfrm>
            <a:off x="6400800" y="6355080"/>
            <a:ext cx="2286000" cy="365760"/>
          </a:xfrm>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CB2CFDAD-2A26-4686-9CA8-B01433D3CFBE}" type="slidenum">
              <a:rPr lang="en-US" smtClean="0"/>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73AE37AA-4ADA-4492-8893-14EEC95ADC5E}"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B2CFDAD-2A26-4686-9CA8-B01433D3CFBE}" type="slidenum">
              <a:rPr lang="en-US" smtClean="0"/>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AE37AA-4ADA-4492-8893-14EEC95ADC5E}"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B2CFDAD-2A26-4686-9CA8-B01433D3CFBE}" type="slidenum">
              <a:rPr lang="en-US" smtClean="0"/>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E37AA-4ADA-4492-8893-14EEC95ADC5E}"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B2CFDAD-2A26-4686-9CA8-B01433D3CFBE}" type="slidenum">
              <a:rPr lang="en-US" smtClean="0"/>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73AE37AA-4ADA-4492-8893-14EEC95ADC5E}"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B6D8E66E-9F63-44B4-A1AD-0A85D9072691}"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73AE37AA-4ADA-4492-8893-14EEC95ADC5E}" type="datetimeFigureOut">
              <a:rPr lang="en-US" smtClean="0"/>
            </a:fld>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B2CFDAD-2A26-4686-9CA8-B01433D3CFBE}" type="slidenum">
              <a:rPr lang="en-US" smtClean="0"/>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panose="05040102010807070707"/>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panose="05040102010807070707"/>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panose="05040102010807070707"/>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panose="05000000000000000000"/>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panose="05000000000000000000"/>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smtClean="0">
                <a:solidFill>
                  <a:srgbClr val="C00000"/>
                </a:solidFill>
              </a:rPr>
              <a:t>ARGUMENTS</a:t>
            </a:r>
            <a:br>
              <a:rPr lang="en-US" b="1" u="sng" dirty="0" smtClean="0">
                <a:solidFill>
                  <a:srgbClr val="C00000"/>
                </a:solidFill>
              </a:rPr>
            </a:br>
            <a:br>
              <a:rPr lang="en-US" b="1" dirty="0" smtClean="0">
                <a:solidFill>
                  <a:schemeClr val="tx1">
                    <a:lumMod val="95000"/>
                    <a:lumOff val="5000"/>
                  </a:schemeClr>
                </a:solidFill>
              </a:rPr>
            </a:br>
            <a:br>
              <a:rPr lang="en-US" b="1" dirty="0" smtClean="0">
                <a:solidFill>
                  <a:schemeClr val="tx1">
                    <a:lumMod val="95000"/>
                    <a:lumOff val="5000"/>
                  </a:schemeClr>
                </a:solidFill>
              </a:rPr>
            </a:br>
            <a:endParaRPr lang="en-US" b="1" u="sng" dirty="0">
              <a:solidFill>
                <a:srgbClr val="C00000"/>
              </a:solidFill>
            </a:endParaRPr>
          </a:p>
        </p:txBody>
      </p:sp>
      <p:sp>
        <p:nvSpPr>
          <p:cNvPr id="3" name="Subtitle 2"/>
          <p:cNvSpPr>
            <a:spLocks noGrp="1"/>
          </p:cNvSpPr>
          <p:nvPr>
            <p:ph type="subTitle" idx="1"/>
          </p:nvPr>
        </p:nvSpPr>
        <p:spPr/>
        <p:txBody>
          <a:bodyPr/>
          <a:lstStyle/>
          <a:p>
            <a:pPr algn="ctr"/>
            <a:r>
              <a:rPr lang="en-US" b="1" dirty="0" smtClean="0">
                <a:solidFill>
                  <a:schemeClr val="tx1">
                    <a:lumMod val="95000"/>
                    <a:lumOff val="5000"/>
                  </a:schemeClr>
                </a:solidFill>
                <a:sym typeface="+mn-ea"/>
              </a:rPr>
              <a:t>Lecture # 05</a:t>
            </a:r>
            <a:endParaRPr lang="en-US" b="1"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Today’s Lecture</a:t>
            </a:r>
            <a:endParaRPr lang="en-US" b="1" dirty="0"/>
          </a:p>
        </p:txBody>
      </p:sp>
      <p:sp>
        <p:nvSpPr>
          <p:cNvPr id="3" name="Content Placeholder 2"/>
          <p:cNvSpPr>
            <a:spLocks noGrp="1"/>
          </p:cNvSpPr>
          <p:nvPr>
            <p:ph sz="quarter" idx="1"/>
          </p:nvPr>
        </p:nvSpPr>
        <p:spPr/>
        <p:txBody>
          <a:bodyPr>
            <a:normAutofit lnSpcReduction="10000"/>
          </a:bodyPr>
          <a:lstStyle/>
          <a:p>
            <a:r>
              <a:rPr lang="en-US" b="1" u="sng" dirty="0" smtClean="0">
                <a:solidFill>
                  <a:srgbClr val="C00000"/>
                </a:solidFill>
              </a:rPr>
              <a:t>Logic:</a:t>
            </a:r>
            <a:endParaRPr lang="en-US" b="1" u="sng" dirty="0" smtClean="0">
              <a:solidFill>
                <a:srgbClr val="C00000"/>
              </a:solidFill>
            </a:endParaRPr>
          </a:p>
          <a:p>
            <a:pPr>
              <a:buNone/>
            </a:pPr>
            <a:r>
              <a:rPr lang="en-US" dirty="0" smtClean="0"/>
              <a:t>	Logic rules and principles is to distinguish an argument is valid or invalid.</a:t>
            </a:r>
            <a:endParaRPr lang="en-US" dirty="0" smtClean="0"/>
          </a:p>
          <a:p>
            <a:endParaRPr lang="en-US" dirty="0" smtClean="0"/>
          </a:p>
          <a:p>
            <a:r>
              <a:rPr lang="en-US" b="1" u="sng" dirty="0" smtClean="0"/>
              <a:t>Examples of Arguments:</a:t>
            </a:r>
            <a:endParaRPr lang="en-US" b="1" u="sng" dirty="0" smtClean="0"/>
          </a:p>
          <a:p>
            <a:pPr lvl="1"/>
            <a:r>
              <a:rPr lang="en-US" dirty="0" smtClean="0"/>
              <a:t>You have a intuitive idea about argument.  When you are talking with </a:t>
            </a:r>
            <a:r>
              <a:rPr lang="en-US" dirty="0" smtClean="0"/>
              <a:t>your </a:t>
            </a:r>
            <a:r>
              <a:rPr lang="en-US" dirty="0" smtClean="0"/>
              <a:t>friend you give argument.</a:t>
            </a:r>
            <a:endParaRPr lang="en-US" dirty="0" smtClean="0"/>
          </a:p>
          <a:p>
            <a:pPr lvl="1"/>
            <a:r>
              <a:rPr lang="en-US" dirty="0" smtClean="0"/>
              <a:t>Sometimes you say to your friend “what are you saying has no logic” it means you are saying that your argument is not valid.</a:t>
            </a:r>
            <a:endParaRPr lang="en-US" dirty="0" smtClean="0"/>
          </a:p>
          <a:p>
            <a:pPr lvl="1"/>
            <a:r>
              <a:rPr lang="en-US" dirty="0" smtClean="0"/>
              <a:t>Lawyer in court during the trail to defend client, give argument. Judge decision is also based on lawyer argument if its argument is valid then decision will be in his favor.</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Example:</a:t>
            </a:r>
            <a:endParaRPr lang="en-US" b="1" u="sng" dirty="0"/>
          </a:p>
        </p:txBody>
      </p:sp>
      <p:sp>
        <p:nvSpPr>
          <p:cNvPr id="3" name="Content Placeholder 2"/>
          <p:cNvSpPr>
            <a:spLocks noGrp="1"/>
          </p:cNvSpPr>
          <p:nvPr>
            <p:ph sz="quarter" idx="1"/>
          </p:nvPr>
        </p:nvSpPr>
        <p:spPr/>
        <p:txBody>
          <a:bodyPr/>
          <a:lstStyle/>
          <a:p>
            <a:pPr>
              <a:buNone/>
            </a:pPr>
            <a:r>
              <a:rPr lang="en-US" dirty="0" smtClean="0"/>
              <a:t>	</a:t>
            </a:r>
            <a:r>
              <a:rPr lang="en-US" dirty="0" smtClean="0">
                <a:solidFill>
                  <a:srgbClr val="C00000"/>
                </a:solidFill>
              </a:rPr>
              <a:t>A strict teacher keeps me awake.</a:t>
            </a:r>
            <a:endParaRPr lang="en-US" dirty="0" smtClean="0">
              <a:solidFill>
                <a:srgbClr val="C00000"/>
              </a:solidFill>
            </a:endParaRPr>
          </a:p>
          <a:p>
            <a:pPr>
              <a:buNone/>
            </a:pPr>
            <a:r>
              <a:rPr lang="en-US" dirty="0" smtClean="0"/>
              <a:t>	</a:t>
            </a:r>
            <a:r>
              <a:rPr lang="en-US" dirty="0" smtClean="0">
                <a:solidFill>
                  <a:srgbClr val="C00000"/>
                </a:solidFill>
              </a:rPr>
              <a:t>I stay awake in discrete structure class.</a:t>
            </a:r>
            <a:endParaRPr lang="en-US" dirty="0" smtClean="0">
              <a:solidFill>
                <a:srgbClr val="C00000"/>
              </a:solidFill>
            </a:endParaRPr>
          </a:p>
          <a:p>
            <a:pPr>
              <a:buNone/>
            </a:pPr>
            <a:r>
              <a:rPr lang="en-US" dirty="0" smtClean="0"/>
              <a:t>	Therefore, </a:t>
            </a:r>
            <a:r>
              <a:rPr lang="en-US" dirty="0" smtClean="0">
                <a:solidFill>
                  <a:srgbClr val="0070C0"/>
                </a:solidFill>
              </a:rPr>
              <a:t>my discrete structure teacher is strict.</a:t>
            </a:r>
            <a:endParaRPr lang="en-US" dirty="0" smtClean="0">
              <a:solidFill>
                <a:srgbClr val="0070C0"/>
              </a:solidFill>
            </a:endParaRPr>
          </a:p>
          <a:p>
            <a:endParaRPr lang="en-US" dirty="0" smtClean="0">
              <a:solidFill>
                <a:srgbClr val="0070C0"/>
              </a:solidFill>
            </a:endParaRPr>
          </a:p>
          <a:p>
            <a:r>
              <a:rPr lang="en-US" dirty="0" smtClean="0"/>
              <a:t>1</a:t>
            </a:r>
            <a:r>
              <a:rPr lang="en-US" baseline="30000" dirty="0" smtClean="0"/>
              <a:t>st</a:t>
            </a:r>
            <a:r>
              <a:rPr lang="en-US" dirty="0" smtClean="0"/>
              <a:t> two statements we are declaring(</a:t>
            </a:r>
            <a:r>
              <a:rPr lang="en-US" b="1" i="1" dirty="0" smtClean="0">
                <a:solidFill>
                  <a:srgbClr val="7030A0"/>
                </a:solidFill>
              </a:rPr>
              <a:t>premises</a:t>
            </a:r>
            <a:r>
              <a:rPr lang="en-US" dirty="0" smtClean="0"/>
              <a:t>) on this basis 3</a:t>
            </a:r>
            <a:r>
              <a:rPr lang="en-US" baseline="30000" dirty="0" smtClean="0"/>
              <a:t>rd</a:t>
            </a:r>
            <a:r>
              <a:rPr lang="en-US" dirty="0" smtClean="0"/>
              <a:t> line is giving </a:t>
            </a:r>
            <a:r>
              <a:rPr lang="en-US" b="1" i="1" dirty="0" smtClean="0">
                <a:solidFill>
                  <a:srgbClr val="7030A0"/>
                </a:solidFill>
              </a:rPr>
              <a:t>conclusion</a:t>
            </a:r>
            <a:r>
              <a:rPr lang="en-US" dirty="0" smtClean="0"/>
              <a:t>.</a:t>
            </a:r>
            <a:endParaRPr lang="en-US" dirty="0" smtClean="0"/>
          </a:p>
          <a:p>
            <a:endParaRPr lang="en-US" dirty="0" smtClean="0"/>
          </a:p>
          <a:p>
            <a:r>
              <a:rPr lang="en-US" dirty="0" smtClean="0"/>
              <a:t>The argument presenting is, its </a:t>
            </a:r>
            <a:r>
              <a:rPr lang="en-US" dirty="0" smtClean="0">
                <a:solidFill>
                  <a:srgbClr val="FF0000"/>
                </a:solidFill>
              </a:rPr>
              <a:t>valid or not</a:t>
            </a:r>
            <a:r>
              <a:rPr lang="en-US"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ARGUMENT:</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An </a:t>
            </a:r>
            <a:r>
              <a:rPr lang="en-US" b="1" dirty="0" smtClean="0">
                <a:solidFill>
                  <a:srgbClr val="C00000"/>
                </a:solidFill>
              </a:rPr>
              <a:t>argument</a:t>
            </a:r>
            <a:r>
              <a:rPr lang="en-US" b="1" dirty="0" smtClean="0"/>
              <a:t> </a:t>
            </a:r>
            <a:r>
              <a:rPr lang="en-US" dirty="0" smtClean="0"/>
              <a:t>is a list of statements called </a:t>
            </a:r>
            <a:r>
              <a:rPr lang="en-US" b="1" dirty="0" smtClean="0">
                <a:solidFill>
                  <a:srgbClr val="C00000"/>
                </a:solidFill>
              </a:rPr>
              <a:t>premises</a:t>
            </a:r>
            <a:r>
              <a:rPr lang="en-US" dirty="0" smtClean="0"/>
              <a:t> (or </a:t>
            </a:r>
            <a:r>
              <a:rPr lang="en-US" b="1" dirty="0" smtClean="0"/>
              <a:t>assumptions</a:t>
            </a:r>
            <a:r>
              <a:rPr lang="en-US" dirty="0" smtClean="0"/>
              <a:t> or </a:t>
            </a:r>
            <a:r>
              <a:rPr lang="en-US" b="1" dirty="0" smtClean="0"/>
              <a:t>hypotheses</a:t>
            </a:r>
            <a:r>
              <a:rPr lang="en-US" dirty="0" smtClean="0"/>
              <a:t>)</a:t>
            </a:r>
            <a:r>
              <a:rPr lang="en-US" b="1" dirty="0" smtClean="0"/>
              <a:t> </a:t>
            </a:r>
            <a:r>
              <a:rPr lang="en-US" dirty="0" smtClean="0"/>
              <a:t>followed by a statement called the </a:t>
            </a:r>
            <a:r>
              <a:rPr lang="en-US" b="1" dirty="0" smtClean="0">
                <a:solidFill>
                  <a:srgbClr val="C00000"/>
                </a:solidFill>
              </a:rPr>
              <a:t>conclusion</a:t>
            </a:r>
            <a:r>
              <a:rPr lang="en-US" b="1" dirty="0" smtClean="0"/>
              <a:t>.</a:t>
            </a:r>
            <a:r>
              <a:rPr lang="en-US" dirty="0" smtClean="0"/>
              <a:t> </a:t>
            </a:r>
            <a:endParaRPr lang="en-US" dirty="0" smtClean="0"/>
          </a:p>
          <a:p>
            <a:pPr>
              <a:buNone/>
            </a:pPr>
            <a:r>
              <a:rPr lang="en-US" dirty="0" smtClean="0"/>
              <a:t>				P1    </a:t>
            </a:r>
            <a:r>
              <a:rPr lang="en-US" dirty="0" smtClean="0">
                <a:solidFill>
                  <a:srgbClr val="00B0F0"/>
                </a:solidFill>
              </a:rPr>
              <a:t>Premise</a:t>
            </a:r>
            <a:r>
              <a:rPr lang="en-US" dirty="0" smtClean="0"/>
              <a:t> </a:t>
            </a:r>
            <a:endParaRPr lang="en-US" dirty="0" smtClean="0"/>
          </a:p>
          <a:p>
            <a:pPr>
              <a:buNone/>
            </a:pPr>
            <a:r>
              <a:rPr lang="en-US" dirty="0" smtClean="0"/>
              <a:t>				P2   </a:t>
            </a:r>
            <a:r>
              <a:rPr lang="en-US" dirty="0" smtClean="0">
                <a:solidFill>
                  <a:srgbClr val="00B0F0"/>
                </a:solidFill>
              </a:rPr>
              <a:t>Premise</a:t>
            </a:r>
            <a:r>
              <a:rPr lang="en-US" dirty="0" smtClean="0"/>
              <a:t> 	</a:t>
            </a:r>
            <a:endParaRPr lang="en-US" dirty="0" smtClean="0"/>
          </a:p>
          <a:p>
            <a:pPr>
              <a:buNone/>
            </a:pPr>
            <a:r>
              <a:rPr lang="en-US" dirty="0" smtClean="0"/>
              <a:t>				P3    </a:t>
            </a:r>
            <a:r>
              <a:rPr lang="en-US" dirty="0" smtClean="0">
                <a:solidFill>
                  <a:srgbClr val="00B0F0"/>
                </a:solidFill>
              </a:rPr>
              <a:t>Premise</a:t>
            </a:r>
            <a:endParaRPr lang="en-US" dirty="0" smtClean="0">
              <a:solidFill>
                <a:srgbClr val="00B0F0"/>
              </a:solidFill>
            </a:endParaRPr>
          </a:p>
          <a:p>
            <a:pPr>
              <a:buNone/>
            </a:pPr>
            <a:r>
              <a:rPr lang="en-US" dirty="0" smtClean="0"/>
              <a:t>				 . . . . .. . . . . </a:t>
            </a:r>
            <a:endParaRPr lang="en-US" dirty="0" smtClean="0"/>
          </a:p>
          <a:p>
            <a:pPr>
              <a:buNone/>
            </a:pPr>
            <a:r>
              <a:rPr lang="en-US" dirty="0" smtClean="0"/>
              <a:t>				</a:t>
            </a:r>
            <a:r>
              <a:rPr lang="en-US" dirty="0" err="1" smtClean="0"/>
              <a:t>Pn</a:t>
            </a:r>
            <a:r>
              <a:rPr lang="en-US" dirty="0" smtClean="0"/>
              <a:t>     </a:t>
            </a:r>
            <a:r>
              <a:rPr lang="en-US" dirty="0" smtClean="0">
                <a:solidFill>
                  <a:srgbClr val="00B0F0"/>
                </a:solidFill>
              </a:rPr>
              <a:t>Premise</a:t>
            </a:r>
            <a:r>
              <a:rPr lang="en-US" dirty="0" smtClean="0"/>
              <a:t> </a:t>
            </a:r>
            <a:endParaRPr lang="en-US" dirty="0" smtClean="0"/>
          </a:p>
          <a:p>
            <a:pPr>
              <a:buNone/>
            </a:pPr>
            <a:r>
              <a:rPr lang="en-US" dirty="0" smtClean="0"/>
              <a:t>                                ______________</a:t>
            </a:r>
            <a:endParaRPr lang="en-US" dirty="0" smtClean="0"/>
          </a:p>
          <a:p>
            <a:pPr>
              <a:buNone/>
            </a:pPr>
            <a:r>
              <a:rPr lang="en-US" dirty="0" smtClean="0">
                <a:sym typeface="Symbol" panose="05050102010706020507"/>
              </a:rPr>
              <a:t>				</a:t>
            </a:r>
            <a:r>
              <a:rPr lang="en-US" b="1" dirty="0" smtClean="0">
                <a:sym typeface="Symbol" panose="05050102010706020507"/>
              </a:rPr>
              <a:t></a:t>
            </a:r>
            <a:r>
              <a:rPr lang="en-US" dirty="0" smtClean="0"/>
              <a:t>C    </a:t>
            </a:r>
            <a:r>
              <a:rPr lang="en-US" dirty="0" smtClean="0">
                <a:solidFill>
                  <a:srgbClr val="00B050"/>
                </a:solidFill>
              </a:rPr>
              <a:t>Conclusion</a:t>
            </a:r>
            <a:endParaRPr lang="en-US" dirty="0" smtClean="0">
              <a:solidFill>
                <a:srgbClr val="00B050"/>
              </a:solidFill>
            </a:endParaRPr>
          </a:p>
          <a:p>
            <a:pPr>
              <a:buNone/>
            </a:pPr>
            <a:endParaRPr lang="en-US" dirty="0" smtClean="0"/>
          </a:p>
          <a:p>
            <a:r>
              <a:rPr lang="en-US" b="1" u="sng" dirty="0" smtClean="0">
                <a:solidFill>
                  <a:srgbClr val="C00000"/>
                </a:solidFill>
              </a:rPr>
              <a:t>NOTE</a:t>
            </a:r>
            <a:r>
              <a:rPr lang="en-US" dirty="0" smtClean="0">
                <a:solidFill>
                  <a:srgbClr val="C00000"/>
                </a:solidFill>
              </a:rPr>
              <a:t> :</a:t>
            </a:r>
            <a:endParaRPr lang="en-US" dirty="0" smtClean="0">
              <a:solidFill>
                <a:srgbClr val="C00000"/>
              </a:solidFill>
            </a:endParaRPr>
          </a:p>
          <a:p>
            <a:r>
              <a:rPr lang="en-US" dirty="0" smtClean="0"/>
              <a:t>The symbol </a:t>
            </a:r>
            <a:r>
              <a:rPr lang="en-US" b="1" dirty="0" smtClean="0">
                <a:sym typeface="Symbol" panose="05050102010706020507"/>
              </a:rPr>
              <a:t></a:t>
            </a:r>
            <a:r>
              <a:rPr lang="en-US" dirty="0" smtClean="0"/>
              <a:t> read “therefore,” is normally placed just before the conclusion.</a:t>
            </a:r>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t>VALID ARGUMENT</a:t>
            </a:r>
            <a:endParaRPr lang="en-US" dirty="0"/>
          </a:p>
        </p:txBody>
      </p:sp>
      <p:sp>
        <p:nvSpPr>
          <p:cNvPr id="3" name="Content Placeholder 2"/>
          <p:cNvSpPr>
            <a:spLocks noGrp="1"/>
          </p:cNvSpPr>
          <p:nvPr>
            <p:ph sz="quarter" idx="1"/>
          </p:nvPr>
        </p:nvSpPr>
        <p:spPr/>
        <p:txBody>
          <a:bodyPr/>
          <a:lstStyle/>
          <a:p>
            <a:r>
              <a:rPr lang="en-US" dirty="0" smtClean="0"/>
              <a:t>An argument is </a:t>
            </a:r>
            <a:r>
              <a:rPr lang="en-US" b="1" dirty="0" smtClean="0">
                <a:solidFill>
                  <a:srgbClr val="00B050"/>
                </a:solidFill>
              </a:rPr>
              <a:t>valid</a:t>
            </a:r>
            <a:r>
              <a:rPr lang="en-US" b="1" dirty="0" smtClean="0"/>
              <a:t> </a:t>
            </a:r>
            <a:r>
              <a:rPr lang="en-US" dirty="0" smtClean="0"/>
              <a:t>if the conclusion is true when all the premises are true.</a:t>
            </a:r>
            <a:endParaRPr lang="en-US" dirty="0" smtClean="0"/>
          </a:p>
          <a:p>
            <a:endParaRPr lang="en-US" dirty="0" smtClean="0"/>
          </a:p>
          <a:p>
            <a:r>
              <a:rPr lang="en-US" dirty="0" smtClean="0"/>
              <a:t>Alternatively, an argument is </a:t>
            </a:r>
            <a:r>
              <a:rPr lang="en-US" dirty="0" smtClean="0">
                <a:solidFill>
                  <a:srgbClr val="00B050"/>
                </a:solidFill>
              </a:rPr>
              <a:t>valid</a:t>
            </a:r>
            <a:r>
              <a:rPr lang="en-US" dirty="0" smtClean="0"/>
              <a:t> if conjunction of its premises imply conclusion. </a:t>
            </a:r>
            <a:endParaRPr lang="en-US" dirty="0" smtClean="0"/>
          </a:p>
          <a:p>
            <a:endParaRPr lang="en-US" dirty="0" smtClean="0"/>
          </a:p>
          <a:p>
            <a:pPr>
              <a:buNone/>
            </a:pPr>
            <a:r>
              <a:rPr lang="en-US" dirty="0" smtClean="0"/>
              <a:t>	That is  </a:t>
            </a:r>
            <a:r>
              <a:rPr lang="en-US" dirty="0" smtClean="0">
                <a:solidFill>
                  <a:srgbClr val="C00000"/>
                </a:solidFill>
              </a:rPr>
              <a:t>(P1</a:t>
            </a:r>
            <a:r>
              <a:rPr lang="en-US" dirty="0" smtClean="0">
                <a:solidFill>
                  <a:srgbClr val="C00000"/>
                </a:solidFill>
                <a:sym typeface="Symbol" panose="05050102010706020507"/>
              </a:rPr>
              <a:t></a:t>
            </a:r>
            <a:r>
              <a:rPr lang="en-US" dirty="0" smtClean="0">
                <a:solidFill>
                  <a:srgbClr val="C00000"/>
                </a:solidFill>
              </a:rPr>
              <a:t> P2 </a:t>
            </a:r>
            <a:r>
              <a:rPr lang="en-US" dirty="0" smtClean="0">
                <a:solidFill>
                  <a:srgbClr val="C00000"/>
                </a:solidFill>
                <a:sym typeface="Symbol" panose="05050102010706020507"/>
              </a:rPr>
              <a:t></a:t>
            </a:r>
            <a:r>
              <a:rPr lang="en-US" dirty="0" smtClean="0">
                <a:solidFill>
                  <a:srgbClr val="C00000"/>
                </a:solidFill>
              </a:rPr>
              <a:t> P3 </a:t>
            </a:r>
            <a:r>
              <a:rPr lang="en-US" dirty="0" smtClean="0">
                <a:solidFill>
                  <a:srgbClr val="C00000"/>
                </a:solidFill>
                <a:sym typeface="Symbol" panose="05050102010706020507"/>
              </a:rPr>
              <a:t></a:t>
            </a:r>
            <a:r>
              <a:rPr lang="en-US" dirty="0" smtClean="0">
                <a:solidFill>
                  <a:srgbClr val="C00000"/>
                </a:solidFill>
              </a:rPr>
              <a:t> . . . </a:t>
            </a:r>
            <a:r>
              <a:rPr lang="en-US" dirty="0" smtClean="0">
                <a:solidFill>
                  <a:srgbClr val="C00000"/>
                </a:solidFill>
                <a:sym typeface="Symbol" panose="05050102010706020507"/>
              </a:rPr>
              <a:t></a:t>
            </a:r>
            <a:r>
              <a:rPr lang="en-US" dirty="0" smtClean="0">
                <a:solidFill>
                  <a:srgbClr val="C00000"/>
                </a:solidFill>
              </a:rPr>
              <a:t> </a:t>
            </a:r>
            <a:r>
              <a:rPr lang="en-US" dirty="0" err="1" smtClean="0">
                <a:solidFill>
                  <a:srgbClr val="C00000"/>
                </a:solidFill>
              </a:rPr>
              <a:t>Pn</a:t>
            </a:r>
            <a:r>
              <a:rPr lang="en-US" dirty="0" smtClean="0">
                <a:solidFill>
                  <a:srgbClr val="C00000"/>
                </a:solidFill>
              </a:rPr>
              <a:t>) </a:t>
            </a:r>
            <a:r>
              <a:rPr lang="en-US" dirty="0" smtClean="0">
                <a:solidFill>
                  <a:srgbClr val="C00000"/>
                </a:solidFill>
                <a:sym typeface="Symbol" panose="05050102010706020507"/>
              </a:rPr>
              <a:t></a:t>
            </a:r>
            <a:r>
              <a:rPr lang="en-US" dirty="0" smtClean="0">
                <a:solidFill>
                  <a:srgbClr val="C00000"/>
                </a:solidFill>
              </a:rPr>
              <a:t> C</a:t>
            </a:r>
            <a:r>
              <a:rPr lang="en-US" dirty="0" smtClean="0"/>
              <a:t> is a tautology.</a:t>
            </a:r>
            <a:endParaRPr lang="en-US" dirty="0" smtClean="0"/>
          </a:p>
          <a:p>
            <a:pPr>
              <a:buNone/>
            </a:pPr>
            <a:endParaRPr lang="en-US" dirty="0" smtClean="0"/>
          </a:p>
          <a:p>
            <a:r>
              <a:rPr lang="en-US" dirty="0" smtClean="0"/>
              <a:t>In that case if argument becomes </a:t>
            </a:r>
            <a:r>
              <a:rPr lang="en-US" dirty="0" smtClean="0">
                <a:solidFill>
                  <a:srgbClr val="FF0000"/>
                </a:solidFill>
              </a:rPr>
              <a:t>tautology</a:t>
            </a:r>
            <a:r>
              <a:rPr lang="en-US" dirty="0" smtClean="0"/>
              <a:t> then we say the argument is </a:t>
            </a:r>
            <a:r>
              <a:rPr lang="en-US" dirty="0" smtClean="0">
                <a:solidFill>
                  <a:srgbClr val="00B050"/>
                </a:solidFill>
              </a:rPr>
              <a:t>valid</a:t>
            </a:r>
            <a:r>
              <a:rPr lang="en-US" dirty="0" smtClean="0"/>
              <a:t>.</a:t>
            </a:r>
            <a:endParaRPr lang="en-US" dirty="0" smtClean="0"/>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buNone/>
            </a:pPr>
            <a:r>
              <a:rPr lang="en-US" dirty="0" smtClean="0"/>
              <a:t>			p </a:t>
            </a:r>
            <a:r>
              <a:rPr lang="en-US" dirty="0" smtClean="0">
                <a:solidFill>
                  <a:srgbClr val="C00000"/>
                </a:solidFill>
              </a:rPr>
              <a:t>implies</a:t>
            </a:r>
            <a:r>
              <a:rPr lang="en-US" dirty="0" smtClean="0"/>
              <a:t> q is mostly true.</a:t>
            </a:r>
            <a:endParaRPr lang="en-US" dirty="0" smtClean="0"/>
          </a:p>
          <a:p>
            <a:endParaRPr lang="en-US" dirty="0" smtClean="0"/>
          </a:p>
          <a:p>
            <a:pPr>
              <a:buNone/>
            </a:pPr>
            <a:r>
              <a:rPr lang="en-US" dirty="0" smtClean="0"/>
              <a:t>			p </a:t>
            </a:r>
            <a:r>
              <a:rPr lang="en-US" dirty="0" smtClean="0">
                <a:solidFill>
                  <a:srgbClr val="C00000"/>
                </a:solidFill>
              </a:rPr>
              <a:t>implies</a:t>
            </a:r>
            <a:r>
              <a:rPr lang="en-US" dirty="0" smtClean="0"/>
              <a:t> q is false whenever</a:t>
            </a:r>
            <a:endParaRPr lang="en-US" dirty="0" smtClean="0"/>
          </a:p>
          <a:p>
            <a:pPr>
              <a:buNone/>
            </a:pPr>
            <a:r>
              <a:rPr lang="en-US" dirty="0" smtClean="0"/>
              <a:t>			p is true and q is false </a:t>
            </a:r>
            <a:endParaRPr lang="en-US" dirty="0" smtClean="0"/>
          </a:p>
          <a:p>
            <a:pPr>
              <a:buNone/>
            </a:pPr>
            <a:endParaRPr lang="en-US" dirty="0" smtClean="0"/>
          </a:p>
          <a:p>
            <a:pPr>
              <a:buNone/>
            </a:pPr>
            <a:r>
              <a:rPr lang="en-US" dirty="0" smtClean="0"/>
              <a:t>			That is</a:t>
            </a:r>
            <a:endParaRPr lang="en-US" dirty="0" smtClean="0"/>
          </a:p>
          <a:p>
            <a:endParaRPr lang="en-US" dirty="0" smtClean="0"/>
          </a:p>
          <a:p>
            <a:pPr>
              <a:buNone/>
            </a:pPr>
            <a:r>
              <a:rPr lang="en-US" dirty="0" smtClean="0"/>
              <a:t>			P true, q false then</a:t>
            </a:r>
            <a:r>
              <a:rPr lang="en-US" dirty="0" smtClean="0">
                <a:solidFill>
                  <a:srgbClr val="C00000"/>
                </a:solidFill>
              </a:rPr>
              <a:t> p</a:t>
            </a:r>
            <a:r>
              <a:rPr lang="en-US" sz="2800" b="1" dirty="0" smtClean="0">
                <a:solidFill>
                  <a:srgbClr val="C00000"/>
                </a:solidFill>
                <a:latin typeface="Bell MT" panose="02020503060305020303" pitchFamily="18" charset="0"/>
                <a:cs typeface="Times New Roman" panose="02020603050405020304" pitchFamily="18" charset="0"/>
                <a:sym typeface="Symbol" panose="05050102010706020507" pitchFamily="18" charset="2"/>
              </a:rPr>
              <a:t>  </a:t>
            </a:r>
            <a:r>
              <a:rPr lang="en-US" dirty="0" smtClean="0">
                <a:solidFill>
                  <a:srgbClr val="C00000"/>
                </a:solidFill>
                <a:sym typeface="Symbol" panose="05050102010706020507" pitchFamily="18" charset="2"/>
              </a:rPr>
              <a:t>q</a:t>
            </a:r>
            <a:r>
              <a:rPr lang="en-US" dirty="0" smtClean="0">
                <a:sym typeface="Symbol" panose="05050102010706020507" pitchFamily="18" charset="2"/>
              </a:rPr>
              <a:t> is false</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2000"/>
                                        <p:tgtEl>
                                          <p:spTgt spid="3">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Note:</a:t>
            </a:r>
            <a:endParaRPr lang="en-US" b="1" dirty="0">
              <a:solidFill>
                <a:srgbClr val="C00000"/>
              </a:solidFill>
            </a:endParaRPr>
          </a:p>
        </p:txBody>
      </p:sp>
      <p:sp>
        <p:nvSpPr>
          <p:cNvPr id="3" name="Content Placeholder 2"/>
          <p:cNvSpPr>
            <a:spLocks noGrp="1"/>
          </p:cNvSpPr>
          <p:nvPr>
            <p:ph sz="quarter" idx="1"/>
          </p:nvPr>
        </p:nvSpPr>
        <p:spPr/>
        <p:txBody>
          <a:bodyPr/>
          <a:lstStyle/>
          <a:p>
            <a:pPr marL="0" indent="0">
              <a:buNone/>
            </a:pPr>
            <a:endParaRPr lang="en-US" dirty="0" smtClean="0"/>
          </a:p>
          <a:p>
            <a:r>
              <a:rPr lang="en-US" dirty="0" smtClean="0"/>
              <a:t>If all the premise is true then the conjunction of all the premise is also true.  And if the conclusion becomes also true, then the whole implication becomes true.</a:t>
            </a:r>
            <a:endParaRPr lang="en-US" dirty="0" smtClean="0"/>
          </a:p>
          <a:p>
            <a:endParaRPr lang="en-US" dirty="0" smtClean="0"/>
          </a:p>
          <a:p>
            <a:pPr>
              <a:buNone/>
            </a:pPr>
            <a:r>
              <a:rPr lang="en-US" dirty="0" smtClean="0"/>
              <a:t>			Therefore = thus = so that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INVALID ARGUMENT</a:t>
            </a:r>
            <a:endParaRPr lang="en-US" b="1" u="sng" dirty="0" smtClean="0">
              <a:solidFill>
                <a:srgbClr val="C00000"/>
              </a:solidFill>
            </a:endParaRPr>
          </a:p>
        </p:txBody>
      </p:sp>
      <p:sp>
        <p:nvSpPr>
          <p:cNvPr id="3" name="Content Placeholder 2"/>
          <p:cNvSpPr>
            <a:spLocks noGrp="1"/>
          </p:cNvSpPr>
          <p:nvPr>
            <p:ph sz="quarter" idx="1"/>
          </p:nvPr>
        </p:nvSpPr>
        <p:spPr/>
        <p:txBody>
          <a:bodyPr/>
          <a:lstStyle/>
          <a:p>
            <a:r>
              <a:rPr lang="en-US" dirty="0" smtClean="0"/>
              <a:t>An argument is </a:t>
            </a:r>
            <a:r>
              <a:rPr lang="en-US" b="1" dirty="0" smtClean="0">
                <a:solidFill>
                  <a:srgbClr val="C00000"/>
                </a:solidFill>
              </a:rPr>
              <a:t>invalid</a:t>
            </a:r>
            <a:r>
              <a:rPr lang="en-US" b="1" dirty="0" smtClean="0"/>
              <a:t> </a:t>
            </a:r>
            <a:r>
              <a:rPr lang="en-US" dirty="0" smtClean="0"/>
              <a:t>if the </a:t>
            </a:r>
            <a:r>
              <a:rPr lang="en-US" dirty="0" smtClean="0">
                <a:solidFill>
                  <a:srgbClr val="C00000"/>
                </a:solidFill>
              </a:rPr>
              <a:t>conclusion</a:t>
            </a:r>
            <a:r>
              <a:rPr lang="en-US" dirty="0" smtClean="0"/>
              <a:t> is </a:t>
            </a:r>
            <a:r>
              <a:rPr lang="en-US" dirty="0" smtClean="0">
                <a:solidFill>
                  <a:srgbClr val="C00000"/>
                </a:solidFill>
              </a:rPr>
              <a:t>false</a:t>
            </a:r>
            <a:r>
              <a:rPr lang="en-US" dirty="0" smtClean="0"/>
              <a:t> when all the </a:t>
            </a:r>
            <a:r>
              <a:rPr lang="en-US" dirty="0" smtClean="0">
                <a:solidFill>
                  <a:srgbClr val="C00000"/>
                </a:solidFill>
              </a:rPr>
              <a:t>premises</a:t>
            </a:r>
            <a:r>
              <a:rPr lang="en-US" dirty="0" smtClean="0"/>
              <a:t> are </a:t>
            </a:r>
            <a:r>
              <a:rPr lang="en-US" dirty="0" smtClean="0">
                <a:solidFill>
                  <a:srgbClr val="C00000"/>
                </a:solidFill>
              </a:rPr>
              <a:t>true</a:t>
            </a:r>
            <a:r>
              <a:rPr lang="en-US" dirty="0" smtClean="0"/>
              <a:t>.</a:t>
            </a:r>
            <a:endParaRPr lang="en-US" dirty="0" smtClean="0"/>
          </a:p>
          <a:p>
            <a:endParaRPr lang="en-US" dirty="0" smtClean="0"/>
          </a:p>
          <a:p>
            <a:r>
              <a:rPr lang="en-US" dirty="0" smtClean="0">
                <a:solidFill>
                  <a:srgbClr val="C00000"/>
                </a:solidFill>
              </a:rPr>
              <a:t>Alternatively</a:t>
            </a:r>
            <a:r>
              <a:rPr lang="en-US" dirty="0" smtClean="0"/>
              <a:t>, an argument is invalid if conjunction of its premises does not imply conclusion.</a:t>
            </a:r>
            <a:endParaRPr lang="en-US" dirty="0" smtClean="0"/>
          </a:p>
          <a:p>
            <a:endParaRPr lang="en-US" dirty="0" smtClean="0"/>
          </a:p>
          <a:p>
            <a:r>
              <a:rPr lang="en-US" b="1" u="sng" dirty="0" smtClean="0">
                <a:solidFill>
                  <a:srgbClr val="C00000"/>
                </a:solidFill>
              </a:rPr>
              <a:t>Validity of argument:</a:t>
            </a:r>
            <a:endParaRPr lang="en-US" b="1" u="sng" dirty="0" smtClean="0">
              <a:solidFill>
                <a:srgbClr val="C00000"/>
              </a:solidFill>
            </a:endParaRPr>
          </a:p>
          <a:p>
            <a:r>
              <a:rPr lang="en-US" dirty="0" smtClean="0"/>
              <a:t>When our premises conjunction is false, and conclusion is whatever true or false, the argument is valid</a:t>
            </a:r>
            <a:endParaRPr lang="en-US" dirty="0" smtClean="0"/>
          </a:p>
          <a:p>
            <a:r>
              <a:rPr lang="en-US" dirty="0" smtClean="0"/>
              <a:t>When our premises conjunction is true, and conclusion is false, then we say argument is invalid.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03F800B7-A47F-4680-8B39-A2C1342B5EB8}" type="slidenum">
              <a:rPr lang="en-US"/>
            </a:fld>
            <a:endParaRPr lang="en-US"/>
          </a:p>
        </p:txBody>
      </p:sp>
      <p:sp>
        <p:nvSpPr>
          <p:cNvPr id="6146" name="Rectangle 2"/>
          <p:cNvSpPr>
            <a:spLocks noGrp="1" noChangeArrowheads="1"/>
          </p:cNvSpPr>
          <p:nvPr>
            <p:ph type="title"/>
          </p:nvPr>
        </p:nvSpPr>
        <p:spPr>
          <a:xfrm>
            <a:off x="381000" y="0"/>
            <a:ext cx="8229600" cy="1143000"/>
          </a:xfrm>
        </p:spPr>
        <p:txBody>
          <a:bodyPr/>
          <a:lstStyle/>
          <a:p>
            <a:r>
              <a:rPr lang="en-US" dirty="0">
                <a:solidFill>
                  <a:srgbClr val="663300"/>
                </a:solidFill>
                <a:effectLst>
                  <a:outerShdw blurRad="38100" dist="38100" dir="2700000" algn="tl">
                    <a:srgbClr val="C0C0C0"/>
                  </a:outerShdw>
                </a:effectLst>
                <a:latin typeface="Comic Sans MS" panose="030F0702030302020204" pitchFamily="66" charset="0"/>
              </a:rPr>
              <a:t>Argument Form</a:t>
            </a:r>
            <a:endParaRPr lang="en-US" dirty="0">
              <a:solidFill>
                <a:srgbClr val="663300"/>
              </a:solidFill>
              <a:effectLst>
                <a:outerShdw blurRad="38100" dist="38100" dir="2700000" algn="tl">
                  <a:srgbClr val="C0C0C0"/>
                </a:outerShdw>
              </a:effectLst>
              <a:latin typeface="Comic Sans MS" panose="030F0702030302020204" pitchFamily="66" charset="0"/>
            </a:endParaRPr>
          </a:p>
        </p:txBody>
      </p:sp>
      <p:sp>
        <p:nvSpPr>
          <p:cNvPr id="6147" name="Rectangle 3"/>
          <p:cNvSpPr>
            <a:spLocks noGrp="1" noChangeArrowheads="1"/>
          </p:cNvSpPr>
          <p:nvPr>
            <p:ph type="body" sz="half" idx="1"/>
          </p:nvPr>
        </p:nvSpPr>
        <p:spPr>
          <a:xfrm>
            <a:off x="457200" y="1600200"/>
            <a:ext cx="8229600" cy="4525963"/>
          </a:xfrm>
        </p:spPr>
        <p:txBody>
          <a:bodyPr/>
          <a:lstStyle/>
          <a:p>
            <a:r>
              <a:rPr lang="en-US" sz="2800" dirty="0">
                <a:solidFill>
                  <a:srgbClr val="C00000"/>
                </a:solidFill>
              </a:rPr>
              <a:t>If</a:t>
            </a:r>
            <a:r>
              <a:rPr lang="en-US" sz="2800" dirty="0"/>
              <a:t> the premises and the conclusion</a:t>
            </a:r>
            <a:endParaRPr lang="en-US" sz="2800" dirty="0"/>
          </a:p>
          <a:p>
            <a:pPr>
              <a:buFontTx/>
              <a:buNone/>
            </a:pPr>
            <a:r>
              <a:rPr lang="en-US" sz="2800" dirty="0"/>
              <a:t>		are </a:t>
            </a:r>
            <a:r>
              <a:rPr lang="en-US" sz="2800" dirty="0">
                <a:solidFill>
                  <a:schemeClr val="accent2"/>
                </a:solidFill>
              </a:rPr>
              <a:t>statement forms</a:t>
            </a:r>
            <a:r>
              <a:rPr lang="en-US" sz="2800" dirty="0"/>
              <a:t> </a:t>
            </a:r>
            <a:endParaRPr lang="en-US" sz="2800" dirty="0"/>
          </a:p>
          <a:p>
            <a:pPr>
              <a:buFontTx/>
              <a:buNone/>
            </a:pPr>
            <a:r>
              <a:rPr lang="en-US" sz="2800" dirty="0"/>
              <a:t>			instead of statements,</a:t>
            </a:r>
            <a:endParaRPr lang="en-US" sz="2800" dirty="0"/>
          </a:p>
          <a:p>
            <a:pPr>
              <a:buFontTx/>
              <a:buNone/>
            </a:pPr>
            <a:r>
              <a:rPr lang="en-US" sz="2800" dirty="0"/>
              <a:t>   </a:t>
            </a:r>
            <a:r>
              <a:rPr lang="en-US" sz="2800" dirty="0">
                <a:solidFill>
                  <a:srgbClr val="C00000"/>
                </a:solidFill>
              </a:rPr>
              <a:t>then</a:t>
            </a:r>
            <a:r>
              <a:rPr lang="en-US" sz="2800" dirty="0"/>
              <a:t> the resulting form is called</a:t>
            </a:r>
            <a:endParaRPr lang="en-US" sz="2800" dirty="0"/>
          </a:p>
          <a:p>
            <a:pPr>
              <a:buFontTx/>
              <a:buNone/>
            </a:pPr>
            <a:r>
              <a:rPr lang="en-US" sz="2800" dirty="0"/>
              <a:t>					  </a:t>
            </a:r>
            <a:r>
              <a:rPr lang="en-US" sz="2800" dirty="0">
                <a:solidFill>
                  <a:srgbClr val="FF0066"/>
                </a:solidFill>
              </a:rPr>
              <a:t>argument form</a:t>
            </a:r>
            <a:r>
              <a:rPr lang="en-US" sz="2800" dirty="0"/>
              <a:t>.</a:t>
            </a:r>
            <a:endParaRPr lang="en-US" sz="2800" dirty="0"/>
          </a:p>
          <a:p>
            <a:r>
              <a:rPr lang="en-US" sz="2800" i="1" dirty="0"/>
              <a:t>Ex</a:t>
            </a:r>
            <a:r>
              <a:rPr lang="en-US" sz="2800" dirty="0"/>
              <a:t>:   If </a:t>
            </a:r>
            <a:r>
              <a:rPr lang="en-US" sz="2800" i="1" dirty="0"/>
              <a:t>p</a:t>
            </a:r>
            <a:r>
              <a:rPr lang="en-US" sz="2800" dirty="0"/>
              <a:t> then </a:t>
            </a:r>
            <a:r>
              <a:rPr lang="en-US" sz="2800" i="1" dirty="0"/>
              <a:t>q</a:t>
            </a:r>
            <a:r>
              <a:rPr lang="en-US" sz="2800" dirty="0"/>
              <a:t>;</a:t>
            </a:r>
            <a:endParaRPr lang="en-US" sz="2800" dirty="0"/>
          </a:p>
          <a:p>
            <a:pPr>
              <a:buFontTx/>
              <a:buNone/>
            </a:pPr>
            <a:r>
              <a:rPr lang="en-US" sz="2800" dirty="0"/>
              <a:t>		   </a:t>
            </a:r>
            <a:r>
              <a:rPr lang="en-US" sz="2800" i="1" dirty="0"/>
              <a:t>p</a:t>
            </a:r>
            <a:r>
              <a:rPr lang="en-US" sz="2800" dirty="0"/>
              <a:t>;</a:t>
            </a:r>
            <a:endParaRPr lang="en-US" sz="2800" dirty="0"/>
          </a:p>
          <a:p>
            <a:pPr>
              <a:buFontTx/>
              <a:buNone/>
            </a:pPr>
            <a:r>
              <a:rPr lang="en-US" sz="2800" dirty="0"/>
              <a:t>		   </a:t>
            </a:r>
            <a:r>
              <a:rPr lang="en-US" sz="2800" i="1" dirty="0"/>
              <a:t>q</a:t>
            </a:r>
            <a:r>
              <a:rPr lang="en-US" sz="2800" dirty="0"/>
              <a:t>.</a:t>
            </a:r>
            <a:endParaRPr lang="en-US" sz="2800" dirty="0"/>
          </a:p>
        </p:txBody>
      </p:sp>
      <p:graphicFrame>
        <p:nvGraphicFramePr>
          <p:cNvPr id="6148" name="Object 4"/>
          <p:cNvGraphicFramePr>
            <a:graphicFrameLocks noGrp="1" noChangeAspect="1"/>
          </p:cNvGraphicFramePr>
          <p:nvPr>
            <p:ph sz="half" idx="2"/>
          </p:nvPr>
        </p:nvGraphicFramePr>
        <p:xfrm>
          <a:off x="1219200" y="5257800"/>
          <a:ext cx="533400" cy="484188"/>
        </p:xfrm>
        <a:graphic>
          <a:graphicData uri="http://schemas.openxmlformats.org/presentationml/2006/ole">
            <mc:AlternateContent xmlns:mc="http://schemas.openxmlformats.org/markup-compatibility/2006">
              <mc:Choice xmlns:v="urn:schemas-microsoft-com:vml" Requires="v">
                <p:oleObj spid="_x0000_s38919" name="Equation" r:id="rId1" imgW="139700" imgH="127000" progId="Equation.3">
                  <p:embed/>
                </p:oleObj>
              </mc:Choice>
              <mc:Fallback>
                <p:oleObj name="Equation" r:id="rId1" imgW="139700" imgH="127000" progId="Equation.3">
                  <p:embed/>
                  <p:pic>
                    <p:nvPicPr>
                      <p:cNvPr id="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257800"/>
                        <a:ext cx="5334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20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20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20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20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20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fade">
                                      <p:cBhvr>
                                        <p:cTn id="32" dur="20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fade">
                                      <p:cBhvr>
                                        <p:cTn id="37" dur="20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fade">
                                      <p:cBhvr>
                                        <p:cTn id="42" dur="20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5A04DA1-7F6C-443E-9F6A-07410197839C}" type="slidenum">
              <a:rPr lang="en-US"/>
            </a:fld>
            <a:endParaRPr lang="en-US"/>
          </a:p>
        </p:txBody>
      </p:sp>
      <p:sp>
        <p:nvSpPr>
          <p:cNvPr id="8194" name="Rectangle 2"/>
          <p:cNvSpPr>
            <a:spLocks noGrp="1" noChangeArrowheads="1"/>
          </p:cNvSpPr>
          <p:nvPr>
            <p:ph type="title"/>
          </p:nvPr>
        </p:nvSpPr>
        <p:spPr/>
        <p:txBody>
          <a:bodyPr>
            <a:noAutofit/>
          </a:bodyPr>
          <a:lstStyle/>
          <a:p>
            <a:pPr algn="ctr"/>
            <a:r>
              <a:rPr lang="en-US" b="1" u="sng" dirty="0" smtClean="0"/>
              <a:t>Checking the validity of an argument form</a:t>
            </a:r>
            <a:endParaRPr lang="en-US" b="1" u="sng" dirty="0" smtClean="0"/>
          </a:p>
        </p:txBody>
      </p:sp>
      <p:sp>
        <p:nvSpPr>
          <p:cNvPr id="8195" name="Rectangle 3"/>
          <p:cNvSpPr>
            <a:spLocks noGrp="1" noChangeArrowheads="1"/>
          </p:cNvSpPr>
          <p:nvPr>
            <p:ph type="body" idx="1"/>
          </p:nvPr>
        </p:nvSpPr>
        <p:spPr/>
        <p:txBody>
          <a:bodyPr/>
          <a:lstStyle/>
          <a:p>
            <a:pPr marL="609600" indent="-609600">
              <a:lnSpc>
                <a:spcPct val="90000"/>
              </a:lnSpc>
              <a:buClr>
                <a:schemeClr val="tx1"/>
              </a:buClr>
              <a:buFontTx/>
              <a:buAutoNum type="arabicParenR"/>
            </a:pPr>
            <a:r>
              <a:rPr lang="en-US" sz="2800" dirty="0"/>
              <a:t>Construct </a:t>
            </a:r>
            <a:r>
              <a:rPr lang="en-US" sz="2800" dirty="0">
                <a:solidFill>
                  <a:srgbClr val="C00000"/>
                </a:solidFill>
              </a:rPr>
              <a:t>truth table</a:t>
            </a:r>
            <a:r>
              <a:rPr lang="en-US" sz="2800" dirty="0"/>
              <a:t> for the premises and the conclusion;</a:t>
            </a:r>
            <a:endParaRPr lang="en-US" sz="2800" dirty="0"/>
          </a:p>
          <a:p>
            <a:pPr marL="609600" indent="-609600">
              <a:lnSpc>
                <a:spcPct val="90000"/>
              </a:lnSpc>
              <a:buClr>
                <a:schemeClr val="tx1"/>
              </a:buClr>
              <a:buFontTx/>
              <a:buAutoNum type="arabicParenR"/>
            </a:pPr>
            <a:r>
              <a:rPr lang="en-US" sz="2800" dirty="0"/>
              <a:t>Find the rows in which all the premises are true (</a:t>
            </a:r>
            <a:r>
              <a:rPr lang="en-US" sz="2800" i="1" dirty="0">
                <a:solidFill>
                  <a:schemeClr val="accent2"/>
                </a:solidFill>
              </a:rPr>
              <a:t>critical rows</a:t>
            </a:r>
            <a:r>
              <a:rPr lang="en-US" sz="2800" dirty="0"/>
              <a:t>);</a:t>
            </a:r>
            <a:endParaRPr lang="en-US" sz="2800" dirty="0"/>
          </a:p>
          <a:p>
            <a:pPr marL="609600" indent="-609600">
              <a:lnSpc>
                <a:spcPct val="90000"/>
              </a:lnSpc>
              <a:buClr>
                <a:schemeClr val="tx1"/>
              </a:buClr>
              <a:buFontTx/>
              <a:buAutoNum type="arabicParenR"/>
            </a:pPr>
            <a:r>
              <a:rPr lang="en-US" sz="2800" dirty="0">
                <a:solidFill>
                  <a:schemeClr val="accent2"/>
                </a:solidFill>
              </a:rPr>
              <a:t>a.</a:t>
            </a:r>
            <a:r>
              <a:rPr lang="en-US" sz="2800" dirty="0"/>
              <a:t> </a:t>
            </a:r>
            <a:r>
              <a:rPr lang="en-US" sz="2800" i="1" dirty="0">
                <a:solidFill>
                  <a:srgbClr val="C00000"/>
                </a:solidFill>
              </a:rPr>
              <a:t>If</a:t>
            </a:r>
            <a:r>
              <a:rPr lang="en-US" sz="2800" dirty="0"/>
              <a:t> in each critical row the conclusion</a:t>
            </a:r>
            <a:endParaRPr lang="en-US" sz="2800" dirty="0"/>
          </a:p>
          <a:p>
            <a:pPr marL="609600" indent="-609600">
              <a:lnSpc>
                <a:spcPct val="90000"/>
              </a:lnSpc>
              <a:buFontTx/>
              <a:buNone/>
            </a:pPr>
            <a:r>
              <a:rPr lang="en-US" sz="2800" dirty="0"/>
              <a:t>			 					is true </a:t>
            </a:r>
            <a:endParaRPr lang="en-US" sz="2800" dirty="0"/>
          </a:p>
          <a:p>
            <a:pPr marL="609600" indent="-609600">
              <a:lnSpc>
                <a:spcPct val="90000"/>
              </a:lnSpc>
              <a:buFontTx/>
              <a:buNone/>
            </a:pPr>
            <a:r>
              <a:rPr lang="en-US" sz="2800" i="1" dirty="0">
                <a:solidFill>
                  <a:schemeClr val="bg2"/>
                </a:solidFill>
              </a:rPr>
              <a:t>	    </a:t>
            </a:r>
            <a:r>
              <a:rPr lang="en-US" sz="2800" i="1" dirty="0">
                <a:solidFill>
                  <a:srgbClr val="C00000"/>
                </a:solidFill>
              </a:rPr>
              <a:t>then</a:t>
            </a:r>
            <a:r>
              <a:rPr lang="en-US" sz="2800" dirty="0"/>
              <a:t> the argument form is </a:t>
            </a:r>
            <a:r>
              <a:rPr lang="en-US" sz="2800" dirty="0">
                <a:solidFill>
                  <a:schemeClr val="accent2"/>
                </a:solidFill>
              </a:rPr>
              <a:t>valid</a:t>
            </a:r>
            <a:r>
              <a:rPr lang="en-US" sz="2800" dirty="0"/>
              <a:t>;</a:t>
            </a:r>
            <a:endParaRPr lang="en-US" sz="2800" dirty="0"/>
          </a:p>
          <a:p>
            <a:pPr marL="609600" indent="-609600">
              <a:lnSpc>
                <a:spcPct val="90000"/>
              </a:lnSpc>
              <a:buFontTx/>
              <a:buNone/>
            </a:pPr>
            <a:r>
              <a:rPr lang="en-US" sz="2800" dirty="0"/>
              <a:t>	</a:t>
            </a:r>
            <a:r>
              <a:rPr lang="en-US" sz="2800" dirty="0">
                <a:solidFill>
                  <a:schemeClr val="accent2"/>
                </a:solidFill>
              </a:rPr>
              <a:t>b.</a:t>
            </a:r>
            <a:r>
              <a:rPr lang="en-US" sz="2800" dirty="0"/>
              <a:t> </a:t>
            </a:r>
            <a:r>
              <a:rPr lang="en-US" sz="2800" i="1" dirty="0">
                <a:solidFill>
                  <a:srgbClr val="C00000"/>
                </a:solidFill>
              </a:rPr>
              <a:t>If</a:t>
            </a:r>
            <a:r>
              <a:rPr lang="en-US" sz="2800" dirty="0">
                <a:solidFill>
                  <a:srgbClr val="C00000"/>
                </a:solidFill>
              </a:rPr>
              <a:t>  </a:t>
            </a:r>
            <a:r>
              <a:rPr lang="en-US" sz="2800" dirty="0" smtClean="0"/>
              <a:t>there </a:t>
            </a:r>
            <a:r>
              <a:rPr lang="en-US" sz="2800" dirty="0"/>
              <a:t>is a row in which conclusion 								is false </a:t>
            </a:r>
            <a:endParaRPr lang="en-US" sz="2800" dirty="0"/>
          </a:p>
          <a:p>
            <a:pPr marL="609600" indent="-609600">
              <a:lnSpc>
                <a:spcPct val="90000"/>
              </a:lnSpc>
              <a:buFontTx/>
              <a:buNone/>
            </a:pPr>
            <a:r>
              <a:rPr lang="en-US" sz="2800" i="1" dirty="0">
                <a:solidFill>
                  <a:schemeClr val="bg2"/>
                </a:solidFill>
              </a:rPr>
              <a:t>	   </a:t>
            </a:r>
            <a:r>
              <a:rPr lang="en-US" sz="2800" i="1" dirty="0">
                <a:solidFill>
                  <a:srgbClr val="C00000"/>
                </a:solidFill>
              </a:rPr>
              <a:t>then</a:t>
            </a:r>
            <a:r>
              <a:rPr lang="en-US" sz="2800" dirty="0"/>
              <a:t> the argument form is </a:t>
            </a:r>
            <a:r>
              <a:rPr lang="en-US" sz="2800" dirty="0">
                <a:solidFill>
                  <a:schemeClr val="accent2"/>
                </a:solidFill>
              </a:rPr>
              <a:t>invalid</a:t>
            </a:r>
            <a:r>
              <a:rPr lang="en-US" sz="2800" dirty="0"/>
              <a:t>.</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20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20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20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20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fade">
                                      <p:cBhvr>
                                        <p:cTn id="27" dur="20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fade">
                                      <p:cBhvr>
                                        <p:cTn id="32" dur="20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fade">
                                      <p:cBhvr>
                                        <p:cTn id="37"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EXAMPLE:</a:t>
            </a:r>
            <a:endParaRPr lang="en-US" dirty="0"/>
          </a:p>
        </p:txBody>
      </p:sp>
      <p:sp>
        <p:nvSpPr>
          <p:cNvPr id="3" name="Content Placeholder 2"/>
          <p:cNvSpPr>
            <a:spLocks noGrp="1"/>
          </p:cNvSpPr>
          <p:nvPr>
            <p:ph sz="quarter" idx="1"/>
          </p:nvPr>
        </p:nvSpPr>
        <p:spPr/>
        <p:txBody>
          <a:bodyPr/>
          <a:lstStyle/>
          <a:p>
            <a:r>
              <a:rPr lang="en-US" dirty="0" smtClean="0"/>
              <a:t>Show that the following argument form is valid:</a:t>
            </a:r>
            <a:endParaRPr lang="en-US" dirty="0" smtClean="0"/>
          </a:p>
          <a:p>
            <a:endParaRPr lang="en-US" dirty="0" smtClean="0"/>
          </a:p>
          <a:p>
            <a:pPr>
              <a:buNone/>
            </a:pPr>
            <a:r>
              <a:rPr lang="en-US" dirty="0" smtClean="0"/>
              <a:t>				p </a:t>
            </a:r>
            <a:r>
              <a:rPr lang="en-US" dirty="0" smtClean="0">
                <a:sym typeface="Symbol" panose="05050102010706020507"/>
              </a:rPr>
              <a:t> </a:t>
            </a:r>
            <a:r>
              <a:rPr lang="en-US" dirty="0" smtClean="0"/>
              <a:t>q		</a:t>
            </a:r>
            <a:r>
              <a:rPr lang="en-US" b="1" dirty="0" smtClean="0">
                <a:solidFill>
                  <a:srgbClr val="C00000"/>
                </a:solidFill>
              </a:rPr>
              <a:t>premise</a:t>
            </a:r>
            <a:endParaRPr lang="en-US" b="1" dirty="0" smtClean="0">
              <a:solidFill>
                <a:srgbClr val="C00000"/>
              </a:solidFill>
            </a:endParaRPr>
          </a:p>
          <a:p>
            <a:endParaRPr lang="en-US" dirty="0" smtClean="0"/>
          </a:p>
          <a:p>
            <a:pPr>
              <a:buNone/>
            </a:pPr>
            <a:r>
              <a:rPr lang="en-US" dirty="0" smtClean="0"/>
              <a:t>				p		</a:t>
            </a:r>
            <a:r>
              <a:rPr lang="en-US" b="1" dirty="0" smtClean="0">
                <a:solidFill>
                  <a:srgbClr val="C00000"/>
                </a:solidFill>
              </a:rPr>
              <a:t>premise</a:t>
            </a:r>
            <a:endParaRPr lang="en-US" b="1" dirty="0" smtClean="0">
              <a:solidFill>
                <a:srgbClr val="C00000"/>
              </a:solidFill>
            </a:endParaRPr>
          </a:p>
          <a:p>
            <a:endParaRPr lang="en-US" dirty="0" smtClean="0"/>
          </a:p>
          <a:p>
            <a:pPr>
              <a:buNone/>
            </a:pPr>
            <a:r>
              <a:rPr lang="en-US" dirty="0" smtClean="0"/>
              <a:t>			          q		</a:t>
            </a:r>
            <a:r>
              <a:rPr lang="en-US" b="1" dirty="0" smtClean="0">
                <a:solidFill>
                  <a:srgbClr val="C00000"/>
                </a:solidFill>
              </a:rPr>
              <a:t>conclusion</a:t>
            </a:r>
            <a:endParaRPr lang="en-US" b="1" dirty="0" smtClean="0">
              <a:solidFill>
                <a:srgbClr val="C00000"/>
              </a:solidFill>
            </a:endParaRPr>
          </a:p>
          <a:p>
            <a:endParaRPr lang="en-US" dirty="0" smtClean="0"/>
          </a:p>
          <a:p>
            <a:endParaRPr lang="en-US" dirty="0"/>
          </a:p>
        </p:txBody>
      </p:sp>
      <p:graphicFrame>
        <p:nvGraphicFramePr>
          <p:cNvPr id="1028" name="Object 4"/>
          <p:cNvGraphicFramePr>
            <a:graphicFrameLocks noChangeAspect="1"/>
          </p:cNvGraphicFramePr>
          <p:nvPr/>
        </p:nvGraphicFramePr>
        <p:xfrm>
          <a:off x="2743200" y="4114800"/>
          <a:ext cx="457200" cy="381000"/>
        </p:xfrm>
        <a:graphic>
          <a:graphicData uri="http://schemas.openxmlformats.org/presentationml/2006/ole">
            <mc:AlternateContent xmlns:mc="http://schemas.openxmlformats.org/markup-compatibility/2006">
              <mc:Choice xmlns:v="urn:schemas-microsoft-com:vml" Requires="v">
                <p:oleObj spid="_x0000_s1033" name="Equation" r:id="rId1" imgW="139700" imgH="127000" progId="Equation.3">
                  <p:embed/>
                </p:oleObj>
              </mc:Choice>
              <mc:Fallback>
                <p:oleObj name="Equation" r:id="rId1" imgW="139700" imgH="127000" progId="Equation.3">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1148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050" name="Group 2"/>
          <p:cNvGraphicFramePr>
            <a:graphicFrameLocks noGrp="1"/>
          </p:cNvGraphicFramePr>
          <p:nvPr/>
        </p:nvGraphicFramePr>
        <p:xfrm>
          <a:off x="2286000" y="2514600"/>
          <a:ext cx="3276600" cy="2448912"/>
        </p:xfrm>
        <a:graphic>
          <a:graphicData uri="http://schemas.openxmlformats.org/drawingml/2006/table">
            <a:tbl>
              <a:tblPr/>
              <a:tblGrid>
                <a:gridCol w="436880"/>
                <a:gridCol w="436880"/>
                <a:gridCol w="1092200"/>
                <a:gridCol w="655320"/>
                <a:gridCol w="655320"/>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6" name="Rectangle 45"/>
          <p:cNvSpPr/>
          <p:nvPr/>
        </p:nvSpPr>
        <p:spPr>
          <a:xfrm>
            <a:off x="2895600" y="1143000"/>
            <a:ext cx="1013611" cy="369332"/>
          </a:xfrm>
          <a:prstGeom prst="rect">
            <a:avLst/>
          </a:prstGeom>
        </p:spPr>
        <p:txBody>
          <a:bodyPr wrap="square">
            <a:spAutoFit/>
          </a:bodyPr>
          <a:lstStyle/>
          <a:p>
            <a:r>
              <a:rPr lang="en-US" dirty="0" smtClean="0"/>
              <a:t>premises</a:t>
            </a:r>
            <a:endParaRPr lang="en-US" dirty="0"/>
          </a:p>
        </p:txBody>
      </p:sp>
      <p:cxnSp>
        <p:nvCxnSpPr>
          <p:cNvPr id="48" name="Straight Arrow Connector 47"/>
          <p:cNvCxnSpPr/>
          <p:nvPr/>
        </p:nvCxnSpPr>
        <p:spPr>
          <a:xfrm rot="5400000">
            <a:off x="3391694" y="2018506"/>
            <a:ext cx="9906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50" name="Straight Connector 49"/>
          <p:cNvCxnSpPr/>
          <p:nvPr/>
        </p:nvCxnSpPr>
        <p:spPr>
          <a:xfrm>
            <a:off x="4038600" y="1371600"/>
            <a:ext cx="533400" cy="1588"/>
          </a:xfrm>
          <a:prstGeom prst="line">
            <a:avLst/>
          </a:prstGeom>
          <a:ln w="9525"/>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rot="5400000">
            <a:off x="4039394" y="1904206"/>
            <a:ext cx="10668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54" name="Rectangle 53"/>
          <p:cNvSpPr/>
          <p:nvPr/>
        </p:nvSpPr>
        <p:spPr>
          <a:xfrm>
            <a:off x="4724400" y="1066800"/>
            <a:ext cx="1176925" cy="369332"/>
          </a:xfrm>
          <a:prstGeom prst="rect">
            <a:avLst/>
          </a:prstGeom>
        </p:spPr>
        <p:txBody>
          <a:bodyPr wrap="none">
            <a:spAutoFit/>
          </a:bodyPr>
          <a:lstStyle/>
          <a:p>
            <a:r>
              <a:rPr lang="en-US" dirty="0" smtClean="0"/>
              <a:t>conclusion</a:t>
            </a:r>
            <a:endParaRPr lang="en-US" dirty="0"/>
          </a:p>
        </p:txBody>
      </p:sp>
      <p:cxnSp>
        <p:nvCxnSpPr>
          <p:cNvPr id="56" name="Straight Arrow Connector 55"/>
          <p:cNvCxnSpPr/>
          <p:nvPr/>
        </p:nvCxnSpPr>
        <p:spPr>
          <a:xfrm rot="5400000">
            <a:off x="4801394" y="1980406"/>
            <a:ext cx="10668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7" name="Rectangle 56"/>
          <p:cNvSpPr/>
          <p:nvPr/>
        </p:nvSpPr>
        <p:spPr>
          <a:xfrm>
            <a:off x="1143000" y="5029200"/>
            <a:ext cx="62484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anose="020B0604020202020204" pitchFamily="34" charset="0"/>
              <a:buChar char="•"/>
            </a:pPr>
            <a:r>
              <a:rPr lang="en-US" dirty="0" smtClean="0">
                <a:solidFill>
                  <a:schemeClr val="tx1"/>
                </a:solidFill>
              </a:rPr>
              <a:t> To validity we will not analyze the whole table.</a:t>
            </a:r>
            <a:endParaRPr lang="en-US" dirty="0" smtClean="0">
              <a:solidFill>
                <a:schemeClr val="tx1"/>
              </a:solidFill>
            </a:endParaRPr>
          </a:p>
          <a:p>
            <a:pPr>
              <a:buFont typeface="Arial" panose="020B0604020202020204" pitchFamily="34" charset="0"/>
              <a:buChar char="•"/>
            </a:pPr>
            <a:r>
              <a:rPr lang="en-US" dirty="0" smtClean="0">
                <a:solidFill>
                  <a:schemeClr val="tx1"/>
                </a:solidFill>
              </a:rPr>
              <a:t> We will analyze those rows where in premise we have T</a:t>
            </a:r>
            <a:endParaRPr lang="en-US" dirty="0" smtClean="0">
              <a:solidFill>
                <a:schemeClr val="tx1"/>
              </a:solidFill>
            </a:endParaRPr>
          </a:p>
          <a:p>
            <a:r>
              <a:rPr lang="en-US" dirty="0" smtClean="0">
                <a:solidFill>
                  <a:schemeClr val="tx1"/>
                </a:solidFill>
              </a:rPr>
              <a:t>  value, and if corresponding conclusion also have T value,  </a:t>
            </a:r>
            <a:endParaRPr lang="en-US" dirty="0" smtClean="0">
              <a:solidFill>
                <a:schemeClr val="tx1"/>
              </a:solidFill>
            </a:endParaRPr>
          </a:p>
          <a:p>
            <a:r>
              <a:rPr lang="en-US" dirty="0" smtClean="0">
                <a:solidFill>
                  <a:schemeClr val="tx1"/>
                </a:solidFill>
              </a:rPr>
              <a:t>  then we say it’s a valid argument.</a:t>
            </a:r>
            <a:endParaRPr lang="en-US" dirty="0" smtClean="0">
              <a:solidFill>
                <a:schemeClr val="tx1"/>
              </a:solidFill>
            </a:endParaRPr>
          </a:p>
          <a:p>
            <a:pPr algn="ctr"/>
            <a:endParaRPr lang="en-US" dirty="0"/>
          </a:p>
        </p:txBody>
      </p:sp>
      <p:sp>
        <p:nvSpPr>
          <p:cNvPr id="61" name="Rectangle 60"/>
          <p:cNvSpPr/>
          <p:nvPr/>
        </p:nvSpPr>
        <p:spPr>
          <a:xfrm>
            <a:off x="6781800" y="3182256"/>
            <a:ext cx="1247457" cy="369332"/>
          </a:xfrm>
          <a:prstGeom prst="rect">
            <a:avLst/>
          </a:prstGeom>
        </p:spPr>
        <p:txBody>
          <a:bodyPr wrap="none">
            <a:spAutoFit/>
          </a:bodyPr>
          <a:lstStyle/>
          <a:p>
            <a:r>
              <a:rPr lang="en-US" dirty="0" smtClean="0"/>
              <a:t>critical row</a:t>
            </a:r>
            <a:endParaRPr lang="en-US" dirty="0"/>
          </a:p>
        </p:txBody>
      </p:sp>
      <p:cxnSp>
        <p:nvCxnSpPr>
          <p:cNvPr id="63" name="Straight Arrow Connector 62"/>
          <p:cNvCxnSpPr/>
          <p:nvPr/>
        </p:nvCxnSpPr>
        <p:spPr>
          <a:xfrm rot="10800000">
            <a:off x="5562600" y="3352800"/>
            <a:ext cx="11430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200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20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20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20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2000"/>
                                        <p:tgtEl>
                                          <p:spTgt spid="54"/>
                                        </p:tgtEl>
                                      </p:cBhvr>
                                    </p:animEffect>
                                  </p:childTnLst>
                                </p:cTn>
                              </p:par>
                              <p:par>
                                <p:cTn id="20" presetID="10" presetClass="entr" presetSubtype="0"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2000"/>
                                        <p:tgtEl>
                                          <p:spTgt spid="56"/>
                                        </p:tgtEl>
                                      </p:cBhvr>
                                    </p:animEffect>
                                  </p:childTnLst>
                                </p:cTn>
                              </p:par>
                              <p:par>
                                <p:cTn id="23" presetID="10"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2000"/>
                                        <p:tgtEl>
                                          <p:spTgt spid="6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2000"/>
                                        <p:tgtEl>
                                          <p:spTgt spid="6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P spid="57"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EXAMPLE OF INVALID ARGUMENT</a:t>
            </a:r>
            <a:endParaRPr lang="en-US" dirty="0"/>
          </a:p>
        </p:txBody>
      </p:sp>
      <p:sp>
        <p:nvSpPr>
          <p:cNvPr id="3" name="Content Placeholder 2"/>
          <p:cNvSpPr>
            <a:spLocks noGrp="1"/>
          </p:cNvSpPr>
          <p:nvPr>
            <p:ph sz="quarter" idx="1"/>
          </p:nvPr>
        </p:nvSpPr>
        <p:spPr/>
        <p:txBody>
          <a:bodyPr/>
          <a:lstStyle/>
          <a:p>
            <a:r>
              <a:rPr lang="en-US" dirty="0" smtClean="0"/>
              <a:t>Show that the following argument form is invalid:</a:t>
            </a:r>
            <a:endParaRPr lang="en-US" dirty="0" smtClean="0"/>
          </a:p>
          <a:p>
            <a:endParaRPr lang="en-US" dirty="0" smtClean="0"/>
          </a:p>
          <a:p>
            <a:pPr>
              <a:buNone/>
            </a:pPr>
            <a:r>
              <a:rPr lang="en-US" dirty="0" smtClean="0"/>
              <a:t>				p </a:t>
            </a:r>
            <a:r>
              <a:rPr lang="en-US" dirty="0" smtClean="0">
                <a:sym typeface="Symbol" panose="05050102010706020507"/>
              </a:rPr>
              <a:t> </a:t>
            </a:r>
            <a:r>
              <a:rPr lang="en-US" dirty="0" smtClean="0"/>
              <a:t>q		</a:t>
            </a:r>
            <a:r>
              <a:rPr lang="en-US" dirty="0" smtClean="0">
                <a:solidFill>
                  <a:srgbClr val="C00000"/>
                </a:solidFill>
              </a:rPr>
              <a:t>premise</a:t>
            </a:r>
            <a:endParaRPr lang="en-US" dirty="0" smtClean="0">
              <a:solidFill>
                <a:srgbClr val="C00000"/>
              </a:solidFill>
            </a:endParaRPr>
          </a:p>
          <a:p>
            <a:endParaRPr lang="en-US" dirty="0" smtClean="0"/>
          </a:p>
          <a:p>
            <a:pPr>
              <a:buNone/>
            </a:pPr>
            <a:r>
              <a:rPr lang="en-US" dirty="0" smtClean="0"/>
              <a:t>				q		</a:t>
            </a:r>
            <a:r>
              <a:rPr lang="en-US" dirty="0" smtClean="0">
                <a:solidFill>
                  <a:srgbClr val="C00000"/>
                </a:solidFill>
              </a:rPr>
              <a:t>premise</a:t>
            </a:r>
            <a:endParaRPr lang="en-US" dirty="0" smtClean="0">
              <a:solidFill>
                <a:srgbClr val="C00000"/>
              </a:solidFill>
            </a:endParaRPr>
          </a:p>
          <a:p>
            <a:endParaRPr lang="en-US" dirty="0" smtClean="0"/>
          </a:p>
          <a:p>
            <a:pPr>
              <a:buNone/>
            </a:pPr>
            <a:r>
              <a:rPr lang="en-US" dirty="0" smtClean="0"/>
              <a:t>				 p		</a:t>
            </a:r>
            <a:r>
              <a:rPr lang="en-US" dirty="0" smtClean="0">
                <a:solidFill>
                  <a:srgbClr val="C00000"/>
                </a:solidFill>
              </a:rPr>
              <a:t>conclusion</a:t>
            </a:r>
            <a:endParaRPr lang="en-US" dirty="0">
              <a:solidFill>
                <a:srgbClr val="C00000"/>
              </a:solidFill>
            </a:endParaRPr>
          </a:p>
        </p:txBody>
      </p:sp>
      <p:graphicFrame>
        <p:nvGraphicFramePr>
          <p:cNvPr id="24580" name="Object 4"/>
          <p:cNvGraphicFramePr>
            <a:graphicFrameLocks noChangeAspect="1"/>
          </p:cNvGraphicFramePr>
          <p:nvPr/>
        </p:nvGraphicFramePr>
        <p:xfrm>
          <a:off x="2667000" y="4114800"/>
          <a:ext cx="457200" cy="381000"/>
        </p:xfrm>
        <a:graphic>
          <a:graphicData uri="http://schemas.openxmlformats.org/presentationml/2006/ole">
            <mc:AlternateContent xmlns:mc="http://schemas.openxmlformats.org/markup-compatibility/2006">
              <mc:Choice xmlns:v="urn:schemas-microsoft-com:vml" Requires="v">
                <p:oleObj spid="_x0000_s24585" name="Equation" r:id="rId1" imgW="139700" imgH="127000" progId="Equation.3">
                  <p:embed/>
                </p:oleObj>
              </mc:Choice>
              <mc:Fallback>
                <p:oleObj name="Equation" r:id="rId1" imgW="139700" imgH="127000" progId="Equation.3">
                  <p:embed/>
                  <p:pic>
                    <p:nvPicPr>
                      <p:cNvPr id="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1148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2000"/>
                                        <p:tgtEl>
                                          <p:spTgt spid="3">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5602" name="Group 2"/>
          <p:cNvGraphicFramePr>
            <a:graphicFrameLocks noGrp="1"/>
          </p:cNvGraphicFramePr>
          <p:nvPr/>
        </p:nvGraphicFramePr>
        <p:xfrm>
          <a:off x="2285999" y="2590800"/>
          <a:ext cx="3505201" cy="2438400"/>
        </p:xfrm>
        <a:graphic>
          <a:graphicData uri="http://schemas.openxmlformats.org/drawingml/2006/table">
            <a:tbl>
              <a:tblPr/>
              <a:tblGrid>
                <a:gridCol w="678426"/>
                <a:gridCol w="452284"/>
                <a:gridCol w="1017639"/>
                <a:gridCol w="791497"/>
                <a:gridCol w="565355"/>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3" name="Rectangle 42"/>
          <p:cNvSpPr/>
          <p:nvPr/>
        </p:nvSpPr>
        <p:spPr>
          <a:xfrm>
            <a:off x="3962400" y="1219200"/>
            <a:ext cx="1013611" cy="369332"/>
          </a:xfrm>
          <a:prstGeom prst="rect">
            <a:avLst/>
          </a:prstGeom>
        </p:spPr>
        <p:txBody>
          <a:bodyPr wrap="square">
            <a:spAutoFit/>
          </a:bodyPr>
          <a:lstStyle/>
          <a:p>
            <a:r>
              <a:rPr lang="en-US" dirty="0" smtClean="0"/>
              <a:t>premises</a:t>
            </a:r>
            <a:endParaRPr lang="en-US" dirty="0"/>
          </a:p>
        </p:txBody>
      </p:sp>
      <p:sp>
        <p:nvSpPr>
          <p:cNvPr id="44" name="Rectangle 43"/>
          <p:cNvSpPr/>
          <p:nvPr/>
        </p:nvSpPr>
        <p:spPr>
          <a:xfrm>
            <a:off x="5181600" y="1219200"/>
            <a:ext cx="1176925" cy="369332"/>
          </a:xfrm>
          <a:prstGeom prst="rect">
            <a:avLst/>
          </a:prstGeom>
        </p:spPr>
        <p:txBody>
          <a:bodyPr wrap="none">
            <a:spAutoFit/>
          </a:bodyPr>
          <a:lstStyle/>
          <a:p>
            <a:r>
              <a:rPr lang="en-US" dirty="0" smtClean="0"/>
              <a:t>conclusion</a:t>
            </a:r>
            <a:endParaRPr lang="en-US" dirty="0"/>
          </a:p>
        </p:txBody>
      </p:sp>
      <p:cxnSp>
        <p:nvCxnSpPr>
          <p:cNvPr id="46" name="Straight Arrow Connector 45"/>
          <p:cNvCxnSpPr>
            <a:stCxn id="43" idx="2"/>
          </p:cNvCxnSpPr>
          <p:nvPr/>
        </p:nvCxnSpPr>
        <p:spPr>
          <a:xfrm rot="5400000">
            <a:off x="3790869" y="1836263"/>
            <a:ext cx="926068" cy="4306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3" idx="2"/>
          </p:cNvCxnSpPr>
          <p:nvPr/>
        </p:nvCxnSpPr>
        <p:spPr>
          <a:xfrm rot="16200000" flipH="1">
            <a:off x="4209969" y="1847769"/>
            <a:ext cx="926068" cy="4075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a:off x="5219700" y="20193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7162800" y="3581400"/>
            <a:ext cx="1247457" cy="369332"/>
          </a:xfrm>
          <a:prstGeom prst="rect">
            <a:avLst/>
          </a:prstGeom>
        </p:spPr>
        <p:txBody>
          <a:bodyPr wrap="none">
            <a:spAutoFit/>
          </a:bodyPr>
          <a:lstStyle/>
          <a:p>
            <a:r>
              <a:rPr lang="en-US" dirty="0" smtClean="0"/>
              <a:t>critical row</a:t>
            </a:r>
            <a:endParaRPr lang="en-US" dirty="0"/>
          </a:p>
        </p:txBody>
      </p:sp>
      <p:cxnSp>
        <p:nvCxnSpPr>
          <p:cNvPr id="54" name="Straight Arrow Connector 53"/>
          <p:cNvCxnSpPr>
            <a:stCxn id="52" idx="1"/>
          </p:cNvCxnSpPr>
          <p:nvPr/>
        </p:nvCxnSpPr>
        <p:spPr>
          <a:xfrm rot="10800000">
            <a:off x="5791200" y="3352800"/>
            <a:ext cx="1371600" cy="4132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52" idx="1"/>
          </p:cNvCxnSpPr>
          <p:nvPr/>
        </p:nvCxnSpPr>
        <p:spPr>
          <a:xfrm rot="10800000" flipV="1">
            <a:off x="5791200" y="3766066"/>
            <a:ext cx="1371600" cy="577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1447800" y="4804236"/>
            <a:ext cx="556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This argument is not valid.</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20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2000"/>
                                        <p:tgtEl>
                                          <p:spTgt spid="46"/>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20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20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2000"/>
                                        <p:tgtEl>
                                          <p:spTgt spid="44"/>
                                        </p:tgtEl>
                                      </p:cBhvr>
                                    </p:animEffect>
                                  </p:childTnLst>
                                </p:cTn>
                              </p:par>
                              <p:par>
                                <p:cTn id="22" presetID="10" presetClass="entr" presetSubtype="0"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2000"/>
                                        <p:tgtEl>
                                          <p:spTgt spid="50"/>
                                        </p:tgtEl>
                                      </p:cBhvr>
                                    </p:animEffect>
                                  </p:childTnLst>
                                </p:cTn>
                              </p:par>
                              <p:par>
                                <p:cTn id="25" presetID="10"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2000"/>
                                        <p:tgtEl>
                                          <p:spTgt spid="54"/>
                                        </p:tgtEl>
                                      </p:cBhvr>
                                    </p:animEffect>
                                  </p:childTnLst>
                                </p:cTn>
                              </p:par>
                              <p:par>
                                <p:cTn id="28" presetID="10" presetClass="entr" presetSubtype="0" fill="hold"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2000"/>
                                        <p:tgtEl>
                                          <p:spTgt spid="5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2000"/>
                                        <p:tgtEl>
                                          <p:spTgt spid="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52" grpId="0"/>
      <p:bldP spid="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Use truth table to determine the argument form </a:t>
            </a:r>
            <a:endParaRPr lang="en-US" dirty="0" smtClean="0"/>
          </a:p>
          <a:p>
            <a:endParaRPr lang="en-US" dirty="0" smtClean="0"/>
          </a:p>
          <a:p>
            <a:pPr>
              <a:buNone/>
            </a:pPr>
            <a:r>
              <a:rPr lang="en-US" b="1" dirty="0" smtClean="0"/>
              <a:t>	                 p </a:t>
            </a:r>
            <a:r>
              <a:rPr lang="en-US" b="1" dirty="0" smtClean="0">
                <a:sym typeface="Symbol" panose="05050102010706020507"/>
              </a:rPr>
              <a:t></a:t>
            </a:r>
            <a:r>
              <a:rPr lang="en-US" b="1" dirty="0" smtClean="0"/>
              <a:t> q		</a:t>
            </a:r>
            <a:r>
              <a:rPr lang="en-US" dirty="0" smtClean="0">
                <a:solidFill>
                  <a:srgbClr val="C00000"/>
                </a:solidFill>
              </a:rPr>
              <a:t>premise</a:t>
            </a:r>
            <a:endParaRPr lang="en-US" dirty="0" smtClean="0">
              <a:solidFill>
                <a:srgbClr val="C00000"/>
              </a:solidFill>
            </a:endParaRPr>
          </a:p>
          <a:p>
            <a:pPr>
              <a:buNone/>
            </a:pPr>
            <a:r>
              <a:rPr lang="en-US" b="1" dirty="0" smtClean="0"/>
              <a:t>			p </a:t>
            </a:r>
            <a:r>
              <a:rPr lang="en-US" b="1" dirty="0" smtClean="0">
                <a:sym typeface="Symbol" panose="05050102010706020507"/>
              </a:rPr>
              <a:t></a:t>
            </a:r>
            <a:r>
              <a:rPr lang="en-US" b="1" dirty="0" smtClean="0"/>
              <a:t> ~q	</a:t>
            </a:r>
            <a:r>
              <a:rPr lang="en-US" dirty="0" smtClean="0">
                <a:solidFill>
                  <a:srgbClr val="C00000"/>
                </a:solidFill>
              </a:rPr>
              <a:t>premise</a:t>
            </a:r>
            <a:endParaRPr lang="en-US" dirty="0" smtClean="0">
              <a:solidFill>
                <a:srgbClr val="C00000"/>
              </a:solidFill>
            </a:endParaRPr>
          </a:p>
          <a:p>
            <a:pPr>
              <a:buNone/>
            </a:pPr>
            <a:r>
              <a:rPr lang="en-US" b="1" dirty="0" smtClean="0"/>
              <a:t>			p </a:t>
            </a:r>
            <a:r>
              <a:rPr lang="en-US" b="1" dirty="0" smtClean="0">
                <a:sym typeface="Symbol" panose="05050102010706020507"/>
              </a:rPr>
              <a:t></a:t>
            </a:r>
            <a:r>
              <a:rPr lang="en-US" b="1" dirty="0" smtClean="0"/>
              <a:t> r		</a:t>
            </a:r>
            <a:r>
              <a:rPr lang="en-US" dirty="0" smtClean="0">
                <a:solidFill>
                  <a:srgbClr val="C00000"/>
                </a:solidFill>
              </a:rPr>
              <a:t>premise</a:t>
            </a:r>
            <a:endParaRPr lang="en-US" dirty="0" smtClean="0">
              <a:solidFill>
                <a:srgbClr val="C00000"/>
              </a:solidFill>
            </a:endParaRPr>
          </a:p>
          <a:p>
            <a:pPr>
              <a:buNone/>
            </a:pPr>
            <a:r>
              <a:rPr lang="en-US" b="1" dirty="0" smtClean="0"/>
              <a:t>	                        r		</a:t>
            </a:r>
            <a:r>
              <a:rPr lang="en-US" dirty="0" smtClean="0">
                <a:solidFill>
                  <a:srgbClr val="C00000"/>
                </a:solidFill>
              </a:rPr>
              <a:t>conclusion</a:t>
            </a:r>
            <a:r>
              <a:rPr lang="en-US" b="1" dirty="0" smtClean="0">
                <a:solidFill>
                  <a:srgbClr val="C00000"/>
                </a:solidFill>
              </a:rPr>
              <a:t> </a:t>
            </a:r>
            <a:endParaRPr lang="en-US" b="1" dirty="0" smtClean="0">
              <a:solidFill>
                <a:srgbClr val="C00000"/>
              </a:solidFill>
            </a:endParaRPr>
          </a:p>
          <a:p>
            <a:endParaRPr lang="en-US" b="1" dirty="0" smtClean="0"/>
          </a:p>
          <a:p>
            <a:r>
              <a:rPr lang="en-US" dirty="0" smtClean="0"/>
              <a:t>Is valid or invalid?</a:t>
            </a:r>
            <a:endParaRPr lang="en-US" dirty="0" smtClean="0"/>
          </a:p>
          <a:p>
            <a:endParaRPr lang="en-US" dirty="0"/>
          </a:p>
        </p:txBody>
      </p:sp>
      <p:graphicFrame>
        <p:nvGraphicFramePr>
          <p:cNvPr id="26627" name="Object 3"/>
          <p:cNvGraphicFramePr>
            <a:graphicFrameLocks noChangeAspect="1"/>
          </p:cNvGraphicFramePr>
          <p:nvPr/>
        </p:nvGraphicFramePr>
        <p:xfrm>
          <a:off x="2286000" y="3657600"/>
          <a:ext cx="457200" cy="381000"/>
        </p:xfrm>
        <a:graphic>
          <a:graphicData uri="http://schemas.openxmlformats.org/presentationml/2006/ole">
            <mc:AlternateContent xmlns:mc="http://schemas.openxmlformats.org/markup-compatibility/2006">
              <mc:Choice xmlns:v="urn:schemas-microsoft-com:vml" Requires="v">
                <p:oleObj spid="_x0000_s26632" name="Equation" r:id="rId1" imgW="139700" imgH="127000" progId="Equation.3">
                  <p:embed/>
                </p:oleObj>
              </mc:Choice>
              <mc:Fallback>
                <p:oleObj name="Equation" r:id="rId1" imgW="139700" imgH="127000" progId="Equation.3">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6576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7650" name="Group 2"/>
          <p:cNvGraphicFramePr>
            <a:graphicFrameLocks noGrp="1"/>
          </p:cNvGraphicFramePr>
          <p:nvPr/>
        </p:nvGraphicFramePr>
        <p:xfrm>
          <a:off x="838200" y="1828800"/>
          <a:ext cx="5352142" cy="4210730"/>
        </p:xfrm>
        <a:graphic>
          <a:graphicData uri="http://schemas.openxmlformats.org/drawingml/2006/table">
            <a:tbl>
              <a:tblPr/>
              <a:tblGrid>
                <a:gridCol w="486558"/>
                <a:gridCol w="486558"/>
                <a:gridCol w="583870"/>
                <a:gridCol w="881413"/>
                <a:gridCol w="1219200"/>
                <a:gridCol w="1143000"/>
                <a:gridCol w="551543"/>
              </a:tblGrid>
              <a:tr h="553130">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r</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~q</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p  r</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r</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28294">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7" name="Rectangle 86"/>
          <p:cNvSpPr/>
          <p:nvPr/>
        </p:nvSpPr>
        <p:spPr>
          <a:xfrm>
            <a:off x="3429000" y="381000"/>
            <a:ext cx="1107996" cy="369332"/>
          </a:xfrm>
          <a:prstGeom prst="rect">
            <a:avLst/>
          </a:prstGeom>
        </p:spPr>
        <p:txBody>
          <a:bodyPr wrap="none">
            <a:spAutoFit/>
          </a:bodyPr>
          <a:lstStyle/>
          <a:p>
            <a:r>
              <a:rPr lang="en-US" dirty="0" smtClean="0"/>
              <a:t>premises	</a:t>
            </a:r>
            <a:endParaRPr lang="en-US" dirty="0"/>
          </a:p>
        </p:txBody>
      </p:sp>
      <p:cxnSp>
        <p:nvCxnSpPr>
          <p:cNvPr id="89" name="Straight Arrow Connector 88"/>
          <p:cNvCxnSpPr/>
          <p:nvPr/>
        </p:nvCxnSpPr>
        <p:spPr>
          <a:xfrm rot="5400000">
            <a:off x="2857500" y="8763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rot="5400000">
            <a:off x="3467894" y="1332706"/>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16200000" flipH="1">
            <a:off x="4136767" y="816233"/>
            <a:ext cx="1002268" cy="1046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5334000" y="685800"/>
            <a:ext cx="1176925" cy="369332"/>
          </a:xfrm>
          <a:prstGeom prst="rect">
            <a:avLst/>
          </a:prstGeom>
        </p:spPr>
        <p:txBody>
          <a:bodyPr wrap="square">
            <a:spAutoFit/>
          </a:bodyPr>
          <a:lstStyle/>
          <a:p>
            <a:r>
              <a:rPr lang="en-US" dirty="0" smtClean="0"/>
              <a:t>conclusion</a:t>
            </a:r>
            <a:endParaRPr lang="en-US" dirty="0"/>
          </a:p>
        </p:txBody>
      </p:sp>
      <p:cxnSp>
        <p:nvCxnSpPr>
          <p:cNvPr id="96" name="Straight Arrow Connector 95"/>
          <p:cNvCxnSpPr/>
          <p:nvPr/>
        </p:nvCxnSpPr>
        <p:spPr>
          <a:xfrm rot="5400000">
            <a:off x="5568836" y="1437934"/>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7543800" y="3886200"/>
            <a:ext cx="1405525" cy="369332"/>
          </a:xfrm>
          <a:prstGeom prst="rect">
            <a:avLst/>
          </a:prstGeom>
        </p:spPr>
        <p:txBody>
          <a:bodyPr wrap="square">
            <a:spAutoFit/>
          </a:bodyPr>
          <a:lstStyle/>
          <a:p>
            <a:r>
              <a:rPr lang="en-US" dirty="0" smtClean="0"/>
              <a:t>critical rows</a:t>
            </a:r>
            <a:endParaRPr lang="en-US" dirty="0"/>
          </a:p>
        </p:txBody>
      </p:sp>
      <p:cxnSp>
        <p:nvCxnSpPr>
          <p:cNvPr id="99" name="Straight Arrow Connector 98"/>
          <p:cNvCxnSpPr>
            <a:stCxn id="97" idx="1"/>
          </p:cNvCxnSpPr>
          <p:nvPr/>
        </p:nvCxnSpPr>
        <p:spPr>
          <a:xfrm rot="10800000">
            <a:off x="6248400" y="3505200"/>
            <a:ext cx="1295400" cy="565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rot="10800000" flipV="1">
            <a:off x="6248400" y="4114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rot="10800000" flipV="1">
            <a:off x="6248400" y="4114800"/>
            <a:ext cx="1295400" cy="729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4" name="Rectangle 103"/>
          <p:cNvSpPr/>
          <p:nvPr/>
        </p:nvSpPr>
        <p:spPr>
          <a:xfrm>
            <a:off x="6400800" y="502920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The argument is not valid because all corresponding values in conclusion are not T</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2000"/>
                                        <p:tgtEl>
                                          <p:spTgt spid="89"/>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2000"/>
                                        <p:tgtEl>
                                          <p:spTgt spid="91"/>
                                        </p:tgtEl>
                                      </p:cBhvr>
                                    </p:animEffect>
                                  </p:childTnLst>
                                </p:cTn>
                              </p:par>
                              <p:par>
                                <p:cTn id="11" presetID="10"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fade">
                                      <p:cBhvr>
                                        <p:cTn id="13" dur="2000"/>
                                        <p:tgtEl>
                                          <p:spTgt spid="9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2000"/>
                                        <p:tgtEl>
                                          <p:spTgt spid="8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p:cTn id="19" dur="2000"/>
                                        <p:tgtEl>
                                          <p:spTgt spid="94"/>
                                        </p:tgtEl>
                                      </p:cBhvr>
                                    </p:animEffect>
                                  </p:childTnLst>
                                </p:cTn>
                              </p:par>
                              <p:par>
                                <p:cTn id="20" presetID="10" presetClass="entr" presetSubtype="0"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fade">
                                      <p:cBhvr>
                                        <p:cTn id="22" dur="2000"/>
                                        <p:tgtEl>
                                          <p:spTgt spid="96"/>
                                        </p:tgtEl>
                                      </p:cBhvr>
                                    </p:animEffect>
                                  </p:childTnLst>
                                </p:cTn>
                              </p:par>
                              <p:par>
                                <p:cTn id="23" presetID="10" presetClass="entr" presetSubtype="0" fill="hold"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20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fade">
                                      <p:cBhvr>
                                        <p:cTn id="28" dur="2000"/>
                                        <p:tgtEl>
                                          <p:spTgt spid="101"/>
                                        </p:tgtEl>
                                      </p:cBhvr>
                                    </p:animEffect>
                                  </p:childTnLst>
                                </p:cTn>
                              </p:par>
                              <p:par>
                                <p:cTn id="29" presetID="10" presetClass="entr" presetSubtype="0"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animEffect transition="in" filter="fade">
                                      <p:cBhvr>
                                        <p:cTn id="31" dur="2000"/>
                                        <p:tgtEl>
                                          <p:spTgt spid="10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fade">
                                      <p:cBhvr>
                                        <p:cTn id="34" dur="2000"/>
                                        <p:tgtEl>
                                          <p:spTgt spid="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94" grpId="0"/>
      <p:bldP spid="97" grpId="0"/>
      <p:bldP spid="10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WORD PROBLEM</a:t>
            </a:r>
            <a:endParaRPr lang="en-US" u="sng" dirty="0">
              <a:solidFill>
                <a:srgbClr val="C00000"/>
              </a:solidFill>
            </a:endParaRPr>
          </a:p>
        </p:txBody>
      </p:sp>
      <p:sp>
        <p:nvSpPr>
          <p:cNvPr id="3" name="Content Placeholder 2"/>
          <p:cNvSpPr>
            <a:spLocks noGrp="1"/>
          </p:cNvSpPr>
          <p:nvPr>
            <p:ph sz="quarter" idx="1"/>
          </p:nvPr>
        </p:nvSpPr>
        <p:spPr/>
        <p:txBody>
          <a:bodyPr>
            <a:normAutofit fontScale="92500" lnSpcReduction="10000"/>
          </a:bodyPr>
          <a:lstStyle/>
          <a:p>
            <a:r>
              <a:rPr lang="en-US" dirty="0" smtClean="0"/>
              <a:t>If Tariq is not on team A, then </a:t>
            </a:r>
            <a:r>
              <a:rPr lang="en-US" dirty="0" err="1" smtClean="0"/>
              <a:t>Hameed</a:t>
            </a:r>
            <a:r>
              <a:rPr lang="en-US" dirty="0" smtClean="0"/>
              <a:t> is on team B. </a:t>
            </a:r>
            <a:endParaRPr lang="en-US" dirty="0" smtClean="0"/>
          </a:p>
          <a:p>
            <a:pPr>
              <a:buNone/>
            </a:pPr>
            <a:r>
              <a:rPr lang="en-US" dirty="0" smtClean="0"/>
              <a:t>	If </a:t>
            </a:r>
            <a:r>
              <a:rPr lang="en-US" dirty="0" err="1" smtClean="0"/>
              <a:t>Hameed</a:t>
            </a:r>
            <a:r>
              <a:rPr lang="en-US" dirty="0" smtClean="0"/>
              <a:t> is not on team B, then Tariq is on team A.</a:t>
            </a:r>
            <a:endParaRPr lang="en-US" dirty="0" smtClean="0"/>
          </a:p>
          <a:p>
            <a:pPr>
              <a:buNone/>
            </a:pPr>
            <a:r>
              <a:rPr lang="en-US" dirty="0" smtClean="0"/>
              <a:t>	     Tariq is not on team A or </a:t>
            </a:r>
            <a:r>
              <a:rPr lang="en-US" dirty="0" err="1" smtClean="0"/>
              <a:t>Hameed</a:t>
            </a:r>
            <a:r>
              <a:rPr lang="en-US" dirty="0" smtClean="0"/>
              <a:t> is not on team B.</a:t>
            </a:r>
            <a:endParaRPr lang="en-US" dirty="0" smtClean="0"/>
          </a:p>
          <a:p>
            <a:pPr lvl="2">
              <a:buNone/>
            </a:pPr>
            <a:endParaRPr lang="en-US" dirty="0" smtClean="0"/>
          </a:p>
          <a:p>
            <a:r>
              <a:rPr lang="en-US" sz="2800" b="1" u="sng" dirty="0" smtClean="0">
                <a:solidFill>
                  <a:srgbClr val="C00000"/>
                </a:solidFill>
              </a:rPr>
              <a:t>SOLUTION:</a:t>
            </a:r>
            <a:endParaRPr lang="en-US" sz="2800" dirty="0" smtClean="0">
              <a:solidFill>
                <a:srgbClr val="C00000"/>
              </a:solidFill>
            </a:endParaRPr>
          </a:p>
          <a:p>
            <a:pPr>
              <a:buNone/>
            </a:pPr>
            <a:r>
              <a:rPr lang="en-US" dirty="0" smtClean="0"/>
              <a:t>	Let 	</a:t>
            </a:r>
            <a:endParaRPr lang="en-US" dirty="0" smtClean="0"/>
          </a:p>
          <a:p>
            <a:pPr>
              <a:buNone/>
            </a:pPr>
            <a:r>
              <a:rPr lang="en-US" dirty="0" smtClean="0"/>
              <a:t>			</a:t>
            </a:r>
            <a:r>
              <a:rPr lang="en-US" b="1" dirty="0" smtClean="0">
                <a:solidFill>
                  <a:srgbClr val="C00000"/>
                </a:solidFill>
              </a:rPr>
              <a:t>t</a:t>
            </a:r>
            <a:r>
              <a:rPr lang="en-US" dirty="0" smtClean="0"/>
              <a:t> = Tariq is on team A</a:t>
            </a:r>
            <a:endParaRPr lang="en-US" dirty="0" smtClean="0"/>
          </a:p>
          <a:p>
            <a:pPr>
              <a:buNone/>
            </a:pPr>
            <a:r>
              <a:rPr lang="en-US" dirty="0" smtClean="0"/>
              <a:t>			</a:t>
            </a:r>
            <a:r>
              <a:rPr lang="en-US" b="1" dirty="0" smtClean="0">
                <a:solidFill>
                  <a:srgbClr val="C00000"/>
                </a:solidFill>
              </a:rPr>
              <a:t>h</a:t>
            </a:r>
            <a:r>
              <a:rPr lang="en-US" dirty="0" smtClean="0"/>
              <a:t> = </a:t>
            </a:r>
            <a:r>
              <a:rPr lang="en-US" dirty="0" err="1" smtClean="0"/>
              <a:t>Hameed</a:t>
            </a:r>
            <a:r>
              <a:rPr lang="en-US" dirty="0" smtClean="0"/>
              <a:t> is on team B</a:t>
            </a:r>
            <a:endParaRPr lang="en-US" dirty="0" smtClean="0"/>
          </a:p>
          <a:p>
            <a:pPr>
              <a:buNone/>
            </a:pPr>
            <a:r>
              <a:rPr lang="en-US" dirty="0" smtClean="0"/>
              <a:t>	Then the argument is</a:t>
            </a:r>
            <a:endParaRPr lang="en-US" dirty="0" smtClean="0"/>
          </a:p>
          <a:p>
            <a:pPr>
              <a:buNone/>
            </a:pPr>
            <a:r>
              <a:rPr lang="en-US" sz="2800" dirty="0" smtClean="0"/>
              <a:t>	                        ~ t </a:t>
            </a:r>
            <a:r>
              <a:rPr lang="en-US" sz="2800" dirty="0" smtClean="0">
                <a:sym typeface="Symbol" panose="05050102010706020507"/>
              </a:rPr>
              <a:t></a:t>
            </a:r>
            <a:r>
              <a:rPr lang="en-US" sz="2800" dirty="0" smtClean="0"/>
              <a:t> h</a:t>
            </a:r>
            <a:endParaRPr lang="en-US" sz="2800" dirty="0" smtClean="0"/>
          </a:p>
          <a:p>
            <a:pPr>
              <a:buNone/>
            </a:pPr>
            <a:r>
              <a:rPr lang="en-US" sz="2800" dirty="0" smtClean="0"/>
              <a:t>		                 ~ h </a:t>
            </a:r>
            <a:r>
              <a:rPr lang="en-US" sz="2800" dirty="0" smtClean="0">
                <a:sym typeface="Symbol" panose="05050102010706020507"/>
              </a:rPr>
              <a:t></a:t>
            </a:r>
            <a:r>
              <a:rPr lang="en-US" sz="2800" dirty="0" smtClean="0"/>
              <a:t> t</a:t>
            </a:r>
            <a:endParaRPr lang="en-US" sz="2800" dirty="0" smtClean="0"/>
          </a:p>
          <a:p>
            <a:pPr>
              <a:buNone/>
            </a:pPr>
            <a:r>
              <a:rPr lang="en-US" sz="2800" dirty="0" smtClean="0"/>
              <a:t>	                 	</a:t>
            </a:r>
            <a:r>
              <a:rPr lang="en-US" sz="2800" dirty="0" smtClean="0">
                <a:sym typeface="Symbol" panose="05050102010706020507"/>
              </a:rPr>
              <a:t></a:t>
            </a:r>
            <a:r>
              <a:rPr lang="en-US" sz="2800" dirty="0" smtClean="0"/>
              <a:t> ~ t </a:t>
            </a:r>
            <a:r>
              <a:rPr lang="en-US" sz="2800" dirty="0" smtClean="0">
                <a:sym typeface="Symbol" panose="05050102010706020507"/>
              </a:rPr>
              <a:t></a:t>
            </a:r>
            <a:r>
              <a:rPr lang="en-US" sz="2800" dirty="0" smtClean="0"/>
              <a:t> ~ h</a:t>
            </a:r>
            <a:endParaRPr lang="en-US" sz="2800" dirty="0" smtClean="0"/>
          </a:p>
          <a:p>
            <a:pPr lvl="2"/>
            <a:endParaRPr lang="en-US" dirty="0" smtClean="0"/>
          </a:p>
          <a:p>
            <a:endParaRPr lang="en-US" dirty="0" smtClean="0"/>
          </a:p>
          <a:p>
            <a:endParaRPr lang="en-US" dirty="0"/>
          </a:p>
        </p:txBody>
      </p:sp>
      <p:graphicFrame>
        <p:nvGraphicFramePr>
          <p:cNvPr id="28675" name="Object 3"/>
          <p:cNvGraphicFramePr>
            <a:graphicFrameLocks noChangeAspect="1"/>
          </p:cNvGraphicFramePr>
          <p:nvPr/>
        </p:nvGraphicFramePr>
        <p:xfrm>
          <a:off x="823686" y="2035626"/>
          <a:ext cx="457200" cy="381000"/>
        </p:xfrm>
        <a:graphic>
          <a:graphicData uri="http://schemas.openxmlformats.org/presentationml/2006/ole">
            <mc:AlternateContent xmlns:mc="http://schemas.openxmlformats.org/markup-compatibility/2006">
              <mc:Choice xmlns:v="urn:schemas-microsoft-com:vml" Requires="v">
                <p:oleObj spid="_x0000_s28680" name="Equation" r:id="rId1" imgW="139700" imgH="127000" progId="Equation.3">
                  <p:embed/>
                </p:oleObj>
              </mc:Choice>
              <mc:Fallback>
                <p:oleObj name="Equation" r:id="rId1" imgW="139700" imgH="127000" progId="Equation.3">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686" y="203562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sz="quarter" idx="1"/>
          </p:nvPr>
        </p:nvGraphicFramePr>
        <p:xfrm>
          <a:off x="2057400" y="1828800"/>
          <a:ext cx="4572000" cy="1828800"/>
        </p:xfrm>
        <a:graphic>
          <a:graphicData uri="http://schemas.openxmlformats.org/drawingml/2006/table">
            <a:tbl>
              <a:tblPr/>
              <a:tblGrid>
                <a:gridCol w="475451"/>
                <a:gridCol w="570376"/>
                <a:gridCol w="1087773"/>
                <a:gridCol w="1143000"/>
                <a:gridCol w="1295400"/>
              </a:tblGrid>
              <a:tr h="200025">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 h</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~t </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a:rPr>
                        <a:t></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 h</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~h </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a:rPr>
                        <a:t></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 t</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~t </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a:rPr>
                        <a:t></a:t>
                      </a:r>
                      <a:r>
                        <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rPr>
                        <a:t>~h</a:t>
                      </a:r>
                      <a:endParaRPr kumimoji="0" lang="en-US" sz="2400" b="1" i="0" u="none" strike="noStrike" kern="1200" cap="none" normalizeH="0" baseline="0" dirty="0" smtClean="0">
                        <a:ln>
                          <a:noFill/>
                        </a:ln>
                        <a:solidFill>
                          <a:srgbClr val="000000"/>
                        </a:solidFill>
                        <a:effectLst/>
                        <a:latin typeface="Bell MT" panose="02020503060305020303" pitchFamily="18" charset="0"/>
                        <a:ea typeface="+mn-ea"/>
                        <a:cs typeface="Times New Roman" panose="02020603050405020304" pitchFamily="18" charset="0"/>
                        <a:sym typeface="Symbol" panose="05050102010706020507" pitchFamily="18" charset="2"/>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r>
              <a:tr h="268605">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F</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pPr>
                      <a:r>
                        <a:rPr kumimoji="0" lang="en-US" sz="2400" b="0" i="0" u="none" strike="noStrike" kern="1200" cap="none" normalizeH="0" baseline="0" dirty="0" smtClean="0">
                          <a:ln>
                            <a:noFill/>
                          </a:ln>
                          <a:solidFill>
                            <a:srgbClr val="000000"/>
                          </a:solidFill>
                          <a:effectLst/>
                          <a:latin typeface="Calibri" panose="020F0502020204030204" charset="0"/>
                          <a:ea typeface="+mn-ea"/>
                          <a:cs typeface="+mn-cs"/>
                        </a:rPr>
                        <a:t>T</a:t>
                      </a:r>
                      <a:endParaRPr kumimoji="0" lang="en-US" sz="2400" b="0" i="0" u="none" strike="noStrike" kern="1200" cap="none" normalizeH="0" baseline="0" dirty="0" smtClean="0">
                        <a:ln>
                          <a:noFill/>
                        </a:ln>
                        <a:solidFill>
                          <a:srgbClr val="000000"/>
                        </a:solidFill>
                        <a:effectLst/>
                        <a:latin typeface="Calibri" panose="020F0502020204030204" charset="0"/>
                        <a:ea typeface="+mn-ea"/>
                        <a:cs typeface="+mn-cs"/>
                      </a:endParaRP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5" name="Rectangle 4"/>
          <p:cNvSpPr/>
          <p:nvPr/>
        </p:nvSpPr>
        <p:spPr>
          <a:xfrm>
            <a:off x="1371600" y="3886200"/>
            <a:ext cx="67818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Argument is invalid. Because there are three critical rows ( Remember  that the critical rows are those rows where the premises have truth value T) and in the first critical row conclusion has truth value F.  (Also remember that we say an argument is valid if in all critical rows conclusion has truth value T)</a:t>
            </a:r>
            <a:endParaRPr lang="en-US" dirty="0" smtClean="0">
              <a:solidFill>
                <a:schemeClr val="tx1"/>
              </a:solidFill>
            </a:endParaRPr>
          </a:p>
          <a:p>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u="sng" dirty="0">
              <a:solidFill>
                <a:srgbClr val="C00000"/>
              </a:solidFill>
            </a:endParaRPr>
          </a:p>
        </p:txBody>
      </p:sp>
      <p:sp>
        <p:nvSpPr>
          <p:cNvPr id="3" name="Content Placeholder 2"/>
          <p:cNvSpPr>
            <a:spLocks noGrp="1"/>
          </p:cNvSpPr>
          <p:nvPr>
            <p:ph sz="quarter" idx="1"/>
          </p:nvPr>
        </p:nvSpPr>
        <p:spPr/>
        <p:txBody>
          <a:bodyPr>
            <a:normAutofit/>
          </a:bodyPr>
          <a:lstStyle/>
          <a:p>
            <a:r>
              <a:rPr lang="en-US" sz="2800" dirty="0" smtClean="0"/>
              <a:t>If at least one of these two numbers is divisible by 6, then the product of these two numbers is divisible by 6.</a:t>
            </a:r>
            <a:endParaRPr lang="en-US" sz="2800" dirty="0" smtClean="0"/>
          </a:p>
          <a:p>
            <a:pPr>
              <a:buNone/>
            </a:pPr>
            <a:r>
              <a:rPr lang="en-US" sz="2800" dirty="0" smtClean="0"/>
              <a:t>	Neither of these two numbers is divisible by 6.</a:t>
            </a:r>
            <a:endParaRPr lang="en-US" sz="2800" dirty="0" smtClean="0"/>
          </a:p>
          <a:p>
            <a:pPr>
              <a:buNone/>
            </a:pPr>
            <a:r>
              <a:rPr lang="en-US" sz="2800" dirty="0" smtClean="0"/>
              <a:t>	        The product of these two numbers is not divisible by 6.</a:t>
            </a:r>
            <a:endParaRPr lang="en-US" sz="2800" dirty="0" smtClean="0"/>
          </a:p>
          <a:p>
            <a:pPr>
              <a:buNone/>
            </a:pPr>
            <a:endParaRPr lang="en-US" sz="2800" dirty="0" smtClean="0"/>
          </a:p>
          <a:p>
            <a:r>
              <a:rPr lang="en-US" sz="2800" b="1" u="sng" dirty="0" smtClean="0">
                <a:solidFill>
                  <a:srgbClr val="C00000"/>
                </a:solidFill>
              </a:rPr>
              <a:t>SOLUTION:</a:t>
            </a:r>
            <a:endParaRPr lang="en-US" sz="2800" dirty="0" smtClean="0">
              <a:solidFill>
                <a:srgbClr val="C00000"/>
              </a:solidFill>
            </a:endParaRPr>
          </a:p>
          <a:p>
            <a:endParaRPr lang="en-US" sz="2800" dirty="0" smtClean="0"/>
          </a:p>
          <a:p>
            <a:endParaRPr lang="en-US" sz="2800" dirty="0" smtClean="0"/>
          </a:p>
          <a:p>
            <a:endParaRPr lang="en-US" dirty="0"/>
          </a:p>
        </p:txBody>
      </p:sp>
      <p:graphicFrame>
        <p:nvGraphicFramePr>
          <p:cNvPr id="30723" name="Object 3"/>
          <p:cNvGraphicFramePr>
            <a:graphicFrameLocks noChangeAspect="1"/>
          </p:cNvGraphicFramePr>
          <p:nvPr/>
        </p:nvGraphicFramePr>
        <p:xfrm>
          <a:off x="990327" y="3200689"/>
          <a:ext cx="457200" cy="381000"/>
        </p:xfrm>
        <a:graphic>
          <a:graphicData uri="http://schemas.openxmlformats.org/presentationml/2006/ole">
            <mc:AlternateContent xmlns:mc="http://schemas.openxmlformats.org/markup-compatibility/2006">
              <mc:Choice xmlns:v="urn:schemas-microsoft-com:vml" Requires="v">
                <p:oleObj spid="_x0000_s30728" name="Equation" r:id="rId1" imgW="139700" imgH="127000" progId="Equation.3">
                  <p:embed/>
                </p:oleObj>
              </mc:Choice>
              <mc:Fallback>
                <p:oleObj name="Equation" r:id="rId1" imgW="139700" imgH="127000" progId="Equation.3">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327" y="3200689"/>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sz="2800" dirty="0" smtClean="0"/>
              <a:t>If  I got an </a:t>
            </a:r>
            <a:r>
              <a:rPr lang="en-US" sz="2800" dirty="0" err="1" smtClean="0"/>
              <a:t>Eid</a:t>
            </a:r>
            <a:r>
              <a:rPr lang="en-US" sz="2800" dirty="0" smtClean="0"/>
              <a:t> bonus, I’ll buy a stereo.</a:t>
            </a:r>
            <a:endParaRPr lang="en-US" sz="2800" dirty="0" smtClean="0"/>
          </a:p>
          <a:p>
            <a:pPr>
              <a:buNone/>
            </a:pPr>
            <a:r>
              <a:rPr lang="en-US" sz="2800" dirty="0" smtClean="0"/>
              <a:t>	If  I sell my motorcycle, I’ll buy a stereo.</a:t>
            </a:r>
            <a:endParaRPr lang="en-US" sz="2800" dirty="0" smtClean="0"/>
          </a:p>
          <a:p>
            <a:pPr>
              <a:buNone/>
            </a:pPr>
            <a:r>
              <a:rPr lang="en-US" sz="2800" dirty="0" smtClean="0"/>
              <a:t>	        If I get an </a:t>
            </a:r>
            <a:r>
              <a:rPr lang="en-US" sz="2800" dirty="0" err="1" smtClean="0"/>
              <a:t>Eid</a:t>
            </a:r>
            <a:r>
              <a:rPr lang="en-US" sz="2800" dirty="0" smtClean="0"/>
              <a:t> bonus or I sell my motorcycle, then I’ll buy a stereo.</a:t>
            </a:r>
            <a:endParaRPr lang="en-US" sz="2800" dirty="0" smtClean="0"/>
          </a:p>
          <a:p>
            <a:pPr>
              <a:buNone/>
            </a:pPr>
            <a:r>
              <a:rPr lang="en-US" b="1" u="sng" dirty="0" smtClean="0">
                <a:solidFill>
                  <a:srgbClr val="C00000"/>
                </a:solidFill>
              </a:rPr>
              <a:t>SOLUTION</a:t>
            </a:r>
            <a:r>
              <a:rPr lang="en-US" b="1" dirty="0" smtClean="0">
                <a:solidFill>
                  <a:srgbClr val="C00000"/>
                </a:solidFill>
              </a:rPr>
              <a:t>:</a:t>
            </a:r>
            <a:endParaRPr lang="en-US" dirty="0" smtClean="0">
              <a:solidFill>
                <a:srgbClr val="C00000"/>
              </a:solidFill>
            </a:endParaRPr>
          </a:p>
          <a:p>
            <a:pPr>
              <a:buNone/>
            </a:pPr>
            <a:r>
              <a:rPr lang="en-US" dirty="0" smtClean="0"/>
              <a:t>		</a:t>
            </a:r>
            <a:endParaRPr lang="en-US" dirty="0"/>
          </a:p>
        </p:txBody>
      </p:sp>
      <p:graphicFrame>
        <p:nvGraphicFramePr>
          <p:cNvPr id="33795" name="Object 3"/>
          <p:cNvGraphicFramePr>
            <a:graphicFrameLocks noChangeAspect="1"/>
          </p:cNvGraphicFramePr>
          <p:nvPr/>
        </p:nvGraphicFramePr>
        <p:xfrm>
          <a:off x="1034142" y="2297566"/>
          <a:ext cx="457200" cy="381000"/>
        </p:xfrm>
        <a:graphic>
          <a:graphicData uri="http://schemas.openxmlformats.org/presentationml/2006/ole">
            <mc:AlternateContent xmlns:mc="http://schemas.openxmlformats.org/markup-compatibility/2006">
              <mc:Choice xmlns:v="urn:schemas-microsoft-com:vml" Requires="v">
                <p:oleObj spid="_x0000_s33800" name="Equation" r:id="rId1" imgW="139700" imgH="127000" progId="Equation.3">
                  <p:embed/>
                </p:oleObj>
              </mc:Choice>
              <mc:Fallback>
                <p:oleObj name="Equation" r:id="rId1" imgW="139700" imgH="127000" progId="Equation.3">
                  <p:embed/>
                  <p:pic>
                    <p:nvPicPr>
                      <p:cNvPr id="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142" y="229756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u="sng" dirty="0">
              <a:solidFill>
                <a:srgbClr val="C00000"/>
              </a:solidFill>
            </a:endParaRPr>
          </a:p>
        </p:txBody>
      </p:sp>
      <p:sp>
        <p:nvSpPr>
          <p:cNvPr id="3" name="Content Placeholder 2"/>
          <p:cNvSpPr>
            <a:spLocks noGrp="1"/>
          </p:cNvSpPr>
          <p:nvPr>
            <p:ph sz="quarter" idx="1"/>
          </p:nvPr>
        </p:nvSpPr>
        <p:spPr/>
        <p:txBody>
          <a:bodyPr>
            <a:normAutofit lnSpcReduction="10000"/>
          </a:bodyPr>
          <a:lstStyle/>
          <a:p>
            <a:r>
              <a:rPr lang="en-US" dirty="0" smtClean="0"/>
              <a:t>A strict teacher keeps me awake. I stay awake in Discrete Mathematics class. Therefore, my Discrete Mathematics teacher is strict.</a:t>
            </a:r>
            <a:endParaRPr lang="en-US" dirty="0" smtClean="0"/>
          </a:p>
          <a:p>
            <a:pPr>
              <a:buNone/>
            </a:pPr>
            <a:r>
              <a:rPr lang="en-US" b="1" dirty="0" smtClean="0">
                <a:solidFill>
                  <a:srgbClr val="C00000"/>
                </a:solidFill>
              </a:rPr>
              <a:t>	</a:t>
            </a:r>
            <a:r>
              <a:rPr lang="en-US" b="1" u="sng" dirty="0" smtClean="0">
                <a:solidFill>
                  <a:srgbClr val="C00000"/>
                </a:solidFill>
              </a:rPr>
              <a:t>Solution:</a:t>
            </a:r>
            <a:endParaRPr lang="en-US" b="1" u="sng" dirty="0" smtClean="0">
              <a:solidFill>
                <a:srgbClr val="C00000"/>
              </a:solidFill>
            </a:endParaRPr>
          </a:p>
          <a:p>
            <a:pPr>
              <a:buNone/>
            </a:pPr>
            <a:r>
              <a:rPr lang="en-US"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5029</Words>
  <Application>WPS Presentation</Application>
  <PresentationFormat>On-screen Show (4:3)</PresentationFormat>
  <Paragraphs>486</Paragraphs>
  <Slides>21</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7</vt:i4>
      </vt:variant>
      <vt:variant>
        <vt:lpstr>幻灯片标题</vt:lpstr>
      </vt:variant>
      <vt:variant>
        <vt:i4>21</vt:i4>
      </vt:variant>
    </vt:vector>
  </HeadingPairs>
  <TitlesOfParts>
    <vt:vector size="44" baseType="lpstr">
      <vt:lpstr>Arial</vt:lpstr>
      <vt:lpstr>SimSun</vt:lpstr>
      <vt:lpstr>Wingdings</vt:lpstr>
      <vt:lpstr>Wingdings 3</vt:lpstr>
      <vt:lpstr>Wingdings</vt:lpstr>
      <vt:lpstr>Symbol</vt:lpstr>
      <vt:lpstr>Bell MT</vt:lpstr>
      <vt:lpstr>Times New Roman</vt:lpstr>
      <vt:lpstr>Symbol</vt:lpstr>
      <vt:lpstr>Comic Sans MS</vt:lpstr>
      <vt:lpstr>Gill Sans MT</vt:lpstr>
      <vt:lpstr>Bookman Old Style</vt:lpstr>
      <vt:lpstr>Microsoft YaHei</vt:lpstr>
      <vt:lpstr>Arial Unicode MS</vt:lpstr>
      <vt:lpstr>Calibri</vt:lpstr>
      <vt:lpstr>Origin</vt:lpstr>
      <vt:lpstr>Equation.3</vt:lpstr>
      <vt:lpstr>Equation.3</vt:lpstr>
      <vt:lpstr>Equation.3</vt:lpstr>
      <vt:lpstr>Equation.3</vt:lpstr>
      <vt:lpstr>Equation.3</vt:lpstr>
      <vt:lpstr>Equation.3</vt:lpstr>
      <vt:lpstr>Equation.3</vt:lpstr>
      <vt:lpstr>ARGUMENTS Lecture # 05  </vt:lpstr>
      <vt:lpstr>In Today’s Lecture</vt:lpstr>
      <vt:lpstr>Example:</vt:lpstr>
      <vt:lpstr>ARGUMENT:</vt:lpstr>
      <vt:lpstr>VALID ARGUMENT</vt:lpstr>
      <vt:lpstr>PowerPoint 演示文稿</vt:lpstr>
      <vt:lpstr>Note:</vt:lpstr>
      <vt:lpstr>INVALID ARGUMENT</vt:lpstr>
      <vt:lpstr>Argument Form</vt:lpstr>
      <vt:lpstr>Checking the validity of an argument form</vt:lpstr>
      <vt:lpstr>EXAMPLE:</vt:lpstr>
      <vt:lpstr>PowerPoint 演示文稿</vt:lpstr>
      <vt:lpstr>EXAMPLE OF INVALID ARGUMENT</vt:lpstr>
      <vt:lpstr>PowerPoint 演示文稿</vt:lpstr>
      <vt:lpstr>EXERCISE</vt:lpstr>
      <vt:lpstr>PowerPoint 演示文稿</vt:lpstr>
      <vt:lpstr>WORD PROBLEM</vt:lpstr>
      <vt:lpstr>PowerPoint 演示文稿</vt:lpstr>
      <vt:lpstr>EXERCISE</vt:lpstr>
      <vt:lpstr>EXERCISE</vt:lpstr>
      <vt:lpstr>EXERCISE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Discrete Structures </dc:title>
  <dc:creator>C &amp; M</dc:creator>
  <cp:lastModifiedBy>Dell</cp:lastModifiedBy>
  <cp:revision>190</cp:revision>
  <dcterms:created xsi:type="dcterms:W3CDTF">2013-09-11T16:39:00Z</dcterms:created>
  <dcterms:modified xsi:type="dcterms:W3CDTF">2024-10-07T06:38:24Z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EAACBD7C279D4E4DBD4AE85444D11A06_12</vt:lpwstr>
  </property>
  <property fmtid="{D5CDD505-2E9C-101B-9397-08002B2CF9AE}" pid="3" name="KSOProductBuildVer">
    <vt:lpwstr>1033-12.2.0.18283</vt:lpwstr>
  </property>
</Properties>
</file>
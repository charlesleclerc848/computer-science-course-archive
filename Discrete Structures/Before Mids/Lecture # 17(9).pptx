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24"/>
  </p:notesMasterIdLst>
  <p:handoutMasterIdLst>
    <p:handoutMasterId r:id="rId25"/>
  </p:handoutMasterIdLst>
  <p:sldIdLst>
    <p:sldId id="256" r:id="rId2"/>
    <p:sldId id="257" r:id="rId3"/>
    <p:sldId id="258" r:id="rId4"/>
    <p:sldId id="320" r:id="rId5"/>
    <p:sldId id="259" r:id="rId6"/>
    <p:sldId id="260" r:id="rId7"/>
    <p:sldId id="392" r:id="rId8"/>
    <p:sldId id="317" r:id="rId9"/>
    <p:sldId id="393" r:id="rId10"/>
    <p:sldId id="394" r:id="rId11"/>
    <p:sldId id="395" r:id="rId12"/>
    <p:sldId id="396" r:id="rId13"/>
    <p:sldId id="397" r:id="rId14"/>
    <p:sldId id="398" r:id="rId15"/>
    <p:sldId id="399" r:id="rId16"/>
    <p:sldId id="400" r:id="rId17"/>
    <p:sldId id="401" r:id="rId18"/>
    <p:sldId id="402" r:id="rId19"/>
    <p:sldId id="406" r:id="rId20"/>
    <p:sldId id="404" r:id="rId21"/>
    <p:sldId id="408" r:id="rId22"/>
    <p:sldId id="407" r:id="rId23"/>
  </p:sldIdLst>
  <p:sldSz cx="9144000" cy="6858000" type="screen4x3"/>
  <p:notesSz cx="6858000" cy="9144000"/>
  <p:custDataLst>
    <p:tags r:id="rId26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9C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42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186"/>
    </p:cViewPr>
  </p:sorterViewPr>
  <p:notesViewPr>
    <p:cSldViewPr>
      <p:cViewPr varScale="1">
        <p:scale>
          <a:sx n="83" d="100"/>
          <a:sy n="83" d="100"/>
        </p:scale>
        <p:origin x="-1422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33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5959C94-BE30-4F86-B0FD-A3A1B0C4789D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368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68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368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68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E971F3D-4CCB-414F-9454-B7A9A7C50F2E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95046609-F674-44B6-8FCB-CC08E7B10C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6843562-6A8D-4508-B433-375FE97B4E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74772-4651-4709-B5B8-851202ACB60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A212F-0F62-46B2-BBCF-A4267B9585F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AF5EE-3D59-4A2D-B384-C9549A05CA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0E3FE-F966-4958-A76A-B25FC80995A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392CC-0ABD-4EAD-8464-CAFE0E96F69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E1282-669A-4C75-B4DC-B452198C5A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1697B-FB9C-4DE7-84A0-1309B4BE14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47E7-2302-4993-835F-A2750329BEB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E2D1B8C6-6188-4C48-BCDE-6213A1D72AE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.wmf"/><Relationship Id="rId4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3.wmf"/><Relationship Id="rId4" Type="http://schemas.openxmlformats.org/officeDocument/2006/relationships/oleObject" Target="../embeddings/oleObject3.bin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3.w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3.w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7.bin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4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8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9200" y="3886200"/>
            <a:ext cx="6858000" cy="6858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100" b="1" u="sng" dirty="0" smtClean="0">
                <a:solidFill>
                  <a:srgbClr val="C00000"/>
                </a:solidFill>
              </a:rPr>
              <a:t>RULES OF INFERENCE FOR  QUANTIFIED STATEMENTS</a:t>
            </a:r>
            <a:br>
              <a:rPr lang="en-US" sz="3100" b="1" u="sng" dirty="0" smtClean="0">
                <a:solidFill>
                  <a:srgbClr val="C00000"/>
                </a:solidFill>
              </a:rPr>
            </a:br>
            <a:endParaRPr lang="en-US" sz="2900" b="1" u="sng" dirty="0">
              <a:solidFill>
                <a:srgbClr val="C00000"/>
              </a:solidFill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 algn="ctr"/>
            <a:r>
              <a:rPr lang="en-US" sz="2400" b="1" dirty="0" smtClean="0">
                <a:solidFill>
                  <a:srgbClr val="0070C0"/>
                </a:solidFill>
              </a:rPr>
              <a:t>Lecture # 17</a:t>
            </a:r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A3B3F-4222-45C1-91A8-A367DD2FCE91}" type="slidenum">
              <a:rPr lang="en-US"/>
              <a:pPr/>
              <a:t>1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INTRODUCTION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95044-D182-4BAE-9152-421F005E817B}" type="slidenum">
              <a:rPr lang="en-US"/>
              <a:pPr/>
              <a:t>2</a:t>
            </a:fld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We have discussed </a:t>
            </a:r>
            <a:r>
              <a:rPr lang="en-US" dirty="0" smtClean="0">
                <a:solidFill>
                  <a:srgbClr val="FF0000"/>
                </a:solidFill>
              </a:rPr>
              <a:t>rules of inference</a:t>
            </a:r>
            <a:r>
              <a:rPr lang="en-US" dirty="0" smtClean="0"/>
              <a:t> for </a:t>
            </a:r>
            <a:r>
              <a:rPr lang="en-US" dirty="0" smtClean="0">
                <a:solidFill>
                  <a:srgbClr val="FF0000"/>
                </a:solidFill>
              </a:rPr>
              <a:t>propositions</a:t>
            </a:r>
            <a:r>
              <a:rPr lang="en-US" dirty="0" smtClean="0"/>
              <a:t>. </a:t>
            </a:r>
          </a:p>
          <a:p>
            <a:pPr>
              <a:buNone/>
            </a:pPr>
            <a:r>
              <a:rPr lang="en-US" dirty="0" smtClean="0"/>
              <a:t>	We will now describe some important </a:t>
            </a:r>
            <a:r>
              <a:rPr lang="en-US" dirty="0" smtClean="0">
                <a:solidFill>
                  <a:srgbClr val="FF0000"/>
                </a:solidFill>
              </a:rPr>
              <a:t>rules of inference</a:t>
            </a:r>
            <a:r>
              <a:rPr lang="en-US" dirty="0" smtClean="0"/>
              <a:t> for statements involving </a:t>
            </a:r>
            <a:r>
              <a:rPr lang="en-US" dirty="0" smtClean="0">
                <a:solidFill>
                  <a:srgbClr val="FF0000"/>
                </a:solidFill>
              </a:rPr>
              <a:t>quantifiers</a:t>
            </a:r>
            <a:r>
              <a:rPr lang="en-US" dirty="0" smtClean="0"/>
              <a:t>, which are given below:</a:t>
            </a:r>
          </a:p>
          <a:p>
            <a:pPr>
              <a:buNone/>
            </a:pPr>
            <a:endParaRPr lang="en-US" dirty="0" smtClean="0"/>
          </a:p>
          <a:p>
            <a:pPr lvl="1"/>
            <a:r>
              <a:rPr lang="en-US" sz="2400" dirty="0" smtClean="0">
                <a:solidFill>
                  <a:srgbClr val="C00000"/>
                </a:solidFill>
              </a:rPr>
              <a:t>Universal Instantiation</a:t>
            </a:r>
          </a:p>
          <a:p>
            <a:pPr lvl="1"/>
            <a:r>
              <a:rPr lang="en-US" sz="2400" dirty="0" smtClean="0">
                <a:solidFill>
                  <a:srgbClr val="C00000"/>
                </a:solidFill>
              </a:rPr>
              <a:t>Universal Generalization</a:t>
            </a:r>
          </a:p>
          <a:p>
            <a:pPr lvl="1"/>
            <a:r>
              <a:rPr lang="en-US" sz="2400" dirty="0" smtClean="0">
                <a:solidFill>
                  <a:srgbClr val="C00000"/>
                </a:solidFill>
              </a:rPr>
              <a:t>Existential Instantiation</a:t>
            </a:r>
          </a:p>
          <a:p>
            <a:pPr lvl="1"/>
            <a:r>
              <a:rPr lang="en-US" sz="2400" dirty="0" smtClean="0">
                <a:solidFill>
                  <a:srgbClr val="C00000"/>
                </a:solidFill>
              </a:rPr>
              <a:t>Existential Generalization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UNIVERSAL INSTANTIATION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F35CA-D4F4-41A4-954A-F0C2B8818BFD}" type="slidenum">
              <a:rPr lang="en-US"/>
              <a:pPr/>
              <a:t>3</a:t>
            </a:fld>
            <a:endParaRPr 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Assume that we know that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x P(x)</a:t>
            </a:r>
            <a:r>
              <a:rPr lang="en-US" dirty="0" smtClean="0">
                <a:sym typeface="Symbol" pitchFamily="18" charset="2"/>
              </a:rPr>
              <a:t> is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true</a:t>
            </a:r>
            <a:r>
              <a:rPr lang="en-US" dirty="0" smtClean="0">
                <a:sym typeface="Symbol" pitchFamily="18" charset="2"/>
              </a:rPr>
              <a:t>:</a:t>
            </a:r>
          </a:p>
          <a:p>
            <a:pPr lvl="1"/>
            <a:r>
              <a:rPr lang="en-US" sz="2400" dirty="0" smtClean="0">
                <a:sym typeface="Symbol" pitchFamily="18" charset="2"/>
              </a:rPr>
              <a:t>Then we can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conclude</a:t>
            </a:r>
            <a:r>
              <a:rPr lang="en-US" sz="2400" dirty="0" smtClean="0">
                <a:sym typeface="Symbol" pitchFamily="18" charset="2"/>
              </a:rPr>
              <a:t> that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P(c)</a:t>
            </a:r>
            <a:r>
              <a:rPr lang="en-US" sz="2400" dirty="0" smtClean="0">
                <a:sym typeface="Symbol" pitchFamily="18" charset="2"/>
              </a:rPr>
              <a:t> is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true</a:t>
            </a:r>
          </a:p>
          <a:p>
            <a:pPr lvl="2"/>
            <a:r>
              <a:rPr lang="en-US" dirty="0" smtClean="0">
                <a:sym typeface="Symbol" pitchFamily="18" charset="2"/>
              </a:rPr>
              <a:t>Here c stands for some specific constant from the domain.</a:t>
            </a:r>
          </a:p>
          <a:p>
            <a:pPr lvl="1"/>
            <a:r>
              <a:rPr lang="en-US" sz="2400" dirty="0" smtClean="0">
                <a:sym typeface="Symbol" pitchFamily="18" charset="2"/>
              </a:rPr>
              <a:t>This is called “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universal instantiation</a:t>
            </a:r>
            <a:r>
              <a:rPr lang="en-US" sz="2400" dirty="0" smtClean="0">
                <a:sym typeface="Symbol" pitchFamily="18" charset="2"/>
              </a:rPr>
              <a:t>”</a:t>
            </a:r>
          </a:p>
          <a:p>
            <a:pPr lvl="1"/>
            <a:r>
              <a:rPr lang="en-US" sz="2400" dirty="0" smtClean="0">
                <a:sym typeface="Symbol" pitchFamily="18" charset="2"/>
              </a:rPr>
              <a:t>Given the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premise x P(x)</a:t>
            </a:r>
            <a:r>
              <a:rPr lang="en-US" sz="2400" dirty="0" smtClean="0">
                <a:sym typeface="Symbol" pitchFamily="18" charset="2"/>
              </a:rPr>
              <a:t>.</a:t>
            </a:r>
          </a:p>
          <a:p>
            <a:endParaRPr lang="en-US" dirty="0" smtClean="0"/>
          </a:p>
          <a:p>
            <a:r>
              <a:rPr lang="en-US" b="1" u="sng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Example</a:t>
            </a:r>
            <a:r>
              <a:rPr lang="en-US" dirty="0" smtClean="0"/>
              <a:t>: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We have a statement “</a:t>
            </a:r>
            <a:r>
              <a:rPr lang="en-US" dirty="0" smtClean="0">
                <a:solidFill>
                  <a:srgbClr val="C00000"/>
                </a:solidFill>
              </a:rPr>
              <a:t>All woman are wise.</a:t>
            </a:r>
            <a:r>
              <a:rPr lang="en-US" dirty="0" smtClean="0"/>
              <a:t>”</a:t>
            </a:r>
          </a:p>
          <a:p>
            <a:pPr>
              <a:buNone/>
            </a:pPr>
            <a:r>
              <a:rPr lang="en-US" dirty="0" smtClean="0"/>
              <a:t>	We can conclude that “</a:t>
            </a:r>
            <a:r>
              <a:rPr lang="en-US" dirty="0" smtClean="0">
                <a:solidFill>
                  <a:srgbClr val="C00000"/>
                </a:solidFill>
              </a:rPr>
              <a:t>Lisa is wise</a:t>
            </a:r>
            <a:r>
              <a:rPr lang="en-US" dirty="0" smtClean="0"/>
              <a:t>”</a:t>
            </a:r>
          </a:p>
          <a:p>
            <a:pPr>
              <a:buNone/>
            </a:pPr>
            <a:r>
              <a:rPr lang="en-US" dirty="0" smtClean="0"/>
              <a:t>	Where </a:t>
            </a:r>
            <a:r>
              <a:rPr lang="en-US" dirty="0" smtClean="0">
                <a:solidFill>
                  <a:srgbClr val="C00000"/>
                </a:solidFill>
              </a:rPr>
              <a:t>Lisa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member</a:t>
            </a:r>
            <a:r>
              <a:rPr lang="en-US" dirty="0" smtClean="0"/>
              <a:t> of the </a:t>
            </a:r>
            <a:r>
              <a:rPr lang="en-US" dirty="0" smtClean="0">
                <a:solidFill>
                  <a:srgbClr val="C00000"/>
                </a:solidFill>
              </a:rPr>
              <a:t>domain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UNIVERSAL GENERALIZATION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>
                <a:sym typeface="Symbol" pitchFamily="18" charset="2"/>
              </a:rPr>
              <a:t>Assume that we know that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P(c)</a:t>
            </a:r>
            <a:r>
              <a:rPr lang="en-US" dirty="0" smtClean="0">
                <a:sym typeface="Symbol" pitchFamily="18" charset="2"/>
              </a:rPr>
              <a:t> is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true</a:t>
            </a:r>
            <a:r>
              <a:rPr lang="en-US" dirty="0" smtClean="0">
                <a:sym typeface="Symbol" pitchFamily="18" charset="2"/>
              </a:rPr>
              <a:t> for any value of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c</a:t>
            </a:r>
          </a:p>
          <a:p>
            <a:pPr lvl="1"/>
            <a:r>
              <a:rPr lang="en-US" sz="2400" dirty="0" smtClean="0">
                <a:sym typeface="Symbol" pitchFamily="18" charset="2"/>
              </a:rPr>
              <a:t>Then we can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conclude</a:t>
            </a:r>
            <a:r>
              <a:rPr lang="en-US" sz="2400" dirty="0" smtClean="0">
                <a:sym typeface="Symbol" pitchFamily="18" charset="2"/>
              </a:rPr>
              <a:t> that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x P(x)</a:t>
            </a:r>
            <a:r>
              <a:rPr lang="en-US" sz="2400" dirty="0" smtClean="0">
                <a:sym typeface="Symbol" pitchFamily="18" charset="2"/>
              </a:rPr>
              <a:t> is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true</a:t>
            </a:r>
            <a:r>
              <a:rPr lang="en-US" sz="2400" dirty="0" smtClean="0">
                <a:sym typeface="Symbol" pitchFamily="18" charset="2"/>
              </a:rPr>
              <a:t>.</a:t>
            </a:r>
          </a:p>
          <a:p>
            <a:pPr lvl="1"/>
            <a:r>
              <a:rPr lang="en-US" sz="2400" dirty="0" smtClean="0">
                <a:sym typeface="Symbol" pitchFamily="18" charset="2"/>
              </a:rPr>
              <a:t>This is called “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universal generalization</a:t>
            </a:r>
            <a:r>
              <a:rPr lang="en-US" sz="2400" dirty="0" smtClean="0">
                <a:sym typeface="Symbol" pitchFamily="18" charset="2"/>
              </a:rPr>
              <a:t>”</a:t>
            </a:r>
          </a:p>
          <a:p>
            <a:endParaRPr lang="en-US" sz="2400" dirty="0" smtClean="0">
              <a:solidFill>
                <a:srgbClr val="C00000"/>
              </a:solidFill>
              <a:sym typeface="Symbol" charset="2"/>
            </a:endParaRPr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EXISTENTIAL INSTANTIATION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DCE39-13DB-4A84-80E2-F26D0BD7973B}" type="slidenum">
              <a:rPr lang="en-US"/>
              <a:pPr/>
              <a:t>5</a:t>
            </a:fld>
            <a:endParaRPr 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Assume that we know that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x P(x)</a:t>
            </a:r>
            <a:r>
              <a:rPr lang="en-US" dirty="0" smtClean="0">
                <a:sym typeface="Symbol" pitchFamily="18" charset="2"/>
              </a:rPr>
              <a:t> is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true</a:t>
            </a:r>
          </a:p>
          <a:p>
            <a:pPr lvl="1"/>
            <a:r>
              <a:rPr lang="en-US" sz="2400" dirty="0" smtClean="0">
                <a:sym typeface="Symbol" pitchFamily="18" charset="2"/>
              </a:rPr>
              <a:t>Then we can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conclude</a:t>
            </a:r>
            <a:r>
              <a:rPr lang="en-US" sz="2400" dirty="0" smtClean="0">
                <a:sym typeface="Symbol" pitchFamily="18" charset="2"/>
              </a:rPr>
              <a:t> that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P(c)</a:t>
            </a:r>
            <a:r>
              <a:rPr lang="en-US" sz="2400" dirty="0" smtClean="0">
                <a:sym typeface="Symbol" pitchFamily="18" charset="2"/>
              </a:rPr>
              <a:t> is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true</a:t>
            </a:r>
            <a:r>
              <a:rPr lang="en-US" sz="2400" dirty="0" smtClean="0">
                <a:sym typeface="Symbol" pitchFamily="18" charset="2"/>
              </a:rPr>
              <a:t> for some value of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c</a:t>
            </a:r>
          </a:p>
          <a:p>
            <a:pPr lvl="2"/>
            <a:r>
              <a:rPr lang="en-US" sz="2400" dirty="0" smtClean="0">
                <a:sym typeface="Symbol" pitchFamily="18" charset="2"/>
              </a:rPr>
              <a:t>Here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c</a:t>
            </a:r>
            <a:r>
              <a:rPr lang="en-US" sz="2400" dirty="0" smtClean="0">
                <a:sym typeface="Symbol" pitchFamily="18" charset="2"/>
              </a:rPr>
              <a:t> stands for some specific constant from the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domain</a:t>
            </a:r>
            <a:r>
              <a:rPr lang="en-US" sz="2400" dirty="0" smtClean="0">
                <a:sym typeface="Symbol" pitchFamily="18" charset="2"/>
              </a:rPr>
              <a:t>.</a:t>
            </a:r>
            <a:endParaRPr lang="en-US" sz="2100" dirty="0" smtClean="0">
              <a:solidFill>
                <a:srgbClr val="C00000"/>
              </a:solidFill>
              <a:sym typeface="Symbol" pitchFamily="18" charset="2"/>
            </a:endParaRPr>
          </a:p>
          <a:p>
            <a:pPr lvl="1"/>
            <a:r>
              <a:rPr lang="en-US" sz="2400" dirty="0" smtClean="0">
                <a:sym typeface="Symbol" pitchFamily="18" charset="2"/>
              </a:rPr>
              <a:t>This is called “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existential instantiation</a:t>
            </a:r>
            <a:r>
              <a:rPr lang="en-US" sz="2400" dirty="0" smtClean="0">
                <a:sym typeface="Symbol" pitchFamily="18" charset="2"/>
              </a:rPr>
              <a:t>”</a:t>
            </a:r>
          </a:p>
          <a:p>
            <a:pPr lvl="1"/>
            <a:r>
              <a:rPr lang="en-US" sz="2400" dirty="0" smtClean="0">
                <a:sym typeface="Symbol" pitchFamily="18" charset="2"/>
              </a:rPr>
              <a:t>Given the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premise x P(x)</a:t>
            </a:r>
            <a:r>
              <a:rPr lang="en-US" sz="2400" dirty="0" smtClean="0">
                <a:sym typeface="Symbol" pitchFamily="18" charset="2"/>
              </a:rPr>
              <a:t>.</a:t>
            </a:r>
          </a:p>
          <a:p>
            <a:pPr lvl="1"/>
            <a:endParaRPr lang="en-US" sz="2400" dirty="0" smtClean="0">
              <a:sym typeface="Symbol" pitchFamily="18" charset="2"/>
            </a:endParaRPr>
          </a:p>
          <a:p>
            <a:pPr>
              <a:buNone/>
            </a:pPr>
            <a:endParaRPr lang="en-US" dirty="0" smtClean="0">
              <a:solidFill>
                <a:srgbClr val="C00000"/>
              </a:solidFill>
              <a:sym typeface="Symbol" charset="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EXISTENTIAL GENERALIZATION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64DD2-416A-4C46-BB8D-D734F3C0719C}" type="slidenum">
              <a:rPr lang="en-US"/>
              <a:pPr/>
              <a:t>6</a:t>
            </a:fld>
            <a:endParaRPr lang="en-US"/>
          </a:p>
        </p:txBody>
      </p:sp>
      <p:sp>
        <p:nvSpPr>
          <p:cNvPr id="1024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>
                <a:sym typeface="Symbol" pitchFamily="18" charset="2"/>
              </a:rPr>
              <a:t>Assume we know that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P(c)</a:t>
            </a:r>
            <a:r>
              <a:rPr lang="en-US" dirty="0" smtClean="0">
                <a:sym typeface="Symbol" pitchFamily="18" charset="2"/>
              </a:rPr>
              <a:t> is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true</a:t>
            </a:r>
            <a:r>
              <a:rPr lang="en-US" dirty="0" smtClean="0">
                <a:sym typeface="Symbol" pitchFamily="18" charset="2"/>
              </a:rPr>
              <a:t> for some value of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c</a:t>
            </a:r>
          </a:p>
          <a:p>
            <a:pPr lvl="1"/>
            <a:r>
              <a:rPr lang="en-US" sz="2400" dirty="0" smtClean="0">
                <a:sym typeface="Symbol" pitchFamily="18" charset="2"/>
              </a:rPr>
              <a:t>Then we can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conclude</a:t>
            </a:r>
            <a:r>
              <a:rPr lang="en-US" sz="2400" dirty="0" smtClean="0">
                <a:sym typeface="Symbol" pitchFamily="18" charset="2"/>
              </a:rPr>
              <a:t> that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x P(x)</a:t>
            </a:r>
            <a:r>
              <a:rPr lang="en-US" sz="2400" dirty="0" smtClean="0">
                <a:sym typeface="Symbol" pitchFamily="18" charset="2"/>
              </a:rPr>
              <a:t> is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true</a:t>
            </a:r>
          </a:p>
          <a:p>
            <a:pPr lvl="1"/>
            <a:r>
              <a:rPr lang="en-US" sz="2400" dirty="0" smtClean="0">
                <a:sym typeface="Symbol" pitchFamily="18" charset="2"/>
              </a:rPr>
              <a:t>This is called “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existential generalization</a:t>
            </a:r>
            <a:r>
              <a:rPr lang="en-US" sz="2400" dirty="0" smtClean="0">
                <a:sym typeface="Symbol" pitchFamily="18" charset="2"/>
              </a:rPr>
              <a:t>”</a:t>
            </a:r>
          </a:p>
          <a:p>
            <a:pPr>
              <a:buNone/>
            </a:pPr>
            <a:endParaRPr lang="en-US" dirty="0" smtClean="0">
              <a:solidFill>
                <a:srgbClr val="C00000"/>
              </a:solidFill>
              <a:sym typeface="Symbol" charset="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45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4642" y="228600"/>
            <a:ext cx="8500758" cy="6126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Show that the premises:</a:t>
            </a:r>
          </a:p>
          <a:p>
            <a:pPr>
              <a:buNone/>
            </a:pPr>
            <a:r>
              <a:rPr lang="en-US" dirty="0" smtClean="0"/>
              <a:t>	“</a:t>
            </a:r>
            <a:r>
              <a:rPr lang="en-US" dirty="0" smtClean="0">
                <a:solidFill>
                  <a:srgbClr val="C00000"/>
                </a:solidFill>
              </a:rPr>
              <a:t>Everyone in this discrete mathematics class has taken a 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     course in computer science</a:t>
            </a:r>
            <a:r>
              <a:rPr lang="en-US" dirty="0" smtClean="0"/>
              <a:t>” and</a:t>
            </a:r>
          </a:p>
          <a:p>
            <a:pPr>
              <a:buNone/>
            </a:pPr>
            <a:r>
              <a:rPr lang="en-US" dirty="0" smtClean="0"/>
              <a:t>	 “</a:t>
            </a:r>
            <a:r>
              <a:rPr lang="en-US" dirty="0" err="1" smtClean="0">
                <a:solidFill>
                  <a:srgbClr val="C00000"/>
                </a:solidFill>
              </a:rPr>
              <a:t>Ramdeen</a:t>
            </a:r>
            <a:r>
              <a:rPr lang="en-US" dirty="0" smtClean="0">
                <a:solidFill>
                  <a:srgbClr val="C00000"/>
                </a:solidFill>
              </a:rPr>
              <a:t> is a student in this class</a:t>
            </a:r>
            <a:r>
              <a:rPr lang="en-US" dirty="0" smtClean="0"/>
              <a:t>” imply the</a:t>
            </a:r>
          </a:p>
          <a:p>
            <a:pPr>
              <a:buNone/>
            </a:pPr>
            <a:r>
              <a:rPr lang="en-US" dirty="0" smtClean="0"/>
              <a:t>	 conclusion “</a:t>
            </a:r>
            <a:r>
              <a:rPr lang="en-US" dirty="0" err="1" smtClean="0">
                <a:solidFill>
                  <a:srgbClr val="C00000"/>
                </a:solidFill>
              </a:rPr>
              <a:t>Ramdeen</a:t>
            </a:r>
            <a:r>
              <a:rPr lang="en-US" dirty="0" smtClean="0">
                <a:solidFill>
                  <a:srgbClr val="C00000"/>
                </a:solidFill>
              </a:rPr>
              <a:t> has taken a course in computer  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                      science.</a:t>
            </a:r>
            <a:r>
              <a:rPr lang="en-US" dirty="0" smtClean="0"/>
              <a:t>”</a:t>
            </a:r>
          </a:p>
          <a:p>
            <a:endParaRPr lang="en-US" dirty="0" smtClean="0"/>
          </a:p>
          <a:p>
            <a:r>
              <a:rPr lang="en-US" b="1" u="sng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Solution: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D(x)</a:t>
            </a:r>
            <a:r>
              <a:rPr lang="en-US" dirty="0" smtClean="0"/>
              <a:t> = x is in discrete mathematics class.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C(x)</a:t>
            </a:r>
            <a:r>
              <a:rPr lang="en-US" dirty="0" smtClean="0"/>
              <a:t> = x has taken a course in computer science.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400" dirty="0" smtClean="0"/>
              <a:t>Then the premises are:</a:t>
            </a:r>
          </a:p>
          <a:p>
            <a:pPr>
              <a:buNone/>
            </a:pPr>
            <a:r>
              <a:rPr lang="en-US" sz="2400" b="1" dirty="0" smtClean="0">
                <a:solidFill>
                  <a:srgbClr val="C00000"/>
                </a:solidFill>
                <a:sym typeface="Symbol" charset="2"/>
              </a:rPr>
              <a:t>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	x (D(x) </a:t>
            </a:r>
            <a:r>
              <a:rPr lang="en-US" sz="28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→ C(x))</a:t>
            </a:r>
          </a:p>
          <a:p>
            <a:pPr>
              <a:buNone/>
            </a:pP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	D(</a:t>
            </a:r>
            <a:r>
              <a:rPr lang="en-US" sz="2400" dirty="0" err="1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Ramdeen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)</a:t>
            </a:r>
          </a:p>
          <a:p>
            <a:pPr>
              <a:buNone/>
            </a:pP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	      C(</a:t>
            </a:r>
            <a:r>
              <a:rPr lang="en-US" sz="2400" dirty="0" err="1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Ramdeen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)</a:t>
            </a:r>
          </a:p>
          <a:p>
            <a:pPr>
              <a:buNone/>
            </a:pPr>
            <a:endParaRPr lang="en-US" sz="2400" dirty="0" smtClean="0">
              <a:solidFill>
                <a:srgbClr val="C00000"/>
              </a:solidFill>
              <a:cs typeface="Arial" charset="0"/>
              <a:sym typeface="Symbol" pitchFamily="18" charset="2"/>
            </a:endParaRPr>
          </a:p>
          <a:p>
            <a:pPr>
              <a:buNone/>
            </a:pPr>
            <a:r>
              <a:rPr lang="en-US" sz="2400" dirty="0" smtClean="0">
                <a:solidFill>
                  <a:srgbClr val="0070C0"/>
                </a:solidFill>
              </a:rPr>
              <a:t>	The following steps can be used </a:t>
            </a:r>
          </a:p>
          <a:p>
            <a:pPr>
              <a:buNone/>
            </a:pPr>
            <a:r>
              <a:rPr lang="en-US" sz="2400" dirty="0" smtClean="0">
                <a:solidFill>
                  <a:srgbClr val="0070C0"/>
                </a:solidFill>
              </a:rPr>
              <a:t>	to establish conclusion:</a:t>
            </a:r>
          </a:p>
          <a:p>
            <a:endParaRPr lang="en-US" sz="2400" dirty="0" smtClean="0"/>
          </a:p>
          <a:p>
            <a:pPr>
              <a:buNone/>
            </a:pPr>
            <a:r>
              <a:rPr lang="en-US" sz="2400" dirty="0" smtClean="0">
                <a:sym typeface="Symbol" pitchFamily="18" charset="2"/>
              </a:rPr>
              <a:t>1.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x (D(x) 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→ C(x))	    </a:t>
            </a:r>
            <a:r>
              <a:rPr lang="en-US" sz="2400" dirty="0" smtClean="0">
                <a:cs typeface="Arial" charset="0"/>
                <a:sym typeface="Symbol" pitchFamily="18" charset="2"/>
              </a:rPr>
              <a:t>Premise</a:t>
            </a:r>
          </a:p>
          <a:p>
            <a:pPr>
              <a:buNone/>
            </a:pPr>
            <a:r>
              <a:rPr lang="en-US" sz="2400" dirty="0" smtClean="0">
                <a:sym typeface="Symbol" pitchFamily="18" charset="2"/>
              </a:rPr>
              <a:t>2.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	D(</a:t>
            </a:r>
            <a:r>
              <a:rPr lang="en-US" sz="2400" dirty="0" err="1" smtClean="0">
                <a:solidFill>
                  <a:srgbClr val="C00000"/>
                </a:solidFill>
                <a:sym typeface="Symbol" pitchFamily="18" charset="2"/>
              </a:rPr>
              <a:t>Ramdeen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) 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→ C(</a:t>
            </a:r>
            <a:r>
              <a:rPr lang="en-US" sz="2400" dirty="0" err="1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Ramdeen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)    </a:t>
            </a:r>
            <a:r>
              <a:rPr lang="en-US" sz="2400" dirty="0" smtClean="0">
                <a:cs typeface="Arial" charset="0"/>
                <a:sym typeface="Symbol" pitchFamily="18" charset="2"/>
              </a:rPr>
              <a:t>Universal </a:t>
            </a:r>
          </a:p>
          <a:p>
            <a:pPr>
              <a:buNone/>
            </a:pPr>
            <a:r>
              <a:rPr lang="en-US" sz="2400" dirty="0" smtClean="0">
                <a:cs typeface="Arial" charset="0"/>
                <a:sym typeface="Symbol" pitchFamily="18" charset="2"/>
              </a:rPr>
              <a:t>				    Instantiation</a:t>
            </a:r>
          </a:p>
          <a:p>
            <a:pPr>
              <a:buNone/>
            </a:pPr>
            <a:r>
              <a:rPr lang="en-US" sz="2400" dirty="0" smtClean="0">
                <a:cs typeface="Arial" charset="0"/>
                <a:sym typeface="Symbol" pitchFamily="18" charset="2"/>
              </a:rPr>
              <a:t>3.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	D(</a:t>
            </a:r>
            <a:r>
              <a:rPr lang="en-US" sz="2400" dirty="0" err="1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Ramdeen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)		    </a:t>
            </a:r>
            <a:r>
              <a:rPr lang="en-US" sz="2400" dirty="0" smtClean="0">
                <a:cs typeface="Arial" charset="0"/>
                <a:sym typeface="Symbol" pitchFamily="18" charset="2"/>
              </a:rPr>
              <a:t>Premise</a:t>
            </a:r>
          </a:p>
          <a:p>
            <a:pPr>
              <a:buNone/>
            </a:pPr>
            <a:r>
              <a:rPr lang="en-US" sz="2400" dirty="0" smtClean="0">
                <a:cs typeface="Arial" charset="0"/>
                <a:sym typeface="Symbol" pitchFamily="18" charset="2"/>
              </a:rPr>
              <a:t>4.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	C(</a:t>
            </a:r>
            <a:r>
              <a:rPr lang="en-US" sz="2400" dirty="0" err="1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Ramdeen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)		    </a:t>
            </a:r>
            <a:r>
              <a:rPr lang="en-US" sz="2400" dirty="0" smtClean="0">
                <a:cs typeface="Arial" charset="0"/>
                <a:sym typeface="Symbol" pitchFamily="18" charset="2"/>
              </a:rPr>
              <a:t>Modus Ponens</a:t>
            </a:r>
            <a:endParaRPr lang="en-US" sz="2400" dirty="0" smtClean="0"/>
          </a:p>
          <a:p>
            <a:endParaRPr lang="en-US" sz="2400" dirty="0" smtClean="0"/>
          </a:p>
          <a:p>
            <a:endParaRPr lang="en-US" dirty="0"/>
          </a:p>
        </p:txBody>
      </p:sp>
      <p:pic>
        <p:nvPicPr>
          <p:cNvPr id="6553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45981" y="202812"/>
            <a:ext cx="3800475" cy="273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65541" name="Object 5"/>
          <p:cNvGraphicFramePr>
            <a:graphicFrameLocks noChangeAspect="1"/>
          </p:cNvGraphicFramePr>
          <p:nvPr/>
        </p:nvGraphicFramePr>
        <p:xfrm>
          <a:off x="912924" y="2251584"/>
          <a:ext cx="457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50" name="Equation" r:id="rId4" imgW="139680" imgH="126720" progId="Equation.3">
                  <p:embed/>
                </p:oleObj>
              </mc:Choice>
              <mc:Fallback>
                <p:oleObj name="Equation" r:id="rId4" imgW="139680" imgH="12672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2924" y="2251584"/>
                        <a:ext cx="4572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2442100"/>
              </p:ext>
            </p:extLst>
          </p:nvPr>
        </p:nvGraphicFramePr>
        <p:xfrm>
          <a:off x="5678268" y="2833469"/>
          <a:ext cx="6818532" cy="403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51" name="Equation" r:id="rId6" imgW="4838400" imgH="5105160" progId="Equation.3">
                  <p:embed/>
                </p:oleObj>
              </mc:Choice>
              <mc:Fallback>
                <p:oleObj name="Equation" r:id="rId6" imgW="4838400" imgH="510516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8268" y="2833469"/>
                        <a:ext cx="6818532" cy="40386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65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Show that the premises:</a:t>
            </a:r>
          </a:p>
          <a:p>
            <a:pPr>
              <a:buNone/>
            </a:pPr>
            <a:r>
              <a:rPr lang="en-US" dirty="0" smtClean="0"/>
              <a:t>	 “</a:t>
            </a:r>
            <a:r>
              <a:rPr lang="en-US" dirty="0" smtClean="0">
                <a:solidFill>
                  <a:srgbClr val="C00000"/>
                </a:solidFill>
              </a:rPr>
              <a:t>A student in this class has not read the book.</a:t>
            </a:r>
            <a:r>
              <a:rPr lang="en-US" dirty="0" smtClean="0"/>
              <a:t>” and “</a:t>
            </a:r>
            <a:r>
              <a:rPr lang="en-US" dirty="0" smtClean="0">
                <a:solidFill>
                  <a:srgbClr val="C00000"/>
                </a:solidFill>
              </a:rPr>
              <a:t>Everyone in this class passed the first exam</a:t>
            </a:r>
            <a:r>
              <a:rPr lang="en-US" dirty="0" smtClean="0"/>
              <a:t>” imply the conclusion “</a:t>
            </a:r>
            <a:r>
              <a:rPr lang="en-US" dirty="0" smtClean="0">
                <a:solidFill>
                  <a:srgbClr val="C00000"/>
                </a:solidFill>
              </a:rPr>
              <a:t>Someone who passed the first exam has not read the book.</a:t>
            </a:r>
            <a:r>
              <a:rPr lang="en-US" dirty="0" smtClean="0"/>
              <a:t>”</a:t>
            </a:r>
          </a:p>
          <a:p>
            <a:endParaRPr lang="en-US" dirty="0" smtClean="0"/>
          </a:p>
          <a:p>
            <a:r>
              <a:rPr lang="en-US" b="1" u="sng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Solution: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C(x)</a:t>
            </a:r>
            <a:r>
              <a:rPr lang="en-US" dirty="0" smtClean="0"/>
              <a:t> =  x is in this class.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B(x)</a:t>
            </a:r>
            <a:r>
              <a:rPr lang="en-US" dirty="0" smtClean="0"/>
              <a:t> = x has read the book.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P(x)</a:t>
            </a:r>
            <a:r>
              <a:rPr lang="en-US" dirty="0" smtClean="0"/>
              <a:t> = x passed the first exam.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 fontScale="92500" lnSpcReduction="20000"/>
          </a:bodyPr>
          <a:lstStyle/>
          <a:p>
            <a:r>
              <a:rPr lang="en-US" sz="2000" dirty="0" smtClean="0"/>
              <a:t>Then the premises are:</a:t>
            </a:r>
          </a:p>
          <a:p>
            <a:pPr>
              <a:buNone/>
            </a:pPr>
            <a:r>
              <a:rPr lang="en-US" sz="2000" b="1" dirty="0" smtClean="0">
                <a:solidFill>
                  <a:srgbClr val="C00000"/>
                </a:solidFill>
                <a:sym typeface="Symbol" charset="2"/>
              </a:rPr>
              <a:t>	 </a:t>
            </a:r>
            <a:r>
              <a:rPr lang="en-US" sz="2000" dirty="0" smtClean="0">
                <a:solidFill>
                  <a:srgbClr val="C00000"/>
                </a:solidFill>
                <a:sym typeface="Symbol" pitchFamily="18" charset="2"/>
              </a:rPr>
              <a:t>x (C(x) </a:t>
            </a:r>
            <a:r>
              <a:rPr lang="en-US" sz="2000" b="1" dirty="0" smtClean="0">
                <a:solidFill>
                  <a:srgbClr val="C00000"/>
                </a:solidFill>
                <a:sym typeface="Symbol" charset="2"/>
              </a:rPr>
              <a:t></a:t>
            </a:r>
            <a:r>
              <a:rPr lang="en-US" sz="20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¬B(x))</a:t>
            </a:r>
          </a:p>
          <a:p>
            <a:pPr>
              <a:buNone/>
            </a:pPr>
            <a:r>
              <a:rPr lang="en-US" sz="2000" dirty="0" smtClean="0">
                <a:solidFill>
                  <a:srgbClr val="C00000"/>
                </a:solidFill>
                <a:sym typeface="Symbol" pitchFamily="18" charset="2"/>
              </a:rPr>
              <a:t>    x (C(x) </a:t>
            </a:r>
            <a:r>
              <a:rPr lang="en-US" sz="20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→ P(x))</a:t>
            </a:r>
          </a:p>
          <a:p>
            <a:pPr>
              <a:buNone/>
            </a:pPr>
            <a:r>
              <a:rPr lang="en-US" sz="20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	      </a:t>
            </a:r>
            <a:r>
              <a:rPr lang="en-US" sz="2000" b="1" dirty="0" smtClean="0">
                <a:solidFill>
                  <a:srgbClr val="C00000"/>
                </a:solidFill>
                <a:sym typeface="Symbol" charset="2"/>
              </a:rPr>
              <a:t> </a:t>
            </a:r>
            <a:r>
              <a:rPr lang="en-US" sz="2000" dirty="0" smtClean="0">
                <a:solidFill>
                  <a:srgbClr val="C00000"/>
                </a:solidFill>
                <a:sym typeface="Symbol" pitchFamily="18" charset="2"/>
              </a:rPr>
              <a:t>x (P(x) </a:t>
            </a:r>
            <a:r>
              <a:rPr lang="en-US" sz="2000" b="1" dirty="0" smtClean="0">
                <a:solidFill>
                  <a:srgbClr val="C00000"/>
                </a:solidFill>
                <a:sym typeface="Symbol" charset="2"/>
              </a:rPr>
              <a:t></a:t>
            </a:r>
            <a:r>
              <a:rPr lang="en-US" sz="20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¬B(x))</a:t>
            </a:r>
          </a:p>
          <a:p>
            <a:r>
              <a:rPr lang="en-US" sz="2000" dirty="0" smtClean="0">
                <a:solidFill>
                  <a:srgbClr val="0070C0"/>
                </a:solidFill>
              </a:rPr>
              <a:t>The following steps can be used </a:t>
            </a:r>
          </a:p>
          <a:p>
            <a:pPr>
              <a:buNone/>
            </a:pPr>
            <a:r>
              <a:rPr lang="en-US" sz="2000" dirty="0" smtClean="0">
                <a:solidFill>
                  <a:srgbClr val="0070C0"/>
                </a:solidFill>
              </a:rPr>
              <a:t>	to establish conclusion:</a:t>
            </a:r>
          </a:p>
          <a:p>
            <a:pPr marL="457200" indent="-457200">
              <a:buNone/>
            </a:pPr>
            <a:r>
              <a:rPr lang="en-US" sz="2000" dirty="0" smtClean="0">
                <a:sym typeface="Symbol" charset="2"/>
              </a:rPr>
              <a:t>1. </a:t>
            </a:r>
            <a:r>
              <a:rPr lang="en-US" sz="2000" b="1" dirty="0" smtClean="0">
                <a:solidFill>
                  <a:srgbClr val="C00000"/>
                </a:solidFill>
                <a:sym typeface="Symbol" charset="2"/>
              </a:rPr>
              <a:t>  </a:t>
            </a:r>
            <a:r>
              <a:rPr lang="en-US" sz="2000" dirty="0" smtClean="0">
                <a:solidFill>
                  <a:srgbClr val="C00000"/>
                </a:solidFill>
                <a:sym typeface="Symbol" pitchFamily="18" charset="2"/>
              </a:rPr>
              <a:t>x (C(x) </a:t>
            </a:r>
            <a:r>
              <a:rPr lang="en-US" sz="2000" b="1" dirty="0" smtClean="0">
                <a:solidFill>
                  <a:srgbClr val="C00000"/>
                </a:solidFill>
                <a:sym typeface="Symbol" charset="2"/>
              </a:rPr>
              <a:t></a:t>
            </a:r>
            <a:r>
              <a:rPr lang="en-US" sz="20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¬B(x))	</a:t>
            </a:r>
            <a:r>
              <a:rPr lang="en-US" sz="2000" dirty="0" smtClean="0">
                <a:cs typeface="Arial" charset="0"/>
                <a:sym typeface="Symbol" pitchFamily="18" charset="2"/>
              </a:rPr>
              <a:t>Premise</a:t>
            </a:r>
            <a:endParaRPr lang="en-US" sz="2000" dirty="0" smtClean="0"/>
          </a:p>
          <a:p>
            <a:pPr marL="457200" indent="-457200">
              <a:buNone/>
            </a:pPr>
            <a:r>
              <a:rPr lang="en-US" sz="2000" dirty="0" smtClean="0">
                <a:sym typeface="Symbol" pitchFamily="18" charset="2"/>
              </a:rPr>
              <a:t>2. </a:t>
            </a:r>
            <a:r>
              <a:rPr lang="en-US" sz="2000" dirty="0" smtClean="0">
                <a:solidFill>
                  <a:srgbClr val="C00000"/>
                </a:solidFill>
                <a:sym typeface="Symbol" pitchFamily="18" charset="2"/>
              </a:rPr>
              <a:t> C(a) </a:t>
            </a:r>
            <a:r>
              <a:rPr lang="en-US" sz="2000" b="1" dirty="0" smtClean="0">
                <a:solidFill>
                  <a:srgbClr val="C00000"/>
                </a:solidFill>
                <a:sym typeface="Symbol" charset="2"/>
              </a:rPr>
              <a:t></a:t>
            </a:r>
            <a:r>
              <a:rPr lang="en-US" sz="20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¬B(a)		</a:t>
            </a:r>
            <a:r>
              <a:rPr lang="en-US" sz="2000" dirty="0" smtClean="0">
                <a:cs typeface="Arial" charset="0"/>
                <a:sym typeface="Symbol" pitchFamily="18" charset="2"/>
              </a:rPr>
              <a:t>Existential Instantiation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>
                <a:sym typeface="Symbol" pitchFamily="18" charset="2"/>
              </a:rPr>
              <a:t>3.</a:t>
            </a:r>
            <a:r>
              <a:rPr lang="en-US" sz="2000" dirty="0" smtClean="0">
                <a:solidFill>
                  <a:srgbClr val="C00000"/>
                </a:solidFill>
                <a:sym typeface="Symbol" pitchFamily="18" charset="2"/>
              </a:rPr>
              <a:t>  C(a)			</a:t>
            </a:r>
            <a:r>
              <a:rPr lang="en-US" sz="2000" dirty="0" smtClean="0">
                <a:sym typeface="Symbol" pitchFamily="18" charset="2"/>
              </a:rPr>
              <a:t>Simplification</a:t>
            </a:r>
          </a:p>
          <a:p>
            <a:pPr>
              <a:buNone/>
            </a:pPr>
            <a:r>
              <a:rPr lang="en-US" sz="2000" dirty="0" smtClean="0">
                <a:sym typeface="Symbol" pitchFamily="18" charset="2"/>
              </a:rPr>
              <a:t>4. </a:t>
            </a:r>
            <a:r>
              <a:rPr lang="en-US" sz="2000" dirty="0" smtClean="0">
                <a:solidFill>
                  <a:srgbClr val="C00000"/>
                </a:solidFill>
                <a:sym typeface="Symbol" pitchFamily="18" charset="2"/>
              </a:rPr>
              <a:t> x (C(x) </a:t>
            </a:r>
            <a:r>
              <a:rPr lang="en-US" sz="20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→ P(x))	</a:t>
            </a:r>
            <a:r>
              <a:rPr lang="en-US" sz="2000" dirty="0" smtClean="0">
                <a:cs typeface="Arial" charset="0"/>
                <a:sym typeface="Symbol" pitchFamily="18" charset="2"/>
              </a:rPr>
              <a:t>Premise</a:t>
            </a:r>
          </a:p>
          <a:p>
            <a:pPr>
              <a:buNone/>
            </a:pPr>
            <a:r>
              <a:rPr lang="en-US" sz="2000" dirty="0" smtClean="0">
                <a:cs typeface="Arial" charset="0"/>
                <a:sym typeface="Symbol" pitchFamily="18" charset="2"/>
              </a:rPr>
              <a:t>5.</a:t>
            </a:r>
            <a:r>
              <a:rPr lang="en-US" sz="20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 </a:t>
            </a:r>
            <a:r>
              <a:rPr lang="en-US" sz="2000" dirty="0" smtClean="0">
                <a:solidFill>
                  <a:srgbClr val="C00000"/>
                </a:solidFill>
                <a:sym typeface="Symbol" pitchFamily="18" charset="2"/>
              </a:rPr>
              <a:t>C(a) </a:t>
            </a:r>
            <a:r>
              <a:rPr lang="en-US" sz="20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→ P(a)		</a:t>
            </a:r>
            <a:r>
              <a:rPr lang="en-US" sz="2000" dirty="0" smtClean="0">
                <a:cs typeface="Arial" charset="0"/>
                <a:sym typeface="Symbol" pitchFamily="18" charset="2"/>
              </a:rPr>
              <a:t>Universal Instantiation</a:t>
            </a:r>
          </a:p>
          <a:p>
            <a:pPr>
              <a:buNone/>
            </a:pPr>
            <a:r>
              <a:rPr lang="en-US" sz="2000" dirty="0" smtClean="0">
                <a:cs typeface="Arial" charset="0"/>
                <a:sym typeface="Symbol" pitchFamily="18" charset="2"/>
              </a:rPr>
              <a:t>6.</a:t>
            </a:r>
            <a:r>
              <a:rPr lang="en-US" sz="20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	P(a)			</a:t>
            </a:r>
            <a:r>
              <a:rPr lang="en-US" sz="2000" dirty="0" smtClean="0">
                <a:cs typeface="Arial" charset="0"/>
                <a:sym typeface="Symbol" pitchFamily="18" charset="2"/>
              </a:rPr>
              <a:t>Modus Ponens</a:t>
            </a:r>
          </a:p>
          <a:p>
            <a:pPr marL="457200" indent="-457200">
              <a:buNone/>
            </a:pPr>
            <a:r>
              <a:rPr lang="en-US" sz="2000" dirty="0" smtClean="0">
                <a:cs typeface="Arial" charset="0"/>
                <a:sym typeface="Symbol" pitchFamily="18" charset="2"/>
              </a:rPr>
              <a:t>7. </a:t>
            </a:r>
            <a:r>
              <a:rPr lang="en-US" sz="20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¬B(a) </a:t>
            </a:r>
            <a:r>
              <a:rPr lang="en-US" sz="2000" b="1" dirty="0" smtClean="0">
                <a:solidFill>
                  <a:srgbClr val="C00000"/>
                </a:solidFill>
                <a:sym typeface="Symbol" charset="2"/>
              </a:rPr>
              <a:t></a:t>
            </a:r>
            <a:r>
              <a:rPr lang="en-US" sz="2000" dirty="0" smtClean="0">
                <a:solidFill>
                  <a:srgbClr val="C00000"/>
                </a:solidFill>
                <a:sym typeface="Symbol" charset="2"/>
              </a:rPr>
              <a:t> </a:t>
            </a:r>
            <a:r>
              <a:rPr lang="en-US" sz="20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C(a) 		</a:t>
            </a:r>
            <a:r>
              <a:rPr lang="en-US" sz="2000" dirty="0" smtClean="0">
                <a:cs typeface="Arial" charset="0"/>
                <a:sym typeface="Symbol" pitchFamily="18" charset="2"/>
              </a:rPr>
              <a:t>Commutative on (2)</a:t>
            </a:r>
          </a:p>
          <a:p>
            <a:pPr>
              <a:buNone/>
            </a:pPr>
            <a:r>
              <a:rPr lang="en-US" sz="2000" dirty="0" smtClean="0">
                <a:cs typeface="Arial" charset="0"/>
                <a:sym typeface="Symbol" pitchFamily="18" charset="2"/>
              </a:rPr>
              <a:t>8.</a:t>
            </a:r>
            <a:r>
              <a:rPr lang="en-US" sz="20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¬B(a)			</a:t>
            </a:r>
            <a:r>
              <a:rPr lang="en-US" sz="2000" dirty="0" smtClean="0">
                <a:cs typeface="Arial" charset="0"/>
                <a:sym typeface="Symbol" pitchFamily="18" charset="2"/>
              </a:rPr>
              <a:t>Simplification </a:t>
            </a:r>
          </a:p>
          <a:p>
            <a:pPr>
              <a:buNone/>
            </a:pPr>
            <a:r>
              <a:rPr lang="en-US" sz="2000" dirty="0" smtClean="0">
                <a:cs typeface="Arial" charset="0"/>
                <a:sym typeface="Symbol" pitchFamily="18" charset="2"/>
              </a:rPr>
              <a:t>9.</a:t>
            </a:r>
            <a:r>
              <a:rPr lang="en-US" sz="20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</a:t>
            </a:r>
            <a:r>
              <a:rPr lang="en-US" sz="2000" dirty="0" smtClean="0">
                <a:solidFill>
                  <a:srgbClr val="C00000"/>
                </a:solidFill>
                <a:sym typeface="Symbol" pitchFamily="18" charset="2"/>
              </a:rPr>
              <a:t> P(a) </a:t>
            </a:r>
            <a:r>
              <a:rPr lang="en-US" sz="2000" b="1" dirty="0" smtClean="0">
                <a:solidFill>
                  <a:srgbClr val="C00000"/>
                </a:solidFill>
                <a:sym typeface="Symbol" charset="2"/>
              </a:rPr>
              <a:t></a:t>
            </a:r>
            <a:r>
              <a:rPr lang="en-US" sz="20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¬B(a)		</a:t>
            </a:r>
            <a:r>
              <a:rPr lang="en-US" sz="2000" dirty="0" smtClean="0">
                <a:cs typeface="Arial" charset="0"/>
                <a:sym typeface="Symbol" pitchFamily="18" charset="2"/>
              </a:rPr>
              <a:t>Conjunction on (6) &amp; (8)</a:t>
            </a:r>
          </a:p>
          <a:p>
            <a:pPr>
              <a:buNone/>
            </a:pPr>
            <a:r>
              <a:rPr lang="en-US" sz="2000" dirty="0" smtClean="0">
                <a:sym typeface="Symbol" charset="2"/>
              </a:rPr>
              <a:t>10. </a:t>
            </a:r>
            <a:r>
              <a:rPr lang="en-US" sz="2000" b="1" dirty="0" smtClean="0">
                <a:solidFill>
                  <a:srgbClr val="C00000"/>
                </a:solidFill>
                <a:sym typeface="Symbol" charset="2"/>
              </a:rPr>
              <a:t>  </a:t>
            </a:r>
            <a:r>
              <a:rPr lang="en-US" sz="2000" dirty="0" smtClean="0">
                <a:solidFill>
                  <a:srgbClr val="C00000"/>
                </a:solidFill>
                <a:sym typeface="Symbol" pitchFamily="18" charset="2"/>
              </a:rPr>
              <a:t>x (P(x) </a:t>
            </a:r>
            <a:r>
              <a:rPr lang="en-US" sz="2000" b="1" dirty="0" smtClean="0">
                <a:solidFill>
                  <a:srgbClr val="C00000"/>
                </a:solidFill>
                <a:sym typeface="Symbol" charset="2"/>
              </a:rPr>
              <a:t></a:t>
            </a:r>
            <a:r>
              <a:rPr lang="en-US" sz="20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¬B(x))	</a:t>
            </a:r>
            <a:r>
              <a:rPr lang="en-US" sz="2000" dirty="0" smtClean="0">
                <a:cs typeface="Arial" charset="0"/>
                <a:sym typeface="Symbol" pitchFamily="18" charset="2"/>
              </a:rPr>
              <a:t>Existential Generalization</a:t>
            </a:r>
            <a:endParaRPr lang="en-US" sz="2000" dirty="0"/>
          </a:p>
        </p:txBody>
      </p:sp>
      <p:pic>
        <p:nvPicPr>
          <p:cNvPr id="6553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17845" y="481965"/>
            <a:ext cx="3800475" cy="273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65541" name="Object 5"/>
          <p:cNvGraphicFramePr>
            <a:graphicFrameLocks noChangeAspect="1"/>
          </p:cNvGraphicFramePr>
          <p:nvPr/>
        </p:nvGraphicFramePr>
        <p:xfrm>
          <a:off x="807720" y="2046588"/>
          <a:ext cx="457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70" name="Equation" r:id="rId4" imgW="139680" imgH="126720" progId="Equation.3">
                  <p:embed/>
                </p:oleObj>
              </mc:Choice>
              <mc:Fallback>
                <p:oleObj name="Equation" r:id="rId4" imgW="139680" imgH="12672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720" y="2046588"/>
                        <a:ext cx="4572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33589"/>
              </p:ext>
            </p:extLst>
          </p:nvPr>
        </p:nvGraphicFramePr>
        <p:xfrm>
          <a:off x="5664200" y="3048000"/>
          <a:ext cx="3479800" cy="3671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71" name="Equation" r:id="rId6" imgW="4838400" imgH="5105160" progId="Equation.3">
                  <p:embed/>
                </p:oleObj>
              </mc:Choice>
              <mc:Fallback>
                <p:oleObj name="Equation" r:id="rId6" imgW="4838400" imgH="510516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4200" y="3048000"/>
                        <a:ext cx="3479800" cy="3671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65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2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2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2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20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2600" b="1" u="sng" dirty="0" smtClean="0">
                <a:solidFill>
                  <a:srgbClr val="0070C0"/>
                </a:solidFill>
              </a:rPr>
              <a:t>COMBINING RULES OF INFERENCE FOR PROPOSITIONS &amp; QUANTIFIED STATEMENTS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dirty="0" smtClean="0">
                <a:solidFill>
                  <a:srgbClr val="C00000"/>
                </a:solidFill>
              </a:rPr>
              <a:t>rule of inference</a:t>
            </a:r>
            <a:r>
              <a:rPr lang="en-US" dirty="0" smtClean="0"/>
              <a:t> for </a:t>
            </a:r>
            <a:r>
              <a:rPr lang="en-US" dirty="0" smtClean="0">
                <a:solidFill>
                  <a:srgbClr val="C00000"/>
                </a:solidFill>
              </a:rPr>
              <a:t>quantified statements</a:t>
            </a:r>
            <a:r>
              <a:rPr lang="en-US" dirty="0" smtClean="0"/>
              <a:t>, and </a:t>
            </a:r>
            <a:r>
              <a:rPr lang="en-US" dirty="0" smtClean="0">
                <a:solidFill>
                  <a:srgbClr val="C00000"/>
                </a:solidFill>
              </a:rPr>
              <a:t>modus ponens</a:t>
            </a:r>
            <a:r>
              <a:rPr lang="en-US" dirty="0" smtClean="0"/>
              <a:t>, a rule of inference for </a:t>
            </a:r>
            <a:r>
              <a:rPr lang="en-US" dirty="0" smtClean="0">
                <a:solidFill>
                  <a:srgbClr val="C00000"/>
                </a:solidFill>
              </a:rPr>
              <a:t>propositional logic</a:t>
            </a:r>
            <a:r>
              <a:rPr lang="en-US" dirty="0" smtClean="0"/>
              <a:t>. </a:t>
            </a:r>
          </a:p>
          <a:p>
            <a:endParaRPr lang="en-US" dirty="0" smtClean="0"/>
          </a:p>
          <a:p>
            <a:r>
              <a:rPr lang="en-US" dirty="0" smtClean="0"/>
              <a:t>We will often need to use this combination of rules of inference.  Because </a:t>
            </a:r>
            <a:r>
              <a:rPr lang="en-US" dirty="0" smtClean="0">
                <a:solidFill>
                  <a:srgbClr val="C00000"/>
                </a:solidFill>
              </a:rPr>
              <a:t>universal instantiation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modus ponens</a:t>
            </a:r>
            <a:r>
              <a:rPr lang="en-US" dirty="0" smtClean="0"/>
              <a:t> are used so often together. </a:t>
            </a:r>
          </a:p>
          <a:p>
            <a:endParaRPr lang="en-US" dirty="0" smtClean="0"/>
          </a:p>
          <a:p>
            <a:r>
              <a:rPr lang="en-US" dirty="0" smtClean="0"/>
              <a:t>This combination of rules is sometimes called </a:t>
            </a:r>
            <a:r>
              <a:rPr lang="en-US" b="1" dirty="0" smtClean="0">
                <a:solidFill>
                  <a:srgbClr val="C00000"/>
                </a:solidFill>
              </a:rPr>
              <a:t>universal modus ponens</a:t>
            </a:r>
            <a:r>
              <a:rPr lang="en-US" dirty="0" smtClean="0"/>
              <a:t>.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UNIVERSAL MODUS PONENS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This rule tells us that if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x (P(x)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→ Q(x)) </a:t>
            </a:r>
            <a:r>
              <a:rPr lang="en-US" dirty="0" smtClean="0">
                <a:cs typeface="Arial" charset="0"/>
                <a:sym typeface="Symbol" pitchFamily="18" charset="2"/>
              </a:rPr>
              <a:t>is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true, </a:t>
            </a:r>
            <a:r>
              <a:rPr lang="en-US" dirty="0" smtClean="0">
                <a:cs typeface="Arial" charset="0"/>
                <a:sym typeface="Symbol" pitchFamily="18" charset="2"/>
              </a:rPr>
              <a:t>and if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P(a) </a:t>
            </a:r>
            <a:r>
              <a:rPr lang="en-US" dirty="0" smtClean="0">
                <a:cs typeface="Arial" charset="0"/>
                <a:sym typeface="Symbol" pitchFamily="18" charset="2"/>
              </a:rPr>
              <a:t>is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true </a:t>
            </a:r>
            <a:r>
              <a:rPr lang="en-US" dirty="0" smtClean="0">
                <a:cs typeface="Arial" charset="0"/>
                <a:sym typeface="Symbol" pitchFamily="18" charset="2"/>
              </a:rPr>
              <a:t>for a particular element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a </a:t>
            </a:r>
            <a:r>
              <a:rPr lang="en-US" dirty="0" smtClean="0">
                <a:cs typeface="Arial" charset="0"/>
                <a:sym typeface="Symbol" pitchFamily="18" charset="2"/>
              </a:rPr>
              <a:t>in the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domain </a:t>
            </a:r>
            <a:r>
              <a:rPr lang="en-US" dirty="0" smtClean="0">
                <a:cs typeface="Arial" charset="0"/>
                <a:sym typeface="Symbol" pitchFamily="18" charset="2"/>
              </a:rPr>
              <a:t>of the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universal quantifier</a:t>
            </a:r>
            <a:r>
              <a:rPr lang="en-US" dirty="0" smtClean="0">
                <a:cs typeface="Arial" charset="0"/>
                <a:sym typeface="Symbol" pitchFamily="18" charset="2"/>
              </a:rPr>
              <a:t>, then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Q(a) </a:t>
            </a:r>
            <a:r>
              <a:rPr lang="en-US" dirty="0" smtClean="0">
                <a:cs typeface="Arial" charset="0"/>
                <a:sym typeface="Symbol" pitchFamily="18" charset="2"/>
              </a:rPr>
              <a:t>must also be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true. </a:t>
            </a:r>
          </a:p>
          <a:p>
            <a:endParaRPr lang="en-US" dirty="0" smtClean="0">
              <a:solidFill>
                <a:srgbClr val="C00000"/>
              </a:solidFill>
              <a:cs typeface="Arial" charset="0"/>
              <a:sym typeface="Symbol" pitchFamily="18" charset="2"/>
            </a:endParaRPr>
          </a:p>
          <a:p>
            <a:r>
              <a:rPr lang="en-US" dirty="0" smtClean="0">
                <a:cs typeface="Arial" charset="0"/>
                <a:sym typeface="Symbol" pitchFamily="18" charset="2"/>
              </a:rPr>
              <a:t>To see this, note that by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universal instantiation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	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P(a)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→ Q(a) </a:t>
            </a:r>
            <a:r>
              <a:rPr lang="en-US" dirty="0" smtClean="0">
                <a:cs typeface="Arial" charset="0"/>
                <a:sym typeface="Symbol" pitchFamily="18" charset="2"/>
              </a:rPr>
              <a:t>is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true.</a:t>
            </a:r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x (</a:t>
            </a:r>
            <a:r>
              <a:rPr lang="en-US" i="1" dirty="0" smtClean="0">
                <a:solidFill>
                  <a:srgbClr val="C00000"/>
                </a:solidFill>
                <a:sym typeface="Symbol" pitchFamily="18" charset="2"/>
              </a:rPr>
              <a:t>P(x) </a:t>
            </a:r>
            <a:r>
              <a:rPr lang="en-US" i="1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→ Q(x)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)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	</a:t>
            </a:r>
            <a:r>
              <a:rPr lang="en-US" i="1" dirty="0" smtClean="0">
                <a:solidFill>
                  <a:srgbClr val="C00000"/>
                </a:solidFill>
                <a:sym typeface="Symbol" pitchFamily="18" charset="2"/>
              </a:rPr>
              <a:t>  P(a), </a:t>
            </a:r>
            <a:r>
              <a:rPr lang="en-US" dirty="0" smtClean="0">
                <a:sym typeface="Symbol" pitchFamily="18" charset="2"/>
              </a:rPr>
              <a:t>where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a </a:t>
            </a:r>
            <a:r>
              <a:rPr lang="en-US" dirty="0" smtClean="0">
                <a:sym typeface="Symbol" pitchFamily="18" charset="2"/>
              </a:rPr>
              <a:t>is a particular element in the domain.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        </a:t>
            </a:r>
            <a:r>
              <a:rPr lang="en-US" i="1" dirty="0" smtClean="0">
                <a:solidFill>
                  <a:srgbClr val="C00000"/>
                </a:solidFill>
                <a:sym typeface="Symbol" pitchFamily="18" charset="2"/>
              </a:rPr>
              <a:t>Q(a)</a:t>
            </a:r>
            <a:endParaRPr lang="en-US" i="1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973392" y="5375784"/>
            <a:ext cx="6781800" cy="1588"/>
          </a:xfrm>
          <a:prstGeom prst="line">
            <a:avLst/>
          </a:prstGeom>
          <a:ln w="317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5954" name="Object 2"/>
          <p:cNvGraphicFramePr>
            <a:graphicFrameLocks noChangeAspect="1"/>
          </p:cNvGraphicFramePr>
          <p:nvPr/>
        </p:nvGraphicFramePr>
        <p:xfrm>
          <a:off x="973392" y="5410200"/>
          <a:ext cx="457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958" name="Equation" r:id="rId3" imgW="139680" imgH="126720" progId="Equation.3">
                  <p:embed/>
                </p:oleObj>
              </mc:Choice>
              <mc:Fallback>
                <p:oleObj name="Equation" r:id="rId3" imgW="139680" imgH="12672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3392" y="5410200"/>
                        <a:ext cx="4572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5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NOTE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Universal modus ponens</a:t>
            </a:r>
            <a:r>
              <a:rPr lang="en-US" dirty="0" smtClean="0"/>
              <a:t> is commonly used in </a:t>
            </a:r>
            <a:r>
              <a:rPr lang="en-US" dirty="0" smtClean="0">
                <a:solidFill>
                  <a:srgbClr val="C00000"/>
                </a:solidFill>
              </a:rPr>
              <a:t>mathematical arguments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Assume that: </a:t>
            </a:r>
          </a:p>
          <a:p>
            <a:pPr>
              <a:buNone/>
            </a:pPr>
            <a:r>
              <a:rPr lang="en-US" dirty="0" smtClean="0"/>
              <a:t>	“</a:t>
            </a:r>
            <a:r>
              <a:rPr lang="en-US" dirty="0" smtClean="0">
                <a:solidFill>
                  <a:srgbClr val="C00000"/>
                </a:solidFill>
              </a:rPr>
              <a:t>For all positive integers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</a:rPr>
              <a:t>n, if n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</a:rPr>
              <a:t>is greater than 4, then n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is less then 2</a:t>
            </a:r>
            <a:r>
              <a:rPr lang="en-US" baseline="30000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” is </a:t>
            </a:r>
            <a:r>
              <a:rPr lang="en-US" dirty="0" smtClean="0">
                <a:solidFill>
                  <a:srgbClr val="C00000"/>
                </a:solidFill>
              </a:rPr>
              <a:t>true</a:t>
            </a:r>
            <a:r>
              <a:rPr lang="en-US" dirty="0" smtClean="0"/>
              <a:t>. </a:t>
            </a:r>
          </a:p>
          <a:p>
            <a:pPr>
              <a:buNone/>
            </a:pPr>
            <a:r>
              <a:rPr lang="en-US" dirty="0" smtClean="0"/>
              <a:t>	Use universal modus ponens to show that </a:t>
            </a:r>
            <a:r>
              <a:rPr lang="en-US" dirty="0" smtClean="0">
                <a:solidFill>
                  <a:srgbClr val="C00000"/>
                </a:solidFill>
              </a:rPr>
              <a:t>100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&lt; 2</a:t>
            </a:r>
            <a:r>
              <a:rPr lang="en-US" baseline="30000" dirty="0" smtClean="0">
                <a:solidFill>
                  <a:srgbClr val="C00000"/>
                </a:solidFill>
              </a:rPr>
              <a:t>100</a:t>
            </a:r>
            <a:r>
              <a:rPr lang="en-US" dirty="0" smtClean="0">
                <a:solidFill>
                  <a:srgbClr val="C00000"/>
                </a:solidFill>
              </a:rPr>
              <a:t>.</a:t>
            </a:r>
          </a:p>
          <a:p>
            <a:endParaRPr lang="en-US" dirty="0" smtClean="0">
              <a:solidFill>
                <a:srgbClr val="C00000"/>
              </a:solidFill>
            </a:endParaRPr>
          </a:p>
          <a:p>
            <a:r>
              <a:rPr lang="en-US" b="1" u="sng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Solution: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</a:t>
            </a:r>
            <a:r>
              <a:rPr lang="en-US" dirty="0" smtClean="0"/>
              <a:t>Let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P(n) </a:t>
            </a:r>
            <a:r>
              <a:rPr lang="en-US" dirty="0" smtClean="0"/>
              <a:t>= n &gt; 4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Q(n) </a:t>
            </a:r>
            <a:r>
              <a:rPr lang="en-US" dirty="0" smtClean="0"/>
              <a:t>= n</a:t>
            </a:r>
            <a:r>
              <a:rPr lang="en-US" baseline="30000" dirty="0" smtClean="0"/>
              <a:t>2</a:t>
            </a:r>
            <a:r>
              <a:rPr lang="en-US" dirty="0" smtClean="0"/>
              <a:t> &lt; 2</a:t>
            </a:r>
            <a:r>
              <a:rPr lang="en-US" baseline="30000" dirty="0" smtClean="0"/>
              <a:t>n</a:t>
            </a:r>
            <a:r>
              <a:rPr lang="en-US" dirty="0" smtClean="0"/>
              <a:t> . 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</a:t>
            </a:r>
            <a:r>
              <a:rPr lang="en-US" dirty="0" smtClean="0"/>
              <a:t>The statement can be represented by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n(P(n)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→ Q(n)) Domain </a:t>
            </a:r>
            <a:r>
              <a:rPr lang="en-US" dirty="0" smtClean="0">
                <a:cs typeface="Arial" charset="0"/>
                <a:sym typeface="Symbol" pitchFamily="18" charset="2"/>
              </a:rPr>
              <a:t>= all positive integers</a:t>
            </a:r>
            <a:endParaRPr lang="en-US" baseline="30000" dirty="0" smtClean="0"/>
          </a:p>
          <a:p>
            <a:endParaRPr lang="en-US" baseline="30000" dirty="0" smtClean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We are assuming that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n (P(n)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→ Q(n)) </a:t>
            </a:r>
            <a:r>
              <a:rPr lang="en-US" dirty="0" smtClean="0">
                <a:cs typeface="Arial" charset="0"/>
                <a:sym typeface="Symbol" pitchFamily="18" charset="2"/>
              </a:rPr>
              <a:t>is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true</a:t>
            </a:r>
            <a:r>
              <a:rPr lang="en-US" dirty="0" smtClean="0">
                <a:cs typeface="Arial" charset="0"/>
                <a:sym typeface="Symbol" pitchFamily="18" charset="2"/>
              </a:rPr>
              <a:t>.</a:t>
            </a:r>
          </a:p>
          <a:p>
            <a:endParaRPr lang="en-US" dirty="0" smtClean="0">
              <a:cs typeface="Arial" charset="0"/>
              <a:sym typeface="Symbol" pitchFamily="18" charset="2"/>
            </a:endParaRP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	P(100) </a:t>
            </a:r>
            <a:r>
              <a:rPr lang="en-US" dirty="0" smtClean="0">
                <a:cs typeface="Arial" charset="0"/>
                <a:sym typeface="Symbol" pitchFamily="18" charset="2"/>
              </a:rPr>
              <a:t>is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true</a:t>
            </a:r>
            <a:r>
              <a:rPr lang="en-US" dirty="0" smtClean="0">
                <a:cs typeface="Arial" charset="0"/>
                <a:sym typeface="Symbol" pitchFamily="18" charset="2"/>
              </a:rPr>
              <a:t>.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</a:t>
            </a:r>
            <a:r>
              <a:rPr lang="en-US" dirty="0" smtClean="0">
                <a:cs typeface="Arial" charset="0"/>
                <a:sym typeface="Symbol" pitchFamily="18" charset="2"/>
              </a:rPr>
              <a:t>Because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100 &gt; 4</a:t>
            </a:r>
            <a:r>
              <a:rPr lang="en-US" dirty="0" smtClean="0">
                <a:cs typeface="Arial" charset="0"/>
                <a:sym typeface="Symbol" pitchFamily="18" charset="2"/>
              </a:rPr>
              <a:t>.</a:t>
            </a:r>
          </a:p>
          <a:p>
            <a:pPr>
              <a:buNone/>
            </a:pPr>
            <a:endParaRPr lang="en-US" dirty="0" smtClean="0">
              <a:cs typeface="Arial" charset="0"/>
              <a:sym typeface="Symbol" pitchFamily="18" charset="2"/>
            </a:endParaRP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	</a:t>
            </a:r>
            <a:r>
              <a:rPr lang="en-US" dirty="0" smtClean="0">
                <a:cs typeface="Arial" charset="0"/>
                <a:sym typeface="Symbol" pitchFamily="18" charset="2"/>
              </a:rPr>
              <a:t>It follows by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universal modus ponens </a:t>
            </a:r>
            <a:r>
              <a:rPr lang="en-US" dirty="0" smtClean="0">
                <a:cs typeface="Arial" charset="0"/>
                <a:sym typeface="Symbol" pitchFamily="18" charset="2"/>
              </a:rPr>
              <a:t>that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Q(100) </a:t>
            </a:r>
            <a:r>
              <a:rPr lang="en-US" dirty="0" smtClean="0">
                <a:cs typeface="Arial" charset="0"/>
                <a:sym typeface="Symbol" pitchFamily="18" charset="2"/>
              </a:rPr>
              <a:t>is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true, </a:t>
            </a:r>
            <a:r>
              <a:rPr lang="en-US" dirty="0" smtClean="0">
                <a:cs typeface="Arial" charset="0"/>
                <a:sym typeface="Symbol" pitchFamily="18" charset="2"/>
              </a:rPr>
              <a:t>namely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</a:t>
            </a:r>
            <a:r>
              <a:rPr lang="en-US" dirty="0" smtClean="0">
                <a:solidFill>
                  <a:srgbClr val="C00000"/>
                </a:solidFill>
              </a:rPr>
              <a:t>100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&lt; 2</a:t>
            </a:r>
            <a:r>
              <a:rPr lang="en-US" baseline="30000" dirty="0" smtClean="0">
                <a:solidFill>
                  <a:srgbClr val="C00000"/>
                </a:solidFill>
              </a:rPr>
              <a:t>100</a:t>
            </a:r>
            <a:r>
              <a:rPr lang="en-US" dirty="0" smtClean="0">
                <a:solidFill>
                  <a:srgbClr val="C00000"/>
                </a:solidFill>
              </a:rPr>
              <a:t> 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rgbClr val="0070C0"/>
                </a:solidFill>
              </a:rPr>
              <a:t>UNIVERSAL MODUS TOLLENS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Universal modus </a:t>
            </a:r>
            <a:r>
              <a:rPr lang="en-US" dirty="0" err="1" smtClean="0">
                <a:solidFill>
                  <a:srgbClr val="C00000"/>
                </a:solidFill>
              </a:rPr>
              <a:t>tollens</a:t>
            </a:r>
            <a:r>
              <a:rPr lang="en-US" dirty="0" smtClean="0"/>
              <a:t> combines </a:t>
            </a:r>
            <a:r>
              <a:rPr lang="en-US" dirty="0" smtClean="0">
                <a:solidFill>
                  <a:srgbClr val="C00000"/>
                </a:solidFill>
              </a:rPr>
              <a:t>universal instantiation</a:t>
            </a:r>
            <a:r>
              <a:rPr lang="en-US" dirty="0" smtClean="0"/>
              <a:t> and</a:t>
            </a:r>
            <a:r>
              <a:rPr lang="en-US" dirty="0" smtClean="0">
                <a:solidFill>
                  <a:srgbClr val="C00000"/>
                </a:solidFill>
              </a:rPr>
              <a:t> modus </a:t>
            </a:r>
            <a:r>
              <a:rPr lang="en-US" dirty="0" err="1" smtClean="0">
                <a:solidFill>
                  <a:srgbClr val="C00000"/>
                </a:solidFill>
              </a:rPr>
              <a:t>tollens</a:t>
            </a:r>
            <a:r>
              <a:rPr lang="en-US" dirty="0" smtClean="0"/>
              <a:t> and can be expressed in the following way: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	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	x (</a:t>
            </a:r>
            <a:r>
              <a:rPr lang="en-US" i="1" dirty="0" smtClean="0">
                <a:solidFill>
                  <a:srgbClr val="C00000"/>
                </a:solidFill>
                <a:sym typeface="Symbol" pitchFamily="18" charset="2"/>
              </a:rPr>
              <a:t>P(x) </a:t>
            </a:r>
            <a:r>
              <a:rPr lang="en-US" i="1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→ Q(x)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)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	</a:t>
            </a:r>
            <a:r>
              <a:rPr lang="en-US" i="1" dirty="0" smtClean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sz="28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i="1" dirty="0" smtClean="0">
                <a:solidFill>
                  <a:srgbClr val="C00000"/>
                </a:solidFill>
                <a:sym typeface="Symbol" pitchFamily="18" charset="2"/>
              </a:rPr>
              <a:t>Q(a),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where a is a particular element in the domain.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	      </a:t>
            </a:r>
            <a:r>
              <a:rPr lang="en-US" sz="28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i="1" dirty="0" smtClean="0">
                <a:solidFill>
                  <a:srgbClr val="C00000"/>
                </a:solidFill>
                <a:sym typeface="Symbol" pitchFamily="18" charset="2"/>
              </a:rPr>
              <a:t>P(a)</a:t>
            </a:r>
            <a:endParaRPr lang="en-US" i="1" dirty="0" smtClean="0"/>
          </a:p>
          <a:p>
            <a:endParaRPr lang="en-US" dirty="0" smtClean="0"/>
          </a:p>
          <a:p>
            <a:endParaRPr lang="en-US" dirty="0"/>
          </a:p>
        </p:txBody>
      </p:sp>
      <p:graphicFrame>
        <p:nvGraphicFramePr>
          <p:cNvPr id="128003" name="Object 3"/>
          <p:cNvGraphicFramePr>
            <a:graphicFrameLocks noChangeAspect="1"/>
          </p:cNvGraphicFramePr>
          <p:nvPr/>
        </p:nvGraphicFramePr>
        <p:xfrm>
          <a:off x="929148" y="4006644"/>
          <a:ext cx="457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007" name="Equation" r:id="rId3" imgW="139680" imgH="126720" progId="Equation.3">
                  <p:embed/>
                </p:oleObj>
              </mc:Choice>
              <mc:Fallback>
                <p:oleObj name="Equation" r:id="rId3" imgW="139680" imgH="12672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9148" y="4006644"/>
                        <a:ext cx="4572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" name="Straight Connector 7"/>
          <p:cNvCxnSpPr/>
          <p:nvPr/>
        </p:nvCxnSpPr>
        <p:spPr>
          <a:xfrm>
            <a:off x="973392" y="3947652"/>
            <a:ext cx="6781800" cy="1588"/>
          </a:xfrm>
          <a:prstGeom prst="line">
            <a:avLst/>
          </a:prstGeom>
          <a:ln w="317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8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rgbClr val="0070C0"/>
                </a:solidFill>
              </a:rPr>
              <a:t>EXERCISE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334000"/>
          </a:xfrm>
        </p:spPr>
        <p:txBody>
          <a:bodyPr>
            <a:normAutofit/>
          </a:bodyPr>
          <a:lstStyle/>
          <a:p>
            <a:r>
              <a:rPr lang="en-US" dirty="0" smtClean="0"/>
              <a:t>Use rules of inference to show that if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	x (P(x)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→ (Q(x) </a:t>
            </a:r>
            <a:r>
              <a:rPr lang="en-US" dirty="0" smtClean="0">
                <a:solidFill>
                  <a:srgbClr val="C00000"/>
                </a:solidFill>
                <a:sym typeface="Symbol" charset="2"/>
              </a:rPr>
              <a:t>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S(x))) </a:t>
            </a:r>
            <a:r>
              <a:rPr lang="en-US" dirty="0" smtClean="0">
                <a:sym typeface="Symbol" pitchFamily="18" charset="2"/>
              </a:rPr>
              <a:t>and</a:t>
            </a:r>
          </a:p>
          <a:p>
            <a:pPr>
              <a:buNone/>
            </a:pPr>
            <a:r>
              <a:rPr lang="en-US" dirty="0" smtClean="0">
                <a:sym typeface="Symbol" pitchFamily="18" charset="2"/>
              </a:rPr>
              <a:t>	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x (P(x) </a:t>
            </a:r>
            <a:r>
              <a:rPr lang="en-US" dirty="0" smtClean="0">
                <a:solidFill>
                  <a:srgbClr val="C00000"/>
                </a:solidFill>
                <a:sym typeface="Symbol" charset="2"/>
              </a:rPr>
              <a:t></a:t>
            </a:r>
            <a:r>
              <a:rPr lang="en-US" sz="2800" dirty="0" smtClean="0">
                <a:solidFill>
                  <a:srgbClr val="C00000"/>
                </a:solidFill>
                <a:sym typeface="Symbol" charset="2"/>
              </a:rPr>
              <a:t>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R(x)))</a:t>
            </a:r>
            <a:r>
              <a:rPr lang="en-US" dirty="0" smtClean="0"/>
              <a:t> are </a:t>
            </a:r>
            <a:r>
              <a:rPr lang="en-US" dirty="0" smtClean="0">
                <a:solidFill>
                  <a:srgbClr val="C00000"/>
                </a:solidFill>
              </a:rPr>
              <a:t>true</a:t>
            </a:r>
            <a:r>
              <a:rPr lang="en-US" dirty="0" smtClean="0"/>
              <a:t> </a:t>
            </a:r>
          </a:p>
          <a:p>
            <a:pPr>
              <a:buNone/>
            </a:pPr>
            <a:r>
              <a:rPr lang="en-US" dirty="0" smtClean="0"/>
              <a:t>	then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x (R(x) </a:t>
            </a:r>
            <a:r>
              <a:rPr lang="en-US" dirty="0" smtClean="0">
                <a:solidFill>
                  <a:srgbClr val="C00000"/>
                </a:solidFill>
                <a:sym typeface="Symbol" charset="2"/>
              </a:rPr>
              <a:t></a:t>
            </a:r>
            <a:r>
              <a:rPr lang="en-US" sz="2800" dirty="0" smtClean="0">
                <a:solidFill>
                  <a:srgbClr val="C00000"/>
                </a:solidFill>
                <a:sym typeface="Symbol" charset="2"/>
              </a:rPr>
              <a:t> </a:t>
            </a:r>
            <a:r>
              <a:rPr lang="en-US" sz="28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S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(x)) </a:t>
            </a:r>
            <a:r>
              <a:rPr lang="en-US" dirty="0" smtClean="0">
                <a:cs typeface="Arial" charset="0"/>
                <a:sym typeface="Symbol" pitchFamily="18" charset="2"/>
              </a:rPr>
              <a:t>is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true</a:t>
            </a:r>
          </a:p>
          <a:p>
            <a:endParaRPr lang="en-US" dirty="0" smtClean="0">
              <a:solidFill>
                <a:srgbClr val="C00000"/>
              </a:solidFill>
              <a:cs typeface="Arial" charset="0"/>
              <a:sym typeface="Symbol" pitchFamily="18" charset="2"/>
            </a:endParaRPr>
          </a:p>
          <a:p>
            <a:r>
              <a:rPr lang="en-US" b="1" u="sng" dirty="0" smtClean="0">
                <a:solidFill>
                  <a:srgbClr val="0070C0"/>
                </a:solidFill>
                <a:cs typeface="Arial" charset="0"/>
                <a:sym typeface="Symbol" pitchFamily="18" charset="2"/>
              </a:rPr>
              <a:t>Solution:</a:t>
            </a:r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 smtClean="0">
                <a:solidFill>
                  <a:srgbClr val="0070C0"/>
                </a:solidFill>
              </a:rPr>
              <a:t>The following steps can be used to</a:t>
            </a:r>
          </a:p>
          <a:p>
            <a:pPr>
              <a:buNone/>
            </a:pPr>
            <a:r>
              <a:rPr lang="en-US" sz="2400" smtClean="0">
                <a:solidFill>
                  <a:srgbClr val="0070C0"/>
                </a:solidFill>
              </a:rPr>
              <a:t>	 establish </a:t>
            </a:r>
            <a:r>
              <a:rPr lang="en-US" sz="2400" dirty="0" smtClean="0">
                <a:solidFill>
                  <a:srgbClr val="0070C0"/>
                </a:solidFill>
              </a:rPr>
              <a:t>conclusion:</a:t>
            </a:r>
          </a:p>
          <a:p>
            <a:pPr>
              <a:buNone/>
            </a:pPr>
            <a:r>
              <a:rPr lang="en-US" sz="2400" dirty="0" smtClean="0">
                <a:sym typeface="Symbol" pitchFamily="18" charset="2"/>
              </a:rPr>
              <a:t>01.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 x (P(x) </a:t>
            </a:r>
            <a:r>
              <a:rPr lang="en-US" sz="2400" dirty="0" smtClean="0">
                <a:solidFill>
                  <a:srgbClr val="C00000"/>
                </a:solidFill>
                <a:sym typeface="Symbol" charset="2"/>
              </a:rPr>
              <a:t> 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R(x)))	</a:t>
            </a:r>
            <a:r>
              <a:rPr lang="en-US" sz="2200" dirty="0" smtClean="0">
                <a:cs typeface="Arial" charset="0"/>
                <a:sym typeface="Symbol" pitchFamily="18" charset="2"/>
              </a:rPr>
              <a:t>Premise</a:t>
            </a:r>
          </a:p>
          <a:p>
            <a:pPr>
              <a:buNone/>
            </a:pPr>
            <a:r>
              <a:rPr lang="en-US" sz="2400" dirty="0" smtClean="0">
                <a:cs typeface="Arial" charset="0"/>
                <a:sym typeface="Symbol" pitchFamily="18" charset="2"/>
              </a:rPr>
              <a:t>02. 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P(a) </a:t>
            </a:r>
            <a:r>
              <a:rPr lang="en-US" sz="2400" dirty="0" smtClean="0">
                <a:solidFill>
                  <a:srgbClr val="C00000"/>
                </a:solidFill>
                <a:sym typeface="Symbol" charset="2"/>
              </a:rPr>
              <a:t> 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R(a)		</a:t>
            </a:r>
            <a:r>
              <a:rPr lang="en-US" sz="2200" dirty="0" smtClean="0">
                <a:cs typeface="Arial" charset="0"/>
                <a:sym typeface="Symbol" pitchFamily="18" charset="2"/>
              </a:rPr>
              <a:t>Universal Instantiation</a:t>
            </a:r>
          </a:p>
          <a:p>
            <a:pPr>
              <a:buNone/>
            </a:pPr>
            <a:r>
              <a:rPr lang="en-US" sz="2400" dirty="0" smtClean="0">
                <a:cs typeface="Arial" charset="0"/>
                <a:sym typeface="Symbol" pitchFamily="18" charset="2"/>
              </a:rPr>
              <a:t>03.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 P(a)			</a:t>
            </a:r>
            <a:r>
              <a:rPr lang="en-US" sz="2200" dirty="0" smtClean="0">
                <a:cs typeface="Arial" charset="0"/>
                <a:sym typeface="Symbol" pitchFamily="18" charset="2"/>
              </a:rPr>
              <a:t>Simplification</a:t>
            </a:r>
          </a:p>
          <a:p>
            <a:pPr>
              <a:buNone/>
            </a:pPr>
            <a:r>
              <a:rPr lang="en-US" sz="2400" dirty="0" smtClean="0">
                <a:sym typeface="Symbol" pitchFamily="18" charset="2"/>
              </a:rPr>
              <a:t>04.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  x (P(x) 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→ (Q(x) </a:t>
            </a:r>
            <a:r>
              <a:rPr lang="en-US" sz="2400" dirty="0" smtClean="0">
                <a:solidFill>
                  <a:srgbClr val="C00000"/>
                </a:solidFill>
                <a:sym typeface="Symbol" charset="2"/>
              </a:rPr>
              <a:t> 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S(x)))     </a:t>
            </a:r>
            <a:r>
              <a:rPr lang="en-US" sz="2200" dirty="0" smtClean="0">
                <a:cs typeface="Arial" charset="0"/>
                <a:sym typeface="Symbol" pitchFamily="18" charset="2"/>
              </a:rPr>
              <a:t>Premise</a:t>
            </a:r>
          </a:p>
          <a:p>
            <a:pPr marL="457200" indent="-457200">
              <a:buNone/>
            </a:pPr>
            <a:r>
              <a:rPr lang="en-US" sz="2400" dirty="0" smtClean="0">
                <a:cs typeface="Arial" charset="0"/>
                <a:sym typeface="Symbol" pitchFamily="18" charset="2"/>
              </a:rPr>
              <a:t>05.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 Q(a) </a:t>
            </a:r>
            <a:r>
              <a:rPr lang="en-US" sz="2400" dirty="0" smtClean="0">
                <a:solidFill>
                  <a:srgbClr val="C00000"/>
                </a:solidFill>
                <a:sym typeface="Symbol" charset="2"/>
              </a:rPr>
              <a:t> 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S(a)		</a:t>
            </a:r>
            <a:r>
              <a:rPr lang="en-US" sz="2200" dirty="0" smtClean="0">
                <a:cs typeface="Arial" charset="0"/>
                <a:sym typeface="Symbol" pitchFamily="18" charset="2"/>
              </a:rPr>
              <a:t>Universal modus ponens</a:t>
            </a:r>
          </a:p>
          <a:p>
            <a:pPr marL="457200" indent="-457200">
              <a:buNone/>
            </a:pPr>
            <a:r>
              <a:rPr lang="en-US" sz="2400" dirty="0" smtClean="0">
                <a:cs typeface="Arial" charset="0"/>
                <a:sym typeface="Symbol" pitchFamily="18" charset="2"/>
              </a:rPr>
              <a:t>06.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 S(a) </a:t>
            </a:r>
            <a:r>
              <a:rPr lang="en-US" sz="2400" dirty="0" smtClean="0">
                <a:solidFill>
                  <a:srgbClr val="C00000"/>
                </a:solidFill>
                <a:sym typeface="Symbol" charset="2"/>
              </a:rPr>
              <a:t> 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Q(a) 	</a:t>
            </a:r>
            <a:r>
              <a:rPr lang="en-US" sz="2200" dirty="0" smtClean="0">
                <a:cs typeface="Arial" charset="0"/>
                <a:sym typeface="Symbol" pitchFamily="18" charset="2"/>
              </a:rPr>
              <a:t>Commutative</a:t>
            </a:r>
          </a:p>
          <a:p>
            <a:pPr marL="457200" indent="-457200">
              <a:buNone/>
            </a:pPr>
            <a:r>
              <a:rPr lang="en-US" sz="2400" dirty="0" smtClean="0">
                <a:cs typeface="Arial" charset="0"/>
                <a:sym typeface="Symbol" pitchFamily="18" charset="2"/>
              </a:rPr>
              <a:t>07. 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S(a)			</a:t>
            </a:r>
            <a:r>
              <a:rPr lang="en-US" sz="2200" dirty="0" smtClean="0">
                <a:cs typeface="Arial" charset="0"/>
                <a:sym typeface="Symbol" pitchFamily="18" charset="2"/>
              </a:rPr>
              <a:t>Simplification</a:t>
            </a:r>
          </a:p>
          <a:p>
            <a:pPr marL="457200" indent="-457200">
              <a:buNone/>
            </a:pPr>
            <a:r>
              <a:rPr lang="en-US" sz="2200" dirty="0" smtClean="0">
                <a:cs typeface="Arial" charset="0"/>
                <a:sym typeface="Symbol" pitchFamily="18" charset="2"/>
              </a:rPr>
              <a:t>08. </a:t>
            </a:r>
            <a:r>
              <a:rPr lang="en-US" sz="22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R(a) </a:t>
            </a:r>
            <a:r>
              <a:rPr lang="en-US" sz="2200" dirty="0" smtClean="0">
                <a:solidFill>
                  <a:srgbClr val="C00000"/>
                </a:solidFill>
                <a:sym typeface="Symbol" charset="2"/>
              </a:rPr>
              <a:t> </a:t>
            </a:r>
            <a:r>
              <a:rPr lang="en-US" sz="22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P(a) 		</a:t>
            </a:r>
            <a:r>
              <a:rPr lang="en-US" sz="2200" dirty="0" smtClean="0">
                <a:cs typeface="Arial" charset="0"/>
                <a:sym typeface="Symbol" pitchFamily="18" charset="2"/>
              </a:rPr>
              <a:t>Commutative on (2)</a:t>
            </a:r>
          </a:p>
          <a:p>
            <a:pPr>
              <a:buNone/>
            </a:pPr>
            <a:r>
              <a:rPr lang="en-US" sz="2400" dirty="0" smtClean="0">
                <a:cs typeface="Arial" charset="0"/>
                <a:sym typeface="Symbol" pitchFamily="18" charset="2"/>
              </a:rPr>
              <a:t>09.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 R(a)		</a:t>
            </a:r>
            <a:r>
              <a:rPr lang="en-US" sz="2200" dirty="0" smtClean="0">
                <a:cs typeface="Arial" charset="0"/>
                <a:sym typeface="Symbol" pitchFamily="18" charset="2"/>
              </a:rPr>
              <a:t>Simplification</a:t>
            </a:r>
          </a:p>
          <a:p>
            <a:pPr>
              <a:buNone/>
            </a:pPr>
            <a:r>
              <a:rPr lang="en-US" sz="2400" dirty="0" smtClean="0">
                <a:cs typeface="Arial" charset="0"/>
                <a:sym typeface="Symbol" pitchFamily="18" charset="2"/>
              </a:rPr>
              <a:t>10.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 R(a)</a:t>
            </a:r>
            <a:r>
              <a:rPr lang="en-US" sz="2400" dirty="0" smtClean="0">
                <a:solidFill>
                  <a:srgbClr val="C00000"/>
                </a:solidFill>
                <a:sym typeface="Symbol" charset="2"/>
              </a:rPr>
              <a:t>  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S(a)		</a:t>
            </a:r>
            <a:r>
              <a:rPr lang="en-US" sz="2200" dirty="0" smtClean="0">
                <a:cs typeface="Arial" charset="0"/>
                <a:sym typeface="Symbol" pitchFamily="18" charset="2"/>
              </a:rPr>
              <a:t>Conjunction (9) &amp; (7)</a:t>
            </a:r>
          </a:p>
          <a:p>
            <a:pPr>
              <a:buNone/>
            </a:pPr>
            <a:r>
              <a:rPr lang="en-US" sz="2400" dirty="0" smtClean="0">
                <a:cs typeface="Arial" charset="0"/>
                <a:sym typeface="Symbol" pitchFamily="18" charset="2"/>
              </a:rPr>
              <a:t>11.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x (R(x) </a:t>
            </a:r>
            <a:r>
              <a:rPr lang="en-US" sz="2400" dirty="0" smtClean="0">
                <a:solidFill>
                  <a:srgbClr val="C00000"/>
                </a:solidFill>
                <a:sym typeface="Symbol" charset="2"/>
              </a:rPr>
              <a:t> 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S(x))	</a:t>
            </a:r>
            <a:r>
              <a:rPr lang="en-US" sz="2200" dirty="0" smtClean="0">
                <a:cs typeface="Arial" charset="0"/>
                <a:sym typeface="Symbol" pitchFamily="18" charset="2"/>
              </a:rPr>
              <a:t>Universal generalization</a:t>
            </a:r>
            <a:endParaRPr lang="en-US" sz="2200" dirty="0"/>
          </a:p>
        </p:txBody>
      </p:sp>
      <p:pic>
        <p:nvPicPr>
          <p:cNvPr id="6553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17845" y="481965"/>
            <a:ext cx="3800475" cy="273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5" name="Object 12"/>
          <p:cNvGraphicFramePr>
            <a:graphicFrameLocks noChangeAspect="1"/>
          </p:cNvGraphicFramePr>
          <p:nvPr/>
        </p:nvGraphicFramePr>
        <p:xfrm>
          <a:off x="5664200" y="3109913"/>
          <a:ext cx="3479800" cy="3671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103" name="Equation" r:id="rId4" imgW="4838400" imgH="5105160" progId="Equation.3">
                  <p:embed/>
                </p:oleObj>
              </mc:Choice>
              <mc:Fallback>
                <p:oleObj name="Equation" r:id="rId4" imgW="4838400" imgH="510516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4200" y="3109913"/>
                        <a:ext cx="3479800" cy="3671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 smtClean="0">
                <a:solidFill>
                  <a:srgbClr val="0070C0"/>
                </a:solidFill>
              </a:rPr>
              <a:t>EXAMPLE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Use </a:t>
            </a:r>
            <a:r>
              <a:rPr lang="en-US" dirty="0" smtClean="0">
                <a:solidFill>
                  <a:srgbClr val="C00000"/>
                </a:solidFill>
              </a:rPr>
              <a:t>rules of inference</a:t>
            </a:r>
            <a:r>
              <a:rPr lang="en-US" dirty="0" smtClean="0"/>
              <a:t> to show that if 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	x (P(x)</a:t>
            </a:r>
            <a:r>
              <a:rPr lang="en-US" sz="2800" dirty="0" smtClean="0">
                <a:sym typeface="Symbol" charset="2"/>
              </a:rPr>
              <a:t> </a:t>
            </a:r>
            <a:r>
              <a:rPr lang="en-US" b="1" dirty="0" smtClean="0">
                <a:solidFill>
                  <a:srgbClr val="C00000"/>
                </a:solidFill>
                <a:sym typeface="Symbol" charset="2"/>
              </a:rPr>
              <a:t></a:t>
            </a:r>
            <a:r>
              <a:rPr lang="en-US" dirty="0" smtClean="0">
                <a:sym typeface="Symbol" charset="2"/>
              </a:rPr>
              <a:t>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Q(x)),</a:t>
            </a:r>
          </a:p>
          <a:p>
            <a:pPr>
              <a:buNone/>
            </a:pPr>
            <a:r>
              <a:rPr lang="en-US" sz="28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	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x (</a:t>
            </a:r>
            <a:r>
              <a:rPr lang="en-US" sz="28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Q(x)</a:t>
            </a:r>
            <a:r>
              <a:rPr lang="en-US" dirty="0" smtClean="0">
                <a:sym typeface="Symbol" charset="2"/>
              </a:rPr>
              <a:t> </a:t>
            </a:r>
            <a:r>
              <a:rPr lang="en-US" b="1" dirty="0" smtClean="0">
                <a:solidFill>
                  <a:srgbClr val="C00000"/>
                </a:solidFill>
                <a:sym typeface="Symbol" charset="2"/>
              </a:rPr>
              <a:t></a:t>
            </a:r>
            <a:r>
              <a:rPr lang="en-US" dirty="0" smtClean="0">
                <a:sym typeface="Symbol" charset="2"/>
              </a:rPr>
              <a:t>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S(x)),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	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x (R(x)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→</a:t>
            </a:r>
            <a:r>
              <a:rPr lang="en-US" dirty="0" smtClean="0">
                <a:sym typeface="Symbol" charset="2"/>
              </a:rPr>
              <a:t> 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S(x)) </a:t>
            </a:r>
            <a:r>
              <a:rPr lang="en-US" dirty="0" smtClean="0">
                <a:cs typeface="Arial" charset="0"/>
                <a:sym typeface="Symbol" pitchFamily="18" charset="2"/>
              </a:rPr>
              <a:t>and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	</a:t>
            </a:r>
            <a:r>
              <a:rPr lang="en-US" b="1" dirty="0" smtClean="0">
                <a:solidFill>
                  <a:srgbClr val="C00000"/>
                </a:solidFill>
                <a:sym typeface="Symbol" charset="2"/>
              </a:rPr>
              <a:t> 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x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¬P(x) </a:t>
            </a:r>
            <a:r>
              <a:rPr lang="en-US" dirty="0" smtClean="0">
                <a:cs typeface="Arial" charset="0"/>
                <a:sym typeface="Symbol" pitchFamily="18" charset="2"/>
              </a:rPr>
              <a:t>are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true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	</a:t>
            </a:r>
            <a:r>
              <a:rPr lang="en-US" dirty="0" smtClean="0">
                <a:cs typeface="Arial" charset="0"/>
                <a:sym typeface="Symbol" pitchFamily="18" charset="2"/>
              </a:rPr>
              <a:t>then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	</a:t>
            </a:r>
            <a:r>
              <a:rPr lang="en-US" b="1" dirty="0" smtClean="0">
                <a:solidFill>
                  <a:srgbClr val="C00000"/>
                </a:solidFill>
                <a:sym typeface="Symbol" charset="2"/>
              </a:rPr>
              <a:t> 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x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¬R(x) </a:t>
            </a:r>
            <a:r>
              <a:rPr lang="en-US" dirty="0" smtClean="0">
                <a:cs typeface="Arial" charset="0"/>
                <a:sym typeface="Symbol" pitchFamily="18" charset="2"/>
              </a:rPr>
              <a:t>is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true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	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	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0E3FE-F966-4958-A76A-B25FC80995AF}" type="slidenum">
              <a:rPr lang="en-US" smtClean="0"/>
              <a:pPr/>
              <a:t>21</a:t>
            </a:fld>
            <a:endParaRPr lang="en-US"/>
          </a:p>
        </p:txBody>
      </p:sp>
      <p:graphicFrame>
        <p:nvGraphicFramePr>
          <p:cNvPr id="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9148996"/>
              </p:ext>
            </p:extLst>
          </p:nvPr>
        </p:nvGraphicFramePr>
        <p:xfrm>
          <a:off x="228600" y="457200"/>
          <a:ext cx="8781211" cy="556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148" name="Equation" r:id="rId3" imgW="4838400" imgH="5105160" progId="Equation.3">
                  <p:embed/>
                </p:oleObj>
              </mc:Choice>
              <mc:Fallback>
                <p:oleObj name="Equation" r:id="rId3" imgW="4838400" imgH="5105160" progId="Equation.3">
                  <p:embed/>
                  <p:pic>
                    <p:nvPicPr>
                      <p:cNvPr id="5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457200"/>
                        <a:ext cx="8781211" cy="5562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87772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 smtClean="0">
                <a:solidFill>
                  <a:srgbClr val="0070C0"/>
                </a:solidFill>
              </a:rPr>
              <a:t>The following steps can be used to</a:t>
            </a:r>
          </a:p>
          <a:p>
            <a:pPr>
              <a:buNone/>
            </a:pPr>
            <a:r>
              <a:rPr lang="en-US" sz="2400" dirty="0" smtClean="0">
                <a:solidFill>
                  <a:srgbClr val="0070C0"/>
                </a:solidFill>
              </a:rPr>
              <a:t>	establish conclusion:</a:t>
            </a:r>
          </a:p>
          <a:p>
            <a:pPr>
              <a:buNone/>
            </a:pPr>
            <a:r>
              <a:rPr lang="en-US" sz="2400" dirty="0" smtClean="0">
                <a:sym typeface="Symbol" charset="2"/>
              </a:rPr>
              <a:t>01.</a:t>
            </a:r>
            <a:r>
              <a:rPr lang="en-US" sz="2400" b="1" dirty="0" smtClean="0">
                <a:solidFill>
                  <a:srgbClr val="C00000"/>
                </a:solidFill>
                <a:sym typeface="Symbol" charset="2"/>
              </a:rPr>
              <a:t>  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x 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¬P(x)		</a:t>
            </a:r>
            <a:r>
              <a:rPr lang="en-US" sz="2200" dirty="0" smtClean="0">
                <a:cs typeface="Arial" charset="0"/>
                <a:sym typeface="Symbol" pitchFamily="18" charset="2"/>
              </a:rPr>
              <a:t>Premise</a:t>
            </a:r>
          </a:p>
          <a:p>
            <a:pPr>
              <a:buNone/>
            </a:pPr>
            <a:r>
              <a:rPr lang="en-US" sz="2400" dirty="0" smtClean="0">
                <a:cs typeface="Arial" charset="0"/>
                <a:sym typeface="Symbol" pitchFamily="18" charset="2"/>
              </a:rPr>
              <a:t>02.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 ¬P(c) 		</a:t>
            </a:r>
            <a:r>
              <a:rPr lang="en-US" sz="2200" dirty="0" smtClean="0">
                <a:cs typeface="Arial" charset="0"/>
                <a:sym typeface="Symbol" pitchFamily="18" charset="2"/>
              </a:rPr>
              <a:t>Existential Instantiation</a:t>
            </a:r>
          </a:p>
          <a:p>
            <a:pPr>
              <a:buNone/>
            </a:pPr>
            <a:r>
              <a:rPr lang="en-US" sz="2400" dirty="0" smtClean="0">
                <a:sym typeface="Symbol" pitchFamily="18" charset="2"/>
              </a:rPr>
              <a:t>03.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  x (P(x)</a:t>
            </a:r>
            <a:r>
              <a:rPr lang="en-US" sz="2400" dirty="0" smtClean="0">
                <a:sym typeface="Symbol" charset="2"/>
              </a:rPr>
              <a:t>  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Q(x))	</a:t>
            </a:r>
            <a:r>
              <a:rPr lang="en-US" sz="2200" dirty="0" smtClean="0">
                <a:cs typeface="Arial" charset="0"/>
                <a:sym typeface="Symbol" pitchFamily="18" charset="2"/>
              </a:rPr>
              <a:t>Premise</a:t>
            </a:r>
          </a:p>
          <a:p>
            <a:pPr>
              <a:buNone/>
            </a:pPr>
            <a:r>
              <a:rPr lang="en-US" sz="2400" dirty="0" smtClean="0">
                <a:sym typeface="Symbol" pitchFamily="18" charset="2"/>
              </a:rPr>
              <a:t>04.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  P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(c) </a:t>
            </a:r>
            <a:r>
              <a:rPr lang="en-US" sz="2400" dirty="0" smtClean="0">
                <a:sym typeface="Symbol" charset="2"/>
              </a:rPr>
              <a:t></a:t>
            </a:r>
            <a:r>
              <a:rPr lang="en-US" sz="2400" dirty="0" smtClean="0">
                <a:solidFill>
                  <a:srgbClr val="C00000"/>
                </a:solidFill>
                <a:sym typeface="Symbol" charset="2"/>
              </a:rPr>
              <a:t> 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Q(c)		</a:t>
            </a:r>
            <a:r>
              <a:rPr lang="en-US" sz="2200" dirty="0" smtClean="0">
                <a:cs typeface="Arial" charset="0"/>
                <a:sym typeface="Symbol" pitchFamily="18" charset="2"/>
              </a:rPr>
              <a:t>Universal Instantiation</a:t>
            </a:r>
          </a:p>
          <a:p>
            <a:pPr>
              <a:buNone/>
            </a:pPr>
            <a:r>
              <a:rPr lang="en-US" sz="2400" dirty="0" smtClean="0">
                <a:cs typeface="Arial" charset="0"/>
                <a:sym typeface="Symbol" pitchFamily="18" charset="2"/>
              </a:rPr>
              <a:t>05.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 Q(c) 		</a:t>
            </a:r>
            <a:r>
              <a:rPr lang="en-US" sz="2200" dirty="0" smtClean="0">
                <a:cs typeface="Arial" charset="0"/>
                <a:sym typeface="Symbol" pitchFamily="18" charset="2"/>
              </a:rPr>
              <a:t>Disjunctive syllogism</a:t>
            </a:r>
          </a:p>
          <a:p>
            <a:pPr>
              <a:buNone/>
            </a:pPr>
            <a:r>
              <a:rPr lang="en-US" sz="2400" dirty="0" smtClean="0">
                <a:cs typeface="Arial" charset="0"/>
                <a:sym typeface="Symbol" pitchFamily="18" charset="2"/>
              </a:rPr>
              <a:t>06.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x (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Q(x)</a:t>
            </a:r>
            <a:r>
              <a:rPr lang="en-US" sz="2400" dirty="0" smtClean="0">
                <a:sym typeface="Symbol" charset="2"/>
              </a:rPr>
              <a:t>  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S(x))	</a:t>
            </a:r>
            <a:r>
              <a:rPr lang="en-US" sz="2200" dirty="0" smtClean="0">
                <a:cs typeface="Arial" charset="0"/>
                <a:sym typeface="Symbol" pitchFamily="18" charset="2"/>
              </a:rPr>
              <a:t>Premise</a:t>
            </a:r>
          </a:p>
          <a:p>
            <a:pPr>
              <a:buNone/>
            </a:pPr>
            <a:r>
              <a:rPr lang="en-US" sz="2400" dirty="0" smtClean="0">
                <a:cs typeface="Arial" charset="0"/>
                <a:sym typeface="Symbol" pitchFamily="18" charset="2"/>
              </a:rPr>
              <a:t>07. 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¬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Q(c)</a:t>
            </a:r>
            <a:r>
              <a:rPr lang="en-US" sz="2400" dirty="0" smtClean="0">
                <a:sym typeface="Symbol" charset="2"/>
              </a:rPr>
              <a:t>  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S(c)	</a:t>
            </a:r>
            <a:r>
              <a:rPr lang="en-US" sz="2200" dirty="0" smtClean="0">
                <a:cs typeface="Arial" charset="0"/>
                <a:sym typeface="Symbol" pitchFamily="18" charset="2"/>
              </a:rPr>
              <a:t>Universal Instantiation</a:t>
            </a:r>
          </a:p>
          <a:p>
            <a:pPr>
              <a:buNone/>
            </a:pPr>
            <a:r>
              <a:rPr lang="en-US" sz="2400" dirty="0" smtClean="0">
                <a:cs typeface="Arial" charset="0"/>
                <a:sym typeface="Symbol" pitchFamily="18" charset="2"/>
              </a:rPr>
              <a:t>08.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 S(c)			</a:t>
            </a:r>
            <a:r>
              <a:rPr lang="en-US" sz="2200" dirty="0" smtClean="0">
                <a:cs typeface="Arial" charset="0"/>
                <a:sym typeface="Symbol" pitchFamily="18" charset="2"/>
              </a:rPr>
              <a:t>Disjunctive syllogism</a:t>
            </a:r>
          </a:p>
          <a:p>
            <a:pPr>
              <a:buNone/>
            </a:pPr>
            <a:r>
              <a:rPr lang="en-US" sz="2400" dirty="0" smtClean="0">
                <a:cs typeface="Arial" charset="0"/>
                <a:sym typeface="Symbol" pitchFamily="18" charset="2"/>
              </a:rPr>
              <a:t>09. 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x (R(x) 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→</a:t>
            </a:r>
            <a:r>
              <a:rPr lang="en-US" sz="2400" dirty="0" smtClean="0">
                <a:sym typeface="Symbol" charset="2"/>
              </a:rPr>
              <a:t> 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¬S(x)) 	</a:t>
            </a:r>
            <a:r>
              <a:rPr lang="en-US" sz="2200" dirty="0" smtClean="0">
                <a:cs typeface="Arial" charset="0"/>
                <a:sym typeface="Symbol" pitchFamily="18" charset="2"/>
              </a:rPr>
              <a:t>Premise 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	 </a:t>
            </a:r>
          </a:p>
          <a:p>
            <a:pPr>
              <a:buNone/>
            </a:pPr>
            <a:r>
              <a:rPr lang="en-US" sz="2400" dirty="0" smtClean="0">
                <a:cs typeface="Arial" charset="0"/>
                <a:sym typeface="Symbol" pitchFamily="18" charset="2"/>
              </a:rPr>
              <a:t>10.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R(c) 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→</a:t>
            </a:r>
            <a:r>
              <a:rPr lang="en-US" sz="2400" dirty="0" smtClean="0">
                <a:sym typeface="Symbol" charset="2"/>
              </a:rPr>
              <a:t> 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¬S(c)	</a:t>
            </a:r>
            <a:r>
              <a:rPr lang="en-US" sz="2200" dirty="0" smtClean="0">
                <a:cs typeface="Arial" charset="0"/>
                <a:sym typeface="Symbol" pitchFamily="18" charset="2"/>
              </a:rPr>
              <a:t>Universal Instantiation</a:t>
            </a:r>
          </a:p>
          <a:p>
            <a:pPr>
              <a:buNone/>
            </a:pPr>
            <a:r>
              <a:rPr lang="en-US" sz="2400" dirty="0" smtClean="0">
                <a:cs typeface="Arial" charset="0"/>
                <a:sym typeface="Symbol" pitchFamily="18" charset="2"/>
              </a:rPr>
              <a:t>11.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 ¬R(c)		</a:t>
            </a:r>
            <a:r>
              <a:rPr lang="en-US" sz="2200" dirty="0" smtClean="0">
                <a:cs typeface="Arial" charset="0"/>
                <a:sym typeface="Symbol" pitchFamily="18" charset="2"/>
              </a:rPr>
              <a:t>Modus </a:t>
            </a:r>
            <a:r>
              <a:rPr lang="en-US" sz="2200" dirty="0" err="1" smtClean="0">
                <a:cs typeface="Arial" charset="0"/>
                <a:sym typeface="Symbol" pitchFamily="18" charset="2"/>
              </a:rPr>
              <a:t>Tollens</a:t>
            </a:r>
            <a:endParaRPr lang="en-US" sz="2200" dirty="0" smtClean="0">
              <a:cs typeface="Arial" charset="0"/>
              <a:sym typeface="Symbol" pitchFamily="18" charset="2"/>
            </a:endParaRPr>
          </a:p>
          <a:p>
            <a:pPr>
              <a:buNone/>
            </a:pPr>
            <a:r>
              <a:rPr lang="en-US" sz="2400" dirty="0" smtClean="0">
                <a:cs typeface="Arial" charset="0"/>
                <a:sym typeface="Symbol" pitchFamily="18" charset="2"/>
              </a:rPr>
              <a:t>12.</a:t>
            </a:r>
            <a:r>
              <a:rPr lang="en-US" sz="2400" b="1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 </a:t>
            </a:r>
            <a:r>
              <a:rPr lang="en-US" sz="2400" b="1" dirty="0" smtClean="0">
                <a:solidFill>
                  <a:srgbClr val="C00000"/>
                </a:solidFill>
                <a:sym typeface="Symbol" charset="2"/>
              </a:rPr>
              <a:t>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x 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¬P(x)		</a:t>
            </a:r>
            <a:r>
              <a:rPr lang="en-US" sz="2200" dirty="0" smtClean="0">
                <a:cs typeface="Arial" charset="0"/>
                <a:sym typeface="Symbol" pitchFamily="18" charset="2"/>
              </a:rPr>
              <a:t>Existential Generalization</a:t>
            </a:r>
            <a:endParaRPr lang="en-US" sz="2200" dirty="0"/>
          </a:p>
        </p:txBody>
      </p:sp>
      <p:pic>
        <p:nvPicPr>
          <p:cNvPr id="6553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41454" y="152400"/>
            <a:ext cx="3800475" cy="273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5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0021575"/>
              </p:ext>
            </p:extLst>
          </p:nvPr>
        </p:nvGraphicFramePr>
        <p:xfrm>
          <a:off x="5664200" y="2743201"/>
          <a:ext cx="6375400" cy="403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26" name="Equation" r:id="rId4" imgW="4838400" imgH="5105160" progId="Equation.3">
                  <p:embed/>
                </p:oleObj>
              </mc:Choice>
              <mc:Fallback>
                <p:oleObj name="Equation" r:id="rId4" imgW="4838400" imgH="510516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4200" y="2743201"/>
                        <a:ext cx="6375400" cy="4038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2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SESECONDARYMONITOR" val="True"/>
  <p:tag name="BULLETTYPE" val="3"/>
  <p:tag name="RESPCOUNTERSTYLE" val="-1"/>
  <p:tag name="INPUTSOURCE" val="1"/>
  <p:tag name="BACKUPSESSIONS" val="True"/>
  <p:tag name="REVIEWONLY" val="False"/>
  <p:tag name="PARTICIPANTSINLEADERBOARD" val="5"/>
  <p:tag name="BUBBLESIZEVISIBLE" val="True"/>
  <p:tag name="CUSTOMGRIDBACKCOLOR" val="-2830136"/>
  <p:tag name="CUSTOMCELLBACKCOLOR3" val="-268652"/>
  <p:tag name="DISPLAYDEVICENUMBER" val="True"/>
  <p:tag name="AUTOSIZEGRID" val="True"/>
  <p:tag name="CHARTCOLORS" val="0"/>
  <p:tag name="MULTIRESPDIVISOR" val="1"/>
  <p:tag name="CORRECTPOINTVALUE" val="100"/>
  <p:tag name="ZEROBASED" val="False"/>
  <p:tag name="SHOWBARVISIBLE" val="True"/>
  <p:tag name="REQUIREPASSWORD" val="False"/>
  <p:tag name="RESPCOUNTERFORMAT" val="0"/>
  <p:tag name="NUMRESPONSES" val="1"/>
  <p:tag name="AUTOADVANCE" val="False"/>
  <p:tag name="TEAMSINLEADERBOARD" val="5"/>
  <p:tag name="BUBBLEGROUPING" val="3"/>
  <p:tag name="CUSTOMCELLBACKCOLOR2" val="-13395457"/>
  <p:tag name="DISPLAYDEVICEID" val="True"/>
  <p:tag name="GRIDPOSITION" val="1"/>
  <p:tag name="INCLUDENONRESPONDERS" val="False"/>
  <p:tag name="INCORRECTPOINTVALUE" val="0"/>
  <p:tag name="CHARTSCALE" val="True"/>
  <p:tag name="DEFAULTPORT" val="1001"/>
  <p:tag name="RESPTABLESTYLE" val="-1"/>
  <p:tag name="BACKUPMAINTENANCE" val="7"/>
  <p:tag name="STDCHART" val="1"/>
  <p:tag name="DEFAULTNUMTEAMS" val="5"/>
  <p:tag name="USESCHEMECOLORS" val="True"/>
  <p:tag name="GRIDSIZE" val="{Width=800, Height=600}"/>
  <p:tag name="PARTLISTDEFAULT" val="0"/>
  <p:tag name="ADDINALWAYSLOADED" val="False"/>
  <p:tag name="ENABLEPRESENTERVPAD" val="False"/>
  <p:tag name="COUNTDOWNSECONDS" val="10"/>
  <p:tag name="ROTATIONINTERVAL" val="2"/>
  <p:tag name="BUBBLEVALUEFORMAT" val="0.0"/>
  <p:tag name="DISPLAYNAME" val="True"/>
  <p:tag name="CHARTLABELS" val="0"/>
  <p:tag name="REALTIMEBACKUP" val="False"/>
  <p:tag name="ANSWERNOWSTYLE" val="-1"/>
  <p:tag name="ALLOWDUPLICATES" val="False"/>
  <p:tag name="BUBBLENAMEVISIBLE" val="True"/>
  <p:tag name="GRIDOPACITY" val="90"/>
  <p:tag name="INCLUDEPPT" val="True"/>
  <p:tag name="EXPANDSHOWBAR" val="True"/>
  <p:tag name="CHARTVALUEFORMAT" val="0%"/>
  <p:tag name="CUSTOMCELLBACKCOLOR1" val="-657956"/>
  <p:tag name="RESETCHARTS" val="True"/>
  <p:tag name="ANSWERNOWTEXT" val="Answer Now"/>
  <p:tag name="MAXRESPONDERS" val="5"/>
  <p:tag name="POLLINGCYCLE" val="2"/>
  <p:tag name="COUNTDOWNSTYLE" val="-1"/>
  <p:tag name="CUSTOMCELLBACKCOLOR4" val="-8355712"/>
  <p:tag name="TPVERSION" val="2006"/>
  <p:tag name="GRIDROTATIONINTERVAL" val="2"/>
  <p:tag name="AUTOUPDATEALIASES" val="True"/>
  <p:tag name="USEENTERPRISEMANAGER" val="False"/>
  <p:tag name="CUSTOMCELLFORECOLOR" val="-16777216"/>
  <p:tag name="AUTOADJUSTPARTRANGE" val="True"/>
  <p:tag name="ALLOWUSERFEEDBACK" val="True"/>
  <p:tag name="DELIMITERS" val="3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4651</TotalTime>
  <Words>435</Words>
  <Application>Microsoft Office PowerPoint</Application>
  <PresentationFormat>On-screen Show (4:3)</PresentationFormat>
  <Paragraphs>185</Paragraphs>
  <Slides>22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Bookman Old Style</vt:lpstr>
      <vt:lpstr>Gill Sans MT</vt:lpstr>
      <vt:lpstr>Symbol</vt:lpstr>
      <vt:lpstr>Wingdings</vt:lpstr>
      <vt:lpstr>Wingdings 3</vt:lpstr>
      <vt:lpstr>Origin</vt:lpstr>
      <vt:lpstr>Equation</vt:lpstr>
      <vt:lpstr>RULES OF INFERENCE FOR  QUANTIFIED STATEMENTS </vt:lpstr>
      <vt:lpstr>INTRODUCTION</vt:lpstr>
      <vt:lpstr>UNIVERSAL INSTANTIATION</vt:lpstr>
      <vt:lpstr>UNIVERSAL GENERALIZATION</vt:lpstr>
      <vt:lpstr>EXISTENTIAL INSTANTIATION</vt:lpstr>
      <vt:lpstr>EXISTENTIAL GENERALIZATION</vt:lpstr>
      <vt:lpstr>PowerPoint Presentation</vt:lpstr>
      <vt:lpstr>EXAMPLE</vt:lpstr>
      <vt:lpstr>PowerPoint Presentation</vt:lpstr>
      <vt:lpstr>EXAMPLE</vt:lpstr>
      <vt:lpstr>PowerPoint Presentation</vt:lpstr>
      <vt:lpstr>COMBINING RULES OF INFERENCE FOR PROPOSITIONS &amp; QUANTIFIED STATEMENTS</vt:lpstr>
      <vt:lpstr>UNIVERSAL MODUS PONENS</vt:lpstr>
      <vt:lpstr>NOTE</vt:lpstr>
      <vt:lpstr>EXAMPLE</vt:lpstr>
      <vt:lpstr>PowerPoint Presentation</vt:lpstr>
      <vt:lpstr>UNIVERSAL MODUS TOLLENS</vt:lpstr>
      <vt:lpstr>EXERCISE</vt:lpstr>
      <vt:lpstr>PowerPoint Presentation</vt:lpstr>
      <vt:lpstr>EXAMPLE</vt:lpstr>
      <vt:lpstr>PowerPoint Presentation</vt:lpstr>
      <vt:lpstr>PowerPoint Presentation</vt:lpstr>
    </vt:vector>
  </TitlesOfParts>
  <Company>University of Virginia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Predicates and Quantifiers</dc:title>
  <dc:creator>Department of Computer Science</dc:creator>
  <cp:lastModifiedBy>Tehseen Fatima</cp:lastModifiedBy>
  <cp:revision>270</cp:revision>
  <dcterms:created xsi:type="dcterms:W3CDTF">2004-09-16T16:06:30Z</dcterms:created>
  <dcterms:modified xsi:type="dcterms:W3CDTF">2023-05-24T05:49:28Z</dcterms:modified>
</cp:coreProperties>
</file>
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56"/>
  </p:notesMasterIdLst>
  <p:handoutMasterIdLst>
    <p:handoutMasterId r:id="rId57"/>
  </p:handoutMasterIdLst>
  <p:sldIdLst>
    <p:sldId id="256" r:id="rId2"/>
    <p:sldId id="257" r:id="rId3"/>
    <p:sldId id="418" r:id="rId4"/>
    <p:sldId id="318" r:id="rId5"/>
    <p:sldId id="319" r:id="rId6"/>
    <p:sldId id="419" r:id="rId7"/>
    <p:sldId id="258" r:id="rId8"/>
    <p:sldId id="379" r:id="rId9"/>
    <p:sldId id="380" r:id="rId10"/>
    <p:sldId id="381" r:id="rId11"/>
    <p:sldId id="422" r:id="rId12"/>
    <p:sldId id="260" r:id="rId13"/>
    <p:sldId id="317" r:id="rId14"/>
    <p:sldId id="420" r:id="rId15"/>
    <p:sldId id="382" r:id="rId16"/>
    <p:sldId id="323" r:id="rId17"/>
    <p:sldId id="383" r:id="rId18"/>
    <p:sldId id="384" r:id="rId19"/>
    <p:sldId id="321" r:id="rId20"/>
    <p:sldId id="322" r:id="rId21"/>
    <p:sldId id="324" r:id="rId22"/>
    <p:sldId id="325" r:id="rId23"/>
    <p:sldId id="385" r:id="rId24"/>
    <p:sldId id="387" r:id="rId25"/>
    <p:sldId id="388" r:id="rId26"/>
    <p:sldId id="389" r:id="rId27"/>
    <p:sldId id="294" r:id="rId28"/>
    <p:sldId id="390" r:id="rId29"/>
    <p:sldId id="391" r:id="rId30"/>
    <p:sldId id="393" r:id="rId31"/>
    <p:sldId id="394" r:id="rId32"/>
    <p:sldId id="395" r:id="rId33"/>
    <p:sldId id="396" r:id="rId34"/>
    <p:sldId id="397" r:id="rId35"/>
    <p:sldId id="398" r:id="rId36"/>
    <p:sldId id="399" r:id="rId37"/>
    <p:sldId id="400" r:id="rId38"/>
    <p:sldId id="401" r:id="rId39"/>
    <p:sldId id="402" r:id="rId40"/>
    <p:sldId id="403" r:id="rId41"/>
    <p:sldId id="421" r:id="rId42"/>
    <p:sldId id="404" r:id="rId43"/>
    <p:sldId id="411" r:id="rId44"/>
    <p:sldId id="412" r:id="rId45"/>
    <p:sldId id="413" r:id="rId46"/>
    <p:sldId id="414" r:id="rId47"/>
    <p:sldId id="406" r:id="rId48"/>
    <p:sldId id="407" r:id="rId49"/>
    <p:sldId id="408" r:id="rId50"/>
    <p:sldId id="409" r:id="rId51"/>
    <p:sldId id="410" r:id="rId52"/>
    <p:sldId id="415" r:id="rId53"/>
    <p:sldId id="416" r:id="rId54"/>
    <p:sldId id="417" r:id="rId55"/>
  </p:sldIdLst>
  <p:sldSz cx="9144000" cy="6858000" type="screen4x3"/>
  <p:notesSz cx="6858000" cy="9144000"/>
  <p:custDataLst>
    <p:tags r:id="rId5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30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86"/>
    </p:cViewPr>
  </p:sorterViewPr>
  <p:notesViewPr>
    <p:cSldViewPr>
      <p:cViewPr varScale="1">
        <p:scale>
          <a:sx n="83" d="100"/>
          <a:sy n="83" d="100"/>
        </p:scale>
        <p:origin x="-142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959C94-BE30-4F86-B0FD-A3A1B0C478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E971F3D-4CCB-414F-9454-B7A9A7C50F2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5046609-F674-44B6-8FCB-CC08E7B10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6843562-6A8D-4508-B433-375FE97B4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74772-4651-4709-B5B8-851202ACB60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A212F-0F62-46B2-BBCF-A4267B9585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F5EE-3D59-4A2D-B384-C9549A05CA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E3FE-F966-4958-A76A-B25FC80995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92CC-0ABD-4EAD-8464-CAFE0E96F6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E1282-669A-4C75-B4DC-B452198C5A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697B-FB9C-4DE7-84A0-1309B4BE14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47E7-2302-4993-835F-A2750329BE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2D1B8C6-6188-4C48-BCDE-6213A1D72AE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3886200"/>
            <a:ext cx="6858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b="1" u="sng" dirty="0">
                <a:solidFill>
                  <a:srgbClr val="C00000"/>
                </a:solidFill>
              </a:rPr>
              <a:t>NESTED QUANTIFIERS</a:t>
            </a:r>
            <a:br>
              <a:rPr lang="en-US" sz="3100" b="1" u="sng" dirty="0">
                <a:solidFill>
                  <a:srgbClr val="C00000"/>
                </a:solidFill>
              </a:rPr>
            </a:br>
            <a:r>
              <a:rPr lang="en-US" sz="2800" b="1" dirty="0">
                <a:solidFill>
                  <a:srgbClr val="0070C0"/>
                </a:solidFill>
              </a:rPr>
              <a:t>Lecture # 16</a:t>
            </a:r>
            <a:br>
              <a:rPr lang="en-US" sz="2800" dirty="0"/>
            </a:br>
            <a:r>
              <a:rPr lang="en-US" sz="2800" dirty="0"/>
              <a:t>`</a:t>
            </a:r>
            <a:endParaRPr lang="en-US" sz="2900" b="1" u="sng" dirty="0">
              <a:solidFill>
                <a:srgbClr val="C000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A3B3F-4222-45C1-91A8-A367DD2FCE91}" type="slidenum">
              <a:rPr lang="en-US"/>
              <a:pPr/>
              <a:t>1</a:t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NESTED QUANTIFIER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5044-D182-4BAE-9152-421F005E817B}" type="slidenum">
              <a:rPr lang="en-US"/>
              <a:pPr/>
              <a:t>2</a:t>
            </a:fld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Nested Quantifier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/>
              <a:t>where one quantifier is within the scope of another, such as:</a:t>
            </a:r>
          </a:p>
          <a:p>
            <a:endParaRPr lang="en-US" dirty="0"/>
          </a:p>
          <a:p>
            <a:pPr algn="ctr">
              <a:buNone/>
            </a:pP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	</a:t>
            </a:r>
            <a:r>
              <a:rPr lang="en-US" sz="2800" dirty="0" err="1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 (</a:t>
            </a:r>
            <a:r>
              <a:rPr lang="en-US" sz="2800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 + y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 = 0).</a:t>
            </a:r>
          </a:p>
          <a:p>
            <a:endParaRPr lang="en-US" sz="2400" b="1" dirty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Note:</a:t>
            </a:r>
          </a:p>
          <a:p>
            <a:pPr>
              <a:buNone/>
            </a:pPr>
            <a:r>
              <a:rPr lang="en-US" sz="2400" dirty="0">
                <a:sym typeface="Symbol" pitchFamily="18" charset="2"/>
              </a:rPr>
              <a:t>	Everything within the scope of a quantifier can be thought of as a propositional function.</a:t>
            </a:r>
          </a:p>
          <a:p>
            <a:endParaRPr lang="en-US" dirty="0">
              <a:solidFill>
                <a:srgbClr val="C0000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Example:</a:t>
            </a:r>
          </a:p>
          <a:p>
            <a:pPr algn="ctr">
              <a:buNone/>
            </a:pPr>
            <a:r>
              <a:rPr lang="en-US" dirty="0">
                <a:sym typeface="Symbol" pitchFamily="18" charset="2"/>
              </a:rPr>
              <a:t>	</a:t>
            </a:r>
            <a:r>
              <a:rPr lang="en-US" dirty="0" err="1">
                <a:sym typeface="Symbol" pitchFamily="18" charset="2"/>
              </a:rPr>
              <a:t>xy</a:t>
            </a:r>
            <a:r>
              <a:rPr lang="en-US" dirty="0">
                <a:sym typeface="Symbol" pitchFamily="18" charset="2"/>
              </a:rPr>
              <a:t> (</a:t>
            </a:r>
            <a:r>
              <a:rPr lang="en-US" dirty="0">
                <a:cs typeface="Arial" pitchFamily="34" charset="0"/>
                <a:sym typeface="Symbol" pitchFamily="18" charset="2"/>
              </a:rPr>
              <a:t>x + y</a:t>
            </a:r>
            <a:r>
              <a:rPr lang="en-US" dirty="0">
                <a:sym typeface="Symbol" pitchFamily="18" charset="2"/>
              </a:rPr>
              <a:t> = 0)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is the same as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x Q(x), </a:t>
            </a:r>
          </a:p>
          <a:p>
            <a:pPr algn="ctr">
              <a:buNone/>
            </a:pPr>
            <a:endParaRPr lang="en-US" dirty="0">
              <a:solidFill>
                <a:srgbClr val="C00000"/>
              </a:solidFill>
              <a:sym typeface="Symbol" pitchFamily="18" charset="2"/>
            </a:endParaRP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>
                <a:sym typeface="Symbol" pitchFamily="18" charset="2"/>
              </a:rPr>
              <a:t>where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		Q(x) = y P(x, y)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 </a:t>
            </a:r>
            <a:r>
              <a:rPr lang="en-US" dirty="0">
                <a:sym typeface="Symbol" pitchFamily="18" charset="2"/>
              </a:rPr>
              <a:t>where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		P(x, y) = x + y = 0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UNDERSTANDING STATEMENTS INVOLVING NESTED QUANTIFIERS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Example:</a:t>
            </a:r>
            <a:r>
              <a:rPr lang="en-US" dirty="0"/>
              <a:t> Assume that the domain of the variables x and y consists of all real numbers. The statement</a:t>
            </a:r>
          </a:p>
          <a:p>
            <a:endParaRPr lang="en-US" dirty="0"/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x y (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 + 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= y + x)</a:t>
            </a:r>
          </a:p>
          <a:p>
            <a:pPr algn="ctr">
              <a:buNone/>
            </a:pPr>
            <a:endParaRPr lang="en-US" dirty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The statement says that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(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 + 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= y + x) </a:t>
            </a:r>
            <a:r>
              <a:rPr lang="en-US" dirty="0">
                <a:sym typeface="Symbol" pitchFamily="18" charset="2"/>
              </a:rPr>
              <a:t>for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all</a:t>
            </a:r>
            <a:r>
              <a:rPr lang="en-US" dirty="0">
                <a:sym typeface="Symbol" pitchFamily="18" charset="2"/>
              </a:rPr>
              <a:t> real numbers x and y.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 </a:t>
            </a:r>
            <a:r>
              <a:rPr lang="en-US" dirty="0">
                <a:sym typeface="Symbol" pitchFamily="18" charset="2"/>
              </a:rPr>
              <a:t>This is the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commutative law </a:t>
            </a:r>
            <a:r>
              <a:rPr lang="en-US" dirty="0">
                <a:sym typeface="Symbol" pitchFamily="18" charset="2"/>
              </a:rPr>
              <a:t>for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addition </a:t>
            </a:r>
            <a:r>
              <a:rPr lang="en-US" dirty="0">
                <a:sym typeface="Symbol" pitchFamily="18" charset="2"/>
              </a:rPr>
              <a:t>of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real numbers</a:t>
            </a:r>
            <a:r>
              <a:rPr lang="en-US" dirty="0">
                <a:sym typeface="Symbol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UNDERSTANDING NESTED QUANTIFIER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the statement</a:t>
            </a:r>
          </a:p>
          <a:p>
            <a:endParaRPr lang="en-US" dirty="0"/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x y (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 + 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= 0)</a:t>
            </a:r>
          </a:p>
          <a:p>
            <a:pPr algn="ctr">
              <a:buNone/>
            </a:pPr>
            <a:endParaRPr lang="en-US" dirty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Says that for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every </a:t>
            </a:r>
            <a:r>
              <a:rPr lang="en-US" dirty="0">
                <a:sym typeface="Symbol" pitchFamily="18" charset="2"/>
              </a:rPr>
              <a:t>real number x,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there is a</a:t>
            </a:r>
            <a:r>
              <a:rPr lang="en-US" dirty="0">
                <a:sym typeface="Symbol" pitchFamily="18" charset="2"/>
              </a:rPr>
              <a:t> real number y such that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x + y = 0. </a:t>
            </a:r>
          </a:p>
          <a:p>
            <a:endParaRPr lang="en-US" dirty="0">
              <a:solidFill>
                <a:srgbClr val="C00000"/>
              </a:solidFill>
              <a:sym typeface="Symbol" pitchFamily="18" charset="2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ym typeface="Symbol" pitchFamily="18" charset="2"/>
              </a:rPr>
              <a:t>Consider the statement:</a:t>
            </a:r>
          </a:p>
          <a:p>
            <a:endParaRPr lang="en-US" dirty="0"/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x y z (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 + (y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+ z) = (x + y) + z)</a:t>
            </a:r>
          </a:p>
          <a:p>
            <a:pPr algn="ctr">
              <a:buNone/>
            </a:pPr>
            <a:endParaRPr lang="en-US" dirty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Says that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every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real number has an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additive inverse.</a:t>
            </a:r>
          </a:p>
          <a:p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For example -5 	5</a:t>
            </a:r>
          </a:p>
          <a:p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-x		x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TRANSLATE INTO ENGLISH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7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Translate into English the statement:</a:t>
            </a:r>
          </a:p>
          <a:p>
            <a:endParaRPr lang="en-US" dirty="0"/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x  y ((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 &gt;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0) 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(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y &lt;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0) 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→ (</a:t>
            </a:r>
            <a:r>
              <a:rPr lang="en-US" dirty="0" err="1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xy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&lt; 0))</a:t>
            </a:r>
          </a:p>
          <a:p>
            <a:pPr algn="ctr">
              <a:buNone/>
            </a:pPr>
            <a:endParaRPr lang="en-US" sz="2400" dirty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r>
              <a:rPr lang="en-US" dirty="0">
                <a:cs typeface="Arial" charset="0"/>
                <a:sym typeface="Symbol" pitchFamily="18" charset="2"/>
              </a:rPr>
              <a:t>Where the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domain</a:t>
            </a:r>
            <a:r>
              <a:rPr lang="en-US" dirty="0">
                <a:cs typeface="Arial" charset="0"/>
                <a:sym typeface="Symbol" pitchFamily="18" charset="2"/>
              </a:rPr>
              <a:t> for both variables consists of all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real nos</a:t>
            </a:r>
            <a:r>
              <a:rPr lang="en-US" dirty="0">
                <a:cs typeface="Arial" charset="0"/>
                <a:sym typeface="Symbol" pitchFamily="18" charset="2"/>
              </a:rPr>
              <a:t>.</a:t>
            </a:r>
            <a:endParaRPr lang="en-US" dirty="0"/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	For all real number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 and for all real number </a:t>
            </a:r>
            <a:r>
              <a:rPr lang="en-US" dirty="0">
                <a:solidFill>
                  <a:srgbClr val="C00000"/>
                </a:solidFill>
              </a:rPr>
              <a:t>y</a:t>
            </a:r>
            <a:r>
              <a:rPr lang="en-US" dirty="0"/>
              <a:t>. If 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 &gt;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0 </a:t>
            </a:r>
            <a:r>
              <a:rPr lang="en-US" dirty="0">
                <a:sym typeface="Symbol" charset="2"/>
              </a:rPr>
              <a:t>and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y &lt;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0</a:t>
            </a:r>
            <a:r>
              <a:rPr lang="en-US" dirty="0">
                <a:sym typeface="Symbol" pitchFamily="18" charset="2"/>
              </a:rPr>
              <a:t>, then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err="1">
                <a:solidFill>
                  <a:srgbClr val="C00000"/>
                </a:solidFill>
                <a:cs typeface="Arial" charset="0"/>
                <a:sym typeface="Symbol" pitchFamily="18" charset="2"/>
              </a:rPr>
              <a:t>xy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 &lt; 0.</a:t>
            </a:r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>
                <a:solidFill>
                  <a:srgbClr val="002060"/>
                </a:solidFill>
                <a:cs typeface="Arial" charset="0"/>
                <a:sym typeface="Symbol" pitchFamily="18" charset="2"/>
              </a:rPr>
              <a:t>OR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>
                <a:cs typeface="Arial" charset="0"/>
                <a:sym typeface="Symbol" pitchFamily="18" charset="2"/>
              </a:rPr>
              <a:t>For all real number x and y. If x is positive real no. and y is negative real no, then </a:t>
            </a:r>
            <a:r>
              <a:rPr lang="en-US" dirty="0" err="1">
                <a:cs typeface="Arial" charset="0"/>
                <a:sym typeface="Symbol" pitchFamily="18" charset="2"/>
              </a:rPr>
              <a:t>xy</a:t>
            </a:r>
            <a:r>
              <a:rPr lang="en-US" dirty="0">
                <a:cs typeface="Arial" charset="0"/>
                <a:sym typeface="Symbol" pitchFamily="18" charset="2"/>
              </a:rPr>
              <a:t> is a negative.</a:t>
            </a:r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>
                <a:solidFill>
                  <a:srgbClr val="002060"/>
                </a:solidFill>
                <a:cs typeface="Arial" charset="0"/>
                <a:sym typeface="Symbol" pitchFamily="18" charset="2"/>
              </a:rPr>
              <a:t>OR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>
                <a:cs typeface="Arial" charset="0"/>
                <a:sym typeface="Symbol" pitchFamily="18" charset="2"/>
              </a:rPr>
              <a:t>The product of a positive real no. and a negative real no is always a negative real number.</a:t>
            </a:r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8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Translate into English the statement:</a:t>
            </a:r>
          </a:p>
          <a:p>
            <a:endParaRPr lang="en-US" dirty="0"/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x y ((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 ≥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0) 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(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y ≥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0) </a:t>
            </a:r>
            <a:r>
              <a:rPr lang="en-US" b="1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(</a:t>
            </a:r>
            <a:r>
              <a:rPr lang="en-US" dirty="0" err="1">
                <a:solidFill>
                  <a:srgbClr val="C00000"/>
                </a:solidFill>
                <a:cs typeface="Arial" charset="0"/>
                <a:sym typeface="Symbol" pitchFamily="18" charset="2"/>
              </a:rPr>
              <a:t>xy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≥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 0))</a:t>
            </a:r>
          </a:p>
          <a:p>
            <a:pPr algn="ctr">
              <a:buNone/>
            </a:pPr>
            <a:endParaRPr lang="en-US" sz="2400" dirty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r>
              <a:rPr lang="en-US" dirty="0">
                <a:cs typeface="Arial" charset="0"/>
                <a:sym typeface="Symbol" pitchFamily="18" charset="2"/>
              </a:rPr>
              <a:t>Where the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domain</a:t>
            </a:r>
            <a:r>
              <a:rPr lang="en-US" dirty="0">
                <a:cs typeface="Arial" charset="0"/>
                <a:sym typeface="Symbol" pitchFamily="18" charset="2"/>
              </a:rPr>
              <a:t> for both variables consists of all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real nos</a:t>
            </a:r>
            <a:r>
              <a:rPr lang="en-US" dirty="0">
                <a:cs typeface="Arial" charset="0"/>
                <a:sym typeface="Symbol" pitchFamily="18" charset="2"/>
              </a:rPr>
              <a:t>.</a:t>
            </a:r>
            <a:endParaRPr lang="en-US" dirty="0"/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	For all real number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 and for all real number </a:t>
            </a:r>
            <a:r>
              <a:rPr lang="en-US" dirty="0">
                <a:solidFill>
                  <a:srgbClr val="C00000"/>
                </a:solidFill>
              </a:rPr>
              <a:t>y</a:t>
            </a:r>
            <a:r>
              <a:rPr lang="en-US" dirty="0"/>
              <a:t>. If 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 ≥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0 </a:t>
            </a:r>
            <a:r>
              <a:rPr lang="en-US" dirty="0">
                <a:sym typeface="Symbol" charset="2"/>
              </a:rPr>
              <a:t>and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y ≥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0</a:t>
            </a:r>
            <a:r>
              <a:rPr lang="en-US" dirty="0">
                <a:sym typeface="Symbol" pitchFamily="18" charset="2"/>
              </a:rPr>
              <a:t>, then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err="1">
                <a:solidFill>
                  <a:srgbClr val="C00000"/>
                </a:solidFill>
                <a:cs typeface="Arial" charset="0"/>
                <a:sym typeface="Symbol" pitchFamily="18" charset="2"/>
              </a:rPr>
              <a:t>xy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≥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 0.</a:t>
            </a:r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>
                <a:solidFill>
                  <a:srgbClr val="002060"/>
                </a:solidFill>
                <a:cs typeface="Arial" charset="0"/>
                <a:sym typeface="Symbol" pitchFamily="18" charset="2"/>
              </a:rPr>
              <a:t>OR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>
                <a:solidFill>
                  <a:srgbClr val="00B050"/>
                </a:solidFill>
                <a:cs typeface="Arial" charset="0"/>
                <a:sym typeface="Symbol" pitchFamily="18" charset="2"/>
              </a:rPr>
              <a:t>For all real number x and y. If x is positive real no. and y is positive real no, then </a:t>
            </a:r>
            <a:r>
              <a:rPr lang="en-US" dirty="0" err="1">
                <a:solidFill>
                  <a:srgbClr val="00B050"/>
                </a:solidFill>
                <a:cs typeface="Arial" charset="0"/>
                <a:sym typeface="Symbol" pitchFamily="18" charset="2"/>
              </a:rPr>
              <a:t>xy</a:t>
            </a:r>
            <a:r>
              <a:rPr lang="en-US" dirty="0">
                <a:solidFill>
                  <a:srgbClr val="00B050"/>
                </a:solidFill>
                <a:cs typeface="Arial" charset="0"/>
                <a:sym typeface="Symbol" pitchFamily="18" charset="2"/>
              </a:rPr>
              <a:t> is a positive real number.</a:t>
            </a:r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>
                <a:solidFill>
                  <a:srgbClr val="002060"/>
                </a:solidFill>
                <a:cs typeface="Arial" charset="0"/>
                <a:sym typeface="Symbol" pitchFamily="18" charset="2"/>
              </a:rPr>
              <a:t>OR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>
                <a:solidFill>
                  <a:srgbClr val="00B050"/>
                </a:solidFill>
                <a:cs typeface="Arial" charset="0"/>
                <a:sym typeface="Symbol" pitchFamily="18" charset="2"/>
              </a:rPr>
              <a:t>The product of a positive real no. and a negative real no is always a positive real number.</a:t>
            </a:r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9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/>
              <a:t>Translate into English the statement</a:t>
            </a:r>
          </a:p>
          <a:p>
            <a:endParaRPr lang="en-US" dirty="0"/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 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(</a:t>
            </a:r>
            <a:r>
              <a:rPr lang="en-US" dirty="0" err="1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xy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=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y)</a:t>
            </a:r>
            <a:endParaRPr lang="en-US" dirty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pPr algn="ctr">
              <a:buNone/>
            </a:pPr>
            <a:endParaRPr lang="en-US" sz="2400" dirty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r>
              <a:rPr lang="en-US" dirty="0">
                <a:cs typeface="Arial" charset="0"/>
                <a:sym typeface="Symbol" pitchFamily="18" charset="2"/>
              </a:rPr>
              <a:t>Where the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domain</a:t>
            </a:r>
            <a:r>
              <a:rPr lang="en-US" dirty="0">
                <a:cs typeface="Arial" charset="0"/>
                <a:sym typeface="Symbol" pitchFamily="18" charset="2"/>
              </a:rPr>
              <a:t> for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both variables</a:t>
            </a:r>
            <a:r>
              <a:rPr lang="en-US" dirty="0">
                <a:cs typeface="Arial" charset="0"/>
                <a:sym typeface="Symbol" pitchFamily="18" charset="2"/>
              </a:rPr>
              <a:t> consists of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all real nos</a:t>
            </a:r>
            <a:r>
              <a:rPr lang="en-US" dirty="0">
                <a:cs typeface="Arial" charset="0"/>
                <a:sym typeface="Symbol" pitchFamily="18" charset="2"/>
              </a:rPr>
              <a:t>.</a:t>
            </a:r>
            <a:endParaRPr lang="en-US" dirty="0"/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	“</a:t>
            </a:r>
            <a:r>
              <a:rPr lang="en-US" dirty="0">
                <a:solidFill>
                  <a:srgbClr val="00B050"/>
                </a:solidFill>
              </a:rPr>
              <a:t>There exist a real number x for all real number y such that </a:t>
            </a:r>
            <a:r>
              <a:rPr lang="en-US" dirty="0" err="1">
                <a:solidFill>
                  <a:srgbClr val="00B050"/>
                </a:solidFill>
                <a:cs typeface="Arial" pitchFamily="34" charset="0"/>
                <a:sym typeface="Symbol" pitchFamily="18" charset="2"/>
              </a:rPr>
              <a:t>xy</a:t>
            </a:r>
            <a:r>
              <a:rPr lang="en-US" dirty="0">
                <a:solidFill>
                  <a:srgbClr val="00B050"/>
                </a:solidFill>
                <a:cs typeface="Arial" pitchFamily="34" charset="0"/>
                <a:sym typeface="Symbol" pitchFamily="18" charset="2"/>
              </a:rPr>
              <a:t> = y</a:t>
            </a:r>
            <a:r>
              <a:rPr lang="en-US" dirty="0">
                <a:cs typeface="Arial" charset="0"/>
                <a:sym typeface="Symbol" pitchFamily="18" charset="2"/>
              </a:rPr>
              <a:t>”</a:t>
            </a:r>
            <a:endParaRPr lang="en-US" dirty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10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/>
              <a:t>Translate into English the statement</a:t>
            </a:r>
          </a:p>
          <a:p>
            <a:endParaRPr lang="en-US" dirty="0"/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 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xyz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 =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y + z)</a:t>
            </a:r>
            <a:endParaRPr lang="en-US" dirty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pPr algn="ctr">
              <a:buNone/>
            </a:pPr>
            <a:endParaRPr lang="en-US" sz="2400" dirty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r>
              <a:rPr lang="en-US" dirty="0">
                <a:cs typeface="Arial" charset="0"/>
                <a:sym typeface="Symbol" pitchFamily="18" charset="2"/>
              </a:rPr>
              <a:t>Where the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domain</a:t>
            </a:r>
            <a:r>
              <a:rPr lang="en-US" dirty="0">
                <a:cs typeface="Arial" charset="0"/>
                <a:sym typeface="Symbol" pitchFamily="18" charset="2"/>
              </a:rPr>
              <a:t> for each variables consists of all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real nos</a:t>
            </a:r>
            <a:r>
              <a:rPr lang="en-US" dirty="0">
                <a:cs typeface="Arial" charset="0"/>
                <a:sym typeface="Symbol" pitchFamily="18" charset="2"/>
              </a:rPr>
              <a:t>.</a:t>
            </a:r>
            <a:endParaRPr lang="en-US" dirty="0"/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B050"/>
                </a:solidFill>
              </a:rPr>
              <a:t>“For every real number x and y, there exist a real number </a:t>
            </a:r>
          </a:p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     z such that </a:t>
            </a:r>
            <a:r>
              <a:rPr lang="en-US" dirty="0">
                <a:solidFill>
                  <a:srgbClr val="00B050"/>
                </a:solidFill>
                <a:cs typeface="Arial" pitchFamily="34" charset="0"/>
                <a:sym typeface="Symbol" pitchFamily="18" charset="2"/>
              </a:rPr>
              <a:t>x = y + z</a:t>
            </a:r>
            <a:r>
              <a:rPr lang="en-US" dirty="0">
                <a:solidFill>
                  <a:srgbClr val="00B050"/>
                </a:solidFill>
                <a:cs typeface="Arial" charset="0"/>
                <a:sym typeface="Symbol" pitchFamily="18" charset="2"/>
              </a:rPr>
              <a:t>.”</a:t>
            </a:r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11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/>
              <a:t>Translate into English the statement:</a:t>
            </a:r>
          </a:p>
          <a:p>
            <a:endParaRPr lang="en-US" dirty="0"/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 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(((x≠0)  (y≠0)) ↔ (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≠ 0))</a:t>
            </a:r>
            <a:endParaRPr lang="en-US" dirty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pPr algn="ctr">
              <a:buNone/>
            </a:pPr>
            <a:endParaRPr lang="en-US" sz="2400" dirty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r>
              <a:rPr lang="en-US" dirty="0">
                <a:cs typeface="Arial" charset="0"/>
                <a:sym typeface="Symbol" pitchFamily="18" charset="2"/>
              </a:rPr>
              <a:t>Where the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domain</a:t>
            </a:r>
            <a:r>
              <a:rPr lang="en-US" dirty="0">
                <a:cs typeface="Arial" charset="0"/>
                <a:sym typeface="Symbol" pitchFamily="18" charset="2"/>
              </a:rPr>
              <a:t> for each variables consists of all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real nos</a:t>
            </a:r>
            <a:r>
              <a:rPr lang="en-US" dirty="0">
                <a:cs typeface="Arial" charset="0"/>
                <a:sym typeface="Symbol" pitchFamily="18" charset="2"/>
              </a:rPr>
              <a:t>.</a:t>
            </a:r>
            <a:endParaRPr lang="en-US" dirty="0"/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B050"/>
                </a:solidFill>
              </a:rPr>
              <a:t>“The product of two non-zero numbers is non-zero if and only if, both numbers are non-zero.</a:t>
            </a:r>
            <a:r>
              <a:rPr lang="en-US" dirty="0">
                <a:solidFill>
                  <a:srgbClr val="00B050"/>
                </a:solidFill>
                <a:cs typeface="Arial" charset="0"/>
                <a:sym typeface="Symbol" pitchFamily="18" charset="2"/>
              </a:rPr>
              <a:t>”</a:t>
            </a:r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THE ORDER OF QUANTIFIERS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64DD2-416A-4C46-BB8D-D734F3C0719C}" type="slidenum">
              <a:rPr lang="en-US"/>
              <a:pPr/>
              <a:t>12</a:t>
            </a:fld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Many </a:t>
            </a:r>
            <a:r>
              <a:rPr lang="en-US" dirty="0">
                <a:solidFill>
                  <a:srgbClr val="C00000"/>
                </a:solidFill>
              </a:rPr>
              <a:t>mathematical statements</a:t>
            </a:r>
            <a:r>
              <a:rPr lang="en-US" dirty="0"/>
              <a:t> involve </a:t>
            </a:r>
            <a:r>
              <a:rPr lang="en-US" dirty="0">
                <a:solidFill>
                  <a:srgbClr val="C00000"/>
                </a:solidFill>
              </a:rPr>
              <a:t>multiple quantifications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propositional functions</a:t>
            </a:r>
            <a:r>
              <a:rPr lang="en-US" dirty="0"/>
              <a:t> involve more than </a:t>
            </a:r>
            <a:r>
              <a:rPr lang="en-US" dirty="0">
                <a:solidFill>
                  <a:srgbClr val="C00000"/>
                </a:solidFill>
              </a:rPr>
              <a:t>one variable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order of quantifiers</a:t>
            </a:r>
            <a:r>
              <a:rPr lang="en-US" dirty="0"/>
              <a:t> is important, unless all the </a:t>
            </a:r>
            <a:r>
              <a:rPr lang="en-US" dirty="0">
                <a:solidFill>
                  <a:srgbClr val="C00000"/>
                </a:solidFill>
              </a:rPr>
              <a:t>quantifiers</a:t>
            </a:r>
            <a:r>
              <a:rPr lang="en-US" dirty="0"/>
              <a:t> are </a:t>
            </a:r>
            <a:r>
              <a:rPr lang="en-US" dirty="0">
                <a:solidFill>
                  <a:srgbClr val="C00000"/>
                </a:solidFill>
              </a:rPr>
              <a:t>universal quantifiers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all are existential quantifiers</a:t>
            </a:r>
            <a:r>
              <a:rPr lang="en-US" dirty="0"/>
              <a:t>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Let </a:t>
            </a:r>
            <a:r>
              <a:rPr lang="en-US" dirty="0">
                <a:solidFill>
                  <a:srgbClr val="C00000"/>
                </a:solidFill>
              </a:rPr>
              <a:t>P(x, y)</a:t>
            </a:r>
            <a:r>
              <a:rPr lang="en-US" dirty="0"/>
              <a:t> be the statement “</a:t>
            </a:r>
            <a:r>
              <a:rPr lang="en-US" dirty="0">
                <a:solidFill>
                  <a:srgbClr val="C00000"/>
                </a:solidFill>
              </a:rPr>
              <a:t>x + y = y + x</a:t>
            </a:r>
            <a:r>
              <a:rPr lang="en-US" dirty="0"/>
              <a:t>”.  What are the </a:t>
            </a:r>
            <a:r>
              <a:rPr lang="en-US" dirty="0">
                <a:solidFill>
                  <a:srgbClr val="C00000"/>
                </a:solidFill>
              </a:rPr>
              <a:t>truth values</a:t>
            </a:r>
            <a:r>
              <a:rPr lang="en-US" dirty="0"/>
              <a:t> of the quantifications:</a:t>
            </a:r>
          </a:p>
          <a:p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		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P(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x,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y) </a:t>
            </a:r>
            <a:r>
              <a:rPr lang="en-US" dirty="0">
                <a:sym typeface="Symbol" pitchFamily="18" charset="2"/>
              </a:rPr>
              <a:t>and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yx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P(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x,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y)</a:t>
            </a:r>
          </a:p>
          <a:p>
            <a:pPr>
              <a:buNone/>
            </a:pPr>
            <a:endParaRPr lang="en-US" dirty="0">
              <a:solidFill>
                <a:srgbClr val="C00000"/>
              </a:solidFill>
              <a:sym typeface="Symbol" pitchFamily="18" charset="2"/>
            </a:endParaRP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>
                <a:sym typeface="Symbol" pitchFamily="18" charset="2"/>
              </a:rPr>
              <a:t>where the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domain </a:t>
            </a:r>
            <a:r>
              <a:rPr lang="en-US" dirty="0">
                <a:sym typeface="Symbol" pitchFamily="18" charset="2"/>
              </a:rPr>
              <a:t>for all variables consists of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all real numbers?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The quantification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P(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x,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y) </a:t>
            </a:r>
            <a:r>
              <a:rPr lang="en-US" dirty="0">
                <a:sym typeface="Symbol" pitchFamily="18" charset="2"/>
              </a:rPr>
              <a:t>denotes the proposition:</a:t>
            </a:r>
          </a:p>
          <a:p>
            <a:pPr>
              <a:buNone/>
            </a:pPr>
            <a:r>
              <a:rPr lang="en-US" dirty="0">
                <a:sym typeface="Symbol" pitchFamily="18" charset="2"/>
              </a:rPr>
              <a:t>	“</a:t>
            </a:r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For all real numbers x, for all real numbers y, </a:t>
            </a:r>
          </a:p>
          <a:p>
            <a:pPr>
              <a:buNone/>
            </a:pPr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	  x + y = y + x.</a:t>
            </a:r>
            <a:r>
              <a:rPr lang="en-US" dirty="0">
                <a:sym typeface="Symbol" pitchFamily="18" charset="2"/>
              </a:rPr>
              <a:t>”</a:t>
            </a:r>
          </a:p>
          <a:p>
            <a:pPr>
              <a:buNone/>
            </a:pPr>
            <a:endParaRPr lang="en-US" dirty="0">
              <a:sym typeface="Symbol" pitchFamily="18" charset="2"/>
            </a:endParaRPr>
          </a:p>
          <a:p>
            <a:pPr>
              <a:buNone/>
            </a:pPr>
            <a:r>
              <a:rPr lang="en-US" dirty="0">
                <a:sym typeface="Symbol" pitchFamily="18" charset="2"/>
              </a:rPr>
              <a:t>	</a:t>
            </a:r>
            <a:r>
              <a:rPr lang="en-US" dirty="0"/>
              <a:t> The quantification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yx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P(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x,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y) </a:t>
            </a:r>
            <a:r>
              <a:rPr lang="en-US" dirty="0">
                <a:sym typeface="Symbol" pitchFamily="18" charset="2"/>
              </a:rPr>
              <a:t>denotes the proposition:</a:t>
            </a:r>
          </a:p>
          <a:p>
            <a:pPr>
              <a:buNone/>
            </a:pPr>
            <a:r>
              <a:rPr lang="en-US" dirty="0">
                <a:sym typeface="Symbol" pitchFamily="18" charset="2"/>
              </a:rPr>
              <a:t>	“</a:t>
            </a:r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For all real numbers y, for all real numbers x,</a:t>
            </a:r>
          </a:p>
          <a:p>
            <a:pPr>
              <a:buNone/>
            </a:pPr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	  x + y = y + x.</a:t>
            </a:r>
            <a:r>
              <a:rPr lang="en-US" dirty="0">
                <a:sym typeface="Symbol" pitchFamily="18" charset="2"/>
              </a:rPr>
              <a:t>”</a:t>
            </a:r>
          </a:p>
          <a:p>
            <a:pPr>
              <a:buNone/>
            </a:pPr>
            <a:endParaRPr lang="en-US" dirty="0">
              <a:sym typeface="Symbol" pitchFamily="18" charset="2"/>
            </a:endParaRPr>
          </a:p>
          <a:p>
            <a:r>
              <a:rPr lang="en-US" dirty="0"/>
              <a:t>That is,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P(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x,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y) </a:t>
            </a:r>
            <a:r>
              <a:rPr lang="en-US" dirty="0">
                <a:sym typeface="Symbol" pitchFamily="18" charset="2"/>
              </a:rPr>
              <a:t>and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yx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P(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x,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y) </a:t>
            </a:r>
            <a:r>
              <a:rPr lang="en-US" dirty="0">
                <a:sym typeface="Symbol" pitchFamily="18" charset="2"/>
              </a:rPr>
              <a:t>have the same meaning and both are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>
                <a:sym typeface="Symbol" pitchFamily="18" charset="2"/>
              </a:rPr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Principle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ym typeface="Symbol" pitchFamily="18" charset="2"/>
              </a:rPr>
              <a:t>This illustrate the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principle </a:t>
            </a:r>
            <a:r>
              <a:rPr lang="en-US" dirty="0">
                <a:sym typeface="Symbol" pitchFamily="18" charset="2"/>
              </a:rPr>
              <a:t>that the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order of nested universal quantifiers </a:t>
            </a:r>
            <a:r>
              <a:rPr lang="en-US" dirty="0">
                <a:sym typeface="Symbol" pitchFamily="18" charset="2"/>
              </a:rPr>
              <a:t>in a statement without other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quantifiers </a:t>
            </a:r>
            <a:r>
              <a:rPr lang="en-US" dirty="0">
                <a:sym typeface="Symbol" pitchFamily="18" charset="2"/>
              </a:rPr>
              <a:t>can be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changed </a:t>
            </a:r>
            <a:r>
              <a:rPr lang="en-US" dirty="0">
                <a:sym typeface="Symbol" pitchFamily="18" charset="2"/>
              </a:rPr>
              <a:t>without changing the meaning of the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quantified </a:t>
            </a:r>
            <a:r>
              <a:rPr lang="en-US" dirty="0">
                <a:sym typeface="Symbol" pitchFamily="18" charset="2"/>
              </a:rPr>
              <a:t>statement.</a:t>
            </a:r>
          </a:p>
          <a:p>
            <a:pPr>
              <a:buNone/>
            </a:pPr>
            <a:endParaRPr lang="en-US" dirty="0">
              <a:solidFill>
                <a:srgbClr val="C00000"/>
              </a:solidFill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153400" cy="990600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33400" y="1219200"/>
            <a:ext cx="8153400" cy="5105400"/>
          </a:xfrm>
        </p:spPr>
        <p:txBody>
          <a:bodyPr>
            <a:normAutofit/>
          </a:bodyPr>
          <a:lstStyle/>
          <a:p>
            <a:r>
              <a:rPr lang="en-US" sz="2400" dirty="0"/>
              <a:t>Let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Q(x, y) </a:t>
            </a:r>
            <a:r>
              <a:rPr lang="en-US" sz="2400" dirty="0"/>
              <a:t>denote “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x + y = 0</a:t>
            </a:r>
            <a:r>
              <a:rPr lang="en-US" sz="2400" dirty="0"/>
              <a:t>”.  What are the truth values of the quantification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400" dirty="0" err="1">
                <a:solidFill>
                  <a:srgbClr val="C00000"/>
                </a:solidFill>
                <a:sym typeface="Symbol" pitchFamily="18" charset="2"/>
              </a:rPr>
              <a:t>yxQ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(x, y) </a:t>
            </a:r>
            <a:r>
              <a:rPr lang="en-US" sz="2400" dirty="0">
                <a:sym typeface="Symbol" pitchFamily="18" charset="2"/>
              </a:rPr>
              <a:t>and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 </a:t>
            </a:r>
            <a:r>
              <a:rPr lang="en-US" sz="2400" dirty="0" err="1">
                <a:solidFill>
                  <a:srgbClr val="C00000"/>
                </a:solidFill>
                <a:sym typeface="Symbol" pitchFamily="18" charset="2"/>
              </a:rPr>
              <a:t>xyQ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(x, y</a:t>
            </a:r>
            <a:r>
              <a:rPr lang="en-US" sz="2400" dirty="0">
                <a:sym typeface="Symbol" pitchFamily="18" charset="2"/>
              </a:rPr>
              <a:t>), where the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400" dirty="0">
                <a:sym typeface="Symbol" pitchFamily="18" charset="2"/>
              </a:rPr>
              <a:t> for all variables consists of all real numbers?</a:t>
            </a:r>
          </a:p>
          <a:p>
            <a:endParaRPr lang="en-US" sz="2400" dirty="0">
              <a:sym typeface="Symbol" pitchFamily="18" charset="2"/>
            </a:endParaRPr>
          </a:p>
          <a:p>
            <a:r>
              <a:rPr lang="en-US" sz="2400" dirty="0"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	</a:t>
            </a:r>
            <a:r>
              <a:rPr lang="en-US" sz="2400" dirty="0" err="1">
                <a:solidFill>
                  <a:srgbClr val="C00000"/>
                </a:solidFill>
                <a:sym typeface="Symbol" pitchFamily="18" charset="2"/>
              </a:rPr>
              <a:t>yxQ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(x, y) </a:t>
            </a:r>
            <a:r>
              <a:rPr lang="en-US" sz="2400" dirty="0">
                <a:sym typeface="Symbol" pitchFamily="18" charset="2"/>
              </a:rPr>
              <a:t>denotes the proposition:</a:t>
            </a:r>
          </a:p>
          <a:p>
            <a:pPr>
              <a:buNone/>
            </a:pPr>
            <a:endParaRPr lang="en-US" sz="2400" dirty="0">
              <a:sym typeface="Symbol" pitchFamily="18" charset="2"/>
            </a:endParaRPr>
          </a:p>
          <a:p>
            <a:pPr>
              <a:buNone/>
            </a:pPr>
            <a:r>
              <a:rPr lang="en-US" sz="2400" dirty="0">
                <a:solidFill>
                  <a:srgbClr val="00B050"/>
                </a:solidFill>
                <a:sym typeface="Symbol" pitchFamily="18" charset="2"/>
              </a:rPr>
              <a:t>	“There is a real number y such that for every real number x, </a:t>
            </a:r>
          </a:p>
          <a:p>
            <a:pPr>
              <a:buNone/>
            </a:pPr>
            <a:r>
              <a:rPr lang="en-US" sz="2400" dirty="0">
                <a:solidFill>
                  <a:srgbClr val="00B050"/>
                </a:solidFill>
                <a:sym typeface="Symbol" pitchFamily="18" charset="2"/>
              </a:rPr>
              <a:t>	  Q(x, y)”</a:t>
            </a:r>
          </a:p>
          <a:p>
            <a:endParaRPr lang="en-US" sz="2400" dirty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sz="2400" dirty="0">
                <a:sym typeface="Symbol" pitchFamily="18" charset="2"/>
              </a:rPr>
              <a:t>The statement is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400" dirty="0" err="1">
                <a:solidFill>
                  <a:srgbClr val="C00000"/>
                </a:solidFill>
                <a:sym typeface="Symbol" pitchFamily="18" charset="2"/>
              </a:rPr>
              <a:t>yxQ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(x, y) </a:t>
            </a:r>
            <a:r>
              <a:rPr lang="en-US" sz="2400" dirty="0">
                <a:sym typeface="Symbol" pitchFamily="18" charset="2"/>
              </a:rPr>
              <a:t>is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 false</a:t>
            </a:r>
            <a:r>
              <a:rPr lang="en-US" sz="2400" dirty="0">
                <a:sym typeface="Symbol" pitchFamily="18" charset="2"/>
              </a:rPr>
              <a:t>. Because what value of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y </a:t>
            </a:r>
            <a:r>
              <a:rPr lang="en-US" sz="2400" dirty="0">
                <a:sym typeface="Symbol" pitchFamily="18" charset="2"/>
              </a:rPr>
              <a:t>is chosen, there is only one value of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x </a:t>
            </a:r>
            <a:r>
              <a:rPr lang="en-US" sz="2400" dirty="0">
                <a:sym typeface="Symbol" pitchFamily="18" charset="2"/>
              </a:rPr>
              <a:t>for which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x + y = 0.</a:t>
            </a:r>
            <a:endParaRPr lang="en-US" sz="2400" dirty="0">
              <a:sym typeface="Symbol" pitchFamily="18" charset="2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quantification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xyQ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(x, y) </a:t>
            </a:r>
            <a:r>
              <a:rPr lang="en-US" dirty="0">
                <a:sym typeface="Symbol" pitchFamily="18" charset="2"/>
              </a:rPr>
              <a:t>denotes the proposition:</a:t>
            </a:r>
          </a:p>
          <a:p>
            <a:endParaRPr lang="en-US" dirty="0">
              <a:sym typeface="Symbol" pitchFamily="18" charset="2"/>
            </a:endParaRP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“For every real number x there is a real number y such </a:t>
            </a:r>
          </a:p>
          <a:p>
            <a:pPr>
              <a:buNone/>
            </a:pPr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	  that Q(x, y).”</a:t>
            </a:r>
          </a:p>
          <a:p>
            <a:pPr>
              <a:buNone/>
            </a:pPr>
            <a:endParaRPr lang="en-US" dirty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Given a real number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x</a:t>
            </a:r>
            <a:r>
              <a:rPr lang="en-US" dirty="0">
                <a:sym typeface="Symbol" pitchFamily="18" charset="2"/>
              </a:rPr>
              <a:t>, there is a real number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y </a:t>
            </a:r>
            <a:r>
              <a:rPr lang="en-US" dirty="0">
                <a:sym typeface="Symbol" pitchFamily="18" charset="2"/>
              </a:rPr>
              <a:t>such that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x + y = 0</a:t>
            </a:r>
            <a:r>
              <a:rPr lang="en-US" dirty="0">
                <a:sym typeface="Symbol" pitchFamily="18" charset="2"/>
              </a:rPr>
              <a:t>; namely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x = - y</a:t>
            </a:r>
            <a:r>
              <a:rPr lang="en-US" dirty="0">
                <a:sym typeface="Symbol" pitchFamily="18" charset="2"/>
              </a:rPr>
              <a:t>.</a:t>
            </a:r>
          </a:p>
          <a:p>
            <a:endParaRPr lang="en-US" dirty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Hence the statement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xyQ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(x, y) </a:t>
            </a:r>
            <a:r>
              <a:rPr lang="en-US" dirty="0">
                <a:sym typeface="Symbol" pitchFamily="18" charset="2"/>
              </a:rPr>
              <a:t>is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True.</a:t>
            </a:r>
          </a:p>
          <a:p>
            <a:endParaRPr lang="en-US" dirty="0">
              <a:solidFill>
                <a:srgbClr val="C00000"/>
              </a:solidFill>
              <a:sym typeface="Symbol" pitchFamily="18" charset="2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OBSERVATION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From these observations in previous example, it follows that if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yx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P(x, y) </a:t>
            </a:r>
            <a:r>
              <a:rPr lang="en-US" dirty="0">
                <a:sym typeface="Symbol" pitchFamily="18" charset="2"/>
              </a:rPr>
              <a:t>is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true, </a:t>
            </a:r>
            <a:r>
              <a:rPr lang="en-US" dirty="0">
                <a:sym typeface="Symbol" pitchFamily="18" charset="2"/>
              </a:rPr>
              <a:t>then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xyP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(x, y) </a:t>
            </a:r>
            <a:r>
              <a:rPr lang="en-US" dirty="0">
                <a:sym typeface="Symbol" pitchFamily="18" charset="2"/>
              </a:rPr>
              <a:t>must also be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true.</a:t>
            </a:r>
          </a:p>
          <a:p>
            <a:endParaRPr lang="en-US" dirty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However, If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P(x, y) </a:t>
            </a:r>
            <a:r>
              <a:rPr lang="en-US" dirty="0">
                <a:sym typeface="Symbol" pitchFamily="18" charset="2"/>
              </a:rPr>
              <a:t>is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true, </a:t>
            </a:r>
            <a:r>
              <a:rPr lang="en-US" dirty="0">
                <a:sym typeface="Symbol" pitchFamily="18" charset="2"/>
              </a:rPr>
              <a:t>it is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not </a:t>
            </a:r>
            <a:r>
              <a:rPr lang="en-US" dirty="0">
                <a:sym typeface="Symbol" pitchFamily="18" charset="2"/>
              </a:rPr>
              <a:t>necessary for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yx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P(x, y) </a:t>
            </a:r>
            <a:r>
              <a:rPr lang="en-US" dirty="0">
                <a:sym typeface="Symbol" pitchFamily="18" charset="2"/>
              </a:rPr>
              <a:t>to be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true.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788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192" y="1219200"/>
            <a:ext cx="8278831" cy="4023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Let </a:t>
            </a:r>
            <a:r>
              <a:rPr lang="en-US" dirty="0">
                <a:solidFill>
                  <a:srgbClr val="C00000"/>
                </a:solidFill>
              </a:rPr>
              <a:t>Q(x, y, z)</a:t>
            </a:r>
            <a:r>
              <a:rPr lang="en-US" dirty="0"/>
              <a:t> be the statement “</a:t>
            </a:r>
            <a:r>
              <a:rPr lang="en-US" dirty="0">
                <a:solidFill>
                  <a:srgbClr val="C00000"/>
                </a:solidFill>
              </a:rPr>
              <a:t>x + y = z.</a:t>
            </a:r>
            <a:r>
              <a:rPr lang="en-US" dirty="0"/>
              <a:t>” What are the </a:t>
            </a:r>
            <a:r>
              <a:rPr lang="en-US" dirty="0">
                <a:solidFill>
                  <a:srgbClr val="C00000"/>
                </a:solidFill>
              </a:rPr>
              <a:t>truth values</a:t>
            </a:r>
            <a:r>
              <a:rPr lang="en-US" dirty="0"/>
              <a:t> of the statement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xyz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Q(x, y, z)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zxy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Q(x, y, z)</a:t>
            </a:r>
            <a:r>
              <a:rPr lang="en-US" dirty="0"/>
              <a:t>, where the </a:t>
            </a:r>
            <a:r>
              <a:rPr lang="en-US" dirty="0">
                <a:solidFill>
                  <a:srgbClr val="C00000"/>
                </a:solidFill>
              </a:rPr>
              <a:t>domain</a:t>
            </a:r>
            <a:r>
              <a:rPr lang="en-US" dirty="0"/>
              <a:t> of all variables consists of </a:t>
            </a:r>
            <a:r>
              <a:rPr lang="en-US" dirty="0">
                <a:solidFill>
                  <a:srgbClr val="C00000"/>
                </a:solidFill>
              </a:rPr>
              <a:t>all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real numbers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b="1" u="sng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r>
              <a:rPr lang="en-US" dirty="0"/>
              <a:t>The quantification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xyz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Q(x, y, z) </a:t>
            </a:r>
            <a:r>
              <a:rPr lang="en-US" dirty="0">
                <a:sym typeface="Symbol" pitchFamily="18" charset="2"/>
              </a:rPr>
              <a:t>denotes that:</a:t>
            </a:r>
          </a:p>
          <a:p>
            <a:endParaRPr lang="en-US" dirty="0">
              <a:sym typeface="Symbol" pitchFamily="18" charset="2"/>
            </a:endParaRP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>
                <a:sym typeface="Symbol" pitchFamily="18" charset="2"/>
              </a:rPr>
              <a:t>“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For all real numbers x and for all real numbers y there is  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    a real number z such that x + y = z</a:t>
            </a:r>
            <a:r>
              <a:rPr lang="en-US" dirty="0">
                <a:sym typeface="Symbol" pitchFamily="18" charset="2"/>
              </a:rPr>
              <a:t>”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is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true.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									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zxy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Q(x, y, z) </a:t>
            </a:r>
            <a:r>
              <a:rPr lang="en-US" dirty="0">
                <a:sym typeface="Symbol" pitchFamily="18" charset="2"/>
              </a:rPr>
              <a:t>which is the statement:</a:t>
            </a:r>
          </a:p>
          <a:p>
            <a:endParaRPr lang="en-US" dirty="0">
              <a:sym typeface="Symbol" pitchFamily="18" charset="2"/>
            </a:endParaRP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>
                <a:sym typeface="Symbol" pitchFamily="18" charset="2"/>
              </a:rPr>
              <a:t>“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There is a real number z such that for all real numbers x and for all real numbers y such that x + y = z.</a:t>
            </a:r>
            <a:r>
              <a:rPr lang="en-US" dirty="0">
                <a:sym typeface="Symbol" pitchFamily="18" charset="2"/>
              </a:rPr>
              <a:t>”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is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False. </a:t>
            </a:r>
          </a:p>
          <a:p>
            <a:pPr>
              <a:buNone/>
            </a:pPr>
            <a:endParaRPr lang="en-US" dirty="0">
              <a:solidFill>
                <a:srgbClr val="C00000"/>
              </a:solidFill>
              <a:sym typeface="Symbol" pitchFamily="18" charset="2"/>
            </a:endParaRP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>
                <a:sym typeface="Symbol" pitchFamily="18" charset="2"/>
              </a:rPr>
              <a:t>Because there is no value of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z </a:t>
            </a:r>
            <a:r>
              <a:rPr lang="en-US" dirty="0">
                <a:sym typeface="Symbol" pitchFamily="18" charset="2"/>
              </a:rPr>
              <a:t>that satisfies the equation</a:t>
            </a:r>
          </a:p>
          <a:p>
            <a:pPr>
              <a:buNone/>
            </a:pPr>
            <a:r>
              <a:rPr lang="en-US" dirty="0">
                <a:sym typeface="Symbol" pitchFamily="18" charset="2"/>
              </a:rPr>
              <a:t>	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x + y = z.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300" b="1" u="sng" dirty="0">
                <a:solidFill>
                  <a:srgbClr val="0070C0"/>
                </a:solidFill>
              </a:rPr>
              <a:t>TRANSLATING MATHEMATICAL STATEMENTS INTO STATEMENTS INVOLVING NESTED QUANTIFIERS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C00000"/>
                </a:solidFill>
              </a:rPr>
              <a:t>EXAMPLE: </a:t>
            </a:r>
            <a:r>
              <a:rPr lang="en-US" sz="2400" dirty="0"/>
              <a:t> Translate the statement into a logical expression.</a:t>
            </a:r>
          </a:p>
          <a:p>
            <a:pPr algn="ctr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“The sum of two positive integers is always positive” </a:t>
            </a:r>
          </a:p>
          <a:p>
            <a:pPr algn="ctr">
              <a:buNone/>
            </a:pPr>
            <a:endParaRPr lang="en-US" sz="2400" dirty="0"/>
          </a:p>
          <a:p>
            <a:r>
              <a:rPr lang="en-US" sz="2300" b="1" u="sng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Step 1: </a:t>
            </a:r>
            <a:r>
              <a:rPr lang="en-US" sz="2400" dirty="0"/>
              <a:t>Rephrase it so that Quantifiers and Domain are shown:</a:t>
            </a:r>
          </a:p>
          <a:p>
            <a:pPr>
              <a:buNone/>
            </a:pPr>
            <a:r>
              <a:rPr lang="en-US" sz="2400" dirty="0"/>
              <a:t>	“</a:t>
            </a:r>
            <a:r>
              <a:rPr lang="en-US" sz="2400"/>
              <a:t>For every </a:t>
            </a:r>
            <a:r>
              <a:rPr lang="en-US" sz="2400" dirty="0"/>
              <a:t>two integers, if these integers are both positive, then the sum of these integers is positive.”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Step 2:</a:t>
            </a:r>
            <a:r>
              <a:rPr lang="en-US" sz="2400" dirty="0"/>
              <a:t> Introduce variables x and y.</a:t>
            </a:r>
          </a:p>
          <a:p>
            <a:pPr>
              <a:buNone/>
            </a:pPr>
            <a:r>
              <a:rPr lang="en-US" sz="2400" dirty="0"/>
              <a:t>	“For all positive integers x and y, if x &gt; 0 and y &gt; 0, then x + y </a:t>
            </a:r>
          </a:p>
          <a:p>
            <a:pPr>
              <a:buNone/>
            </a:pPr>
            <a:r>
              <a:rPr lang="en-US" sz="2400" dirty="0"/>
              <a:t>     is positive.”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Step 3:</a:t>
            </a:r>
            <a:r>
              <a:rPr lang="en-US" dirty="0"/>
              <a:t> Propositional Function</a:t>
            </a:r>
          </a:p>
          <a:p>
            <a:pPr>
              <a:buNone/>
            </a:pPr>
            <a:r>
              <a:rPr lang="en-US" dirty="0"/>
              <a:t>		P(x) = x &gt; 0</a:t>
            </a:r>
          </a:p>
          <a:p>
            <a:pPr>
              <a:buNone/>
            </a:pPr>
            <a:r>
              <a:rPr lang="en-US" dirty="0"/>
              <a:t>		Q(x) = y &gt; 0</a:t>
            </a:r>
          </a:p>
          <a:p>
            <a:pPr>
              <a:buNone/>
            </a:pPr>
            <a:r>
              <a:rPr lang="en-US" dirty="0"/>
              <a:t>		R(x) = x + y &gt; 0</a:t>
            </a:r>
          </a:p>
          <a:p>
            <a:pPr>
              <a:buNone/>
            </a:pPr>
            <a:r>
              <a:rPr lang="en-US" dirty="0"/>
              <a:t>		Domain =  All integers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Step 4: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	</a:t>
            </a:r>
            <a:r>
              <a:rPr lang="en-US" dirty="0">
                <a:sym typeface="Symbol" pitchFamily="18" charset="2"/>
              </a:rPr>
              <a:t></a:t>
            </a:r>
            <a:r>
              <a:rPr lang="en-US" dirty="0" err="1">
                <a:sym typeface="Symbol" pitchFamily="18" charset="2"/>
              </a:rPr>
              <a:t>xy</a:t>
            </a:r>
            <a:r>
              <a:rPr lang="en-US" dirty="0">
                <a:sym typeface="Symbol" pitchFamily="18" charset="2"/>
              </a:rPr>
              <a:t> ((</a:t>
            </a:r>
            <a:r>
              <a:rPr lang="en-US" dirty="0">
                <a:cs typeface="Arial" pitchFamily="34" charset="0"/>
                <a:sym typeface="Symbol" pitchFamily="18" charset="2"/>
              </a:rPr>
              <a:t>x &gt;</a:t>
            </a:r>
            <a:r>
              <a:rPr lang="en-US" dirty="0">
                <a:sym typeface="Symbol" pitchFamily="18" charset="2"/>
              </a:rPr>
              <a:t> 0) </a:t>
            </a:r>
            <a:r>
              <a:rPr lang="en-US" dirty="0">
                <a:sym typeface="Symbol" charset="2"/>
              </a:rPr>
              <a:t></a:t>
            </a:r>
            <a:r>
              <a:rPr lang="en-US" dirty="0">
                <a:sym typeface="Symbol" pitchFamily="18" charset="2"/>
              </a:rPr>
              <a:t> (</a:t>
            </a:r>
            <a:r>
              <a:rPr lang="en-US" dirty="0">
                <a:cs typeface="Arial" pitchFamily="34" charset="0"/>
                <a:sym typeface="Symbol" pitchFamily="18" charset="2"/>
              </a:rPr>
              <a:t>y &gt;</a:t>
            </a:r>
            <a:r>
              <a:rPr lang="en-US" dirty="0">
                <a:sym typeface="Symbol" pitchFamily="18" charset="2"/>
              </a:rPr>
              <a:t> 0) </a:t>
            </a:r>
            <a:r>
              <a:rPr lang="en-US" dirty="0">
                <a:cs typeface="Arial" pitchFamily="34" charset="0"/>
                <a:sym typeface="Symbol" pitchFamily="18" charset="2"/>
              </a:rPr>
              <a:t>→ (x + y &gt; 0))</a:t>
            </a:r>
          </a:p>
          <a:p>
            <a:pPr>
              <a:buNone/>
            </a:pPr>
            <a:r>
              <a:rPr lang="en-US" dirty="0">
                <a:cs typeface="Arial" pitchFamily="34" charset="0"/>
                <a:sym typeface="Symbol" pitchFamily="18" charset="2"/>
              </a:rPr>
              <a:t>		</a:t>
            </a:r>
            <a:r>
              <a:rPr lang="en-US" dirty="0">
                <a:sym typeface="Symbol" pitchFamily="18" charset="2"/>
              </a:rPr>
              <a:t> </a:t>
            </a:r>
            <a:r>
              <a:rPr lang="en-US" dirty="0" err="1">
                <a:sym typeface="Symbol" pitchFamily="18" charset="2"/>
              </a:rPr>
              <a:t>xy</a:t>
            </a:r>
            <a:r>
              <a:rPr lang="en-US" dirty="0">
                <a:sym typeface="Symbol" pitchFamily="18" charset="2"/>
              </a:rPr>
              <a:t> (P(x) </a:t>
            </a:r>
            <a:r>
              <a:rPr lang="en-US" dirty="0">
                <a:sym typeface="Symbol" charset="2"/>
              </a:rPr>
              <a:t></a:t>
            </a:r>
            <a:r>
              <a:rPr lang="en-US" dirty="0">
                <a:sym typeface="Symbol" pitchFamily="18" charset="2"/>
              </a:rPr>
              <a:t> Q(</a:t>
            </a:r>
            <a:r>
              <a:rPr lang="en-US" dirty="0">
                <a:cs typeface="Arial" pitchFamily="34" charset="0"/>
                <a:sym typeface="Symbol" pitchFamily="18" charset="2"/>
              </a:rPr>
              <a:t>y</a:t>
            </a:r>
            <a:r>
              <a:rPr lang="en-US" dirty="0">
                <a:sym typeface="Symbol" pitchFamily="18" charset="2"/>
              </a:rPr>
              <a:t>)) </a:t>
            </a:r>
            <a:r>
              <a:rPr lang="en-US" dirty="0">
                <a:cs typeface="Arial" pitchFamily="34" charset="0"/>
                <a:sym typeface="Symbol" pitchFamily="18" charset="2"/>
              </a:rPr>
              <a:t>→ R(x))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Translate the statement into a logical expression.</a:t>
            </a:r>
          </a:p>
          <a:p>
            <a:pPr algn="ctr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“Every real number except zero has a multiplicative inverse”</a:t>
            </a:r>
          </a:p>
          <a:p>
            <a:pPr algn="ctr">
              <a:buNone/>
            </a:pPr>
            <a:r>
              <a:rPr lang="en-US" sz="2400" dirty="0"/>
              <a:t>    (A multiplicative inverse of a real number x and y is </a:t>
            </a:r>
            <a:r>
              <a:rPr lang="en-US" sz="2400" dirty="0" err="1"/>
              <a:t>xy</a:t>
            </a:r>
            <a:r>
              <a:rPr lang="en-US" sz="2400" dirty="0"/>
              <a:t> = 1) </a:t>
            </a:r>
          </a:p>
          <a:p>
            <a:pPr algn="ctr">
              <a:buNone/>
            </a:pPr>
            <a:endParaRPr lang="en-US" sz="2400" dirty="0"/>
          </a:p>
          <a:p>
            <a:r>
              <a:rPr lang="en-US" b="1" u="sng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Step 1: </a:t>
            </a:r>
            <a:r>
              <a:rPr lang="en-US" sz="2400" dirty="0"/>
              <a:t> Rephrase</a:t>
            </a:r>
          </a:p>
          <a:p>
            <a:pPr>
              <a:buNone/>
            </a:pPr>
            <a:r>
              <a:rPr lang="en-US" sz="2400" dirty="0"/>
              <a:t>	“For every real number x except zero, x has a multiplicative inverse.”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Step 2:  </a:t>
            </a:r>
            <a:r>
              <a:rPr lang="en-US" sz="2400" dirty="0"/>
              <a:t>Introduce variables</a:t>
            </a:r>
          </a:p>
          <a:p>
            <a:pPr>
              <a:buNone/>
            </a:pPr>
            <a:r>
              <a:rPr lang="en-US" sz="2400" dirty="0"/>
              <a:t>	“For every real number x, if x ≠ 0, then there exists a real  number y such that </a:t>
            </a:r>
            <a:r>
              <a:rPr lang="en-US" sz="2400" dirty="0" err="1"/>
              <a:t>xy</a:t>
            </a:r>
            <a:r>
              <a:rPr lang="en-US" sz="2400" dirty="0"/>
              <a:t> = 1”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Step 3:</a:t>
            </a:r>
            <a:r>
              <a:rPr lang="en-US" dirty="0"/>
              <a:t> Propositional Function</a:t>
            </a:r>
          </a:p>
          <a:p>
            <a:pPr>
              <a:buNone/>
            </a:pPr>
            <a:r>
              <a:rPr lang="en-US" dirty="0"/>
              <a:t>		P(x) = </a:t>
            </a:r>
            <a:r>
              <a:rPr lang="en-US" dirty="0">
                <a:cs typeface="Arial" pitchFamily="34" charset="0"/>
                <a:sym typeface="Symbol" pitchFamily="18" charset="2"/>
              </a:rPr>
              <a:t>x ≠</a:t>
            </a:r>
            <a:r>
              <a:rPr lang="en-US" dirty="0">
                <a:sym typeface="Symbol" pitchFamily="18" charset="2"/>
              </a:rPr>
              <a:t> 0 </a:t>
            </a:r>
          </a:p>
          <a:p>
            <a:pPr>
              <a:buNone/>
            </a:pPr>
            <a:r>
              <a:rPr lang="en-US" dirty="0"/>
              <a:t>		Q(x) = </a:t>
            </a:r>
            <a:r>
              <a:rPr lang="en-US" dirty="0" err="1"/>
              <a:t>xy</a:t>
            </a:r>
            <a:r>
              <a:rPr lang="en-US" dirty="0"/>
              <a:t> = 1</a:t>
            </a:r>
          </a:p>
          <a:p>
            <a:pPr>
              <a:buNone/>
            </a:pPr>
            <a:r>
              <a:rPr lang="en-US" dirty="0"/>
              <a:t>		Domain =  All real numbers.</a:t>
            </a:r>
          </a:p>
          <a:p>
            <a:r>
              <a:rPr lang="en-US" dirty="0">
                <a:solidFill>
                  <a:srgbClr val="C00000"/>
                </a:solidFill>
              </a:rPr>
              <a:t>Step 4: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	   </a:t>
            </a:r>
            <a:r>
              <a:rPr lang="en-US" dirty="0">
                <a:sym typeface="Symbol" pitchFamily="18" charset="2"/>
              </a:rPr>
              <a:t>x ((</a:t>
            </a:r>
            <a:r>
              <a:rPr lang="en-US" dirty="0">
                <a:cs typeface="Arial" pitchFamily="34" charset="0"/>
                <a:sym typeface="Symbol" pitchFamily="18" charset="2"/>
              </a:rPr>
              <a:t>x ≠</a:t>
            </a:r>
            <a:r>
              <a:rPr lang="en-US" dirty="0">
                <a:sym typeface="Symbol" pitchFamily="18" charset="2"/>
              </a:rPr>
              <a:t> 0) </a:t>
            </a:r>
            <a:r>
              <a:rPr lang="en-US" dirty="0">
                <a:cs typeface="Arial" pitchFamily="34" charset="0"/>
                <a:sym typeface="Symbol" pitchFamily="18" charset="2"/>
              </a:rPr>
              <a:t>→ </a:t>
            </a:r>
            <a:r>
              <a:rPr lang="en-US" dirty="0">
                <a:sym typeface="Symbol" pitchFamily="18" charset="2"/>
              </a:rPr>
              <a:t>y</a:t>
            </a:r>
            <a:r>
              <a:rPr lang="en-US" dirty="0">
                <a:cs typeface="Arial" pitchFamily="34" charset="0"/>
                <a:sym typeface="Symbol" pitchFamily="18" charset="2"/>
              </a:rPr>
              <a:t>(</a:t>
            </a:r>
            <a:r>
              <a:rPr lang="en-US" dirty="0" err="1">
                <a:cs typeface="Arial" pitchFamily="34" charset="0"/>
                <a:sym typeface="Symbol" pitchFamily="18" charset="2"/>
              </a:rPr>
              <a:t>xy</a:t>
            </a:r>
            <a:r>
              <a:rPr lang="en-US" dirty="0">
                <a:cs typeface="Arial" pitchFamily="34" charset="0"/>
                <a:sym typeface="Symbol" pitchFamily="18" charset="2"/>
              </a:rPr>
              <a:t> = 1))</a:t>
            </a:r>
          </a:p>
          <a:p>
            <a:pPr>
              <a:buNone/>
            </a:pPr>
            <a:r>
              <a:rPr lang="en-US" dirty="0">
                <a:cs typeface="Arial" pitchFamily="34" charset="0"/>
                <a:sym typeface="Symbol" pitchFamily="18" charset="2"/>
              </a:rPr>
              <a:t>		</a:t>
            </a:r>
            <a:r>
              <a:rPr lang="en-US" dirty="0">
                <a:sym typeface="Symbol" pitchFamily="18" charset="2"/>
              </a:rPr>
              <a:t>   x (P(x) </a:t>
            </a:r>
            <a:r>
              <a:rPr lang="en-US" dirty="0">
                <a:cs typeface="Arial" pitchFamily="34" charset="0"/>
                <a:sym typeface="Symbol" pitchFamily="18" charset="2"/>
              </a:rPr>
              <a:t>→ </a:t>
            </a:r>
            <a:r>
              <a:rPr lang="en-US" dirty="0">
                <a:sym typeface="Symbol" pitchFamily="18" charset="2"/>
              </a:rPr>
              <a:t></a:t>
            </a:r>
            <a:r>
              <a:rPr lang="en-US" dirty="0" err="1">
                <a:sym typeface="Symbol" pitchFamily="18" charset="2"/>
              </a:rPr>
              <a:t>yQ</a:t>
            </a:r>
            <a:r>
              <a:rPr lang="en-US" dirty="0">
                <a:sym typeface="Symbol" pitchFamily="18" charset="2"/>
              </a:rPr>
              <a:t>(x)</a:t>
            </a:r>
            <a:r>
              <a:rPr lang="en-US" dirty="0">
                <a:cs typeface="Arial" pitchFamily="34" charset="0"/>
                <a:sym typeface="Symbol" pitchFamily="18" charset="2"/>
              </a:rPr>
              <a:t>)) 	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Translate the statement into a logical expression.</a:t>
            </a:r>
          </a:p>
          <a:p>
            <a:pPr algn="ctr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“The difference of two positive integers is not necessarily positive”</a:t>
            </a:r>
          </a:p>
          <a:p>
            <a:pPr algn="ctr">
              <a:buNone/>
            </a:pPr>
            <a:endParaRPr lang="en-US" sz="2400" dirty="0"/>
          </a:p>
          <a:p>
            <a:r>
              <a:rPr lang="en-US" b="1" u="sng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Step 1: </a:t>
            </a:r>
            <a:r>
              <a:rPr lang="en-US" sz="2400" dirty="0"/>
              <a:t> Rephrase</a:t>
            </a:r>
          </a:p>
          <a:p>
            <a:pPr>
              <a:buNone/>
            </a:pPr>
            <a:r>
              <a:rPr lang="en-US" sz="2400" dirty="0"/>
              <a:t>	“For every positive integers x and y,  the difference is not necessarily positive.”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Step 2: </a:t>
            </a:r>
          </a:p>
          <a:p>
            <a:pPr>
              <a:buNone/>
            </a:pPr>
            <a:r>
              <a:rPr lang="en-US" sz="2400" dirty="0"/>
              <a:t>	“For every real number x and y, the x – y &gt; 0 or x – y &lt; 0”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D109-7EBC-451C-BEA4-83FD0A3D7A20}" type="slidenum">
              <a:rPr lang="en-US"/>
              <a:pPr/>
              <a:t>27</a:t>
            </a:fld>
            <a:endParaRPr 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C00000"/>
                </a:solidFill>
              </a:rPr>
              <a:t>Step 3:</a:t>
            </a:r>
          </a:p>
          <a:p>
            <a:pPr algn="ctr">
              <a:buNone/>
            </a:pPr>
            <a:r>
              <a:rPr lang="en-US" dirty="0">
                <a:sym typeface="Symbol" pitchFamily="18" charset="2"/>
              </a:rPr>
              <a:t></a:t>
            </a:r>
            <a:r>
              <a:rPr lang="en-US" dirty="0" err="1">
                <a:sym typeface="Symbol" pitchFamily="18" charset="2"/>
              </a:rPr>
              <a:t>xy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sz="3200" dirty="0">
                <a:sym typeface="Symbol" pitchFamily="18" charset="2"/>
              </a:rPr>
              <a:t>(</a:t>
            </a:r>
            <a:r>
              <a:rPr lang="en-US" sz="3000" dirty="0">
                <a:sym typeface="Symbol" pitchFamily="18" charset="2"/>
              </a:rPr>
              <a:t>(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dirty="0">
                <a:cs typeface="Arial" pitchFamily="34" charset="0"/>
                <a:sym typeface="Symbol" pitchFamily="18" charset="2"/>
              </a:rPr>
              <a:t>x &gt;</a:t>
            </a:r>
            <a:r>
              <a:rPr lang="en-US" dirty="0">
                <a:sym typeface="Symbol" pitchFamily="18" charset="2"/>
              </a:rPr>
              <a:t> 0) </a:t>
            </a:r>
            <a:r>
              <a:rPr lang="en-US" b="1" dirty="0">
                <a:sym typeface="Symbol" charset="2"/>
              </a:rPr>
              <a:t></a:t>
            </a:r>
            <a:r>
              <a:rPr lang="en-US" dirty="0">
                <a:sym typeface="Symbol" charset="2"/>
              </a:rPr>
              <a:t> (y &gt; 0)</a:t>
            </a:r>
            <a:r>
              <a:rPr lang="en-US" sz="3000" dirty="0">
                <a:sym typeface="Symbol" charset="2"/>
              </a:rPr>
              <a:t>)</a:t>
            </a:r>
            <a:r>
              <a:rPr lang="en-US" dirty="0">
                <a:sym typeface="Symbol" pitchFamily="18" charset="2"/>
              </a:rPr>
              <a:t>  </a:t>
            </a:r>
            <a:r>
              <a:rPr lang="en-US" dirty="0">
                <a:cs typeface="Arial" pitchFamily="34" charset="0"/>
                <a:sym typeface="Symbol" pitchFamily="18" charset="2"/>
              </a:rPr>
              <a:t>→ </a:t>
            </a:r>
            <a:r>
              <a:rPr lang="en-US" sz="3000" dirty="0">
                <a:cs typeface="Arial" pitchFamily="34" charset="0"/>
                <a:sym typeface="Symbol" pitchFamily="18" charset="2"/>
              </a:rPr>
              <a:t>(</a:t>
            </a:r>
            <a:r>
              <a:rPr lang="en-US" dirty="0">
                <a:cs typeface="Arial" pitchFamily="34" charset="0"/>
                <a:sym typeface="Symbol" pitchFamily="18" charset="2"/>
              </a:rPr>
              <a:t>(x – y &gt; 0) </a:t>
            </a:r>
            <a:r>
              <a:rPr lang="en-US" b="1" dirty="0">
                <a:cs typeface="Arial" pitchFamily="34" charset="0"/>
                <a:sym typeface="Symbol" charset="2"/>
              </a:rPr>
              <a:t></a:t>
            </a:r>
            <a:r>
              <a:rPr lang="en-US" dirty="0">
                <a:cs typeface="Arial" pitchFamily="34" charset="0"/>
                <a:sym typeface="Symbol" charset="2"/>
              </a:rPr>
              <a:t> </a:t>
            </a:r>
            <a:r>
              <a:rPr lang="en-US" dirty="0">
                <a:cs typeface="Arial" pitchFamily="34" charset="0"/>
                <a:sym typeface="Symbol" pitchFamily="18" charset="2"/>
              </a:rPr>
              <a:t>(x – y &lt; 0)</a:t>
            </a:r>
            <a:r>
              <a:rPr lang="en-US" sz="3000" dirty="0">
                <a:cs typeface="Arial" pitchFamily="34" charset="0"/>
                <a:sym typeface="Symbol" pitchFamily="18" charset="2"/>
              </a:rPr>
              <a:t>)</a:t>
            </a:r>
            <a:r>
              <a:rPr lang="en-US" sz="3200" dirty="0">
                <a:cs typeface="Arial" pitchFamily="34" charset="0"/>
                <a:sym typeface="Symbol" pitchFamily="18" charset="2"/>
              </a:rPr>
              <a:t>)</a:t>
            </a:r>
          </a:p>
          <a:p>
            <a:pPr algn="ctr">
              <a:buNone/>
            </a:pPr>
            <a:endParaRPr lang="en-US" dirty="0">
              <a:cs typeface="Arial" pitchFamily="34" charset="0"/>
              <a:sym typeface="Symbol" pitchFamily="18" charset="2"/>
            </a:endParaRPr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OR</a:t>
            </a:r>
          </a:p>
          <a:p>
            <a:pPr algn="ctr">
              <a:buNone/>
            </a:pPr>
            <a:endParaRPr lang="en-US" dirty="0">
              <a:solidFill>
                <a:srgbClr val="C00000"/>
              </a:solidFill>
              <a:sym typeface="Symbol" pitchFamily="18" charset="2"/>
            </a:endParaRPr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sz="2800" dirty="0"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ym typeface="Symbol" pitchFamily="18" charset="2"/>
              </a:rPr>
              <a:t>x y ((</a:t>
            </a:r>
            <a:r>
              <a:rPr lang="en-US" dirty="0">
                <a:cs typeface="Arial" pitchFamily="34" charset="0"/>
                <a:sym typeface="Symbol" pitchFamily="18" charset="2"/>
              </a:rPr>
              <a:t>x &gt;</a:t>
            </a:r>
            <a:r>
              <a:rPr lang="en-US" dirty="0">
                <a:sym typeface="Symbol" pitchFamily="18" charset="2"/>
              </a:rPr>
              <a:t> 0) </a:t>
            </a:r>
            <a:r>
              <a:rPr lang="en-US" b="1" dirty="0">
                <a:sym typeface="Symbol" charset="2"/>
              </a:rPr>
              <a:t></a:t>
            </a:r>
            <a:r>
              <a:rPr lang="en-US" dirty="0">
                <a:sym typeface="Symbol" charset="2"/>
              </a:rPr>
              <a:t> (y &gt; 0)</a:t>
            </a:r>
            <a:r>
              <a:rPr lang="en-US" dirty="0">
                <a:sym typeface="Symbol" pitchFamily="18" charset="2"/>
              </a:rPr>
              <a:t>  </a:t>
            </a:r>
            <a:r>
              <a:rPr lang="en-US" dirty="0">
                <a:cs typeface="Arial" pitchFamily="34" charset="0"/>
                <a:sym typeface="Symbol" pitchFamily="18" charset="2"/>
              </a:rPr>
              <a:t>→ (x – y &gt; 0))</a:t>
            </a:r>
          </a:p>
          <a:p>
            <a:pPr algn="ctr">
              <a:buNone/>
            </a:pPr>
            <a:endParaRPr lang="en-US" sz="2400" dirty="0">
              <a:solidFill>
                <a:srgbClr val="C00000"/>
              </a:solidFill>
              <a:cs typeface="Arial" pitchFamily="34" charset="0"/>
              <a:sym typeface="Symbol" pitchFamily="18" charset="2"/>
            </a:endParaRPr>
          </a:p>
          <a:p>
            <a:pPr>
              <a:lnSpc>
                <a:spcPct val="90000"/>
              </a:lnSpc>
            </a:pPr>
            <a:endParaRPr lang="en-US" sz="2400" dirty="0">
              <a:sym typeface="Symbol" pitchFamily="18" charset="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Translate the statement into a logical expression.</a:t>
            </a:r>
          </a:p>
          <a:p>
            <a:pPr algn="ctr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“The absolute value of the product of two integers is the product of their absolute values.”</a:t>
            </a:r>
          </a:p>
          <a:p>
            <a:pPr algn="ctr">
              <a:buNone/>
            </a:pPr>
            <a:endParaRPr lang="en-US" sz="2400" dirty="0"/>
          </a:p>
          <a:p>
            <a:r>
              <a:rPr lang="en-US" b="1" u="sng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Step 1: </a:t>
            </a:r>
            <a:r>
              <a:rPr lang="en-US" sz="2400" dirty="0"/>
              <a:t> Rephrase</a:t>
            </a:r>
          </a:p>
          <a:p>
            <a:pPr>
              <a:buNone/>
            </a:pPr>
            <a:r>
              <a:rPr lang="en-US" sz="2400" dirty="0"/>
              <a:t>	“For every positive integers x and y,  the absolute value of product of two values  x and y is product of their absolute values.”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Step 2: </a:t>
            </a:r>
          </a:p>
          <a:p>
            <a:pPr>
              <a:buNone/>
            </a:pPr>
            <a:r>
              <a:rPr lang="en-US" sz="2400" dirty="0"/>
              <a:t>	“For every real number x and y, the |</a:t>
            </a:r>
            <a:r>
              <a:rPr lang="en-US" sz="2400" dirty="0" err="1"/>
              <a:t>x.y</a:t>
            </a:r>
            <a:r>
              <a:rPr lang="en-US" sz="2400" dirty="0"/>
              <a:t>| = |x||y|”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D109-7EBC-451C-BEA4-83FD0A3D7A20}" type="slidenum">
              <a:rPr lang="en-US"/>
              <a:pPr/>
              <a:t>29</a:t>
            </a:fld>
            <a:endParaRPr 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C00000"/>
                </a:solidFill>
              </a:rPr>
              <a:t>Step 3:</a:t>
            </a:r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>
                <a:cs typeface="Arial" pitchFamily="34" charset="0"/>
                <a:sym typeface="Symbol" pitchFamily="18" charset="2"/>
              </a:rPr>
              <a:t>x y (|</a:t>
            </a:r>
            <a:r>
              <a:rPr lang="en-US" dirty="0" err="1">
                <a:cs typeface="Arial" pitchFamily="34" charset="0"/>
                <a:sym typeface="Symbol" pitchFamily="18" charset="2"/>
              </a:rPr>
              <a:t>x.y</a:t>
            </a:r>
            <a:r>
              <a:rPr lang="en-US" dirty="0">
                <a:cs typeface="Arial" pitchFamily="34" charset="0"/>
                <a:sym typeface="Symbol" pitchFamily="18" charset="2"/>
              </a:rPr>
              <a:t>| = |x||y|)</a:t>
            </a:r>
          </a:p>
          <a:p>
            <a:pPr algn="ctr">
              <a:buNone/>
            </a:pPr>
            <a:endParaRPr lang="en-US" sz="2400" dirty="0">
              <a:solidFill>
                <a:srgbClr val="C00000"/>
              </a:solidFill>
              <a:cs typeface="Arial" pitchFamily="34" charset="0"/>
              <a:sym typeface="Symbol" pitchFamily="18" charset="2"/>
            </a:endParaRPr>
          </a:p>
          <a:p>
            <a:pPr algn="ctr">
              <a:buNone/>
            </a:pPr>
            <a:endParaRPr lang="en-US" sz="2400" dirty="0">
              <a:solidFill>
                <a:srgbClr val="C00000"/>
              </a:solidFill>
              <a:cs typeface="Arial" pitchFamily="34" charset="0"/>
              <a:sym typeface="Symbol" pitchFamily="18" charset="2"/>
            </a:endParaRPr>
          </a:p>
          <a:p>
            <a:pPr algn="ctr">
              <a:buNone/>
            </a:pPr>
            <a:endParaRPr lang="en-US" sz="2400" dirty="0">
              <a:solidFill>
                <a:srgbClr val="C00000"/>
              </a:solidFill>
              <a:sym typeface="Symbol" pitchFamily="18" charset="2"/>
            </a:endParaRPr>
          </a:p>
          <a:p>
            <a:pPr>
              <a:lnSpc>
                <a:spcPct val="90000"/>
              </a:lnSpc>
            </a:pPr>
            <a:endParaRPr lang="en-US" sz="2400" dirty="0">
              <a:sym typeface="Symbol" pitchFamily="18" charset="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4800" y="1219200"/>
            <a:ext cx="8610600" cy="5105400"/>
          </a:xfrm>
        </p:spPr>
        <p:txBody>
          <a:bodyPr>
            <a:noAutofit/>
          </a:bodyPr>
          <a:lstStyle/>
          <a:p>
            <a:r>
              <a:rPr lang="en-US" sz="2400" dirty="0"/>
              <a:t>Translate the statement into a logical expression.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</a:rPr>
              <a:t>	“Every positive integer is the sum of the squares of four integers.”</a:t>
            </a:r>
          </a:p>
          <a:p>
            <a:pPr algn="ctr">
              <a:buNone/>
            </a:pPr>
            <a:endParaRPr lang="en-US" sz="2400" dirty="0"/>
          </a:p>
          <a:p>
            <a:r>
              <a:rPr lang="en-US" sz="2400" b="1" u="sng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Step 1: </a:t>
            </a:r>
            <a:r>
              <a:rPr lang="en-US" sz="2400" dirty="0"/>
              <a:t> Rephrase</a:t>
            </a:r>
          </a:p>
          <a:p>
            <a:pPr>
              <a:buNone/>
            </a:pPr>
            <a:r>
              <a:rPr lang="en-US" sz="2400" dirty="0"/>
              <a:t>	“For every positive integers x , there exist four integers a, b, c and d such that every integer x is equal to sum of four integers.”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Step 2: </a:t>
            </a:r>
          </a:p>
          <a:p>
            <a:pPr>
              <a:buNone/>
            </a:pPr>
            <a:r>
              <a:rPr lang="en-US" sz="2400" dirty="0"/>
              <a:t>	“For every real number x, there exist four integers a, b, c and d  </a:t>
            </a:r>
          </a:p>
          <a:p>
            <a:pPr>
              <a:buNone/>
            </a:pPr>
            <a:r>
              <a:rPr lang="en-US" sz="2400" dirty="0"/>
              <a:t>     such that x = a</a:t>
            </a:r>
            <a:r>
              <a:rPr lang="en-US" sz="2400" dirty="0">
                <a:latin typeface="Arial"/>
                <a:cs typeface="Arial"/>
              </a:rPr>
              <a:t>²</a:t>
            </a:r>
            <a:r>
              <a:rPr lang="en-US" sz="2400" dirty="0"/>
              <a:t> + b</a:t>
            </a:r>
            <a:r>
              <a:rPr lang="en-US" sz="2400" dirty="0">
                <a:latin typeface="Arial"/>
                <a:cs typeface="Arial"/>
              </a:rPr>
              <a:t>²</a:t>
            </a:r>
            <a:r>
              <a:rPr lang="en-US" sz="2400" dirty="0"/>
              <a:t> + c</a:t>
            </a:r>
            <a:r>
              <a:rPr lang="en-US" sz="2400" dirty="0">
                <a:latin typeface="Arial"/>
                <a:cs typeface="Arial"/>
              </a:rPr>
              <a:t>²</a:t>
            </a:r>
            <a:r>
              <a:rPr lang="en-US" sz="2400" dirty="0"/>
              <a:t> + d</a:t>
            </a:r>
            <a:r>
              <a:rPr lang="en-US" sz="2400" dirty="0">
                <a:latin typeface="Arial"/>
                <a:cs typeface="Arial"/>
              </a:rPr>
              <a:t>²</a:t>
            </a:r>
            <a:r>
              <a:rPr lang="en-US" sz="2400" dirty="0"/>
              <a:t>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D109-7EBC-451C-BEA4-83FD0A3D7A20}" type="slidenum">
              <a:rPr lang="en-US"/>
              <a:pPr/>
              <a:t>31</a:t>
            </a:fld>
            <a:endParaRPr 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C00000"/>
                </a:solidFill>
              </a:rPr>
              <a:t>Step 3:</a:t>
            </a:r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>
                <a:sym typeface="Symbol" pitchFamily="18" charset="2"/>
              </a:rPr>
              <a:t>x a b c d ((</a:t>
            </a:r>
            <a:r>
              <a:rPr lang="en-US" dirty="0">
                <a:cs typeface="Arial" pitchFamily="34" charset="0"/>
                <a:sym typeface="Symbol" pitchFamily="18" charset="2"/>
              </a:rPr>
              <a:t>x &gt;</a:t>
            </a:r>
            <a:r>
              <a:rPr lang="en-US" dirty="0">
                <a:sym typeface="Symbol" pitchFamily="18" charset="2"/>
              </a:rPr>
              <a:t> 0) </a:t>
            </a:r>
            <a:r>
              <a:rPr lang="en-US" dirty="0">
                <a:cs typeface="Arial" pitchFamily="34" charset="0"/>
                <a:sym typeface="Symbol" pitchFamily="18" charset="2"/>
              </a:rPr>
              <a:t>→ </a:t>
            </a:r>
            <a:r>
              <a:rPr lang="en-US" sz="2800" dirty="0"/>
              <a:t>x = a</a:t>
            </a:r>
            <a:r>
              <a:rPr lang="en-US" sz="2800" dirty="0">
                <a:latin typeface="Arial"/>
                <a:cs typeface="Arial"/>
              </a:rPr>
              <a:t>²</a:t>
            </a:r>
            <a:r>
              <a:rPr lang="en-US" sz="2800" dirty="0"/>
              <a:t> + b</a:t>
            </a:r>
            <a:r>
              <a:rPr lang="en-US" sz="2800" dirty="0">
                <a:latin typeface="Arial"/>
                <a:cs typeface="Arial"/>
              </a:rPr>
              <a:t>²</a:t>
            </a:r>
            <a:r>
              <a:rPr lang="en-US" sz="2800" dirty="0"/>
              <a:t> + c</a:t>
            </a:r>
            <a:r>
              <a:rPr lang="en-US" sz="2800" dirty="0">
                <a:latin typeface="Arial"/>
                <a:cs typeface="Arial"/>
              </a:rPr>
              <a:t>²</a:t>
            </a:r>
            <a:r>
              <a:rPr lang="en-US" sz="2800" dirty="0"/>
              <a:t> + d</a:t>
            </a:r>
            <a:r>
              <a:rPr lang="en-US" sz="2800" dirty="0">
                <a:latin typeface="Arial"/>
                <a:cs typeface="Arial"/>
              </a:rPr>
              <a:t>²</a:t>
            </a:r>
            <a:r>
              <a:rPr lang="en-US" dirty="0">
                <a:cs typeface="Arial" pitchFamily="34" charset="0"/>
                <a:sym typeface="Symbol" pitchFamily="18" charset="2"/>
              </a:rPr>
              <a:t>)</a:t>
            </a:r>
          </a:p>
          <a:p>
            <a:pPr algn="ctr">
              <a:buNone/>
            </a:pPr>
            <a:endParaRPr lang="en-US" sz="3200" dirty="0">
              <a:solidFill>
                <a:srgbClr val="C00000"/>
              </a:solidFill>
              <a:cs typeface="Arial" pitchFamily="34" charset="0"/>
              <a:sym typeface="Symbol" pitchFamily="18" charset="2"/>
            </a:endParaRPr>
          </a:p>
          <a:p>
            <a:pPr>
              <a:lnSpc>
                <a:spcPct val="90000"/>
              </a:lnSpc>
            </a:pPr>
            <a:endParaRPr lang="en-US" sz="2400" dirty="0">
              <a:sym typeface="Symbol" pitchFamily="18" charset="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TRANSLATING FROM NESTED QUANTIFIERS INTO ENGLISH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Expression with nested quantifiers expressing statements in English can be quite complicated.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Step 1:</a:t>
            </a:r>
          </a:p>
          <a:p>
            <a:pPr>
              <a:buNone/>
            </a:pPr>
            <a:r>
              <a:rPr lang="en-US" dirty="0"/>
              <a:t>	Write out </a:t>
            </a:r>
            <a:r>
              <a:rPr lang="en-US" dirty="0">
                <a:solidFill>
                  <a:srgbClr val="C00000"/>
                </a:solidFill>
              </a:rPr>
              <a:t>Quantifiers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Predicates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Step 2:</a:t>
            </a:r>
          </a:p>
          <a:p>
            <a:pPr>
              <a:buNone/>
            </a:pPr>
            <a:r>
              <a:rPr lang="en-US" dirty="0"/>
              <a:t>	Express the meaning in </a:t>
            </a:r>
            <a:r>
              <a:rPr lang="en-US" dirty="0">
                <a:solidFill>
                  <a:srgbClr val="C00000"/>
                </a:solidFill>
              </a:rPr>
              <a:t>simple sentence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900" b="1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Translate the statement</a:t>
            </a:r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x (C(x) </a:t>
            </a:r>
            <a:r>
              <a:rPr lang="en-US" b="1" dirty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y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(C(y) 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F(</a:t>
            </a:r>
            <a:r>
              <a:rPr lang="en-US" dirty="0" err="1">
                <a:solidFill>
                  <a:srgbClr val="C00000"/>
                </a:solidFill>
                <a:sym typeface="Symbol" charset="2"/>
              </a:rPr>
              <a:t>x,y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))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)</a:t>
            </a:r>
          </a:p>
          <a:p>
            <a:pPr algn="ctr">
              <a:buNone/>
            </a:pPr>
            <a:endParaRPr lang="en-US" dirty="0">
              <a:solidFill>
                <a:srgbClr val="C00000"/>
              </a:solidFill>
              <a:cs typeface="Arial" pitchFamily="34" charset="0"/>
              <a:sym typeface="Symbol" pitchFamily="18" charset="2"/>
            </a:endParaRPr>
          </a:p>
          <a:p>
            <a:pPr>
              <a:buNone/>
            </a:pPr>
            <a:r>
              <a:rPr lang="en-US" dirty="0">
                <a:sym typeface="Symbol" pitchFamily="18" charset="2"/>
              </a:rPr>
              <a:t>	where 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	C(x) </a:t>
            </a:r>
            <a:r>
              <a:rPr lang="en-US" dirty="0">
                <a:cs typeface="Arial" pitchFamily="34" charset="0"/>
                <a:sym typeface="Symbol" pitchFamily="18" charset="2"/>
              </a:rPr>
              <a:t>= x has a computer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	F(x, y) </a:t>
            </a:r>
            <a:r>
              <a:rPr lang="en-US" dirty="0">
                <a:cs typeface="Arial" pitchFamily="34" charset="0"/>
                <a:sym typeface="Symbol" pitchFamily="18" charset="2"/>
              </a:rPr>
              <a:t>= x and y are friends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	Domain </a:t>
            </a:r>
            <a:r>
              <a:rPr lang="en-US" dirty="0">
                <a:cs typeface="Arial" pitchFamily="34" charset="0"/>
                <a:sym typeface="Symbol" pitchFamily="18" charset="2"/>
              </a:rPr>
              <a:t>= All students in the school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900" b="1" dirty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statement says that “</a:t>
            </a:r>
            <a:r>
              <a:rPr lang="en-US" dirty="0">
                <a:solidFill>
                  <a:srgbClr val="C00000"/>
                </a:solidFill>
              </a:rPr>
              <a:t>for every student x in your school, x has a computer or there is a student y such that y has a computer and x and y are friends</a:t>
            </a:r>
            <a:r>
              <a:rPr lang="en-US" dirty="0"/>
              <a:t>”.</a:t>
            </a:r>
          </a:p>
          <a:p>
            <a:endParaRPr lang="en-US" dirty="0"/>
          </a:p>
          <a:p>
            <a:r>
              <a:rPr lang="en-US" dirty="0"/>
              <a:t>In other words,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B050"/>
                </a:solidFill>
              </a:rPr>
              <a:t>Every student in your school has a computer or has a friend who has a computer.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900" b="1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Translate the statement</a:t>
            </a:r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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xyz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((F(x, y)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F(x, z) 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(y ≠ z)) 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→ </a:t>
            </a:r>
            <a:r>
              <a:rPr lang="en-US" sz="28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F(y, z))</a:t>
            </a:r>
          </a:p>
          <a:p>
            <a:pPr algn="ctr">
              <a:buNone/>
            </a:pPr>
            <a:endParaRPr lang="en-US" dirty="0">
              <a:solidFill>
                <a:srgbClr val="C00000"/>
              </a:solidFill>
              <a:cs typeface="Arial" pitchFamily="34" charset="0"/>
              <a:sym typeface="Symbol" pitchFamily="18" charset="2"/>
            </a:endParaRPr>
          </a:p>
          <a:p>
            <a:pPr>
              <a:buNone/>
            </a:pPr>
            <a:r>
              <a:rPr lang="en-US" dirty="0">
                <a:sym typeface="Symbol" pitchFamily="18" charset="2"/>
              </a:rPr>
              <a:t>	where 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	F(a, b) </a:t>
            </a:r>
            <a:r>
              <a:rPr lang="en-US" dirty="0">
                <a:cs typeface="Arial" pitchFamily="34" charset="0"/>
                <a:sym typeface="Symbol" pitchFamily="18" charset="2"/>
              </a:rPr>
              <a:t>= means a and b are friends.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	Domain </a:t>
            </a:r>
            <a:r>
              <a:rPr lang="en-US" dirty="0">
                <a:cs typeface="Arial" pitchFamily="34" charset="0"/>
                <a:sym typeface="Symbol" pitchFamily="18" charset="2"/>
              </a:rPr>
              <a:t>= all students in the school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900" b="1" dirty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First examine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((F(x, y)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F(x, z) 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(y ≠ z)) 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→ </a:t>
            </a:r>
            <a:r>
              <a:rPr lang="en-US" sz="28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F(y, z))</a:t>
            </a:r>
          </a:p>
          <a:p>
            <a:pPr>
              <a:buNone/>
            </a:pPr>
            <a:r>
              <a:rPr lang="en-US" dirty="0">
                <a:cs typeface="Arial" pitchFamily="34" charset="0"/>
                <a:sym typeface="Symbol" pitchFamily="18" charset="2"/>
              </a:rPr>
              <a:t>	This expression says that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dirty="0"/>
              <a:t>“</a:t>
            </a:r>
            <a:r>
              <a:rPr lang="en-US" dirty="0">
                <a:solidFill>
                  <a:srgbClr val="C00000"/>
                </a:solidFill>
              </a:rPr>
              <a:t>if student x and y are friends and student x and z are friends, and furthermore if y and z are not same student, then y and z are not friends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It follows that the original statement, which is triply quantified, says that</a:t>
            </a:r>
          </a:p>
          <a:p>
            <a:pPr>
              <a:buNone/>
            </a:pPr>
            <a:r>
              <a:rPr lang="en-US" dirty="0"/>
              <a:t>	“</a:t>
            </a:r>
            <a:r>
              <a:rPr lang="en-US" dirty="0">
                <a:solidFill>
                  <a:srgbClr val="00B050"/>
                </a:solidFill>
              </a:rPr>
              <a:t>There is a student x such that for all students y and for all students z. If student x and y are friends and student x and z are friends furthermore, student y are not the same, then y and z are not friends.</a:t>
            </a:r>
            <a:r>
              <a:rPr lang="en-US" dirty="0"/>
              <a:t>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900" b="1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Translate the statement</a:t>
            </a:r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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xyz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(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(x ≠ y)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 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 (W(x, z) 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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W(y, z)))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</a:t>
            </a:r>
            <a:r>
              <a:rPr lang="en-US" dirty="0">
                <a:cs typeface="Arial" pitchFamily="34" charset="0"/>
                <a:sym typeface="Symbol" pitchFamily="18" charset="2"/>
              </a:rPr>
              <a:t>where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W(x, z) </a:t>
            </a:r>
            <a:r>
              <a:rPr lang="en-US" dirty="0">
                <a:sym typeface="Symbol" pitchFamily="18" charset="2"/>
              </a:rPr>
              <a:t>= student x has visited website z.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Domain for x and y </a:t>
            </a:r>
            <a:r>
              <a:rPr lang="en-US" dirty="0">
                <a:sym typeface="Symbol" pitchFamily="18" charset="2"/>
              </a:rPr>
              <a:t>= All students in the school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Domain for z </a:t>
            </a:r>
            <a:r>
              <a:rPr lang="en-US" dirty="0">
                <a:sym typeface="Symbol" pitchFamily="18" charset="2"/>
              </a:rPr>
              <a:t>= All websites</a:t>
            </a:r>
            <a:r>
              <a:rPr lang="en-US" dirty="0">
                <a:cs typeface="Arial" pitchFamily="34" charset="0"/>
                <a:sym typeface="Symbol" pitchFamily="18" charset="2"/>
              </a:rPr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900" b="1" dirty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First examine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(x ≠ y)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 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 (W(x, z) 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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W(y, z)))</a:t>
            </a:r>
          </a:p>
          <a:p>
            <a:pPr>
              <a:buNone/>
            </a:pPr>
            <a:r>
              <a:rPr lang="en-US" dirty="0">
                <a:sym typeface="Symbol" pitchFamily="18" charset="2"/>
              </a:rPr>
              <a:t>	This expression says that: </a:t>
            </a:r>
            <a:r>
              <a:rPr lang="en-US" dirty="0"/>
              <a:t>“</a:t>
            </a:r>
            <a:r>
              <a:rPr lang="en-US" dirty="0">
                <a:solidFill>
                  <a:srgbClr val="C00000"/>
                </a:solidFill>
              </a:rPr>
              <a:t>x and y are not the same and student x has visited a website z if and only if student y has visited a website z.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It follows that the original statement, which is triply quantified, says that:</a:t>
            </a:r>
          </a:p>
          <a:p>
            <a:pPr>
              <a:buNone/>
            </a:pPr>
            <a:r>
              <a:rPr lang="en-US" dirty="0"/>
              <a:t>	“</a:t>
            </a:r>
            <a:r>
              <a:rPr lang="en-US" dirty="0">
                <a:solidFill>
                  <a:srgbClr val="00B050"/>
                </a:solidFill>
              </a:rPr>
              <a:t>There exist some student x and y such that for all websites z, both x and y are different, the student x visited website z if and only if student y has visited the same website z</a:t>
            </a:r>
            <a:r>
              <a:rPr lang="en-US" dirty="0"/>
              <a:t>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 other words,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Two different people who have visited the exactly same website.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900" b="1" dirty="0">
                <a:solidFill>
                  <a:srgbClr val="0070C0"/>
                </a:solidFill>
              </a:rPr>
              <a:t>TRANSLATING ENGLISH SENTENCES INTO LOGICAL EXPRESSIONS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Example: </a:t>
            </a:r>
            <a:r>
              <a:rPr lang="en-US" dirty="0"/>
              <a:t>Express the statement as a logical expression involving predicates and quantifiers with a domain consisting of all people.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	“</a:t>
            </a:r>
            <a:r>
              <a:rPr lang="en-US" dirty="0">
                <a:solidFill>
                  <a:srgbClr val="C00000"/>
                </a:solidFill>
              </a:rPr>
              <a:t>If a person is female and is a parent, then this person is someone’s mother.</a:t>
            </a:r>
            <a:r>
              <a:rPr lang="en-US" dirty="0"/>
              <a:t>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Step 1: </a:t>
            </a:r>
            <a:r>
              <a:rPr lang="en-US" dirty="0"/>
              <a:t>Rephrase so that domain and quantifier can be shown.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“</a:t>
            </a:r>
            <a:r>
              <a:rPr lang="en-US" dirty="0">
                <a:solidFill>
                  <a:srgbClr val="C00000"/>
                </a:solidFill>
              </a:rPr>
              <a:t>For every person, if person is female and person is parent, then there exist a person such that person is the mother of person.</a:t>
            </a:r>
            <a:r>
              <a:rPr lang="en-US" dirty="0"/>
              <a:t>”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Step 2:</a:t>
            </a:r>
            <a:r>
              <a:rPr lang="en-US" dirty="0"/>
              <a:t> Introducing variables.</a:t>
            </a:r>
          </a:p>
          <a:p>
            <a:pPr>
              <a:buNone/>
            </a:pPr>
            <a:r>
              <a:rPr lang="en-US" dirty="0"/>
              <a:t>	“</a:t>
            </a:r>
            <a:r>
              <a:rPr lang="en-US" dirty="0">
                <a:solidFill>
                  <a:srgbClr val="00B050"/>
                </a:solidFill>
              </a:rPr>
              <a:t>For every person x, if person x is female and person x is parent, then there exist a person y such that person x is the mother of person y. </a:t>
            </a:r>
            <a:r>
              <a:rPr lang="en-US" dirty="0"/>
              <a:t>”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Step 3:</a:t>
            </a:r>
            <a:r>
              <a:rPr lang="en-US" dirty="0"/>
              <a:t> Propositional Function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F(x) =</a:t>
            </a:r>
            <a:r>
              <a:rPr lang="en-US" dirty="0"/>
              <a:t> x is female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P(x) =</a:t>
            </a:r>
            <a:r>
              <a:rPr lang="en-US" dirty="0"/>
              <a:t> x is a parent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M(x, y) =</a:t>
            </a:r>
            <a:r>
              <a:rPr lang="en-US" dirty="0"/>
              <a:t> x is the mother of y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Step 4:</a:t>
            </a:r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>
                <a:sym typeface="Symbol" pitchFamily="18" charset="2"/>
              </a:rPr>
              <a:t>x ((F(x)</a:t>
            </a:r>
            <a:r>
              <a:rPr lang="en-US" dirty="0"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>
                <a:sym typeface="Symbol" charset="2"/>
              </a:rPr>
              <a:t> </a:t>
            </a:r>
            <a:r>
              <a:rPr lang="en-US" dirty="0">
                <a:sym typeface="Symbol" charset="2"/>
              </a:rPr>
              <a:t>P(x)) </a:t>
            </a:r>
            <a:r>
              <a:rPr lang="en-US" dirty="0">
                <a:cs typeface="Arial" pitchFamily="34" charset="0"/>
                <a:sym typeface="Symbol" pitchFamily="18" charset="2"/>
              </a:rPr>
              <a:t>→ </a:t>
            </a:r>
            <a:r>
              <a:rPr lang="en-US" dirty="0">
                <a:sym typeface="Symbol" pitchFamily="18" charset="2"/>
              </a:rPr>
              <a:t>y M</a:t>
            </a:r>
            <a:r>
              <a:rPr lang="en-US" dirty="0">
                <a:cs typeface="Arial" pitchFamily="34" charset="0"/>
                <a:sym typeface="Symbol" pitchFamily="18" charset="2"/>
              </a:rPr>
              <a:t>(x, y)</a:t>
            </a:r>
          </a:p>
          <a:p>
            <a:pPr algn="ctr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OR</a:t>
            </a:r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>
                <a:sym typeface="Symbol" pitchFamily="18" charset="2"/>
              </a:rPr>
              <a:t>x y(((F(x)</a:t>
            </a:r>
            <a:r>
              <a:rPr lang="en-US" dirty="0"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>
                <a:sym typeface="Symbol" charset="2"/>
              </a:rPr>
              <a:t> </a:t>
            </a:r>
            <a:r>
              <a:rPr lang="en-US" dirty="0">
                <a:sym typeface="Symbol" charset="2"/>
              </a:rPr>
              <a:t>P(x)) </a:t>
            </a:r>
            <a:r>
              <a:rPr lang="en-US" dirty="0">
                <a:cs typeface="Arial" pitchFamily="34" charset="0"/>
                <a:sym typeface="Symbol" pitchFamily="18" charset="2"/>
              </a:rPr>
              <a:t>→ </a:t>
            </a:r>
            <a:r>
              <a:rPr lang="en-US" dirty="0">
                <a:sym typeface="Symbol" pitchFamily="18" charset="2"/>
              </a:rPr>
              <a:t>M</a:t>
            </a:r>
            <a:r>
              <a:rPr lang="en-US" dirty="0">
                <a:cs typeface="Arial" pitchFamily="34" charset="0"/>
                <a:sym typeface="Symbol" pitchFamily="18" charset="2"/>
              </a:rPr>
              <a:t>(x, y))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Let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S(x) =</a:t>
            </a:r>
            <a:r>
              <a:rPr lang="en-US" dirty="0"/>
              <a:t> “x is a student”</a:t>
            </a:r>
          </a:p>
          <a:p>
            <a:pPr>
              <a:buNone/>
            </a:pPr>
            <a:r>
              <a:rPr lang="en-US" dirty="0"/>
              <a:t>   </a:t>
            </a:r>
            <a:r>
              <a:rPr lang="en-US" dirty="0">
                <a:solidFill>
                  <a:srgbClr val="C00000"/>
                </a:solidFill>
              </a:rPr>
              <a:t>F(x) =</a:t>
            </a:r>
            <a:r>
              <a:rPr lang="en-US" dirty="0"/>
              <a:t> “x is a faculty member”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A(x, y) =</a:t>
            </a:r>
            <a:r>
              <a:rPr lang="en-US" dirty="0"/>
              <a:t> “x has asked y a question”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Domain =</a:t>
            </a:r>
            <a:r>
              <a:rPr lang="en-US" dirty="0"/>
              <a:t> all people associated with your school.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Use </a:t>
            </a:r>
            <a:r>
              <a:rPr lang="en-US" dirty="0">
                <a:solidFill>
                  <a:srgbClr val="C00000"/>
                </a:solidFill>
              </a:rPr>
              <a:t>quantifiers</a:t>
            </a:r>
            <a:r>
              <a:rPr lang="en-US" dirty="0"/>
              <a:t> to express each of these </a:t>
            </a:r>
            <a:r>
              <a:rPr lang="en-US" dirty="0">
                <a:solidFill>
                  <a:srgbClr val="C00000"/>
                </a:solidFill>
              </a:rPr>
              <a:t>statements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34440"/>
            <a:ext cx="8686800" cy="493776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Lois has asked Professor Michaels a question.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A(Lois, Professor Michaels)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Every Student has asked Professor Gross a question.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sym typeface="Symbol" pitchFamily="18" charset="2"/>
              </a:rPr>
              <a:t>x (S(x)</a:t>
            </a:r>
            <a:r>
              <a:rPr lang="en-US" sz="2400" dirty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 → A(x, Professor Gross))</a:t>
            </a:r>
          </a:p>
          <a:p>
            <a:endParaRPr lang="en-US" dirty="0">
              <a:solidFill>
                <a:srgbClr val="C00000"/>
              </a:solidFill>
              <a:cs typeface="Arial" pitchFamily="34" charset="0"/>
              <a:sym typeface="Symbol" pitchFamily="18" charset="2"/>
            </a:endParaRPr>
          </a:p>
          <a:p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Every faculty member has either asked Professor Miller a question or been asked a question by Prof. Miller.</a:t>
            </a:r>
            <a:endParaRPr lang="en-US" dirty="0">
              <a:solidFill>
                <a:srgbClr val="C00000"/>
              </a:solidFill>
              <a:sym typeface="Symbol" charset="2"/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  <a:sym typeface="Symbol" pitchFamily="18" charset="2"/>
              </a:rPr>
              <a:t>x (F(x)</a:t>
            </a:r>
            <a:r>
              <a:rPr lang="en-US" sz="2400" dirty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 → (A(x, Professor Miller) </a:t>
            </a:r>
            <a:r>
              <a:rPr lang="en-US" sz="2400" b="1" dirty="0">
                <a:solidFill>
                  <a:schemeClr val="tx1"/>
                </a:solidFill>
                <a:cs typeface="Arial" pitchFamily="34" charset="0"/>
                <a:sym typeface="Symbol" charset="2"/>
              </a:rPr>
              <a:t> </a:t>
            </a:r>
            <a:r>
              <a:rPr lang="en-US" sz="2400" dirty="0">
                <a:solidFill>
                  <a:schemeClr val="tx1"/>
                </a:solidFill>
                <a:cs typeface="Arial" pitchFamily="34" charset="0"/>
                <a:sym typeface="Symbol" charset="2"/>
              </a:rPr>
              <a:t>A(Professor Miller, x)</a:t>
            </a:r>
            <a:r>
              <a:rPr lang="en-US" sz="2400" dirty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))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65574" cy="4937760"/>
          </a:xfrm>
        </p:spPr>
        <p:txBody>
          <a:bodyPr/>
          <a:lstStyle/>
          <a:p>
            <a:r>
              <a:rPr lang="en-US" dirty="0"/>
              <a:t>Some student has not asked any faculty member a question.</a:t>
            </a:r>
          </a:p>
          <a:p>
            <a:pPr lvl="1"/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x (S(x) </a:t>
            </a:r>
            <a:r>
              <a:rPr lang="en-US" sz="2400" b="1" dirty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400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y</a:t>
            </a:r>
            <a:r>
              <a:rPr lang="en-US" sz="2400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(F(y) →</a:t>
            </a:r>
            <a:r>
              <a:rPr lang="en-US" sz="24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</a:t>
            </a:r>
            <a:r>
              <a:rPr lang="en-US" sz="2400" dirty="0">
                <a:solidFill>
                  <a:srgbClr val="C00000"/>
                </a:solidFill>
                <a:cs typeface="Arial" pitchFamily="34" charset="0"/>
                <a:sym typeface="Symbol" charset="2"/>
              </a:rPr>
              <a:t>A(x, y)))</a:t>
            </a:r>
          </a:p>
          <a:p>
            <a:endParaRPr lang="en-US" dirty="0">
              <a:cs typeface="Arial" pitchFamily="34" charset="0"/>
              <a:sym typeface="Symbol" charset="2"/>
            </a:endParaRPr>
          </a:p>
          <a:p>
            <a:r>
              <a:rPr lang="en-US" dirty="0">
                <a:cs typeface="Arial" pitchFamily="34" charset="0"/>
                <a:sym typeface="Symbol" charset="2"/>
              </a:rPr>
              <a:t>There is a faculty member who has never been asked a question by a student.</a:t>
            </a:r>
          </a:p>
          <a:p>
            <a:pPr lvl="1"/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x (F(x) </a:t>
            </a:r>
            <a:r>
              <a:rPr lang="en-US" sz="2400" b="1" dirty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400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y</a:t>
            </a:r>
            <a:r>
              <a:rPr lang="en-US" sz="2400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(S(y) →</a:t>
            </a:r>
            <a:r>
              <a:rPr lang="en-US" sz="24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</a:t>
            </a:r>
            <a:r>
              <a:rPr lang="en-US" sz="2400" dirty="0">
                <a:solidFill>
                  <a:srgbClr val="C00000"/>
                </a:solidFill>
                <a:cs typeface="Arial" pitchFamily="34" charset="0"/>
                <a:sym typeface="Symbol" charset="2"/>
              </a:rPr>
              <a:t>A(y, x)))</a:t>
            </a:r>
          </a:p>
          <a:p>
            <a:endParaRPr lang="en-US" dirty="0">
              <a:cs typeface="Arial" pitchFamily="34" charset="0"/>
              <a:sym typeface="Symbol" charset="2"/>
            </a:endParaRPr>
          </a:p>
          <a:p>
            <a:r>
              <a:rPr lang="en-US" dirty="0">
                <a:cs typeface="Arial" pitchFamily="34" charset="0"/>
                <a:sym typeface="Symbol" charset="2"/>
              </a:rPr>
              <a:t>Some student has asked every faculty member a question.</a:t>
            </a:r>
          </a:p>
          <a:p>
            <a:pPr lvl="1"/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y (F(y) </a:t>
            </a:r>
            <a:r>
              <a:rPr lang="en-US" sz="2400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→</a:t>
            </a:r>
            <a:r>
              <a:rPr lang="en-US" sz="24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sz="2400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(S(x) </a:t>
            </a:r>
            <a:r>
              <a:rPr lang="en-US" sz="2400" b="1" dirty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 </a:t>
            </a:r>
            <a:r>
              <a:rPr lang="en-US" sz="2400" dirty="0">
                <a:solidFill>
                  <a:srgbClr val="C00000"/>
                </a:solidFill>
                <a:cs typeface="Arial" pitchFamily="34" charset="0"/>
                <a:sym typeface="Symbol" charset="2"/>
              </a:rPr>
              <a:t>A(x, y)))</a:t>
            </a:r>
          </a:p>
          <a:p>
            <a:endParaRPr lang="en-US" dirty="0">
              <a:cs typeface="Arial" pitchFamily="34" charset="0"/>
              <a:sym typeface="Symbol" charset="2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There is a faculty member who has asked every other faculty member a question.</a:t>
            </a:r>
          </a:p>
          <a:p>
            <a:pPr lvl="1"/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x (F(x) </a:t>
            </a:r>
            <a:r>
              <a:rPr lang="en-US" sz="2400" b="1" dirty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400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y(</a:t>
            </a:r>
            <a:r>
              <a:rPr lang="en-US" sz="2400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(F(y) </a:t>
            </a:r>
            <a:r>
              <a:rPr lang="en-US" sz="2400" b="1" dirty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400" dirty="0">
                <a:solidFill>
                  <a:srgbClr val="C00000"/>
                </a:solidFill>
                <a:sym typeface="Symbol" charset="2"/>
              </a:rPr>
              <a:t>(y ≠ x))</a:t>
            </a:r>
            <a:r>
              <a:rPr lang="en-US" sz="2400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→</a:t>
            </a:r>
            <a:r>
              <a:rPr lang="en-US" sz="24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sz="2400" dirty="0">
                <a:solidFill>
                  <a:srgbClr val="C00000"/>
                </a:solidFill>
                <a:cs typeface="Arial" pitchFamily="34" charset="0"/>
                <a:sym typeface="Symbol" charset="2"/>
              </a:rPr>
              <a:t>A(x, y)))</a:t>
            </a:r>
          </a:p>
          <a:p>
            <a:endParaRPr lang="en-US" dirty="0">
              <a:cs typeface="Arial" pitchFamily="34" charset="0"/>
              <a:sym typeface="Symbol" charset="2"/>
            </a:endParaRPr>
          </a:p>
          <a:p>
            <a:r>
              <a:rPr lang="en-US" dirty="0">
                <a:cs typeface="Arial" pitchFamily="34" charset="0"/>
                <a:sym typeface="Symbol" charset="2"/>
              </a:rPr>
              <a:t>Some student has never been asked a question by a faculty member.</a:t>
            </a:r>
          </a:p>
          <a:p>
            <a:pPr lvl="1"/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x (S(x) </a:t>
            </a:r>
            <a:r>
              <a:rPr lang="en-US" sz="2400" b="1" dirty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400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y(</a:t>
            </a:r>
            <a:r>
              <a:rPr lang="en-US" sz="2400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(F(y) →</a:t>
            </a:r>
            <a:r>
              <a:rPr lang="en-US" sz="24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</a:t>
            </a:r>
            <a:r>
              <a:rPr lang="en-US" sz="2400" dirty="0">
                <a:solidFill>
                  <a:srgbClr val="C00000"/>
                </a:solidFill>
                <a:cs typeface="Arial" pitchFamily="34" charset="0"/>
                <a:sym typeface="Symbol" charset="2"/>
              </a:rPr>
              <a:t>A(y, x)))</a:t>
            </a:r>
            <a:endParaRPr lang="en-US" sz="2400" dirty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Express the statement as a logical expression involving predicates and quantifiers with a domain consisting of all people.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	“</a:t>
            </a:r>
            <a:r>
              <a:rPr lang="en-US" dirty="0">
                <a:solidFill>
                  <a:srgbClr val="C00000"/>
                </a:solidFill>
              </a:rPr>
              <a:t>There is a man who has taken a flight on every airline in the world.</a:t>
            </a:r>
            <a:r>
              <a:rPr lang="en-US" dirty="0"/>
              <a:t>”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Step 1:</a:t>
            </a:r>
            <a:r>
              <a:rPr lang="en-US" dirty="0"/>
              <a:t> Rephrase</a:t>
            </a:r>
          </a:p>
          <a:p>
            <a:pPr>
              <a:buNone/>
            </a:pPr>
            <a:r>
              <a:rPr lang="en-US" dirty="0"/>
              <a:t>	“There is a man, the man has taken a flight, on every airline in the world.”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Step 2:</a:t>
            </a:r>
            <a:r>
              <a:rPr lang="en-US" dirty="0"/>
              <a:t> Introducing variables.</a:t>
            </a:r>
          </a:p>
          <a:p>
            <a:pPr>
              <a:buNone/>
            </a:pPr>
            <a:r>
              <a:rPr lang="en-US" dirty="0"/>
              <a:t>	 “There is a man x, the man x has taken a flight f, on every airline in the world.”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Step 3:</a:t>
            </a:r>
            <a:r>
              <a:rPr lang="en-US" dirty="0"/>
              <a:t> Propositional Function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P(m, f) =</a:t>
            </a:r>
            <a:r>
              <a:rPr lang="en-US" dirty="0"/>
              <a:t> </a:t>
            </a:r>
            <a:r>
              <a:rPr lang="en-US" i="1" dirty="0"/>
              <a:t>m</a:t>
            </a:r>
            <a:r>
              <a:rPr lang="en-US" dirty="0"/>
              <a:t> has taken </a:t>
            </a:r>
            <a:r>
              <a:rPr lang="en-US" i="1" dirty="0"/>
              <a:t>flight f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Q(f, a) =</a:t>
            </a:r>
            <a:r>
              <a:rPr lang="en-US" dirty="0"/>
              <a:t> </a:t>
            </a:r>
            <a:r>
              <a:rPr lang="en-US" i="1" dirty="0"/>
              <a:t>f</a:t>
            </a:r>
            <a:r>
              <a:rPr lang="en-US" dirty="0"/>
              <a:t> is a flight on airline</a:t>
            </a:r>
            <a:endParaRPr lang="en-US" i="1" dirty="0"/>
          </a:p>
          <a:p>
            <a:pPr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Domain m, f and a =</a:t>
            </a:r>
            <a:r>
              <a:rPr lang="en-US" dirty="0"/>
              <a:t> all the men in the world, all  </a:t>
            </a:r>
          </a:p>
          <a:p>
            <a:pPr>
              <a:buNone/>
            </a:pPr>
            <a:r>
              <a:rPr lang="en-US" dirty="0"/>
              <a:t>                                         airplane flights, and all airlines  </a:t>
            </a:r>
          </a:p>
          <a:p>
            <a:pPr>
              <a:buNone/>
            </a:pPr>
            <a:r>
              <a:rPr lang="en-US" dirty="0"/>
              <a:t>                                         respectively.</a:t>
            </a:r>
          </a:p>
          <a:p>
            <a:r>
              <a:rPr lang="en-US" dirty="0">
                <a:solidFill>
                  <a:srgbClr val="C00000"/>
                </a:solidFill>
              </a:rPr>
              <a:t>Step 4:</a:t>
            </a:r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>
                <a:sym typeface="Symbol" pitchFamily="18" charset="2"/>
              </a:rPr>
              <a:t></a:t>
            </a:r>
            <a:r>
              <a:rPr lang="en-US" dirty="0" err="1">
                <a:sym typeface="Symbol" pitchFamily="18" charset="2"/>
              </a:rPr>
              <a:t>mfa</a:t>
            </a:r>
            <a:r>
              <a:rPr lang="en-US" dirty="0">
                <a:sym typeface="Symbol" pitchFamily="18" charset="2"/>
              </a:rPr>
              <a:t> (P(m, f)</a:t>
            </a:r>
            <a:r>
              <a:rPr lang="en-US" dirty="0"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>
                <a:sym typeface="Symbol" charset="2"/>
              </a:rPr>
              <a:t> </a:t>
            </a:r>
            <a:r>
              <a:rPr lang="en-US" dirty="0">
                <a:sym typeface="Symbol" charset="2"/>
              </a:rPr>
              <a:t>Q(f, a))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NEGATING NESTED QUANTIFIERS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EXAMPLE:</a:t>
            </a:r>
            <a:r>
              <a:rPr lang="en-US" dirty="0"/>
              <a:t> Express the negation of the statement</a:t>
            </a:r>
          </a:p>
          <a:p>
            <a:pPr algn="ctr">
              <a:buNone/>
            </a:pPr>
            <a:r>
              <a:rPr lang="en-US" dirty="0"/>
              <a:t>	 </a:t>
            </a:r>
            <a:r>
              <a:rPr lang="en-US" dirty="0">
                <a:sym typeface="Symbol" pitchFamily="18" charset="2"/>
              </a:rPr>
              <a:t></a:t>
            </a:r>
            <a:r>
              <a:rPr lang="en-US" dirty="0" err="1">
                <a:sym typeface="Symbol" pitchFamily="18" charset="2"/>
              </a:rPr>
              <a:t>xy</a:t>
            </a:r>
            <a:r>
              <a:rPr lang="en-US" dirty="0">
                <a:sym typeface="Symbol" pitchFamily="18" charset="2"/>
              </a:rPr>
              <a:t> (</a:t>
            </a:r>
            <a:r>
              <a:rPr lang="en-US" dirty="0" err="1">
                <a:sym typeface="Symbol" pitchFamily="18" charset="2"/>
              </a:rPr>
              <a:t>xy</a:t>
            </a:r>
            <a:r>
              <a:rPr lang="en-US" dirty="0">
                <a:sym typeface="Symbol" pitchFamily="18" charset="2"/>
              </a:rPr>
              <a:t> = 1</a:t>
            </a:r>
            <a:r>
              <a:rPr lang="en-US" dirty="0">
                <a:sym typeface="Symbol" charset="2"/>
              </a:rPr>
              <a:t>).</a:t>
            </a:r>
          </a:p>
          <a:p>
            <a:pPr algn="ctr">
              <a:buNone/>
            </a:pPr>
            <a:endParaRPr lang="en-US" dirty="0">
              <a:sym typeface="Symbol" charset="2"/>
            </a:endParaRP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b="1" dirty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charset="2"/>
              </a:rPr>
              <a:t>Solution:</a:t>
            </a:r>
          </a:p>
          <a:p>
            <a:pPr>
              <a:buNone/>
            </a:pPr>
            <a:endParaRPr lang="en-US" b="1" dirty="0">
              <a:solidFill>
                <a:srgbClr val="0070C0"/>
              </a:solidFill>
              <a:latin typeface="+mj-lt"/>
              <a:ea typeface="+mj-ea"/>
              <a:cs typeface="+mj-cs"/>
              <a:sym typeface="Symbol" charset="2"/>
            </a:endParaRP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4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sz="2400" dirty="0">
                <a:sym typeface="Symbol"/>
              </a:rPr>
              <a:t>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4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(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= 1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)		</a:t>
            </a:r>
            <a:r>
              <a:rPr lang="en-US" dirty="0">
                <a:sym typeface="Symbol" charset="2"/>
              </a:rPr>
              <a:t>Given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4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sz="2400" dirty="0">
                <a:sym typeface="Symbol"/>
              </a:rPr>
              <a:t>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sz="28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y (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= 1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)		</a:t>
            </a:r>
            <a:r>
              <a:rPr lang="en-US" dirty="0">
                <a:sym typeface="Symbol" charset="2"/>
              </a:rPr>
              <a:t>De-Morgan’s Law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400" dirty="0">
                <a:sym typeface="Symbol"/>
              </a:rPr>
              <a:t>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4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= 1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)		</a:t>
            </a:r>
            <a:r>
              <a:rPr lang="en-US" dirty="0">
                <a:sym typeface="Symbol" charset="2"/>
              </a:rPr>
              <a:t>De-Morgan’s Law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400" dirty="0">
                <a:sym typeface="Symbol"/>
              </a:rPr>
              <a:t>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(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≠ 1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)		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charset="2"/>
              </a:rPr>
              <a:t>	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charset="2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Use Quantifiers to express the negation of the statement that:</a:t>
            </a:r>
          </a:p>
          <a:p>
            <a:pPr>
              <a:buNone/>
            </a:pPr>
            <a:r>
              <a:rPr lang="en-US" dirty="0"/>
              <a:t>	 “</a:t>
            </a:r>
            <a:r>
              <a:rPr lang="en-US" dirty="0">
                <a:solidFill>
                  <a:srgbClr val="C00000"/>
                </a:solidFill>
              </a:rPr>
              <a:t>There does not exist a man who has taken a flight on every airline in the world.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Solution: </a:t>
            </a:r>
          </a:p>
          <a:p>
            <a:pPr>
              <a:buNone/>
            </a:pPr>
            <a:r>
              <a:rPr lang="en-US" dirty="0"/>
              <a:t>	The statement is negation of the statement</a:t>
            </a:r>
          </a:p>
          <a:p>
            <a:pPr>
              <a:buNone/>
            </a:pPr>
            <a:r>
              <a:rPr lang="en-US" dirty="0"/>
              <a:t>	“</a:t>
            </a:r>
            <a:r>
              <a:rPr lang="en-US" dirty="0">
                <a:solidFill>
                  <a:srgbClr val="C00000"/>
                </a:solidFill>
              </a:rPr>
              <a:t>There is a man who has taken a flight on every airline in  the world.</a:t>
            </a:r>
            <a:r>
              <a:rPr lang="en-US" dirty="0"/>
              <a:t>”</a:t>
            </a:r>
          </a:p>
          <a:p>
            <a:pPr algn="ctr">
              <a:buNone/>
            </a:pPr>
            <a:r>
              <a:rPr lang="en-US" sz="28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sz="2800" dirty="0"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ym typeface="Symbol" pitchFamily="18" charset="2"/>
              </a:rPr>
              <a:t></a:t>
            </a:r>
            <a:r>
              <a:rPr lang="en-US" dirty="0" err="1">
                <a:sym typeface="Symbol" pitchFamily="18" charset="2"/>
              </a:rPr>
              <a:t>waf</a:t>
            </a:r>
            <a:r>
              <a:rPr lang="en-US" dirty="0">
                <a:sym typeface="Symbol" pitchFamily="18" charset="2"/>
              </a:rPr>
              <a:t> (P(w, f)</a:t>
            </a:r>
            <a:r>
              <a:rPr lang="en-US" dirty="0"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>
                <a:sym typeface="Symbol" charset="2"/>
              </a:rPr>
              <a:t> </a:t>
            </a:r>
            <a:r>
              <a:rPr lang="en-US" dirty="0">
                <a:sym typeface="Symbol" charset="2"/>
              </a:rPr>
              <a:t>Q(f, a))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sz="2800" dirty="0">
                <a:sym typeface="Symbol"/>
              </a:rPr>
              <a:t> </a:t>
            </a:r>
            <a:r>
              <a:rPr lang="en-US" dirty="0">
                <a:sym typeface="Symbol"/>
              </a:rPr>
              <a:t>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waf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(P(w, f)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Q(f, a)) 	</a:t>
            </a:r>
            <a:r>
              <a:rPr lang="en-US" dirty="0">
                <a:sym typeface="Symbol" charset="2"/>
              </a:rPr>
              <a:t>Given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>
                <a:sym typeface="Symbol"/>
              </a:rPr>
              <a:t> 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w</a:t>
            </a:r>
            <a:r>
              <a:rPr lang="en-US" sz="24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af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(P(w, f)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Q(f, a))	</a:t>
            </a:r>
            <a:r>
              <a:rPr lang="en-US" dirty="0">
                <a:sym typeface="Symbol" charset="2"/>
              </a:rPr>
              <a:t>De-Morgan’s Law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>
                <a:sym typeface="Symbol"/>
              </a:rPr>
              <a:t> 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wa</a:t>
            </a:r>
            <a:r>
              <a:rPr lang="en-US" sz="28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f (P(w, f)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Q(f, a))	</a:t>
            </a:r>
            <a:r>
              <a:rPr lang="en-US" dirty="0">
                <a:sym typeface="Symbol" charset="2"/>
              </a:rPr>
              <a:t>De-Morgan’s Law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>
                <a:sym typeface="Symbol"/>
              </a:rPr>
              <a:t> 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waf</a:t>
            </a:r>
            <a:r>
              <a:rPr lang="en-US" sz="24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(P(w, f)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Q(f, a))	</a:t>
            </a:r>
            <a:r>
              <a:rPr lang="en-US" dirty="0">
                <a:sym typeface="Symbol" charset="2"/>
              </a:rPr>
              <a:t>De-Morgan’s Law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>
                <a:sym typeface="Symbol"/>
              </a:rPr>
              <a:t> 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waf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(</a:t>
            </a:r>
            <a:r>
              <a:rPr lang="en-US" sz="28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P(w, f)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8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Q(f, a))	</a:t>
            </a:r>
            <a:r>
              <a:rPr lang="en-US" dirty="0">
                <a:sym typeface="Symbol" charset="2"/>
              </a:rPr>
              <a:t>De-Morgan’s Law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Express the negation of the statement</a:t>
            </a:r>
          </a:p>
          <a:p>
            <a:pPr algn="ctr">
              <a:buNone/>
            </a:pPr>
            <a:r>
              <a:rPr lang="en-US" dirty="0"/>
              <a:t>	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P(x, y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b="1" dirty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Q(x, y)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.</a:t>
            </a:r>
          </a:p>
          <a:p>
            <a:pPr>
              <a:buNone/>
            </a:pPr>
            <a:endParaRPr lang="en-US" dirty="0">
              <a:solidFill>
                <a:srgbClr val="C00000"/>
              </a:solidFill>
              <a:sym typeface="Symbol" charset="2"/>
            </a:endParaRP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b="1" dirty="0">
                <a:solidFill>
                  <a:srgbClr val="0070C0"/>
                </a:solidFill>
                <a:sym typeface="Symbol" charset="2"/>
              </a:rPr>
              <a:t>Solution:</a:t>
            </a:r>
          </a:p>
          <a:p>
            <a:pPr>
              <a:buNone/>
            </a:pPr>
            <a:endParaRPr lang="en-US" b="1" dirty="0">
              <a:solidFill>
                <a:srgbClr val="0070C0"/>
              </a:solidFill>
              <a:sym typeface="Symbol" charset="2"/>
            </a:endParaRP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4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dirty="0">
                <a:sym typeface="Symbol"/>
              </a:rPr>
              <a:t>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4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[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400" dirty="0" err="1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 P(x, y</a:t>
            </a:r>
            <a:r>
              <a:rPr lang="en-US" sz="2400" dirty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400" b="1" dirty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400" dirty="0" err="1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 Q(x, y)]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		</a:t>
            </a:r>
            <a:r>
              <a:rPr lang="en-US" dirty="0">
                <a:sym typeface="Symbol" charset="2"/>
              </a:rPr>
              <a:t>Given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4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dirty="0">
                <a:sym typeface="Symbol"/>
              </a:rPr>
              <a:t>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P(x, y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)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 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Q(x, y)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dirty="0">
                <a:sym typeface="Symbol" charset="2"/>
              </a:rPr>
              <a:t>De-Morgan’s Law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>
                <a:sym typeface="Symbol"/>
              </a:rPr>
              <a:t>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y P(x, y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y Q(x, y)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dirty="0">
                <a:sym typeface="Symbol" charset="2"/>
              </a:rPr>
              <a:t>De-Morgan’s Law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dirty="0">
                <a:sym typeface="Symbol"/>
              </a:rPr>
              <a:t> 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err="1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P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(x, y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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err="1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Q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(x, y)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dirty="0">
                <a:sym typeface="Symbol" charset="2"/>
              </a:rPr>
              <a:t>De-Morgan’s Law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	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charset="2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Express the negation of the statement</a:t>
            </a:r>
          </a:p>
          <a:p>
            <a:pPr>
              <a:buNone/>
            </a:pPr>
            <a:r>
              <a:rPr lang="en-US" sz="2800" dirty="0"/>
              <a:t>	 		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800" dirty="0" err="1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 (Q(x, y</a:t>
            </a:r>
            <a:r>
              <a:rPr lang="en-US" sz="2800" dirty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800" b="1" dirty="0">
                <a:solidFill>
                  <a:srgbClr val="C00000"/>
                </a:solidFill>
                <a:sym typeface="Symbol"/>
              </a:rPr>
              <a:t> 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Q(y, x))</a:t>
            </a:r>
            <a:r>
              <a:rPr lang="en-US" sz="2800" dirty="0">
                <a:solidFill>
                  <a:srgbClr val="C00000"/>
                </a:solidFill>
                <a:sym typeface="Symbol" charset="2"/>
              </a:rPr>
              <a:t>.</a:t>
            </a:r>
          </a:p>
          <a:p>
            <a:pPr>
              <a:buNone/>
            </a:pPr>
            <a:endParaRPr lang="en-US" dirty="0">
              <a:solidFill>
                <a:srgbClr val="C00000"/>
              </a:solidFill>
              <a:sym typeface="Symbol" charset="2"/>
            </a:endParaRP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800" b="1" dirty="0">
                <a:solidFill>
                  <a:srgbClr val="0070C0"/>
                </a:solidFill>
                <a:sym typeface="Symbol" charset="2"/>
              </a:rPr>
              <a:t>Solution:</a:t>
            </a:r>
          </a:p>
          <a:p>
            <a:pPr>
              <a:buNone/>
            </a:pPr>
            <a:endParaRPr lang="en-US" dirty="0">
              <a:solidFill>
                <a:srgbClr val="C00000"/>
              </a:solidFill>
              <a:sym typeface="Symbol" charset="2"/>
            </a:endParaRP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800" dirty="0">
                <a:sym typeface="Symbol" pitchFamily="18" charset="2"/>
              </a:rPr>
              <a:t> </a:t>
            </a:r>
            <a:r>
              <a:rPr lang="en-US" sz="2800" dirty="0">
                <a:sym typeface="Symbol"/>
              </a:rPr>
              <a:t></a:t>
            </a:r>
            <a:r>
              <a:rPr lang="en-US" sz="2800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8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sz="2800" dirty="0">
                <a:solidFill>
                  <a:srgbClr val="C00000"/>
                </a:solidFill>
                <a:sym typeface="Symbol"/>
              </a:rPr>
              <a:t>[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800" dirty="0" err="1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 (Q(x, y</a:t>
            </a:r>
            <a:r>
              <a:rPr lang="en-US" sz="2800" dirty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800" b="1" dirty="0">
                <a:solidFill>
                  <a:srgbClr val="C00000"/>
                </a:solidFill>
                <a:sym typeface="Symbol"/>
              </a:rPr>
              <a:t> 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Q(y, x))]</a:t>
            </a:r>
            <a:r>
              <a:rPr lang="en-US" sz="2800" dirty="0">
                <a:solidFill>
                  <a:srgbClr val="C00000"/>
                </a:solidFill>
                <a:sym typeface="Symbol" charset="2"/>
              </a:rPr>
              <a:t>		</a:t>
            </a:r>
            <a:r>
              <a:rPr lang="en-US" sz="2800" dirty="0">
                <a:sym typeface="Symbol" charset="2"/>
              </a:rPr>
              <a:t>Given</a:t>
            </a:r>
          </a:p>
          <a:p>
            <a:pPr>
              <a:buNone/>
            </a:pPr>
            <a:r>
              <a:rPr lang="en-US" sz="2800" dirty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8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sz="2800" dirty="0">
                <a:sym typeface="Symbol"/>
              </a:rPr>
              <a:t></a:t>
            </a:r>
            <a:r>
              <a:rPr lang="en-US" sz="2800" dirty="0">
                <a:solidFill>
                  <a:srgbClr val="C00000"/>
                </a:solidFill>
                <a:sym typeface="Symbol"/>
              </a:rPr>
              <a:t>  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sz="28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y (Q(x, y</a:t>
            </a:r>
            <a:r>
              <a:rPr lang="en-US" sz="2800" dirty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800" b="1" dirty="0">
                <a:solidFill>
                  <a:srgbClr val="C00000"/>
                </a:solidFill>
                <a:sym typeface="Symbol"/>
              </a:rPr>
              <a:t> 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Q(y, x))</a:t>
            </a:r>
            <a:r>
              <a:rPr lang="en-US" sz="2800" dirty="0">
                <a:solidFill>
                  <a:srgbClr val="C00000"/>
                </a:solidFill>
                <a:sym typeface="Symbol" charset="2"/>
              </a:rPr>
              <a:t>		</a:t>
            </a:r>
            <a:r>
              <a:rPr lang="en-US" sz="2800" dirty="0">
                <a:sym typeface="Symbol" charset="2"/>
              </a:rPr>
              <a:t>De-Morgan’s Law</a:t>
            </a:r>
          </a:p>
          <a:p>
            <a:pPr>
              <a:buNone/>
            </a:pPr>
            <a:r>
              <a:rPr lang="en-US" sz="2800" dirty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800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800" dirty="0">
                <a:sym typeface="Symbol"/>
              </a:rPr>
              <a:t></a:t>
            </a:r>
            <a:r>
              <a:rPr lang="en-US" sz="2800" dirty="0">
                <a:solidFill>
                  <a:srgbClr val="C00000"/>
                </a:solidFill>
                <a:sym typeface="Symbol"/>
              </a:rPr>
              <a:t>  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800" dirty="0" err="1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sz="28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(Q(x, y</a:t>
            </a:r>
            <a:r>
              <a:rPr lang="en-US" sz="2800" dirty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800" b="1" dirty="0">
                <a:solidFill>
                  <a:srgbClr val="C00000"/>
                </a:solidFill>
                <a:sym typeface="Symbol"/>
              </a:rPr>
              <a:t> 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Q(y, x))	</a:t>
            </a:r>
            <a:r>
              <a:rPr lang="en-US" sz="2800" dirty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800" dirty="0">
                <a:sym typeface="Symbol" charset="2"/>
              </a:rPr>
              <a:t>De-Morgan’s Law</a:t>
            </a:r>
          </a:p>
          <a:p>
            <a:pPr>
              <a:buNone/>
            </a:pPr>
            <a:r>
              <a:rPr lang="en-US" sz="2800" dirty="0">
                <a:solidFill>
                  <a:srgbClr val="C00000"/>
                </a:solidFill>
                <a:sym typeface="Symbol"/>
              </a:rPr>
              <a:t>	 </a:t>
            </a:r>
            <a:r>
              <a:rPr lang="en-US" sz="2800" dirty="0">
                <a:sym typeface="Symbol"/>
              </a:rPr>
              <a:t></a:t>
            </a:r>
            <a:r>
              <a:rPr lang="en-US" sz="2800" dirty="0">
                <a:solidFill>
                  <a:srgbClr val="C00000"/>
                </a:solidFill>
                <a:sym typeface="Symbol"/>
              </a:rPr>
              <a:t>  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800" dirty="0" err="1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sz="28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¬[(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Q(x, y</a:t>
            </a:r>
            <a:r>
              <a:rPr lang="en-US" sz="2800" dirty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800" dirty="0">
                <a:cs typeface="Arial" pitchFamily="34" charset="0"/>
                <a:sym typeface="Symbol" pitchFamily="18" charset="2"/>
              </a:rPr>
              <a:t>→</a:t>
            </a:r>
            <a:r>
              <a:rPr lang="en-US" sz="2800" b="1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Q(y, x)) </a:t>
            </a:r>
            <a:r>
              <a:rPr lang="en-US" sz="2800" b="1" dirty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8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(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Q(y, x</a:t>
            </a:r>
            <a:r>
              <a:rPr lang="en-US" sz="2800" dirty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800" dirty="0">
                <a:cs typeface="Arial" pitchFamily="34" charset="0"/>
                <a:sym typeface="Symbol" pitchFamily="18" charset="2"/>
              </a:rPr>
              <a:t>→</a:t>
            </a:r>
            <a:r>
              <a:rPr lang="en-US" sz="2800" b="1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Q(x, y))]	</a:t>
            </a:r>
            <a:r>
              <a:rPr lang="en-US" sz="2800" dirty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800" dirty="0">
                <a:sym typeface="Symbol" charset="2"/>
              </a:rPr>
              <a:t>As we know that </a:t>
            </a:r>
            <a:r>
              <a:rPr lang="en-US" sz="2800" dirty="0"/>
              <a:t>p </a:t>
            </a:r>
            <a:r>
              <a:rPr lang="en-US" sz="2800" dirty="0">
                <a:sym typeface="Symbol"/>
              </a:rPr>
              <a:t></a:t>
            </a:r>
            <a:r>
              <a:rPr lang="en-US" sz="2800" dirty="0"/>
              <a:t> q </a:t>
            </a:r>
            <a:r>
              <a:rPr lang="en-US" sz="2800" dirty="0">
                <a:sym typeface="Symbol"/>
              </a:rPr>
              <a:t></a:t>
            </a:r>
            <a:r>
              <a:rPr lang="en-US" sz="2800" dirty="0"/>
              <a:t> (p </a:t>
            </a:r>
            <a:r>
              <a:rPr lang="en-US" sz="2800" dirty="0">
                <a:sym typeface="Symbol"/>
              </a:rPr>
              <a:t></a:t>
            </a:r>
            <a:r>
              <a:rPr lang="en-US" sz="2800" dirty="0"/>
              <a:t>q) </a:t>
            </a:r>
            <a:r>
              <a:rPr lang="en-US" sz="2800" dirty="0">
                <a:sym typeface="Symbol"/>
              </a:rPr>
              <a:t> </a:t>
            </a:r>
            <a:r>
              <a:rPr lang="en-US" sz="2800" dirty="0"/>
              <a:t>(q </a:t>
            </a:r>
            <a:r>
              <a:rPr lang="en-US" sz="2800" dirty="0">
                <a:sym typeface="Symbol"/>
              </a:rPr>
              <a:t></a:t>
            </a:r>
            <a:r>
              <a:rPr lang="en-US" sz="2800" dirty="0"/>
              <a:t>p)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	</a:t>
            </a:r>
            <a:endParaRPr lang="en-US" sz="2800" dirty="0">
              <a:solidFill>
                <a:srgbClr val="C00000"/>
              </a:solidFill>
              <a:sym typeface="Symbol" charset="2"/>
            </a:endParaRP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charset="2"/>
              </a:rPr>
              <a:t>	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charset="2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>
                <a:sym typeface="Symbol"/>
              </a:rPr>
              <a:t></a:t>
            </a:r>
            <a:r>
              <a:rPr lang="en-US" sz="2800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¬(Q(x, y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→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Q(y, x)) </a:t>
            </a:r>
            <a:r>
              <a:rPr lang="en-US" b="1" dirty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¬(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Q(y, x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→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Q(x, y))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			</a:t>
            </a:r>
            <a:r>
              <a:rPr lang="en-US" dirty="0">
                <a:sym typeface="Symbol" pitchFamily="18" charset="2"/>
              </a:rPr>
              <a:t>De-Morgan’s Law</a:t>
            </a:r>
          </a:p>
          <a:p>
            <a:pPr>
              <a:buNone/>
            </a:pPr>
            <a:r>
              <a:rPr lang="en-US" dirty="0">
                <a:sym typeface="Symbol"/>
              </a:rPr>
              <a:t>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[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¬(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Q(x, y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Q(y, x))] </a:t>
            </a:r>
            <a:r>
              <a:rPr lang="en-US" b="1" dirty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¬[¬(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Q(y, x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400" b="1" dirty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Q(x, y))]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		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 	</a:t>
            </a:r>
            <a:r>
              <a:rPr lang="en-US" dirty="0">
                <a:sym typeface="Symbol" charset="2"/>
              </a:rPr>
              <a:t>As we know that </a:t>
            </a:r>
            <a:r>
              <a:rPr lang="en-US" dirty="0"/>
              <a:t>p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q </a:t>
            </a:r>
            <a:r>
              <a:rPr lang="en-US" dirty="0">
                <a:sym typeface="Symbol"/>
              </a:rPr>
              <a:t></a:t>
            </a:r>
            <a:r>
              <a:rPr lang="en-US" dirty="0"/>
              <a:t> </a:t>
            </a:r>
            <a:r>
              <a:rPr lang="en-US" dirty="0">
                <a:cs typeface="Arial" charset="0"/>
                <a:sym typeface="Symbol" pitchFamily="18" charset="2"/>
              </a:rPr>
              <a:t>¬</a:t>
            </a:r>
            <a:r>
              <a:rPr lang="en-US" dirty="0"/>
              <a:t>(p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</a:t>
            </a:r>
            <a:r>
              <a:rPr lang="en-US" dirty="0">
                <a:cs typeface="Arial" charset="0"/>
                <a:sym typeface="Symbol" pitchFamily="18" charset="2"/>
              </a:rPr>
              <a:t>¬</a:t>
            </a:r>
            <a:r>
              <a:rPr lang="en-US" dirty="0"/>
              <a:t>q) </a:t>
            </a:r>
          </a:p>
          <a:p>
            <a:pPr>
              <a:buNone/>
            </a:pPr>
            <a:r>
              <a:rPr lang="en-US" dirty="0">
                <a:sym typeface="Symbol"/>
              </a:rPr>
              <a:t></a:t>
            </a:r>
            <a:r>
              <a:rPr lang="en-US" sz="2800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[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Q(x, y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b="1" dirty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Q(y, x)] </a:t>
            </a:r>
            <a:r>
              <a:rPr lang="en-US" b="1" dirty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[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Q(y, x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b="1" dirty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Q(x, y)]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			</a:t>
            </a:r>
            <a:r>
              <a:rPr lang="en-US" dirty="0">
                <a:sym typeface="Symbol" pitchFamily="18" charset="2"/>
              </a:rPr>
              <a:t>De-Morgan’s Law</a:t>
            </a:r>
          </a:p>
          <a:p>
            <a:pPr>
              <a:buFont typeface="Symbol"/>
              <a:buChar char="º"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[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Q(x, y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400" b="1" dirty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Q(y, x)] </a:t>
            </a:r>
            <a:r>
              <a:rPr lang="en-US" b="1" dirty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[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Q(y, x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Q(x, y)]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				</a:t>
            </a:r>
            <a:r>
              <a:rPr lang="en-US" dirty="0">
                <a:sym typeface="Symbol" pitchFamily="18" charset="2"/>
              </a:rPr>
              <a:t>De-Morgan’s Law</a:t>
            </a:r>
          </a:p>
          <a:p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 [Q(x, y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400" b="1" dirty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Q(y, x)] </a:t>
            </a:r>
            <a:r>
              <a:rPr lang="en-US" b="1" dirty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[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Q(y, x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800" b="1" dirty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Q(x, y)]</a:t>
            </a:r>
          </a:p>
          <a:p>
            <a:pPr>
              <a:buNone/>
            </a:pPr>
            <a:r>
              <a:rPr lang="en-US" dirty="0"/>
              <a:t>				Double Negation Law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BULLETTYPE" val="3"/>
  <p:tag name="RESPCOUNTERSTYLE" val="-1"/>
  <p:tag name="INPUTSOURCE" val="1"/>
  <p:tag name="BACKUPSESSIONS" val="True"/>
  <p:tag name="REVIEWONLY" val="False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CHARTCOLORS" val="0"/>
  <p:tag name="MULTIRESPDIVISOR" val="1"/>
  <p:tag name="CORRECTPOINTVALUE" val="100"/>
  <p:tag name="ZEROBASED" val="False"/>
  <p:tag name="SHOWBARVISIBLE" val="True"/>
  <p:tag name="REQUIREPASSWORD" val="False"/>
  <p:tag name="RESPCOUNTERFORMAT" val="0"/>
  <p:tag name="NUMRESPONSES" val="1"/>
  <p:tag name="AUTOADVANCE" val="False"/>
  <p:tag name="TEAMSINLEADERBOARD" val="5"/>
  <p:tag name="BUBBLEGROUPING" val="3"/>
  <p:tag name="CUSTOMCELLBACKCOLOR2" val="-13395457"/>
  <p:tag name="DISPLAYDEVICEID" val="True"/>
  <p:tag name="GRIDPOSITION" val="1"/>
  <p:tag name="INCLUDENONRESPONDERS" val="False"/>
  <p:tag name="INCORRECTPOINTVALUE" val="0"/>
  <p:tag name="CHARTSCALE" val="True"/>
  <p:tag name="DEFAULTPORT" val="1001"/>
  <p:tag name="RESPTABLESTYLE" val="-1"/>
  <p:tag name="BACKUPMAINTENANCE" val="7"/>
  <p:tag name="STDCHART" val="1"/>
  <p:tag name="DEFAULTNUMTEAMS" val="5"/>
  <p:tag name="USESCHEMECOLORS" val="True"/>
  <p:tag name="GRIDSIZE" val="{Width=800, Height=600}"/>
  <p:tag name="PARTLISTDEFAULT" val="0"/>
  <p:tag name="ADDINALWAYSLOADED" val="False"/>
  <p:tag name="ENABLEPRESENTERVPAD" val="False"/>
  <p:tag name="COUNTDOWNSECONDS" val="10"/>
  <p:tag name="ROTATIONINTERVAL" val="2"/>
  <p:tag name="BUBBLEVALUEFORMAT" val="0.0"/>
  <p:tag name="DISPLAYNAME" val="True"/>
  <p:tag name="CHARTLABELS" val="0"/>
  <p:tag name="REALTIMEBACKUP" val="False"/>
  <p:tag name="ANSWERNOWSTYLE" val="-1"/>
  <p:tag name="ALLOWDUPLICATES" val="False"/>
  <p:tag name="BUBBLENAMEVISIBLE" val="True"/>
  <p:tag name="GRIDOPACITY" val="90"/>
  <p:tag name="INCLUDEPPT" val="True"/>
  <p:tag name="EXPANDSHOWBAR" val="True"/>
  <p:tag name="CHARTVALUEFORMAT" val="0%"/>
  <p:tag name="CUSTOMCELLBACKCOLOR1" val="-657956"/>
  <p:tag name="RESETCHARTS" val="True"/>
  <p:tag name="ANSWERNOWTEXT" val="Answer Now"/>
  <p:tag name="MAXRESPONDERS" val="5"/>
  <p:tag name="POLLINGCYCLE" val="2"/>
  <p:tag name="COUNTDOWNSTYLE" val="-1"/>
  <p:tag name="CUSTOMCELLBACKCOLOR4" val="-8355712"/>
  <p:tag name="TPVERSION" val="2006"/>
  <p:tag name="GRIDROTATIONINTERVAL" val="2"/>
  <p:tag name="AUTOUPDATEALIASES" val="True"/>
  <p:tag name="USEENTERPRISEMANAGER" val="False"/>
  <p:tag name="CUSTOMCELLFORECOLOR" val="-16777216"/>
  <p:tag name="AUTOADJUSTPARTRANGE" val="True"/>
  <p:tag name="ALLOWUSERFEEDBACK" val="Tru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4892</TotalTime>
  <Words>4371</Words>
  <Application>Microsoft Office PowerPoint</Application>
  <PresentationFormat>On-screen Show (4:3)</PresentationFormat>
  <Paragraphs>463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Arial</vt:lpstr>
      <vt:lpstr>Bookman Old Style</vt:lpstr>
      <vt:lpstr>Gill Sans MT</vt:lpstr>
      <vt:lpstr>Symbol</vt:lpstr>
      <vt:lpstr>Wingdings</vt:lpstr>
      <vt:lpstr>Wingdings 3</vt:lpstr>
      <vt:lpstr>Origin</vt:lpstr>
      <vt:lpstr>NESTED QUANTIFIERS Lecture # 16 `</vt:lpstr>
      <vt:lpstr>NESTED QUANTIFIER</vt:lpstr>
      <vt:lpstr>PowerPoint Presentation</vt:lpstr>
      <vt:lpstr>UNDERSTANDING STATEMENTS INVOLVING NESTED QUANTIFIERS</vt:lpstr>
      <vt:lpstr>UNDERSTANDING NESTED QUANTIFIER</vt:lpstr>
      <vt:lpstr>PowerPoint Presentation</vt:lpstr>
      <vt:lpstr>TRANSLATE INTO ENGLISH</vt:lpstr>
      <vt:lpstr>EXAMPLE</vt:lpstr>
      <vt:lpstr>EXAMPLE</vt:lpstr>
      <vt:lpstr>EXAMPLE</vt:lpstr>
      <vt:lpstr>EXAMPLE</vt:lpstr>
      <vt:lpstr>THE ORDER OF QUANTIFIERS</vt:lpstr>
      <vt:lpstr>EXAMPLE</vt:lpstr>
      <vt:lpstr>SOLUTION</vt:lpstr>
      <vt:lpstr>Principle</vt:lpstr>
      <vt:lpstr>EXAMPLE</vt:lpstr>
      <vt:lpstr>PowerPoint Presentation</vt:lpstr>
      <vt:lpstr>OBSERVATION</vt:lpstr>
      <vt:lpstr> </vt:lpstr>
      <vt:lpstr>EXAMPLE</vt:lpstr>
      <vt:lpstr>         </vt:lpstr>
      <vt:lpstr>TRANSLATING MATHEMATICAL STATEMENTS INTO STATEMENTS INVOLVING NESTED QUANTIFIERS</vt:lpstr>
      <vt:lpstr>PowerPoint Presentation</vt:lpstr>
      <vt:lpstr>EXAMPLE</vt:lpstr>
      <vt:lpstr>PowerPoint Presentation</vt:lpstr>
      <vt:lpstr>EXAMPLE</vt:lpstr>
      <vt:lpstr>PowerPoint Presentation</vt:lpstr>
      <vt:lpstr>EXAMPLE</vt:lpstr>
      <vt:lpstr>PowerPoint Presentation</vt:lpstr>
      <vt:lpstr>EXAMPLE</vt:lpstr>
      <vt:lpstr>PowerPoint Presentation</vt:lpstr>
      <vt:lpstr>TRANSLATING FROM NESTED QUANTIFIERS INTO ENGLISH</vt:lpstr>
      <vt:lpstr>EXAMPLE</vt:lpstr>
      <vt:lpstr>SOLUTION</vt:lpstr>
      <vt:lpstr>EXAMPLE</vt:lpstr>
      <vt:lpstr>SOLUTION</vt:lpstr>
      <vt:lpstr>EXAMPLE</vt:lpstr>
      <vt:lpstr>SOLUTION</vt:lpstr>
      <vt:lpstr>PowerPoint Presentation</vt:lpstr>
      <vt:lpstr>TRANSLATING ENGLISH SENTENCES INTO LOGICAL EXPRESSIONS</vt:lpstr>
      <vt:lpstr>SOLUTION</vt:lpstr>
      <vt:lpstr>PowerPoint Presentation</vt:lpstr>
      <vt:lpstr>EXAMPLE</vt:lpstr>
      <vt:lpstr>PowerPoint Presentation</vt:lpstr>
      <vt:lpstr>PowerPoint Presentation</vt:lpstr>
      <vt:lpstr>PowerPoint Presentation</vt:lpstr>
      <vt:lpstr>EXAMPLE</vt:lpstr>
      <vt:lpstr>PowerPoint Presentation</vt:lpstr>
      <vt:lpstr>NEGATING NESTED QUANTIFIERS</vt:lpstr>
      <vt:lpstr>EXAMPLE</vt:lpstr>
      <vt:lpstr>PowerPoint Presentation</vt:lpstr>
      <vt:lpstr>EXAMPLE</vt:lpstr>
      <vt:lpstr>EXAMPLE</vt:lpstr>
      <vt:lpstr>PowerPoint Presentation</vt:lpstr>
    </vt:vector>
  </TitlesOfParts>
  <Company>University of Virginia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Predicates and Quantifiers</dc:title>
  <dc:creator>Department of Computer Science</dc:creator>
  <cp:lastModifiedBy>Sajid Hussain</cp:lastModifiedBy>
  <cp:revision>354</cp:revision>
  <dcterms:created xsi:type="dcterms:W3CDTF">2004-09-16T16:06:30Z</dcterms:created>
  <dcterms:modified xsi:type="dcterms:W3CDTF">2024-10-22T04:06:56Z</dcterms:modified>
</cp:coreProperties>
</file>
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7" d="100"/>
          <a:sy n="57" d="100"/>
        </p:scale>
        <p:origin x="-336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04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FUNCTIONS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</a:t>
            </a:r>
            <a:r>
              <a:rPr lang="en-US" sz="2900" b="1" smtClean="0">
                <a:solidFill>
                  <a:srgbClr val="0070C0"/>
                </a:solidFill>
              </a:rPr>
              <a:t># </a:t>
            </a:r>
            <a:r>
              <a:rPr lang="en-US" sz="2900" b="1" smtClean="0">
                <a:solidFill>
                  <a:srgbClr val="0070C0"/>
                </a:solidFill>
              </a:rPr>
              <a:t>12</a:t>
            </a:r>
            <a:br>
              <a:rPr lang="en-US" sz="2900" b="1" smtClean="0">
                <a:solidFill>
                  <a:srgbClr val="0070C0"/>
                </a:solidFill>
              </a:rPr>
            </a:b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FUNCTIONS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function </a:t>
            </a:r>
            <a:r>
              <a:rPr lang="en-US" b="1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from a set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a set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a </a:t>
            </a:r>
            <a:r>
              <a:rPr lang="en-US" b="1" i="1" dirty="0" smtClean="0">
                <a:solidFill>
                  <a:srgbClr val="C00000"/>
                </a:solidFill>
              </a:rPr>
              <a:t>relationship</a:t>
            </a:r>
            <a:r>
              <a:rPr lang="en-US" dirty="0" smtClean="0"/>
              <a:t> between elements 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and elements 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such that </a:t>
            </a:r>
            <a:r>
              <a:rPr lang="en-US" b="1" i="1" dirty="0" smtClean="0">
                <a:solidFill>
                  <a:srgbClr val="00B050"/>
                </a:solidFill>
              </a:rPr>
              <a:t>each</a:t>
            </a:r>
            <a:r>
              <a:rPr lang="en-US" dirty="0" smtClean="0"/>
              <a:t> element 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related to a </a:t>
            </a:r>
            <a:r>
              <a:rPr lang="en-US" b="1" i="1" dirty="0" smtClean="0">
                <a:solidFill>
                  <a:srgbClr val="00B050"/>
                </a:solidFill>
              </a:rPr>
              <a:t>unique</a:t>
            </a:r>
            <a:r>
              <a:rPr lang="en-US" dirty="0" smtClean="0"/>
              <a:t> element 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, and is denoted 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 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set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called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called the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of </a:t>
            </a:r>
            <a:r>
              <a:rPr lang="en-US" b="1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 are sometimes also called </a:t>
            </a:r>
            <a:r>
              <a:rPr lang="en-US" b="1" dirty="0" smtClean="0">
                <a:solidFill>
                  <a:srgbClr val="C00000"/>
                </a:solidFill>
              </a:rPr>
              <a:t>mappings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transformations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unique element y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that is related to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by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denoted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(x)</a:t>
            </a:r>
            <a:r>
              <a:rPr lang="en-US" dirty="0" smtClean="0"/>
              <a:t> and is called                                                                                      	</a:t>
            </a:r>
          </a:p>
          <a:p>
            <a:pPr>
              <a:buNone/>
            </a:pPr>
            <a:r>
              <a:rPr lang="en-US" dirty="0" smtClean="0"/>
              <a:t>			 the value of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			or</a:t>
            </a:r>
          </a:p>
          <a:p>
            <a:pPr>
              <a:buNone/>
            </a:pPr>
            <a:r>
              <a:rPr lang="en-US" dirty="0" smtClean="0"/>
              <a:t>			 the image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under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ARROW DIAGRAM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/>
          <a:lstStyle/>
          <a:p>
            <a:r>
              <a:rPr lang="en-US" dirty="0" smtClean="0"/>
              <a:t>The definition of a function implies that the </a:t>
            </a:r>
            <a:r>
              <a:rPr lang="en-US" b="1" dirty="0" smtClean="0">
                <a:solidFill>
                  <a:srgbClr val="C00000"/>
                </a:solidFill>
              </a:rPr>
              <a:t>arrow diagram</a:t>
            </a:r>
            <a:r>
              <a:rPr lang="en-US" dirty="0" smtClean="0"/>
              <a:t> for a function f has the following </a:t>
            </a:r>
            <a:r>
              <a:rPr lang="en-US" b="1" dirty="0" smtClean="0">
                <a:solidFill>
                  <a:srgbClr val="C00000"/>
                </a:solidFill>
              </a:rPr>
              <a:t>two properties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1.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Every element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has an arrow coming out of it		    	</a:t>
            </a:r>
          </a:p>
          <a:p>
            <a:pPr>
              <a:buNone/>
            </a:pPr>
            <a:r>
              <a:rPr lang="en-US" b="1" dirty="0" smtClean="0"/>
              <a:t>	2.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No two elements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two arrows</a:t>
            </a:r>
            <a:r>
              <a:rPr lang="en-US" dirty="0" smtClean="0"/>
              <a:t> coming out of it that point to two different elements 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{a, b, c}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{1, 2, 3, 4}.</a:t>
            </a:r>
          </a:p>
          <a:p>
            <a:r>
              <a:rPr lang="en-US" dirty="0" smtClean="0"/>
              <a:t>Define a function </a:t>
            </a:r>
            <a:r>
              <a:rPr lang="en-US" i="1" dirty="0" smtClean="0"/>
              <a:t>f</a:t>
            </a:r>
            <a:r>
              <a:rPr lang="en-US" dirty="0" smtClean="0"/>
              <a:t> from X to Y by the arrow diagram.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	f(a) = 2, f(b) = 4,and f(c) = 2 OR</a:t>
            </a:r>
          </a:p>
          <a:p>
            <a:pPr algn="ctr">
              <a:buNone/>
            </a:pPr>
            <a:r>
              <a:rPr lang="en-US" dirty="0" smtClean="0"/>
              <a:t>	image of a = 2, image of b = 4, image of c = 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209800"/>
            <a:ext cx="4191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NONFUNCTIONS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X = </a:t>
            </a:r>
            <a:r>
              <a:rPr lang="en-US" dirty="0" smtClean="0">
                <a:solidFill>
                  <a:srgbClr val="C00000"/>
                </a:solidFill>
              </a:rPr>
              <a:t>{2, 4, 5}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{1, 2, 4, 6}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NOT A FUNCTION</a:t>
            </a:r>
            <a:r>
              <a:rPr lang="en-US" dirty="0" smtClean="0"/>
              <a:t> 	   </a:t>
            </a:r>
            <a:r>
              <a:rPr lang="en-US" b="1" dirty="0" smtClean="0">
                <a:solidFill>
                  <a:srgbClr val="C00000"/>
                </a:solidFill>
              </a:rPr>
              <a:t>NOT A FUNCTION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905000"/>
            <a:ext cx="7162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RANGE OF A FUNCTION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The range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consists of those elements 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C00000"/>
                </a:solidFill>
              </a:rPr>
              <a:t>images</a:t>
            </a:r>
            <a:r>
              <a:rPr lang="en-US" dirty="0" smtClean="0"/>
              <a:t> of elements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Range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= {y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Y | y = f(x),</a:t>
            </a:r>
            <a:r>
              <a:rPr lang="en-US" dirty="0" smtClean="0"/>
              <a:t>	for some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a function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always a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of f.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/>
              <a:t>is also called the </a:t>
            </a:r>
            <a:r>
              <a:rPr lang="en-US" dirty="0" smtClean="0">
                <a:solidFill>
                  <a:srgbClr val="C00000"/>
                </a:solidFill>
              </a:rPr>
              <a:t>image of X </a:t>
            </a:r>
            <a:r>
              <a:rPr lang="en-US" dirty="0" smtClean="0"/>
              <a:t>under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 smtClean="0">
                <a:solidFill>
                  <a:srgbClr val="C00000"/>
                </a:solidFill>
              </a:rPr>
              <a:t>y = f(x), </a:t>
            </a:r>
            <a:r>
              <a:rPr lang="en-US" dirty="0" smtClean="0"/>
              <a:t>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pre-image of 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set of all elements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that are related to some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  is called </a:t>
            </a:r>
            <a:r>
              <a:rPr lang="en-US" dirty="0" smtClean="0">
                <a:solidFill>
                  <a:srgbClr val="C00000"/>
                </a:solidFill>
              </a:rPr>
              <a:t>the inverse image of 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Determine the </a:t>
            </a:r>
            <a:r>
              <a:rPr lang="en-US" b="1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the functions </a:t>
            </a:r>
            <a:r>
              <a:rPr lang="en-US" b="1" dirty="0" smtClean="0">
                <a:solidFill>
                  <a:srgbClr val="C00000"/>
                </a:solidFill>
              </a:rPr>
              <a:t>f, g, h </a:t>
            </a:r>
            <a:r>
              <a:rPr lang="en-US" dirty="0" smtClean="0"/>
              <a:t>from </a:t>
            </a:r>
          </a:p>
          <a:p>
            <a:pPr>
              <a:buNone/>
            </a:pPr>
            <a:r>
              <a:rPr lang="en-US" dirty="0" smtClean="0"/>
              <a:t>	X = </a:t>
            </a:r>
            <a:r>
              <a:rPr lang="en-US" b="1" dirty="0" smtClean="0">
                <a:solidFill>
                  <a:srgbClr val="C00000"/>
                </a:solidFill>
              </a:rPr>
              <a:t>{2, 4, 5} </a:t>
            </a:r>
            <a:r>
              <a:rPr lang="en-US" dirty="0" smtClean="0"/>
              <a:t>to Y = </a:t>
            </a:r>
            <a:r>
              <a:rPr lang="en-US" b="1" dirty="0" smtClean="0">
                <a:solidFill>
                  <a:srgbClr val="C00000"/>
                </a:solidFill>
              </a:rPr>
              <a:t>{1, 2, 4, 6} </a:t>
            </a:r>
            <a:r>
              <a:rPr lang="en-US" dirty="0" smtClean="0"/>
              <a:t>defined as: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pt-BR" dirty="0" smtClean="0"/>
              <a:t>2.	g = </a:t>
            </a:r>
            <a:r>
              <a:rPr lang="pt-BR" dirty="0" smtClean="0">
                <a:solidFill>
                  <a:srgbClr val="C00000"/>
                </a:solidFill>
              </a:rPr>
              <a:t>{ (2, 6), (4, 2), (5,1) }</a:t>
            </a:r>
          </a:p>
          <a:p>
            <a:r>
              <a:rPr lang="pt-BR" dirty="0" smtClean="0"/>
              <a:t>3.	</a:t>
            </a:r>
            <a:r>
              <a:rPr lang="pt-BR" dirty="0" smtClean="0">
                <a:solidFill>
                  <a:srgbClr val="C00000"/>
                </a:solidFill>
              </a:rPr>
              <a:t>h(2) = 4,	h(4) = 4,	h(5) = 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905000"/>
            <a:ext cx="5410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Range of </a:t>
            </a:r>
            <a:r>
              <a:rPr lang="en-US" dirty="0" smtClean="0">
                <a:solidFill>
                  <a:srgbClr val="C00000"/>
                </a:solidFill>
              </a:rPr>
              <a:t>f = {1, 6} 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Range of </a:t>
            </a:r>
            <a:r>
              <a:rPr lang="en-US" dirty="0" smtClean="0">
                <a:solidFill>
                  <a:srgbClr val="C00000"/>
                </a:solidFill>
              </a:rPr>
              <a:t>g = {1, 2, 6}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Range of </a:t>
            </a:r>
            <a:r>
              <a:rPr lang="en-US" dirty="0" smtClean="0">
                <a:solidFill>
                  <a:srgbClr val="C00000"/>
                </a:solidFill>
              </a:rPr>
              <a:t>h = {1, 4}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be a real-valued function of a real variable. i.e.          </a:t>
            </a:r>
            <a:r>
              <a:rPr lang="en-US" b="1" dirty="0" smtClean="0">
                <a:solidFill>
                  <a:srgbClr val="C00000"/>
                </a:solidFill>
              </a:rPr>
              <a:t>f: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R.</a:t>
            </a:r>
            <a:r>
              <a:rPr lang="en-US" dirty="0" smtClean="0"/>
              <a:t> The graph of f is the set of all points (x, y) in the Cartesian coordinate plane with the property that x is in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y = f(x).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We have the function 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				</a:t>
            </a:r>
            <a:r>
              <a:rPr lang="en-US" sz="3200" b="1" dirty="0" smtClean="0">
                <a:solidFill>
                  <a:srgbClr val="C00000"/>
                </a:solidFill>
              </a:rPr>
              <a:t>y = x</a:t>
            </a:r>
            <a:r>
              <a:rPr lang="en-US" sz="32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3200" dirty="0" smtClean="0"/>
              <a:t> 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	From set of real numbers to set of real numbers.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1" y="11430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VERTICAL LINE TEST FOR THE GRAPH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a graph to be the graph of a function, any given vertical line in its domain intersects the graph in at most one point. 	</a:t>
            </a:r>
            <a:r>
              <a:rPr lang="en-US" smtClean="0"/>
              <a:t>	   </a:t>
            </a:r>
            <a:r>
              <a:rPr lang="en-US" b="1" smtClean="0">
                <a:solidFill>
                  <a:srgbClr val="C00000"/>
                </a:solidFill>
              </a:rPr>
              <a:t>For </a:t>
            </a:r>
            <a:r>
              <a:rPr lang="en-US" b="1" dirty="0" smtClean="0">
                <a:solidFill>
                  <a:srgbClr val="C00000"/>
                </a:solidFill>
              </a:rPr>
              <a:t>y = x</a:t>
            </a:r>
            <a:r>
              <a:rPr lang="en-US" b="1" baseline="30000" dirty="0" smtClean="0">
                <a:solidFill>
                  <a:srgbClr val="C00000"/>
                </a:solidFill>
              </a:rPr>
              <a:t>2     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endParaRPr lang="en-US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So, it’s the </a:t>
            </a:r>
            <a:r>
              <a:rPr lang="en-US" b="1" dirty="0" smtClean="0">
                <a:solidFill>
                  <a:srgbClr val="C00000"/>
                </a:solidFill>
              </a:rPr>
              <a:t>graph of a function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2428572"/>
            <a:ext cx="4800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Define a binary relation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dirty="0" smtClean="0"/>
              <a:t>from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as follows: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for all </a:t>
            </a:r>
            <a:r>
              <a:rPr lang="en-US" dirty="0" smtClean="0"/>
              <a:t>real numbers x and </a:t>
            </a:r>
            <a:r>
              <a:rPr lang="en-US" b="1" dirty="0" smtClean="0">
                <a:solidFill>
                  <a:srgbClr val="C00000"/>
                </a:solidFill>
              </a:rPr>
              <a:t>y (x, y)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b="1" dirty="0" smtClean="0">
                <a:solidFill>
                  <a:srgbClr val="C00000"/>
                </a:solidFill>
              </a:rPr>
              <a:t> 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</a:t>
            </a:r>
            <a:r>
              <a:rPr lang="en-US" b="1" dirty="0" smtClean="0">
                <a:solidFill>
                  <a:srgbClr val="C00000"/>
                </a:solidFill>
              </a:rPr>
              <a:t> x = y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                                      </a:t>
            </a:r>
          </a:p>
          <a:p>
            <a:pPr>
              <a:buNone/>
            </a:pPr>
            <a:r>
              <a:rPr lang="en-US" dirty="0" smtClean="0"/>
              <a:t>	Is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a function?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This is not a </a:t>
            </a:r>
            <a:r>
              <a:rPr lang="en-US" b="1" dirty="0" smtClean="0">
                <a:solidFill>
                  <a:srgbClr val="C00000"/>
                </a:solidFill>
              </a:rPr>
              <a:t>graph of a function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b="1" dirty="0" smtClean="0">
                <a:solidFill>
                  <a:srgbClr val="C00000"/>
                </a:solidFill>
              </a:rPr>
              <a:t>all functions</a:t>
            </a:r>
            <a:r>
              <a:rPr lang="en-US" dirty="0" smtClean="0"/>
              <a:t> from X = </a:t>
            </a:r>
            <a:r>
              <a:rPr lang="en-US" dirty="0" smtClean="0">
                <a:solidFill>
                  <a:srgbClr val="C00000"/>
                </a:solidFill>
              </a:rPr>
              <a:t>{ a, b 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 u, v }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286000"/>
            <a:ext cx="7467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00200"/>
            <a:ext cx="7848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four binary relations from X = { a, b }to Y = { u, v } that are not functions.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2819400" y="2209800"/>
            <a:ext cx="5791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 anchor="t"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9154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How many functions are there from a set with three elements to a set with four elements?</a:t>
            </a:r>
          </a:p>
          <a:p>
            <a:endParaRPr lang="en-US" dirty="0" smtClean="0"/>
          </a:p>
          <a:p>
            <a:r>
              <a:rPr lang="es-ES" b="1" u="sng" dirty="0" smtClean="0">
                <a:solidFill>
                  <a:srgbClr val="C00000"/>
                </a:solidFill>
              </a:rPr>
              <a:t>SOLUTION</a:t>
            </a:r>
          </a:p>
          <a:p>
            <a:pPr>
              <a:buNone/>
            </a:pPr>
            <a:r>
              <a:rPr lang="es-ES" dirty="0" smtClean="0"/>
              <a:t>	</a:t>
            </a:r>
            <a:r>
              <a:rPr lang="es-ES" dirty="0" err="1" smtClean="0"/>
              <a:t>Let</a:t>
            </a:r>
            <a:r>
              <a:rPr lang="es-ES" dirty="0" smtClean="0"/>
              <a:t> 		X = </a:t>
            </a:r>
            <a:r>
              <a:rPr lang="es-ES" dirty="0" smtClean="0">
                <a:solidFill>
                  <a:srgbClr val="C00000"/>
                </a:solidFill>
              </a:rPr>
              <a:t>{x</a:t>
            </a:r>
            <a:r>
              <a:rPr lang="es-ES" baseline="-25000" dirty="0" smtClean="0">
                <a:solidFill>
                  <a:srgbClr val="C00000"/>
                </a:solidFill>
              </a:rPr>
              <a:t>1</a:t>
            </a:r>
            <a:r>
              <a:rPr lang="es-ES" dirty="0" smtClean="0">
                <a:solidFill>
                  <a:srgbClr val="C00000"/>
                </a:solidFill>
              </a:rPr>
              <a:t>, x</a:t>
            </a:r>
            <a:r>
              <a:rPr lang="es-ES" baseline="-25000" dirty="0" smtClean="0">
                <a:solidFill>
                  <a:srgbClr val="C00000"/>
                </a:solidFill>
              </a:rPr>
              <a:t>2</a:t>
            </a:r>
            <a:r>
              <a:rPr lang="es-ES" dirty="0" smtClean="0">
                <a:solidFill>
                  <a:srgbClr val="C00000"/>
                </a:solidFill>
              </a:rPr>
              <a:t>, x</a:t>
            </a:r>
            <a:r>
              <a:rPr lang="es-ES" baseline="-25000" dirty="0" smtClean="0">
                <a:solidFill>
                  <a:srgbClr val="C00000"/>
                </a:solidFill>
              </a:rPr>
              <a:t>3</a:t>
            </a:r>
            <a:r>
              <a:rPr lang="es-ES" dirty="0" smtClean="0">
                <a:solidFill>
                  <a:srgbClr val="C00000"/>
                </a:solidFill>
              </a:rPr>
              <a:t>} </a:t>
            </a:r>
            <a:r>
              <a:rPr lang="es-ES" dirty="0" smtClean="0"/>
              <a:t>and</a:t>
            </a:r>
          </a:p>
          <a:p>
            <a:pPr>
              <a:buNone/>
            </a:pPr>
            <a:r>
              <a:rPr lang="es-ES" dirty="0" smtClean="0"/>
              <a:t>	     		 Y = </a:t>
            </a:r>
            <a:r>
              <a:rPr lang="es-ES" dirty="0" smtClean="0">
                <a:solidFill>
                  <a:srgbClr val="C00000"/>
                </a:solidFill>
              </a:rPr>
              <a:t>{y</a:t>
            </a:r>
            <a:r>
              <a:rPr lang="es-ES" baseline="-25000" dirty="0" smtClean="0">
                <a:solidFill>
                  <a:srgbClr val="C00000"/>
                </a:solidFill>
              </a:rPr>
              <a:t>1</a:t>
            </a:r>
            <a:r>
              <a:rPr lang="es-ES" dirty="0" smtClean="0">
                <a:solidFill>
                  <a:srgbClr val="C00000"/>
                </a:solidFill>
              </a:rPr>
              <a:t>, y</a:t>
            </a:r>
            <a:r>
              <a:rPr lang="es-ES" baseline="-25000" dirty="0" smtClean="0">
                <a:solidFill>
                  <a:srgbClr val="C00000"/>
                </a:solidFill>
              </a:rPr>
              <a:t>2</a:t>
            </a:r>
            <a:r>
              <a:rPr lang="es-ES" dirty="0" smtClean="0">
                <a:solidFill>
                  <a:srgbClr val="C00000"/>
                </a:solidFill>
              </a:rPr>
              <a:t>, y</a:t>
            </a:r>
            <a:r>
              <a:rPr lang="es-ES" baseline="-25000" dirty="0" smtClean="0">
                <a:solidFill>
                  <a:srgbClr val="C00000"/>
                </a:solidFill>
              </a:rPr>
              <a:t>3</a:t>
            </a:r>
            <a:r>
              <a:rPr lang="es-ES" dirty="0" smtClean="0">
                <a:solidFill>
                  <a:srgbClr val="C00000"/>
                </a:solidFill>
              </a:rPr>
              <a:t>, y</a:t>
            </a:r>
            <a:r>
              <a:rPr lang="es-ES" baseline="-25000" dirty="0" smtClean="0">
                <a:solidFill>
                  <a:srgbClr val="C00000"/>
                </a:solidFill>
              </a:rPr>
              <a:t>4</a:t>
            </a:r>
            <a:r>
              <a:rPr lang="es-ES" dirty="0" smtClean="0">
                <a:solidFill>
                  <a:srgbClr val="C00000"/>
                </a:solidFill>
              </a:rPr>
              <a:t>}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may be related to any of the four elements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of  Y.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four</a:t>
            </a:r>
            <a:r>
              <a:rPr lang="en-US" dirty="0" smtClean="0"/>
              <a:t> possibilities.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four</a:t>
            </a:r>
            <a:r>
              <a:rPr lang="en-US" dirty="0" smtClean="0"/>
              <a:t> possibilities.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four</a:t>
            </a:r>
            <a:r>
              <a:rPr lang="en-US" dirty="0" smtClean="0"/>
              <a:t> possibilities.</a:t>
            </a:r>
          </a:p>
          <a:p>
            <a:pPr algn="ctr">
              <a:buNone/>
            </a:pPr>
            <a:r>
              <a:rPr lang="en-US" dirty="0" smtClean="0"/>
              <a:t>Total number of function </a:t>
            </a:r>
            <a:r>
              <a:rPr lang="en-US" dirty="0" smtClean="0">
                <a:solidFill>
                  <a:srgbClr val="C00000"/>
                </a:solidFill>
              </a:rPr>
              <a:t>= 4 x 4 x 4 = 64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a set with </a:t>
            </a:r>
            <a:r>
              <a:rPr lang="en-US" b="1" dirty="0" smtClean="0">
                <a:solidFill>
                  <a:srgbClr val="C00000"/>
                </a:solidFill>
              </a:rPr>
              <a:t>m elements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is a set with </a:t>
            </a:r>
            <a:r>
              <a:rPr lang="en-US" b="1" dirty="0" smtClean="0">
                <a:solidFill>
                  <a:srgbClr val="C00000"/>
                </a:solidFill>
              </a:rPr>
              <a:t>n elements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 are there from </a:t>
            </a:r>
            <a:r>
              <a:rPr lang="en-US" dirty="0" smtClean="0">
                <a:solidFill>
                  <a:srgbClr val="C00000"/>
                </a:solidFill>
              </a:rPr>
              <a:t>A to B</a:t>
            </a:r>
            <a:r>
              <a:rPr lang="en-US" dirty="0" smtClean="0"/>
              <a:t>?</a:t>
            </a:r>
          </a:p>
          <a:p>
            <a:pPr lvl="1"/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Number of functions from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b="1" dirty="0" smtClean="0">
                <a:solidFill>
                  <a:srgbClr val="C00000"/>
                </a:solidFill>
              </a:rPr>
              <a:t>A to B = </a:t>
            </a:r>
            <a:r>
              <a:rPr lang="en-US" b="1" dirty="0" err="1" smtClean="0">
                <a:solidFill>
                  <a:srgbClr val="C00000"/>
                </a:solidFill>
              </a:rPr>
              <a:t>n.n.n</a:t>
            </a:r>
            <a:r>
              <a:rPr lang="en-US" b="1" dirty="0" smtClean="0">
                <a:solidFill>
                  <a:srgbClr val="C00000"/>
                </a:solidFill>
              </a:rPr>
              <a:t>. … .n       </a:t>
            </a:r>
            <a:r>
              <a:rPr lang="en-US" b="1" dirty="0" smtClean="0">
                <a:solidFill>
                  <a:srgbClr val="0070C0"/>
                </a:solidFill>
              </a:rPr>
              <a:t>(m times)</a:t>
            </a:r>
            <a:r>
              <a:rPr lang="en-US" dirty="0" smtClean="0"/>
              <a:t>			      </a:t>
            </a:r>
            <a:r>
              <a:rPr lang="en-US" b="1" dirty="0" smtClean="0">
                <a:solidFill>
                  <a:srgbClr val="C00000"/>
                </a:solidFill>
              </a:rPr>
              <a:t>= n</a:t>
            </a:r>
            <a:r>
              <a:rPr lang="en-US" b="1" baseline="30000" dirty="0" smtClean="0">
                <a:solidFill>
                  <a:srgbClr val="C00000"/>
                </a:solidFill>
              </a:rPr>
              <a:t> m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FUNCTIONS NOT WELL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Determine whether f is a function from Z to R if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169" name="Object 1"/>
          <p:cNvGraphicFramePr>
            <a:graphicFrameLocks noChangeAspect="1"/>
          </p:cNvGraphicFramePr>
          <p:nvPr/>
        </p:nvGraphicFramePr>
        <p:xfrm>
          <a:off x="1066800" y="1905000"/>
          <a:ext cx="6323798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3" imgW="2781300" imgH="901700" progId="">
                  <p:embed/>
                </p:oleObj>
              </mc:Choice>
              <mc:Fallback>
                <p:oleObj r:id="rId3" imgW="2781300" imgH="9017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05000"/>
                        <a:ext cx="6323798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NOT well defined </a:t>
            </a:r>
            <a:r>
              <a:rPr lang="en-US" dirty="0" smtClean="0"/>
              <a:t>since each </a:t>
            </a:r>
            <a:r>
              <a:rPr lang="en-US" b="1" dirty="0" smtClean="0">
                <a:solidFill>
                  <a:srgbClr val="C00000"/>
                </a:solidFill>
              </a:rPr>
              <a:t>integer n </a:t>
            </a:r>
            <a:r>
              <a:rPr lang="en-US" dirty="0" smtClean="0"/>
              <a:t>has two images </a:t>
            </a:r>
            <a:r>
              <a:rPr lang="en-US" b="1" dirty="0" smtClean="0">
                <a:solidFill>
                  <a:srgbClr val="C00000"/>
                </a:solidFill>
              </a:rPr>
              <a:t>+n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–n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lphaLcParenR"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NOT well defined </a:t>
            </a:r>
            <a:r>
              <a:rPr lang="en-US" dirty="0" smtClean="0"/>
              <a:t>since </a:t>
            </a:r>
            <a:r>
              <a:rPr lang="en-US" b="1" dirty="0" smtClean="0">
                <a:solidFill>
                  <a:srgbClr val="C00000"/>
                </a:solidFill>
              </a:rPr>
              <a:t>f(2)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f(-2) </a:t>
            </a:r>
            <a:r>
              <a:rPr lang="en-US" dirty="0" smtClean="0"/>
              <a:t>are not defined.</a:t>
            </a:r>
          </a:p>
          <a:p>
            <a:pPr marL="514350" indent="-514350">
              <a:buFont typeface="+mj-lt"/>
              <a:buAutoNum type="alphaLcParenR"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is NOT defined </a:t>
            </a:r>
            <a:r>
              <a:rPr lang="en-US" dirty="0" smtClean="0"/>
              <a:t>for </a:t>
            </a:r>
            <a:r>
              <a:rPr lang="en-US" b="1" dirty="0" smtClean="0">
                <a:solidFill>
                  <a:srgbClr val="C00000"/>
                </a:solidFill>
              </a:rPr>
              <a:t>n &lt; 0 </a:t>
            </a:r>
            <a:r>
              <a:rPr lang="en-US" dirty="0" smtClean="0"/>
              <a:t>since f then results in </a:t>
            </a:r>
            <a:r>
              <a:rPr lang="en-US" b="1" dirty="0" smtClean="0">
                <a:solidFill>
                  <a:srgbClr val="C00000"/>
                </a:solidFill>
              </a:rPr>
              <a:t>imaginary</a:t>
            </a:r>
            <a:r>
              <a:rPr lang="en-US" dirty="0" smtClean="0"/>
              <a:t> values (not real).</a:t>
            </a:r>
          </a:p>
          <a:p>
            <a:pPr marL="514350" indent="-514350">
              <a:buFont typeface="+mj-lt"/>
              <a:buAutoNum type="alphaLcParenR"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well defined </a:t>
            </a:r>
            <a:r>
              <a:rPr lang="en-US" dirty="0" smtClean="0"/>
              <a:t>because each integer has </a:t>
            </a:r>
            <a:r>
              <a:rPr lang="en-US" b="1" dirty="0" smtClean="0">
                <a:solidFill>
                  <a:srgbClr val="C00000"/>
                </a:solidFill>
              </a:rPr>
              <a:t>unique</a:t>
            </a:r>
            <a:r>
              <a:rPr lang="en-US" dirty="0" smtClean="0"/>
              <a:t> (one and only one) image in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under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Student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tries to define a function </a:t>
            </a:r>
            <a:r>
              <a:rPr lang="en-US" b="1" dirty="0" smtClean="0">
                <a:solidFill>
                  <a:srgbClr val="C00000"/>
                </a:solidFill>
              </a:rPr>
              <a:t>h : Q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dirty="0" smtClean="0"/>
              <a:t>by the rule.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all integers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n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b="1" dirty="0" smtClean="0">
                <a:solidFill>
                  <a:srgbClr val="C00000"/>
                </a:solidFill>
              </a:rPr>
              <a:t> 0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Students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claims</a:t>
            </a:r>
            <a:r>
              <a:rPr lang="en-US" dirty="0" smtClean="0"/>
              <a:t> that h is not well defined. Justify Student </a:t>
            </a:r>
            <a:r>
              <a:rPr lang="en-US" b="1" dirty="0" smtClean="0">
                <a:solidFill>
                  <a:srgbClr val="C00000"/>
                </a:solidFill>
              </a:rPr>
              <a:t>C’s claim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3581400" y="1905000"/>
          <a:ext cx="1524000" cy="874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r:id="rId3" imgW="774360" imgH="444240" progId="">
                  <p:embed/>
                </p:oleObj>
              </mc:Choice>
              <mc:Fallback>
                <p:oleObj r:id="rId3" imgW="7743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05000"/>
                        <a:ext cx="1524000" cy="8744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The function 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is well defined if each </a:t>
            </a:r>
            <a:r>
              <a:rPr lang="en-US" b="1" dirty="0" smtClean="0">
                <a:solidFill>
                  <a:srgbClr val="C00000"/>
                </a:solidFill>
              </a:rPr>
              <a:t>rational number </a:t>
            </a:r>
            <a:r>
              <a:rPr lang="en-US" dirty="0" smtClean="0"/>
              <a:t>has a </a:t>
            </a:r>
            <a:r>
              <a:rPr lang="en-US" b="1" dirty="0" smtClean="0">
                <a:solidFill>
                  <a:srgbClr val="C00000"/>
                </a:solidFill>
              </a:rPr>
              <a:t>unique</a:t>
            </a:r>
            <a:r>
              <a:rPr lang="en-US" dirty="0" smtClean="0"/>
              <a:t> (one and only one) image.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an element of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has more than </a:t>
            </a:r>
            <a:r>
              <a:rPr lang="en-US" b="1" dirty="0" smtClean="0">
                <a:solidFill>
                  <a:srgbClr val="C00000"/>
                </a:solidFill>
              </a:rPr>
              <a:t>one images </a:t>
            </a:r>
            <a:r>
              <a:rPr lang="en-US" dirty="0" smtClean="0"/>
              <a:t>under h.  Accordingly </a:t>
            </a:r>
            <a:r>
              <a:rPr lang="en-US" b="1" dirty="0" smtClean="0">
                <a:solidFill>
                  <a:srgbClr val="C00000"/>
                </a:solidFill>
              </a:rPr>
              <a:t>h is not well defined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3048000" y="1981200"/>
          <a:ext cx="2209800" cy="78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r:id="rId3" imgW="1091880" imgH="393480" progId="">
                  <p:embed/>
                </p:oleObj>
              </mc:Choice>
              <mc:Fallback>
                <p:oleObj r:id="rId3" imgW="10918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81200"/>
                        <a:ext cx="2209800" cy="7849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743200" y="2819400"/>
          <a:ext cx="3276600" cy="254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r:id="rId5" imgW="1193760" imgH="1307880" progId="">
                  <p:embed/>
                </p:oleObj>
              </mc:Choice>
              <mc:Fallback>
                <p:oleObj r:id="rId5" imgW="1193760" imgH="13078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19400"/>
                        <a:ext cx="3276600" cy="25408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477000" y="2895600"/>
            <a:ext cx="2286000" cy="16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Hence, an element of ‘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>
                <a:solidFill>
                  <a:schemeClr val="tx1"/>
                </a:solidFill>
              </a:rPr>
              <a:t>’ has more than </a:t>
            </a:r>
            <a:r>
              <a:rPr lang="en-US" b="1" dirty="0" smtClean="0">
                <a:solidFill>
                  <a:srgbClr val="C00000"/>
                </a:solidFill>
              </a:rPr>
              <a:t>two images</a:t>
            </a:r>
            <a:r>
              <a:rPr lang="en-US" dirty="0" smtClean="0">
                <a:solidFill>
                  <a:schemeClr val="tx1"/>
                </a:solidFill>
              </a:rPr>
              <a:t> so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>
                <a:solidFill>
                  <a:schemeClr val="tx1"/>
                </a:solidFill>
              </a:rPr>
              <a:t> a function.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00B050"/>
                </a:solidFill>
              </a:rPr>
              <a:t>Mathematical Formulation of Function’s Properties:</a:t>
            </a:r>
          </a:p>
          <a:p>
            <a:pPr>
              <a:buNone/>
            </a:pPr>
            <a:endParaRPr lang="en-US" u="sng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A function </a:t>
            </a:r>
            <a:r>
              <a:rPr lang="en-US" b="1" dirty="0" smtClean="0">
                <a:solidFill>
                  <a:srgbClr val="C00000"/>
                </a:solidFill>
              </a:rPr>
              <a:t>f: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Y </a:t>
            </a:r>
            <a:r>
              <a:rPr lang="en-US" dirty="0" smtClean="0"/>
              <a:t>is well defined </a:t>
            </a:r>
            <a:r>
              <a:rPr lang="en-US" dirty="0" err="1" smtClean="0"/>
              <a:t>iff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  <a:r>
              <a:rPr lang="en-US" b="1" dirty="0" smtClean="0">
                <a:sym typeface="Symbol"/>
              </a:rPr>
              <a:t></a:t>
            </a:r>
            <a:r>
              <a:rPr lang="en-US" b="1" dirty="0" smtClean="0">
                <a:solidFill>
                  <a:srgbClr val="C00000"/>
                </a:solidFill>
              </a:rPr>
              <a:t> 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x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b="1" dirty="0" smtClean="0">
                <a:solidFill>
                  <a:srgbClr val="C00000"/>
                </a:solidFill>
              </a:rPr>
              <a:t>X,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if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x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then </a:t>
            </a:r>
            <a:r>
              <a:rPr lang="en-US" b="1" dirty="0" smtClean="0">
                <a:solidFill>
                  <a:srgbClr val="C00000"/>
                </a:solidFill>
              </a:rPr>
              <a:t>f(x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) = f(x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Means an element can not have two images.  Rephrase the properties of function.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g: R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R+ </a:t>
            </a:r>
            <a:r>
              <a:rPr lang="en-US" dirty="0" smtClean="0"/>
              <a:t>be defined by </a:t>
            </a:r>
            <a:r>
              <a:rPr lang="en-US" b="1" dirty="0" smtClean="0">
                <a:solidFill>
                  <a:srgbClr val="C00000"/>
                </a:solidFill>
              </a:rPr>
              <a:t>g(x) = 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+1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1.  </a:t>
            </a:r>
            <a:r>
              <a:rPr lang="en-US" dirty="0" smtClean="0"/>
              <a:t>Determine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well defined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b="1" dirty="0" smtClean="0"/>
              <a:t>	2.  </a:t>
            </a:r>
            <a:r>
              <a:rPr lang="en-US" dirty="0" smtClean="0"/>
              <a:t>Determine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 lvl="1">
              <a:buNone/>
            </a:pPr>
            <a:endParaRPr lang="en-US" b="1" dirty="0" smtClean="0"/>
          </a:p>
          <a:p>
            <a:pPr lvl="1">
              <a:buNone/>
            </a:pPr>
            <a:r>
              <a:rPr lang="en-US" sz="2600" dirty="0" smtClean="0">
                <a:solidFill>
                  <a:srgbClr val="C00000"/>
                </a:solidFill>
              </a:rPr>
              <a:t>Domain</a:t>
            </a:r>
            <a:r>
              <a:rPr lang="en-US" sz="2600" dirty="0" smtClean="0">
                <a:solidFill>
                  <a:schemeClr val="tx1"/>
                </a:solidFill>
              </a:rPr>
              <a:t> of </a:t>
            </a:r>
            <a:r>
              <a:rPr lang="en-US" sz="2600" dirty="0" smtClean="0">
                <a:solidFill>
                  <a:srgbClr val="C00000"/>
                </a:solidFill>
              </a:rPr>
              <a:t>g = R </a:t>
            </a:r>
            <a:r>
              <a:rPr lang="en-US" sz="2600" dirty="0" smtClean="0">
                <a:solidFill>
                  <a:schemeClr val="tx1"/>
                </a:solidFill>
              </a:rPr>
              <a:t>(set of real numbers)</a:t>
            </a:r>
          </a:p>
          <a:p>
            <a:pPr lvl="1">
              <a:buNone/>
            </a:pPr>
            <a:endParaRPr lang="en-US" sz="26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g = R</a:t>
            </a:r>
            <a:r>
              <a:rPr lang="en-US" baseline="30000" dirty="0" smtClean="0">
                <a:solidFill>
                  <a:srgbClr val="C00000"/>
                </a:solidFill>
              </a:rPr>
              <a:t>+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(set of positive real numbers)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The range </a:t>
            </a:r>
            <a:r>
              <a:rPr lang="en-US" dirty="0" smtClean="0"/>
              <a:t>of g consists of those elements of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b="1" baseline="30000" dirty="0" smtClean="0">
                <a:solidFill>
                  <a:srgbClr val="C00000"/>
                </a:solidFill>
              </a:rPr>
              <a:t>+</a:t>
            </a:r>
            <a:r>
              <a:rPr lang="en-US" dirty="0" smtClean="0"/>
              <a:t> that appear as image points.</a:t>
            </a:r>
          </a:p>
          <a:p>
            <a:endParaRPr lang="en-US" dirty="0" smtClean="0"/>
          </a:p>
          <a:p>
            <a:pPr>
              <a:buNone/>
            </a:pPr>
            <a:r>
              <a:rPr lang="pt-BR" dirty="0" smtClean="0"/>
              <a:t>	Since	</a:t>
            </a:r>
            <a:r>
              <a:rPr lang="pt-BR" dirty="0" smtClean="0">
                <a:solidFill>
                  <a:srgbClr val="C00000"/>
                </a:solidFill>
              </a:rPr>
              <a:t>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pt-BR" dirty="0" smtClean="0">
                <a:solidFill>
                  <a:srgbClr val="C00000"/>
                </a:solidFill>
              </a:rPr>
              <a:t>0</a:t>
            </a:r>
            <a:r>
              <a:rPr lang="pt-BR" dirty="0" smtClean="0"/>
              <a:t>		</a:t>
            </a:r>
            <a:r>
              <a:rPr lang="en-US" dirty="0" smtClean="0">
                <a:sym typeface="Symbol"/>
              </a:rPr>
              <a:t>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R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+ 1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pt-BR" dirty="0" smtClean="0">
                <a:solidFill>
                  <a:srgbClr val="C00000"/>
                </a:solidFill>
              </a:rPr>
              <a:t> 1</a:t>
            </a:r>
            <a:r>
              <a:rPr lang="pt-BR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r>
              <a:rPr lang="en-US" dirty="0" smtClean="0"/>
              <a:t>	i.e.	g(x) 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1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the </a:t>
            </a:r>
            <a:r>
              <a:rPr lang="en-US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all real number greater than or equal to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i.e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 [1,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</a:t>
            </a:r>
            <a:r>
              <a:rPr lang="en-US" b="1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SOLUTION: </a:t>
            </a:r>
            <a:r>
              <a:rPr lang="en-US" u="sng" dirty="0" smtClean="0"/>
              <a:t>(we take two elements of R, and suppose these two elements are equal, by the definition of function we will prove that their images are also equal.)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		Let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R and suppose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	(squaring both sides)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		(adding 1 on both sides)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     g(x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g(x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		(by definition of g)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Thus if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g 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g(x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Accordingly  g:R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R+ is </a:t>
            </a:r>
            <a:r>
              <a:rPr lang="en-US" dirty="0" smtClean="0">
                <a:solidFill>
                  <a:srgbClr val="C00000"/>
                </a:solidFill>
              </a:rPr>
              <a:t>well defined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989</TotalTime>
  <Words>806</Words>
  <Application>Microsoft Office PowerPoint</Application>
  <PresentationFormat>On-screen Show (4:3)</PresentationFormat>
  <Paragraphs>213</Paragraphs>
  <Slides>29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Origin</vt:lpstr>
      <vt:lpstr>FUNCTIONS Lecture # 12 </vt:lpstr>
      <vt:lpstr>FUNCTIONS </vt:lpstr>
      <vt:lpstr>REMARK</vt:lpstr>
      <vt:lpstr>ARROW DIAGRAM OF A FUNCTION</vt:lpstr>
      <vt:lpstr>EXAMPLE</vt:lpstr>
      <vt:lpstr>NONFUNCTIONS</vt:lpstr>
      <vt:lpstr>RANGE OF A FUNCTION</vt:lpstr>
      <vt:lpstr>REMARKS</vt:lpstr>
      <vt:lpstr>EXERCISE</vt:lpstr>
      <vt:lpstr>SOLUTION</vt:lpstr>
      <vt:lpstr>GRAPH OF A FUNCTION</vt:lpstr>
      <vt:lpstr>EXAMPLE</vt:lpstr>
      <vt:lpstr>PowerPoint Presentation</vt:lpstr>
      <vt:lpstr>VERTICAL LINE TEST FOR THE GRAPH OF A FUNCTION</vt:lpstr>
      <vt:lpstr>EXERCISE</vt:lpstr>
      <vt:lpstr>PowerPoint Presentation</vt:lpstr>
      <vt:lpstr>EXERCISE</vt:lpstr>
      <vt:lpstr>PowerPoint Presentation</vt:lpstr>
      <vt:lpstr>EXERCISE</vt:lpstr>
      <vt:lpstr>EXERCISE</vt:lpstr>
      <vt:lpstr>EXERCISE</vt:lpstr>
      <vt:lpstr>FUNCTIONS NOT WELL DEFINED</vt:lpstr>
      <vt:lpstr>SOLUTION</vt:lpstr>
      <vt:lpstr>EXERCISE</vt:lpstr>
      <vt:lpstr>SOLUTION</vt:lpstr>
      <vt:lpstr>REMARK</vt:lpstr>
      <vt:lpstr>EXERCISE</vt:lpstr>
      <vt:lpstr>Cont…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Lecture # 10</dc:title>
  <dc:creator>Yasir S.</dc:creator>
  <cp:lastModifiedBy>Dell</cp:lastModifiedBy>
  <cp:revision>125</cp:revision>
  <dcterms:created xsi:type="dcterms:W3CDTF">2013-10-15T06:26:31Z</dcterms:created>
  <dcterms:modified xsi:type="dcterms:W3CDTF">2024-11-07T08:22:39Z</dcterms:modified>
</cp:coreProperties>
</file>
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8"/>
  </p:notesMasterIdLst>
  <p:handoutMasterIdLst>
    <p:handoutMasterId r:id="rId59"/>
  </p:handoutMasterIdLst>
  <p:sldIdLst>
    <p:sldId id="256" r:id="rId2"/>
    <p:sldId id="257" r:id="rId3"/>
    <p:sldId id="258" r:id="rId4"/>
    <p:sldId id="501" r:id="rId5"/>
    <p:sldId id="477" r:id="rId6"/>
    <p:sldId id="478" r:id="rId7"/>
    <p:sldId id="479" r:id="rId8"/>
    <p:sldId id="502" r:id="rId9"/>
    <p:sldId id="503" r:id="rId10"/>
    <p:sldId id="504" r:id="rId11"/>
    <p:sldId id="505" r:id="rId12"/>
    <p:sldId id="506" r:id="rId13"/>
    <p:sldId id="507" r:id="rId14"/>
    <p:sldId id="508" r:id="rId15"/>
    <p:sldId id="509" r:id="rId16"/>
    <p:sldId id="510" r:id="rId17"/>
    <p:sldId id="511" r:id="rId18"/>
    <p:sldId id="512" r:id="rId19"/>
    <p:sldId id="513" r:id="rId20"/>
    <p:sldId id="514" r:id="rId21"/>
    <p:sldId id="515" r:id="rId22"/>
    <p:sldId id="516" r:id="rId23"/>
    <p:sldId id="517" r:id="rId24"/>
    <p:sldId id="519" r:id="rId25"/>
    <p:sldId id="520" r:id="rId26"/>
    <p:sldId id="522" r:id="rId27"/>
    <p:sldId id="521" r:id="rId28"/>
    <p:sldId id="518" r:id="rId29"/>
    <p:sldId id="523" r:id="rId30"/>
    <p:sldId id="524" r:id="rId31"/>
    <p:sldId id="480" r:id="rId32"/>
    <p:sldId id="481" r:id="rId33"/>
    <p:sldId id="527" r:id="rId34"/>
    <p:sldId id="526" r:id="rId35"/>
    <p:sldId id="529" r:id="rId36"/>
    <p:sldId id="482" r:id="rId37"/>
    <p:sldId id="485" r:id="rId38"/>
    <p:sldId id="490" r:id="rId39"/>
    <p:sldId id="491" r:id="rId40"/>
    <p:sldId id="492" r:id="rId41"/>
    <p:sldId id="493" r:id="rId42"/>
    <p:sldId id="496" r:id="rId43"/>
    <p:sldId id="525" r:id="rId44"/>
    <p:sldId id="497" r:id="rId45"/>
    <p:sldId id="498" r:id="rId46"/>
    <p:sldId id="530" r:id="rId47"/>
    <p:sldId id="532" r:id="rId48"/>
    <p:sldId id="533" r:id="rId49"/>
    <p:sldId id="534" r:id="rId50"/>
    <p:sldId id="531" r:id="rId51"/>
    <p:sldId id="535" r:id="rId52"/>
    <p:sldId id="536" r:id="rId53"/>
    <p:sldId id="537" r:id="rId54"/>
    <p:sldId id="538" r:id="rId55"/>
    <p:sldId id="540" r:id="rId56"/>
    <p:sldId id="541" r:id="rId57"/>
  </p:sldIdLst>
  <p:sldSz cx="9144000" cy="6858000" type="screen4x3"/>
  <p:notesSz cx="6858000" cy="9144000"/>
  <p:custDataLst>
    <p:tags r:id="rId6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003300"/>
    <a:srgbClr val="249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24" autoAdjust="0"/>
  </p:normalViewPr>
  <p:slideViewPr>
    <p:cSldViewPr>
      <p:cViewPr>
        <p:scale>
          <a:sx n="70" d="100"/>
          <a:sy n="70" d="100"/>
        </p:scale>
        <p:origin x="91" y="-2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23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723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57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559792"/>
            <a:ext cx="6858000" cy="1600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300" b="1" dirty="0" smtClean="0">
                <a:solidFill>
                  <a:srgbClr val="C00000"/>
                </a:solidFill>
              </a:rPr>
              <a:t>ALGORITHM TIME COMPLEXITY &amp; LOOP INVARIANT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smtClean="0">
                <a:solidFill>
                  <a:srgbClr val="0070C0"/>
                </a:solidFill>
              </a:rPr>
              <a:t> Lecture </a:t>
            </a:r>
            <a:r>
              <a:rPr lang="en-US" sz="2800" b="1" smtClean="0">
                <a:solidFill>
                  <a:srgbClr val="0070C0"/>
                </a:solidFill>
              </a:rPr>
              <a:t># </a:t>
            </a:r>
            <a:r>
              <a:rPr lang="en-US" sz="2800" b="1" smtClean="0">
                <a:solidFill>
                  <a:srgbClr val="0070C0"/>
                </a:solidFill>
              </a:rPr>
              <a:t>25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ALGORITHM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word "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" refers to a </a:t>
            </a:r>
            <a:r>
              <a:rPr lang="en-US" dirty="0" smtClean="0">
                <a:solidFill>
                  <a:srgbClr val="FF0000"/>
                </a:solidFill>
              </a:rPr>
              <a:t>step-by-step</a:t>
            </a:r>
            <a:r>
              <a:rPr lang="en-US" dirty="0" smtClean="0"/>
              <a:t> method for performing some action.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	 OR </a:t>
            </a:r>
          </a:p>
          <a:p>
            <a:pPr>
              <a:buNone/>
            </a:pPr>
            <a:endParaRPr lang="en-US" dirty="0" smtClean="0"/>
          </a:p>
          <a:p>
            <a:r>
              <a:rPr lang="en-US" sz="2600" dirty="0" smtClean="0"/>
              <a:t>It’s a </a:t>
            </a:r>
            <a:r>
              <a:rPr lang="en-US" sz="2600" dirty="0" smtClean="0">
                <a:solidFill>
                  <a:srgbClr val="FF0000"/>
                </a:solidFill>
              </a:rPr>
              <a:t>recipe</a:t>
            </a:r>
            <a:r>
              <a:rPr lang="en-US" sz="2600" dirty="0" smtClean="0"/>
              <a:t> to solve a particular problem.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computer program</a:t>
            </a:r>
            <a:r>
              <a:rPr lang="en-US" dirty="0" smtClean="0"/>
              <a:t> is, similarly, a </a:t>
            </a:r>
            <a:r>
              <a:rPr lang="en-US" dirty="0" smtClean="0">
                <a:solidFill>
                  <a:srgbClr val="FF0000"/>
                </a:solidFill>
              </a:rPr>
              <a:t>set of instructions</a:t>
            </a:r>
            <a:r>
              <a:rPr lang="en-US" dirty="0" smtClean="0"/>
              <a:t> that are executed </a:t>
            </a:r>
            <a:r>
              <a:rPr lang="en-US" dirty="0" smtClean="0">
                <a:solidFill>
                  <a:srgbClr val="FF0000"/>
                </a:solidFill>
              </a:rPr>
              <a:t>step-by-step</a:t>
            </a:r>
            <a:r>
              <a:rPr lang="en-US" dirty="0" smtClean="0"/>
              <a:t> for performing some specific task.</a:t>
            </a:r>
            <a:endParaRPr lang="en-US" sz="2600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INFORMATION ABOUT ALGORITHM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name</a:t>
            </a:r>
            <a:r>
              <a:rPr lang="en-US" dirty="0" smtClean="0"/>
              <a:t> of the algorithm, together with a list of input and output variables.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input variables</a:t>
            </a:r>
            <a:r>
              <a:rPr lang="en-US" dirty="0" smtClean="0"/>
              <a:t> names, labeled by data type.</a:t>
            </a:r>
          </a:p>
          <a:p>
            <a:endParaRPr lang="en-US" dirty="0" smtClean="0"/>
          </a:p>
          <a:p>
            <a:r>
              <a:rPr lang="en-US" dirty="0" smtClean="0"/>
              <a:t>The statements that make the body of the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, with </a:t>
            </a:r>
            <a:r>
              <a:rPr lang="en-US" dirty="0" smtClean="0">
                <a:solidFill>
                  <a:srgbClr val="FF0000"/>
                </a:solidFill>
              </a:rPr>
              <a:t>explanatory comments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output variable</a:t>
            </a:r>
            <a:r>
              <a:rPr lang="en-US" dirty="0" smtClean="0"/>
              <a:t> names, labeled by data type.</a:t>
            </a:r>
          </a:p>
          <a:p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FF0000"/>
                </a:solidFill>
              </a:rPr>
              <a:t>end</a:t>
            </a:r>
            <a:r>
              <a:rPr lang="en-US" dirty="0" smtClean="0"/>
              <a:t> statement.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2500" dirty="0" smtClean="0">
              <a:solidFill>
                <a:srgbClr val="00206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ANALYSIS OF ALGORITHM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Efficiency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 can be measured in terms of:</a:t>
            </a:r>
            <a:r>
              <a:rPr lang="en-US" i="1" dirty="0" smtClean="0"/>
              <a:t> 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Execution time (</a:t>
            </a:r>
            <a:r>
              <a:rPr lang="en-US" sz="2600" i="1" dirty="0" smtClean="0">
                <a:solidFill>
                  <a:srgbClr val="FF0000"/>
                </a:solidFill>
              </a:rPr>
              <a:t>time complexity</a:t>
            </a:r>
            <a:r>
              <a:rPr lang="en-US" sz="2600" i="1" dirty="0" smtClean="0">
                <a:solidFill>
                  <a:srgbClr val="002060"/>
                </a:solidFill>
              </a:rPr>
              <a:t>) 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The amount of memory required (</a:t>
            </a:r>
            <a:r>
              <a:rPr lang="en-US" sz="2600" i="1" dirty="0" smtClean="0">
                <a:solidFill>
                  <a:srgbClr val="FF0000"/>
                </a:solidFill>
              </a:rPr>
              <a:t>space complexity</a:t>
            </a:r>
            <a:r>
              <a:rPr lang="en-US" sz="2600" i="1" dirty="0" smtClean="0">
                <a:solidFill>
                  <a:srgbClr val="002060"/>
                </a:solidFill>
              </a:rPr>
              <a:t>)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TIME COMPLEXITY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 can be expressed in terms of </a:t>
            </a:r>
            <a:r>
              <a:rPr lang="en-US" dirty="0" smtClean="0">
                <a:solidFill>
                  <a:srgbClr val="FF0000"/>
                </a:solidFill>
              </a:rPr>
              <a:t>number of operations</a:t>
            </a:r>
            <a:r>
              <a:rPr lang="en-US" dirty="0" smtClean="0"/>
              <a:t> used by an algorithm when the input has a particular size.</a:t>
            </a:r>
          </a:p>
          <a:p>
            <a:endParaRPr lang="en-US" dirty="0" smtClean="0"/>
          </a:p>
          <a:p>
            <a:r>
              <a:rPr lang="en-US" dirty="0" smtClean="0"/>
              <a:t>Time complexity is described in terms of </a:t>
            </a:r>
            <a:r>
              <a:rPr lang="en-US" dirty="0" smtClean="0">
                <a:solidFill>
                  <a:srgbClr val="FF0000"/>
                </a:solidFill>
              </a:rPr>
              <a:t>number of operations</a:t>
            </a:r>
            <a:r>
              <a:rPr lang="en-US" dirty="0" smtClean="0"/>
              <a:t> required instead of actual computer time.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SPACE COMPLEXITY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An analysis of </a:t>
            </a:r>
            <a:r>
              <a:rPr lang="en-US" dirty="0" smtClean="0">
                <a:solidFill>
                  <a:srgbClr val="FF0000"/>
                </a:solidFill>
              </a:rPr>
              <a:t>computer memory</a:t>
            </a:r>
            <a:r>
              <a:rPr lang="en-US" dirty="0" smtClean="0"/>
              <a:t> required involves the space complexity of an algorithm.</a:t>
            </a:r>
          </a:p>
          <a:p>
            <a:endParaRPr lang="en-US" dirty="0" smtClean="0"/>
          </a:p>
          <a:p>
            <a:r>
              <a:rPr lang="en-US" dirty="0" smtClean="0"/>
              <a:t>Considerations of space complexity are tied in with the particular </a:t>
            </a:r>
            <a:r>
              <a:rPr lang="en-US" dirty="0" smtClean="0">
                <a:solidFill>
                  <a:srgbClr val="FF0000"/>
                </a:solidFill>
              </a:rPr>
              <a:t>data structures</a:t>
            </a:r>
            <a:r>
              <a:rPr lang="en-US" dirty="0" smtClean="0"/>
              <a:t> used to implement the algorithm.</a:t>
            </a:r>
          </a:p>
          <a:p>
            <a:endParaRPr lang="en-US" dirty="0" smtClean="0"/>
          </a:p>
          <a:p>
            <a:r>
              <a:rPr lang="en-US" dirty="0" smtClean="0"/>
              <a:t>We will restrict our attention to time complexity.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MEASURING TIME COMPLEXITY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Counting </a:t>
            </a:r>
            <a:r>
              <a:rPr lang="en-US" dirty="0" smtClean="0">
                <a:solidFill>
                  <a:srgbClr val="FF0000"/>
                </a:solidFill>
              </a:rPr>
              <a:t>number of operations</a:t>
            </a:r>
            <a:r>
              <a:rPr lang="en-US" dirty="0" smtClean="0"/>
              <a:t> involved in the algorithms to handle </a:t>
            </a:r>
            <a:r>
              <a:rPr lang="en-US" dirty="0" smtClean="0">
                <a:solidFill>
                  <a:srgbClr val="FF0000"/>
                </a:solidFill>
              </a:rPr>
              <a:t>n items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i="1" dirty="0" smtClean="0">
                <a:solidFill>
                  <a:srgbClr val="FF0000"/>
                </a:solidFill>
              </a:rPr>
              <a:t>Objectives</a:t>
            </a:r>
            <a:r>
              <a:rPr lang="en-US" i="1" dirty="0" smtClean="0"/>
              <a:t>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FF0000"/>
                </a:solidFill>
              </a:rPr>
              <a:t>time complexity analysis</a:t>
            </a:r>
            <a:r>
              <a:rPr lang="en-US" dirty="0" smtClean="0"/>
              <a:t>: </a:t>
            </a:r>
          </a:p>
          <a:p>
            <a:endParaRPr lang="en-US" dirty="0" smtClean="0"/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To determine the </a:t>
            </a:r>
            <a:r>
              <a:rPr lang="en-US" sz="2500" dirty="0" smtClean="0">
                <a:solidFill>
                  <a:srgbClr val="FF0000"/>
                </a:solidFill>
              </a:rPr>
              <a:t>feasibility</a:t>
            </a:r>
            <a:r>
              <a:rPr lang="en-US" sz="2500" dirty="0" smtClean="0">
                <a:solidFill>
                  <a:srgbClr val="002060"/>
                </a:solidFill>
              </a:rPr>
              <a:t> of an </a:t>
            </a:r>
            <a:r>
              <a:rPr lang="en-US" sz="2500" dirty="0" smtClean="0">
                <a:solidFill>
                  <a:srgbClr val="FF0000"/>
                </a:solidFill>
              </a:rPr>
              <a:t>algorithm</a:t>
            </a:r>
            <a:r>
              <a:rPr lang="en-US" sz="2500" dirty="0" smtClean="0">
                <a:solidFill>
                  <a:srgbClr val="002060"/>
                </a:solidFill>
              </a:rPr>
              <a:t> by estimating an </a:t>
            </a:r>
            <a:r>
              <a:rPr lang="en-US" sz="2500" dirty="0" smtClean="0">
                <a:solidFill>
                  <a:srgbClr val="FF0000"/>
                </a:solidFill>
              </a:rPr>
              <a:t>upper bound</a:t>
            </a:r>
            <a:r>
              <a:rPr lang="en-US" sz="2500" dirty="0" smtClean="0">
                <a:solidFill>
                  <a:srgbClr val="002060"/>
                </a:solidFill>
              </a:rPr>
              <a:t> on the amount of work performed.</a:t>
            </a:r>
          </a:p>
          <a:p>
            <a:pPr lvl="1"/>
            <a:endParaRPr lang="en-US" sz="2500" dirty="0" smtClean="0">
              <a:solidFill>
                <a:srgbClr val="002060"/>
              </a:solidFill>
            </a:endParaRP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To </a:t>
            </a:r>
            <a:r>
              <a:rPr lang="en-US" sz="2500" dirty="0" smtClean="0">
                <a:solidFill>
                  <a:srgbClr val="FF0000"/>
                </a:solidFill>
              </a:rPr>
              <a:t>compare</a:t>
            </a:r>
            <a:r>
              <a:rPr lang="en-US" sz="2500" dirty="0" smtClean="0">
                <a:solidFill>
                  <a:srgbClr val="002060"/>
                </a:solidFill>
              </a:rPr>
              <a:t> </a:t>
            </a:r>
            <a:r>
              <a:rPr lang="en-US" sz="2500" dirty="0" smtClean="0">
                <a:solidFill>
                  <a:srgbClr val="FF0000"/>
                </a:solidFill>
              </a:rPr>
              <a:t>different algorithms</a:t>
            </a:r>
            <a:r>
              <a:rPr lang="en-US" sz="2500" dirty="0" smtClean="0">
                <a:solidFill>
                  <a:srgbClr val="002060"/>
                </a:solidFill>
              </a:rPr>
              <a:t> before deciding on which one to implement.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To simplify analysis, we sometimes </a:t>
            </a:r>
            <a:r>
              <a:rPr lang="en-US" dirty="0" smtClean="0">
                <a:solidFill>
                  <a:srgbClr val="FF0000"/>
                </a:solidFill>
              </a:rPr>
              <a:t>ignore</a:t>
            </a:r>
            <a:r>
              <a:rPr lang="en-US" dirty="0" smtClean="0"/>
              <a:t> work that takes a </a:t>
            </a:r>
            <a:r>
              <a:rPr lang="en-US" i="1" dirty="0" smtClean="0">
                <a:solidFill>
                  <a:srgbClr val="FF0000"/>
                </a:solidFill>
              </a:rPr>
              <a:t>constant amount of time</a:t>
            </a:r>
            <a:r>
              <a:rPr lang="en-US" i="1" dirty="0" smtClean="0"/>
              <a:t>, </a:t>
            </a:r>
            <a:r>
              <a:rPr lang="en-US" i="1" dirty="0" smtClean="0">
                <a:solidFill>
                  <a:srgbClr val="FF0000"/>
                </a:solidFill>
              </a:rPr>
              <a:t>independent of the problem input size</a:t>
            </a:r>
            <a:r>
              <a:rPr lang="en-US" i="1" dirty="0" smtClean="0"/>
              <a:t> </a:t>
            </a:r>
          </a:p>
          <a:p>
            <a:endParaRPr lang="en-US" i="1" dirty="0" smtClean="0"/>
          </a:p>
          <a:p>
            <a:r>
              <a:rPr lang="en-US" dirty="0" smtClean="0"/>
              <a:t>When comparing two algorithms that perform the same task, we often just concentrate on the </a:t>
            </a:r>
            <a:r>
              <a:rPr lang="en-US" i="1" dirty="0" smtClean="0">
                <a:solidFill>
                  <a:srgbClr val="FF0000"/>
                </a:solidFill>
              </a:rPr>
              <a:t>differences</a:t>
            </a:r>
            <a:r>
              <a:rPr lang="en-US" i="1" dirty="0" smtClean="0"/>
              <a:t> between algorithms.</a:t>
            </a:r>
          </a:p>
          <a:p>
            <a:endParaRPr lang="en-US" i="1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Big-O notation</a:t>
            </a:r>
            <a:r>
              <a:rPr lang="en-US" dirty="0" smtClean="0"/>
              <a:t> is used to </a:t>
            </a:r>
            <a:r>
              <a:rPr lang="en-US" dirty="0" smtClean="0">
                <a:solidFill>
                  <a:srgbClr val="FF0000"/>
                </a:solidFill>
              </a:rPr>
              <a:t>measure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 deal with </a:t>
            </a:r>
            <a:r>
              <a:rPr lang="en-US" dirty="0" smtClean="0">
                <a:solidFill>
                  <a:srgbClr val="FF0000"/>
                </a:solidFill>
              </a:rPr>
              <a:t>n items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can be </a:t>
            </a:r>
            <a:r>
              <a:rPr lang="en-US" dirty="0" smtClean="0">
                <a:solidFill>
                  <a:srgbClr val="FF0000"/>
                </a:solidFill>
              </a:rPr>
              <a:t>O(1)</a:t>
            </a:r>
            <a:r>
              <a:rPr lang="en-US" dirty="0" smtClean="0"/>
              <a:t>,   </a:t>
            </a:r>
            <a:r>
              <a:rPr lang="en-US" dirty="0" smtClean="0">
                <a:solidFill>
                  <a:srgbClr val="FF0000"/>
                </a:solidFill>
              </a:rPr>
              <a:t>O(log n)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O(n)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O(n log n)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O(n</a:t>
            </a:r>
            <a:r>
              <a:rPr lang="en-US" baseline="30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O(n</a:t>
            </a:r>
            <a:r>
              <a:rPr lang="en-US" baseline="30000" dirty="0" smtClean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O(2</a:t>
            </a:r>
            <a:r>
              <a:rPr lang="en-US" baseline="30000" dirty="0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, even </a:t>
            </a:r>
            <a:r>
              <a:rPr lang="en-US" dirty="0" smtClean="0">
                <a:solidFill>
                  <a:srgbClr val="FF0000"/>
                </a:solidFill>
              </a:rPr>
              <a:t>O(</a:t>
            </a:r>
            <a:r>
              <a:rPr lang="en-US" dirty="0" err="1" smtClean="0">
                <a:solidFill>
                  <a:srgbClr val="FF0000"/>
                </a:solidFill>
              </a:rPr>
              <a:t>n</a:t>
            </a:r>
            <a:r>
              <a:rPr lang="en-US" baseline="30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.</a:t>
            </a:r>
          </a:p>
          <a:p>
            <a:endParaRPr lang="en-US" i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Simplified analysis</a:t>
            </a:r>
            <a:r>
              <a:rPr lang="en-US" dirty="0" smtClean="0"/>
              <a:t> can be based on: </a:t>
            </a:r>
          </a:p>
          <a:p>
            <a:endParaRPr lang="en-US" dirty="0" smtClean="0"/>
          </a:p>
          <a:p>
            <a:pPr lvl="1"/>
            <a:r>
              <a:rPr lang="en-US" sz="2600" dirty="0" smtClean="0"/>
              <a:t>Number of </a:t>
            </a:r>
            <a:r>
              <a:rPr lang="en-US" sz="2600" dirty="0" smtClean="0">
                <a:solidFill>
                  <a:srgbClr val="FF0000"/>
                </a:solidFill>
              </a:rPr>
              <a:t>arithmetic operations</a:t>
            </a:r>
            <a:r>
              <a:rPr lang="en-US" sz="2600" dirty="0" smtClean="0"/>
              <a:t> performed </a:t>
            </a:r>
          </a:p>
          <a:p>
            <a:pPr lvl="1"/>
            <a:r>
              <a:rPr lang="en-US" sz="2600" dirty="0" smtClean="0"/>
              <a:t>Number of </a:t>
            </a:r>
            <a:r>
              <a:rPr lang="en-US" sz="2600" dirty="0" smtClean="0">
                <a:solidFill>
                  <a:srgbClr val="FF0000"/>
                </a:solidFill>
              </a:rPr>
              <a:t>comparisons</a:t>
            </a:r>
            <a:r>
              <a:rPr lang="en-US" sz="2600" dirty="0" smtClean="0"/>
              <a:t> made </a:t>
            </a:r>
          </a:p>
          <a:p>
            <a:pPr lvl="1"/>
            <a:r>
              <a:rPr lang="en-US" sz="2600" dirty="0" smtClean="0"/>
              <a:t>Number of </a:t>
            </a:r>
            <a:r>
              <a:rPr lang="en-US" sz="2600" dirty="0" smtClean="0">
                <a:solidFill>
                  <a:srgbClr val="FF0000"/>
                </a:solidFill>
              </a:rPr>
              <a:t>times through a critical loop</a:t>
            </a:r>
            <a:r>
              <a:rPr lang="en-US" sz="2600" dirty="0" smtClean="0"/>
              <a:t> </a:t>
            </a:r>
          </a:p>
          <a:p>
            <a:pPr lvl="1"/>
            <a:r>
              <a:rPr lang="en-US" sz="2600" dirty="0" smtClean="0"/>
              <a:t>Number of </a:t>
            </a:r>
            <a:r>
              <a:rPr lang="en-US" sz="2600" dirty="0" smtClean="0">
                <a:solidFill>
                  <a:srgbClr val="FF0000"/>
                </a:solidFill>
              </a:rPr>
              <a:t>array elements accessed</a:t>
            </a:r>
            <a:r>
              <a:rPr lang="en-US" sz="2600" dirty="0" smtClean="0"/>
              <a:t> </a:t>
            </a:r>
          </a:p>
          <a:p>
            <a:pPr lvl="1"/>
            <a:r>
              <a:rPr lang="en-US" sz="2600" dirty="0" smtClean="0"/>
              <a:t>etc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000" b="1" u="sng" dirty="0" smtClean="0">
                <a:solidFill>
                  <a:srgbClr val="0070C0"/>
                </a:solidFill>
              </a:rPr>
              <a:t>EXAMPLE: POLYNOMIAL EVALUATION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Suppose that exponentiation is carried out using multiplications.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p(x)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i="1" baseline="30000" dirty="0" smtClean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+</a:t>
            </a:r>
            <a:r>
              <a:rPr lang="en-US" dirty="0" smtClean="0">
                <a:solidFill>
                  <a:srgbClr val="FF0000"/>
                </a:solidFill>
              </a:rPr>
              <a:t> 7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i="1" baseline="30000" dirty="0" smtClean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–</a:t>
            </a:r>
            <a:r>
              <a:rPr lang="en-US" dirty="0" smtClean="0">
                <a:solidFill>
                  <a:srgbClr val="FF0000"/>
                </a:solidFill>
              </a:rPr>
              <a:t> 2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i="1" baseline="30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+</a:t>
            </a:r>
            <a:r>
              <a:rPr lang="en-US" dirty="0" smtClean="0">
                <a:solidFill>
                  <a:srgbClr val="FF0000"/>
                </a:solidFill>
              </a:rPr>
              <a:t> 3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+</a:t>
            </a:r>
            <a:r>
              <a:rPr lang="en-US" dirty="0" smtClean="0">
                <a:solidFill>
                  <a:srgbClr val="FF0000"/>
                </a:solidFill>
              </a:rPr>
              <a:t> 6</a:t>
            </a:r>
            <a:r>
              <a:rPr lang="en-US" dirty="0" smtClean="0"/>
              <a:t> </a:t>
            </a:r>
          </a:p>
          <a:p>
            <a:r>
              <a:rPr lang="en-US" dirty="0" smtClean="0"/>
              <a:t>are: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P(x)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4*x*x*x*x </a:t>
            </a:r>
            <a:r>
              <a:rPr lang="en-US" dirty="0" smtClean="0"/>
              <a:t>+</a:t>
            </a:r>
            <a:r>
              <a:rPr lang="en-US" dirty="0" smtClean="0">
                <a:solidFill>
                  <a:srgbClr val="FF0000"/>
                </a:solidFill>
              </a:rPr>
              <a:t> 7*x*x*x </a:t>
            </a:r>
            <a:r>
              <a:rPr lang="en-US" dirty="0" smtClean="0"/>
              <a:t>–</a:t>
            </a:r>
            <a:r>
              <a:rPr lang="en-US" dirty="0" smtClean="0">
                <a:solidFill>
                  <a:srgbClr val="FF0000"/>
                </a:solidFill>
              </a:rPr>
              <a:t> 2*x*x </a:t>
            </a:r>
            <a:r>
              <a:rPr lang="en-US" dirty="0" smtClean="0"/>
              <a:t>+</a:t>
            </a:r>
            <a:r>
              <a:rPr lang="en-US" dirty="0" smtClean="0">
                <a:solidFill>
                  <a:srgbClr val="FF0000"/>
                </a:solidFill>
              </a:rPr>
              <a:t>3*x </a:t>
            </a:r>
            <a:r>
              <a:rPr lang="en-US" dirty="0" smtClean="0"/>
              <a:t>+</a:t>
            </a:r>
            <a:r>
              <a:rPr lang="en-US" dirty="0" smtClean="0">
                <a:solidFill>
                  <a:srgbClr val="FF0000"/>
                </a:solidFill>
              </a:rPr>
              <a:t> 6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Method of Analysis:</a:t>
            </a:r>
          </a:p>
          <a:p>
            <a:pPr>
              <a:buNone/>
            </a:pPr>
            <a:r>
              <a:rPr lang="en-US" dirty="0" smtClean="0"/>
              <a:t>	Basic operations are multiplication, addition, and subtraction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We’ll only </a:t>
            </a:r>
            <a:r>
              <a:rPr lang="en-US" dirty="0" smtClean="0">
                <a:solidFill>
                  <a:srgbClr val="FF0000"/>
                </a:solidFill>
              </a:rPr>
              <a:t>consider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number of multiplications</a:t>
            </a:r>
            <a:r>
              <a:rPr lang="en-US" dirty="0" smtClean="0"/>
              <a:t>, since the number of additions and subtractions are the same in each solution.</a:t>
            </a:r>
          </a:p>
          <a:p>
            <a:endParaRPr lang="en-US" dirty="0" smtClean="0"/>
          </a:p>
          <a:p>
            <a:r>
              <a:rPr lang="en-US" dirty="0" smtClean="0"/>
              <a:t>We’ll </a:t>
            </a:r>
            <a:r>
              <a:rPr lang="en-US" dirty="0" smtClean="0">
                <a:solidFill>
                  <a:srgbClr val="FF0000"/>
                </a:solidFill>
              </a:rPr>
              <a:t>examine</a:t>
            </a:r>
            <a:r>
              <a:rPr lang="en-US" dirty="0" smtClean="0"/>
              <a:t> the general form of a </a:t>
            </a:r>
            <a:r>
              <a:rPr lang="en-US" dirty="0" smtClean="0">
                <a:solidFill>
                  <a:srgbClr val="FF0000"/>
                </a:solidFill>
              </a:rPr>
              <a:t>polynomial of degree n</a:t>
            </a:r>
            <a:r>
              <a:rPr lang="en-US" dirty="0" smtClean="0"/>
              <a:t>,</a:t>
            </a:r>
            <a:r>
              <a:rPr lang="en-US" i="1" dirty="0" smtClean="0"/>
              <a:t>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express</a:t>
            </a:r>
            <a:r>
              <a:rPr lang="en-US" dirty="0" smtClean="0"/>
              <a:t> our result in </a:t>
            </a:r>
            <a:r>
              <a:rPr lang="en-US" dirty="0" smtClean="0">
                <a:solidFill>
                  <a:srgbClr val="FF0000"/>
                </a:solidFill>
              </a:rPr>
              <a:t>terms of n</a:t>
            </a:r>
            <a:r>
              <a:rPr lang="en-US" dirty="0" smtClean="0"/>
              <a:t>.</a:t>
            </a:r>
            <a:r>
              <a:rPr lang="en-US" i="1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We’ll look at the </a:t>
            </a:r>
            <a:r>
              <a:rPr lang="en-US" i="1" dirty="0" smtClean="0">
                <a:solidFill>
                  <a:srgbClr val="FF0000"/>
                </a:solidFill>
              </a:rPr>
              <a:t>worst case</a:t>
            </a:r>
            <a:r>
              <a:rPr lang="en-US" i="1" dirty="0" smtClean="0"/>
              <a:t> (max number of multiplications) to get an </a:t>
            </a:r>
            <a:r>
              <a:rPr lang="en-US" i="1" dirty="0" smtClean="0">
                <a:solidFill>
                  <a:srgbClr val="FF0000"/>
                </a:solidFill>
              </a:rPr>
              <a:t>upper bound</a:t>
            </a:r>
            <a:r>
              <a:rPr lang="en-US" i="1" dirty="0" smtClean="0"/>
              <a:t> on the work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GENERAL FORM OF POLYNOMIAL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General form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polynomial</a:t>
            </a:r>
            <a:r>
              <a:rPr lang="en-US" dirty="0" smtClean="0"/>
              <a:t> is: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p(x)</a:t>
            </a:r>
            <a:r>
              <a:rPr lang="en-US" dirty="0" smtClean="0"/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a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err="1" smtClean="0">
                <a:solidFill>
                  <a:srgbClr val="FF0000"/>
                </a:solidFill>
              </a:rPr>
              <a:t>x</a:t>
            </a:r>
            <a:r>
              <a:rPr lang="en-US" baseline="30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 + a</a:t>
            </a:r>
            <a:r>
              <a:rPr lang="en-US" baseline="-25000" dirty="0" smtClean="0">
                <a:solidFill>
                  <a:srgbClr val="FF0000"/>
                </a:solidFill>
              </a:rPr>
              <a:t>n-1</a:t>
            </a:r>
            <a:r>
              <a:rPr lang="en-US" dirty="0" smtClean="0">
                <a:solidFill>
                  <a:srgbClr val="FF0000"/>
                </a:solidFill>
              </a:rPr>
              <a:t>x</a:t>
            </a:r>
            <a:r>
              <a:rPr lang="en-US" baseline="30000" dirty="0" smtClean="0">
                <a:solidFill>
                  <a:srgbClr val="FF0000"/>
                </a:solidFill>
              </a:rPr>
              <a:t>n-1</a:t>
            </a:r>
            <a:r>
              <a:rPr lang="en-US" dirty="0" smtClean="0">
                <a:solidFill>
                  <a:srgbClr val="FF0000"/>
                </a:solidFill>
              </a:rPr>
              <a:t> + a</a:t>
            </a:r>
            <a:r>
              <a:rPr lang="en-US" baseline="-25000" dirty="0" smtClean="0">
                <a:solidFill>
                  <a:srgbClr val="FF0000"/>
                </a:solidFill>
              </a:rPr>
              <a:t>n-2</a:t>
            </a:r>
            <a:r>
              <a:rPr lang="en-US" dirty="0" smtClean="0">
                <a:solidFill>
                  <a:srgbClr val="FF0000"/>
                </a:solidFill>
              </a:rPr>
              <a:t>x</a:t>
            </a:r>
            <a:r>
              <a:rPr lang="en-US" baseline="30000" dirty="0" smtClean="0">
                <a:solidFill>
                  <a:srgbClr val="FF0000"/>
                </a:solidFill>
              </a:rPr>
              <a:t>n-2</a:t>
            </a:r>
            <a:r>
              <a:rPr lang="en-US" dirty="0" smtClean="0">
                <a:solidFill>
                  <a:srgbClr val="FF0000"/>
                </a:solidFill>
              </a:rPr>
              <a:t> + … + a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x</a:t>
            </a:r>
            <a:r>
              <a:rPr lang="en-US" baseline="30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 + a</a:t>
            </a:r>
            <a:r>
              <a:rPr lang="en-US" baseline="30000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where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-25000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is non-zero for all n &gt;= 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Analysis:</a:t>
            </a:r>
            <a:r>
              <a:rPr lang="en-US" i="1" dirty="0" smtClean="0"/>
              <a:t>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p(x)</a:t>
            </a:r>
            <a:r>
              <a:rPr lang="en-US" dirty="0" smtClean="0"/>
              <a:t> = a</a:t>
            </a:r>
            <a:r>
              <a:rPr lang="en-US" baseline="-25000" dirty="0" smtClean="0"/>
              <a:t>n</a:t>
            </a:r>
            <a:r>
              <a:rPr lang="en-US" dirty="0" smtClean="0"/>
              <a:t> * x * x * … * x * x + 		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multiplications </a:t>
            </a:r>
          </a:p>
          <a:p>
            <a:pPr>
              <a:buNone/>
            </a:pPr>
            <a:r>
              <a:rPr lang="pt-BR" dirty="0" smtClean="0"/>
              <a:t>		   </a:t>
            </a:r>
            <a:r>
              <a:rPr lang="en-US" dirty="0" smtClean="0"/>
              <a:t>a</a:t>
            </a:r>
            <a:r>
              <a:rPr lang="en-US" baseline="-25000" dirty="0" smtClean="0"/>
              <a:t>n-1</a:t>
            </a:r>
            <a:r>
              <a:rPr lang="pt-BR" dirty="0" smtClean="0"/>
              <a:t> * x * x * … * x * x + 		</a:t>
            </a:r>
            <a:r>
              <a:rPr lang="pt-BR" dirty="0" smtClean="0">
                <a:solidFill>
                  <a:srgbClr val="FF0000"/>
                </a:solidFill>
              </a:rPr>
              <a:t>n-1</a:t>
            </a:r>
            <a:r>
              <a:rPr lang="pt-BR" dirty="0" smtClean="0"/>
              <a:t> multiplications </a:t>
            </a:r>
          </a:p>
          <a:p>
            <a:pPr>
              <a:buNone/>
            </a:pPr>
            <a:r>
              <a:rPr lang="pt-BR" dirty="0" smtClean="0"/>
              <a:t>		   </a:t>
            </a:r>
            <a:r>
              <a:rPr lang="en-US" dirty="0" smtClean="0"/>
              <a:t>a</a:t>
            </a:r>
            <a:r>
              <a:rPr lang="en-US" baseline="-25000" dirty="0" smtClean="0"/>
              <a:t>n-2</a:t>
            </a:r>
            <a:r>
              <a:rPr lang="pt-BR" dirty="0" smtClean="0"/>
              <a:t> * x * x * … * x * x + 		</a:t>
            </a:r>
            <a:r>
              <a:rPr lang="pt-BR" dirty="0" smtClean="0">
                <a:solidFill>
                  <a:srgbClr val="FF0000"/>
                </a:solidFill>
              </a:rPr>
              <a:t>n-2</a:t>
            </a:r>
            <a:r>
              <a:rPr lang="pt-BR" dirty="0" smtClean="0"/>
              <a:t> multiplications </a:t>
            </a:r>
          </a:p>
          <a:p>
            <a:pPr>
              <a:buNone/>
            </a:pPr>
            <a:r>
              <a:rPr lang="en-US" dirty="0" smtClean="0"/>
              <a:t>		   … + 					… </a:t>
            </a:r>
          </a:p>
          <a:p>
            <a:pPr>
              <a:buNone/>
            </a:pPr>
            <a:r>
              <a:rPr lang="en-US" dirty="0" smtClean="0"/>
              <a:t>		   a</a:t>
            </a:r>
            <a:r>
              <a:rPr lang="en-US" baseline="-25000" dirty="0" smtClean="0"/>
              <a:t>2</a:t>
            </a:r>
            <a:r>
              <a:rPr lang="fr-FR" dirty="0" smtClean="0"/>
              <a:t> * x * x +				 </a:t>
            </a:r>
            <a:r>
              <a:rPr lang="fr-FR" dirty="0" smtClean="0">
                <a:solidFill>
                  <a:srgbClr val="FF0000"/>
                </a:solidFill>
              </a:rPr>
              <a:t>2</a:t>
            </a:r>
            <a:r>
              <a:rPr lang="fr-FR" dirty="0" smtClean="0"/>
              <a:t> multiplications </a:t>
            </a:r>
          </a:p>
          <a:p>
            <a:pPr>
              <a:buNone/>
            </a:pPr>
            <a:r>
              <a:rPr lang="en-US" dirty="0" smtClean="0"/>
              <a:t>		   a</a:t>
            </a:r>
            <a:r>
              <a:rPr lang="en-US" baseline="-25000" dirty="0" smtClean="0"/>
              <a:t>1</a:t>
            </a:r>
            <a:r>
              <a:rPr lang="en-US" dirty="0" smtClean="0"/>
              <a:t> * x +				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multiplication </a:t>
            </a:r>
          </a:p>
          <a:p>
            <a:pPr>
              <a:buNone/>
            </a:pPr>
            <a:r>
              <a:rPr lang="en-US" dirty="0" smtClean="0"/>
              <a:t>		   a</a:t>
            </a:r>
            <a:r>
              <a:rPr lang="en-US" baseline="-25000" dirty="0" smtClean="0"/>
              <a:t>0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Number of </a:t>
            </a:r>
            <a:r>
              <a:rPr lang="en-US" dirty="0" smtClean="0">
                <a:solidFill>
                  <a:srgbClr val="FF0000"/>
                </a:solidFill>
              </a:rPr>
              <a:t>multiplications</a:t>
            </a:r>
            <a:r>
              <a:rPr lang="en-US" dirty="0" smtClean="0"/>
              <a:t> needed in the </a:t>
            </a:r>
            <a:r>
              <a:rPr lang="en-US" dirty="0" smtClean="0">
                <a:solidFill>
                  <a:srgbClr val="FF0000"/>
                </a:solidFill>
              </a:rPr>
              <a:t>worst case</a:t>
            </a:r>
            <a:r>
              <a:rPr lang="en-US" dirty="0" smtClean="0"/>
              <a:t> is </a:t>
            </a:r>
          </a:p>
          <a:p>
            <a:pPr>
              <a:buNone/>
            </a:pPr>
            <a:r>
              <a:rPr lang="pt-BR" dirty="0" smtClean="0"/>
              <a:t>		T(n) = </a:t>
            </a:r>
            <a:r>
              <a:rPr lang="pt-BR" dirty="0" smtClean="0">
                <a:solidFill>
                  <a:srgbClr val="FF0000"/>
                </a:solidFill>
              </a:rPr>
              <a:t>n + n-1 + n-2 + … + 3 + 2 + 1</a:t>
            </a:r>
            <a:r>
              <a:rPr lang="pt-BR" dirty="0" smtClean="0"/>
              <a:t> </a:t>
            </a:r>
          </a:p>
          <a:p>
            <a:pPr>
              <a:buNone/>
            </a:pPr>
            <a:r>
              <a:rPr lang="en-US" dirty="0" smtClean="0"/>
              <a:t>			= </a:t>
            </a:r>
            <a:r>
              <a:rPr lang="en-US" dirty="0" smtClean="0">
                <a:solidFill>
                  <a:srgbClr val="FF0000"/>
                </a:solidFill>
              </a:rPr>
              <a:t>n(n + 1)/2</a:t>
            </a:r>
            <a:r>
              <a:rPr lang="en-US" dirty="0" smtClean="0"/>
              <a:t> </a:t>
            </a:r>
            <a:endParaRPr lang="en-US" i="1" dirty="0" smtClean="0"/>
          </a:p>
          <a:p>
            <a:pPr>
              <a:buNone/>
            </a:pPr>
            <a:r>
              <a:rPr lang="en-US" dirty="0" smtClean="0"/>
              <a:t>			=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30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/2 + n/2</a:t>
            </a: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046024" y="1930708"/>
            <a:ext cx="23622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282584" y="2290544"/>
            <a:ext cx="22860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309880" y="2660168"/>
            <a:ext cx="22860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135872" y="3397144"/>
            <a:ext cx="7620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155208" y="3772456"/>
            <a:ext cx="3048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16200000" flipH="1">
            <a:off x="4381500" y="2857500"/>
            <a:ext cx="2438400" cy="7620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BIG – </a:t>
            </a:r>
            <a:r>
              <a:rPr lang="en-US" b="1" i="1" u="sng" dirty="0" smtClean="0">
                <a:solidFill>
                  <a:srgbClr val="0070C0"/>
                </a:solidFill>
              </a:rPr>
              <a:t>O</a:t>
            </a:r>
            <a:r>
              <a:rPr lang="en-US" b="1" u="sng" dirty="0" smtClean="0">
                <a:solidFill>
                  <a:srgbClr val="0070C0"/>
                </a:solidFill>
              </a:rPr>
              <a:t> Notation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Formally, the </a:t>
            </a:r>
            <a:r>
              <a:rPr lang="en-US" dirty="0" smtClean="0">
                <a:solidFill>
                  <a:srgbClr val="FF0000"/>
                </a:solidFill>
              </a:rPr>
              <a:t>time complexity T(n)</a:t>
            </a:r>
            <a:r>
              <a:rPr lang="en-US" dirty="0" smtClean="0"/>
              <a:t> of an algorithm is </a:t>
            </a:r>
            <a:r>
              <a:rPr lang="en-US" i="1" dirty="0" smtClean="0">
                <a:solidFill>
                  <a:srgbClr val="FF0000"/>
                </a:solidFill>
              </a:rPr>
              <a:t>O</a:t>
            </a:r>
            <a:r>
              <a:rPr lang="en-US" dirty="0" smtClean="0">
                <a:solidFill>
                  <a:srgbClr val="FF0000"/>
                </a:solidFill>
              </a:rPr>
              <a:t>(f(n))</a:t>
            </a:r>
            <a:r>
              <a:rPr lang="en-US" dirty="0" smtClean="0"/>
              <a:t> (</a:t>
            </a:r>
            <a:r>
              <a:rPr lang="en-US" b="1" dirty="0" smtClean="0"/>
              <a:t>of the order f(n)) 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Example: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Q: </a:t>
            </a:r>
            <a:r>
              <a:rPr lang="en-US" dirty="0" smtClean="0"/>
              <a:t>What is the </a:t>
            </a:r>
            <a:r>
              <a:rPr lang="en-US" dirty="0" smtClean="0">
                <a:solidFill>
                  <a:srgbClr val="FF0000"/>
                </a:solidFill>
              </a:rPr>
              <a:t>Big-</a:t>
            </a:r>
            <a:r>
              <a:rPr lang="en-US" i="1" dirty="0" smtClean="0">
                <a:solidFill>
                  <a:srgbClr val="FF0000"/>
                </a:solidFill>
              </a:rPr>
              <a:t>O</a:t>
            </a:r>
            <a:r>
              <a:rPr lang="en-US" dirty="0" smtClean="0">
                <a:solidFill>
                  <a:srgbClr val="FF0000"/>
                </a:solidFill>
              </a:rPr>
              <a:t> notation</a:t>
            </a:r>
            <a:r>
              <a:rPr lang="en-US" dirty="0" smtClean="0"/>
              <a:t> for </a:t>
            </a:r>
            <a:r>
              <a:rPr lang="en-US" dirty="0" smtClean="0">
                <a:solidFill>
                  <a:srgbClr val="FF0000"/>
                </a:solidFill>
              </a:rPr>
              <a:t>polynomial evaluation</a:t>
            </a:r>
            <a:r>
              <a:rPr lang="en-US" dirty="0" smtClean="0"/>
              <a:t>? 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We chose the </a:t>
            </a:r>
            <a:r>
              <a:rPr lang="en-US" dirty="0" smtClean="0">
                <a:solidFill>
                  <a:srgbClr val="FF0000"/>
                </a:solidFill>
              </a:rPr>
              <a:t>highest-order term</a:t>
            </a:r>
            <a:r>
              <a:rPr lang="en-US" dirty="0" smtClean="0"/>
              <a:t> of the expression: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 T(n) =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30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/2 + n/2</a:t>
            </a:r>
            <a:r>
              <a:rPr lang="en-US" dirty="0" smtClean="0"/>
              <a:t> ,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so,			 T(n) is </a:t>
            </a:r>
            <a:r>
              <a:rPr lang="en-US" i="1" dirty="0" smtClean="0">
                <a:solidFill>
                  <a:srgbClr val="FF0000"/>
                </a:solidFill>
              </a:rPr>
              <a:t>O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30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BIG – </a:t>
            </a:r>
            <a:r>
              <a:rPr lang="en-US" b="1" i="1" u="sng" dirty="0" smtClean="0">
                <a:solidFill>
                  <a:srgbClr val="0070C0"/>
                </a:solidFill>
              </a:rPr>
              <a:t>O</a:t>
            </a:r>
            <a:r>
              <a:rPr lang="en-US" b="1" u="sng" dirty="0" smtClean="0">
                <a:solidFill>
                  <a:srgbClr val="0070C0"/>
                </a:solidFill>
              </a:rPr>
              <a:t> Analysis in General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With </a:t>
            </a:r>
            <a:r>
              <a:rPr lang="en-US" dirty="0" smtClean="0">
                <a:solidFill>
                  <a:srgbClr val="FF0000"/>
                </a:solidFill>
              </a:rPr>
              <a:t>independent nested loops</a:t>
            </a:r>
            <a:r>
              <a:rPr lang="en-US" dirty="0" smtClean="0"/>
              <a:t>: The number of iterations of the inner loop is </a:t>
            </a:r>
            <a:r>
              <a:rPr lang="en-US" dirty="0" smtClean="0">
                <a:solidFill>
                  <a:srgbClr val="FF0000"/>
                </a:solidFill>
              </a:rPr>
              <a:t>independent</a:t>
            </a:r>
            <a:r>
              <a:rPr lang="en-US" dirty="0" smtClean="0"/>
              <a:t> of the number of iterations of the outer loop.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Example: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2511" y="3655328"/>
            <a:ext cx="3966259" cy="190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3667125"/>
            <a:ext cx="3657600" cy="1840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BIG – </a:t>
            </a:r>
            <a:r>
              <a:rPr lang="en-US" b="1" i="1" u="sng" dirty="0" smtClean="0">
                <a:solidFill>
                  <a:srgbClr val="0070C0"/>
                </a:solidFill>
              </a:rPr>
              <a:t>O</a:t>
            </a:r>
            <a:r>
              <a:rPr lang="en-US" b="1" u="sng" dirty="0" smtClean="0">
                <a:solidFill>
                  <a:srgbClr val="0070C0"/>
                </a:solidFill>
              </a:rPr>
              <a:t> Analysis in General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With </a:t>
            </a:r>
            <a:r>
              <a:rPr lang="en-US" dirty="0" smtClean="0">
                <a:solidFill>
                  <a:srgbClr val="FF0000"/>
                </a:solidFill>
              </a:rPr>
              <a:t>dependent nested loops</a:t>
            </a:r>
            <a:r>
              <a:rPr lang="en-US" dirty="0" smtClean="0"/>
              <a:t>: The number of iterations of the inner loop is </a:t>
            </a:r>
            <a:r>
              <a:rPr lang="en-US" dirty="0" smtClean="0">
                <a:solidFill>
                  <a:srgbClr val="FF0000"/>
                </a:solidFill>
              </a:rPr>
              <a:t>depends</a:t>
            </a:r>
            <a:r>
              <a:rPr lang="en-US" dirty="0" smtClean="0"/>
              <a:t> on the value from the outer loop.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Example: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1999" y="3526808"/>
            <a:ext cx="4038601" cy="2071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67275" y="3554104"/>
            <a:ext cx="4048125" cy="2008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BIG – </a:t>
            </a:r>
            <a:r>
              <a:rPr lang="en-US" b="1" i="1" u="sng" dirty="0" smtClean="0">
                <a:solidFill>
                  <a:srgbClr val="0070C0"/>
                </a:solidFill>
              </a:rPr>
              <a:t>O</a:t>
            </a:r>
            <a:r>
              <a:rPr lang="en-US" b="1" u="sng" dirty="0" smtClean="0">
                <a:solidFill>
                  <a:srgbClr val="0070C0"/>
                </a:solidFill>
              </a:rPr>
              <a:t> Analysis in General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Assume that a </a:t>
            </a:r>
            <a:r>
              <a:rPr lang="en-US" dirty="0" smtClean="0">
                <a:solidFill>
                  <a:srgbClr val="FF0000"/>
                </a:solidFill>
              </a:rPr>
              <a:t>computer executes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FF0000"/>
                </a:solidFill>
              </a:rPr>
              <a:t>million instructions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FF0000"/>
                </a:solidFill>
              </a:rPr>
              <a:t>second</a:t>
            </a:r>
            <a:r>
              <a:rPr lang="en-US" dirty="0" smtClean="0"/>
              <a:t>. This chart summarizes the amount of time required to execute </a:t>
            </a:r>
            <a:r>
              <a:rPr lang="en-US" dirty="0" smtClean="0">
                <a:solidFill>
                  <a:srgbClr val="FF0000"/>
                </a:solidFill>
              </a:rPr>
              <a:t>f(n)</a:t>
            </a:r>
            <a:r>
              <a:rPr lang="en-US" dirty="0" smtClean="0"/>
              <a:t> instructions on this machine for various values of n.</a:t>
            </a:r>
          </a:p>
          <a:p>
            <a:endParaRPr lang="en-US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7254" y="2969242"/>
            <a:ext cx="7804846" cy="329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To </a:t>
            </a:r>
            <a:r>
              <a:rPr lang="en-US" dirty="0" smtClean="0">
                <a:solidFill>
                  <a:srgbClr val="FF0000"/>
                </a:solidFill>
              </a:rPr>
              <a:t>determine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of an algorithm: </a:t>
            </a:r>
          </a:p>
          <a:p>
            <a:endParaRPr lang="en-US" dirty="0" smtClean="0"/>
          </a:p>
          <a:p>
            <a:r>
              <a:rPr lang="en-US" dirty="0" smtClean="0"/>
              <a:t>Express the amount of work done as a </a:t>
            </a:r>
            <a:r>
              <a:rPr lang="en-US" dirty="0" smtClean="0">
                <a:solidFill>
                  <a:srgbClr val="FF0000"/>
                </a:solidFill>
              </a:rPr>
              <a:t>sum</a:t>
            </a:r>
            <a:r>
              <a:rPr lang="en-US" dirty="0" smtClean="0"/>
              <a:t>: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f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(n) + f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(n) + … + </a:t>
            </a:r>
            <a:r>
              <a:rPr lang="en-US" dirty="0" err="1" smtClean="0">
                <a:solidFill>
                  <a:srgbClr val="FF0000"/>
                </a:solidFill>
              </a:rPr>
              <a:t>f</a:t>
            </a:r>
            <a:r>
              <a:rPr lang="en-US" baseline="-25000" dirty="0" err="1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(n)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Identify the </a:t>
            </a:r>
            <a:r>
              <a:rPr lang="en-US" i="1" dirty="0" smtClean="0">
                <a:solidFill>
                  <a:srgbClr val="FF0000"/>
                </a:solidFill>
              </a:rPr>
              <a:t>dominant term</a:t>
            </a:r>
            <a:r>
              <a:rPr lang="en-US" i="1" dirty="0" smtClean="0"/>
              <a:t>: the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i</a:t>
            </a:r>
            <a:r>
              <a:rPr lang="en-US" i="1" dirty="0" smtClean="0"/>
              <a:t> such that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j</a:t>
            </a:r>
            <a:r>
              <a:rPr lang="en-US" i="1" dirty="0" smtClean="0"/>
              <a:t> is O(</a:t>
            </a:r>
            <a:r>
              <a:rPr lang="en-US" dirty="0" err="1" smtClean="0"/>
              <a:t>f</a:t>
            </a:r>
            <a:r>
              <a:rPr lang="en-US" baseline="-25000" dirty="0" err="1" smtClean="0"/>
              <a:t>i</a:t>
            </a:r>
            <a:r>
              <a:rPr lang="en-US" i="1" dirty="0" smtClean="0"/>
              <a:t>) and for k different from j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err="1" smtClean="0">
                <a:solidFill>
                  <a:srgbClr val="FF0000"/>
                </a:solidFill>
              </a:rPr>
              <a:t>f</a:t>
            </a:r>
            <a:r>
              <a:rPr lang="en-US" baseline="-25000" dirty="0" err="1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(n) &lt; </a:t>
            </a:r>
            <a:r>
              <a:rPr lang="en-US" dirty="0" err="1" smtClean="0">
                <a:solidFill>
                  <a:srgbClr val="FF0000"/>
                </a:solidFill>
              </a:rPr>
              <a:t>f</a:t>
            </a:r>
            <a:r>
              <a:rPr lang="en-US" baseline="-25000" dirty="0" err="1" smtClean="0">
                <a:solidFill>
                  <a:srgbClr val="FF0000"/>
                </a:solidFill>
              </a:rPr>
              <a:t>j</a:t>
            </a:r>
            <a:r>
              <a:rPr lang="en-US" dirty="0" smtClean="0">
                <a:solidFill>
                  <a:srgbClr val="FF0000"/>
                </a:solidFill>
              </a:rPr>
              <a:t>(n)</a:t>
            </a:r>
            <a:r>
              <a:rPr lang="en-US" dirty="0" smtClean="0"/>
              <a:t> (for all sufficiently large n) </a:t>
            </a:r>
          </a:p>
          <a:p>
            <a:endParaRPr lang="en-US" dirty="0" smtClean="0"/>
          </a:p>
          <a:p>
            <a:r>
              <a:rPr lang="en-US" dirty="0" smtClean="0"/>
              <a:t>Then the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O(</a:t>
            </a:r>
            <a:r>
              <a:rPr lang="en-US" dirty="0" err="1" smtClean="0">
                <a:solidFill>
                  <a:srgbClr val="FF0000"/>
                </a:solidFill>
              </a:rPr>
              <a:t>f</a:t>
            </a:r>
            <a:r>
              <a:rPr lang="en-US" baseline="-25000" dirty="0" err="1" smtClean="0">
                <a:solidFill>
                  <a:srgbClr val="FF0000"/>
                </a:solidFill>
              </a:rPr>
              <a:t>j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INTRACTABLE PROBLEM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problem is said to be </a:t>
            </a:r>
            <a:r>
              <a:rPr lang="en-US" dirty="0" smtClean="0">
                <a:solidFill>
                  <a:srgbClr val="FF0000"/>
                </a:solidFill>
              </a:rPr>
              <a:t>intractable</a:t>
            </a:r>
            <a:r>
              <a:rPr lang="en-US" dirty="0" smtClean="0"/>
              <a:t> if solving it by computer is impractical.</a:t>
            </a:r>
          </a:p>
          <a:p>
            <a:endParaRPr lang="en-US" i="1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Example: </a:t>
            </a:r>
          </a:p>
          <a:p>
            <a:endParaRPr lang="en-US" b="1" u="sng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Algorithms with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O(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) take too long to solve even for </a:t>
            </a:r>
            <a:r>
              <a:rPr lang="en-US" dirty="0" smtClean="0">
                <a:solidFill>
                  <a:srgbClr val="FF0000"/>
                </a:solidFill>
              </a:rPr>
              <a:t>moderate values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; a </a:t>
            </a:r>
            <a:r>
              <a:rPr lang="en-US" dirty="0" smtClean="0">
                <a:solidFill>
                  <a:srgbClr val="FF0000"/>
                </a:solidFill>
              </a:rPr>
              <a:t>machine</a:t>
            </a:r>
            <a:r>
              <a:rPr lang="en-US" dirty="0" smtClean="0"/>
              <a:t> that executes </a:t>
            </a:r>
            <a:r>
              <a:rPr lang="en-US" dirty="0" smtClean="0">
                <a:solidFill>
                  <a:srgbClr val="FF0000"/>
                </a:solidFill>
              </a:rPr>
              <a:t>100 million instructions</a:t>
            </a:r>
            <a:r>
              <a:rPr lang="en-US" dirty="0" smtClean="0"/>
              <a:t> per second can execute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 smtClean="0">
                <a:solidFill>
                  <a:srgbClr val="FF0000"/>
                </a:solidFill>
              </a:rPr>
              <a:t>60</a:t>
            </a:r>
            <a:r>
              <a:rPr lang="en-US" dirty="0" smtClean="0"/>
              <a:t> instructions in about </a:t>
            </a:r>
            <a:r>
              <a:rPr lang="en-US" dirty="0" smtClean="0">
                <a:solidFill>
                  <a:srgbClr val="FF0000"/>
                </a:solidFill>
              </a:rPr>
              <a:t>365 years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CONSTANT TIME: </a:t>
            </a:r>
            <a:r>
              <a:rPr lang="en-US" b="1" i="1" u="sng" dirty="0" smtClean="0">
                <a:solidFill>
                  <a:srgbClr val="0070C0"/>
                </a:solidFill>
              </a:rPr>
              <a:t>O </a:t>
            </a:r>
            <a:r>
              <a:rPr lang="en-US" b="1" u="sng" dirty="0" smtClean="0">
                <a:solidFill>
                  <a:srgbClr val="0070C0"/>
                </a:solidFill>
              </a:rPr>
              <a:t>(1)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 is said to run in </a:t>
            </a:r>
            <a:r>
              <a:rPr lang="en-US" dirty="0" smtClean="0">
                <a:solidFill>
                  <a:srgbClr val="FF0000"/>
                </a:solidFill>
              </a:rPr>
              <a:t>constant time</a:t>
            </a:r>
            <a:r>
              <a:rPr lang="en-US" dirty="0" smtClean="0"/>
              <a:t> if it requires the </a:t>
            </a:r>
            <a:r>
              <a:rPr lang="en-US" dirty="0" smtClean="0">
                <a:solidFill>
                  <a:srgbClr val="FF0000"/>
                </a:solidFill>
              </a:rPr>
              <a:t>same amount of time</a:t>
            </a:r>
            <a:r>
              <a:rPr lang="en-US" dirty="0" smtClean="0"/>
              <a:t> regardless of the </a:t>
            </a:r>
            <a:r>
              <a:rPr lang="en-US" dirty="0" smtClean="0">
                <a:solidFill>
                  <a:srgbClr val="FF0000"/>
                </a:solidFill>
              </a:rPr>
              <a:t>input size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Constant time complexity</a:t>
            </a:r>
            <a:r>
              <a:rPr lang="en-US" dirty="0" smtClean="0"/>
              <a:t> is denoted as </a:t>
            </a:r>
            <a:r>
              <a:rPr lang="en-US" dirty="0" smtClean="0">
                <a:solidFill>
                  <a:srgbClr val="FF0000"/>
                </a:solidFill>
              </a:rPr>
              <a:t>O(1)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LINEAR TIME: </a:t>
            </a:r>
            <a:r>
              <a:rPr lang="en-US" b="1" i="1" u="sng" dirty="0" smtClean="0">
                <a:solidFill>
                  <a:srgbClr val="0070C0"/>
                </a:solidFill>
              </a:rPr>
              <a:t>O</a:t>
            </a:r>
            <a:r>
              <a:rPr lang="en-US" b="1" u="sng" dirty="0" smtClean="0">
                <a:solidFill>
                  <a:srgbClr val="0070C0"/>
                </a:solidFill>
              </a:rPr>
              <a:t> (n)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 is said to run in </a:t>
            </a:r>
            <a:r>
              <a:rPr lang="en-US" dirty="0" smtClean="0">
                <a:solidFill>
                  <a:srgbClr val="FF0000"/>
                </a:solidFill>
              </a:rPr>
              <a:t>linear time</a:t>
            </a:r>
            <a:r>
              <a:rPr lang="en-US" dirty="0" smtClean="0"/>
              <a:t> if its </a:t>
            </a:r>
            <a:r>
              <a:rPr lang="en-US" dirty="0" smtClean="0">
                <a:solidFill>
                  <a:srgbClr val="FF0000"/>
                </a:solidFill>
              </a:rPr>
              <a:t>time execution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directly proportional</a:t>
            </a:r>
            <a:r>
              <a:rPr lang="en-US" dirty="0" smtClean="0"/>
              <a:t> to the </a:t>
            </a:r>
            <a:r>
              <a:rPr lang="en-US" dirty="0" smtClean="0">
                <a:solidFill>
                  <a:srgbClr val="FF0000"/>
                </a:solidFill>
              </a:rPr>
              <a:t>input size</a:t>
            </a:r>
            <a:r>
              <a:rPr lang="en-US" dirty="0" smtClean="0"/>
              <a:t>, i.e. time grows linearly as input size increases.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Linear time complexity</a:t>
            </a:r>
            <a:r>
              <a:rPr lang="en-US" dirty="0" smtClean="0"/>
              <a:t> is denoted as </a:t>
            </a:r>
            <a:r>
              <a:rPr lang="en-US" dirty="0" smtClean="0">
                <a:solidFill>
                  <a:srgbClr val="FF0000"/>
                </a:solidFill>
              </a:rPr>
              <a:t>O(n)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Examples: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Array: linear search, traversing, find minimum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LOGARITHMIC TIME: </a:t>
            </a:r>
            <a:r>
              <a:rPr lang="en-US" b="1" i="1" u="sng" dirty="0" smtClean="0">
                <a:solidFill>
                  <a:srgbClr val="0070C0"/>
                </a:solidFill>
              </a:rPr>
              <a:t>O</a:t>
            </a:r>
            <a:r>
              <a:rPr lang="en-US" b="1" u="sng" dirty="0" smtClean="0">
                <a:solidFill>
                  <a:srgbClr val="0070C0"/>
                </a:solidFill>
              </a:rPr>
              <a:t> (log 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 is said to run in </a:t>
            </a:r>
            <a:r>
              <a:rPr lang="en-US" dirty="0" smtClean="0">
                <a:solidFill>
                  <a:srgbClr val="FF0000"/>
                </a:solidFill>
              </a:rPr>
              <a:t>logarithmic time</a:t>
            </a:r>
            <a:r>
              <a:rPr lang="en-US" dirty="0" smtClean="0"/>
              <a:t> if its </a:t>
            </a:r>
            <a:r>
              <a:rPr lang="en-US" dirty="0" smtClean="0">
                <a:solidFill>
                  <a:srgbClr val="FF0000"/>
                </a:solidFill>
              </a:rPr>
              <a:t>time execution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proportional</a:t>
            </a:r>
            <a:r>
              <a:rPr lang="en-US" dirty="0" smtClean="0"/>
              <a:t> to the logarithm of the input size. 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Example: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binary search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QUADRATIC TIME: </a:t>
            </a:r>
            <a:r>
              <a:rPr lang="en-US" b="1" i="1" u="sng" dirty="0" smtClean="0">
                <a:solidFill>
                  <a:srgbClr val="0070C0"/>
                </a:solidFill>
              </a:rPr>
              <a:t>O</a:t>
            </a:r>
            <a:r>
              <a:rPr lang="en-US" b="1" u="sng" dirty="0" smtClean="0">
                <a:solidFill>
                  <a:srgbClr val="0070C0"/>
                </a:solidFill>
              </a:rPr>
              <a:t> (n</a:t>
            </a:r>
            <a:r>
              <a:rPr lang="en-US" b="1" u="sng" baseline="30000" dirty="0" smtClean="0">
                <a:solidFill>
                  <a:srgbClr val="0070C0"/>
                </a:solidFill>
              </a:rPr>
              <a:t>2</a:t>
            </a:r>
            <a:r>
              <a:rPr lang="en-US" b="1" u="sng" dirty="0" smtClean="0">
                <a:solidFill>
                  <a:srgbClr val="0070C0"/>
                </a:solidFill>
              </a:rPr>
              <a:t>)</a:t>
            </a:r>
            <a:endParaRPr lang="en-US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 is said to run in </a:t>
            </a:r>
            <a:r>
              <a:rPr lang="en-US" dirty="0" smtClean="0">
                <a:solidFill>
                  <a:srgbClr val="FF0000"/>
                </a:solidFill>
              </a:rPr>
              <a:t>quadratic time</a:t>
            </a:r>
            <a:r>
              <a:rPr lang="en-US" dirty="0" smtClean="0"/>
              <a:t> if its time execution is </a:t>
            </a:r>
            <a:r>
              <a:rPr lang="en-US" dirty="0" smtClean="0">
                <a:solidFill>
                  <a:srgbClr val="FF0000"/>
                </a:solidFill>
              </a:rPr>
              <a:t>proportional</a:t>
            </a:r>
            <a:r>
              <a:rPr lang="en-US" dirty="0" smtClean="0"/>
              <a:t> to the </a:t>
            </a:r>
            <a:r>
              <a:rPr lang="en-US" dirty="0" smtClean="0">
                <a:solidFill>
                  <a:srgbClr val="FF0000"/>
                </a:solidFill>
              </a:rPr>
              <a:t>square</a:t>
            </a:r>
            <a:r>
              <a:rPr lang="en-US" dirty="0" smtClean="0"/>
              <a:t> of the input size. 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Examples: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bubble sort, selection sort, insertion sort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Calculate the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00FF"/>
                </a:solidFill>
              </a:rPr>
              <a:t>Main()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{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</a:t>
            </a:r>
            <a:r>
              <a:rPr lang="en-US" dirty="0" err="1" smtClean="0">
                <a:solidFill>
                  <a:srgbClr val="0000FF"/>
                </a:solidFill>
              </a:rPr>
              <a:t>int</a:t>
            </a:r>
            <a:r>
              <a:rPr lang="en-US" dirty="0" smtClean="0">
                <a:solidFill>
                  <a:srgbClr val="0000FF"/>
                </a:solidFill>
              </a:rPr>
              <a:t> a, b, c, d,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for (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=0,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&lt;=9,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++)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{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  a = a + b;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  b = b + 1;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}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d = c + d;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}			</a:t>
            </a:r>
          </a:p>
          <a:p>
            <a:pPr>
              <a:buNone/>
            </a:pPr>
            <a:r>
              <a:rPr lang="en-US" dirty="0" smtClean="0"/>
              <a:t>				T() = </a:t>
            </a:r>
            <a:r>
              <a:rPr lang="en-US" dirty="0" smtClean="0">
                <a:solidFill>
                  <a:srgbClr val="FF0000"/>
                </a:solidFill>
              </a:rPr>
              <a:t>1 + 11 + 10 +10 + 1 </a:t>
            </a:r>
          </a:p>
          <a:p>
            <a:pPr>
              <a:buNone/>
            </a:pPr>
            <a:r>
              <a:rPr lang="en-US" dirty="0" smtClean="0"/>
              <a:t>				T() = </a:t>
            </a:r>
            <a:r>
              <a:rPr lang="en-US" i="1" dirty="0" smtClean="0">
                <a:solidFill>
                  <a:srgbClr val="FF0000"/>
                </a:solidFill>
              </a:rPr>
              <a:t>O</a:t>
            </a:r>
            <a:r>
              <a:rPr lang="en-US" dirty="0" smtClean="0">
                <a:solidFill>
                  <a:srgbClr val="FF0000"/>
                </a:solidFill>
              </a:rPr>
              <a:t>(11)</a:t>
            </a:r>
            <a:r>
              <a:rPr lang="en-US" dirty="0" smtClean="0"/>
              <a:t> = </a:t>
            </a:r>
            <a:r>
              <a:rPr lang="en-US" i="1" dirty="0" smtClean="0">
                <a:solidFill>
                  <a:srgbClr val="FF0000"/>
                </a:solidFill>
              </a:rPr>
              <a:t>O</a:t>
            </a:r>
            <a:r>
              <a:rPr lang="en-US" dirty="0" smtClean="0">
                <a:solidFill>
                  <a:srgbClr val="FF0000"/>
                </a:solidFill>
              </a:rPr>
              <a:t>(1)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24400" y="228600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69728" y="2667000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56080" y="3394872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10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62928" y="3759952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10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30088" y="449580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</a:t>
            </a:r>
            <a:endParaRPr lang="en-US" sz="2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6" grpId="0"/>
      <p:bldP spid="7" grpId="0"/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Calculate the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00FF"/>
                </a:solidFill>
              </a:rPr>
              <a:t>Main()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{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</a:t>
            </a:r>
            <a:r>
              <a:rPr lang="en-US" dirty="0" err="1" smtClean="0">
                <a:solidFill>
                  <a:srgbClr val="0000FF"/>
                </a:solidFill>
              </a:rPr>
              <a:t>int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, j, k, n;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 =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 + 1;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for (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=1,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&lt;=n,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++)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{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  j = j + 1;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}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k = k + 1;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}</a:t>
            </a:r>
            <a:r>
              <a:rPr lang="en-US" dirty="0" smtClean="0"/>
              <a:t>			</a:t>
            </a:r>
          </a:p>
          <a:p>
            <a:pPr>
              <a:buNone/>
            </a:pPr>
            <a:r>
              <a:rPr lang="en-US" dirty="0" smtClean="0"/>
              <a:t>				T() = </a:t>
            </a:r>
            <a:r>
              <a:rPr lang="en-US" dirty="0" smtClean="0">
                <a:solidFill>
                  <a:srgbClr val="FF0000"/>
                </a:solidFill>
              </a:rPr>
              <a:t>1 + 1 + n + 1 + n + 1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2n + 4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		T() = </a:t>
            </a:r>
            <a:r>
              <a:rPr lang="en-US" i="1" dirty="0" smtClean="0">
                <a:solidFill>
                  <a:srgbClr val="FF0000"/>
                </a:solidFill>
              </a:rPr>
              <a:t>O</a:t>
            </a:r>
            <a:r>
              <a:rPr lang="en-US" dirty="0" smtClean="0">
                <a:solidFill>
                  <a:srgbClr val="FF0000"/>
                </a:solidFill>
              </a:rPr>
              <a:t>(n)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24400" y="228600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75496" y="4509448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25544" y="265108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43400" y="2999096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+ 1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34552" y="3745176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</a:t>
            </a:r>
            <a:r>
              <a:rPr lang="en-US" sz="2600" b="1" dirty="0" smtClean="0">
                <a:solidFill>
                  <a:srgbClr val="FF0000"/>
                </a:solidFill>
              </a:rPr>
              <a:t> </a:t>
            </a:r>
            <a:endParaRPr lang="en-US" sz="2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9" grpId="0"/>
      <p:bldP spid="10" grpId="0"/>
      <p:bldP spid="11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Describe the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00FF"/>
                </a:solidFill>
              </a:rPr>
              <a:t>for (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=0 ;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&lt;n ;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++ 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for( j=0 ; j&lt;n ; j++ 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      sum[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] += entry[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][j];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 							T() = </a:t>
            </a:r>
            <a:r>
              <a:rPr lang="en-US" dirty="0" smtClean="0">
                <a:solidFill>
                  <a:srgbClr val="FF0000"/>
                </a:solidFill>
              </a:rPr>
              <a:t>O(</a:t>
            </a:r>
            <a:r>
              <a:rPr lang="en-US" sz="2800" dirty="0" smtClean="0">
                <a:solidFill>
                  <a:srgbClr val="FF0000"/>
                </a:solidFill>
              </a:rPr>
              <a:t>n</a:t>
            </a:r>
            <a:r>
              <a:rPr lang="en-US" sz="2800" baseline="30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800600" y="2667000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+ 1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11088" y="3181064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</a:t>
            </a:r>
            <a:r>
              <a:rPr lang="en-US" sz="2600" b="1" dirty="0" smtClean="0">
                <a:solidFill>
                  <a:srgbClr val="FF0000"/>
                </a:solidFill>
              </a:rPr>
              <a:t>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0600" y="2209800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+ 1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2133600"/>
            <a:ext cx="3276600" cy="3276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u="sng" dirty="0" smtClean="0">
                <a:solidFill>
                  <a:schemeClr val="tx1"/>
                </a:solidFill>
              </a:rPr>
              <a:t>Inner Loop:</a:t>
            </a:r>
          </a:p>
          <a:p>
            <a:r>
              <a:rPr lang="en-US" sz="2200" dirty="0" smtClean="0"/>
              <a:t>	</a:t>
            </a:r>
            <a:r>
              <a:rPr lang="en-US" sz="2200" dirty="0" smtClean="0">
                <a:solidFill>
                  <a:srgbClr val="FF0000"/>
                </a:solidFill>
              </a:rPr>
              <a:t>I() = 2n + 1</a:t>
            </a:r>
          </a:p>
          <a:p>
            <a:endParaRPr lang="en-US" sz="2200" dirty="0" smtClean="0"/>
          </a:p>
          <a:p>
            <a:r>
              <a:rPr lang="en-US" sz="2200" u="sng" dirty="0" smtClean="0">
                <a:solidFill>
                  <a:schemeClr val="tx1"/>
                </a:solidFill>
              </a:rPr>
              <a:t>Outer Loop:</a:t>
            </a:r>
          </a:p>
          <a:p>
            <a:r>
              <a:rPr lang="en-US" sz="2200" dirty="0" smtClean="0"/>
              <a:t>	</a:t>
            </a:r>
            <a:r>
              <a:rPr lang="en-US" sz="2200" dirty="0" smtClean="0">
                <a:solidFill>
                  <a:srgbClr val="FF0000"/>
                </a:solidFill>
              </a:rPr>
              <a:t>J() = n + 1</a:t>
            </a:r>
          </a:p>
          <a:p>
            <a:endParaRPr lang="en-US" sz="2200" dirty="0" smtClean="0"/>
          </a:p>
          <a:p>
            <a:r>
              <a:rPr lang="en-US" sz="2200" u="sng" dirty="0" smtClean="0">
                <a:solidFill>
                  <a:schemeClr val="tx1"/>
                </a:solidFill>
              </a:rPr>
              <a:t>Total time:</a:t>
            </a:r>
          </a:p>
          <a:p>
            <a:r>
              <a:rPr lang="en-US" sz="2200" dirty="0" smtClean="0">
                <a:solidFill>
                  <a:srgbClr val="FF0000"/>
                </a:solidFill>
              </a:rPr>
              <a:t>T() = I()</a:t>
            </a:r>
            <a:r>
              <a:rPr lang="en-US" sz="2200" b="1" dirty="0" smtClean="0">
                <a:solidFill>
                  <a:srgbClr val="FF0000"/>
                </a:solidFill>
              </a:rPr>
              <a:t>.</a:t>
            </a:r>
            <a:r>
              <a:rPr lang="en-US" sz="2200" dirty="0" smtClean="0">
                <a:solidFill>
                  <a:srgbClr val="FF0000"/>
                </a:solidFill>
              </a:rPr>
              <a:t>J() = (2n+1)(n+1)</a:t>
            </a:r>
          </a:p>
          <a:p>
            <a:r>
              <a:rPr lang="en-US" sz="2200" dirty="0" smtClean="0"/>
              <a:t>      </a:t>
            </a:r>
            <a:r>
              <a:rPr lang="en-US" sz="2200" dirty="0" smtClean="0">
                <a:solidFill>
                  <a:srgbClr val="FF0000"/>
                </a:solidFill>
              </a:rPr>
              <a:t>= 2n</a:t>
            </a:r>
            <a:r>
              <a:rPr lang="en-US" sz="2200" baseline="30000" dirty="0" smtClean="0">
                <a:solidFill>
                  <a:srgbClr val="FF0000"/>
                </a:solidFill>
              </a:rPr>
              <a:t>2 </a:t>
            </a:r>
            <a:r>
              <a:rPr lang="en-US" sz="2200" dirty="0" smtClean="0">
                <a:solidFill>
                  <a:srgbClr val="FF0000"/>
                </a:solidFill>
              </a:rPr>
              <a:t>+ 3n + 1</a:t>
            </a:r>
          </a:p>
          <a:p>
            <a:r>
              <a:rPr lang="en-US" sz="2200" dirty="0" smtClean="0"/>
              <a:t> 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6" grpId="0"/>
      <p:bldP spid="7" grpId="0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Calculate the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00FF"/>
                </a:solidFill>
              </a:rPr>
              <a:t>Main()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{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</a:t>
            </a:r>
            <a:r>
              <a:rPr lang="en-US" dirty="0" err="1" smtClean="0">
                <a:solidFill>
                  <a:srgbClr val="0000FF"/>
                </a:solidFill>
              </a:rPr>
              <a:t>int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, j, a, b;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for (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=1,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&lt;=n,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++)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{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 for (j=1, j&lt;=n, j++)	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       {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        a = a + 1;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       }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        k = k + 1;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}			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}			</a:t>
            </a:r>
          </a:p>
          <a:p>
            <a:pPr>
              <a:buNone/>
            </a:pPr>
            <a:r>
              <a:rPr lang="en-US" dirty="0" smtClean="0"/>
              <a:t>							       T() =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30000" dirty="0" smtClean="0">
                <a:solidFill>
                  <a:srgbClr val="FF0000"/>
                </a:solidFill>
              </a:rPr>
              <a:t>2 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416184" y="220980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8888" y="46402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35184" y="2563504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+ 1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09272" y="3948752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</a:t>
            </a:r>
            <a:r>
              <a:rPr lang="en-US" sz="2600" b="1" dirty="0" smtClean="0">
                <a:solidFill>
                  <a:srgbClr val="FF0000"/>
                </a:solidFill>
              </a:rPr>
              <a:t>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35184" y="3235656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+ 1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287368" y="1981200"/>
            <a:ext cx="3628032" cy="3505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u="sng" dirty="0" smtClean="0">
                <a:solidFill>
                  <a:schemeClr val="tx1"/>
                </a:solidFill>
              </a:rPr>
              <a:t>Inner Loop:</a:t>
            </a:r>
          </a:p>
          <a:p>
            <a:r>
              <a:rPr lang="en-US" sz="2200" dirty="0" smtClean="0"/>
              <a:t>	</a:t>
            </a:r>
            <a:r>
              <a:rPr lang="en-US" sz="2200" dirty="0" smtClean="0">
                <a:solidFill>
                  <a:srgbClr val="FF0000"/>
                </a:solidFill>
              </a:rPr>
              <a:t>I() = 2n + 1</a:t>
            </a:r>
          </a:p>
          <a:p>
            <a:endParaRPr lang="en-US" sz="2200" dirty="0" smtClean="0"/>
          </a:p>
          <a:p>
            <a:r>
              <a:rPr lang="en-US" sz="2200" u="sng" dirty="0" smtClean="0">
                <a:solidFill>
                  <a:schemeClr val="tx1"/>
                </a:solidFill>
              </a:rPr>
              <a:t>Outer Loop:</a:t>
            </a:r>
          </a:p>
          <a:p>
            <a:r>
              <a:rPr lang="en-US" sz="2200" dirty="0" smtClean="0"/>
              <a:t>	</a:t>
            </a:r>
            <a:r>
              <a:rPr lang="en-US" sz="2200" dirty="0" smtClean="0">
                <a:solidFill>
                  <a:srgbClr val="FF0000"/>
                </a:solidFill>
              </a:rPr>
              <a:t>J() = 2n + 1</a:t>
            </a:r>
          </a:p>
          <a:p>
            <a:endParaRPr lang="en-US" sz="2200" dirty="0" smtClean="0"/>
          </a:p>
          <a:p>
            <a:r>
              <a:rPr lang="en-US" sz="2200" u="sng" dirty="0" smtClean="0">
                <a:solidFill>
                  <a:schemeClr val="tx1"/>
                </a:solidFill>
              </a:rPr>
              <a:t>Total time:</a:t>
            </a:r>
          </a:p>
          <a:p>
            <a:r>
              <a:rPr lang="en-US" sz="2200" dirty="0" smtClean="0">
                <a:solidFill>
                  <a:srgbClr val="FF0000"/>
                </a:solidFill>
              </a:rPr>
              <a:t>T() = I()</a:t>
            </a:r>
            <a:r>
              <a:rPr lang="en-US" sz="2200" b="1" dirty="0" smtClean="0">
                <a:solidFill>
                  <a:srgbClr val="FF0000"/>
                </a:solidFill>
              </a:rPr>
              <a:t>.</a:t>
            </a:r>
            <a:r>
              <a:rPr lang="en-US" sz="2200" dirty="0" smtClean="0">
                <a:solidFill>
                  <a:srgbClr val="FF0000"/>
                </a:solidFill>
              </a:rPr>
              <a:t>J() = (2n+1)(2n+1)+1</a:t>
            </a:r>
          </a:p>
          <a:p>
            <a:r>
              <a:rPr lang="en-US" sz="2200" dirty="0" smtClean="0"/>
              <a:t>      </a:t>
            </a:r>
            <a:r>
              <a:rPr lang="en-US" sz="2200" dirty="0" smtClean="0">
                <a:solidFill>
                  <a:srgbClr val="FF0000"/>
                </a:solidFill>
              </a:rPr>
              <a:t>= 4n</a:t>
            </a:r>
            <a:r>
              <a:rPr lang="en-US" sz="2200" baseline="30000" dirty="0" smtClean="0">
                <a:solidFill>
                  <a:srgbClr val="FF0000"/>
                </a:solidFill>
              </a:rPr>
              <a:t>2 </a:t>
            </a:r>
            <a:r>
              <a:rPr lang="en-US" sz="2200" dirty="0" smtClean="0">
                <a:solidFill>
                  <a:srgbClr val="FF0000"/>
                </a:solidFill>
              </a:rPr>
              <a:t>+ 4n + 2 + 1</a:t>
            </a:r>
          </a:p>
          <a:p>
            <a:r>
              <a:rPr lang="en-US" sz="2200" dirty="0" smtClean="0"/>
              <a:t>      </a:t>
            </a:r>
            <a:r>
              <a:rPr lang="en-US" sz="2200" dirty="0" smtClean="0">
                <a:solidFill>
                  <a:srgbClr val="FF0000"/>
                </a:solidFill>
              </a:rPr>
              <a:t>= 4n</a:t>
            </a:r>
            <a:r>
              <a:rPr lang="en-US" sz="2200" baseline="30000" dirty="0" smtClean="0">
                <a:solidFill>
                  <a:srgbClr val="FF0000"/>
                </a:solidFill>
              </a:rPr>
              <a:t>2 </a:t>
            </a:r>
            <a:r>
              <a:rPr lang="en-US" sz="2200" dirty="0" smtClean="0">
                <a:solidFill>
                  <a:srgbClr val="FF0000"/>
                </a:solidFill>
              </a:rPr>
              <a:t>+ 4n + 3</a:t>
            </a:r>
            <a:r>
              <a:rPr lang="en-US" sz="2200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/>
      <p:bldP spid="9" grpId="0" uiExpand="1"/>
      <p:bldP spid="11" grpId="0" uiExpand="1"/>
      <p:bldP spid="12" grpId="0" uiExpand="1"/>
      <p:bldP spid="13" grpId="0" uiExpand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Describe the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of an algorithm.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	 </a:t>
            </a:r>
            <a:r>
              <a:rPr lang="en-US" dirty="0" smtClean="0">
                <a:solidFill>
                  <a:srgbClr val="006600"/>
                </a:solidFill>
                <a:latin typeface="Gill Sans MT" pitchFamily="34" charset="0"/>
                <a:cs typeface="Courier New" pitchFamily="49" charset="0"/>
              </a:rPr>
              <a:t>for( </a:t>
            </a:r>
            <a:r>
              <a:rPr lang="en-US" dirty="0" err="1" smtClean="0">
                <a:solidFill>
                  <a:srgbClr val="006600"/>
                </a:solidFill>
                <a:latin typeface="Gill Sans MT" pitchFamily="34" charset="0"/>
                <a:cs typeface="Courier New" pitchFamily="49" charset="0"/>
              </a:rPr>
              <a:t>i</a:t>
            </a:r>
            <a:r>
              <a:rPr lang="en-US" dirty="0" smtClean="0">
                <a:solidFill>
                  <a:srgbClr val="006600"/>
                </a:solidFill>
                <a:latin typeface="Gill Sans MT" pitchFamily="34" charset="0"/>
                <a:cs typeface="Courier New" pitchFamily="49" charset="0"/>
              </a:rPr>
              <a:t>=0 ;  </a:t>
            </a:r>
            <a:r>
              <a:rPr lang="en-US" dirty="0" err="1" smtClean="0">
                <a:solidFill>
                  <a:srgbClr val="006600"/>
                </a:solidFill>
                <a:latin typeface="Gill Sans MT" pitchFamily="34" charset="0"/>
                <a:cs typeface="Courier New" pitchFamily="49" charset="0"/>
              </a:rPr>
              <a:t>i</a:t>
            </a:r>
            <a:r>
              <a:rPr lang="en-US" dirty="0" smtClean="0">
                <a:solidFill>
                  <a:srgbClr val="006600"/>
                </a:solidFill>
                <a:latin typeface="Gill Sans MT" pitchFamily="34" charset="0"/>
                <a:cs typeface="Courier New" pitchFamily="49" charset="0"/>
              </a:rPr>
              <a:t> &lt; n ;  </a:t>
            </a:r>
            <a:r>
              <a:rPr lang="en-US" dirty="0" err="1" smtClean="0">
                <a:solidFill>
                  <a:srgbClr val="006600"/>
                </a:solidFill>
                <a:latin typeface="Gill Sans MT" pitchFamily="34" charset="0"/>
                <a:cs typeface="Courier New" pitchFamily="49" charset="0"/>
              </a:rPr>
              <a:t>i</a:t>
            </a:r>
            <a:r>
              <a:rPr lang="en-US" dirty="0" smtClean="0">
                <a:solidFill>
                  <a:srgbClr val="006600"/>
                </a:solidFill>
                <a:latin typeface="Gill Sans MT" pitchFamily="34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dirty="0" smtClean="0">
                <a:solidFill>
                  <a:srgbClr val="006600"/>
                </a:solidFill>
                <a:latin typeface="Gill Sans MT" pitchFamily="34" charset="0"/>
                <a:cs typeface="Courier New" pitchFamily="49" charset="0"/>
              </a:rPr>
              <a:t>		 m += </a:t>
            </a:r>
            <a:r>
              <a:rPr lang="en-US" dirty="0" err="1" smtClean="0">
                <a:solidFill>
                  <a:srgbClr val="006600"/>
                </a:solidFill>
                <a:latin typeface="Gill Sans MT" pitchFamily="34" charset="0"/>
                <a:cs typeface="Courier New" pitchFamily="49" charset="0"/>
              </a:rPr>
              <a:t>i</a:t>
            </a:r>
            <a:r>
              <a:rPr lang="en-US" dirty="0" smtClean="0">
                <a:solidFill>
                  <a:srgbClr val="006600"/>
                </a:solidFill>
                <a:latin typeface="Gill Sans MT" pitchFamily="34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dirty="0" smtClean="0">
              <a:latin typeface="Gill Sans MT" pitchFamily="34" charset="0"/>
              <a:cs typeface="Courier New" pitchFamily="49" charset="0"/>
            </a:endParaRPr>
          </a:p>
          <a:p>
            <a:r>
              <a:rPr lang="en-US" dirty="0" smtClean="0">
                <a:latin typeface="Gill Sans MT" pitchFamily="34" charset="0"/>
                <a:cs typeface="Courier New" pitchFamily="49" charset="0"/>
              </a:rPr>
              <a:t>It takes 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2n + 1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 operations. The 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time complexity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 of this algorithm is </a:t>
            </a:r>
            <a:r>
              <a:rPr lang="en-US" i="1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O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(n)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.</a:t>
            </a:r>
          </a:p>
          <a:p>
            <a:pPr>
              <a:buNone/>
            </a:pPr>
            <a:endParaRPr lang="en-US" dirty="0" smtClean="0">
              <a:latin typeface="Gill Sans MT" pitchFamily="34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191000" y="2209800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+ 1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68504" y="2612408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</a:t>
            </a:r>
            <a:endParaRPr lang="en-US" sz="2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Describe the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.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latin typeface="Gill Sans MT" pitchFamily="34" charset="0"/>
                <a:cs typeface="Courier New" pitchFamily="49" charset="0"/>
              </a:rPr>
              <a:t>	</a:t>
            </a:r>
            <a:r>
              <a:rPr lang="en-US" dirty="0" smtClean="0">
                <a:solidFill>
                  <a:srgbClr val="0000FF"/>
                </a:solidFill>
                <a:latin typeface="Gill Sans MT" pitchFamily="34" charset="0"/>
                <a:cs typeface="Courier New" pitchFamily="49" charset="0"/>
              </a:rPr>
              <a:t>for ( </a:t>
            </a:r>
            <a:r>
              <a:rPr lang="en-US" dirty="0" err="1" smtClean="0">
                <a:solidFill>
                  <a:srgbClr val="0000FF"/>
                </a:solidFill>
                <a:latin typeface="Gill Sans MT" pitchFamily="34" charset="0"/>
                <a:cs typeface="Courier New" pitchFamily="49" charset="0"/>
              </a:rPr>
              <a:t>i</a:t>
            </a:r>
            <a:r>
              <a:rPr lang="en-US" dirty="0" smtClean="0">
                <a:solidFill>
                  <a:srgbClr val="0000FF"/>
                </a:solidFill>
                <a:latin typeface="Gill Sans MT" pitchFamily="34" charset="0"/>
                <a:cs typeface="Courier New" pitchFamily="49" charset="0"/>
              </a:rPr>
              <a:t>=1 ; </a:t>
            </a:r>
            <a:r>
              <a:rPr lang="en-US" dirty="0" err="1" smtClean="0">
                <a:solidFill>
                  <a:srgbClr val="0000FF"/>
                </a:solidFill>
                <a:latin typeface="Gill Sans MT" pitchFamily="34" charset="0"/>
                <a:cs typeface="Courier New" pitchFamily="49" charset="0"/>
              </a:rPr>
              <a:t>i</a:t>
            </a:r>
            <a:r>
              <a:rPr lang="en-US" dirty="0" smtClean="0">
                <a:solidFill>
                  <a:srgbClr val="0000FF"/>
                </a:solidFill>
                <a:latin typeface="Gill Sans MT" pitchFamily="34" charset="0"/>
                <a:cs typeface="Courier New" pitchFamily="49" charset="0"/>
              </a:rPr>
              <a:t>&lt;n ; </a:t>
            </a:r>
            <a:r>
              <a:rPr lang="en-US" dirty="0" err="1" smtClean="0">
                <a:solidFill>
                  <a:srgbClr val="0000FF"/>
                </a:solidFill>
                <a:latin typeface="Gill Sans MT" pitchFamily="34" charset="0"/>
                <a:cs typeface="Courier New" pitchFamily="49" charset="0"/>
              </a:rPr>
              <a:t>i</a:t>
            </a:r>
            <a:r>
              <a:rPr lang="en-US" dirty="0" smtClean="0">
                <a:solidFill>
                  <a:srgbClr val="0000FF"/>
                </a:solidFill>
                <a:latin typeface="Gill Sans MT" pitchFamily="34" charset="0"/>
                <a:cs typeface="Courier New" pitchFamily="49" charset="0"/>
              </a:rPr>
              <a:t>++ 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  <a:latin typeface="Gill Sans MT" pitchFamily="34" charset="0"/>
                <a:cs typeface="Courier New" pitchFamily="49" charset="0"/>
              </a:rPr>
              <a:t>        for( j=0 ; j&lt;</a:t>
            </a:r>
            <a:r>
              <a:rPr lang="en-US" b="1" dirty="0" err="1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i</a:t>
            </a:r>
            <a:r>
              <a:rPr lang="en-US" dirty="0" smtClean="0">
                <a:solidFill>
                  <a:srgbClr val="0000FF"/>
                </a:solidFill>
                <a:latin typeface="Gill Sans MT" pitchFamily="34" charset="0"/>
                <a:cs typeface="Courier New" pitchFamily="49" charset="0"/>
              </a:rPr>
              <a:t> ; j++ 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  <a:latin typeface="Gill Sans MT" pitchFamily="34" charset="0"/>
                <a:cs typeface="Courier New" pitchFamily="49" charset="0"/>
              </a:rPr>
              <a:t>            m += j;</a:t>
            </a:r>
          </a:p>
          <a:p>
            <a:pPr>
              <a:buNone/>
            </a:pPr>
            <a:endParaRPr lang="en-US" dirty="0" smtClean="0">
              <a:latin typeface="Gill Sans MT" pitchFamily="34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latin typeface="Gill Sans MT" pitchFamily="34" charset="0"/>
                <a:cs typeface="Courier New" pitchFamily="49" charset="0"/>
              </a:rPr>
              <a:t>	when </a:t>
            </a:r>
            <a:r>
              <a:rPr lang="en-US" dirty="0" err="1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 = 1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, the 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inner loop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 executes 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1 times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, when </a:t>
            </a:r>
            <a:r>
              <a:rPr lang="en-US" dirty="0" err="1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 = 2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, the 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inner loop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 executes 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2 times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, … when </a:t>
            </a:r>
            <a:r>
              <a:rPr lang="en-US" dirty="0" err="1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 = n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, the 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inner loop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 executes 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n times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. In all the inner loop executes:</a:t>
            </a:r>
          </a:p>
          <a:p>
            <a:pPr>
              <a:buNone/>
            </a:pPr>
            <a:endParaRPr lang="en-US" dirty="0" smtClean="0">
              <a:latin typeface="Gill Sans MT" pitchFamily="34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latin typeface="Gill Sans MT" pitchFamily="34" charset="0"/>
                <a:cs typeface="Courier New" pitchFamily="49" charset="0"/>
              </a:rPr>
              <a:t> 		1 + 2 + 3 + ... + n = 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n(n+1)/2 </a:t>
            </a:r>
            <a:r>
              <a:rPr lang="en-US" dirty="0" smtClean="0">
                <a:latin typeface="Gill Sans MT" pitchFamily="34" charset="0"/>
                <a:cs typeface="Courier New" pitchFamily="49" charset="0"/>
              </a:rPr>
              <a:t>=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30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/2 + n/2</a:t>
            </a:r>
            <a:endParaRPr lang="en-US" dirty="0" smtClean="0">
              <a:solidFill>
                <a:srgbClr val="FF0000"/>
              </a:solidFill>
              <a:latin typeface="Gill Sans MT" pitchFamily="34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latin typeface="Gill Sans MT" pitchFamily="34" charset="0"/>
                <a:cs typeface="Courier New" pitchFamily="49" charset="0"/>
              </a:rPr>
              <a:t>	So, 			     T() = 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O(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30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  <a:cs typeface="Courier New" pitchFamily="49" charset="0"/>
              </a:rPr>
              <a:t>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Describe the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.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for (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=0 ;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&lt;n ; 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++ 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   	      for( j=0 ; j&lt;n ; j++ 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              for( k=0 ; k&lt;n ; k++ 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                   sum[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][j] += entry[</a:t>
            </a:r>
            <a:r>
              <a:rPr lang="en-US" dirty="0" err="1" smtClean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][j][k];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       T() = </a:t>
            </a:r>
            <a:r>
              <a:rPr lang="en-US" i="1" dirty="0" smtClean="0">
                <a:solidFill>
                  <a:srgbClr val="FF0000"/>
                </a:solidFill>
              </a:rPr>
              <a:t>O</a:t>
            </a:r>
            <a:r>
              <a:rPr lang="en-US" dirty="0" smtClean="0">
                <a:solidFill>
                  <a:srgbClr val="FF0000"/>
                </a:solidFill>
              </a:rPr>
              <a:t>(n</a:t>
            </a:r>
            <a:r>
              <a:rPr lang="en-US" baseline="30000" dirty="0" smtClean="0">
                <a:solidFill>
                  <a:srgbClr val="FF0000"/>
                </a:solidFill>
              </a:rPr>
              <a:t>3 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876800" y="2830776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+ 1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6704" y="3241344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</a:t>
            </a:r>
            <a:r>
              <a:rPr lang="en-US" sz="2600" b="1" dirty="0" smtClean="0">
                <a:solidFill>
                  <a:srgbClr val="FF0000"/>
                </a:solidFill>
              </a:rPr>
              <a:t>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68840" y="2428168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+ 1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1600200"/>
            <a:ext cx="3048000" cy="449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u="sng" dirty="0" smtClean="0">
                <a:solidFill>
                  <a:schemeClr val="tx1"/>
                </a:solidFill>
              </a:rPr>
              <a:t>Inner Loop:</a:t>
            </a:r>
          </a:p>
          <a:p>
            <a:r>
              <a:rPr lang="en-US" sz="2200" dirty="0" smtClean="0"/>
              <a:t>	</a:t>
            </a:r>
            <a:r>
              <a:rPr lang="en-US" sz="2200" dirty="0" smtClean="0">
                <a:solidFill>
                  <a:srgbClr val="FF0000"/>
                </a:solidFill>
              </a:rPr>
              <a:t>I() = 2n + 1</a:t>
            </a:r>
          </a:p>
          <a:p>
            <a:endParaRPr lang="en-US" sz="2200" dirty="0" smtClean="0"/>
          </a:p>
          <a:p>
            <a:r>
              <a:rPr lang="en-US" sz="2200" u="sng" dirty="0" smtClean="0">
                <a:solidFill>
                  <a:schemeClr val="tx1"/>
                </a:solidFill>
              </a:rPr>
              <a:t>Middle Loop:</a:t>
            </a:r>
          </a:p>
          <a:p>
            <a:r>
              <a:rPr lang="en-US" sz="2200" dirty="0" smtClean="0"/>
              <a:t>	</a:t>
            </a:r>
            <a:r>
              <a:rPr lang="en-US" sz="2200" dirty="0" smtClean="0">
                <a:solidFill>
                  <a:srgbClr val="FF0000"/>
                </a:solidFill>
              </a:rPr>
              <a:t>M() = n + 1</a:t>
            </a:r>
          </a:p>
          <a:p>
            <a:endParaRPr lang="en-US" sz="2200" dirty="0" smtClean="0"/>
          </a:p>
          <a:p>
            <a:r>
              <a:rPr lang="en-US" sz="2200" u="sng" dirty="0" smtClean="0">
                <a:solidFill>
                  <a:schemeClr val="tx1"/>
                </a:solidFill>
              </a:rPr>
              <a:t>Outer Loop:</a:t>
            </a:r>
          </a:p>
          <a:p>
            <a:r>
              <a:rPr lang="en-US" sz="2200" dirty="0" smtClean="0">
                <a:solidFill>
                  <a:schemeClr val="tx1"/>
                </a:solidFill>
              </a:rPr>
              <a:t>	 </a:t>
            </a:r>
            <a:r>
              <a:rPr lang="en-US" sz="2200" dirty="0" smtClean="0">
                <a:solidFill>
                  <a:srgbClr val="FF0000"/>
                </a:solidFill>
              </a:rPr>
              <a:t>J() = n + 1</a:t>
            </a:r>
          </a:p>
          <a:p>
            <a:endParaRPr lang="en-US" sz="2200" dirty="0" smtClean="0">
              <a:solidFill>
                <a:schemeClr val="tx1"/>
              </a:solidFill>
            </a:endParaRPr>
          </a:p>
          <a:p>
            <a:r>
              <a:rPr lang="en-US" sz="2200" u="sng" dirty="0" smtClean="0">
                <a:solidFill>
                  <a:schemeClr val="tx1"/>
                </a:solidFill>
              </a:rPr>
              <a:t>Total Time:</a:t>
            </a:r>
          </a:p>
          <a:p>
            <a:r>
              <a:rPr lang="en-US" sz="2200" dirty="0" smtClean="0">
                <a:solidFill>
                  <a:srgbClr val="FF0000"/>
                </a:solidFill>
              </a:rPr>
              <a:t>T() = I()</a:t>
            </a:r>
            <a:r>
              <a:rPr lang="en-US" sz="2200" b="1" dirty="0" smtClean="0">
                <a:solidFill>
                  <a:srgbClr val="FF0000"/>
                </a:solidFill>
              </a:rPr>
              <a:t>.</a:t>
            </a:r>
            <a:r>
              <a:rPr lang="en-US" sz="2200" dirty="0" smtClean="0">
                <a:solidFill>
                  <a:srgbClr val="FF0000"/>
                </a:solidFill>
              </a:rPr>
              <a:t>M()</a:t>
            </a:r>
            <a:r>
              <a:rPr lang="en-US" sz="2200" b="1" dirty="0" smtClean="0">
                <a:solidFill>
                  <a:srgbClr val="FF0000"/>
                </a:solidFill>
              </a:rPr>
              <a:t>. </a:t>
            </a:r>
            <a:r>
              <a:rPr lang="en-US" sz="2200" dirty="0" smtClean="0">
                <a:solidFill>
                  <a:srgbClr val="FF0000"/>
                </a:solidFill>
              </a:rPr>
              <a:t>J() </a:t>
            </a:r>
          </a:p>
          <a:p>
            <a:r>
              <a:rPr lang="en-US" sz="2200" dirty="0" smtClean="0">
                <a:solidFill>
                  <a:srgbClr val="FF0000"/>
                </a:solidFill>
              </a:rPr>
              <a:t>      = (2n+1)(n+1)(n+1)</a:t>
            </a:r>
          </a:p>
          <a:p>
            <a:r>
              <a:rPr lang="en-US" sz="2200" dirty="0" smtClean="0"/>
              <a:t>      </a:t>
            </a:r>
            <a:r>
              <a:rPr lang="en-US" sz="2200" dirty="0" smtClean="0">
                <a:solidFill>
                  <a:srgbClr val="FF0000"/>
                </a:solidFill>
              </a:rPr>
              <a:t>= 2n</a:t>
            </a:r>
            <a:r>
              <a:rPr lang="en-US" sz="2200" baseline="30000" dirty="0" smtClean="0">
                <a:solidFill>
                  <a:srgbClr val="FF0000"/>
                </a:solidFill>
              </a:rPr>
              <a:t>3</a:t>
            </a:r>
            <a:r>
              <a:rPr lang="en-US" sz="2200" dirty="0" smtClean="0">
                <a:solidFill>
                  <a:srgbClr val="FF0000"/>
                </a:solidFill>
              </a:rPr>
              <a:t>+5n</a:t>
            </a:r>
            <a:r>
              <a:rPr lang="en-US" sz="2200" baseline="30000" dirty="0" smtClean="0">
                <a:solidFill>
                  <a:srgbClr val="FF0000"/>
                </a:solidFill>
              </a:rPr>
              <a:t>2</a:t>
            </a:r>
            <a:r>
              <a:rPr lang="en-US" sz="2200" dirty="0" smtClean="0">
                <a:solidFill>
                  <a:srgbClr val="FF0000"/>
                </a:solidFill>
              </a:rPr>
              <a:t>+4n+1</a:t>
            </a:r>
          </a:p>
          <a:p>
            <a:r>
              <a:rPr lang="en-US" sz="2200" dirty="0" smtClean="0"/>
              <a:t> 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855192" y="2057400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+ 1</a:t>
            </a:r>
            <a:endParaRPr lang="en-US" sz="2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6" grpId="0"/>
      <p:bldP spid="7" grpId="0"/>
      <p:bldP spid="8" grpId="0" animBg="1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Describe the </a:t>
            </a:r>
            <a:r>
              <a:rPr lang="en-US" sz="2800" dirty="0" smtClean="0">
                <a:solidFill>
                  <a:srgbClr val="FF0000"/>
                </a:solidFill>
              </a:rPr>
              <a:t>time complexity</a:t>
            </a:r>
            <a:r>
              <a:rPr lang="en-US" sz="2800" dirty="0" smtClean="0"/>
              <a:t> of algorithm for finding the </a:t>
            </a:r>
            <a:r>
              <a:rPr lang="en-US" sz="2800" dirty="0" smtClean="0">
                <a:solidFill>
                  <a:srgbClr val="FF0000"/>
                </a:solidFill>
              </a:rPr>
              <a:t>maximum element</a:t>
            </a:r>
            <a:r>
              <a:rPr lang="en-US" sz="2800" dirty="0" smtClean="0"/>
              <a:t> in a finite set of integers.</a:t>
            </a:r>
          </a:p>
          <a:p>
            <a:pPr marL="109537" indent="0">
              <a:buFont typeface="Wingdings 3" pitchFamily="18" charset="2"/>
              <a:buNone/>
              <a:defRPr/>
            </a:pPr>
            <a:endParaRPr lang="en-US" sz="2800" b="1" dirty="0" smtClean="0">
              <a:latin typeface="Courier New" pitchFamily="49" charset="0"/>
              <a:cs typeface="Courier New" pitchFamily="49" charset="0"/>
            </a:endParaRP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</a:rPr>
              <a:t>int</a:t>
            </a:r>
            <a:r>
              <a:rPr lang="en-US" sz="2800" dirty="0" smtClean="0">
                <a:solidFill>
                  <a:srgbClr val="0000FF"/>
                </a:solidFill>
              </a:rPr>
              <a:t> maximum(</a:t>
            </a:r>
            <a:r>
              <a:rPr lang="en-US" sz="2800" dirty="0" err="1" smtClean="0">
                <a:solidFill>
                  <a:srgbClr val="0000FF"/>
                </a:solidFill>
              </a:rPr>
              <a:t>int</a:t>
            </a:r>
            <a:r>
              <a:rPr lang="en-US" sz="2800" dirty="0" smtClean="0">
                <a:solidFill>
                  <a:srgbClr val="0000FF"/>
                </a:solidFill>
              </a:rPr>
              <a:t> B[ ],</a:t>
            </a:r>
            <a:r>
              <a:rPr lang="en-US" sz="2800" dirty="0" err="1" smtClean="0">
                <a:solidFill>
                  <a:srgbClr val="0000FF"/>
                </a:solidFill>
              </a:rPr>
              <a:t>int</a:t>
            </a:r>
            <a:r>
              <a:rPr lang="en-US" sz="2800" dirty="0" smtClean="0">
                <a:solidFill>
                  <a:srgbClr val="0000FF"/>
                </a:solidFill>
              </a:rPr>
              <a:t> n)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  {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</a:t>
            </a:r>
            <a:r>
              <a:rPr lang="en-US" sz="2800" dirty="0" err="1" smtClean="0">
                <a:solidFill>
                  <a:srgbClr val="0000FF"/>
                </a:solidFill>
              </a:rPr>
              <a:t>int</a:t>
            </a:r>
            <a:r>
              <a:rPr lang="en-US" sz="2800" dirty="0" smtClean="0">
                <a:solidFill>
                  <a:srgbClr val="0000FF"/>
                </a:solidFill>
              </a:rPr>
              <a:t> max = B[0];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for(</a:t>
            </a:r>
            <a:r>
              <a:rPr lang="en-US" sz="2800" dirty="0" err="1" smtClean="0">
                <a:solidFill>
                  <a:srgbClr val="0000FF"/>
                </a:solidFill>
              </a:rPr>
              <a:t>int</a:t>
            </a:r>
            <a:r>
              <a:rPr lang="en-US" sz="2800" dirty="0" smtClean="0">
                <a:solidFill>
                  <a:srgbClr val="0000FF"/>
                </a:solidFill>
              </a:rPr>
              <a:t> j=0; j&lt;n; j++)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{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	if(B[j] &gt; max)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	max = [j]; 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}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return max;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  }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05400" y="3042312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41464" y="3448336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+ 1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0112" y="4267200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8072" y="4634552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</a:t>
            </a:r>
            <a:r>
              <a:rPr lang="en-US" sz="2600" b="1" dirty="0" smtClean="0">
                <a:solidFill>
                  <a:srgbClr val="FF0000"/>
                </a:solidFill>
              </a:rPr>
              <a:t> 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8352" y="541020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40096" y="5949288"/>
            <a:ext cx="7391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00" dirty="0" smtClean="0">
                <a:solidFill>
                  <a:schemeClr val="tx1"/>
                </a:solidFill>
              </a:rPr>
              <a:t>It takes</a:t>
            </a:r>
            <a:r>
              <a:rPr lang="en-US" sz="2600" dirty="0" smtClean="0">
                <a:solidFill>
                  <a:srgbClr val="FF0000"/>
                </a:solidFill>
              </a:rPr>
              <a:t> 3n + 3 </a:t>
            </a:r>
            <a:r>
              <a:rPr lang="en-US" sz="2600" dirty="0" smtClean="0">
                <a:solidFill>
                  <a:schemeClr val="tx1"/>
                </a:solidFill>
              </a:rPr>
              <a:t>operations. </a:t>
            </a:r>
            <a:r>
              <a:rPr lang="en-US" sz="2600" dirty="0" smtClean="0">
                <a:solidFill>
                  <a:srgbClr val="FF0000"/>
                </a:solidFill>
              </a:rPr>
              <a:t>Time complexity</a:t>
            </a:r>
            <a:r>
              <a:rPr lang="en-US" sz="2600" dirty="0" smtClean="0">
                <a:solidFill>
                  <a:schemeClr val="tx1"/>
                </a:solidFill>
              </a:rPr>
              <a:t> is </a:t>
            </a:r>
            <a:r>
              <a:rPr lang="en-US" sz="2600" dirty="0" smtClean="0">
                <a:solidFill>
                  <a:srgbClr val="FF0000"/>
                </a:solidFill>
              </a:rPr>
              <a:t>O(n)</a:t>
            </a:r>
            <a:endParaRPr lang="en-US" sz="2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Describe the </a:t>
            </a:r>
            <a:r>
              <a:rPr lang="en-US" sz="2800" dirty="0" smtClean="0">
                <a:solidFill>
                  <a:srgbClr val="FF0000"/>
                </a:solidFill>
              </a:rPr>
              <a:t>time complexity</a:t>
            </a:r>
            <a:r>
              <a:rPr lang="en-US" sz="2800" dirty="0" smtClean="0"/>
              <a:t> of </a:t>
            </a:r>
            <a:r>
              <a:rPr lang="en-US" sz="2800" dirty="0" smtClean="0">
                <a:solidFill>
                  <a:srgbClr val="FF0000"/>
                </a:solidFill>
              </a:rPr>
              <a:t>linear search</a:t>
            </a:r>
            <a:r>
              <a:rPr lang="en-US" sz="2800" dirty="0" smtClean="0"/>
              <a:t> algorithm.</a:t>
            </a:r>
          </a:p>
          <a:p>
            <a:pPr marL="109537" indent="0">
              <a:buFont typeface="Wingdings 3" pitchFamily="18" charset="2"/>
              <a:buNone/>
              <a:defRPr/>
            </a:pPr>
            <a:endParaRPr lang="en-US" sz="2800" b="1" dirty="0" smtClean="0">
              <a:latin typeface="Courier New" pitchFamily="49" charset="0"/>
              <a:cs typeface="Courier New" pitchFamily="49" charset="0"/>
            </a:endParaRP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</a:rPr>
              <a:t>int</a:t>
            </a:r>
            <a:r>
              <a:rPr lang="en-US" sz="2800" dirty="0" smtClean="0">
                <a:solidFill>
                  <a:srgbClr val="0000FF"/>
                </a:solidFill>
              </a:rPr>
              <a:t> search(</a:t>
            </a:r>
            <a:r>
              <a:rPr lang="en-US" sz="2800" dirty="0" err="1" smtClean="0">
                <a:solidFill>
                  <a:srgbClr val="0000FF"/>
                </a:solidFill>
              </a:rPr>
              <a:t>int</a:t>
            </a:r>
            <a:r>
              <a:rPr lang="en-US" sz="2800" dirty="0" smtClean="0">
                <a:solidFill>
                  <a:srgbClr val="0000FF"/>
                </a:solidFill>
              </a:rPr>
              <a:t> B[ ], </a:t>
            </a:r>
            <a:r>
              <a:rPr lang="en-US" sz="2800" dirty="0" err="1" smtClean="0">
                <a:solidFill>
                  <a:srgbClr val="0000FF"/>
                </a:solidFill>
              </a:rPr>
              <a:t>int</a:t>
            </a:r>
            <a:r>
              <a:rPr lang="en-US" sz="2800" dirty="0" smtClean="0">
                <a:solidFill>
                  <a:srgbClr val="0000FF"/>
                </a:solidFill>
              </a:rPr>
              <a:t> size, </a:t>
            </a:r>
            <a:r>
              <a:rPr lang="en-US" sz="2800" dirty="0" err="1" smtClean="0">
                <a:solidFill>
                  <a:srgbClr val="0000FF"/>
                </a:solidFill>
              </a:rPr>
              <a:t>int</a:t>
            </a:r>
            <a:r>
              <a:rPr lang="en-US" sz="2800" dirty="0" smtClean="0">
                <a:solidFill>
                  <a:srgbClr val="0000FF"/>
                </a:solidFill>
              </a:rPr>
              <a:t> value)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   {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for(</a:t>
            </a:r>
            <a:r>
              <a:rPr lang="en-US" sz="2800" dirty="0" err="1" smtClean="0">
                <a:solidFill>
                  <a:srgbClr val="0000FF"/>
                </a:solidFill>
              </a:rPr>
              <a:t>int</a:t>
            </a:r>
            <a:r>
              <a:rPr lang="en-US" sz="2800" dirty="0" smtClean="0">
                <a:solidFill>
                  <a:srgbClr val="0000FF"/>
                </a:solidFill>
              </a:rPr>
              <a:t> j=0; j&lt;size; j++)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 { 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	if(B[j] = = value)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	     return 1; 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 }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	return 0;</a:t>
            </a:r>
          </a:p>
          <a:p>
            <a:pPr marL="109537" indent="0">
              <a:buFont typeface="Wingdings 3" pitchFamily="18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</a:rPr>
              <a:t>   }</a:t>
            </a:r>
          </a:p>
          <a:p>
            <a:pPr marL="109537" indent="0">
              <a:buFont typeface="Wingdings 3" pitchFamily="18" charset="2"/>
              <a:buNone/>
              <a:defRPr/>
            </a:pPr>
            <a:endParaRPr lang="en-US" sz="2800" b="1" dirty="0" smtClean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45024" y="426720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66296" y="3096904"/>
            <a:ext cx="1143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+ 1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60864" y="3858904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20000" y="518160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76400" y="5867400"/>
            <a:ext cx="7162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00" dirty="0" smtClean="0">
                <a:solidFill>
                  <a:schemeClr val="tx1"/>
                </a:solidFill>
              </a:rPr>
              <a:t>It takes</a:t>
            </a:r>
            <a:r>
              <a:rPr lang="en-US" sz="2600" dirty="0" smtClean="0">
                <a:solidFill>
                  <a:srgbClr val="FF0000"/>
                </a:solidFill>
              </a:rPr>
              <a:t> 2n + 3 </a:t>
            </a:r>
            <a:r>
              <a:rPr lang="en-US" sz="2600" dirty="0" smtClean="0">
                <a:solidFill>
                  <a:schemeClr val="tx1"/>
                </a:solidFill>
              </a:rPr>
              <a:t>operations. </a:t>
            </a:r>
            <a:r>
              <a:rPr lang="en-US" sz="2600" dirty="0" smtClean="0">
                <a:solidFill>
                  <a:srgbClr val="FF0000"/>
                </a:solidFill>
              </a:rPr>
              <a:t>Time complexity</a:t>
            </a:r>
            <a:r>
              <a:rPr lang="en-US" sz="2600" dirty="0" smtClean="0">
                <a:solidFill>
                  <a:schemeClr val="tx1"/>
                </a:solidFill>
              </a:rPr>
              <a:t> is </a:t>
            </a:r>
            <a:r>
              <a:rPr lang="en-US" sz="2600" dirty="0" smtClean="0">
                <a:solidFill>
                  <a:srgbClr val="FF0000"/>
                </a:solidFill>
              </a:rPr>
              <a:t>O(n)</a:t>
            </a:r>
            <a:r>
              <a:rPr lang="en-US" sz="2600" dirty="0" smtClean="0">
                <a:solidFill>
                  <a:schemeClr val="tx1"/>
                </a:solidFill>
              </a:rPr>
              <a:t>.</a:t>
            </a:r>
            <a:endParaRPr lang="en-US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10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BINARY SEARCH ALGORITHM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pPr marL="742950" lvl="1" indent="-285750">
              <a:spcBef>
                <a:spcPct val="2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charset="0"/>
              </a:rPr>
              <a:t>found = false; low = 0; high = N – 1;</a:t>
            </a:r>
          </a:p>
          <a:p>
            <a:pPr marL="742950" lvl="1" indent="-285750">
              <a:spcBef>
                <a:spcPct val="2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charset="0"/>
              </a:rPr>
              <a:t>while (( ! found) &amp;&amp; ( low &lt;= high))</a:t>
            </a:r>
          </a:p>
          <a:p>
            <a:pPr marL="1143000" lvl="2">
              <a:spcBef>
                <a:spcPct val="2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charset="0"/>
              </a:rPr>
              <a:t>{</a:t>
            </a:r>
          </a:p>
          <a:p>
            <a:pPr marL="1600200" lvl="3">
              <a:spcBef>
                <a:spcPct val="2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charset="0"/>
              </a:rPr>
              <a:t>mid = (low + high)/2;</a:t>
            </a:r>
          </a:p>
          <a:p>
            <a:pPr marL="1600200" lvl="3">
              <a:spcBef>
                <a:spcPct val="2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charset="0"/>
              </a:rPr>
              <a:t>if (A[mid] = = key) </a:t>
            </a:r>
          </a:p>
          <a:p>
            <a:pPr marL="1600200" lvl="3">
              <a:spcBef>
                <a:spcPct val="2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charset="0"/>
              </a:rPr>
              <a:t>		found = true;</a:t>
            </a:r>
          </a:p>
          <a:p>
            <a:pPr marL="1600200" lvl="3">
              <a:spcBef>
                <a:spcPct val="2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charset="0"/>
              </a:rPr>
              <a:t>else </a:t>
            </a:r>
          </a:p>
          <a:p>
            <a:pPr marL="1600200" lvl="3">
              <a:spcBef>
                <a:spcPct val="2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charset="0"/>
              </a:rPr>
              <a:t>		if (A[mid] &gt; key)		</a:t>
            </a:r>
          </a:p>
          <a:p>
            <a:pPr marL="1600200" lvl="3">
              <a:spcBef>
                <a:spcPct val="2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charset="0"/>
              </a:rPr>
              <a:t>		    high = mid – 1;</a:t>
            </a:r>
          </a:p>
          <a:p>
            <a:pPr marL="1600200" lvl="3">
              <a:spcBef>
                <a:spcPct val="2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charset="0"/>
              </a:rPr>
              <a:t>		else </a:t>
            </a:r>
          </a:p>
          <a:p>
            <a:pPr marL="1600200" lvl="3">
              <a:spcBef>
                <a:spcPct val="2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charset="0"/>
              </a:rPr>
              <a:t>		    low  = mid + 1;</a:t>
            </a:r>
          </a:p>
          <a:p>
            <a:pPr marL="1143000" lvl="2">
              <a:spcBef>
                <a:spcPct val="2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charset="0"/>
              </a:rPr>
              <a:t>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1447800" y="304800"/>
            <a:ext cx="6705600" cy="2819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algn="l">
              <a:spcBef>
                <a:spcPct val="20000"/>
              </a:spcBef>
            </a:pPr>
            <a:r>
              <a:rPr lang="en-US" sz="1800" b="1">
                <a:solidFill>
                  <a:schemeClr val="bg1"/>
                </a:solidFill>
                <a:latin typeface="Arial" charset="0"/>
              </a:rPr>
              <a:t>found = false; low = 0; high = N – 1;</a:t>
            </a:r>
          </a:p>
          <a:p>
            <a:pPr marL="742950" lvl="1" indent="-285750" algn="l">
              <a:spcBef>
                <a:spcPct val="20000"/>
              </a:spcBef>
            </a:pPr>
            <a:r>
              <a:rPr lang="en-US" sz="1800" b="1">
                <a:solidFill>
                  <a:schemeClr val="bg1"/>
                </a:solidFill>
                <a:latin typeface="Arial" charset="0"/>
              </a:rPr>
              <a:t>while (( ! found) &amp;&amp; ( low &lt;= high))</a:t>
            </a:r>
          </a:p>
          <a:p>
            <a:pPr marL="1143000" lvl="2" indent="-228600" algn="l">
              <a:spcBef>
                <a:spcPct val="20000"/>
              </a:spcBef>
            </a:pPr>
            <a:r>
              <a:rPr lang="en-US" sz="1800" b="1">
                <a:solidFill>
                  <a:schemeClr val="bg1"/>
                </a:solidFill>
                <a:latin typeface="Arial" charset="0"/>
              </a:rPr>
              <a:t>{</a:t>
            </a:r>
          </a:p>
          <a:p>
            <a:pPr marL="1600200" lvl="3" indent="-228600" algn="l">
              <a:spcBef>
                <a:spcPct val="20000"/>
              </a:spcBef>
            </a:pPr>
            <a:r>
              <a:rPr lang="en-US" sz="1800" b="1">
                <a:solidFill>
                  <a:schemeClr val="bg1"/>
                </a:solidFill>
                <a:latin typeface="Arial" charset="0"/>
              </a:rPr>
              <a:t>mid = (low + high)/2;</a:t>
            </a:r>
          </a:p>
          <a:p>
            <a:pPr marL="1600200" lvl="3" indent="-228600" algn="l">
              <a:spcBef>
                <a:spcPct val="20000"/>
              </a:spcBef>
            </a:pPr>
            <a:r>
              <a:rPr lang="en-US" sz="1800" b="1">
                <a:solidFill>
                  <a:schemeClr val="bg1"/>
                </a:solidFill>
                <a:latin typeface="Arial" charset="0"/>
              </a:rPr>
              <a:t>if (A[mid] = = key) 		found = true;</a:t>
            </a:r>
          </a:p>
          <a:p>
            <a:pPr marL="1600200" lvl="3" indent="-228600" algn="l">
              <a:spcBef>
                <a:spcPct val="20000"/>
              </a:spcBef>
            </a:pPr>
            <a:r>
              <a:rPr lang="en-US" sz="1800" b="1">
                <a:solidFill>
                  <a:schemeClr val="bg1"/>
                </a:solidFill>
                <a:latin typeface="Arial" charset="0"/>
              </a:rPr>
              <a:t>else if (A[mid] &gt; key)		high   = mid – 1;</a:t>
            </a:r>
          </a:p>
          <a:p>
            <a:pPr marL="1600200" lvl="3" indent="-228600" algn="l">
              <a:spcBef>
                <a:spcPct val="20000"/>
              </a:spcBef>
            </a:pPr>
            <a:r>
              <a:rPr lang="en-US" sz="1800" b="1">
                <a:solidFill>
                  <a:schemeClr val="bg1"/>
                </a:solidFill>
                <a:latin typeface="Arial" charset="0"/>
              </a:rPr>
              <a:t>else 			low    = mid + 1;</a:t>
            </a:r>
          </a:p>
          <a:p>
            <a:pPr marL="1143000" lvl="2" indent="-228600" algn="l">
              <a:spcBef>
                <a:spcPct val="20000"/>
              </a:spcBef>
            </a:pPr>
            <a:r>
              <a:rPr lang="en-US" sz="1800" b="1">
                <a:solidFill>
                  <a:schemeClr val="bg1"/>
                </a:solidFill>
                <a:latin typeface="Arial" charset="0"/>
              </a:rPr>
              <a:t>}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381000" y="3581400"/>
            <a:ext cx="8534400" cy="1066800"/>
            <a:chOff x="240" y="2016"/>
            <a:chExt cx="5376" cy="672"/>
          </a:xfrm>
        </p:grpSpPr>
        <p:sp>
          <p:nvSpPr>
            <p:cNvPr id="11287" name="Rectangle 8"/>
            <p:cNvSpPr>
              <a:spLocks noChangeArrowheads="1"/>
            </p:cNvSpPr>
            <p:nvPr/>
          </p:nvSpPr>
          <p:spPr bwMode="auto">
            <a:xfrm>
              <a:off x="240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1288" name="Rectangle 9"/>
            <p:cNvSpPr>
              <a:spLocks noChangeArrowheads="1"/>
            </p:cNvSpPr>
            <p:nvPr/>
          </p:nvSpPr>
          <p:spPr bwMode="auto">
            <a:xfrm>
              <a:off x="576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1289" name="Rectangle 10"/>
            <p:cNvSpPr>
              <a:spLocks noChangeArrowheads="1"/>
            </p:cNvSpPr>
            <p:nvPr/>
          </p:nvSpPr>
          <p:spPr bwMode="auto">
            <a:xfrm>
              <a:off x="912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1290" name="Rectangle 11"/>
            <p:cNvSpPr>
              <a:spLocks noChangeArrowheads="1"/>
            </p:cNvSpPr>
            <p:nvPr/>
          </p:nvSpPr>
          <p:spPr bwMode="auto">
            <a:xfrm>
              <a:off x="1248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1291" name="Rectangle 12"/>
            <p:cNvSpPr>
              <a:spLocks noChangeArrowheads="1"/>
            </p:cNvSpPr>
            <p:nvPr/>
          </p:nvSpPr>
          <p:spPr bwMode="auto">
            <a:xfrm>
              <a:off x="1584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1292" name="Rectangle 13"/>
            <p:cNvSpPr>
              <a:spLocks noChangeArrowheads="1"/>
            </p:cNvSpPr>
            <p:nvPr/>
          </p:nvSpPr>
          <p:spPr bwMode="auto">
            <a:xfrm>
              <a:off x="1920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1293" name="Rectangle 14"/>
            <p:cNvSpPr>
              <a:spLocks noChangeArrowheads="1"/>
            </p:cNvSpPr>
            <p:nvPr/>
          </p:nvSpPr>
          <p:spPr bwMode="auto">
            <a:xfrm>
              <a:off x="2256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1294" name="Rectangle 15"/>
            <p:cNvSpPr>
              <a:spLocks noChangeArrowheads="1"/>
            </p:cNvSpPr>
            <p:nvPr/>
          </p:nvSpPr>
          <p:spPr bwMode="auto">
            <a:xfrm>
              <a:off x="2592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1295" name="Rectangle 24"/>
            <p:cNvSpPr>
              <a:spLocks noChangeArrowheads="1"/>
            </p:cNvSpPr>
            <p:nvPr/>
          </p:nvSpPr>
          <p:spPr bwMode="auto">
            <a:xfrm>
              <a:off x="2928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11296" name="Rectangle 25"/>
            <p:cNvSpPr>
              <a:spLocks noChangeArrowheads="1"/>
            </p:cNvSpPr>
            <p:nvPr/>
          </p:nvSpPr>
          <p:spPr bwMode="auto">
            <a:xfrm>
              <a:off x="3264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11297" name="Rectangle 26"/>
            <p:cNvSpPr>
              <a:spLocks noChangeArrowheads="1"/>
            </p:cNvSpPr>
            <p:nvPr/>
          </p:nvSpPr>
          <p:spPr bwMode="auto">
            <a:xfrm>
              <a:off x="3600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11298" name="Rectangle 27"/>
            <p:cNvSpPr>
              <a:spLocks noChangeArrowheads="1"/>
            </p:cNvSpPr>
            <p:nvPr/>
          </p:nvSpPr>
          <p:spPr bwMode="auto">
            <a:xfrm>
              <a:off x="3936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11</a:t>
              </a:r>
            </a:p>
          </p:txBody>
        </p:sp>
        <p:sp>
          <p:nvSpPr>
            <p:cNvPr id="11299" name="Rectangle 28"/>
            <p:cNvSpPr>
              <a:spLocks noChangeArrowheads="1"/>
            </p:cNvSpPr>
            <p:nvPr/>
          </p:nvSpPr>
          <p:spPr bwMode="auto">
            <a:xfrm>
              <a:off x="4272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12</a:t>
              </a:r>
            </a:p>
          </p:txBody>
        </p:sp>
        <p:sp>
          <p:nvSpPr>
            <p:cNvPr id="11300" name="Rectangle 29"/>
            <p:cNvSpPr>
              <a:spLocks noChangeArrowheads="1"/>
            </p:cNvSpPr>
            <p:nvPr/>
          </p:nvSpPr>
          <p:spPr bwMode="auto">
            <a:xfrm>
              <a:off x="4608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13</a:t>
              </a:r>
            </a:p>
          </p:txBody>
        </p:sp>
        <p:sp>
          <p:nvSpPr>
            <p:cNvPr id="11301" name="Rectangle 30"/>
            <p:cNvSpPr>
              <a:spLocks noChangeArrowheads="1"/>
            </p:cNvSpPr>
            <p:nvPr/>
          </p:nvSpPr>
          <p:spPr bwMode="auto">
            <a:xfrm>
              <a:off x="4944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11302" name="Rectangle 31"/>
            <p:cNvSpPr>
              <a:spLocks noChangeArrowheads="1"/>
            </p:cNvSpPr>
            <p:nvPr/>
          </p:nvSpPr>
          <p:spPr bwMode="auto">
            <a:xfrm>
              <a:off x="5280" y="201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15</a:t>
              </a:r>
            </a:p>
          </p:txBody>
        </p:sp>
        <p:grpSp>
          <p:nvGrpSpPr>
            <p:cNvPr id="3" name="Group 57"/>
            <p:cNvGrpSpPr>
              <a:grpSpLocks/>
            </p:cNvGrpSpPr>
            <p:nvPr/>
          </p:nvGrpSpPr>
          <p:grpSpPr bwMode="auto">
            <a:xfrm>
              <a:off x="240" y="2352"/>
              <a:ext cx="5376" cy="336"/>
              <a:chOff x="240" y="2352"/>
              <a:chExt cx="5376" cy="336"/>
            </a:xfrm>
          </p:grpSpPr>
          <p:sp>
            <p:nvSpPr>
              <p:cNvPr id="11304" name="Rectangle 32"/>
              <p:cNvSpPr>
                <a:spLocks noChangeArrowheads="1"/>
              </p:cNvSpPr>
              <p:nvPr/>
            </p:nvSpPr>
            <p:spPr bwMode="auto">
              <a:xfrm>
                <a:off x="240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2</a:t>
                </a:r>
              </a:p>
            </p:txBody>
          </p:sp>
          <p:sp>
            <p:nvSpPr>
              <p:cNvPr id="11305" name="Rectangle 33"/>
              <p:cNvSpPr>
                <a:spLocks noChangeArrowheads="1"/>
              </p:cNvSpPr>
              <p:nvPr/>
            </p:nvSpPr>
            <p:spPr bwMode="auto">
              <a:xfrm>
                <a:off x="576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3</a:t>
                </a:r>
              </a:p>
            </p:txBody>
          </p:sp>
          <p:sp>
            <p:nvSpPr>
              <p:cNvPr id="11306" name="Rectangle 34"/>
              <p:cNvSpPr>
                <a:spLocks noChangeArrowheads="1"/>
              </p:cNvSpPr>
              <p:nvPr/>
            </p:nvSpPr>
            <p:spPr bwMode="auto">
              <a:xfrm>
                <a:off x="912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11307" name="Rectangle 35"/>
              <p:cNvSpPr>
                <a:spLocks noChangeArrowheads="1"/>
              </p:cNvSpPr>
              <p:nvPr/>
            </p:nvSpPr>
            <p:spPr bwMode="auto">
              <a:xfrm>
                <a:off x="1248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7</a:t>
                </a:r>
              </a:p>
            </p:txBody>
          </p:sp>
          <p:sp>
            <p:nvSpPr>
              <p:cNvPr id="11308" name="Rectangle 36"/>
              <p:cNvSpPr>
                <a:spLocks noChangeArrowheads="1"/>
              </p:cNvSpPr>
              <p:nvPr/>
            </p:nvSpPr>
            <p:spPr bwMode="auto">
              <a:xfrm>
                <a:off x="1584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10</a:t>
                </a:r>
              </a:p>
            </p:txBody>
          </p:sp>
          <p:sp>
            <p:nvSpPr>
              <p:cNvPr id="11309" name="Rectangle 37"/>
              <p:cNvSpPr>
                <a:spLocks noChangeArrowheads="1"/>
              </p:cNvSpPr>
              <p:nvPr/>
            </p:nvSpPr>
            <p:spPr bwMode="auto">
              <a:xfrm>
                <a:off x="1920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12</a:t>
                </a:r>
              </a:p>
            </p:txBody>
          </p:sp>
          <p:sp>
            <p:nvSpPr>
              <p:cNvPr id="11310" name="Rectangle 38"/>
              <p:cNvSpPr>
                <a:spLocks noChangeArrowheads="1"/>
              </p:cNvSpPr>
              <p:nvPr/>
            </p:nvSpPr>
            <p:spPr bwMode="auto">
              <a:xfrm>
                <a:off x="2256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15</a:t>
                </a:r>
              </a:p>
            </p:txBody>
          </p:sp>
          <p:sp>
            <p:nvSpPr>
              <p:cNvPr id="11311" name="Rectangle 39"/>
              <p:cNvSpPr>
                <a:spLocks noChangeArrowheads="1"/>
              </p:cNvSpPr>
              <p:nvPr/>
            </p:nvSpPr>
            <p:spPr bwMode="auto">
              <a:xfrm>
                <a:off x="2592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22</a:t>
                </a:r>
              </a:p>
            </p:txBody>
          </p:sp>
          <p:sp>
            <p:nvSpPr>
              <p:cNvPr id="11312" name="Rectangle 40"/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28</a:t>
                </a:r>
              </a:p>
            </p:txBody>
          </p:sp>
          <p:sp>
            <p:nvSpPr>
              <p:cNvPr id="11313" name="Rectangle 41"/>
              <p:cNvSpPr>
                <a:spLocks noChangeArrowheads="1"/>
              </p:cNvSpPr>
              <p:nvPr/>
            </p:nvSpPr>
            <p:spPr bwMode="auto">
              <a:xfrm>
                <a:off x="3264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29</a:t>
                </a:r>
              </a:p>
            </p:txBody>
          </p:sp>
          <p:sp>
            <p:nvSpPr>
              <p:cNvPr id="11314" name="Rectangle 42"/>
              <p:cNvSpPr>
                <a:spLocks noChangeArrowheads="1"/>
              </p:cNvSpPr>
              <p:nvPr/>
            </p:nvSpPr>
            <p:spPr bwMode="auto">
              <a:xfrm>
                <a:off x="3600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32</a:t>
                </a:r>
              </a:p>
            </p:txBody>
          </p:sp>
          <p:sp>
            <p:nvSpPr>
              <p:cNvPr id="11315" name="Rectangle 43"/>
              <p:cNvSpPr>
                <a:spLocks noChangeArrowheads="1"/>
              </p:cNvSpPr>
              <p:nvPr/>
            </p:nvSpPr>
            <p:spPr bwMode="auto">
              <a:xfrm>
                <a:off x="3936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47</a:t>
                </a:r>
              </a:p>
            </p:txBody>
          </p:sp>
          <p:sp>
            <p:nvSpPr>
              <p:cNvPr id="11316" name="Rectangle 44"/>
              <p:cNvSpPr>
                <a:spLocks noChangeArrowheads="1"/>
              </p:cNvSpPr>
              <p:nvPr/>
            </p:nvSpPr>
            <p:spPr bwMode="auto">
              <a:xfrm>
                <a:off x="4272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48</a:t>
                </a:r>
              </a:p>
            </p:txBody>
          </p:sp>
          <p:sp>
            <p:nvSpPr>
              <p:cNvPr id="11317" name="Rectangle 45"/>
              <p:cNvSpPr>
                <a:spLocks noChangeArrowheads="1"/>
              </p:cNvSpPr>
              <p:nvPr/>
            </p:nvSpPr>
            <p:spPr bwMode="auto">
              <a:xfrm>
                <a:off x="4608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50</a:t>
                </a:r>
              </a:p>
            </p:txBody>
          </p:sp>
          <p:sp>
            <p:nvSpPr>
              <p:cNvPr id="11318" name="Rectangle 46"/>
              <p:cNvSpPr>
                <a:spLocks noChangeArrowheads="1"/>
              </p:cNvSpPr>
              <p:nvPr/>
            </p:nvSpPr>
            <p:spPr bwMode="auto">
              <a:xfrm>
                <a:off x="4944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55</a:t>
                </a:r>
              </a:p>
            </p:txBody>
          </p:sp>
          <p:sp>
            <p:nvSpPr>
              <p:cNvPr id="11319" name="Rectangle 47"/>
              <p:cNvSpPr>
                <a:spLocks noChangeArrowheads="1"/>
              </p:cNvSpPr>
              <p:nvPr/>
            </p:nvSpPr>
            <p:spPr bwMode="auto">
              <a:xfrm>
                <a:off x="5280" y="2352"/>
                <a:ext cx="336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73</a:t>
                </a:r>
              </a:p>
            </p:txBody>
          </p:sp>
        </p:grpSp>
      </p:grpSp>
      <p:sp>
        <p:nvSpPr>
          <p:cNvPr id="55344" name="Text Box 48"/>
          <p:cNvSpPr txBox="1">
            <a:spLocks noChangeArrowheads="1"/>
          </p:cNvSpPr>
          <p:nvPr/>
        </p:nvSpPr>
        <p:spPr bwMode="auto">
          <a:xfrm>
            <a:off x="3886200" y="5181600"/>
            <a:ext cx="1447800" cy="369332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FFFF00"/>
                </a:solidFill>
              </a:rPr>
              <a:t>key = 29</a:t>
            </a:r>
          </a:p>
        </p:txBody>
      </p:sp>
      <p:grpSp>
        <p:nvGrpSpPr>
          <p:cNvPr id="4" name="Group 67"/>
          <p:cNvGrpSpPr>
            <a:grpSpLocks/>
          </p:cNvGrpSpPr>
          <p:nvPr/>
        </p:nvGrpSpPr>
        <p:grpSpPr bwMode="auto">
          <a:xfrm>
            <a:off x="381000" y="3581400"/>
            <a:ext cx="8534400" cy="533400"/>
            <a:chOff x="240" y="2016"/>
            <a:chExt cx="5376" cy="336"/>
          </a:xfrm>
        </p:grpSpPr>
        <p:sp>
          <p:nvSpPr>
            <p:cNvPr id="11285" name="Rectangle 51"/>
            <p:cNvSpPr>
              <a:spLocks noChangeArrowheads="1"/>
            </p:cNvSpPr>
            <p:nvPr/>
          </p:nvSpPr>
          <p:spPr bwMode="auto">
            <a:xfrm>
              <a:off x="240" y="2016"/>
              <a:ext cx="336" cy="33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rgbClr val="003399"/>
                  </a:solidFill>
                </a:rPr>
                <a:t>0</a:t>
              </a:r>
            </a:p>
          </p:txBody>
        </p:sp>
        <p:sp>
          <p:nvSpPr>
            <p:cNvPr id="11286" name="Rectangle 53"/>
            <p:cNvSpPr>
              <a:spLocks noChangeArrowheads="1"/>
            </p:cNvSpPr>
            <p:nvPr/>
          </p:nvSpPr>
          <p:spPr bwMode="auto">
            <a:xfrm>
              <a:off x="5280" y="2016"/>
              <a:ext cx="336" cy="336"/>
            </a:xfrm>
            <a:prstGeom prst="rect">
              <a:avLst/>
            </a:prstGeom>
            <a:solidFill>
              <a:srgbClr val="33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15</a:t>
              </a:r>
            </a:p>
          </p:txBody>
        </p:sp>
      </p:grpSp>
      <p:sp>
        <p:nvSpPr>
          <p:cNvPr id="55352" name="Rectangle 56"/>
          <p:cNvSpPr>
            <a:spLocks noChangeArrowheads="1"/>
          </p:cNvSpPr>
          <p:nvPr/>
        </p:nvSpPr>
        <p:spPr bwMode="auto">
          <a:xfrm>
            <a:off x="4114800" y="3581400"/>
            <a:ext cx="5334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333300"/>
                </a:solidFill>
              </a:rPr>
              <a:t>7</a:t>
            </a:r>
          </a:p>
        </p:txBody>
      </p: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4114800" y="3581400"/>
            <a:ext cx="2667000" cy="533400"/>
            <a:chOff x="2592" y="2016"/>
            <a:chExt cx="1680" cy="336"/>
          </a:xfrm>
        </p:grpSpPr>
        <p:sp>
          <p:nvSpPr>
            <p:cNvPr id="11283" name="Rectangle 55"/>
            <p:cNvSpPr>
              <a:spLocks noChangeArrowheads="1"/>
            </p:cNvSpPr>
            <p:nvPr/>
          </p:nvSpPr>
          <p:spPr bwMode="auto">
            <a:xfrm>
              <a:off x="2592" y="2016"/>
              <a:ext cx="336" cy="336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1284" name="Rectangle 60"/>
            <p:cNvSpPr>
              <a:spLocks noChangeArrowheads="1"/>
            </p:cNvSpPr>
            <p:nvPr/>
          </p:nvSpPr>
          <p:spPr bwMode="auto">
            <a:xfrm>
              <a:off x="3936" y="2016"/>
              <a:ext cx="336" cy="3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rgbClr val="333300"/>
                  </a:solidFill>
                </a:rPr>
                <a:t>11</a:t>
              </a:r>
            </a:p>
          </p:txBody>
        </p:sp>
      </p:grpSp>
      <p:grpSp>
        <p:nvGrpSpPr>
          <p:cNvPr id="6" name="Group 70"/>
          <p:cNvGrpSpPr>
            <a:grpSpLocks/>
          </p:cNvGrpSpPr>
          <p:nvPr/>
        </p:nvGrpSpPr>
        <p:grpSpPr bwMode="auto">
          <a:xfrm>
            <a:off x="5715000" y="3581400"/>
            <a:ext cx="3200400" cy="533400"/>
            <a:chOff x="3600" y="2016"/>
            <a:chExt cx="2016" cy="336"/>
          </a:xfrm>
        </p:grpSpPr>
        <p:sp>
          <p:nvSpPr>
            <p:cNvPr id="11281" name="Rectangle 54"/>
            <p:cNvSpPr>
              <a:spLocks noChangeArrowheads="1"/>
            </p:cNvSpPr>
            <p:nvPr/>
          </p:nvSpPr>
          <p:spPr bwMode="auto">
            <a:xfrm>
              <a:off x="5280" y="2016"/>
              <a:ext cx="336" cy="336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11282" name="Rectangle 62"/>
            <p:cNvSpPr>
              <a:spLocks noChangeArrowheads="1"/>
            </p:cNvSpPr>
            <p:nvPr/>
          </p:nvSpPr>
          <p:spPr bwMode="auto">
            <a:xfrm>
              <a:off x="3600" y="2016"/>
              <a:ext cx="336" cy="336"/>
            </a:xfrm>
            <a:prstGeom prst="rect">
              <a:avLst/>
            </a:prstGeom>
            <a:solidFill>
              <a:srgbClr val="33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10</a:t>
              </a:r>
            </a:p>
          </p:txBody>
        </p:sp>
      </p:grpSp>
      <p:grpSp>
        <p:nvGrpSpPr>
          <p:cNvPr id="7" name="Group 71"/>
          <p:cNvGrpSpPr>
            <a:grpSpLocks/>
          </p:cNvGrpSpPr>
          <p:nvPr/>
        </p:nvGrpSpPr>
        <p:grpSpPr bwMode="auto">
          <a:xfrm>
            <a:off x="5181600" y="3581400"/>
            <a:ext cx="1600200" cy="533400"/>
            <a:chOff x="3264" y="2016"/>
            <a:chExt cx="1008" cy="336"/>
          </a:xfrm>
        </p:grpSpPr>
        <p:sp>
          <p:nvSpPr>
            <p:cNvPr id="11279" name="Rectangle 61"/>
            <p:cNvSpPr>
              <a:spLocks noChangeArrowheads="1"/>
            </p:cNvSpPr>
            <p:nvPr/>
          </p:nvSpPr>
          <p:spPr bwMode="auto">
            <a:xfrm>
              <a:off x="3936" y="2016"/>
              <a:ext cx="336" cy="336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11</a:t>
              </a:r>
            </a:p>
          </p:txBody>
        </p:sp>
        <p:sp>
          <p:nvSpPr>
            <p:cNvPr id="11280" name="Rectangle 64"/>
            <p:cNvSpPr>
              <a:spLocks noChangeArrowheads="1"/>
            </p:cNvSpPr>
            <p:nvPr/>
          </p:nvSpPr>
          <p:spPr bwMode="auto">
            <a:xfrm>
              <a:off x="3264" y="2016"/>
              <a:ext cx="336" cy="3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rgbClr val="333300"/>
                  </a:solidFill>
                </a:rPr>
                <a:t>9</a:t>
              </a:r>
            </a:p>
          </p:txBody>
        </p:sp>
      </p:grp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381000" y="3581400"/>
            <a:ext cx="4800600" cy="533400"/>
            <a:chOff x="240" y="2016"/>
            <a:chExt cx="3024" cy="336"/>
          </a:xfrm>
        </p:grpSpPr>
        <p:sp>
          <p:nvSpPr>
            <p:cNvPr id="11277" name="Rectangle 58"/>
            <p:cNvSpPr>
              <a:spLocks noChangeArrowheads="1"/>
            </p:cNvSpPr>
            <p:nvPr/>
          </p:nvSpPr>
          <p:spPr bwMode="auto">
            <a:xfrm>
              <a:off x="2928" y="2016"/>
              <a:ext cx="336" cy="33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rgbClr val="003399"/>
                  </a:solidFill>
                </a:rPr>
                <a:t>8</a:t>
              </a:r>
            </a:p>
          </p:txBody>
        </p:sp>
        <p:sp>
          <p:nvSpPr>
            <p:cNvPr id="11278" name="Rectangle 52"/>
            <p:cNvSpPr>
              <a:spLocks noChangeArrowheads="1"/>
            </p:cNvSpPr>
            <p:nvPr/>
          </p:nvSpPr>
          <p:spPr bwMode="auto">
            <a:xfrm>
              <a:off x="240" y="2016"/>
              <a:ext cx="336" cy="336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bg1"/>
                  </a:solidFill>
                </a:rPr>
                <a:t>0</a:t>
              </a:r>
            </a:p>
          </p:txBody>
        </p:sp>
      </p:grpSp>
      <p:sp>
        <p:nvSpPr>
          <p:cNvPr id="55370" name="Rectangle 74"/>
          <p:cNvSpPr>
            <a:spLocks noChangeArrowheads="1"/>
          </p:cNvSpPr>
          <p:nvPr/>
        </p:nvSpPr>
        <p:spPr bwMode="auto">
          <a:xfrm>
            <a:off x="5181600" y="4114800"/>
            <a:ext cx="533400" cy="5334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FFFF00"/>
                </a:solidFill>
              </a:rPr>
              <a:t>29</a:t>
            </a:r>
          </a:p>
        </p:txBody>
      </p:sp>
      <p:sp>
        <p:nvSpPr>
          <p:cNvPr id="56" name="Rectangle 3"/>
          <p:cNvSpPr>
            <a:spLocks noGrp="1" noChangeArrowheads="1"/>
          </p:cNvSpPr>
          <p:nvPr>
            <p:ph idx="1"/>
          </p:nvPr>
        </p:nvSpPr>
        <p:spPr>
          <a:xfrm>
            <a:off x="2514600" y="5791200"/>
            <a:ext cx="7772400" cy="6858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sz="2000" dirty="0" smtClean="0">
                <a:latin typeface="Tahoma" pitchFamily="34" charset="0"/>
              </a:rPr>
              <a:t>Average number of comparisons ?</a:t>
            </a:r>
          </a:p>
          <a:p>
            <a:pPr eaLnBrk="1" hangingPunct="1"/>
            <a:r>
              <a:rPr lang="en-US" sz="2000" dirty="0" smtClean="0">
                <a:latin typeface="Tahoma" pitchFamily="34" charset="0"/>
              </a:rPr>
              <a:t>Order of “</a:t>
            </a:r>
            <a:r>
              <a:rPr lang="en-US" sz="2000" dirty="0" smtClean="0">
                <a:solidFill>
                  <a:srgbClr val="FF0000"/>
                </a:solidFill>
                <a:latin typeface="Tahoma" pitchFamily="34" charset="0"/>
              </a:rPr>
              <a:t>log(N)</a:t>
            </a:r>
            <a:r>
              <a:rPr lang="en-US" sz="2000" dirty="0" smtClean="0">
                <a:latin typeface="Tahoma" pitchFamily="34" charset="0"/>
              </a:rPr>
              <a:t>” as compared to N.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5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5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5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44" grpId="0" animBg="1"/>
      <p:bldP spid="55352" grpId="0" animBg="1"/>
      <p:bldP spid="55370" grpId="0" animBg="1"/>
      <p:bldP spid="56" grpId="0" build="p"/>
      <p:bldP spid="56" grpI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981200"/>
            <a:ext cx="85344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  <a:latin typeface="Arial" charset="0"/>
              </a:rPr>
              <a:t>NADRA</a:t>
            </a:r>
            <a:r>
              <a:rPr lang="en-US" dirty="0" smtClean="0">
                <a:latin typeface="Arial" charset="0"/>
              </a:rPr>
              <a:t> database: </a:t>
            </a:r>
            <a:r>
              <a:rPr lang="en-US" dirty="0" smtClean="0">
                <a:solidFill>
                  <a:srgbClr val="FF0000"/>
                </a:solidFill>
                <a:latin typeface="Arial" charset="0"/>
              </a:rPr>
              <a:t>~80,000,000 records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Arial" charset="0"/>
              </a:rPr>
              <a:t>Computer which can perform </a:t>
            </a:r>
            <a:r>
              <a:rPr lang="en-US" dirty="0" smtClean="0">
                <a:solidFill>
                  <a:srgbClr val="FF0000"/>
                </a:solidFill>
                <a:latin typeface="Arial" charset="0"/>
              </a:rPr>
              <a:t>10,000 comparisons</a:t>
            </a:r>
            <a:r>
              <a:rPr lang="en-US" dirty="0" smtClean="0">
                <a:latin typeface="Arial" charset="0"/>
              </a:rPr>
              <a:t> per </a:t>
            </a:r>
            <a:r>
              <a:rPr lang="en-US" dirty="0" smtClean="0">
                <a:solidFill>
                  <a:srgbClr val="FF0000"/>
                </a:solidFill>
                <a:latin typeface="Arial" charset="0"/>
              </a:rPr>
              <a:t>second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500" dirty="0" smtClean="0">
                <a:solidFill>
                  <a:srgbClr val="002060"/>
                </a:solidFill>
                <a:latin typeface="Arial" charset="0"/>
              </a:rPr>
              <a:t>Linear search:	~2.22 hours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500" dirty="0" smtClean="0">
                <a:solidFill>
                  <a:srgbClr val="002060"/>
                </a:solidFill>
                <a:latin typeface="Arial" charset="0"/>
              </a:rPr>
              <a:t>Binary search:	~0.005 seconds</a:t>
            </a:r>
          </a:p>
          <a:p>
            <a:pPr lvl="1" eaLnBrk="1" hangingPunct="1">
              <a:lnSpc>
                <a:spcPct val="90000"/>
              </a:lnSpc>
            </a:pPr>
            <a:endParaRPr lang="en-US" sz="2500" dirty="0" smtClean="0">
              <a:solidFill>
                <a:srgbClr val="002060"/>
              </a:solidFill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500" dirty="0" smtClean="0">
                <a:solidFill>
                  <a:srgbClr val="002060"/>
                </a:solidFill>
                <a:latin typeface="Arial" charset="0"/>
              </a:rPr>
              <a:t>Roughly 1.6 million times less</a:t>
            </a:r>
          </a:p>
          <a:p>
            <a:pPr lvl="1" eaLnBrk="1" hangingPunct="1">
              <a:lnSpc>
                <a:spcPct val="90000"/>
              </a:lnSpc>
              <a:buFont typeface="Verdana" pitchFamily="34" charset="0"/>
              <a:buNone/>
            </a:pPr>
            <a:endParaRPr lang="en-US" sz="2500" dirty="0" smtClean="0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003399"/>
                </a:solidFill>
                <a:latin typeface="Arial" charset="0"/>
              </a:rPr>
              <a:t>Performance </a:t>
            </a:r>
            <a:r>
              <a:rPr lang="en-US" dirty="0">
                <a:solidFill>
                  <a:srgbClr val="003399"/>
                </a:solidFill>
                <a:latin typeface="Arial" charset="0"/>
              </a:rPr>
              <a:t>Comparison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 bldLvl="2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Describe the </a:t>
            </a:r>
            <a:r>
              <a:rPr lang="en-US" dirty="0" smtClean="0">
                <a:solidFill>
                  <a:srgbClr val="FF0000"/>
                </a:solidFill>
              </a:rPr>
              <a:t>time complexity</a:t>
            </a:r>
            <a:r>
              <a:rPr lang="en-US" dirty="0" smtClean="0"/>
              <a:t> of following algorithm.</a:t>
            </a:r>
          </a:p>
          <a:p>
            <a:pPr marL="109537" indent="0">
              <a:buFont typeface="Wingdings 3" pitchFamily="18" charset="2"/>
              <a:buNone/>
              <a:defRPr/>
            </a:pPr>
            <a:endParaRPr lang="en-US" sz="28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solidFill>
                  <a:srgbClr val="0000FF"/>
                </a:solidFill>
              </a:rPr>
              <a:t>grandTotal</a:t>
            </a:r>
            <a:r>
              <a:rPr lang="en-US" dirty="0" smtClean="0">
                <a:solidFill>
                  <a:srgbClr val="0000FF"/>
                </a:solidFill>
              </a:rPr>
              <a:t>=0;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for(k=0; k&lt;n-1; ++k)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{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   rows[k]=0;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   for(j = 0; j&lt;n-1; ++j)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   {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	rows[k]=rows[k]+matrix[k][j];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     	</a:t>
            </a:r>
            <a:r>
              <a:rPr lang="en-US" dirty="0" err="1" smtClean="0">
                <a:solidFill>
                  <a:srgbClr val="0000FF"/>
                </a:solidFill>
              </a:rPr>
              <a:t>grandTotal</a:t>
            </a:r>
            <a:r>
              <a:rPr lang="en-US" dirty="0" smtClean="0">
                <a:solidFill>
                  <a:srgbClr val="0000FF"/>
                </a:solidFill>
              </a:rPr>
              <a:t>=</a:t>
            </a:r>
            <a:r>
              <a:rPr lang="en-US" dirty="0" err="1" smtClean="0">
                <a:solidFill>
                  <a:srgbClr val="0000FF"/>
                </a:solidFill>
              </a:rPr>
              <a:t>grandTotal+matrix</a:t>
            </a:r>
            <a:r>
              <a:rPr lang="en-US" dirty="0" smtClean="0">
                <a:solidFill>
                  <a:srgbClr val="0000FF"/>
                </a:solidFill>
              </a:rPr>
              <a:t>[k][j];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   }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	  }</a:t>
            </a:r>
          </a:p>
          <a:p>
            <a:pPr marL="109537" indent="0">
              <a:buFont typeface="Wingdings 3" pitchFamily="18" charset="2"/>
              <a:buNone/>
              <a:defRPr/>
            </a:pP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marL="109537" indent="0">
              <a:buFont typeface="Wingdings 3" pitchFamily="18" charset="2"/>
              <a:buNone/>
              <a:defRPr/>
            </a:pPr>
            <a:endParaRPr lang="en-US" sz="2800" b="1" dirty="0" smtClean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90288" y="2079008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96608" y="2495264"/>
            <a:ext cx="155129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– 1 + 1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63624" y="3290248"/>
            <a:ext cx="1066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– 1 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5944" y="3712192"/>
            <a:ext cx="155129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– 1 + 1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45200" y="4495800"/>
            <a:ext cx="1066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– 1 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63904" y="4945040"/>
            <a:ext cx="1066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rgbClr val="FF0000"/>
                </a:solidFill>
              </a:rPr>
              <a:t>n – 1 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47096" y="1559256"/>
            <a:ext cx="3048000" cy="3429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u="sng" dirty="0" smtClean="0">
                <a:solidFill>
                  <a:schemeClr val="tx1"/>
                </a:solidFill>
              </a:rPr>
              <a:t>Inner Loop:</a:t>
            </a:r>
          </a:p>
          <a:p>
            <a:r>
              <a:rPr lang="en-US" sz="2200" dirty="0" smtClean="0"/>
              <a:t>	</a:t>
            </a:r>
            <a:r>
              <a:rPr lang="en-US" sz="2200" dirty="0" smtClean="0">
                <a:solidFill>
                  <a:srgbClr val="FF0000"/>
                </a:solidFill>
              </a:rPr>
              <a:t>I() = 3n – 2  </a:t>
            </a:r>
          </a:p>
          <a:p>
            <a:endParaRPr lang="en-US" sz="2200" dirty="0" smtClean="0"/>
          </a:p>
          <a:p>
            <a:r>
              <a:rPr lang="en-US" sz="2200" u="sng" dirty="0" smtClean="0">
                <a:solidFill>
                  <a:schemeClr val="tx1"/>
                </a:solidFill>
              </a:rPr>
              <a:t>Outer Loop:</a:t>
            </a:r>
          </a:p>
          <a:p>
            <a:r>
              <a:rPr lang="en-US" sz="2200" dirty="0" smtClean="0">
                <a:solidFill>
                  <a:schemeClr val="tx1"/>
                </a:solidFill>
              </a:rPr>
              <a:t>	 </a:t>
            </a:r>
            <a:r>
              <a:rPr lang="en-US" sz="2200" dirty="0" smtClean="0">
                <a:solidFill>
                  <a:srgbClr val="FF0000"/>
                </a:solidFill>
              </a:rPr>
              <a:t>J() = 2n – 1 </a:t>
            </a:r>
          </a:p>
          <a:p>
            <a:endParaRPr lang="en-US" sz="2200" dirty="0" smtClean="0">
              <a:solidFill>
                <a:schemeClr val="tx1"/>
              </a:solidFill>
            </a:endParaRPr>
          </a:p>
          <a:p>
            <a:r>
              <a:rPr lang="en-US" sz="2200" u="sng" dirty="0" smtClean="0">
                <a:solidFill>
                  <a:schemeClr val="tx1"/>
                </a:solidFill>
              </a:rPr>
              <a:t>Total Time:</a:t>
            </a:r>
          </a:p>
          <a:p>
            <a:r>
              <a:rPr lang="en-US" sz="2200" dirty="0" smtClean="0">
                <a:solidFill>
                  <a:srgbClr val="FF0000"/>
                </a:solidFill>
              </a:rPr>
              <a:t>T() = I() </a:t>
            </a:r>
            <a:r>
              <a:rPr lang="en-US" sz="2200" b="1" dirty="0" smtClean="0">
                <a:solidFill>
                  <a:srgbClr val="FF0000"/>
                </a:solidFill>
              </a:rPr>
              <a:t>. </a:t>
            </a:r>
            <a:r>
              <a:rPr lang="en-US" sz="2200" dirty="0" smtClean="0">
                <a:solidFill>
                  <a:srgbClr val="FF0000"/>
                </a:solidFill>
              </a:rPr>
              <a:t>J() </a:t>
            </a:r>
          </a:p>
          <a:p>
            <a:r>
              <a:rPr lang="en-US" sz="2200" dirty="0" smtClean="0">
                <a:solidFill>
                  <a:srgbClr val="FF0000"/>
                </a:solidFill>
              </a:rPr>
              <a:t>      = (3n – 2)(2n – 1)+1</a:t>
            </a:r>
          </a:p>
          <a:p>
            <a:r>
              <a:rPr lang="en-US" sz="2200" dirty="0" smtClean="0"/>
              <a:t>      </a:t>
            </a:r>
            <a:r>
              <a:rPr lang="en-US" sz="2200" dirty="0" smtClean="0">
                <a:solidFill>
                  <a:srgbClr val="FF0000"/>
                </a:solidFill>
              </a:rPr>
              <a:t>= 6n</a:t>
            </a:r>
            <a:r>
              <a:rPr lang="en-US" sz="2200" baseline="30000" dirty="0" smtClean="0">
                <a:solidFill>
                  <a:srgbClr val="FF0000"/>
                </a:solidFill>
              </a:rPr>
              <a:t>2</a:t>
            </a:r>
            <a:r>
              <a:rPr lang="en-US" sz="2200" dirty="0" smtClean="0">
                <a:solidFill>
                  <a:srgbClr val="FF0000"/>
                </a:solidFill>
              </a:rPr>
              <a:t> – 7n + 3</a:t>
            </a:r>
          </a:p>
          <a:p>
            <a:r>
              <a:rPr lang="en-US" sz="2200" dirty="0" smtClean="0"/>
              <a:t> 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690584" y="5638800"/>
            <a:ext cx="2133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rgbClr val="FF0000"/>
                </a:solidFill>
              </a:rPr>
              <a:t>O(n</a:t>
            </a:r>
            <a:r>
              <a:rPr lang="en-US" sz="2800" b="1" baseline="30000" dirty="0">
                <a:solidFill>
                  <a:srgbClr val="FF0000"/>
                </a:solidFill>
              </a:rPr>
              <a:t>2</a:t>
            </a:r>
            <a:r>
              <a:rPr lang="en-US" sz="2800" b="1" dirty="0" smtClean="0">
                <a:solidFill>
                  <a:srgbClr val="FF0000"/>
                </a:solidFill>
              </a:rPr>
              <a:t>)</a:t>
            </a:r>
            <a:r>
              <a:rPr lang="en-US" sz="2800" b="1" dirty="0" smtClean="0"/>
              <a:t>)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11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 (SUMMING THE LIST OF TWO NUMBERS)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62500" lnSpcReduction="20000"/>
          </a:bodyPr>
          <a:lstStyle/>
          <a:p>
            <a:pPr>
              <a:buNone/>
              <a:defRPr/>
            </a:pPr>
            <a:r>
              <a:rPr lang="en-US" sz="2800" b="1" dirty="0" smtClean="0"/>
              <a:t>	</a:t>
            </a:r>
            <a:r>
              <a:rPr lang="en-US" sz="2800" b="1" dirty="0" err="1" smtClean="0">
                <a:solidFill>
                  <a:srgbClr val="0000FF"/>
                </a:solidFill>
              </a:rPr>
              <a:t>int</a:t>
            </a:r>
            <a:r>
              <a:rPr lang="en-US" sz="2800" b="1" dirty="0" smtClean="0">
                <a:solidFill>
                  <a:srgbClr val="0000FF"/>
                </a:solidFill>
              </a:rPr>
              <a:t> main()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 { 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</a:t>
            </a:r>
            <a:r>
              <a:rPr lang="en-US" sz="2800" b="1" dirty="0" err="1" smtClean="0">
                <a:solidFill>
                  <a:srgbClr val="0000FF"/>
                </a:solidFill>
              </a:rPr>
              <a:t>int</a:t>
            </a:r>
            <a:r>
              <a:rPr lang="en-US" sz="2800" b="1" dirty="0" smtClean="0">
                <a:solidFill>
                  <a:srgbClr val="0000FF"/>
                </a:solidFill>
              </a:rPr>
              <a:t> size=10;	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</a:t>
            </a:r>
            <a:r>
              <a:rPr lang="en-US" sz="2800" b="1" dirty="0" err="1" smtClean="0">
                <a:solidFill>
                  <a:srgbClr val="0000FF"/>
                </a:solidFill>
              </a:rPr>
              <a:t>int</a:t>
            </a:r>
            <a:r>
              <a:rPr lang="en-US" sz="2800" b="1" dirty="0" smtClean="0">
                <a:solidFill>
                  <a:srgbClr val="0000FF"/>
                </a:solidFill>
              </a:rPr>
              <a:t> a[size]; 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for (</a:t>
            </a:r>
            <a:r>
              <a:rPr lang="en-US" sz="2800" b="1" dirty="0" err="1" smtClean="0">
                <a:solidFill>
                  <a:srgbClr val="0000FF"/>
                </a:solidFill>
              </a:rPr>
              <a:t>int</a:t>
            </a:r>
            <a:r>
              <a:rPr lang="en-US" sz="2800" b="1" dirty="0" smtClean="0">
                <a:solidFill>
                  <a:srgbClr val="0000FF"/>
                </a:solidFill>
              </a:rPr>
              <a:t> n =0; n &lt; size; n++)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 {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	</a:t>
            </a:r>
            <a:r>
              <a:rPr lang="en-US" sz="2800" b="1" dirty="0" err="1" smtClean="0">
                <a:solidFill>
                  <a:srgbClr val="0000FF"/>
                </a:solidFill>
              </a:rPr>
              <a:t>cin</a:t>
            </a:r>
            <a:r>
              <a:rPr lang="en-US" sz="2800" b="1" dirty="0" smtClean="0">
                <a:solidFill>
                  <a:srgbClr val="0000FF"/>
                </a:solidFill>
              </a:rPr>
              <a:t> &gt;&gt; a[n];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} 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</a:t>
            </a:r>
            <a:r>
              <a:rPr lang="en-US" sz="2800" b="1" dirty="0" err="1" smtClean="0">
                <a:solidFill>
                  <a:srgbClr val="0000FF"/>
                </a:solidFill>
              </a:rPr>
              <a:t>int</a:t>
            </a:r>
            <a:r>
              <a:rPr lang="en-US" sz="2800" b="1" dirty="0" smtClean="0">
                <a:solidFill>
                  <a:srgbClr val="0000FF"/>
                </a:solidFill>
              </a:rPr>
              <a:t> sum = 0; 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for (</a:t>
            </a:r>
            <a:r>
              <a:rPr lang="en-US" sz="2800" b="1" dirty="0" err="1" smtClean="0">
                <a:solidFill>
                  <a:srgbClr val="0000FF"/>
                </a:solidFill>
              </a:rPr>
              <a:t>int</a:t>
            </a:r>
            <a:r>
              <a:rPr lang="en-US" sz="2800" b="1" dirty="0" smtClean="0">
                <a:solidFill>
                  <a:srgbClr val="0000FF"/>
                </a:solidFill>
              </a:rPr>
              <a:t> </a:t>
            </a:r>
            <a:r>
              <a:rPr lang="en-US" sz="2800" b="1" dirty="0" err="1" smtClean="0">
                <a:solidFill>
                  <a:srgbClr val="0000FF"/>
                </a:solidFill>
              </a:rPr>
              <a:t>i</a:t>
            </a:r>
            <a:r>
              <a:rPr lang="en-US" sz="2800" b="1" dirty="0" smtClean="0">
                <a:solidFill>
                  <a:srgbClr val="0000FF"/>
                </a:solidFill>
              </a:rPr>
              <a:t>=0; </a:t>
            </a:r>
            <a:r>
              <a:rPr lang="en-US" sz="2800" b="1" dirty="0" err="1" smtClean="0">
                <a:solidFill>
                  <a:srgbClr val="0000FF"/>
                </a:solidFill>
              </a:rPr>
              <a:t>i</a:t>
            </a:r>
            <a:r>
              <a:rPr lang="en-US" sz="2800" b="1" dirty="0" smtClean="0">
                <a:solidFill>
                  <a:srgbClr val="0000FF"/>
                </a:solidFill>
              </a:rPr>
              <a:t>&lt;size; </a:t>
            </a:r>
            <a:r>
              <a:rPr lang="en-US" sz="2800" b="1" dirty="0" err="1" smtClean="0">
                <a:solidFill>
                  <a:srgbClr val="0000FF"/>
                </a:solidFill>
              </a:rPr>
              <a:t>i</a:t>
            </a:r>
            <a:r>
              <a:rPr lang="en-US" sz="2800" b="1" dirty="0" smtClean="0">
                <a:solidFill>
                  <a:srgbClr val="0000FF"/>
                </a:solidFill>
              </a:rPr>
              <a:t>++) 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{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	 sum = sum + a[</a:t>
            </a:r>
            <a:r>
              <a:rPr lang="en-US" sz="2800" b="1" dirty="0" err="1" smtClean="0">
                <a:solidFill>
                  <a:srgbClr val="0000FF"/>
                </a:solidFill>
              </a:rPr>
              <a:t>i</a:t>
            </a:r>
            <a:r>
              <a:rPr lang="en-US" sz="2800" b="1" dirty="0" smtClean="0">
                <a:solidFill>
                  <a:srgbClr val="0000FF"/>
                </a:solidFill>
              </a:rPr>
              <a:t>]; 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 }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 </a:t>
            </a:r>
            <a:r>
              <a:rPr lang="en-US" sz="2800" b="1" dirty="0" err="1" smtClean="0">
                <a:solidFill>
                  <a:srgbClr val="0000FF"/>
                </a:solidFill>
              </a:rPr>
              <a:t>cout</a:t>
            </a:r>
            <a:r>
              <a:rPr lang="en-US" sz="2800" b="1" dirty="0" smtClean="0">
                <a:solidFill>
                  <a:srgbClr val="0000FF"/>
                </a:solidFill>
              </a:rPr>
              <a:t> &lt;&lt; sum &lt;&lt; </a:t>
            </a:r>
            <a:r>
              <a:rPr lang="en-US" sz="2800" b="1" dirty="0" err="1" smtClean="0">
                <a:solidFill>
                  <a:srgbClr val="0000FF"/>
                </a:solidFill>
              </a:rPr>
              <a:t>endl</a:t>
            </a:r>
            <a:r>
              <a:rPr lang="en-US" sz="2800" b="1" dirty="0" smtClean="0">
                <a:solidFill>
                  <a:srgbClr val="0000FF"/>
                </a:solidFill>
              </a:rPr>
              <a:t>; 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	return 0; </a:t>
            </a:r>
          </a:p>
          <a:p>
            <a:pPr>
              <a:buNone/>
              <a:defRPr/>
            </a:pPr>
            <a:r>
              <a:rPr lang="en-US" sz="2800" b="1" dirty="0" smtClean="0">
                <a:solidFill>
                  <a:srgbClr val="0000FF"/>
                </a:solidFill>
              </a:rPr>
              <a:t>	 }</a:t>
            </a:r>
            <a:r>
              <a:rPr lang="en-US" sz="2800" b="1" dirty="0" smtClean="0"/>
              <a:t>	                    It takes </a:t>
            </a:r>
            <a:r>
              <a:rPr lang="en-US" sz="2800" b="1" dirty="0" smtClean="0">
                <a:solidFill>
                  <a:srgbClr val="FF0000"/>
                </a:solidFill>
              </a:rPr>
              <a:t>3n + 8</a:t>
            </a:r>
            <a:r>
              <a:rPr lang="en-US" sz="2800" b="1" dirty="0" smtClean="0"/>
              <a:t> operations. The </a:t>
            </a:r>
            <a:r>
              <a:rPr lang="en-US" sz="2800" b="1" dirty="0" smtClean="0">
                <a:solidFill>
                  <a:srgbClr val="FF0000"/>
                </a:solidFill>
              </a:rPr>
              <a:t>time complexity</a:t>
            </a:r>
            <a:r>
              <a:rPr lang="en-US" sz="2800" b="1" dirty="0" smtClean="0"/>
              <a:t> is </a:t>
            </a:r>
            <a:r>
              <a:rPr lang="en-US" sz="2800" b="1" dirty="0" smtClean="0">
                <a:solidFill>
                  <a:srgbClr val="FF0000"/>
                </a:solidFill>
              </a:rPr>
              <a:t>O(n)</a:t>
            </a:r>
            <a:r>
              <a:rPr lang="en-US" sz="2800" b="1" dirty="0" smtClean="0"/>
              <a:t>.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921992" y="1197592"/>
            <a:ext cx="228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1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0" y="1779896"/>
            <a:ext cx="228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1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0" y="2030104"/>
            <a:ext cx="228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1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94536" y="2266664"/>
            <a:ext cx="762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n + 1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94696" y="2944504"/>
            <a:ext cx="304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n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29952" y="3858904"/>
            <a:ext cx="228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1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90008" y="4038600"/>
            <a:ext cx="762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n + 1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04928" y="4702792"/>
            <a:ext cx="304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n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29984" y="5369256"/>
            <a:ext cx="228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1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18576" y="5638800"/>
            <a:ext cx="228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1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search_min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(</a:t>
            </a: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 list[],</a:t>
            </a: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 from, </a:t>
            </a: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 to)	</a:t>
            </a:r>
          </a:p>
          <a:p>
            <a:pPr>
              <a:lnSpc>
                <a:spcPct val="90000"/>
              </a:lnSpc>
              <a:buNone/>
            </a:pP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{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; </a:t>
            </a: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 min= from;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for (</a:t>
            </a: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=from; </a:t>
            </a: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&lt;=to; </a:t>
            </a: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++)</a:t>
            </a:r>
          </a:p>
          <a:p>
            <a:pPr lvl="2">
              <a:lnSpc>
                <a:spcPct val="90000"/>
              </a:lnSpc>
              <a:buNone/>
            </a:pP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If (list[</a:t>
            </a: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] &lt; list[min])</a:t>
            </a:r>
          </a:p>
          <a:p>
            <a:pPr lvl="2">
              <a:lnSpc>
                <a:spcPct val="90000"/>
              </a:lnSpc>
              <a:buNone/>
            </a:pP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			 min = </a:t>
            </a:r>
            <a:r>
              <a:rPr lang="en-US" sz="2400" b="1" dirty="0" err="1" smtClean="0">
                <a:solidFill>
                  <a:srgbClr val="FF5050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;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return min;</a:t>
            </a:r>
          </a:p>
          <a:p>
            <a:pPr>
              <a:lnSpc>
                <a:spcPct val="90000"/>
              </a:lnSpc>
              <a:buNone/>
            </a:pPr>
            <a:r>
              <a:rPr lang="en-US" sz="2400" b="1" dirty="0" smtClean="0">
                <a:solidFill>
                  <a:srgbClr val="FF5050"/>
                </a:solidFill>
                <a:latin typeface="Courier New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560088" y="5410200"/>
            <a:ext cx="4114800" cy="579438"/>
          </a:xfrm>
          <a:prstGeom prst="rect">
            <a:avLst/>
          </a:prstGeom>
          <a:solidFill>
            <a:schemeClr val="bg2">
              <a:lumMod val="25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>
            <a:spAutoFit/>
          </a:bodyPr>
          <a:lstStyle/>
          <a:p>
            <a:pPr algn="ctr" eaLnBrk="0" hangingPunct="0">
              <a:spcBef>
                <a:spcPct val="20000"/>
              </a:spcBef>
              <a:defRPr/>
            </a:pPr>
            <a:r>
              <a:rPr lang="en-US" sz="3200" b="1" dirty="0">
                <a:solidFill>
                  <a:srgbClr val="FFFF00"/>
                </a:solidFill>
                <a:latin typeface="Tahoma" pitchFamily="34" charset="0"/>
              </a:rPr>
              <a:t>O(n)</a:t>
            </a:r>
            <a:endParaRPr lang="en-US" sz="2800" b="1" dirty="0">
              <a:solidFill>
                <a:srgbClr val="FFFF0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FF3300"/>
                </a:solidFill>
                <a:latin typeface="Courier New" pitchFamily="49" charset="0"/>
              </a:rPr>
              <a:t>void swap(</a:t>
            </a:r>
            <a:r>
              <a:rPr lang="en-US" b="1" dirty="0" err="1" smtClean="0">
                <a:solidFill>
                  <a:srgbClr val="FF3300"/>
                </a:solidFill>
                <a:latin typeface="Courier New" pitchFamily="49" charset="0"/>
              </a:rPr>
              <a:t>int</a:t>
            </a:r>
            <a:r>
              <a:rPr lang="en-US" b="1" dirty="0" smtClean="0">
                <a:solidFill>
                  <a:srgbClr val="FF3300"/>
                </a:solidFill>
                <a:latin typeface="Courier New" pitchFamily="49" charset="0"/>
              </a:rPr>
              <a:t> &amp;a, </a:t>
            </a:r>
            <a:r>
              <a:rPr lang="en-US" b="1" dirty="0" err="1" smtClean="0">
                <a:solidFill>
                  <a:srgbClr val="FF3300"/>
                </a:solidFill>
                <a:latin typeface="Courier New" pitchFamily="49" charset="0"/>
              </a:rPr>
              <a:t>int</a:t>
            </a:r>
            <a:r>
              <a:rPr lang="en-US" b="1" dirty="0" smtClean="0">
                <a:solidFill>
                  <a:srgbClr val="FF3300"/>
                </a:solidFill>
                <a:latin typeface="Courier New" pitchFamily="49" charset="0"/>
              </a:rPr>
              <a:t> &amp;b)			</a:t>
            </a:r>
          </a:p>
          <a:p>
            <a:pPr>
              <a:buNone/>
            </a:pPr>
            <a:r>
              <a:rPr lang="en-US" b="1" dirty="0" smtClean="0">
                <a:solidFill>
                  <a:srgbClr val="FF3300"/>
                </a:solidFill>
                <a:latin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US" sz="2600" b="1" dirty="0" err="1" smtClean="0">
                <a:solidFill>
                  <a:srgbClr val="FF3300"/>
                </a:solidFill>
                <a:latin typeface="Courier New" pitchFamily="49" charset="0"/>
              </a:rPr>
              <a:t>int</a:t>
            </a:r>
            <a:r>
              <a:rPr lang="en-US" sz="2600" b="1" dirty="0" smtClean="0">
                <a:solidFill>
                  <a:srgbClr val="FF3300"/>
                </a:solidFill>
                <a:latin typeface="Courier New" pitchFamily="49" charset="0"/>
              </a:rPr>
              <a:t> temp=a;</a:t>
            </a:r>
          </a:p>
          <a:p>
            <a:pPr lvl="1">
              <a:buNone/>
            </a:pPr>
            <a:r>
              <a:rPr lang="en-US" sz="2600" b="1" dirty="0" smtClean="0">
                <a:solidFill>
                  <a:srgbClr val="FF3300"/>
                </a:solidFill>
                <a:latin typeface="Courier New" pitchFamily="49" charset="0"/>
              </a:rPr>
              <a:t>a = b;</a:t>
            </a:r>
          </a:p>
          <a:p>
            <a:pPr lvl="1">
              <a:buNone/>
            </a:pPr>
            <a:r>
              <a:rPr lang="en-US" sz="2600" b="1" dirty="0" smtClean="0">
                <a:solidFill>
                  <a:srgbClr val="FF3300"/>
                </a:solidFill>
                <a:latin typeface="Courier New" pitchFamily="49" charset="0"/>
              </a:rPr>
              <a:t>b = temp;</a:t>
            </a:r>
          </a:p>
          <a:p>
            <a:pPr>
              <a:buNone/>
            </a:pPr>
            <a:r>
              <a:rPr lang="en-US" b="1" dirty="0" smtClean="0">
                <a:solidFill>
                  <a:srgbClr val="FF3300"/>
                </a:solidFill>
                <a:latin typeface="Courier New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626056" y="5410200"/>
            <a:ext cx="4114800" cy="579438"/>
          </a:xfrm>
          <a:prstGeom prst="rect">
            <a:avLst/>
          </a:prstGeom>
          <a:solidFill>
            <a:schemeClr val="bg2">
              <a:lumMod val="25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>
            <a:spAutoFit/>
          </a:bodyPr>
          <a:lstStyle/>
          <a:p>
            <a:pPr algn="ctr" eaLnBrk="0" hangingPunct="0">
              <a:spcBef>
                <a:spcPct val="20000"/>
              </a:spcBef>
              <a:defRPr/>
            </a:pPr>
            <a:r>
              <a:rPr lang="en-US" sz="3200" b="1" dirty="0">
                <a:solidFill>
                  <a:srgbClr val="FFFF00"/>
                </a:solidFill>
                <a:latin typeface="Tahoma" pitchFamily="34" charset="0"/>
              </a:rPr>
              <a:t>O(1)</a:t>
            </a:r>
            <a:endParaRPr lang="en-US" sz="2800" b="1" dirty="0">
              <a:solidFill>
                <a:srgbClr val="FFFF0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62500" lnSpcReduction="20000"/>
          </a:bodyPr>
          <a:lstStyle/>
          <a:p>
            <a:pPr marL="107950" indent="0">
              <a:buFont typeface="Wingdings 3" pitchFamily="18" charset="2"/>
              <a:buNone/>
            </a:pP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	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i,j,k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for(k=1;k&lt;=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n;k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for(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k;i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&lt;=n-2;i++)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&lt;&lt;"*";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for(j=2;j&lt;=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k;j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&lt;&lt;" ";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for(j=2;j&lt;=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k;j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&lt;&lt;" ";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for(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k;i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&lt;=n-2;i++)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&lt;&lt;"*";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sz="3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429000" y="5638800"/>
            <a:ext cx="2133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tx1"/>
                </a:solidFill>
              </a:rPr>
              <a:t>O(n</a:t>
            </a:r>
            <a:r>
              <a:rPr lang="en-US" sz="2800" b="1" baseline="30000" dirty="0">
                <a:solidFill>
                  <a:schemeClr val="tx1"/>
                </a:solidFill>
              </a:rPr>
              <a:t>2</a:t>
            </a:r>
            <a:r>
              <a:rPr lang="en-US" sz="2800" b="1" dirty="0">
                <a:solidFill>
                  <a:schemeClr val="tx1"/>
                </a:solidFill>
              </a:rPr>
              <a:t>)</a:t>
            </a:r>
            <a:r>
              <a:rPr lang="en-US" sz="2800" b="1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2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=1; </a:t>
            </a:r>
            <a:r>
              <a:rPr lang="en-US" sz="2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&lt;=n; </a:t>
            </a:r>
            <a:r>
              <a:rPr lang="en-US" sz="2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	</a:t>
            </a:r>
            <a:r>
              <a:rPr lang="en-US" sz="2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sum = 0;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!= n)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for (j=1; j&lt;=n; j++)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&gt;&gt;num;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&lt;&lt;num&lt;&lt; " ";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sum =</a:t>
            </a:r>
            <a:r>
              <a:rPr lang="en-US" sz="2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sum+num</a:t>
            </a: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&lt;&lt;"sum = “&lt;&lt;sum&lt;&lt;</a:t>
            </a:r>
            <a:r>
              <a:rPr lang="en-US" sz="22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107950" indent="0">
              <a:buFont typeface="Wingdings 3" pitchFamily="18" charset="2"/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05200" y="5638800"/>
            <a:ext cx="2133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b="1" dirty="0">
                <a:solidFill>
                  <a:schemeClr val="tx1"/>
                </a:solidFill>
              </a:rPr>
              <a:t>O(n</a:t>
            </a:r>
            <a:r>
              <a:rPr lang="en-US" sz="2600" b="1" baseline="30000" dirty="0">
                <a:solidFill>
                  <a:schemeClr val="tx1"/>
                </a:solidFill>
              </a:rPr>
              <a:t>2</a:t>
            </a:r>
            <a:r>
              <a:rPr lang="en-US" sz="2600" b="1" dirty="0">
                <a:solidFill>
                  <a:schemeClr val="tx1"/>
                </a:solidFill>
              </a:rPr>
              <a:t>)</a:t>
            </a:r>
            <a:r>
              <a:rPr lang="en-US" sz="2600" b="1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7150" indent="-57150" eaLnBrk="1" hangingPunct="1"/>
            <a:endParaRPr lang="en-US" b="1" dirty="0" smtClean="0">
              <a:solidFill>
                <a:srgbClr val="66FFFF"/>
              </a:solidFill>
              <a:latin typeface="Tahoma" pitchFamily="34" charset="0"/>
            </a:endParaRPr>
          </a:p>
          <a:p>
            <a:pPr marL="57150" indent="-57150" eaLnBrk="1" hangingPunct="1">
              <a:buNone/>
            </a:pPr>
            <a:r>
              <a:rPr lang="en-US" b="1" i="1" dirty="0" smtClean="0">
                <a:solidFill>
                  <a:srgbClr val="FF0000"/>
                </a:solidFill>
                <a:latin typeface="Tahoma" pitchFamily="34" charset="0"/>
              </a:rPr>
              <a:t>			 O </a:t>
            </a:r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(1)</a:t>
            </a:r>
            <a:r>
              <a:rPr lang="en-US" b="1" dirty="0" smtClean="0">
                <a:latin typeface="Tahoma" pitchFamily="34" charset="0"/>
              </a:rPr>
              <a:t>	-	constant</a:t>
            </a:r>
          </a:p>
          <a:p>
            <a:pPr marL="57150" indent="-57150" eaLnBrk="1" hangingPunct="1">
              <a:buNone/>
            </a:pPr>
            <a:r>
              <a:rPr lang="en-US" b="1" dirty="0" smtClean="0">
                <a:latin typeface="Tahoma" pitchFamily="34" charset="0"/>
              </a:rPr>
              <a:t>		    </a:t>
            </a:r>
            <a:r>
              <a:rPr lang="en-US" b="1" i="1" dirty="0" smtClean="0">
                <a:solidFill>
                  <a:srgbClr val="FF0000"/>
                </a:solidFill>
                <a:latin typeface="Tahoma" pitchFamily="34" charset="0"/>
              </a:rPr>
              <a:t>O </a:t>
            </a:r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(log n)</a:t>
            </a:r>
            <a:r>
              <a:rPr lang="en-US" b="1" dirty="0" smtClean="0">
                <a:latin typeface="Tahoma" pitchFamily="34" charset="0"/>
              </a:rPr>
              <a:t>	-	logarithmic</a:t>
            </a:r>
          </a:p>
          <a:p>
            <a:pPr marL="57150" indent="-57150" eaLnBrk="1" hangingPunct="1">
              <a:buNone/>
            </a:pPr>
            <a:r>
              <a:rPr lang="en-US" b="1" i="1" dirty="0" smtClean="0">
                <a:solidFill>
                  <a:srgbClr val="FF0000"/>
                </a:solidFill>
                <a:latin typeface="Tahoma" pitchFamily="34" charset="0"/>
              </a:rPr>
              <a:t>			 O </a:t>
            </a:r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(n)</a:t>
            </a:r>
            <a:r>
              <a:rPr lang="en-US" b="1" dirty="0" smtClean="0">
                <a:latin typeface="Tahoma" pitchFamily="34" charset="0"/>
              </a:rPr>
              <a:t>	-	linear</a:t>
            </a:r>
          </a:p>
          <a:p>
            <a:pPr marL="57150" indent="-57150" eaLnBrk="1" hangingPunct="1">
              <a:buNone/>
            </a:pPr>
            <a:r>
              <a:rPr lang="en-US" b="1" i="1" dirty="0" smtClean="0">
                <a:solidFill>
                  <a:srgbClr val="FF0000"/>
                </a:solidFill>
                <a:latin typeface="Tahoma" pitchFamily="34" charset="0"/>
              </a:rPr>
              <a:t>		 O </a:t>
            </a:r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(n log n)	</a:t>
            </a:r>
            <a:r>
              <a:rPr lang="en-US" b="1" dirty="0" smtClean="0">
                <a:latin typeface="Tahoma" pitchFamily="34" charset="0"/>
              </a:rPr>
              <a:t>-	log linear</a:t>
            </a:r>
          </a:p>
          <a:p>
            <a:pPr marL="57150" indent="-57150" eaLnBrk="1" hangingPunct="1">
              <a:buNone/>
            </a:pPr>
            <a:r>
              <a:rPr lang="en-US" b="1" dirty="0" smtClean="0">
                <a:latin typeface="Tahoma" pitchFamily="34" charset="0"/>
              </a:rPr>
              <a:t>		 	</a:t>
            </a:r>
            <a:r>
              <a:rPr lang="en-US" b="1" i="1" dirty="0" smtClean="0">
                <a:solidFill>
                  <a:srgbClr val="FF0000"/>
                </a:solidFill>
                <a:latin typeface="Tahoma" pitchFamily="34" charset="0"/>
              </a:rPr>
              <a:t>O </a:t>
            </a:r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(n</a:t>
            </a:r>
            <a:r>
              <a:rPr lang="en-US" b="1" baseline="30000" dirty="0" smtClean="0">
                <a:solidFill>
                  <a:srgbClr val="FF0000"/>
                </a:solidFill>
                <a:latin typeface="Tahoma" pitchFamily="34" charset="0"/>
              </a:rPr>
              <a:t>2</a:t>
            </a:r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)</a:t>
            </a:r>
            <a:r>
              <a:rPr lang="en-US" b="1" dirty="0" smtClean="0">
                <a:latin typeface="Tahoma" pitchFamily="34" charset="0"/>
              </a:rPr>
              <a:t>	-	quadratic</a:t>
            </a:r>
          </a:p>
          <a:p>
            <a:pPr marL="57150" indent="-57150" eaLnBrk="1" hangingPunct="1">
              <a:buNone/>
            </a:pPr>
            <a:r>
              <a:rPr lang="en-US" b="1" dirty="0" smtClean="0">
                <a:latin typeface="Tahoma" pitchFamily="34" charset="0"/>
              </a:rPr>
              <a:t>		 	</a:t>
            </a:r>
            <a:r>
              <a:rPr lang="en-US" b="1" i="1" dirty="0" smtClean="0">
                <a:solidFill>
                  <a:srgbClr val="FF0000"/>
                </a:solidFill>
                <a:latin typeface="Tahoma" pitchFamily="34" charset="0"/>
              </a:rPr>
              <a:t>O </a:t>
            </a:r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(n</a:t>
            </a:r>
            <a:r>
              <a:rPr lang="en-US" b="1" baseline="30000" dirty="0" smtClean="0">
                <a:solidFill>
                  <a:srgbClr val="FF0000"/>
                </a:solidFill>
                <a:latin typeface="Tahoma" pitchFamily="34" charset="0"/>
              </a:rPr>
              <a:t>3</a:t>
            </a:r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)</a:t>
            </a:r>
            <a:r>
              <a:rPr lang="en-US" b="1" dirty="0" smtClean="0">
                <a:latin typeface="Tahoma" pitchFamily="34" charset="0"/>
              </a:rPr>
              <a:t>	-	cubic</a:t>
            </a:r>
          </a:p>
          <a:p>
            <a:pPr marL="57150" indent="-57150" eaLnBrk="1" hangingPunct="1">
              <a:buNone/>
            </a:pPr>
            <a:r>
              <a:rPr lang="en-US" b="1" dirty="0" smtClean="0">
                <a:latin typeface="Tahoma" pitchFamily="34" charset="0"/>
              </a:rPr>
              <a:t>		 	</a:t>
            </a:r>
            <a:r>
              <a:rPr lang="en-US" b="1" i="1" dirty="0" smtClean="0">
                <a:solidFill>
                  <a:srgbClr val="FF0000"/>
                </a:solidFill>
                <a:latin typeface="Tahoma" pitchFamily="34" charset="0"/>
              </a:rPr>
              <a:t>O </a:t>
            </a:r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(2</a:t>
            </a:r>
            <a:r>
              <a:rPr lang="en-US" b="1" baseline="30000" dirty="0" smtClean="0">
                <a:solidFill>
                  <a:srgbClr val="FF0000"/>
                </a:solidFill>
                <a:latin typeface="Tahoma" pitchFamily="34" charset="0"/>
              </a:rPr>
              <a:t>n</a:t>
            </a:r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)</a:t>
            </a:r>
            <a:r>
              <a:rPr lang="en-US" b="1" dirty="0" smtClean="0">
                <a:latin typeface="Tahoma" pitchFamily="34" charset="0"/>
              </a:rPr>
              <a:t>	-	exponential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u="sng" dirty="0" smtClean="0">
                <a:solidFill>
                  <a:srgbClr val="0070C0"/>
                </a:solidFill>
              </a:rPr>
              <a:t>Big Oh (</a:t>
            </a:r>
            <a:r>
              <a:rPr lang="en-US" b="1" i="1" u="sng" dirty="0" smtClean="0">
                <a:solidFill>
                  <a:srgbClr val="0070C0"/>
                </a:solidFill>
              </a:rPr>
              <a:t>O</a:t>
            </a:r>
            <a:r>
              <a:rPr lang="en-US" b="1" u="sng" dirty="0" smtClean="0">
                <a:solidFill>
                  <a:srgbClr val="0070C0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COMPARE RUNNING TIME GROWTH RATES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05552"/>
            <a:ext cx="76200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050" y="4038601"/>
            <a:ext cx="3409950" cy="2785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EFFICIENCY OF ALGORITHMS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Summary: </a:t>
            </a:r>
            <a:r>
              <a:rPr lang="en-US" dirty="0" smtClean="0"/>
              <a:t> count the number of instructions ignoring constants order of magnitudes</a:t>
            </a:r>
          </a:p>
          <a:p>
            <a:endParaRPr lang="en-US" dirty="0" smtClean="0"/>
          </a:p>
          <a:p>
            <a:pPr>
              <a:buNone/>
            </a:pPr>
            <a:r>
              <a:rPr lang="pt-BR" i="1" dirty="0" smtClean="0"/>
              <a:t>			</a:t>
            </a:r>
            <a:r>
              <a:rPr lang="pt-BR" i="1" dirty="0" smtClean="0">
                <a:solidFill>
                  <a:srgbClr val="FF0000"/>
                </a:solidFill>
              </a:rPr>
              <a:t>O</a:t>
            </a:r>
            <a:r>
              <a:rPr lang="pt-BR" dirty="0" smtClean="0">
                <a:solidFill>
                  <a:srgbClr val="FF0000"/>
                </a:solidFill>
              </a:rPr>
              <a:t>(1)</a:t>
            </a:r>
            <a:r>
              <a:rPr lang="pt-BR" dirty="0" smtClean="0"/>
              <a:t> &lt;&lt; </a:t>
            </a:r>
            <a:r>
              <a:rPr lang="pt-BR" i="1" dirty="0" smtClean="0">
                <a:solidFill>
                  <a:srgbClr val="FF0000"/>
                </a:solidFill>
              </a:rPr>
              <a:t>O</a:t>
            </a:r>
            <a:r>
              <a:rPr lang="pt-BR" dirty="0" smtClean="0">
                <a:solidFill>
                  <a:srgbClr val="FF0000"/>
                </a:solidFill>
              </a:rPr>
              <a:t>(log n)</a:t>
            </a:r>
            <a:r>
              <a:rPr lang="pt-BR" dirty="0" smtClean="0"/>
              <a:t> &lt;&lt; </a:t>
            </a:r>
            <a:r>
              <a:rPr lang="pt-BR" i="1" dirty="0" smtClean="0">
                <a:solidFill>
                  <a:srgbClr val="FF0000"/>
                </a:solidFill>
              </a:rPr>
              <a:t>O</a:t>
            </a:r>
            <a:r>
              <a:rPr lang="pt-BR" dirty="0" smtClean="0">
                <a:solidFill>
                  <a:srgbClr val="FF0000"/>
                </a:solidFill>
              </a:rPr>
              <a:t>(n)</a:t>
            </a:r>
            <a:r>
              <a:rPr lang="pt-BR" dirty="0" smtClean="0"/>
              <a:t> &lt;&lt; </a:t>
            </a:r>
            <a:r>
              <a:rPr lang="pt-BR" i="1" dirty="0" smtClean="0">
                <a:solidFill>
                  <a:srgbClr val="FF0000"/>
                </a:solidFill>
              </a:rPr>
              <a:t>O</a:t>
            </a:r>
            <a:r>
              <a:rPr lang="pt-BR" dirty="0" smtClean="0">
                <a:solidFill>
                  <a:srgbClr val="FF0000"/>
                </a:solidFill>
              </a:rPr>
              <a:t>(n²)</a:t>
            </a:r>
          </a:p>
          <a:p>
            <a:pPr>
              <a:buNone/>
            </a:pPr>
            <a:endParaRPr lang="pt-BR" dirty="0" smtClean="0"/>
          </a:p>
          <a:p>
            <a:r>
              <a:rPr lang="en-US" dirty="0" smtClean="0"/>
              <a:t> We </a:t>
            </a:r>
            <a:r>
              <a:rPr lang="en-US" dirty="0" smtClean="0">
                <a:solidFill>
                  <a:srgbClr val="FF0000"/>
                </a:solidFill>
              </a:rPr>
              <a:t>cannot compare two algorithms</a:t>
            </a:r>
            <a:r>
              <a:rPr lang="en-US" dirty="0" smtClean="0"/>
              <a:t> in the same class</a:t>
            </a:r>
          </a:p>
          <a:p>
            <a:pPr lvl="1"/>
            <a:r>
              <a:rPr lang="en-US" dirty="0" smtClean="0"/>
              <a:t>But we know that a </a:t>
            </a:r>
            <a:r>
              <a:rPr lang="en-US" dirty="0" smtClean="0">
                <a:solidFill>
                  <a:srgbClr val="FF0000"/>
                </a:solidFill>
              </a:rPr>
              <a:t>running time</a:t>
            </a:r>
            <a:r>
              <a:rPr lang="en-US" dirty="0" smtClean="0"/>
              <a:t> of </a:t>
            </a:r>
            <a:r>
              <a:rPr lang="en-US" i="1" dirty="0" smtClean="0">
                <a:solidFill>
                  <a:srgbClr val="FF0000"/>
                </a:solidFill>
              </a:rPr>
              <a:t>O</a:t>
            </a:r>
            <a:r>
              <a:rPr lang="en-US" dirty="0" smtClean="0">
                <a:solidFill>
                  <a:srgbClr val="FF0000"/>
                </a:solidFill>
              </a:rPr>
              <a:t>(n)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faster</a:t>
            </a:r>
            <a:r>
              <a:rPr lang="en-US" dirty="0" smtClean="0"/>
              <a:t> than </a:t>
            </a:r>
            <a:r>
              <a:rPr lang="en-US" i="1" dirty="0" smtClean="0">
                <a:solidFill>
                  <a:srgbClr val="FF0000"/>
                </a:solidFill>
              </a:rPr>
              <a:t>O</a:t>
            </a:r>
            <a:r>
              <a:rPr lang="en-US" dirty="0" smtClean="0">
                <a:solidFill>
                  <a:srgbClr val="FF0000"/>
                </a:solidFill>
              </a:rPr>
              <a:t>(n²)</a:t>
            </a:r>
            <a:r>
              <a:rPr lang="en-US" dirty="0" smtClean="0"/>
              <a:t>, for large enough values of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If algorithm1 has a worst-case efficiency of </a:t>
            </a:r>
            <a:r>
              <a:rPr lang="en-US" i="1" dirty="0" smtClean="0"/>
              <a:t>O</a:t>
            </a:r>
            <a:r>
              <a:rPr lang="en-US" dirty="0" smtClean="0"/>
              <a:t>(n) and algorithm2 has a worst-case efficiency of </a:t>
            </a:r>
            <a:r>
              <a:rPr lang="en-US" i="1" dirty="0" smtClean="0"/>
              <a:t>O</a:t>
            </a:r>
            <a:r>
              <a:rPr lang="en-US" dirty="0" smtClean="0"/>
              <a:t>(n²), then algorithm1 is faster (more efficient) in the worst-case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LOOP INVARIANT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82000" cy="493776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Loop invariant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method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proof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correctness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while loops</a:t>
            </a:r>
            <a:r>
              <a:rPr lang="en-US" dirty="0" smtClean="0"/>
              <a:t>. Develop a rule of inference for program segments of the type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en-US" dirty="0" smtClean="0"/>
              <a:t> is repeatedly executed until </a:t>
            </a:r>
            <a:r>
              <a:rPr lang="en-US" dirty="0" smtClean="0">
                <a:solidFill>
                  <a:srgbClr val="FF0000"/>
                </a:solidFill>
              </a:rPr>
              <a:t>condition</a:t>
            </a:r>
            <a:r>
              <a:rPr lang="en-US" dirty="0" smtClean="0"/>
              <a:t> becomes </a:t>
            </a:r>
            <a:r>
              <a:rPr lang="en-US" dirty="0" smtClean="0">
                <a:solidFill>
                  <a:srgbClr val="FF0000"/>
                </a:solidFill>
              </a:rPr>
              <a:t>false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FF0000"/>
                </a:solidFill>
              </a:rPr>
              <a:t>assertion</a:t>
            </a:r>
            <a:r>
              <a:rPr lang="en-US" dirty="0" smtClean="0"/>
              <a:t> that remains true each time S is executed must be chosen. Such an assertion is called </a:t>
            </a:r>
            <a:r>
              <a:rPr lang="en-US" dirty="0" smtClean="0">
                <a:solidFill>
                  <a:srgbClr val="FF0000"/>
                </a:solidFill>
              </a:rPr>
              <a:t>Loop Invariant</a:t>
            </a:r>
            <a:r>
              <a:rPr lang="en-US" dirty="0" smtClean="0"/>
              <a:t>.	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05200" y="2348552"/>
            <a:ext cx="2286000" cy="1219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US" sz="2600" b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2600" b="1" dirty="0" smtClean="0">
                <a:solidFill>
                  <a:srgbClr val="002060"/>
                </a:solidFill>
              </a:rPr>
              <a:t>while</a:t>
            </a:r>
            <a:r>
              <a:rPr lang="en-US" sz="2600" dirty="0" smtClean="0">
                <a:solidFill>
                  <a:srgbClr val="002060"/>
                </a:solidFill>
              </a:rPr>
              <a:t> </a:t>
            </a:r>
            <a:r>
              <a:rPr lang="en-US" sz="2600" i="1" dirty="0" smtClean="0">
                <a:solidFill>
                  <a:srgbClr val="002060"/>
                </a:solidFill>
              </a:rPr>
              <a:t>condition</a:t>
            </a:r>
          </a:p>
          <a:p>
            <a:pPr>
              <a:buNone/>
            </a:pPr>
            <a:r>
              <a:rPr lang="en-US" sz="2600" dirty="0" smtClean="0">
                <a:solidFill>
                  <a:srgbClr val="002060"/>
                </a:solidFill>
              </a:rPr>
              <a:t>	S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i="1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Loop body S</a:t>
            </a:r>
            <a:r>
              <a:rPr lang="en-US" dirty="0" smtClean="0"/>
              <a:t> executed as long as </a:t>
            </a:r>
            <a:r>
              <a:rPr lang="en-US" dirty="0" smtClean="0">
                <a:solidFill>
                  <a:srgbClr val="FF0000"/>
                </a:solidFill>
              </a:rPr>
              <a:t>loop condition</a:t>
            </a:r>
            <a:r>
              <a:rPr lang="en-US" dirty="0" smtClean="0"/>
              <a:t> holds.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Loop invariant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condition</a:t>
            </a:r>
            <a:r>
              <a:rPr lang="en-US" dirty="0" smtClean="0"/>
              <a:t> that is necessarily true immediately before and immediately after each iteration of a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THEOREM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a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guard </a:t>
            </a:r>
            <a:r>
              <a:rPr lang="en-US" i="1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be given, together with </a:t>
            </a:r>
            <a:r>
              <a:rPr lang="en-US" dirty="0" smtClean="0">
                <a:solidFill>
                  <a:srgbClr val="FF0000"/>
                </a:solidFill>
              </a:rPr>
              <a:t>pre- and post conditions</a:t>
            </a:r>
            <a:r>
              <a:rPr lang="en-US" dirty="0" smtClean="0"/>
              <a:t> that are </a:t>
            </a:r>
            <a:r>
              <a:rPr lang="en-US" dirty="0" smtClean="0">
                <a:solidFill>
                  <a:srgbClr val="FF0000"/>
                </a:solidFill>
              </a:rPr>
              <a:t>predicates</a:t>
            </a:r>
            <a:r>
              <a:rPr lang="en-US" dirty="0" smtClean="0"/>
              <a:t> in the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 variables. </a:t>
            </a:r>
          </a:p>
          <a:p>
            <a:endParaRPr lang="en-US" dirty="0" smtClean="0"/>
          </a:p>
          <a:p>
            <a:r>
              <a:rPr lang="en-US" dirty="0" smtClean="0"/>
              <a:t>Also let a </a:t>
            </a:r>
            <a:r>
              <a:rPr lang="en-US" dirty="0" smtClean="0">
                <a:solidFill>
                  <a:srgbClr val="FF0000"/>
                </a:solidFill>
              </a:rPr>
              <a:t>predicate I(n)</a:t>
            </a:r>
            <a:r>
              <a:rPr lang="en-US" dirty="0" smtClean="0"/>
              <a:t>, called the </a:t>
            </a:r>
            <a:r>
              <a:rPr lang="en-US" b="1" dirty="0" smtClean="0">
                <a:solidFill>
                  <a:srgbClr val="FF0000"/>
                </a:solidFill>
              </a:rPr>
              <a:t>loop invariant</a:t>
            </a:r>
            <a:r>
              <a:rPr lang="en-US" dirty="0" smtClean="0"/>
              <a:t>,  be given. </a:t>
            </a:r>
          </a:p>
          <a:p>
            <a:endParaRPr lang="en-US" dirty="0" smtClean="0"/>
          </a:p>
          <a:p>
            <a:r>
              <a:rPr lang="en-US" dirty="0" smtClean="0"/>
              <a:t>If the following </a:t>
            </a:r>
            <a:r>
              <a:rPr lang="en-US" dirty="0" smtClean="0">
                <a:solidFill>
                  <a:srgbClr val="FF0000"/>
                </a:solidFill>
              </a:rPr>
              <a:t>four properties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true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correct</a:t>
            </a:r>
            <a:r>
              <a:rPr lang="en-US" dirty="0" smtClean="0"/>
              <a:t> with respect to its </a:t>
            </a:r>
            <a:r>
              <a:rPr lang="en-US" dirty="0" smtClean="0">
                <a:solidFill>
                  <a:srgbClr val="FF0000"/>
                </a:solidFill>
              </a:rPr>
              <a:t>pre- and post-conditions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I.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Basis Property: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FF0000"/>
                </a:solidFill>
              </a:rPr>
              <a:t>pre-condition</a:t>
            </a:r>
            <a:r>
              <a:rPr lang="en-US" dirty="0" smtClean="0"/>
              <a:t> for the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 implies that </a:t>
            </a:r>
            <a:r>
              <a:rPr lang="en-US" dirty="0" smtClean="0">
                <a:solidFill>
                  <a:srgbClr val="FF0000"/>
                </a:solidFill>
              </a:rPr>
              <a:t>I(0)</a:t>
            </a:r>
            <a:r>
              <a:rPr lang="en-US" dirty="0" smtClean="0"/>
              <a:t> is true before the first iteration of the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II.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Inductive property: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If the </a:t>
            </a:r>
            <a:r>
              <a:rPr lang="en-US" dirty="0" smtClean="0">
                <a:solidFill>
                  <a:srgbClr val="FF0000"/>
                </a:solidFill>
              </a:rPr>
              <a:t>guard </a:t>
            </a:r>
            <a:r>
              <a:rPr lang="en-US" i="1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and the </a:t>
            </a:r>
            <a:r>
              <a:rPr lang="en-US" dirty="0" smtClean="0">
                <a:solidFill>
                  <a:srgbClr val="FF0000"/>
                </a:solidFill>
              </a:rPr>
              <a:t>loop invariant I(k)</a:t>
            </a:r>
            <a:r>
              <a:rPr lang="en-US" dirty="0" smtClean="0"/>
              <a:t> are both true for an integer </a:t>
            </a:r>
            <a:r>
              <a:rPr lang="en-US" i="1" dirty="0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 ≥ 0</a:t>
            </a:r>
            <a:r>
              <a:rPr lang="en-US" dirty="0" smtClean="0"/>
              <a:t> before an iteration of the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I(k + 1)</a:t>
            </a:r>
            <a:r>
              <a:rPr lang="en-US" dirty="0" smtClean="0"/>
              <a:t> is true after iteration of the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III.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Eventual Falsity of Guard: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   </a:t>
            </a:r>
            <a:r>
              <a:rPr lang="en-US" dirty="0" smtClean="0"/>
              <a:t>After a finite number of iterations of the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, the </a:t>
            </a:r>
            <a:r>
              <a:rPr lang="en-US" dirty="0" smtClean="0">
                <a:solidFill>
                  <a:srgbClr val="FF0000"/>
                </a:solidFill>
              </a:rPr>
              <a:t>guard</a:t>
            </a:r>
            <a:r>
              <a:rPr lang="en-US" dirty="0" smtClean="0"/>
              <a:t>   </a:t>
            </a:r>
          </a:p>
          <a:p>
            <a:pPr>
              <a:buNone/>
            </a:pPr>
            <a:r>
              <a:rPr lang="en-US" dirty="0" smtClean="0"/>
              <a:t>      becomes false.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IV.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Correctness of the Post-Condition: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  If 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is the least number of iterations after which </a:t>
            </a:r>
            <a:r>
              <a:rPr lang="en-US" i="1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is </a:t>
            </a:r>
          </a:p>
          <a:p>
            <a:pPr>
              <a:buNone/>
            </a:pPr>
            <a:r>
              <a:rPr lang="en-US" dirty="0" smtClean="0"/>
              <a:t>     false and </a:t>
            </a:r>
            <a:r>
              <a:rPr lang="en-US" i="1" dirty="0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is true, then the values of the </a:t>
            </a:r>
            <a:r>
              <a:rPr lang="en-US" dirty="0" smtClean="0">
                <a:solidFill>
                  <a:srgbClr val="FF0000"/>
                </a:solidFill>
              </a:rPr>
              <a:t>algorithm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variables</a:t>
            </a:r>
            <a:r>
              <a:rPr lang="en-US" dirty="0" smtClean="0"/>
              <a:t> will be as specified in the </a:t>
            </a:r>
            <a:r>
              <a:rPr lang="en-US" dirty="0" smtClean="0">
                <a:solidFill>
                  <a:srgbClr val="FF0000"/>
                </a:solidFill>
              </a:rPr>
              <a:t>post-condition</a:t>
            </a:r>
            <a:r>
              <a:rPr lang="en-US" dirty="0" smtClean="0"/>
              <a:t> of the   </a:t>
            </a:r>
          </a:p>
          <a:p>
            <a:pPr>
              <a:buNone/>
            </a:pPr>
            <a:r>
              <a:rPr lang="en-US" dirty="0" smtClean="0"/>
              <a:t>    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loop invariant</a:t>
            </a:r>
            <a:r>
              <a:rPr lang="en-US" dirty="0" smtClean="0"/>
              <a:t> is needed to verify that the program segment.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489576" y="2133600"/>
            <a:ext cx="4343400" cy="274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00" dirty="0" err="1" smtClean="0">
                <a:solidFill>
                  <a:schemeClr val="tx1"/>
                </a:solidFill>
              </a:rPr>
              <a:t>int</a:t>
            </a:r>
            <a:r>
              <a:rPr lang="en-US" sz="2600" dirty="0" smtClean="0">
                <a:solidFill>
                  <a:schemeClr val="tx1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i</a:t>
            </a:r>
            <a:r>
              <a:rPr lang="en-US" sz="2600" dirty="0" smtClean="0">
                <a:solidFill>
                  <a:schemeClr val="tx1"/>
                </a:solidFill>
              </a:rPr>
              <a:t> = </a:t>
            </a:r>
            <a:r>
              <a:rPr lang="en-US" sz="2600" dirty="0" smtClean="0">
                <a:solidFill>
                  <a:srgbClr val="FF0000"/>
                </a:solidFill>
              </a:rPr>
              <a:t>1</a:t>
            </a:r>
            <a:r>
              <a:rPr lang="en-US" sz="26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2600" dirty="0" err="1" smtClean="0">
                <a:solidFill>
                  <a:schemeClr val="tx1"/>
                </a:solidFill>
              </a:rPr>
              <a:t>int</a:t>
            </a:r>
            <a:r>
              <a:rPr lang="en-US" sz="2600" dirty="0" smtClean="0">
                <a:solidFill>
                  <a:schemeClr val="tx1"/>
                </a:solidFill>
              </a:rPr>
              <a:t> </a:t>
            </a:r>
            <a:r>
              <a:rPr lang="en-US" sz="2600" dirty="0" smtClean="0">
                <a:solidFill>
                  <a:srgbClr val="FF0000"/>
                </a:solidFill>
              </a:rPr>
              <a:t>factorial</a:t>
            </a:r>
            <a:r>
              <a:rPr lang="en-US" sz="2600" dirty="0" smtClean="0">
                <a:solidFill>
                  <a:schemeClr val="tx1"/>
                </a:solidFill>
              </a:rPr>
              <a:t> = </a:t>
            </a:r>
            <a:r>
              <a:rPr lang="en-US" sz="2600" dirty="0" smtClean="0">
                <a:solidFill>
                  <a:srgbClr val="FF0000"/>
                </a:solidFill>
              </a:rPr>
              <a:t>1</a:t>
            </a:r>
            <a:r>
              <a:rPr lang="en-US" sz="26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2600" b="1" dirty="0" smtClean="0">
                <a:solidFill>
                  <a:schemeClr val="tx1"/>
                </a:solidFill>
              </a:rPr>
              <a:t>while (</a:t>
            </a:r>
            <a:r>
              <a:rPr lang="en-US" sz="2600" b="1" i="1" dirty="0" err="1" smtClean="0">
                <a:solidFill>
                  <a:srgbClr val="0000FF"/>
                </a:solidFill>
              </a:rPr>
              <a:t>i</a:t>
            </a:r>
            <a:r>
              <a:rPr lang="en-US" sz="2600" b="1" i="1" dirty="0" smtClean="0">
                <a:solidFill>
                  <a:srgbClr val="0000FF"/>
                </a:solidFill>
              </a:rPr>
              <a:t> &lt; n</a:t>
            </a:r>
            <a:r>
              <a:rPr lang="en-US" sz="2600" b="1" i="1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2600" i="1" dirty="0" smtClean="0">
                <a:solidFill>
                  <a:schemeClr val="tx1"/>
                </a:solidFill>
              </a:rPr>
              <a:t>   {</a:t>
            </a:r>
          </a:p>
          <a:p>
            <a:r>
              <a:rPr lang="en-US" sz="2600" dirty="0" smtClean="0">
                <a:solidFill>
                  <a:schemeClr val="tx1"/>
                </a:solidFill>
              </a:rPr>
              <a:t>     </a:t>
            </a:r>
            <a:r>
              <a:rPr lang="en-US" sz="2600" dirty="0" err="1" smtClean="0">
                <a:solidFill>
                  <a:srgbClr val="FF0000"/>
                </a:solidFill>
              </a:rPr>
              <a:t>i</a:t>
            </a:r>
            <a:r>
              <a:rPr lang="en-US" sz="2600" dirty="0" smtClean="0">
                <a:solidFill>
                  <a:schemeClr val="tx1"/>
                </a:solidFill>
              </a:rPr>
              <a:t> = </a:t>
            </a:r>
            <a:r>
              <a:rPr lang="en-US" sz="2600" dirty="0" err="1" smtClean="0">
                <a:solidFill>
                  <a:srgbClr val="FF0000"/>
                </a:solidFill>
              </a:rPr>
              <a:t>i</a:t>
            </a:r>
            <a:r>
              <a:rPr lang="en-US" sz="2600" dirty="0" smtClean="0">
                <a:solidFill>
                  <a:srgbClr val="FF0000"/>
                </a:solidFill>
              </a:rPr>
              <a:t> + 1</a:t>
            </a:r>
          </a:p>
          <a:p>
            <a:r>
              <a:rPr lang="en-US" sz="2600" dirty="0" smtClean="0">
                <a:solidFill>
                  <a:schemeClr val="tx1"/>
                </a:solidFill>
              </a:rPr>
              <a:t>     </a:t>
            </a:r>
            <a:r>
              <a:rPr lang="en-US" sz="2600" dirty="0" smtClean="0">
                <a:solidFill>
                  <a:srgbClr val="FF0000"/>
                </a:solidFill>
              </a:rPr>
              <a:t>factorial</a:t>
            </a:r>
            <a:r>
              <a:rPr lang="en-US" sz="2600" dirty="0" smtClean="0">
                <a:solidFill>
                  <a:schemeClr val="tx1"/>
                </a:solidFill>
              </a:rPr>
              <a:t> = </a:t>
            </a:r>
            <a:r>
              <a:rPr lang="en-US" sz="2600" dirty="0" smtClean="0">
                <a:solidFill>
                  <a:srgbClr val="FF0000"/>
                </a:solidFill>
              </a:rPr>
              <a:t>factorial</a:t>
            </a:r>
            <a:r>
              <a:rPr lang="en-US" sz="2600" b="1" dirty="0" smtClean="0">
                <a:solidFill>
                  <a:srgbClr val="FF0000"/>
                </a:solidFill>
              </a:rPr>
              <a:t>· </a:t>
            </a:r>
            <a:r>
              <a:rPr lang="en-US" sz="2600" dirty="0" err="1" smtClean="0">
                <a:solidFill>
                  <a:srgbClr val="FF0000"/>
                </a:solidFill>
              </a:rPr>
              <a:t>i</a:t>
            </a:r>
            <a:endParaRPr lang="en-US" sz="2600" dirty="0" smtClean="0">
              <a:solidFill>
                <a:srgbClr val="FF0000"/>
              </a:solidFill>
            </a:endParaRPr>
          </a:p>
          <a:p>
            <a:r>
              <a:rPr lang="en-US" sz="2600" dirty="0" smtClean="0">
                <a:solidFill>
                  <a:schemeClr val="tx1"/>
                </a:solidFill>
              </a:rPr>
              <a:t>   }</a:t>
            </a:r>
            <a:endParaRPr lang="en-US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Let the </a:t>
            </a:r>
            <a:r>
              <a:rPr lang="en-US" dirty="0" smtClean="0">
                <a:solidFill>
                  <a:srgbClr val="FF0000"/>
                </a:solidFill>
              </a:rPr>
              <a:t>loop invariant</a:t>
            </a:r>
            <a:r>
              <a:rPr lang="en-US" dirty="0" smtClean="0"/>
              <a:t> be: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b="1" dirty="0" smtClean="0">
                <a:solidFill>
                  <a:srgbClr val="FF0000"/>
                </a:solidFill>
              </a:rPr>
              <a:t>p</a:t>
            </a:r>
            <a:r>
              <a:rPr lang="en-US" dirty="0" smtClean="0"/>
              <a:t> : “</a:t>
            </a:r>
            <a:r>
              <a:rPr lang="en-US" dirty="0" smtClean="0">
                <a:solidFill>
                  <a:srgbClr val="FF0000"/>
                </a:solidFill>
              </a:rPr>
              <a:t>factorial = 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! and 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 ≤ n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Suppose </a:t>
            </a:r>
            <a:r>
              <a:rPr lang="en-US" dirty="0" smtClean="0">
                <a:solidFill>
                  <a:srgbClr val="FF0000"/>
                </a:solidFill>
              </a:rPr>
              <a:t>n = 5</a:t>
            </a:r>
            <a:r>
              <a:rPr lang="en-US" dirty="0" smtClean="0"/>
              <a:t> factorial we want to find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Basis Property:</a:t>
            </a:r>
          </a:p>
          <a:p>
            <a:pPr>
              <a:buNone/>
            </a:pPr>
            <a:r>
              <a:rPr lang="en-US" dirty="0" smtClean="0"/>
              <a:t>		At	  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</a:p>
          <a:p>
            <a:pPr>
              <a:buNone/>
            </a:pPr>
            <a:r>
              <a:rPr lang="en-US" dirty="0" smtClean="0"/>
              <a:t>			  </a:t>
            </a:r>
            <a:r>
              <a:rPr lang="en-US" dirty="0" smtClean="0">
                <a:solidFill>
                  <a:srgbClr val="FF0000"/>
                </a:solidFill>
              </a:rPr>
              <a:t>p</a:t>
            </a:r>
            <a:r>
              <a:rPr lang="en-US" dirty="0" smtClean="0"/>
              <a:t> : “</a:t>
            </a:r>
            <a:r>
              <a:rPr lang="en-US" dirty="0" smtClean="0">
                <a:solidFill>
                  <a:srgbClr val="FF0000"/>
                </a:solidFill>
              </a:rPr>
              <a:t>factorial  = 1!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1 ≤ 5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Which are </a:t>
            </a:r>
            <a:r>
              <a:rPr lang="en-US" dirty="0" smtClean="0">
                <a:solidFill>
                  <a:srgbClr val="FF0000"/>
                </a:solidFill>
              </a:rPr>
              <a:t>preconditions</a:t>
            </a:r>
            <a:r>
              <a:rPr lang="en-US" dirty="0" smtClean="0"/>
              <a:t>. Hence already </a:t>
            </a:r>
            <a:r>
              <a:rPr lang="en-US" dirty="0" smtClean="0">
                <a:solidFill>
                  <a:srgbClr val="FF0000"/>
                </a:solidFill>
              </a:rPr>
              <a:t>satisfied.</a:t>
            </a:r>
          </a:p>
          <a:p>
            <a:pPr>
              <a:buNone/>
            </a:pPr>
            <a:r>
              <a:rPr lang="en-US" dirty="0" smtClean="0"/>
              <a:t>	Which is true before the first iteration of the loop.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Inductive property:</a:t>
            </a:r>
            <a:r>
              <a:rPr lang="en-US" u="sng" dirty="0" smtClean="0"/>
              <a:t> </a:t>
            </a:r>
          </a:p>
          <a:p>
            <a:pPr>
              <a:buNone/>
            </a:pPr>
            <a:r>
              <a:rPr lang="en-US" dirty="0" smtClean="0"/>
              <a:t>	we are assuming that 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k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i="1" dirty="0" smtClean="0"/>
              <a:t>			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p</a:t>
            </a:r>
            <a:r>
              <a:rPr lang="en-US" dirty="0" smtClean="0"/>
              <a:t> :  “</a:t>
            </a:r>
            <a:r>
              <a:rPr lang="en-US" dirty="0" smtClean="0">
                <a:solidFill>
                  <a:srgbClr val="FF0000"/>
                </a:solidFill>
              </a:rPr>
              <a:t>factorial = k!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k ≤ n</a:t>
            </a:r>
            <a:r>
              <a:rPr lang="en-US" dirty="0" smtClean="0"/>
              <a:t>” </a:t>
            </a:r>
            <a:r>
              <a:rPr lang="en-US" i="1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we have to show that after </a:t>
            </a:r>
            <a:r>
              <a:rPr lang="en-US" dirty="0" smtClean="0">
                <a:solidFill>
                  <a:srgbClr val="FF0000"/>
                </a:solidFill>
              </a:rPr>
              <a:t>execution of loop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k + 1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p</a:t>
            </a:r>
            <a:r>
              <a:rPr lang="en-US" dirty="0" smtClean="0"/>
              <a:t> :  “</a:t>
            </a:r>
            <a:r>
              <a:rPr lang="en-US" dirty="0" smtClean="0">
                <a:solidFill>
                  <a:srgbClr val="FF0000"/>
                </a:solidFill>
              </a:rPr>
              <a:t>factorial = (k+1)!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k+1 ≤ n</a:t>
            </a:r>
            <a:r>
              <a:rPr lang="en-US" dirty="0" smtClean="0"/>
              <a:t>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Before execution of statement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		 	</a:t>
            </a:r>
            <a:r>
              <a:rPr lang="en-US" i="1" dirty="0" err="1" smtClean="0">
                <a:solidFill>
                  <a:srgbClr val="FF0000"/>
                </a:solidFill>
              </a:rPr>
              <a:t>i</a:t>
            </a:r>
            <a:r>
              <a:rPr lang="en-US" baseline="-25000" dirty="0" err="1" smtClean="0"/>
              <a:t>old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k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Thus the execution of statement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has the following effect: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i</a:t>
            </a:r>
            <a:r>
              <a:rPr lang="en-US" baseline="-25000" dirty="0" err="1" smtClean="0"/>
              <a:t>new</a:t>
            </a:r>
            <a:r>
              <a:rPr lang="en-US" dirty="0" smtClean="0"/>
              <a:t> = </a:t>
            </a:r>
            <a:r>
              <a:rPr lang="en-US" i="1" dirty="0" err="1" smtClean="0">
                <a:solidFill>
                  <a:srgbClr val="FF0000"/>
                </a:solidFill>
              </a:rPr>
              <a:t>i</a:t>
            </a:r>
            <a:r>
              <a:rPr lang="en-US" baseline="-25000" dirty="0" err="1" smtClean="0"/>
              <a:t>old</a:t>
            </a:r>
            <a:r>
              <a:rPr lang="en-US" baseline="-25000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+ 1</a:t>
            </a:r>
          </a:p>
          <a:p>
            <a:pPr>
              <a:buNone/>
            </a:pPr>
            <a:r>
              <a:rPr lang="en-US" dirty="0" smtClean="0"/>
              <a:t>				       = </a:t>
            </a:r>
            <a:r>
              <a:rPr lang="en-US" dirty="0" smtClean="0">
                <a:solidFill>
                  <a:srgbClr val="FF0000"/>
                </a:solidFill>
              </a:rPr>
              <a:t>k + 1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Similarly, before statement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is executed,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err="1" smtClean="0">
                <a:solidFill>
                  <a:srgbClr val="FF0000"/>
                </a:solidFill>
              </a:rPr>
              <a:t>factorial</a:t>
            </a:r>
            <a:r>
              <a:rPr lang="en-US" baseline="-25000" dirty="0" err="1" smtClean="0"/>
              <a:t>old</a:t>
            </a:r>
            <a:r>
              <a:rPr lang="en-US" baseline="-25000" dirty="0" smtClean="0"/>
              <a:t> 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k!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So after execution of statement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i="1" dirty="0" smtClean="0"/>
              <a:t>			</a:t>
            </a:r>
            <a:r>
              <a:rPr lang="en-US" dirty="0" err="1" smtClean="0">
                <a:solidFill>
                  <a:srgbClr val="FF0000"/>
                </a:solidFill>
              </a:rPr>
              <a:t>factorial</a:t>
            </a:r>
            <a:r>
              <a:rPr lang="en-US" baseline="-25000" dirty="0" err="1" smtClean="0"/>
              <a:t>new</a:t>
            </a:r>
            <a:r>
              <a:rPr lang="en-US" dirty="0" smtClean="0"/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factorial</a:t>
            </a:r>
            <a:r>
              <a:rPr lang="en-US" baseline="-25000" dirty="0" err="1" smtClean="0"/>
              <a:t>old</a:t>
            </a:r>
            <a:r>
              <a:rPr lang="en-US" b="1" dirty="0" smtClean="0">
                <a:solidFill>
                  <a:srgbClr val="FF0000"/>
                </a:solidFill>
              </a:rPr>
              <a:t>· </a:t>
            </a:r>
            <a:r>
              <a:rPr lang="en-US" i="1" dirty="0" err="1" smtClean="0">
                <a:solidFill>
                  <a:srgbClr val="FF0000"/>
                </a:solidFill>
              </a:rPr>
              <a:t>i</a:t>
            </a:r>
            <a:r>
              <a:rPr lang="en-US" baseline="-25000" dirty="0" err="1" smtClean="0"/>
              <a:t>new</a:t>
            </a:r>
            <a:r>
              <a:rPr lang="en-US" baseline="-25000" dirty="0" smtClean="0"/>
              <a:t>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		      =  </a:t>
            </a:r>
            <a:r>
              <a:rPr lang="en-US" dirty="0" smtClean="0">
                <a:solidFill>
                  <a:srgbClr val="FF0000"/>
                </a:solidFill>
              </a:rPr>
              <a:t>k!</a:t>
            </a:r>
            <a:r>
              <a:rPr lang="en-US" b="1" dirty="0" smtClean="0">
                <a:solidFill>
                  <a:srgbClr val="FF0000"/>
                </a:solidFill>
              </a:rPr>
              <a:t>·  </a:t>
            </a:r>
            <a:r>
              <a:rPr lang="en-US" dirty="0" smtClean="0">
                <a:solidFill>
                  <a:srgbClr val="FF0000"/>
                </a:solidFill>
              </a:rPr>
              <a:t>(k+1)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      = </a:t>
            </a:r>
            <a:r>
              <a:rPr lang="en-US" dirty="0" smtClean="0">
                <a:solidFill>
                  <a:srgbClr val="FF0000"/>
                </a:solidFill>
              </a:rPr>
              <a:t>(k+1)k!</a:t>
            </a:r>
          </a:p>
          <a:p>
            <a:pPr>
              <a:buNone/>
            </a:pPr>
            <a:r>
              <a:rPr lang="en-US" dirty="0" smtClean="0"/>
              <a:t>				      = </a:t>
            </a:r>
            <a:r>
              <a:rPr lang="en-US" dirty="0" smtClean="0">
                <a:solidFill>
                  <a:srgbClr val="FF0000"/>
                </a:solidFill>
              </a:rPr>
              <a:t>(k+1)!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Hence after the </a:t>
            </a:r>
            <a:r>
              <a:rPr lang="en-US" dirty="0" smtClean="0">
                <a:solidFill>
                  <a:srgbClr val="FF0000"/>
                </a:solidFill>
              </a:rPr>
              <a:t>loop iteration</a:t>
            </a:r>
            <a:r>
              <a:rPr lang="en-US" dirty="0" smtClean="0"/>
              <a:t>, the loop invariant is true for </a:t>
            </a:r>
            <a:r>
              <a:rPr lang="en-US" dirty="0" err="1" smtClean="0"/>
              <a:t>i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k +1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This is what we needed to show.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loop invariant</a:t>
            </a:r>
            <a:r>
              <a:rPr lang="en-US" dirty="0" smtClean="0"/>
              <a:t> is needed to verify that the program segment.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489576" y="2133600"/>
            <a:ext cx="4343400" cy="274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00" dirty="0" err="1" smtClean="0">
                <a:solidFill>
                  <a:schemeClr val="tx1"/>
                </a:solidFill>
              </a:rPr>
              <a:t>int</a:t>
            </a:r>
            <a:r>
              <a:rPr lang="en-US" sz="2600" dirty="0" smtClean="0">
                <a:solidFill>
                  <a:schemeClr val="tx1"/>
                </a:solidFill>
              </a:rPr>
              <a:t> </a:t>
            </a:r>
            <a:r>
              <a:rPr lang="en-US" sz="2600" dirty="0" smtClean="0">
                <a:solidFill>
                  <a:srgbClr val="FF0000"/>
                </a:solidFill>
              </a:rPr>
              <a:t>power</a:t>
            </a:r>
            <a:r>
              <a:rPr lang="en-US" sz="2600" dirty="0" smtClean="0">
                <a:solidFill>
                  <a:schemeClr val="tx1"/>
                </a:solidFill>
              </a:rPr>
              <a:t> = </a:t>
            </a:r>
            <a:r>
              <a:rPr lang="en-US" sz="2600" dirty="0" smtClean="0">
                <a:solidFill>
                  <a:srgbClr val="FF0000"/>
                </a:solidFill>
              </a:rPr>
              <a:t>1</a:t>
            </a:r>
            <a:r>
              <a:rPr lang="en-US" sz="26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2600" dirty="0" err="1" smtClean="0">
                <a:solidFill>
                  <a:schemeClr val="tx1"/>
                </a:solidFill>
              </a:rPr>
              <a:t>int</a:t>
            </a:r>
            <a:r>
              <a:rPr lang="en-US" sz="2600" dirty="0" smtClean="0">
                <a:solidFill>
                  <a:schemeClr val="tx1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i</a:t>
            </a:r>
            <a:r>
              <a:rPr lang="en-US" sz="2600" dirty="0" smtClean="0">
                <a:solidFill>
                  <a:schemeClr val="tx1"/>
                </a:solidFill>
              </a:rPr>
              <a:t> = </a:t>
            </a:r>
            <a:r>
              <a:rPr lang="en-US" sz="2600" dirty="0" smtClean="0">
                <a:solidFill>
                  <a:srgbClr val="FF0000"/>
                </a:solidFill>
              </a:rPr>
              <a:t>1</a:t>
            </a:r>
            <a:r>
              <a:rPr lang="en-US" sz="26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2600" b="1" dirty="0" smtClean="0">
                <a:solidFill>
                  <a:schemeClr val="tx1"/>
                </a:solidFill>
              </a:rPr>
              <a:t>while (</a:t>
            </a:r>
            <a:r>
              <a:rPr lang="en-US" sz="2600" b="1" i="1" dirty="0" err="1" smtClean="0">
                <a:solidFill>
                  <a:srgbClr val="0000FF"/>
                </a:solidFill>
              </a:rPr>
              <a:t>i</a:t>
            </a:r>
            <a:r>
              <a:rPr lang="en-US" sz="2600" b="1" i="1" dirty="0" smtClean="0">
                <a:solidFill>
                  <a:srgbClr val="0000FF"/>
                </a:solidFill>
              </a:rPr>
              <a:t> </a:t>
            </a:r>
            <a:r>
              <a:rPr lang="en-US" sz="2600" i="1" dirty="0" smtClean="0">
                <a:solidFill>
                  <a:srgbClr val="0000FF"/>
                </a:solidFill>
              </a:rPr>
              <a:t>≤</a:t>
            </a:r>
            <a:r>
              <a:rPr lang="en-US" sz="2600" b="1" i="1" dirty="0" smtClean="0">
                <a:solidFill>
                  <a:srgbClr val="0000FF"/>
                </a:solidFill>
              </a:rPr>
              <a:t> n</a:t>
            </a:r>
            <a:r>
              <a:rPr lang="en-US" sz="2600" b="1" i="1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2600" i="1" dirty="0" smtClean="0">
                <a:solidFill>
                  <a:schemeClr val="tx1"/>
                </a:solidFill>
              </a:rPr>
              <a:t>   {</a:t>
            </a:r>
          </a:p>
          <a:p>
            <a:r>
              <a:rPr lang="en-US" sz="2600" dirty="0" smtClean="0">
                <a:solidFill>
                  <a:schemeClr val="tx1"/>
                </a:solidFill>
              </a:rPr>
              <a:t>     </a:t>
            </a:r>
            <a:r>
              <a:rPr lang="en-US" sz="2600" dirty="0" smtClean="0">
                <a:solidFill>
                  <a:srgbClr val="FF0000"/>
                </a:solidFill>
              </a:rPr>
              <a:t>power</a:t>
            </a:r>
            <a:r>
              <a:rPr lang="en-US" sz="2600" dirty="0" smtClean="0">
                <a:solidFill>
                  <a:schemeClr val="tx1"/>
                </a:solidFill>
              </a:rPr>
              <a:t> = </a:t>
            </a:r>
            <a:r>
              <a:rPr lang="en-US" sz="2600" dirty="0" smtClean="0">
                <a:solidFill>
                  <a:srgbClr val="FF0000"/>
                </a:solidFill>
              </a:rPr>
              <a:t>power</a:t>
            </a:r>
            <a:r>
              <a:rPr lang="en-US" sz="2600" b="1" dirty="0" smtClean="0">
                <a:solidFill>
                  <a:srgbClr val="FF0000"/>
                </a:solidFill>
              </a:rPr>
              <a:t>· </a:t>
            </a:r>
            <a:r>
              <a:rPr lang="en-US" sz="2600" dirty="0" smtClean="0">
                <a:solidFill>
                  <a:srgbClr val="FF0000"/>
                </a:solidFill>
              </a:rPr>
              <a:t>x</a:t>
            </a:r>
          </a:p>
          <a:p>
            <a:r>
              <a:rPr lang="en-US" sz="2600" dirty="0" smtClean="0">
                <a:solidFill>
                  <a:srgbClr val="FF0000"/>
                </a:solidFill>
              </a:rPr>
              <a:t>     </a:t>
            </a:r>
            <a:r>
              <a:rPr lang="en-US" sz="2600" dirty="0" err="1" smtClean="0">
                <a:solidFill>
                  <a:srgbClr val="FF0000"/>
                </a:solidFill>
              </a:rPr>
              <a:t>i</a:t>
            </a:r>
            <a:r>
              <a:rPr lang="en-US" sz="2600" dirty="0" smtClean="0">
                <a:solidFill>
                  <a:schemeClr val="tx1"/>
                </a:solidFill>
              </a:rPr>
              <a:t> = </a:t>
            </a:r>
            <a:r>
              <a:rPr lang="en-US" sz="2600" dirty="0" err="1" smtClean="0">
                <a:solidFill>
                  <a:srgbClr val="FF0000"/>
                </a:solidFill>
              </a:rPr>
              <a:t>i</a:t>
            </a:r>
            <a:r>
              <a:rPr lang="en-US" sz="2600" dirty="0" smtClean="0">
                <a:solidFill>
                  <a:srgbClr val="FF0000"/>
                </a:solidFill>
              </a:rPr>
              <a:t> + 1</a:t>
            </a:r>
          </a:p>
          <a:p>
            <a:r>
              <a:rPr lang="en-US" sz="2600" dirty="0" smtClean="0">
                <a:solidFill>
                  <a:schemeClr val="tx1"/>
                </a:solidFill>
              </a:rPr>
              <a:t>   }</a:t>
            </a:r>
            <a:endParaRPr lang="en-US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Let the </a:t>
            </a:r>
            <a:r>
              <a:rPr lang="en-US" dirty="0" smtClean="0">
                <a:solidFill>
                  <a:srgbClr val="FF0000"/>
                </a:solidFill>
              </a:rPr>
              <a:t>loop invariant</a:t>
            </a:r>
            <a:r>
              <a:rPr lang="en-US" dirty="0" smtClean="0"/>
              <a:t> be: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b="1" dirty="0" smtClean="0">
                <a:solidFill>
                  <a:srgbClr val="FF0000"/>
                </a:solidFill>
              </a:rPr>
              <a:t>p</a:t>
            </a:r>
            <a:r>
              <a:rPr lang="en-US" dirty="0" smtClean="0"/>
              <a:t> </a:t>
            </a:r>
            <a:r>
              <a:rPr lang="en-US" b="1" dirty="0" smtClean="0"/>
              <a:t>:</a:t>
            </a:r>
            <a:r>
              <a:rPr lang="en-US" dirty="0" smtClean="0"/>
              <a:t>  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 ≤ 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+ 1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power = </a:t>
            </a:r>
            <a:r>
              <a:rPr lang="en-US" i="1" dirty="0" smtClean="0">
                <a:solidFill>
                  <a:srgbClr val="FF0000"/>
                </a:solidFill>
              </a:rPr>
              <a:t>x</a:t>
            </a:r>
            <a:r>
              <a:rPr lang="en-US" baseline="30000" dirty="0" smtClean="0">
                <a:solidFill>
                  <a:srgbClr val="FF0000"/>
                </a:solidFill>
              </a:rPr>
              <a:t>i-1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8368</TotalTime>
  <Words>1622</Words>
  <Application>Microsoft Office PowerPoint</Application>
  <PresentationFormat>On-screen Show (4:3)</PresentationFormat>
  <Paragraphs>686</Paragraphs>
  <Slides>56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Origin</vt:lpstr>
      <vt:lpstr>ALGORITHM TIME COMPLEXITY &amp; LOOP INVARIANT  Lecture # 25 </vt:lpstr>
      <vt:lpstr>ALGORITHM</vt:lpstr>
      <vt:lpstr>INFORMATION ABOUT ALGORITHM</vt:lpstr>
      <vt:lpstr>ANALYSIS OF ALGORITHM</vt:lpstr>
      <vt:lpstr>TIME COMPLEXITY</vt:lpstr>
      <vt:lpstr>SPACE COMPLEXITY</vt:lpstr>
      <vt:lpstr>MEASURING TIME COMPLEXITY</vt:lpstr>
      <vt:lpstr>PowerPoint Presentation</vt:lpstr>
      <vt:lpstr>PowerPoint Presentation</vt:lpstr>
      <vt:lpstr>EXAMPLE: POLYNOMIAL EVALUATION</vt:lpstr>
      <vt:lpstr>PowerPoint Presentation</vt:lpstr>
      <vt:lpstr>GENERAL FORM OF POLYNOMIAL</vt:lpstr>
      <vt:lpstr>PowerPoint Presentation</vt:lpstr>
      <vt:lpstr>BIG – O Notation</vt:lpstr>
      <vt:lpstr>BIG – O Analysis in General</vt:lpstr>
      <vt:lpstr>BIG – O Analysis in General</vt:lpstr>
      <vt:lpstr>BIG – O Analysis in General</vt:lpstr>
      <vt:lpstr>PowerPoint Presentation</vt:lpstr>
      <vt:lpstr>INTRACTABLE PROBLEM</vt:lpstr>
      <vt:lpstr>CONSTANT TIME: O (1)</vt:lpstr>
      <vt:lpstr>LINEAR TIME: O (n)</vt:lpstr>
      <vt:lpstr>LOGARITHMIC TIME: O (log n)</vt:lpstr>
      <vt:lpstr>QUADRATIC TIME: O (n2)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BINARY SEARCH ALGORITHM</vt:lpstr>
      <vt:lpstr>PowerPoint Presentation</vt:lpstr>
      <vt:lpstr>Performance Comparison</vt:lpstr>
      <vt:lpstr>EXAMPLE</vt:lpstr>
      <vt:lpstr>EXAMPLE (SUMMING THE LIST OF TWO NUMBERS)</vt:lpstr>
      <vt:lpstr>EXAMPLE</vt:lpstr>
      <vt:lpstr>EXAMPLE</vt:lpstr>
      <vt:lpstr>EXAMPLE</vt:lpstr>
      <vt:lpstr>EXAMPLE</vt:lpstr>
      <vt:lpstr>Big Oh (O)</vt:lpstr>
      <vt:lpstr>COMPARE RUNNING TIME GROWTH RATES</vt:lpstr>
      <vt:lpstr>EFFICIENCY OF ALGORITHMS</vt:lpstr>
      <vt:lpstr>LOOP INVARIANT</vt:lpstr>
      <vt:lpstr>PowerPoint Presentation</vt:lpstr>
      <vt:lpstr>THEOREM</vt:lpstr>
      <vt:lpstr>PowerPoint Presentation</vt:lpstr>
      <vt:lpstr>PowerPoint Presentation</vt:lpstr>
      <vt:lpstr>EXAMPLE</vt:lpstr>
      <vt:lpstr>SOLUTION</vt:lpstr>
      <vt:lpstr>PowerPoint Presentation</vt:lpstr>
      <vt:lpstr>PowerPoint Presentation</vt:lpstr>
      <vt:lpstr>PowerPoint Presentation</vt:lpstr>
      <vt:lpstr>EXAMPLE</vt:lpstr>
      <vt:lpstr>SOLUTION</vt:lpstr>
    </vt:vector>
  </TitlesOfParts>
  <Company>University of Virginia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Dell</cp:lastModifiedBy>
  <cp:revision>716</cp:revision>
  <dcterms:created xsi:type="dcterms:W3CDTF">2004-09-16T16:06:30Z</dcterms:created>
  <dcterms:modified xsi:type="dcterms:W3CDTF">2024-12-28T09:21:00Z</dcterms:modified>
</cp:coreProperties>
</file>
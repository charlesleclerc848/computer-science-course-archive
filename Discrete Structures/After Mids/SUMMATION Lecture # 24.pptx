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54"/>
  </p:notesMasterIdLst>
  <p:sldIdLst>
    <p:sldId id="256" r:id="rId2"/>
    <p:sldId id="288" r:id="rId3"/>
    <p:sldId id="289" r:id="rId4"/>
    <p:sldId id="329" r:id="rId5"/>
    <p:sldId id="290" r:id="rId6"/>
    <p:sldId id="291" r:id="rId7"/>
    <p:sldId id="292" r:id="rId8"/>
    <p:sldId id="293" r:id="rId9"/>
    <p:sldId id="294" r:id="rId10"/>
    <p:sldId id="330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308" r:id="rId25"/>
    <p:sldId id="309" r:id="rId26"/>
    <p:sldId id="310" r:id="rId27"/>
    <p:sldId id="311" r:id="rId28"/>
    <p:sldId id="312" r:id="rId29"/>
    <p:sldId id="313" r:id="rId30"/>
    <p:sldId id="314" r:id="rId31"/>
    <p:sldId id="315" r:id="rId32"/>
    <p:sldId id="316" r:id="rId33"/>
    <p:sldId id="317" r:id="rId34"/>
    <p:sldId id="318" r:id="rId35"/>
    <p:sldId id="319" r:id="rId36"/>
    <p:sldId id="320" r:id="rId37"/>
    <p:sldId id="321" r:id="rId38"/>
    <p:sldId id="322" r:id="rId39"/>
    <p:sldId id="323" r:id="rId40"/>
    <p:sldId id="324" r:id="rId41"/>
    <p:sldId id="325" r:id="rId42"/>
    <p:sldId id="328" r:id="rId43"/>
    <p:sldId id="331" r:id="rId44"/>
    <p:sldId id="332" r:id="rId45"/>
    <p:sldId id="333" r:id="rId46"/>
    <p:sldId id="334" r:id="rId47"/>
    <p:sldId id="335" r:id="rId48"/>
    <p:sldId id="336" r:id="rId49"/>
    <p:sldId id="337" r:id="rId50"/>
    <p:sldId id="339" r:id="rId51"/>
    <p:sldId id="340" r:id="rId52"/>
    <p:sldId id="341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03" autoAdjust="0"/>
    <p:restoredTop sz="94660"/>
  </p:normalViewPr>
  <p:slideViewPr>
    <p:cSldViewPr>
      <p:cViewPr>
        <p:scale>
          <a:sx n="63" d="100"/>
          <a:sy n="63" d="100"/>
        </p:scale>
        <p:origin x="-72" y="-43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EC208-CBD2-4BB3-BC72-DCDC3D7B8183}" type="datetimeFigureOut">
              <a:rPr lang="en-US" smtClean="0"/>
              <a:pPr/>
              <a:t>12/28/2024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9421D0-6215-4261-B64C-7470A97F18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570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421D0-6215-4261-B64C-7470A97F18E7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C547385E-8BC5-4441-A857-FF4014F161FF}" type="datetimeFigureOut">
              <a:rPr lang="en-US" smtClean="0"/>
              <a:pPr/>
              <a:t>12/28/2024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C547385E-8BC5-4441-A857-FF4014F161FF}" type="datetimeFigureOut">
              <a:rPr lang="en-US" smtClean="0"/>
              <a:pPr/>
              <a:t>12/28/2024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12/28/2024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12/28/2024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12/28/2024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12/28/2024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12/28/2024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12/28/2024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547385E-8BC5-4441-A857-FF4014F161FF}" type="datetimeFigureOut">
              <a:rPr lang="en-US" smtClean="0"/>
              <a:pPr/>
              <a:t>12/28/2024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8.bin"/><Relationship Id="rId4" Type="http://schemas.openxmlformats.org/officeDocument/2006/relationships/image" Target="../media/image6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oleObject" Target="../embeddings/oleObject10.bin"/><Relationship Id="rId4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oleObject" Target="../embeddings/oleObject12.bin"/><Relationship Id="rId4" Type="http://schemas.openxmlformats.org/officeDocument/2006/relationships/image" Target="../media/image8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9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0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3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14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17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0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1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3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4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2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32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0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1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33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34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35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36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37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39.w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SUMMATION</a:t>
            </a:r>
            <a:br>
              <a:rPr lang="en-US" b="1" u="sng" dirty="0" smtClean="0">
                <a:solidFill>
                  <a:srgbClr val="C00000"/>
                </a:solidFill>
              </a:rPr>
            </a:br>
            <a:r>
              <a:rPr lang="en-US" sz="2900" b="1" dirty="0" smtClean="0">
                <a:solidFill>
                  <a:srgbClr val="0070C0"/>
                </a:solidFill>
              </a:rPr>
              <a:t>Lecture </a:t>
            </a:r>
            <a:r>
              <a:rPr lang="en-US" sz="2900" b="1" smtClean="0">
                <a:solidFill>
                  <a:srgbClr val="0070C0"/>
                </a:solidFill>
              </a:rPr>
              <a:t># </a:t>
            </a:r>
            <a:r>
              <a:rPr lang="en-US" sz="2900" b="1" smtClean="0">
                <a:solidFill>
                  <a:srgbClr val="0070C0"/>
                </a:solidFill>
              </a:rPr>
              <a:t>24</a:t>
            </a:r>
            <a:endParaRPr lang="en-US" sz="2900" b="1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INTRODUCTION</a:t>
            </a:r>
            <a:endParaRPr lang="en-US" b="1" dirty="0" smtClean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r>
              <a:rPr lang="en-US" b="1" u="sng" dirty="0" smtClean="0">
                <a:solidFill>
                  <a:srgbClr val="C00000"/>
                </a:solidFill>
              </a:rPr>
              <a:t>SERIES: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The </a:t>
            </a:r>
            <a:r>
              <a:rPr lang="en-US" dirty="0" smtClean="0">
                <a:solidFill>
                  <a:srgbClr val="C00000"/>
                </a:solidFill>
              </a:rPr>
              <a:t>sum</a:t>
            </a:r>
            <a:r>
              <a:rPr lang="en-US" dirty="0" smtClean="0"/>
              <a:t> of the terms of a </a:t>
            </a:r>
            <a:r>
              <a:rPr lang="en-US" dirty="0" smtClean="0">
                <a:solidFill>
                  <a:srgbClr val="C00000"/>
                </a:solidFill>
              </a:rPr>
              <a:t>sequence forms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C00000"/>
                </a:solidFill>
              </a:rPr>
              <a:t>series</a:t>
            </a:r>
            <a:r>
              <a:rPr lang="en-US" dirty="0" smtClean="0"/>
              <a:t>. If</a:t>
            </a:r>
          </a:p>
          <a:p>
            <a:pPr>
              <a:buNone/>
            </a:pPr>
            <a:r>
              <a:rPr lang="en-US" dirty="0" smtClean="0"/>
              <a:t>				 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, 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, …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represent a </a:t>
            </a:r>
            <a:r>
              <a:rPr lang="en-US" dirty="0" smtClean="0">
                <a:solidFill>
                  <a:srgbClr val="C00000"/>
                </a:solidFill>
              </a:rPr>
              <a:t>sequence of numbers</a:t>
            </a:r>
            <a:r>
              <a:rPr lang="en-US" dirty="0" smtClean="0"/>
              <a:t>, then the </a:t>
            </a:r>
            <a:r>
              <a:rPr lang="en-US" dirty="0" smtClean="0">
                <a:solidFill>
                  <a:srgbClr val="C00000"/>
                </a:solidFill>
              </a:rPr>
              <a:t>corresponding series</a:t>
            </a:r>
            <a:r>
              <a:rPr lang="en-US" dirty="0" smtClean="0"/>
              <a:t> is: </a:t>
            </a:r>
          </a:p>
          <a:p>
            <a:pPr>
              <a:buNone/>
            </a:pPr>
            <a:r>
              <a:rPr lang="en-US" dirty="0" smtClean="0"/>
              <a:t>				 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+ 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+ …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endParaRPr lang="en-US" dirty="0"/>
          </a:p>
        </p:txBody>
      </p:sp>
      <p:graphicFrame>
        <p:nvGraphicFramePr>
          <p:cNvPr id="76801" name="Object 1"/>
          <p:cNvGraphicFramePr>
            <a:graphicFrameLocks noChangeAspect="1"/>
          </p:cNvGraphicFramePr>
          <p:nvPr/>
        </p:nvGraphicFramePr>
        <p:xfrm>
          <a:off x="4508500" y="4572000"/>
          <a:ext cx="1054100" cy="895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05" r:id="rId3" imgW="368280" imgH="431640" progId="">
                  <p:embed/>
                </p:oleObj>
              </mc:Choice>
              <mc:Fallback>
                <p:oleObj r:id="rId3" imgW="368280" imgH="43164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0" y="4572000"/>
                        <a:ext cx="1054100" cy="8954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2" name="Text Box 2"/>
          <p:cNvSpPr txBox="1">
            <a:spLocks noChangeArrowheads="1"/>
          </p:cNvSpPr>
          <p:nvPr/>
        </p:nvSpPr>
        <p:spPr bwMode="auto">
          <a:xfrm>
            <a:off x="4168391" y="4814887"/>
            <a:ext cx="1013209" cy="90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</a:rPr>
              <a:t>=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6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6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680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SUMMATION NOTATION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capital </a:t>
            </a:r>
            <a:r>
              <a:rPr lang="en-US" dirty="0" smtClean="0">
                <a:solidFill>
                  <a:srgbClr val="C00000"/>
                </a:solidFill>
              </a:rPr>
              <a:t>Greek letter sigma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</a:t>
            </a:r>
            <a:r>
              <a:rPr lang="en-US" dirty="0" smtClean="0"/>
              <a:t> is used to write a </a:t>
            </a:r>
            <a:r>
              <a:rPr lang="en-US" dirty="0" smtClean="0">
                <a:solidFill>
                  <a:srgbClr val="C00000"/>
                </a:solidFill>
              </a:rPr>
              <a:t>sum</a:t>
            </a:r>
            <a:r>
              <a:rPr lang="en-US" dirty="0" smtClean="0"/>
              <a:t> in a </a:t>
            </a:r>
            <a:r>
              <a:rPr lang="en-US" dirty="0" smtClean="0">
                <a:solidFill>
                  <a:srgbClr val="C00000"/>
                </a:solidFill>
              </a:rPr>
              <a:t>short hand notation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Hence            represents the sum given in expanded form by</a:t>
            </a:r>
          </a:p>
          <a:p>
            <a:pPr>
              <a:buNone/>
            </a:pPr>
            <a:r>
              <a:rPr lang="en-US" dirty="0" smtClean="0"/>
              <a:t>				</a:t>
            </a:r>
          </a:p>
          <a:p>
            <a:pPr>
              <a:buNone/>
            </a:pPr>
            <a:r>
              <a:rPr lang="en-US" dirty="0" smtClean="0"/>
              <a:t>				= a</a:t>
            </a:r>
            <a:r>
              <a:rPr lang="en-US" baseline="-25000" dirty="0" smtClean="0"/>
              <a:t>1</a:t>
            </a:r>
            <a:r>
              <a:rPr lang="en-US" dirty="0" smtClean="0"/>
              <a:t> + a</a:t>
            </a:r>
            <a:r>
              <a:rPr lang="en-US" baseline="-25000" dirty="0" smtClean="0"/>
              <a:t>2</a:t>
            </a:r>
            <a:r>
              <a:rPr lang="en-US" dirty="0" smtClean="0"/>
              <a:t> + a</a:t>
            </a:r>
            <a:r>
              <a:rPr lang="en-US" baseline="-25000" dirty="0" smtClean="0"/>
              <a:t>3</a:t>
            </a:r>
            <a:r>
              <a:rPr lang="en-US" dirty="0" smtClean="0"/>
              <a:t> + … + a</a:t>
            </a:r>
            <a:r>
              <a:rPr lang="en-US" baseline="-25000" dirty="0" smtClean="0"/>
              <a:t>n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Here </a:t>
            </a:r>
            <a:r>
              <a:rPr lang="en-US" b="1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is called the </a:t>
            </a:r>
            <a:r>
              <a:rPr lang="en-US" dirty="0" smtClean="0">
                <a:solidFill>
                  <a:srgbClr val="C00000"/>
                </a:solidFill>
              </a:rPr>
              <a:t>index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summation</a:t>
            </a:r>
            <a:r>
              <a:rPr lang="en-US" dirty="0" smtClean="0"/>
              <a:t>;  </a:t>
            </a: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dirty="0" smtClean="0">
                <a:solidFill>
                  <a:srgbClr val="C00000"/>
                </a:solidFill>
              </a:rPr>
              <a:t>Lower limit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summation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1.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Upper limit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summation </a:t>
            </a:r>
            <a:r>
              <a:rPr lang="en-US" dirty="0" smtClean="0"/>
              <a:t>is </a:t>
            </a:r>
            <a:r>
              <a:rPr lang="en-US" dirty="0" smtClean="0">
                <a:solidFill>
                  <a:srgbClr val="C00000"/>
                </a:solidFill>
              </a:rPr>
              <a:t>    </a:t>
            </a:r>
            <a:r>
              <a:rPr lang="en-US" b="1" dirty="0" smtClean="0">
                <a:solidFill>
                  <a:srgbClr val="C00000"/>
                </a:solidFill>
              </a:rPr>
              <a:t>.</a:t>
            </a:r>
            <a:endParaRPr lang="en-US" b="1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</p:txBody>
      </p:sp>
      <p:graphicFrame>
        <p:nvGraphicFramePr>
          <p:cNvPr id="75779" name="Object 3"/>
          <p:cNvGraphicFramePr>
            <a:graphicFrameLocks noChangeAspect="1"/>
          </p:cNvGraphicFramePr>
          <p:nvPr/>
        </p:nvGraphicFramePr>
        <p:xfrm>
          <a:off x="1769808" y="2116392"/>
          <a:ext cx="10541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1" r:id="rId3" imgW="368280" imgH="431640" progId="">
                  <p:embed/>
                </p:oleObj>
              </mc:Choice>
              <mc:Fallback>
                <p:oleObj r:id="rId3" imgW="368280" imgH="4316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9808" y="2116392"/>
                        <a:ext cx="1054100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0" name="Object 4"/>
          <p:cNvGraphicFramePr>
            <a:graphicFrameLocks noChangeAspect="1"/>
          </p:cNvGraphicFramePr>
          <p:nvPr/>
        </p:nvGraphicFramePr>
        <p:xfrm>
          <a:off x="2286000" y="3371850"/>
          <a:ext cx="10541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2" r:id="rId5" imgW="368280" imgH="431640" progId="">
                  <p:embed/>
                </p:oleObj>
              </mc:Choice>
              <mc:Fallback>
                <p:oleObj r:id="rId5" imgW="368280" imgH="43164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371850"/>
                        <a:ext cx="1054100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5120148" y="5513847"/>
          <a:ext cx="533400" cy="340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3" name="Equation" r:id="rId6" imgW="152280" imgH="126720" progId="Equation.3">
                  <p:embed/>
                </p:oleObj>
              </mc:Choice>
              <mc:Fallback>
                <p:oleObj name="Equation" r:id="rId6" imgW="152280" imgH="1267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0148" y="5513847"/>
                        <a:ext cx="533400" cy="3407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More generally if </a:t>
            </a:r>
            <a:r>
              <a:rPr lang="en-US" dirty="0" smtClean="0">
                <a:solidFill>
                  <a:srgbClr val="C00000"/>
                </a:solidFill>
              </a:rPr>
              <a:t>m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C00000"/>
                </a:solidFill>
              </a:rPr>
              <a:t>integers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m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</a:t>
            </a:r>
            <a:r>
              <a:rPr lang="en-US" dirty="0" smtClean="0">
                <a:solidFill>
                  <a:srgbClr val="C00000"/>
                </a:solidFill>
              </a:rPr>
              <a:t> n</a:t>
            </a:r>
            <a:r>
              <a:rPr lang="en-US" dirty="0" smtClean="0"/>
              <a:t>, then the </a:t>
            </a:r>
            <a:r>
              <a:rPr lang="en-US" dirty="0" smtClean="0">
                <a:solidFill>
                  <a:srgbClr val="C00000"/>
                </a:solidFill>
              </a:rPr>
              <a:t>summation</a:t>
            </a:r>
            <a:r>
              <a:rPr lang="en-US" dirty="0" smtClean="0"/>
              <a:t> from </a:t>
            </a:r>
            <a:r>
              <a:rPr lang="en-US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equal </a:t>
            </a:r>
            <a:r>
              <a:rPr lang="en-US" dirty="0" smtClean="0">
                <a:solidFill>
                  <a:srgbClr val="C00000"/>
                </a:solidFill>
              </a:rPr>
              <a:t>m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of </a:t>
            </a:r>
            <a:r>
              <a:rPr lang="en-US" dirty="0" err="1" smtClean="0">
                <a:solidFill>
                  <a:srgbClr val="C00000"/>
                </a:solidFill>
              </a:rPr>
              <a:t>a</a:t>
            </a:r>
            <a:r>
              <a:rPr lang="en-US" baseline="-25000" dirty="0" err="1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is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where </a:t>
            </a:r>
            <a:r>
              <a:rPr lang="en-US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varies from </a:t>
            </a:r>
            <a:r>
              <a:rPr lang="en-US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represents the </a:t>
            </a:r>
            <a:r>
              <a:rPr lang="en-US" dirty="0" smtClean="0">
                <a:solidFill>
                  <a:srgbClr val="C00000"/>
                </a:solidFill>
              </a:rPr>
              <a:t>sum</a:t>
            </a:r>
            <a:r>
              <a:rPr lang="en-US" dirty="0" smtClean="0"/>
              <a:t> given in expanded form by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159746" name="Object 2"/>
          <p:cNvGraphicFramePr>
            <a:graphicFrameLocks noChangeAspect="1"/>
          </p:cNvGraphicFramePr>
          <p:nvPr/>
        </p:nvGraphicFramePr>
        <p:xfrm>
          <a:off x="2086896" y="2364660"/>
          <a:ext cx="5029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50" r:id="rId3" imgW="2006280" imgH="431640" progId="">
                  <p:embed/>
                </p:oleObj>
              </mc:Choice>
              <mc:Fallback>
                <p:oleObj r:id="rId3" imgW="2006280" imgH="4316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6896" y="2364660"/>
                        <a:ext cx="50292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9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COMPUTING SUMMATIONS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0</a:t>
            </a:r>
            <a:r>
              <a:rPr lang="en-US" dirty="0" smtClean="0">
                <a:solidFill>
                  <a:srgbClr val="C00000"/>
                </a:solidFill>
              </a:rPr>
              <a:t> = 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3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-2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 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= 0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Compute</a:t>
            </a:r>
            <a:r>
              <a:rPr lang="en-US" dirty="0" smtClean="0"/>
              <a:t> each of the </a:t>
            </a:r>
            <a:r>
              <a:rPr lang="en-US" dirty="0" smtClean="0">
                <a:solidFill>
                  <a:srgbClr val="C00000"/>
                </a:solidFill>
              </a:rPr>
              <a:t>summations</a:t>
            </a:r>
            <a:r>
              <a:rPr lang="en-US" dirty="0" smtClean="0"/>
              <a:t>:</a:t>
            </a:r>
            <a:endParaRPr lang="en-US" baseline="-25000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</p:txBody>
      </p:sp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4753" name="Object 1"/>
          <p:cNvGraphicFramePr>
            <a:graphicFrameLocks noChangeAspect="1"/>
          </p:cNvGraphicFramePr>
          <p:nvPr/>
        </p:nvGraphicFramePr>
        <p:xfrm>
          <a:off x="990600" y="2590800"/>
          <a:ext cx="667512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57" r:id="rId3" imgW="3124080" imgH="444240" progId="">
                  <p:embed/>
                </p:oleObj>
              </mc:Choice>
              <mc:Fallback>
                <p:oleObj r:id="rId3" imgW="3124080" imgH="44424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590800"/>
                        <a:ext cx="667512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6248400" y="2775156"/>
            <a:ext cx="4572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4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dirty="0" smtClean="0"/>
              <a:t>	</a:t>
            </a:r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0</a:t>
            </a:r>
            <a:r>
              <a:rPr lang="en-US" dirty="0" smtClean="0">
                <a:solidFill>
                  <a:srgbClr val="C00000"/>
                </a:solidFill>
              </a:rPr>
              <a:t> = 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3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-2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 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= 0</a:t>
            </a:r>
          </a:p>
          <a:p>
            <a:pPr>
              <a:buNone/>
            </a:pPr>
            <a:r>
              <a:rPr lang="en-US" dirty="0" smtClean="0"/>
              <a:t>	We will take </a:t>
            </a:r>
            <a:r>
              <a:rPr lang="en-US" dirty="0" err="1" smtClean="0">
                <a:solidFill>
                  <a:srgbClr val="C00000"/>
                </a:solidFill>
              </a:rPr>
              <a:t>i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0, 1, 2, 3, 4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	1.                  = </a:t>
            </a:r>
            <a:r>
              <a:rPr lang="pt-BR" dirty="0" smtClean="0">
                <a:solidFill>
                  <a:srgbClr val="C00000"/>
                </a:solidFill>
              </a:rPr>
              <a:t>a</a:t>
            </a:r>
            <a:r>
              <a:rPr lang="pt-BR" baseline="-25000" dirty="0" smtClean="0">
                <a:solidFill>
                  <a:srgbClr val="C00000"/>
                </a:solidFill>
              </a:rPr>
              <a:t>0</a:t>
            </a:r>
            <a:r>
              <a:rPr lang="pt-BR" dirty="0" smtClean="0">
                <a:solidFill>
                  <a:srgbClr val="C00000"/>
                </a:solidFill>
              </a:rPr>
              <a:t> + a</a:t>
            </a:r>
            <a:r>
              <a:rPr lang="pt-BR" baseline="-25000" dirty="0" smtClean="0">
                <a:solidFill>
                  <a:srgbClr val="C00000"/>
                </a:solidFill>
              </a:rPr>
              <a:t>1</a:t>
            </a:r>
            <a:r>
              <a:rPr lang="pt-BR" dirty="0" smtClean="0">
                <a:solidFill>
                  <a:srgbClr val="C00000"/>
                </a:solidFill>
              </a:rPr>
              <a:t> + a</a:t>
            </a:r>
            <a:r>
              <a:rPr lang="pt-BR" baseline="-25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 + a</a:t>
            </a:r>
            <a:r>
              <a:rPr lang="pt-BR" baseline="-25000" dirty="0" smtClean="0">
                <a:solidFill>
                  <a:srgbClr val="C00000"/>
                </a:solidFill>
              </a:rPr>
              <a:t>3</a:t>
            </a:r>
            <a:r>
              <a:rPr lang="pt-BR" dirty="0" smtClean="0">
                <a:solidFill>
                  <a:srgbClr val="C00000"/>
                </a:solidFill>
              </a:rPr>
              <a:t> + a</a:t>
            </a:r>
            <a:r>
              <a:rPr lang="pt-BR" baseline="-25000" dirty="0" smtClean="0">
                <a:solidFill>
                  <a:srgbClr val="C00000"/>
                </a:solidFill>
              </a:rPr>
              <a:t>4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		   = </a:t>
            </a:r>
            <a:r>
              <a:rPr lang="pt-BR" dirty="0" smtClean="0">
                <a:solidFill>
                  <a:srgbClr val="C00000"/>
                </a:solidFill>
              </a:rPr>
              <a:t>2 + 3 + (-2) + 1 + 0  </a:t>
            </a:r>
          </a:p>
          <a:p>
            <a:pPr>
              <a:buNone/>
            </a:pPr>
            <a:r>
              <a:rPr lang="pt-BR" dirty="0" smtClean="0"/>
              <a:t>			   = </a:t>
            </a:r>
            <a:r>
              <a:rPr lang="pt-BR" dirty="0" smtClean="0">
                <a:solidFill>
                  <a:srgbClr val="C00000"/>
                </a:solidFill>
              </a:rPr>
              <a:t>4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73729" name="Object 1"/>
          <p:cNvGraphicFramePr>
            <a:graphicFrameLocks noChangeAspect="1"/>
          </p:cNvGraphicFramePr>
          <p:nvPr/>
        </p:nvGraphicFramePr>
        <p:xfrm>
          <a:off x="1844298" y="2408694"/>
          <a:ext cx="838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37" r:id="rId3" imgW="342720" imgH="431640" progId="">
                  <p:embed/>
                </p:oleObj>
              </mc:Choice>
              <mc:Fallback>
                <p:oleObj r:id="rId3" imgW="342720" imgH="43164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4298" y="2408694"/>
                        <a:ext cx="8382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0" name="Object 2"/>
          <p:cNvGraphicFramePr>
            <a:graphicFrameLocks noChangeAspect="1"/>
          </p:cNvGraphicFramePr>
          <p:nvPr/>
        </p:nvGraphicFramePr>
        <p:xfrm>
          <a:off x="1859796" y="3795792"/>
          <a:ext cx="838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38" r:id="rId5" imgW="342720" imgH="431640" progId="">
                  <p:embed/>
                </p:oleObj>
              </mc:Choice>
              <mc:Fallback>
                <p:oleObj r:id="rId5" imgW="342720" imgH="4316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9796" y="3795792"/>
                        <a:ext cx="8382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dirty="0" smtClean="0"/>
              <a:t>	</a:t>
            </a:r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0</a:t>
            </a:r>
            <a:r>
              <a:rPr lang="en-US" dirty="0" smtClean="0">
                <a:solidFill>
                  <a:srgbClr val="C00000"/>
                </a:solidFill>
              </a:rPr>
              <a:t> = 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3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-2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 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= 0</a:t>
            </a:r>
          </a:p>
          <a:p>
            <a:pPr>
              <a:buNone/>
            </a:pPr>
            <a:r>
              <a:rPr lang="en-US" dirty="0" smtClean="0"/>
              <a:t>	We will take </a:t>
            </a:r>
            <a:r>
              <a:rPr lang="en-US" dirty="0" smtClean="0">
                <a:solidFill>
                  <a:srgbClr val="C00000"/>
                </a:solidFill>
              </a:rPr>
              <a:t>j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0, 1, 2 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	2.                  = </a:t>
            </a:r>
            <a:r>
              <a:rPr lang="pt-BR" dirty="0" smtClean="0">
                <a:solidFill>
                  <a:srgbClr val="C00000"/>
                </a:solidFill>
              </a:rPr>
              <a:t>a</a:t>
            </a:r>
            <a:r>
              <a:rPr lang="pt-BR" baseline="-25000" dirty="0" smtClean="0">
                <a:solidFill>
                  <a:srgbClr val="C00000"/>
                </a:solidFill>
              </a:rPr>
              <a:t>0</a:t>
            </a:r>
            <a:r>
              <a:rPr lang="pt-BR" dirty="0" smtClean="0">
                <a:solidFill>
                  <a:srgbClr val="C00000"/>
                </a:solidFill>
              </a:rPr>
              <a:t> + a</a:t>
            </a:r>
            <a:r>
              <a:rPr lang="pt-BR" baseline="-25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 + a</a:t>
            </a:r>
            <a:r>
              <a:rPr lang="pt-BR" baseline="-25000" dirty="0" smtClean="0">
                <a:solidFill>
                  <a:srgbClr val="C00000"/>
                </a:solidFill>
              </a:rPr>
              <a:t>4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		   = </a:t>
            </a:r>
            <a:r>
              <a:rPr lang="pt-BR" dirty="0" smtClean="0">
                <a:solidFill>
                  <a:srgbClr val="C00000"/>
                </a:solidFill>
              </a:rPr>
              <a:t>2 + (-2) + 0  </a:t>
            </a:r>
          </a:p>
          <a:p>
            <a:pPr>
              <a:buNone/>
            </a:pPr>
            <a:r>
              <a:rPr lang="pt-BR" dirty="0" smtClean="0"/>
              <a:t>			   = </a:t>
            </a:r>
            <a:r>
              <a:rPr lang="pt-BR" dirty="0" smtClean="0">
                <a:solidFill>
                  <a:srgbClr val="C00000"/>
                </a:solidFill>
              </a:rPr>
              <a:t>0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22884" name="Object 4"/>
          <p:cNvGraphicFramePr>
            <a:graphicFrameLocks noChangeAspect="1"/>
          </p:cNvGraphicFramePr>
          <p:nvPr/>
        </p:nvGraphicFramePr>
        <p:xfrm>
          <a:off x="1846846" y="2393196"/>
          <a:ext cx="879566" cy="932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2" r:id="rId3" imgW="419040" imgH="444240" progId="">
                  <p:embed/>
                </p:oleObj>
              </mc:Choice>
              <mc:Fallback>
                <p:oleObj r:id="rId3" imgW="419040" imgH="44424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6846" y="2393196"/>
                        <a:ext cx="879566" cy="9328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5" name="Object 5"/>
          <p:cNvGraphicFramePr>
            <a:graphicFrameLocks noChangeAspect="1"/>
          </p:cNvGraphicFramePr>
          <p:nvPr/>
        </p:nvGraphicFramePr>
        <p:xfrm>
          <a:off x="1844298" y="3809325"/>
          <a:ext cx="879475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3" r:id="rId5" imgW="419040" imgH="444240" progId="">
                  <p:embed/>
                </p:oleObj>
              </mc:Choice>
              <mc:Fallback>
                <p:oleObj r:id="rId5" imgW="419040" imgH="44424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4298" y="3809325"/>
                        <a:ext cx="879475" cy="931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dirty="0" smtClean="0"/>
              <a:t>	</a:t>
            </a:r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0</a:t>
            </a:r>
            <a:r>
              <a:rPr lang="en-US" dirty="0" smtClean="0">
                <a:solidFill>
                  <a:srgbClr val="C00000"/>
                </a:solidFill>
              </a:rPr>
              <a:t> = 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3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-2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 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= 0</a:t>
            </a:r>
          </a:p>
          <a:p>
            <a:pPr>
              <a:buNone/>
            </a:pPr>
            <a:r>
              <a:rPr lang="en-US" dirty="0" smtClean="0"/>
              <a:t>	We will take </a:t>
            </a:r>
            <a:r>
              <a:rPr lang="en-US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1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	3.                  = </a:t>
            </a:r>
            <a:r>
              <a:rPr lang="pt-BR" dirty="0" smtClean="0">
                <a:solidFill>
                  <a:srgbClr val="C00000"/>
                </a:solidFill>
              </a:rPr>
              <a:t>a</a:t>
            </a:r>
            <a:r>
              <a:rPr lang="pt-BR" baseline="-25000" dirty="0" smtClean="0">
                <a:solidFill>
                  <a:srgbClr val="C00000"/>
                </a:solidFill>
              </a:rPr>
              <a:t>1</a:t>
            </a:r>
            <a:r>
              <a:rPr lang="pt-BR" dirty="0" smtClean="0">
                <a:solidFill>
                  <a:srgbClr val="C00000"/>
                </a:solidFill>
              </a:rPr>
              <a:t> 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		   = </a:t>
            </a:r>
            <a:r>
              <a:rPr lang="en-US" dirty="0" smtClean="0">
                <a:solidFill>
                  <a:srgbClr val="C00000"/>
                </a:solidFill>
              </a:rPr>
              <a:t>3</a:t>
            </a:r>
            <a:r>
              <a:rPr lang="pt-BR" dirty="0" smtClean="0">
                <a:solidFill>
                  <a:srgbClr val="C00000"/>
                </a:solidFill>
              </a:rPr>
              <a:t>  </a:t>
            </a:r>
          </a:p>
          <a:p>
            <a:pPr>
              <a:buNone/>
            </a:pPr>
            <a:r>
              <a:rPr lang="pt-BR" dirty="0" smtClean="0"/>
              <a:t>			   = </a:t>
            </a:r>
            <a:r>
              <a:rPr lang="pt-BR" dirty="0" smtClean="0">
                <a:solidFill>
                  <a:srgbClr val="C00000"/>
                </a:solidFill>
              </a:rPr>
              <a:t>3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23908" name="Object 4"/>
          <p:cNvGraphicFramePr>
            <a:graphicFrameLocks noChangeAspect="1"/>
          </p:cNvGraphicFramePr>
          <p:nvPr/>
        </p:nvGraphicFramePr>
        <p:xfrm>
          <a:off x="1737102" y="2377698"/>
          <a:ext cx="975102" cy="975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16" r:id="rId3" imgW="368280" imgH="431640" progId="">
                  <p:embed/>
                </p:oleObj>
              </mc:Choice>
              <mc:Fallback>
                <p:oleObj r:id="rId3" imgW="368280" imgH="43164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7102" y="2377698"/>
                        <a:ext cx="975102" cy="9751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909" name="Object 5"/>
          <p:cNvGraphicFramePr>
            <a:graphicFrameLocks noChangeAspect="1"/>
          </p:cNvGraphicFramePr>
          <p:nvPr/>
        </p:nvGraphicFramePr>
        <p:xfrm>
          <a:off x="1676400" y="3764796"/>
          <a:ext cx="97472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17" r:id="rId5" imgW="368280" imgH="431640" progId="">
                  <p:embed/>
                </p:oleObj>
              </mc:Choice>
              <mc:Fallback>
                <p:oleObj r:id="rId5" imgW="368280" imgH="43164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764796"/>
                        <a:ext cx="974725" cy="974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Compute</a:t>
            </a:r>
            <a:r>
              <a:rPr lang="en-US" dirty="0" smtClean="0"/>
              <a:t> the </a:t>
            </a:r>
            <a:r>
              <a:rPr lang="en-US" dirty="0" smtClean="0">
                <a:solidFill>
                  <a:srgbClr val="C00000"/>
                </a:solidFill>
              </a:rPr>
              <a:t>summations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graphicFrame>
        <p:nvGraphicFramePr>
          <p:cNvPr id="124930" name="Object 2"/>
          <p:cNvGraphicFramePr>
            <a:graphicFrameLocks noChangeAspect="1"/>
          </p:cNvGraphicFramePr>
          <p:nvPr/>
        </p:nvGraphicFramePr>
        <p:xfrm>
          <a:off x="1066800" y="1828800"/>
          <a:ext cx="7347857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34" r:id="rId3" imgW="3809880" imgH="1981080" progId="">
                  <p:embed/>
                </p:oleObj>
              </mc:Choice>
              <mc:Fallback>
                <p:oleObj r:id="rId3" imgW="3809880" imgH="19810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828800"/>
                        <a:ext cx="7347857" cy="342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4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Note that in both the </a:t>
            </a:r>
            <a:r>
              <a:rPr lang="en-US" b="1" dirty="0" smtClean="0">
                <a:solidFill>
                  <a:srgbClr val="C00000"/>
                </a:solidFill>
              </a:rPr>
              <a:t>examples</a:t>
            </a:r>
            <a:r>
              <a:rPr lang="en-US" dirty="0" smtClean="0"/>
              <a:t> we have </a:t>
            </a:r>
            <a:r>
              <a:rPr lang="en-US" b="1" dirty="0" smtClean="0">
                <a:solidFill>
                  <a:srgbClr val="C00000"/>
                </a:solidFill>
              </a:rPr>
              <a:t>constants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In First example we have </a:t>
            </a:r>
            <a:r>
              <a:rPr lang="en-US" b="1" dirty="0" smtClean="0">
                <a:solidFill>
                  <a:srgbClr val="C00000"/>
                </a:solidFill>
              </a:rPr>
              <a:t>constant ‘-1’</a:t>
            </a:r>
            <a:r>
              <a:rPr lang="en-US" dirty="0" smtClean="0"/>
              <a:t> that constant appear in all three terms.</a:t>
            </a:r>
          </a:p>
          <a:p>
            <a:endParaRPr lang="en-US" dirty="0" smtClean="0"/>
          </a:p>
          <a:p>
            <a:r>
              <a:rPr lang="en-US" dirty="0" smtClean="0"/>
              <a:t>Similarly </a:t>
            </a:r>
            <a:r>
              <a:rPr lang="en-US" b="1" dirty="0" smtClean="0">
                <a:solidFill>
                  <a:srgbClr val="C00000"/>
                </a:solidFill>
              </a:rPr>
              <a:t>‘+2’</a:t>
            </a:r>
            <a:r>
              <a:rPr lang="en-US" dirty="0" smtClean="0"/>
              <a:t> in the second example.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C00000"/>
                </a:solidFill>
              </a:rPr>
              <a:t>constant term</a:t>
            </a:r>
            <a:r>
              <a:rPr lang="en-US" dirty="0" smtClean="0"/>
              <a:t> in series keep on </a:t>
            </a:r>
            <a:r>
              <a:rPr lang="en-US" b="1" dirty="0" smtClean="0">
                <a:solidFill>
                  <a:srgbClr val="C00000"/>
                </a:solidFill>
              </a:rPr>
              <a:t>adding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SUMMATION NOTATION TO EXPANDED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Write the summation               to expanded form:</a:t>
            </a:r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SOLUTION: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Lower Limit = 0</a:t>
            </a:r>
            <a:r>
              <a:rPr lang="en-US" dirty="0" smtClean="0"/>
              <a:t>,	</a:t>
            </a:r>
            <a:r>
              <a:rPr lang="en-US" dirty="0" smtClean="0">
                <a:solidFill>
                  <a:srgbClr val="C00000"/>
                </a:solidFill>
              </a:rPr>
              <a:t>Upper Limit = n</a:t>
            </a:r>
          </a:p>
          <a:p>
            <a:pPr>
              <a:buNone/>
            </a:pPr>
            <a:r>
              <a:rPr lang="en-US" dirty="0" smtClean="0"/>
              <a:t>		Total number of terms will be </a:t>
            </a:r>
            <a:r>
              <a:rPr lang="en-US" dirty="0" smtClean="0">
                <a:solidFill>
                  <a:srgbClr val="C00000"/>
                </a:solidFill>
              </a:rPr>
              <a:t>n + 1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graphicFrame>
        <p:nvGraphicFramePr>
          <p:cNvPr id="125954" name="Object 2"/>
          <p:cNvGraphicFramePr>
            <a:graphicFrameLocks noChangeAspect="1"/>
          </p:cNvGraphicFramePr>
          <p:nvPr/>
        </p:nvGraphicFramePr>
        <p:xfrm>
          <a:off x="3733800" y="1125792"/>
          <a:ext cx="1264596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66" r:id="rId3" imgW="545760" imgH="444240" progId="">
                  <p:embed/>
                </p:oleObj>
              </mc:Choice>
              <mc:Fallback>
                <p:oleObj r:id="rId3" imgW="545760" imgH="4442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125792"/>
                        <a:ext cx="1264596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5" name="Object 3"/>
          <p:cNvGraphicFramePr>
            <a:graphicFrameLocks noChangeAspect="1"/>
          </p:cNvGraphicFramePr>
          <p:nvPr/>
        </p:nvGraphicFramePr>
        <p:xfrm>
          <a:off x="1523999" y="3594098"/>
          <a:ext cx="6646821" cy="901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67" r:id="rId5" imgW="3276360" imgH="444240" progId="">
                  <p:embed/>
                </p:oleObj>
              </mc:Choice>
              <mc:Fallback>
                <p:oleObj r:id="rId5" imgW="3276360" imgH="4442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3999" y="3594098"/>
                        <a:ext cx="6646821" cy="9017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6" name="Object 4"/>
          <p:cNvGraphicFramePr>
            <a:graphicFrameLocks noChangeAspect="1"/>
          </p:cNvGraphicFramePr>
          <p:nvPr/>
        </p:nvGraphicFramePr>
        <p:xfrm>
          <a:off x="2772696" y="4571999"/>
          <a:ext cx="4343400" cy="1630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68" r:id="rId7" imgW="2070000" imgH="838080" progId="">
                  <p:embed/>
                </p:oleObj>
              </mc:Choice>
              <mc:Fallback>
                <p:oleObj r:id="rId7" imgW="2070000" imgH="83808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2696" y="4571999"/>
                        <a:ext cx="4343400" cy="16307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EXPANDED FORM TO SUMMATION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Write the following using summation notation: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B050"/>
                </a:solidFill>
              </a:rPr>
              <a:t>SOLUTION</a:t>
            </a:r>
          </a:p>
          <a:p>
            <a:pPr>
              <a:buNone/>
            </a:pPr>
            <a:r>
              <a:rPr lang="en-US" b="1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Terms</a:t>
            </a:r>
            <a:r>
              <a:rPr lang="en-US" b="1" dirty="0" smtClean="0"/>
              <a:t>			</a:t>
            </a:r>
            <a:r>
              <a:rPr lang="en-US" b="1" dirty="0" smtClean="0">
                <a:solidFill>
                  <a:srgbClr val="C00000"/>
                </a:solidFill>
              </a:rPr>
              <a:t>Numerators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For first term				</a:t>
            </a:r>
            <a:r>
              <a:rPr lang="en-US" dirty="0" smtClean="0">
                <a:solidFill>
                  <a:srgbClr val="C00000"/>
                </a:solidFill>
              </a:rPr>
              <a:t>1</a:t>
            </a:r>
          </a:p>
          <a:p>
            <a:pPr>
              <a:buNone/>
            </a:pPr>
            <a:r>
              <a:rPr lang="en-US" dirty="0" smtClean="0"/>
              <a:t>	For second term				</a:t>
            </a:r>
            <a:r>
              <a:rPr lang="en-US" dirty="0" smtClean="0">
                <a:solidFill>
                  <a:srgbClr val="C00000"/>
                </a:solidFill>
              </a:rPr>
              <a:t>2</a:t>
            </a:r>
          </a:p>
          <a:p>
            <a:pPr>
              <a:buNone/>
            </a:pPr>
            <a:r>
              <a:rPr lang="en-US" dirty="0" smtClean="0"/>
              <a:t>	For third term				</a:t>
            </a:r>
            <a:r>
              <a:rPr lang="en-US" dirty="0" smtClean="0">
                <a:solidFill>
                  <a:srgbClr val="C00000"/>
                </a:solidFill>
              </a:rPr>
              <a:t>3</a:t>
            </a:r>
          </a:p>
          <a:p>
            <a:pPr>
              <a:buNone/>
            </a:pPr>
            <a:r>
              <a:rPr lang="en-US" dirty="0" smtClean="0"/>
              <a:t>		……				        </a:t>
            </a:r>
            <a:r>
              <a:rPr lang="en-US" dirty="0" smtClean="0">
                <a:solidFill>
                  <a:srgbClr val="C00000"/>
                </a:solidFill>
              </a:rPr>
              <a:t>…...</a:t>
            </a:r>
          </a:p>
          <a:p>
            <a:pPr>
              <a:buNone/>
            </a:pPr>
            <a:r>
              <a:rPr lang="en-US" dirty="0" smtClean="0"/>
              <a:t>		……				        </a:t>
            </a:r>
            <a:r>
              <a:rPr lang="en-US" dirty="0" smtClean="0">
                <a:solidFill>
                  <a:srgbClr val="C00000"/>
                </a:solidFill>
              </a:rPr>
              <a:t>…...</a:t>
            </a:r>
          </a:p>
          <a:p>
            <a:pPr>
              <a:buNone/>
            </a:pPr>
            <a:r>
              <a:rPr lang="en-US" dirty="0" smtClean="0"/>
              <a:t>	For last term			        </a:t>
            </a:r>
            <a:r>
              <a:rPr lang="en-US" dirty="0" smtClean="0">
                <a:solidFill>
                  <a:srgbClr val="C00000"/>
                </a:solidFill>
              </a:rPr>
              <a:t>n + 1</a:t>
            </a:r>
          </a:p>
          <a:p>
            <a:endParaRPr lang="en-US" dirty="0"/>
          </a:p>
        </p:txBody>
      </p:sp>
      <p:graphicFrame>
        <p:nvGraphicFramePr>
          <p:cNvPr id="126978" name="Object 2"/>
          <p:cNvGraphicFramePr>
            <a:graphicFrameLocks noChangeAspect="1"/>
          </p:cNvGraphicFramePr>
          <p:nvPr/>
        </p:nvGraphicFramePr>
        <p:xfrm>
          <a:off x="1219199" y="1752599"/>
          <a:ext cx="4419601" cy="801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982" r:id="rId3" imgW="2171520" imgH="393480" progId="">
                  <p:embed/>
                </p:oleObj>
              </mc:Choice>
              <mc:Fallback>
                <p:oleObj r:id="rId3" imgW="217152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199" y="1752599"/>
                        <a:ext cx="4419601" cy="8012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6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      Terms</a:t>
            </a:r>
            <a:r>
              <a:rPr lang="en-US" b="1" dirty="0" smtClean="0"/>
              <a:t>			        </a:t>
            </a:r>
            <a:r>
              <a:rPr lang="en-US" b="1" dirty="0" smtClean="0">
                <a:solidFill>
                  <a:srgbClr val="C00000"/>
                </a:solidFill>
              </a:rPr>
              <a:t>Denominator</a:t>
            </a: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dirty="0" smtClean="0"/>
              <a:t>For first term				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</a:p>
          <a:p>
            <a:pPr>
              <a:buNone/>
            </a:pPr>
            <a:r>
              <a:rPr lang="en-US" dirty="0" smtClean="0"/>
              <a:t>	For second term			       </a:t>
            </a:r>
            <a:r>
              <a:rPr lang="en-US" dirty="0" smtClean="0">
                <a:solidFill>
                  <a:srgbClr val="C00000"/>
                </a:solidFill>
              </a:rPr>
              <a:t>n + 1</a:t>
            </a:r>
          </a:p>
          <a:p>
            <a:pPr>
              <a:buNone/>
            </a:pPr>
            <a:r>
              <a:rPr lang="en-US" dirty="0" smtClean="0"/>
              <a:t>	For third term			       </a:t>
            </a:r>
            <a:r>
              <a:rPr lang="en-US" dirty="0" smtClean="0">
                <a:solidFill>
                  <a:srgbClr val="C00000"/>
                </a:solidFill>
              </a:rPr>
              <a:t>n + 2</a:t>
            </a:r>
          </a:p>
          <a:p>
            <a:pPr>
              <a:buNone/>
            </a:pPr>
            <a:r>
              <a:rPr lang="en-US" dirty="0" smtClean="0"/>
              <a:t>		……				        </a:t>
            </a:r>
            <a:r>
              <a:rPr lang="en-US" dirty="0" smtClean="0">
                <a:solidFill>
                  <a:srgbClr val="C00000"/>
                </a:solidFill>
              </a:rPr>
              <a:t>…...</a:t>
            </a:r>
          </a:p>
          <a:p>
            <a:pPr>
              <a:buNone/>
            </a:pPr>
            <a:r>
              <a:rPr lang="en-US" dirty="0" smtClean="0"/>
              <a:t>		……				        </a:t>
            </a:r>
            <a:r>
              <a:rPr lang="en-US" dirty="0" smtClean="0">
                <a:solidFill>
                  <a:srgbClr val="C00000"/>
                </a:solidFill>
              </a:rPr>
              <a:t>…...</a:t>
            </a:r>
          </a:p>
          <a:p>
            <a:pPr>
              <a:buNone/>
            </a:pPr>
            <a:r>
              <a:rPr lang="en-US" dirty="0" smtClean="0"/>
              <a:t>	For last term			          </a:t>
            </a:r>
            <a:r>
              <a:rPr lang="en-US" dirty="0" smtClean="0">
                <a:solidFill>
                  <a:srgbClr val="C00000"/>
                </a:solidFill>
              </a:rPr>
              <a:t>2n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		1, 2, 3,…, n+1 are </a:t>
            </a:r>
            <a:r>
              <a:rPr lang="en-US" dirty="0" smtClean="0">
                <a:solidFill>
                  <a:srgbClr val="C00000"/>
                </a:solidFill>
              </a:rPr>
              <a:t>Numerators</a:t>
            </a:r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numerators</a:t>
            </a:r>
            <a:r>
              <a:rPr lang="en-US" dirty="0" smtClean="0"/>
              <a:t> forms an </a:t>
            </a:r>
            <a:r>
              <a:rPr lang="en-US" dirty="0" smtClean="0">
                <a:solidFill>
                  <a:srgbClr val="00B050"/>
                </a:solidFill>
              </a:rPr>
              <a:t>arithmetic sequence</a:t>
            </a:r>
          </a:p>
          <a:p>
            <a:pPr>
              <a:buNone/>
            </a:pPr>
            <a:r>
              <a:rPr lang="en-US" dirty="0" smtClean="0"/>
              <a:t>			  a = </a:t>
            </a:r>
            <a:r>
              <a:rPr lang="en-US" dirty="0" smtClean="0">
                <a:solidFill>
                  <a:srgbClr val="C00000"/>
                </a:solidFill>
              </a:rPr>
              <a:t>first term</a:t>
            </a:r>
            <a:r>
              <a:rPr lang="en-US" dirty="0" smtClean="0"/>
              <a:t> = 1</a:t>
            </a:r>
          </a:p>
          <a:p>
            <a:pPr>
              <a:buNone/>
            </a:pPr>
            <a:r>
              <a:rPr lang="en-US" dirty="0" smtClean="0"/>
              <a:t>		&amp;         d = </a:t>
            </a:r>
            <a:r>
              <a:rPr lang="en-US" dirty="0" smtClean="0">
                <a:solidFill>
                  <a:srgbClr val="C00000"/>
                </a:solidFill>
              </a:rPr>
              <a:t>common difference</a:t>
            </a:r>
            <a:r>
              <a:rPr lang="en-US" dirty="0" smtClean="0"/>
              <a:t> = 1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		 </a:t>
            </a:r>
            <a:r>
              <a:rPr lang="pt-BR" dirty="0" smtClean="0"/>
              <a:t>n, n+1, n+2, …, 2n are </a:t>
            </a:r>
            <a:r>
              <a:rPr lang="pt-BR" dirty="0" smtClean="0">
                <a:solidFill>
                  <a:srgbClr val="C00000"/>
                </a:solidFill>
              </a:rPr>
              <a:t>Denomenators</a:t>
            </a:r>
            <a:r>
              <a:rPr lang="pt-BR" dirty="0" smtClean="0"/>
              <a:t>.</a:t>
            </a:r>
            <a:endParaRPr lang="en-US" dirty="0" smtClean="0"/>
          </a:p>
          <a:p>
            <a:r>
              <a:rPr lang="en-US" dirty="0" smtClean="0"/>
              <a:t>Similarly, </a:t>
            </a:r>
            <a:r>
              <a:rPr lang="en-US" dirty="0" smtClean="0">
                <a:solidFill>
                  <a:srgbClr val="C00000"/>
                </a:solidFill>
              </a:rPr>
              <a:t>denominators</a:t>
            </a:r>
            <a:r>
              <a:rPr lang="en-US" dirty="0" smtClean="0"/>
              <a:t> forms an </a:t>
            </a:r>
            <a:r>
              <a:rPr lang="en-US" dirty="0" smtClean="0">
                <a:solidFill>
                  <a:srgbClr val="00B050"/>
                </a:solidFill>
              </a:rPr>
              <a:t>arithmetic sequence</a:t>
            </a:r>
            <a:r>
              <a:rPr lang="en-US" dirty="0" smtClean="0"/>
              <a:t>           </a:t>
            </a:r>
          </a:p>
          <a:p>
            <a:pPr>
              <a:buNone/>
            </a:pPr>
            <a:r>
              <a:rPr lang="en-US" dirty="0" smtClean="0"/>
              <a:t>			  a = </a:t>
            </a:r>
            <a:r>
              <a:rPr lang="en-US" dirty="0" smtClean="0">
                <a:solidFill>
                  <a:srgbClr val="C00000"/>
                </a:solidFill>
              </a:rPr>
              <a:t>first term</a:t>
            </a:r>
            <a:r>
              <a:rPr lang="en-US" dirty="0" smtClean="0"/>
              <a:t> = n</a:t>
            </a:r>
          </a:p>
          <a:p>
            <a:pPr>
              <a:buNone/>
            </a:pPr>
            <a:r>
              <a:rPr lang="en-US" dirty="0" smtClean="0"/>
              <a:t>	                   d = </a:t>
            </a:r>
            <a:r>
              <a:rPr lang="en-US" dirty="0" smtClean="0">
                <a:solidFill>
                  <a:srgbClr val="C00000"/>
                </a:solidFill>
              </a:rPr>
              <a:t>common difference</a:t>
            </a:r>
            <a:r>
              <a:rPr lang="en-US" dirty="0" smtClean="0"/>
              <a:t> = 1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For </a:t>
            </a:r>
            <a:r>
              <a:rPr lang="en-US" dirty="0" smtClean="0">
                <a:solidFill>
                  <a:srgbClr val="C00000"/>
                </a:solidFill>
              </a:rPr>
              <a:t>Numerator</a:t>
            </a:r>
            <a:r>
              <a:rPr lang="en-US" dirty="0" smtClean="0"/>
              <a:t> the </a:t>
            </a:r>
            <a:r>
              <a:rPr lang="en-US" dirty="0" err="1" smtClean="0">
                <a:solidFill>
                  <a:srgbClr val="C00000"/>
                </a:solidFill>
              </a:rPr>
              <a:t>k</a:t>
            </a:r>
            <a:r>
              <a:rPr lang="en-US" baseline="30000" dirty="0" err="1" smtClean="0">
                <a:solidFill>
                  <a:srgbClr val="C00000"/>
                </a:solidFill>
              </a:rPr>
              <a:t>th</a:t>
            </a:r>
            <a:r>
              <a:rPr lang="en-US" dirty="0" smtClean="0">
                <a:solidFill>
                  <a:srgbClr val="C00000"/>
                </a:solidFill>
              </a:rPr>
              <a:t> term</a:t>
            </a:r>
            <a:r>
              <a:rPr lang="en-US" dirty="0" smtClean="0"/>
              <a:t> will be:</a:t>
            </a:r>
          </a:p>
          <a:p>
            <a:pPr>
              <a:buNone/>
            </a:pPr>
            <a:r>
              <a:rPr lang="en-US" dirty="0" smtClean="0"/>
              <a:t>	 			</a:t>
            </a:r>
            <a:r>
              <a:rPr lang="en-US" dirty="0" err="1" smtClean="0">
                <a:solidFill>
                  <a:srgbClr val="C00000"/>
                </a:solidFill>
              </a:rPr>
              <a:t>a</a:t>
            </a:r>
            <a:r>
              <a:rPr lang="en-US" baseline="-25000" dirty="0" err="1" smtClean="0">
                <a:solidFill>
                  <a:srgbClr val="C00000"/>
                </a:solidFill>
              </a:rPr>
              <a:t>k</a:t>
            </a:r>
            <a:r>
              <a:rPr lang="en-US" dirty="0" smtClean="0">
                <a:solidFill>
                  <a:srgbClr val="C00000"/>
                </a:solidFill>
              </a:rPr>
              <a:t> = a + (k - 1)d</a:t>
            </a:r>
          </a:p>
          <a:p>
            <a:pPr>
              <a:buNone/>
            </a:pPr>
            <a:r>
              <a:rPr lang="en-US" dirty="0" smtClean="0"/>
              <a:t>				    = 1 + (k - 1) (1)</a:t>
            </a:r>
          </a:p>
          <a:p>
            <a:pPr>
              <a:buNone/>
            </a:pPr>
            <a:r>
              <a:rPr lang="en-US" dirty="0" smtClean="0"/>
              <a:t>				    = 1 + k - 1 </a:t>
            </a:r>
          </a:p>
          <a:p>
            <a:pPr>
              <a:buNone/>
            </a:pPr>
            <a:r>
              <a:rPr lang="en-US" dirty="0" smtClean="0"/>
              <a:t>				 </a:t>
            </a:r>
            <a:r>
              <a:rPr lang="en-US" dirty="0" err="1" smtClean="0"/>
              <a:t>a</a:t>
            </a:r>
            <a:r>
              <a:rPr lang="en-US" baseline="-25000" dirty="0" err="1" smtClean="0"/>
              <a:t>k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k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For </a:t>
            </a:r>
            <a:r>
              <a:rPr lang="en-US" dirty="0" smtClean="0">
                <a:solidFill>
                  <a:srgbClr val="C00000"/>
                </a:solidFill>
              </a:rPr>
              <a:t>Denominator</a:t>
            </a:r>
            <a:r>
              <a:rPr lang="en-US" dirty="0" smtClean="0"/>
              <a:t> the </a:t>
            </a:r>
            <a:r>
              <a:rPr lang="en-US" dirty="0" err="1" smtClean="0">
                <a:solidFill>
                  <a:srgbClr val="C00000"/>
                </a:solidFill>
              </a:rPr>
              <a:t>k</a:t>
            </a:r>
            <a:r>
              <a:rPr lang="en-US" baseline="30000" dirty="0" err="1" smtClean="0">
                <a:solidFill>
                  <a:srgbClr val="C00000"/>
                </a:solidFill>
              </a:rPr>
              <a:t>th</a:t>
            </a:r>
            <a:r>
              <a:rPr lang="en-US" dirty="0" smtClean="0">
                <a:solidFill>
                  <a:srgbClr val="C00000"/>
                </a:solidFill>
              </a:rPr>
              <a:t> term</a:t>
            </a:r>
            <a:r>
              <a:rPr lang="en-US" dirty="0" smtClean="0"/>
              <a:t> will be:</a:t>
            </a:r>
          </a:p>
          <a:p>
            <a:pPr>
              <a:buNone/>
            </a:pPr>
            <a:r>
              <a:rPr lang="en-US" dirty="0" smtClean="0"/>
              <a:t>				 </a:t>
            </a:r>
            <a:r>
              <a:rPr lang="en-US" dirty="0" err="1" smtClean="0">
                <a:solidFill>
                  <a:srgbClr val="C00000"/>
                </a:solidFill>
              </a:rPr>
              <a:t>a</a:t>
            </a:r>
            <a:r>
              <a:rPr lang="en-US" baseline="-25000" dirty="0" err="1" smtClean="0">
                <a:solidFill>
                  <a:srgbClr val="C00000"/>
                </a:solidFill>
              </a:rPr>
              <a:t>k</a:t>
            </a:r>
            <a:r>
              <a:rPr lang="en-US" dirty="0" smtClean="0">
                <a:solidFill>
                  <a:srgbClr val="C00000"/>
                </a:solidFill>
              </a:rPr>
              <a:t> = a + (k - 1)d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	     </a:t>
            </a:r>
            <a:r>
              <a:rPr lang="en-US" dirty="0" smtClean="0"/>
              <a:t>= n + (k - 1) (1)</a:t>
            </a:r>
          </a:p>
          <a:p>
            <a:pPr>
              <a:buNone/>
            </a:pPr>
            <a:r>
              <a:rPr lang="en-US" dirty="0" smtClean="0"/>
              <a:t>				 </a:t>
            </a:r>
            <a:r>
              <a:rPr lang="en-US" dirty="0" err="1" smtClean="0"/>
              <a:t>a</a:t>
            </a:r>
            <a:r>
              <a:rPr lang="en-US" baseline="-25000" dirty="0" err="1" smtClean="0"/>
              <a:t>k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k + n – 1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Hence the </a:t>
            </a:r>
            <a:r>
              <a:rPr lang="en-US" dirty="0" err="1" smtClean="0">
                <a:solidFill>
                  <a:srgbClr val="C00000"/>
                </a:solidFill>
              </a:rPr>
              <a:t>kth</a:t>
            </a:r>
            <a:r>
              <a:rPr lang="en-US" dirty="0" smtClean="0">
                <a:solidFill>
                  <a:srgbClr val="C00000"/>
                </a:solidFill>
              </a:rPr>
              <a:t> term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series</a:t>
            </a:r>
            <a:r>
              <a:rPr lang="en-US" dirty="0" smtClean="0"/>
              <a:t> is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And the </a:t>
            </a:r>
            <a:r>
              <a:rPr lang="en-US" dirty="0" smtClean="0">
                <a:solidFill>
                  <a:srgbClr val="C00000"/>
                </a:solidFill>
              </a:rPr>
              <a:t>expression</a:t>
            </a:r>
            <a:r>
              <a:rPr lang="en-US" dirty="0" smtClean="0"/>
              <a:t> for the series is given by 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29027" name="Object 3"/>
          <p:cNvGraphicFramePr>
            <a:graphicFrameLocks noChangeAspect="1"/>
          </p:cNvGraphicFramePr>
          <p:nvPr/>
        </p:nvGraphicFramePr>
        <p:xfrm>
          <a:off x="3733800" y="1676400"/>
          <a:ext cx="1295400" cy="838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39" r:id="rId3" imgW="647640" imgH="419040" progId="">
                  <p:embed/>
                </p:oleObj>
              </mc:Choice>
              <mc:Fallback>
                <p:oleObj r:id="rId3" imgW="647640" imgH="4190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676400"/>
                        <a:ext cx="1295400" cy="8382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28" name="Object 4"/>
          <p:cNvGraphicFramePr>
            <a:graphicFrameLocks noChangeAspect="1"/>
          </p:cNvGraphicFramePr>
          <p:nvPr/>
        </p:nvGraphicFramePr>
        <p:xfrm>
          <a:off x="1600201" y="3200400"/>
          <a:ext cx="6400799" cy="962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40" r:id="rId5" imgW="2869920" imgH="431640" progId="">
                  <p:embed/>
                </p:oleObj>
              </mc:Choice>
              <mc:Fallback>
                <p:oleObj r:id="rId5" imgW="2869920" imgH="43164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1" y="3200400"/>
                        <a:ext cx="6400799" cy="9629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29" name="Object 5"/>
          <p:cNvGraphicFramePr>
            <a:graphicFrameLocks noChangeAspect="1"/>
          </p:cNvGraphicFramePr>
          <p:nvPr/>
        </p:nvGraphicFramePr>
        <p:xfrm>
          <a:off x="5989320" y="4191000"/>
          <a:ext cx="163068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41" r:id="rId7" imgW="672840" imgH="431640" progId="">
                  <p:embed/>
                </p:oleObj>
              </mc:Choice>
              <mc:Fallback>
                <p:oleObj r:id="rId7" imgW="672840" imgH="43164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9320" y="4191000"/>
                        <a:ext cx="163068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9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9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REMARK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pPr>
              <a:buNone/>
            </a:pPr>
            <a:r>
              <a:rPr lang="en-US" dirty="0" smtClean="0"/>
              <a:t>	Consider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And 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Hence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The </a:t>
            </a:r>
            <a:r>
              <a:rPr lang="en-US" dirty="0" smtClean="0">
                <a:solidFill>
                  <a:srgbClr val="C00000"/>
                </a:solidFill>
              </a:rPr>
              <a:t>index</a:t>
            </a:r>
            <a:r>
              <a:rPr lang="en-US" dirty="0" smtClean="0"/>
              <a:t> of a summation can be replaced by any  other symbol. The index of a summation is therefore  called a </a:t>
            </a:r>
            <a:r>
              <a:rPr lang="en-US" dirty="0" smtClean="0">
                <a:solidFill>
                  <a:srgbClr val="C00000"/>
                </a:solidFill>
              </a:rPr>
              <a:t>dummy variable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133122" name="Object 2"/>
          <p:cNvGraphicFramePr>
            <a:graphicFrameLocks noChangeAspect="1"/>
          </p:cNvGraphicFramePr>
          <p:nvPr/>
        </p:nvGraphicFramePr>
        <p:xfrm>
          <a:off x="2171699" y="1472942"/>
          <a:ext cx="3467101" cy="916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4" r:id="rId3" imgW="1168200" imgH="431640" progId="">
                  <p:embed/>
                </p:oleObj>
              </mc:Choice>
              <mc:Fallback>
                <p:oleObj r:id="rId3" imgW="1168200" imgH="4316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699" y="1472942"/>
                        <a:ext cx="3467101" cy="91629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3" name="Object 3"/>
          <p:cNvGraphicFramePr>
            <a:graphicFrameLocks noChangeAspect="1"/>
          </p:cNvGraphicFramePr>
          <p:nvPr/>
        </p:nvGraphicFramePr>
        <p:xfrm>
          <a:off x="2171699" y="2357737"/>
          <a:ext cx="3467101" cy="95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5" r:id="rId5" imgW="1130040" imgH="431640" progId="">
                  <p:embed/>
                </p:oleObj>
              </mc:Choice>
              <mc:Fallback>
                <p:oleObj r:id="rId5" imgW="1130040" imgH="4316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699" y="2357737"/>
                        <a:ext cx="3467101" cy="955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24" name="Object 4"/>
          <p:cNvGraphicFramePr>
            <a:graphicFrameLocks noChangeAspect="1"/>
          </p:cNvGraphicFramePr>
          <p:nvPr/>
        </p:nvGraphicFramePr>
        <p:xfrm>
          <a:off x="2209800" y="3352800"/>
          <a:ext cx="2897403" cy="961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6" r:id="rId7" imgW="812520" imgH="431640" progId="">
                  <p:embed/>
                </p:oleObj>
              </mc:Choice>
              <mc:Fallback>
                <p:oleObj r:id="rId7" imgW="812520" imgH="43164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352800"/>
                        <a:ext cx="2897403" cy="9611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Simplify the variables in summation as simplified as possible.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Consider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If we put </a:t>
            </a:r>
            <a:r>
              <a:rPr lang="en-US" dirty="0" smtClean="0">
                <a:solidFill>
                  <a:srgbClr val="C00000"/>
                </a:solidFill>
              </a:rPr>
              <a:t>k = j + 1</a:t>
            </a:r>
            <a:r>
              <a:rPr lang="en-US" dirty="0" smtClean="0"/>
              <a:t> then the </a:t>
            </a:r>
            <a:r>
              <a:rPr lang="en-US" dirty="0" smtClean="0">
                <a:solidFill>
                  <a:srgbClr val="C00000"/>
                </a:solidFill>
              </a:rPr>
              <a:t>denominator</a:t>
            </a:r>
            <a:r>
              <a:rPr lang="en-US" dirty="0" smtClean="0"/>
              <a:t> simplifies.</a:t>
            </a:r>
          </a:p>
          <a:p>
            <a:pPr>
              <a:buNone/>
            </a:pPr>
            <a:r>
              <a:rPr lang="en-US" dirty="0" smtClean="0"/>
              <a:t>	Substituting </a:t>
            </a:r>
            <a:r>
              <a:rPr lang="en-US" dirty="0" smtClean="0">
                <a:solidFill>
                  <a:srgbClr val="C00000"/>
                </a:solidFill>
              </a:rPr>
              <a:t>k = j + 1</a:t>
            </a:r>
            <a:r>
              <a:rPr lang="en-US" dirty="0" smtClean="0"/>
              <a:t> so that </a:t>
            </a:r>
            <a:r>
              <a:rPr lang="en-US" dirty="0" smtClean="0">
                <a:solidFill>
                  <a:srgbClr val="C00000"/>
                </a:solidFill>
              </a:rPr>
              <a:t>j = k – 1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When </a:t>
            </a:r>
            <a:r>
              <a:rPr lang="en-US" dirty="0" smtClean="0">
                <a:solidFill>
                  <a:srgbClr val="C00000"/>
                </a:solidFill>
              </a:rPr>
              <a:t>k = 1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j = k - 1 = 1 - 1 = 0</a:t>
            </a:r>
          </a:p>
          <a:p>
            <a:pPr>
              <a:buNone/>
            </a:pPr>
            <a:r>
              <a:rPr lang="en-US" dirty="0" smtClean="0"/>
              <a:t>	When </a:t>
            </a:r>
            <a:r>
              <a:rPr lang="en-US" dirty="0" smtClean="0">
                <a:solidFill>
                  <a:srgbClr val="C00000"/>
                </a:solidFill>
              </a:rPr>
              <a:t>k = n + 1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j = k - 1 = (n + 1) - 1 = n</a:t>
            </a:r>
          </a:p>
          <a:p>
            <a:pPr>
              <a:buNone/>
            </a:pPr>
            <a:r>
              <a:rPr lang="en-US" dirty="0" smtClean="0"/>
              <a:t>	When </a:t>
            </a:r>
            <a:r>
              <a:rPr lang="en-US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varies from </a:t>
            </a:r>
            <a:r>
              <a:rPr lang="en-US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C00000"/>
                </a:solidFill>
              </a:rPr>
              <a:t>n + 1</a:t>
            </a:r>
            <a:r>
              <a:rPr lang="en-US" dirty="0" smtClean="0"/>
              <a:t> then </a:t>
            </a:r>
            <a:r>
              <a:rPr lang="en-US" dirty="0" smtClean="0">
                <a:solidFill>
                  <a:srgbClr val="C00000"/>
                </a:solidFill>
              </a:rPr>
              <a:t>j</a:t>
            </a:r>
            <a:r>
              <a:rPr lang="en-US" dirty="0" smtClean="0"/>
              <a:t> varies from </a:t>
            </a:r>
            <a:r>
              <a:rPr lang="en-US" dirty="0" smtClean="0">
                <a:solidFill>
                  <a:srgbClr val="C00000"/>
                </a:solidFill>
              </a:rPr>
              <a:t>0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graphicFrame>
        <p:nvGraphicFramePr>
          <p:cNvPr id="134146" name="Object 2"/>
          <p:cNvGraphicFramePr>
            <a:graphicFrameLocks noChangeAspect="1"/>
          </p:cNvGraphicFramePr>
          <p:nvPr/>
        </p:nvGraphicFramePr>
        <p:xfrm>
          <a:off x="2158188" y="1836180"/>
          <a:ext cx="2286000" cy="846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50" r:id="rId3" imgW="838080" imgH="431640" progId="">
                  <p:embed/>
                </p:oleObj>
              </mc:Choice>
              <mc:Fallback>
                <p:oleObj r:id="rId3" imgW="838080" imgH="4316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8188" y="1836180"/>
                        <a:ext cx="2286000" cy="84666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4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tabLst>
                <a:tab pos="1887538" algn="l"/>
              </a:tabLst>
            </a:pPr>
            <a:r>
              <a:rPr lang="en-US" dirty="0" smtClean="0"/>
              <a:t>We put </a:t>
            </a:r>
            <a:r>
              <a:rPr lang="en-US" dirty="0" smtClean="0">
                <a:solidFill>
                  <a:srgbClr val="C00000"/>
                </a:solidFill>
              </a:rPr>
              <a:t>j</a:t>
            </a:r>
            <a:r>
              <a:rPr lang="en-US" dirty="0" smtClean="0"/>
              <a:t> instead of </a:t>
            </a:r>
            <a:r>
              <a:rPr lang="en-US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summation</a:t>
            </a:r>
            <a:r>
              <a:rPr lang="en-US" dirty="0" smtClean="0"/>
              <a:t> becomes:</a:t>
            </a:r>
            <a:endParaRPr lang="en-US" dirty="0"/>
          </a:p>
        </p:txBody>
      </p:sp>
      <p:graphicFrame>
        <p:nvGraphicFramePr>
          <p:cNvPr id="135170" name="Object 2"/>
          <p:cNvGraphicFramePr>
            <a:graphicFrameLocks noChangeAspect="1"/>
          </p:cNvGraphicFramePr>
          <p:nvPr/>
        </p:nvGraphicFramePr>
        <p:xfrm>
          <a:off x="2332704" y="1752600"/>
          <a:ext cx="4587241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78" r:id="rId3" imgW="2145960" imgH="444240" progId="">
                  <p:embed/>
                </p:oleObj>
              </mc:Choice>
              <mc:Fallback>
                <p:oleObj r:id="rId3" imgW="2145960" imgH="4442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704" y="1752600"/>
                        <a:ext cx="4587241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1" name="Object 3"/>
          <p:cNvGraphicFramePr>
            <a:graphicFrameLocks noChangeAspect="1"/>
          </p:cNvGraphicFramePr>
          <p:nvPr/>
        </p:nvGraphicFramePr>
        <p:xfrm>
          <a:off x="2831688" y="2819400"/>
          <a:ext cx="5355771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79" r:id="rId5" imgW="2603160" imgH="444240" progId="">
                  <p:embed/>
                </p:oleObj>
              </mc:Choice>
              <mc:Fallback>
                <p:oleObj r:id="rId5" imgW="2603160" imgH="4442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1688" y="2819400"/>
                        <a:ext cx="5355771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5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Transform</a:t>
            </a:r>
            <a:r>
              <a:rPr lang="en-US" dirty="0" smtClean="0"/>
              <a:t> by making the change of </a:t>
            </a:r>
            <a:r>
              <a:rPr lang="en-US" dirty="0" smtClean="0">
                <a:solidFill>
                  <a:srgbClr val="C00000"/>
                </a:solidFill>
              </a:rPr>
              <a:t>variable j = </a:t>
            </a:r>
            <a:r>
              <a:rPr lang="en-US" dirty="0" err="1" smtClean="0">
                <a:solidFill>
                  <a:srgbClr val="C00000"/>
                </a:solidFill>
              </a:rPr>
              <a:t>i</a:t>
            </a:r>
            <a:r>
              <a:rPr lang="en-US" dirty="0" smtClean="0">
                <a:solidFill>
                  <a:srgbClr val="C00000"/>
                </a:solidFill>
              </a:rPr>
              <a:t> - 1</a:t>
            </a:r>
            <a:r>
              <a:rPr lang="en-US" dirty="0" smtClean="0"/>
              <a:t>, in the </a:t>
            </a:r>
            <a:r>
              <a:rPr lang="en-US" dirty="0" smtClean="0">
                <a:solidFill>
                  <a:srgbClr val="C00000"/>
                </a:solidFill>
              </a:rPr>
              <a:t>summation: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  <p:graphicFrame>
        <p:nvGraphicFramePr>
          <p:cNvPr id="136194" name="Object 2"/>
          <p:cNvGraphicFramePr>
            <a:graphicFrameLocks noChangeAspect="1"/>
          </p:cNvGraphicFramePr>
          <p:nvPr/>
        </p:nvGraphicFramePr>
        <p:xfrm>
          <a:off x="3733800" y="2362199"/>
          <a:ext cx="1587501" cy="762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198" r:id="rId3" imgW="672840" imgH="431640" progId="">
                  <p:embed/>
                </p:oleObj>
              </mc:Choice>
              <mc:Fallback>
                <p:oleObj r:id="rId3" imgW="672840" imgH="4316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362199"/>
                        <a:ext cx="1587501" cy="7620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19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37219" name="Object 3"/>
          <p:cNvGraphicFramePr>
            <a:graphicFrameLocks noChangeAspect="1"/>
          </p:cNvGraphicFramePr>
          <p:nvPr/>
        </p:nvGraphicFramePr>
        <p:xfrm>
          <a:off x="2057400" y="1605108"/>
          <a:ext cx="5503862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23" r:id="rId3" imgW="2247900" imgH="2044700" progId="">
                  <p:embed/>
                </p:oleObj>
              </mc:Choice>
              <mc:Fallback>
                <p:oleObj r:id="rId3" imgW="2247900" imgH="20447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605108"/>
                        <a:ext cx="5503862" cy="381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PROPERTIES OF SUMMATIONS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138242" name="Object 2"/>
          <p:cNvGraphicFramePr>
            <a:graphicFrameLocks noChangeAspect="1"/>
          </p:cNvGraphicFramePr>
          <p:nvPr/>
        </p:nvGraphicFramePr>
        <p:xfrm>
          <a:off x="1091376" y="1147920"/>
          <a:ext cx="5962146" cy="909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62" r:id="rId3" imgW="2679480" imgH="431640" progId="">
                  <p:embed/>
                </p:oleObj>
              </mc:Choice>
              <mc:Fallback>
                <p:oleObj r:id="rId3" imgW="2679480" imgH="4316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1376" y="1147920"/>
                        <a:ext cx="5962146" cy="909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3" name="Object 3"/>
          <p:cNvGraphicFramePr>
            <a:graphicFrameLocks noChangeAspect="1"/>
          </p:cNvGraphicFramePr>
          <p:nvPr/>
        </p:nvGraphicFramePr>
        <p:xfrm>
          <a:off x="1063847" y="2057400"/>
          <a:ext cx="5577841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63" r:id="rId5" imgW="2539800" imgH="431640" progId="">
                  <p:embed/>
                </p:oleObj>
              </mc:Choice>
              <mc:Fallback>
                <p:oleObj r:id="rId5" imgW="2539800" imgH="4316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847" y="2057400"/>
                        <a:ext cx="5577841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4" name="Object 4"/>
          <p:cNvGraphicFramePr>
            <a:graphicFrameLocks noChangeAspect="1"/>
          </p:cNvGraphicFramePr>
          <p:nvPr/>
        </p:nvGraphicFramePr>
        <p:xfrm>
          <a:off x="1049592" y="3046363"/>
          <a:ext cx="5248275" cy="965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64" r:id="rId7" imgW="2184120" imgH="431640" progId="">
                  <p:embed/>
                </p:oleObj>
              </mc:Choice>
              <mc:Fallback>
                <p:oleObj r:id="rId7" imgW="2184120" imgH="43164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9592" y="3046363"/>
                        <a:ext cx="5248275" cy="9652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5" name="Object 5"/>
          <p:cNvGraphicFramePr>
            <a:graphicFrameLocks noChangeAspect="1"/>
          </p:cNvGraphicFramePr>
          <p:nvPr/>
        </p:nvGraphicFramePr>
        <p:xfrm>
          <a:off x="1042223" y="4009104"/>
          <a:ext cx="4904509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65" r:id="rId9" imgW="1981080" imgH="431640" progId="">
                  <p:embed/>
                </p:oleObj>
              </mc:Choice>
              <mc:Fallback>
                <p:oleObj r:id="rId9" imgW="1981080" imgH="43164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223" y="4009104"/>
                        <a:ext cx="4904509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6" name="Object 6"/>
          <p:cNvGraphicFramePr>
            <a:graphicFrameLocks noChangeAspect="1"/>
          </p:cNvGraphicFramePr>
          <p:nvPr/>
        </p:nvGraphicFramePr>
        <p:xfrm>
          <a:off x="1073366" y="4998068"/>
          <a:ext cx="4184434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66" r:id="rId11" imgW="1739880" imgH="431640" progId="">
                  <p:embed/>
                </p:oleObj>
              </mc:Choice>
              <mc:Fallback>
                <p:oleObj r:id="rId11" imgW="1739880" imgH="43164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366" y="4998068"/>
                        <a:ext cx="4184434" cy="889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Express</a:t>
            </a:r>
            <a:r>
              <a:rPr lang="en-US" dirty="0" smtClean="0"/>
              <a:t> the following </a:t>
            </a:r>
            <a:r>
              <a:rPr lang="en-US" dirty="0" smtClean="0">
                <a:solidFill>
                  <a:srgbClr val="C00000"/>
                </a:solidFill>
              </a:rPr>
              <a:t>summation</a:t>
            </a:r>
            <a:r>
              <a:rPr lang="en-US" dirty="0" smtClean="0"/>
              <a:t> more </a:t>
            </a:r>
            <a:r>
              <a:rPr lang="en-US" dirty="0" smtClean="0">
                <a:solidFill>
                  <a:srgbClr val="C00000"/>
                </a:solidFill>
              </a:rPr>
              <a:t>simply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endParaRPr lang="en-US" b="1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SOLUTION:</a:t>
            </a:r>
          </a:p>
          <a:p>
            <a:endParaRPr lang="en-US" dirty="0"/>
          </a:p>
        </p:txBody>
      </p:sp>
      <p:sp>
        <p:nvSpPr>
          <p:cNvPr id="1392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926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3154091"/>
              </p:ext>
            </p:extLst>
          </p:nvPr>
        </p:nvGraphicFramePr>
        <p:xfrm>
          <a:off x="2438400" y="1836473"/>
          <a:ext cx="3057527" cy="792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75" r:id="rId3" imgW="1536700" imgH="431800" progId="">
                  <p:embed/>
                </p:oleObj>
              </mc:Choice>
              <mc:Fallback>
                <p:oleObj r:id="rId3" imgW="1536700" imgH="431800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836473"/>
                        <a:ext cx="3057527" cy="7926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68" name="Object 4"/>
          <p:cNvGraphicFramePr>
            <a:graphicFrameLocks noChangeAspect="1"/>
          </p:cNvGraphicFramePr>
          <p:nvPr/>
        </p:nvGraphicFramePr>
        <p:xfrm>
          <a:off x="3138948" y="3246437"/>
          <a:ext cx="305752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76" r:id="rId5" imgW="1536700" imgH="431800" progId="">
                  <p:embed/>
                </p:oleObj>
              </mc:Choice>
              <mc:Fallback>
                <p:oleObj r:id="rId5" imgW="1536700" imgH="43180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948" y="3246437"/>
                        <a:ext cx="3057525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9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140290" name="Object 2"/>
          <p:cNvGraphicFramePr>
            <a:graphicFrameLocks noChangeAspect="1"/>
          </p:cNvGraphicFramePr>
          <p:nvPr/>
        </p:nvGraphicFramePr>
        <p:xfrm>
          <a:off x="76200" y="1143000"/>
          <a:ext cx="7051729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298" r:id="rId3" imgW="3111480" imgH="2552400" progId="">
                  <p:embed/>
                </p:oleObj>
              </mc:Choice>
              <mc:Fallback>
                <p:oleObj r:id="rId3" imgW="3111480" imgH="25524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143000"/>
                        <a:ext cx="7051729" cy="457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2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40291" name="Object 3"/>
          <p:cNvGraphicFramePr>
            <a:graphicFrameLocks noChangeAspect="1"/>
          </p:cNvGraphicFramePr>
          <p:nvPr/>
        </p:nvGraphicFramePr>
        <p:xfrm>
          <a:off x="3143676" y="5240592"/>
          <a:ext cx="1826532" cy="838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299" r:id="rId5" imgW="736600" imgH="431800" progId="">
                  <p:embed/>
                </p:oleObj>
              </mc:Choice>
              <mc:Fallback>
                <p:oleObj r:id="rId5" imgW="736600" imgH="4318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676" y="5240592"/>
                        <a:ext cx="1826532" cy="8382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0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0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ARITHMETIC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sum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terms</a:t>
            </a:r>
            <a:r>
              <a:rPr lang="en-US" dirty="0" smtClean="0"/>
              <a:t> of an </a:t>
            </a:r>
            <a:r>
              <a:rPr lang="en-US" dirty="0" smtClean="0">
                <a:solidFill>
                  <a:srgbClr val="C00000"/>
                </a:solidFill>
              </a:rPr>
              <a:t>arithmetic sequence</a:t>
            </a:r>
            <a:r>
              <a:rPr lang="en-US" dirty="0" smtClean="0"/>
              <a:t> forms an </a:t>
            </a:r>
            <a:r>
              <a:rPr lang="en-US" dirty="0" smtClean="0">
                <a:solidFill>
                  <a:srgbClr val="C00000"/>
                </a:solidFill>
              </a:rPr>
              <a:t>arithmetic series </a:t>
            </a:r>
            <a:r>
              <a:rPr lang="en-US" dirty="0" smtClean="0"/>
              <a:t>(</a:t>
            </a:r>
            <a:r>
              <a:rPr lang="en-US" dirty="0" smtClean="0">
                <a:solidFill>
                  <a:srgbClr val="C00000"/>
                </a:solidFill>
              </a:rPr>
              <a:t>A.S</a:t>
            </a:r>
            <a:r>
              <a:rPr lang="en-US" dirty="0" smtClean="0"/>
              <a:t>).</a:t>
            </a:r>
          </a:p>
          <a:p>
            <a:r>
              <a:rPr lang="en-US" dirty="0" smtClean="0"/>
              <a:t>For example: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Arithmetic sequence</a:t>
            </a:r>
            <a:r>
              <a:rPr lang="en-US" dirty="0" smtClean="0"/>
              <a:t> is    1 , 3 , 5 , 7 ,  …</a:t>
            </a:r>
          </a:p>
          <a:p>
            <a:pPr>
              <a:buNone/>
            </a:pPr>
            <a:r>
              <a:rPr lang="en-US" dirty="0" smtClean="0"/>
              <a:t>		Then</a:t>
            </a:r>
          </a:p>
          <a:p>
            <a:pPr>
              <a:buNone/>
            </a:pPr>
            <a:r>
              <a:rPr lang="en-US" dirty="0" smtClean="0"/>
              <a:t>				1 + 3 + 5 + 7 + …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is an </a:t>
            </a:r>
            <a:r>
              <a:rPr lang="en-US" dirty="0" smtClean="0">
                <a:solidFill>
                  <a:srgbClr val="C00000"/>
                </a:solidFill>
              </a:rPr>
              <a:t>arithmetic series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positive odd</a:t>
            </a:r>
            <a:r>
              <a:rPr lang="en-US" dirty="0" smtClean="0"/>
              <a:t> integers.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 general, if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is the </a:t>
            </a:r>
            <a:r>
              <a:rPr lang="en-US" dirty="0" smtClean="0">
                <a:solidFill>
                  <a:srgbClr val="C00000"/>
                </a:solidFill>
              </a:rPr>
              <a:t>first term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d</a:t>
            </a:r>
            <a:r>
              <a:rPr lang="en-US" dirty="0" smtClean="0"/>
              <a:t> the </a:t>
            </a:r>
            <a:r>
              <a:rPr lang="en-US" dirty="0" smtClean="0">
                <a:solidFill>
                  <a:srgbClr val="C00000"/>
                </a:solidFill>
              </a:rPr>
              <a:t>common difference</a:t>
            </a:r>
            <a:r>
              <a:rPr lang="en-US" dirty="0" smtClean="0"/>
              <a:t> of an </a:t>
            </a:r>
            <a:r>
              <a:rPr lang="en-US" dirty="0" smtClean="0">
                <a:solidFill>
                  <a:srgbClr val="C00000"/>
                </a:solidFill>
              </a:rPr>
              <a:t>arithmetic series</a:t>
            </a:r>
            <a:r>
              <a:rPr lang="en-US" dirty="0" smtClean="0"/>
              <a:t>, then the series is given as: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a + (</a:t>
            </a:r>
            <a:r>
              <a:rPr lang="en-US" dirty="0" err="1" smtClean="0">
                <a:solidFill>
                  <a:srgbClr val="C00000"/>
                </a:solidFill>
              </a:rPr>
              <a:t>a+d</a:t>
            </a:r>
            <a:r>
              <a:rPr lang="en-US" dirty="0" smtClean="0">
                <a:solidFill>
                  <a:srgbClr val="C00000"/>
                </a:solidFill>
              </a:rPr>
              <a:t>) + (a+2d) +…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458200" cy="990600"/>
          </a:xfrm>
        </p:spPr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SUM OF </a:t>
            </a:r>
            <a:r>
              <a:rPr lang="en-US" b="1" u="sng" dirty="0" smtClean="0">
                <a:solidFill>
                  <a:srgbClr val="FFC000"/>
                </a:solidFill>
              </a:rPr>
              <a:t>n</a:t>
            </a:r>
            <a:r>
              <a:rPr lang="en-US" b="1" u="sng" dirty="0" smtClean="0">
                <a:solidFill>
                  <a:srgbClr val="0070C0"/>
                </a:solidFill>
              </a:rPr>
              <a:t> TERMS OF AN ARITHMETIC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be the </a:t>
            </a:r>
            <a:r>
              <a:rPr lang="en-US" dirty="0" smtClean="0">
                <a:solidFill>
                  <a:srgbClr val="C00000"/>
                </a:solidFill>
              </a:rPr>
              <a:t>first term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d</a:t>
            </a:r>
            <a:r>
              <a:rPr lang="en-US" dirty="0" smtClean="0"/>
              <a:t> be the </a:t>
            </a:r>
            <a:r>
              <a:rPr lang="en-US" dirty="0" smtClean="0">
                <a:solidFill>
                  <a:srgbClr val="C00000"/>
                </a:solidFill>
              </a:rPr>
              <a:t>common difference</a:t>
            </a:r>
            <a:r>
              <a:rPr lang="en-US" dirty="0" smtClean="0"/>
              <a:t> of an </a:t>
            </a:r>
            <a:r>
              <a:rPr lang="en-US" dirty="0" smtClean="0">
                <a:solidFill>
                  <a:srgbClr val="C00000"/>
                </a:solidFill>
              </a:rPr>
              <a:t>arithmetic series</a:t>
            </a:r>
            <a:r>
              <a:rPr lang="en-US" dirty="0" smtClean="0"/>
              <a:t>. Then its </a:t>
            </a:r>
            <a:r>
              <a:rPr lang="en-US" dirty="0" smtClean="0">
                <a:solidFill>
                  <a:srgbClr val="C00000"/>
                </a:solidFill>
              </a:rPr>
              <a:t>nth term</a:t>
            </a:r>
            <a:r>
              <a:rPr lang="en-US" dirty="0" smtClean="0"/>
              <a:t> is:</a:t>
            </a:r>
          </a:p>
          <a:p>
            <a:pPr>
              <a:buNone/>
            </a:pPr>
            <a:r>
              <a:rPr lang="en-US" dirty="0" smtClean="0"/>
              <a:t>				a</a:t>
            </a:r>
            <a:r>
              <a:rPr lang="en-US" baseline="-25000" dirty="0" smtClean="0"/>
              <a:t>n</a:t>
            </a:r>
            <a:r>
              <a:rPr lang="en-US" dirty="0" smtClean="0"/>
              <a:t> = a + (n - 1)d;	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1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If </a:t>
            </a:r>
            <a:r>
              <a:rPr lang="en-US" dirty="0" err="1" smtClean="0"/>
              <a:t>S</a:t>
            </a:r>
            <a:r>
              <a:rPr lang="en-US" baseline="-25000" dirty="0" err="1" smtClean="0"/>
              <a:t>n</a:t>
            </a:r>
            <a:r>
              <a:rPr lang="en-US" dirty="0" smtClean="0"/>
              <a:t> denotes the sum of first n terms of the A.S, then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pt-BR" dirty="0" smtClean="0"/>
              <a:t>S</a:t>
            </a:r>
            <a:r>
              <a:rPr lang="pt-BR" baseline="-25000" dirty="0" smtClean="0"/>
              <a:t>n</a:t>
            </a:r>
            <a:r>
              <a:rPr lang="pt-BR" dirty="0" smtClean="0"/>
              <a:t> =  a + (a + d) + (a + 2d) + … + [a + (n-1) d]</a:t>
            </a:r>
          </a:p>
          <a:p>
            <a:pPr>
              <a:buNone/>
            </a:pPr>
            <a:r>
              <a:rPr lang="pt-BR" dirty="0" smtClean="0"/>
              <a:t>		    =  a + (a+d) + (a + 2d) + … + a</a:t>
            </a:r>
            <a:r>
              <a:rPr lang="pt-BR" baseline="-25000" dirty="0" smtClean="0"/>
              <a:t>n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    Where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a + (n - 1)d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   </a:t>
            </a:r>
            <a:r>
              <a:rPr lang="pt-BR" dirty="0" smtClean="0"/>
              <a:t> =  a + (a+d) + (a + 2d) + … </a:t>
            </a:r>
            <a:r>
              <a:rPr lang="en-US" dirty="0" smtClean="0"/>
              <a:t>+ (a</a:t>
            </a:r>
            <a:r>
              <a:rPr lang="en-US" baseline="-25000" dirty="0" smtClean="0"/>
              <a:t>n</a:t>
            </a:r>
            <a:r>
              <a:rPr lang="en-US" dirty="0" smtClean="0"/>
              <a:t> - d) + a</a:t>
            </a:r>
            <a:r>
              <a:rPr lang="en-US" baseline="-25000" dirty="0" smtClean="0"/>
              <a:t>n</a:t>
            </a:r>
            <a:r>
              <a:rPr lang="en-US" dirty="0" smtClean="0"/>
              <a:t> …(1)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Rewriting the terms in the </a:t>
            </a:r>
            <a:r>
              <a:rPr lang="en-US" dirty="0" smtClean="0">
                <a:solidFill>
                  <a:srgbClr val="C00000"/>
                </a:solidFill>
              </a:rPr>
              <a:t>series</a:t>
            </a:r>
            <a:r>
              <a:rPr lang="en-US" dirty="0" smtClean="0"/>
              <a:t> in </a:t>
            </a:r>
            <a:r>
              <a:rPr lang="en-US" dirty="0" smtClean="0">
                <a:solidFill>
                  <a:srgbClr val="C00000"/>
                </a:solidFill>
              </a:rPr>
              <a:t>reverse order.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pt-BR" dirty="0" smtClean="0"/>
              <a:t> S</a:t>
            </a:r>
            <a:r>
              <a:rPr lang="pt-BR" baseline="-25000" dirty="0" smtClean="0"/>
              <a:t>n </a:t>
            </a:r>
            <a:r>
              <a:rPr lang="en-US" dirty="0" smtClean="0"/>
              <a:t>= a</a:t>
            </a:r>
            <a:r>
              <a:rPr lang="en-US" baseline="-25000" dirty="0" smtClean="0"/>
              <a:t>n</a:t>
            </a:r>
            <a:r>
              <a:rPr lang="en-US" dirty="0" smtClean="0"/>
              <a:t> + (a</a:t>
            </a:r>
            <a:r>
              <a:rPr lang="en-US" baseline="-25000" dirty="0" smtClean="0"/>
              <a:t>n</a:t>
            </a:r>
            <a:r>
              <a:rPr lang="en-US" dirty="0" smtClean="0"/>
              <a:t> - d) + (a</a:t>
            </a:r>
            <a:r>
              <a:rPr lang="en-US" baseline="-25000" dirty="0" smtClean="0"/>
              <a:t>n</a:t>
            </a:r>
            <a:r>
              <a:rPr lang="en-US" dirty="0" smtClean="0"/>
              <a:t> - 2d) + … + (a + d) + a ……….(2)</a:t>
            </a:r>
          </a:p>
          <a:p>
            <a:pPr>
              <a:buNone/>
            </a:pPr>
            <a:r>
              <a:rPr lang="en-US" dirty="0" smtClean="0"/>
              <a:t>	 Adding (1) and (2) term by term, gives</a:t>
            </a:r>
          </a:p>
          <a:p>
            <a:pPr>
              <a:buNone/>
            </a:pPr>
            <a:r>
              <a:rPr lang="en-US" dirty="0" smtClean="0"/>
              <a:t>	 2S</a:t>
            </a:r>
            <a:r>
              <a:rPr lang="en-US" baseline="-25000" dirty="0" smtClean="0"/>
              <a:t>n</a:t>
            </a:r>
            <a:r>
              <a:rPr lang="en-US" dirty="0" smtClean="0"/>
              <a:t>	= (a + a</a:t>
            </a:r>
            <a:r>
              <a:rPr lang="en-US" baseline="-25000" dirty="0" smtClean="0"/>
              <a:t>n</a:t>
            </a:r>
            <a:r>
              <a:rPr lang="en-US" dirty="0" smtClean="0"/>
              <a:t>) + (a + a</a:t>
            </a:r>
            <a:r>
              <a:rPr lang="en-US" baseline="-25000" dirty="0" smtClean="0"/>
              <a:t>n</a:t>
            </a:r>
            <a:r>
              <a:rPr lang="en-US" dirty="0" smtClean="0"/>
              <a:t>) + (a + a</a:t>
            </a:r>
            <a:r>
              <a:rPr lang="en-US" baseline="-25000" dirty="0" smtClean="0"/>
              <a:t>n</a:t>
            </a:r>
            <a:r>
              <a:rPr lang="en-US" dirty="0" smtClean="0"/>
              <a:t>) + … + (a + a</a:t>
            </a:r>
            <a:r>
              <a:rPr lang="en-US" baseline="-25000" dirty="0" smtClean="0"/>
              <a:t>n</a:t>
            </a:r>
            <a:r>
              <a:rPr lang="en-US" dirty="0" smtClean="0"/>
              <a:t>)       </a:t>
            </a:r>
          </a:p>
          <a:p>
            <a:pPr>
              <a:buNone/>
            </a:pPr>
            <a:r>
              <a:rPr lang="en-US" dirty="0" smtClean="0"/>
              <a:t>								</a:t>
            </a:r>
            <a:r>
              <a:rPr lang="en-US" dirty="0" smtClean="0">
                <a:solidFill>
                  <a:srgbClr val="C00000"/>
                </a:solidFill>
              </a:rPr>
              <a:t>(n terms)</a:t>
            </a:r>
          </a:p>
          <a:p>
            <a:pPr>
              <a:buNone/>
            </a:pPr>
            <a:r>
              <a:rPr lang="en-US" dirty="0" smtClean="0"/>
              <a:t>	 2S</a:t>
            </a:r>
            <a:r>
              <a:rPr lang="en-US" baseline="-25000" dirty="0" smtClean="0"/>
              <a:t>n</a:t>
            </a:r>
            <a:r>
              <a:rPr lang="en-US" dirty="0" smtClean="0"/>
              <a:t>	= n(a + a</a:t>
            </a:r>
            <a:r>
              <a:rPr lang="en-US" baseline="-25000" dirty="0" smtClean="0"/>
              <a:t>n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	   </a:t>
            </a:r>
            <a:r>
              <a:rPr lang="en-US" dirty="0" err="1" smtClean="0"/>
              <a:t>S</a:t>
            </a:r>
            <a:r>
              <a:rPr lang="en-US" baseline="-25000" dirty="0" err="1" smtClean="0"/>
              <a:t>n</a:t>
            </a:r>
            <a:r>
              <a:rPr lang="en-US" baseline="-25000" dirty="0" smtClean="0"/>
              <a:t> </a:t>
            </a:r>
            <a:r>
              <a:rPr lang="en-US" dirty="0" smtClean="0"/>
              <a:t>= n(a + a</a:t>
            </a:r>
            <a:r>
              <a:rPr lang="en-US" baseline="-25000" dirty="0" smtClean="0"/>
              <a:t>n</a:t>
            </a:r>
            <a:r>
              <a:rPr lang="en-US" dirty="0" smtClean="0"/>
              <a:t>)/2</a:t>
            </a:r>
          </a:p>
          <a:p>
            <a:pPr>
              <a:buNone/>
            </a:pPr>
            <a:r>
              <a:rPr lang="en-US" dirty="0" smtClean="0"/>
              <a:t>	 If we write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a + (n - 1)d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   </a:t>
            </a:r>
            <a:r>
              <a:rPr lang="en-US" b="1" dirty="0" err="1" smtClean="0">
                <a:solidFill>
                  <a:srgbClr val="C00000"/>
                </a:solidFill>
              </a:rPr>
              <a:t>S</a:t>
            </a:r>
            <a:r>
              <a:rPr lang="en-US" b="1" baseline="-25000" dirty="0" err="1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n(a + l)/2</a:t>
            </a:r>
            <a:r>
              <a:rPr lang="en-US" dirty="0" smtClean="0"/>
              <a:t>…………………..(3)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pt-BR" dirty="0" smtClean="0"/>
              <a:t>Therefore	</a:t>
            </a:r>
          </a:p>
          <a:p>
            <a:pPr>
              <a:buNone/>
            </a:pPr>
            <a:r>
              <a:rPr lang="pt-BR" dirty="0" smtClean="0"/>
              <a:t>	   S</a:t>
            </a:r>
            <a:r>
              <a:rPr lang="pt-BR" baseline="-25000" dirty="0" smtClean="0"/>
              <a:t>n</a:t>
            </a:r>
            <a:r>
              <a:rPr lang="pt-BR" dirty="0" smtClean="0"/>
              <a:t>=  n/2 [a + a + (n - 1) d]	</a:t>
            </a:r>
          </a:p>
          <a:p>
            <a:pPr>
              <a:buNone/>
            </a:pPr>
            <a:r>
              <a:rPr lang="pt-BR" dirty="0" smtClean="0"/>
              <a:t>	   </a:t>
            </a:r>
            <a:r>
              <a:rPr lang="pt-BR" b="1" dirty="0" smtClean="0">
                <a:solidFill>
                  <a:srgbClr val="C00000"/>
                </a:solidFill>
              </a:rPr>
              <a:t>S</a:t>
            </a:r>
            <a:r>
              <a:rPr lang="pt-BR" b="1" baseline="-25000" dirty="0" smtClean="0">
                <a:solidFill>
                  <a:srgbClr val="C00000"/>
                </a:solidFill>
              </a:rPr>
              <a:t>n</a:t>
            </a:r>
            <a:r>
              <a:rPr lang="pt-BR" b="1" dirty="0" smtClean="0">
                <a:solidFill>
                  <a:srgbClr val="C00000"/>
                </a:solidFill>
              </a:rPr>
              <a:t> = n/2 [2 a + (n - 1) d]</a:t>
            </a:r>
            <a:r>
              <a:rPr lang="pt-BR" dirty="0" smtClean="0"/>
              <a:t>……….(4)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We have t</a:t>
            </a:r>
            <a:r>
              <a:rPr lang="en-US" dirty="0" smtClean="0">
                <a:solidFill>
                  <a:srgbClr val="C00000"/>
                </a:solidFill>
              </a:rPr>
              <a:t>wo formulas</a:t>
            </a:r>
            <a:r>
              <a:rPr lang="en-US" dirty="0" smtClean="0"/>
              <a:t> for finding a </a:t>
            </a:r>
            <a:r>
              <a:rPr lang="en-US" dirty="0" smtClean="0">
                <a:solidFill>
                  <a:srgbClr val="C00000"/>
                </a:solidFill>
              </a:rPr>
              <a:t>sum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		</a:t>
            </a:r>
            <a:r>
              <a:rPr lang="en-US" dirty="0" err="1" smtClean="0">
                <a:solidFill>
                  <a:srgbClr val="C00000"/>
                </a:solidFill>
              </a:rPr>
              <a:t>S</a:t>
            </a:r>
            <a:r>
              <a:rPr lang="en-US" baseline="-25000" dirty="0" err="1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n(a + </a:t>
            </a:r>
            <a:r>
              <a:rPr lang="en-US" i="1" dirty="0" smtClean="0">
                <a:solidFill>
                  <a:srgbClr val="C00000"/>
                </a:solidFill>
              </a:rPr>
              <a:t>I</a:t>
            </a:r>
            <a:r>
              <a:rPr lang="en-US" dirty="0" smtClean="0">
                <a:solidFill>
                  <a:srgbClr val="C00000"/>
                </a:solidFill>
              </a:rPr>
              <a:t>)/2 		</a:t>
            </a:r>
            <a:r>
              <a:rPr lang="en-US" dirty="0" smtClean="0"/>
              <a:t>…………..(1)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We use it when we are given </a:t>
            </a:r>
            <a:r>
              <a:rPr lang="en-US" dirty="0" smtClean="0">
                <a:solidFill>
                  <a:srgbClr val="C00000"/>
                </a:solidFill>
              </a:rPr>
              <a:t>first term</a:t>
            </a:r>
            <a:r>
              <a:rPr lang="en-US" dirty="0" smtClean="0"/>
              <a:t> </a:t>
            </a:r>
            <a:r>
              <a:rPr lang="en-US" i="1" dirty="0" smtClean="0">
                <a:solidFill>
                  <a:srgbClr val="00B050"/>
                </a:solidFill>
              </a:rPr>
              <a:t>a</a:t>
            </a:r>
            <a:r>
              <a:rPr lang="en-US" dirty="0" smtClean="0"/>
              <a:t> and the </a:t>
            </a:r>
            <a:r>
              <a:rPr lang="en-US" dirty="0" smtClean="0">
                <a:solidFill>
                  <a:srgbClr val="C00000"/>
                </a:solidFill>
              </a:rPr>
              <a:t>last term </a:t>
            </a:r>
            <a:r>
              <a:rPr lang="en-US" i="1" dirty="0" smtClean="0">
                <a:solidFill>
                  <a:srgbClr val="00B050"/>
                </a:solidFill>
              </a:rPr>
              <a:t>l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pt-BR" dirty="0" smtClean="0">
                <a:solidFill>
                  <a:srgbClr val="C00000"/>
                </a:solidFill>
              </a:rPr>
              <a:t>			S</a:t>
            </a:r>
            <a:r>
              <a:rPr lang="pt-BR" baseline="-25000" dirty="0" smtClean="0">
                <a:solidFill>
                  <a:srgbClr val="C00000"/>
                </a:solidFill>
              </a:rPr>
              <a:t>n</a:t>
            </a:r>
            <a:r>
              <a:rPr lang="pt-BR" dirty="0" smtClean="0">
                <a:solidFill>
                  <a:srgbClr val="C00000"/>
                </a:solidFill>
              </a:rPr>
              <a:t> = n/2 [2a + (n - 1) d]     </a:t>
            </a:r>
            <a:r>
              <a:rPr lang="pt-BR" dirty="0" smtClean="0"/>
              <a:t>...................(2)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	We will use it when </a:t>
            </a:r>
            <a:r>
              <a:rPr lang="pt-BR" dirty="0" smtClean="0">
                <a:solidFill>
                  <a:srgbClr val="C00000"/>
                </a:solidFill>
              </a:rPr>
              <a:t>first term</a:t>
            </a:r>
            <a:r>
              <a:rPr lang="pt-BR" dirty="0" smtClean="0"/>
              <a:t> and </a:t>
            </a:r>
            <a:r>
              <a:rPr lang="pt-BR" dirty="0" smtClean="0">
                <a:solidFill>
                  <a:srgbClr val="C00000"/>
                </a:solidFill>
              </a:rPr>
              <a:t>common difference</a:t>
            </a:r>
            <a:r>
              <a:rPr lang="pt-BR" dirty="0" smtClean="0"/>
              <a:t> is given.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Find the </a:t>
            </a:r>
            <a:r>
              <a:rPr lang="en-US" dirty="0" smtClean="0">
                <a:solidFill>
                  <a:srgbClr val="C00000"/>
                </a:solidFill>
              </a:rPr>
              <a:t>sum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first n natural numbers</a:t>
            </a:r>
            <a:r>
              <a:rPr lang="en-US" dirty="0" smtClean="0"/>
              <a:t>.</a:t>
            </a:r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</a:t>
            </a:r>
          </a:p>
          <a:p>
            <a:endParaRPr lang="en-US" b="1" u="sng" dirty="0" smtClean="0"/>
          </a:p>
          <a:p>
            <a:pPr>
              <a:buNone/>
            </a:pPr>
            <a:r>
              <a:rPr lang="en-US" dirty="0" smtClean="0"/>
              <a:t>	Let 		</a:t>
            </a:r>
            <a:r>
              <a:rPr lang="en-US" dirty="0" err="1" smtClean="0">
                <a:solidFill>
                  <a:srgbClr val="C00000"/>
                </a:solidFill>
              </a:rPr>
              <a:t>S</a:t>
            </a:r>
            <a:r>
              <a:rPr lang="en-US" baseline="-25000" dirty="0" err="1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1 + 2 + 3 + … + n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Clearly the </a:t>
            </a:r>
            <a:r>
              <a:rPr lang="en-US" dirty="0" smtClean="0">
                <a:solidFill>
                  <a:srgbClr val="C00000"/>
                </a:solidFill>
              </a:rPr>
              <a:t>right hand side</a:t>
            </a:r>
            <a:r>
              <a:rPr lang="en-US" dirty="0" smtClean="0"/>
              <a:t> forms an </a:t>
            </a:r>
            <a:r>
              <a:rPr lang="en-US" dirty="0" smtClean="0">
                <a:solidFill>
                  <a:srgbClr val="C00000"/>
                </a:solidFill>
              </a:rPr>
              <a:t>arithmetic series </a:t>
            </a:r>
            <a:r>
              <a:rPr lang="en-US" dirty="0" smtClean="0"/>
              <a:t>with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pt-BR" dirty="0" smtClean="0">
                <a:solidFill>
                  <a:srgbClr val="C00000"/>
                </a:solidFill>
              </a:rPr>
              <a:t>a = 1</a:t>
            </a:r>
            <a:r>
              <a:rPr lang="pt-BR" dirty="0" smtClean="0"/>
              <a:t>,   </a:t>
            </a:r>
            <a:r>
              <a:rPr lang="pt-BR" dirty="0" smtClean="0">
                <a:solidFill>
                  <a:srgbClr val="C00000"/>
                </a:solidFill>
              </a:rPr>
              <a:t>d = 2 - 1 = 1</a:t>
            </a:r>
            <a:r>
              <a:rPr lang="pt-BR" dirty="0" smtClean="0"/>
              <a:t>	  and	</a:t>
            </a:r>
            <a:r>
              <a:rPr lang="pt-BR" dirty="0" smtClean="0">
                <a:solidFill>
                  <a:srgbClr val="C00000"/>
                </a:solidFill>
              </a:rPr>
              <a:t>n = n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41314" name="Object 2"/>
          <p:cNvGraphicFramePr>
            <a:graphicFrameLocks noChangeAspect="1"/>
          </p:cNvGraphicFramePr>
          <p:nvPr/>
        </p:nvGraphicFramePr>
        <p:xfrm>
          <a:off x="2044699" y="1524000"/>
          <a:ext cx="4872704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18" r:id="rId3" imgW="2527200" imgH="1625400" progId="">
                  <p:embed/>
                </p:oleObj>
              </mc:Choice>
              <mc:Fallback>
                <p:oleObj r:id="rId3" imgW="2527200" imgH="16254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4699" y="1524000"/>
                        <a:ext cx="4872704" cy="289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u="sng" dirty="0" smtClean="0">
                <a:solidFill>
                  <a:srgbClr val="0070C0"/>
                </a:solidFill>
              </a:rPr>
              <a:t>EXERCISE</a:t>
            </a:r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Find the </a:t>
            </a:r>
            <a:r>
              <a:rPr lang="en-US" dirty="0" smtClean="0">
                <a:solidFill>
                  <a:srgbClr val="C00000"/>
                </a:solidFill>
              </a:rPr>
              <a:t>sum</a:t>
            </a:r>
            <a:r>
              <a:rPr lang="en-US" dirty="0" smtClean="0"/>
              <a:t> of all two digit </a:t>
            </a:r>
            <a:r>
              <a:rPr lang="en-US" dirty="0" smtClean="0">
                <a:solidFill>
                  <a:srgbClr val="C00000"/>
                </a:solidFill>
              </a:rPr>
              <a:t>positive integers</a:t>
            </a:r>
            <a:r>
              <a:rPr lang="en-US" dirty="0" smtClean="0"/>
              <a:t> which are </a:t>
            </a:r>
            <a:r>
              <a:rPr lang="en-US" dirty="0" smtClean="0">
                <a:solidFill>
                  <a:srgbClr val="C00000"/>
                </a:solidFill>
              </a:rPr>
              <a:t>neither divisible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C00000"/>
                </a:solidFill>
              </a:rPr>
              <a:t>5 nor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.</a:t>
            </a:r>
          </a:p>
          <a:p>
            <a:r>
              <a:rPr lang="en-US" b="1" u="sng" dirty="0" smtClean="0"/>
              <a:t>SOLUTION</a:t>
            </a:r>
          </a:p>
          <a:p>
            <a:pPr>
              <a:buNone/>
            </a:pPr>
            <a:r>
              <a:rPr lang="en-US" dirty="0" smtClean="0"/>
              <a:t>	The </a:t>
            </a:r>
            <a:r>
              <a:rPr lang="en-US" dirty="0" smtClean="0">
                <a:solidFill>
                  <a:srgbClr val="C00000"/>
                </a:solidFill>
              </a:rPr>
              <a:t>series</a:t>
            </a:r>
            <a:r>
              <a:rPr lang="en-US" dirty="0" smtClean="0"/>
              <a:t> to be </a:t>
            </a:r>
            <a:r>
              <a:rPr lang="en-US" dirty="0" smtClean="0">
                <a:solidFill>
                  <a:srgbClr val="C00000"/>
                </a:solidFill>
              </a:rPr>
              <a:t>summed</a:t>
            </a:r>
            <a:r>
              <a:rPr lang="en-US" dirty="0" smtClean="0"/>
              <a:t> is:</a:t>
            </a:r>
          </a:p>
          <a:p>
            <a:pPr>
              <a:buNone/>
            </a:pPr>
            <a:r>
              <a:rPr lang="en-US" dirty="0" smtClean="0"/>
              <a:t>	11 + 13 + 17 + 19 + 21 + 23 + 27 + 29 + … + 91 + 93 + 97 + 99</a:t>
            </a:r>
          </a:p>
          <a:p>
            <a:pPr>
              <a:buNone/>
            </a:pPr>
            <a:r>
              <a:rPr lang="en-US" dirty="0" smtClean="0"/>
              <a:t>	which is not an </a:t>
            </a:r>
            <a:r>
              <a:rPr lang="en-US" dirty="0" smtClean="0">
                <a:solidFill>
                  <a:srgbClr val="C00000"/>
                </a:solidFill>
              </a:rPr>
              <a:t>arithmetic series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11 + 21 + 31 + ……… + 91 is an </a:t>
            </a:r>
            <a:r>
              <a:rPr lang="en-US" dirty="0" smtClean="0">
                <a:solidFill>
                  <a:srgbClr val="C00000"/>
                </a:solidFill>
              </a:rPr>
              <a:t>arithmetic series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		with </a:t>
            </a:r>
            <a:r>
              <a:rPr lang="en-US" dirty="0" smtClean="0">
                <a:solidFill>
                  <a:srgbClr val="C00000"/>
                </a:solidFill>
              </a:rPr>
              <a:t>a = 11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d = 10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13 + 23 + 33 + ……… + 93 is an </a:t>
            </a:r>
            <a:r>
              <a:rPr lang="en-US" dirty="0" smtClean="0">
                <a:solidFill>
                  <a:srgbClr val="C00000"/>
                </a:solidFill>
              </a:rPr>
              <a:t>arithmetic series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</a:t>
            </a:r>
            <a:r>
              <a:rPr lang="en-US" dirty="0" smtClean="0"/>
              <a:t>with </a:t>
            </a:r>
            <a:r>
              <a:rPr lang="en-US" dirty="0" smtClean="0">
                <a:solidFill>
                  <a:srgbClr val="C00000"/>
                </a:solidFill>
              </a:rPr>
              <a:t>a = 13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d = 10</a:t>
            </a:r>
          </a:p>
          <a:p>
            <a:pPr>
              <a:buNone/>
            </a:pP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	17 + 27 + 37 + ……… + 97 is an </a:t>
            </a:r>
            <a:r>
              <a:rPr lang="en-US" dirty="0" smtClean="0">
                <a:solidFill>
                  <a:srgbClr val="C00000"/>
                </a:solidFill>
              </a:rPr>
              <a:t>arithmetic series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</a:t>
            </a:r>
            <a:r>
              <a:rPr lang="en-US" dirty="0" smtClean="0"/>
              <a:t>with </a:t>
            </a:r>
            <a:r>
              <a:rPr lang="en-US" dirty="0" smtClean="0">
                <a:solidFill>
                  <a:srgbClr val="C00000"/>
                </a:solidFill>
              </a:rPr>
              <a:t>a = 17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d = 10</a:t>
            </a:r>
          </a:p>
          <a:p>
            <a:pPr>
              <a:buNone/>
            </a:pPr>
            <a:r>
              <a:rPr lang="en-US" dirty="0" smtClean="0"/>
              <a:t>	19 + 29 + 39 + ……… + 99 is an </a:t>
            </a:r>
            <a:r>
              <a:rPr lang="en-US" dirty="0" smtClean="0">
                <a:solidFill>
                  <a:srgbClr val="C00000"/>
                </a:solidFill>
              </a:rPr>
              <a:t>arithmetic series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</a:t>
            </a:r>
            <a:r>
              <a:rPr lang="en-US" dirty="0" smtClean="0"/>
              <a:t>with </a:t>
            </a:r>
            <a:r>
              <a:rPr lang="en-US" dirty="0" smtClean="0">
                <a:solidFill>
                  <a:srgbClr val="C00000"/>
                </a:solidFill>
              </a:rPr>
              <a:t>a = 19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d = 10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If we make </a:t>
            </a:r>
            <a:r>
              <a:rPr lang="en-US" dirty="0" smtClean="0">
                <a:solidFill>
                  <a:srgbClr val="C00000"/>
                </a:solidFill>
              </a:rPr>
              <a:t>group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four terms</a:t>
            </a:r>
            <a:r>
              <a:rPr lang="en-US" dirty="0" smtClean="0"/>
              <a:t> we get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(11 + 13 + 17 + 19) + (21 + 23 + 27 + 29) + (31 + 33 + 37 + 39) + … + (91 + 93 + 97 + 99)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</a:t>
            </a:r>
            <a:r>
              <a:rPr lang="en-US" dirty="0" smtClean="0"/>
              <a:t>= 60 + 100 + 140 + … + 380</a:t>
            </a:r>
          </a:p>
          <a:p>
            <a:pPr>
              <a:buNone/>
            </a:pPr>
            <a:r>
              <a:rPr lang="en-US" dirty="0" smtClean="0"/>
              <a:t>	which now forms an </a:t>
            </a:r>
            <a:r>
              <a:rPr lang="en-US" dirty="0" smtClean="0">
                <a:solidFill>
                  <a:srgbClr val="C00000"/>
                </a:solidFill>
              </a:rPr>
              <a:t>arithmetic series</a:t>
            </a:r>
            <a:r>
              <a:rPr lang="en-US" dirty="0" smtClean="0"/>
              <a:t> in which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a = 60</a:t>
            </a:r>
            <a:r>
              <a:rPr lang="en-US" dirty="0" smtClean="0"/>
              <a:t>;	</a:t>
            </a:r>
            <a:r>
              <a:rPr lang="en-US" dirty="0" smtClean="0">
                <a:solidFill>
                  <a:srgbClr val="C00000"/>
                </a:solidFill>
              </a:rPr>
              <a:t>d = 100 - 60 = 40</a:t>
            </a:r>
            <a:r>
              <a:rPr lang="en-US" dirty="0" smtClean="0"/>
              <a:t>	and 	</a:t>
            </a:r>
            <a:r>
              <a:rPr lang="en-US" dirty="0" smtClean="0">
                <a:solidFill>
                  <a:srgbClr val="C00000"/>
                </a:solidFill>
              </a:rPr>
              <a:t>l = 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380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To find n, we use the formula</a:t>
            </a:r>
          </a:p>
          <a:p>
            <a:pPr>
              <a:buNone/>
            </a:pPr>
            <a:r>
              <a:rPr lang="pt-BR" dirty="0" smtClean="0"/>
              <a:t>				</a:t>
            </a:r>
            <a:r>
              <a:rPr lang="pt-BR" dirty="0" smtClean="0">
                <a:solidFill>
                  <a:srgbClr val="C00000"/>
                </a:solidFill>
              </a:rPr>
              <a:t>a</a:t>
            </a:r>
            <a:r>
              <a:rPr lang="pt-BR" baseline="-25000" dirty="0" smtClean="0">
                <a:solidFill>
                  <a:srgbClr val="C00000"/>
                </a:solidFill>
              </a:rPr>
              <a:t>n</a:t>
            </a:r>
            <a:r>
              <a:rPr lang="pt-BR" dirty="0" smtClean="0">
                <a:solidFill>
                  <a:srgbClr val="C00000"/>
                </a:solidFill>
              </a:rPr>
              <a:t> = a + (n - 1) d</a:t>
            </a:r>
          </a:p>
          <a:p>
            <a:pPr>
              <a:buNone/>
            </a:pPr>
            <a:r>
              <a:rPr lang="pt-BR" dirty="0" smtClean="0"/>
              <a:t>			</a:t>
            </a:r>
            <a:r>
              <a:rPr lang="en-US" dirty="0" smtClean="0">
                <a:sym typeface="Symbol"/>
              </a:rPr>
              <a:t></a:t>
            </a:r>
            <a:r>
              <a:rPr lang="pt-BR" dirty="0" smtClean="0"/>
              <a:t>	380 =	60 + (n - 1) (40)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ym typeface="Symbol"/>
              </a:rPr>
              <a:t></a:t>
            </a:r>
            <a:r>
              <a:rPr lang="pt-BR" dirty="0" smtClean="0"/>
              <a:t> 	380 - 60 = (n - 1) (40)</a:t>
            </a:r>
          </a:p>
          <a:p>
            <a:pPr>
              <a:buNone/>
            </a:pPr>
            <a:r>
              <a:rPr lang="pt-BR" dirty="0" smtClean="0"/>
              <a:t>			</a:t>
            </a:r>
            <a:r>
              <a:rPr lang="en-US" dirty="0" smtClean="0">
                <a:sym typeface="Symbol"/>
              </a:rPr>
              <a:t></a:t>
            </a:r>
            <a:r>
              <a:rPr lang="pt-BR" dirty="0" smtClean="0"/>
              <a:t> 	320 = (n - 1) (40)</a:t>
            </a:r>
            <a:r>
              <a:rPr lang="en-US" dirty="0" smtClean="0"/>
              <a:t>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pt-BR" dirty="0" smtClean="0"/>
              <a:t>     8 = n - 1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 </a:t>
            </a:r>
            <a:r>
              <a:rPr lang="en-US" dirty="0" smtClean="0">
                <a:sym typeface="Symbol"/>
              </a:rPr>
              <a:t></a:t>
            </a:r>
            <a:r>
              <a:rPr lang="pt-BR" dirty="0" smtClean="0"/>
              <a:t>	     </a:t>
            </a:r>
            <a:r>
              <a:rPr lang="pt-BR" dirty="0" smtClean="0">
                <a:solidFill>
                  <a:srgbClr val="C00000"/>
                </a:solidFill>
              </a:rPr>
              <a:t>n = 9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142338" name="Object 2"/>
          <p:cNvGraphicFramePr>
            <a:graphicFrameLocks noChangeAspect="1"/>
          </p:cNvGraphicFramePr>
          <p:nvPr/>
        </p:nvGraphicFramePr>
        <p:xfrm>
          <a:off x="3175823" y="3682176"/>
          <a:ext cx="2012957" cy="779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42" r:id="rId3" imgW="888840" imgH="393480" progId="">
                  <p:embed/>
                </p:oleObj>
              </mc:Choice>
              <mc:Fallback>
                <p:oleObj r:id="rId3" imgW="88884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823" y="3682176"/>
                        <a:ext cx="2012957" cy="7792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Now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a = 60		1 = </a:t>
            </a:r>
            <a:r>
              <a:rPr lang="pt-BR" dirty="0" smtClean="0">
                <a:solidFill>
                  <a:srgbClr val="C00000"/>
                </a:solidFill>
              </a:rPr>
              <a:t>a</a:t>
            </a:r>
            <a:r>
              <a:rPr lang="pt-BR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380		n = 9</a:t>
            </a:r>
            <a:endParaRPr lang="en-US" dirty="0">
              <a:solidFill>
                <a:srgbClr val="C00000"/>
              </a:solidFill>
            </a:endParaRPr>
          </a:p>
        </p:txBody>
      </p:sp>
      <p:graphicFrame>
        <p:nvGraphicFramePr>
          <p:cNvPr id="143362" name="Object 2"/>
          <p:cNvGraphicFramePr>
            <a:graphicFrameLocks noChangeAspect="1"/>
          </p:cNvGraphicFramePr>
          <p:nvPr/>
        </p:nvGraphicFramePr>
        <p:xfrm>
          <a:off x="1143000" y="2387599"/>
          <a:ext cx="7162800" cy="1732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66" r:id="rId3" imgW="3085920" imgH="812520" progId="">
                  <p:embed/>
                </p:oleObj>
              </mc:Choice>
              <mc:Fallback>
                <p:oleObj r:id="rId3" imgW="3085920" imgH="81252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387599"/>
                        <a:ext cx="7162800" cy="17325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3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GEOMETRIC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sum</a:t>
            </a:r>
            <a:r>
              <a:rPr lang="en-US" dirty="0" smtClean="0"/>
              <a:t> of the terms of a </a:t>
            </a:r>
            <a:r>
              <a:rPr lang="en-US" dirty="0" smtClean="0">
                <a:solidFill>
                  <a:srgbClr val="C00000"/>
                </a:solidFill>
              </a:rPr>
              <a:t>geometric sequence</a:t>
            </a:r>
            <a:r>
              <a:rPr lang="en-US" dirty="0" smtClean="0"/>
              <a:t> forms a </a:t>
            </a:r>
            <a:r>
              <a:rPr lang="en-US" dirty="0" smtClean="0">
                <a:solidFill>
                  <a:srgbClr val="C00000"/>
                </a:solidFill>
              </a:rPr>
              <a:t>geometric series</a:t>
            </a:r>
            <a:r>
              <a:rPr lang="en-US" dirty="0" smtClean="0"/>
              <a:t> (</a:t>
            </a:r>
            <a:r>
              <a:rPr lang="en-US" dirty="0" smtClean="0">
                <a:solidFill>
                  <a:srgbClr val="C00000"/>
                </a:solidFill>
              </a:rPr>
              <a:t>G.S.</a:t>
            </a:r>
            <a:r>
              <a:rPr lang="en-US" dirty="0" smtClean="0"/>
              <a:t>). </a:t>
            </a:r>
          </a:p>
          <a:p>
            <a:endParaRPr lang="en-US" dirty="0" smtClean="0"/>
          </a:p>
          <a:p>
            <a:r>
              <a:rPr lang="en-US" dirty="0" smtClean="0"/>
              <a:t>For example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Geometric Sequence</a:t>
            </a:r>
          </a:p>
          <a:p>
            <a:pPr>
              <a:buNone/>
            </a:pPr>
            <a:r>
              <a:rPr lang="en-US" dirty="0" smtClean="0"/>
              <a:t>				1, 2, 4, 8, 16, …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Geometric Series</a:t>
            </a:r>
          </a:p>
          <a:p>
            <a:pPr algn="ctr">
              <a:buNone/>
            </a:pPr>
            <a:r>
              <a:rPr lang="en-US" dirty="0" smtClean="0"/>
              <a:t>	 1 + 2 + 4 + 8 + 16 + …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 general, if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is the </a:t>
            </a:r>
            <a:r>
              <a:rPr lang="en-US" dirty="0" smtClean="0">
                <a:solidFill>
                  <a:srgbClr val="C00000"/>
                </a:solidFill>
              </a:rPr>
              <a:t>first term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the </a:t>
            </a:r>
            <a:r>
              <a:rPr lang="en-US" dirty="0" smtClean="0">
                <a:solidFill>
                  <a:srgbClr val="C00000"/>
                </a:solidFill>
              </a:rPr>
              <a:t>common ratio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C00000"/>
                </a:solidFill>
              </a:rPr>
              <a:t>geometric series</a:t>
            </a:r>
            <a:r>
              <a:rPr lang="en-US" dirty="0" smtClean="0"/>
              <a:t>, then the </a:t>
            </a:r>
            <a:r>
              <a:rPr lang="en-US" dirty="0" smtClean="0">
                <a:solidFill>
                  <a:srgbClr val="C00000"/>
                </a:solidFill>
              </a:rPr>
              <a:t>series</a:t>
            </a:r>
            <a:r>
              <a:rPr lang="en-US" dirty="0" smtClean="0"/>
              <a:t> is given as: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	 </a:t>
            </a:r>
            <a:r>
              <a:rPr lang="en-US" dirty="0" smtClean="0">
                <a:solidFill>
                  <a:srgbClr val="C00000"/>
                </a:solidFill>
              </a:rPr>
              <a:t>a + </a:t>
            </a:r>
            <a:r>
              <a:rPr lang="en-US" dirty="0" err="1" smtClean="0">
                <a:solidFill>
                  <a:srgbClr val="C00000"/>
                </a:solidFill>
              </a:rPr>
              <a:t>ar</a:t>
            </a:r>
            <a:r>
              <a:rPr lang="en-US" dirty="0" smtClean="0">
                <a:solidFill>
                  <a:srgbClr val="C00000"/>
                </a:solidFill>
              </a:rPr>
              <a:t> + ar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ar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+ …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SUM OF </a:t>
            </a:r>
            <a:r>
              <a:rPr lang="en-US" b="1" u="sng" dirty="0" smtClean="0">
                <a:solidFill>
                  <a:srgbClr val="FFC000"/>
                </a:solidFill>
              </a:rPr>
              <a:t>n</a:t>
            </a:r>
            <a:r>
              <a:rPr lang="en-US" b="1" u="sng" dirty="0" smtClean="0">
                <a:solidFill>
                  <a:srgbClr val="0070C0"/>
                </a:solidFill>
              </a:rPr>
              <a:t> TERMS OF A GEOMETRIC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be the </a:t>
            </a:r>
            <a:r>
              <a:rPr lang="en-US" dirty="0" smtClean="0">
                <a:solidFill>
                  <a:srgbClr val="C00000"/>
                </a:solidFill>
              </a:rPr>
              <a:t>first term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be the </a:t>
            </a:r>
            <a:r>
              <a:rPr lang="en-US" dirty="0" smtClean="0">
                <a:solidFill>
                  <a:srgbClr val="C00000"/>
                </a:solidFill>
              </a:rPr>
              <a:t>common ratio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C00000"/>
                </a:solidFill>
              </a:rPr>
              <a:t>geometric series</a:t>
            </a:r>
            <a:r>
              <a:rPr lang="en-US" dirty="0" smtClean="0"/>
              <a:t>. Then its </a:t>
            </a:r>
            <a:r>
              <a:rPr lang="en-US" dirty="0" smtClean="0">
                <a:solidFill>
                  <a:srgbClr val="C00000"/>
                </a:solidFill>
              </a:rPr>
              <a:t>nth</a:t>
            </a:r>
            <a:r>
              <a:rPr lang="en-US" dirty="0" smtClean="0"/>
              <a:t> term is: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			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ar</a:t>
            </a:r>
            <a:r>
              <a:rPr lang="en-US" baseline="30000" dirty="0" smtClean="0">
                <a:solidFill>
                  <a:srgbClr val="C00000"/>
                </a:solidFill>
              </a:rPr>
              <a:t>n-1</a:t>
            </a:r>
            <a:r>
              <a:rPr lang="en-US" dirty="0" smtClean="0"/>
              <a:t>;	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1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If </a:t>
            </a:r>
            <a:r>
              <a:rPr lang="pt-BR" dirty="0" smtClean="0"/>
              <a:t>S</a:t>
            </a:r>
            <a:r>
              <a:rPr lang="pt-BR" baseline="-25000" dirty="0" smtClean="0"/>
              <a:t>n</a:t>
            </a:r>
            <a:r>
              <a:rPr lang="en-US" dirty="0" smtClean="0"/>
              <a:t> denotes the sum of first n terms of the G.S. then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pt-BR" dirty="0" smtClean="0"/>
              <a:t> </a:t>
            </a:r>
            <a:r>
              <a:rPr lang="pt-BR" dirty="0" smtClean="0">
                <a:solidFill>
                  <a:srgbClr val="C00000"/>
                </a:solidFill>
              </a:rPr>
              <a:t>S</a:t>
            </a:r>
            <a:r>
              <a:rPr lang="pt-BR" baseline="-25000" dirty="0" smtClean="0">
                <a:solidFill>
                  <a:srgbClr val="C00000"/>
                </a:solidFill>
              </a:rPr>
              <a:t>n</a:t>
            </a:r>
            <a:r>
              <a:rPr lang="pt-BR" dirty="0" smtClean="0">
                <a:solidFill>
                  <a:srgbClr val="C00000"/>
                </a:solidFill>
              </a:rPr>
              <a:t> = a + ar + ar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 + ar</a:t>
            </a:r>
            <a:r>
              <a:rPr lang="pt-BR" baseline="30000" dirty="0" smtClean="0">
                <a:solidFill>
                  <a:srgbClr val="C00000"/>
                </a:solidFill>
              </a:rPr>
              <a:t>3</a:t>
            </a:r>
            <a:r>
              <a:rPr lang="pt-BR" dirty="0" smtClean="0">
                <a:solidFill>
                  <a:srgbClr val="C00000"/>
                </a:solidFill>
              </a:rPr>
              <a:t> + … + ar</a:t>
            </a:r>
            <a:r>
              <a:rPr lang="pt-BR" baseline="30000" dirty="0" smtClean="0">
                <a:solidFill>
                  <a:srgbClr val="C00000"/>
                </a:solidFill>
              </a:rPr>
              <a:t>n-2</a:t>
            </a:r>
            <a:r>
              <a:rPr lang="pt-BR" dirty="0" smtClean="0">
                <a:solidFill>
                  <a:srgbClr val="C00000"/>
                </a:solidFill>
              </a:rPr>
              <a:t> + ar</a:t>
            </a:r>
            <a:r>
              <a:rPr lang="pt-BR" baseline="30000" dirty="0" smtClean="0">
                <a:solidFill>
                  <a:srgbClr val="C00000"/>
                </a:solidFill>
              </a:rPr>
              <a:t>n-1</a:t>
            </a:r>
            <a:r>
              <a:rPr lang="pt-BR" dirty="0" smtClean="0"/>
              <a:t>….(1)</a:t>
            </a:r>
          </a:p>
          <a:p>
            <a:pPr>
              <a:buNone/>
            </a:pPr>
            <a:r>
              <a:rPr lang="pt-BR" dirty="0" smtClean="0"/>
              <a:t>	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Multiplying</a:t>
            </a:r>
            <a:r>
              <a:rPr lang="en-US" dirty="0" smtClean="0"/>
              <a:t> both sides by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we get.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pt-BR" dirty="0" smtClean="0"/>
              <a:t> </a:t>
            </a:r>
            <a:r>
              <a:rPr lang="pt-BR" dirty="0" smtClean="0">
                <a:solidFill>
                  <a:srgbClr val="C00000"/>
                </a:solidFill>
              </a:rPr>
              <a:t>r S</a:t>
            </a:r>
            <a:r>
              <a:rPr lang="pt-BR" baseline="-25000" dirty="0" smtClean="0">
                <a:solidFill>
                  <a:srgbClr val="C00000"/>
                </a:solidFill>
              </a:rPr>
              <a:t>n</a:t>
            </a:r>
            <a:r>
              <a:rPr lang="pt-BR" dirty="0" smtClean="0"/>
              <a:t> = </a:t>
            </a:r>
            <a:r>
              <a:rPr lang="pt-BR" dirty="0" smtClean="0">
                <a:solidFill>
                  <a:srgbClr val="C00000"/>
                </a:solidFill>
              </a:rPr>
              <a:t>ar + ar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 + ar</a:t>
            </a:r>
            <a:r>
              <a:rPr lang="pt-BR" baseline="30000" dirty="0" smtClean="0">
                <a:solidFill>
                  <a:srgbClr val="C00000"/>
                </a:solidFill>
              </a:rPr>
              <a:t>3</a:t>
            </a:r>
            <a:r>
              <a:rPr lang="pt-BR" dirty="0" smtClean="0">
                <a:solidFill>
                  <a:srgbClr val="C00000"/>
                </a:solidFill>
              </a:rPr>
              <a:t> + … + ar</a:t>
            </a:r>
            <a:r>
              <a:rPr lang="pt-BR" baseline="30000" dirty="0" smtClean="0">
                <a:solidFill>
                  <a:srgbClr val="C00000"/>
                </a:solidFill>
              </a:rPr>
              <a:t>n-1</a:t>
            </a:r>
            <a:r>
              <a:rPr lang="pt-BR" dirty="0" smtClean="0">
                <a:solidFill>
                  <a:srgbClr val="C00000"/>
                </a:solidFill>
              </a:rPr>
              <a:t> + ar</a:t>
            </a:r>
            <a:r>
              <a:rPr lang="pt-BR" baseline="30000" dirty="0" smtClean="0">
                <a:solidFill>
                  <a:srgbClr val="C00000"/>
                </a:solidFill>
              </a:rPr>
              <a:t>n</a:t>
            </a:r>
            <a:r>
              <a:rPr lang="pt-BR" dirty="0" smtClean="0"/>
              <a:t>….(2)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Subtracting (2) from (1) we get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S</a:t>
            </a:r>
            <a:r>
              <a:rPr lang="en-US" baseline="-25000" dirty="0" err="1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– </a:t>
            </a:r>
            <a:r>
              <a:rPr lang="en-US" dirty="0" err="1" smtClean="0">
                <a:solidFill>
                  <a:srgbClr val="C00000"/>
                </a:solidFill>
              </a:rPr>
              <a:t>rS</a:t>
            </a:r>
            <a:r>
              <a:rPr lang="en-US" baseline="-25000" dirty="0" err="1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a – </a:t>
            </a:r>
            <a:r>
              <a:rPr lang="en-US" dirty="0" err="1" smtClean="0">
                <a:solidFill>
                  <a:srgbClr val="C00000"/>
                </a:solidFill>
              </a:rPr>
              <a:t>ar</a:t>
            </a:r>
            <a:r>
              <a:rPr lang="en-US" baseline="30000" dirty="0" err="1" smtClean="0">
                <a:solidFill>
                  <a:srgbClr val="C00000"/>
                </a:solidFill>
              </a:rPr>
              <a:t>n</a:t>
            </a:r>
            <a:endParaRPr lang="en-US" baseline="30000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ym typeface="Symbol"/>
              </a:rPr>
              <a:t> </a:t>
            </a:r>
            <a:r>
              <a:rPr lang="pt-BR" dirty="0" smtClean="0">
                <a:sym typeface="Symbol"/>
              </a:rPr>
              <a:t>     </a:t>
            </a:r>
            <a:r>
              <a:rPr lang="pt-BR" dirty="0" smtClean="0">
                <a:solidFill>
                  <a:srgbClr val="C00000"/>
                </a:solidFill>
              </a:rPr>
              <a:t>(1 - r) S</a:t>
            </a:r>
            <a:r>
              <a:rPr lang="pt-BR" baseline="-25000" dirty="0" smtClean="0">
                <a:solidFill>
                  <a:srgbClr val="C00000"/>
                </a:solidFill>
              </a:rPr>
              <a:t>n</a:t>
            </a:r>
            <a:r>
              <a:rPr lang="pt-BR" dirty="0" smtClean="0">
                <a:solidFill>
                  <a:srgbClr val="C00000"/>
                </a:solidFill>
              </a:rPr>
              <a:t> = a (1 - r</a:t>
            </a:r>
            <a:r>
              <a:rPr lang="pt-BR" baseline="30000" dirty="0" smtClean="0">
                <a:solidFill>
                  <a:srgbClr val="C00000"/>
                </a:solidFill>
              </a:rPr>
              <a:t>n</a:t>
            </a:r>
            <a:r>
              <a:rPr lang="pt-BR" dirty="0" smtClean="0">
                <a:solidFill>
                  <a:srgbClr val="C00000"/>
                </a:solidFill>
              </a:rPr>
              <a:t>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153602" name="Object 2"/>
          <p:cNvGraphicFramePr>
            <a:graphicFrameLocks noChangeAspect="1"/>
          </p:cNvGraphicFramePr>
          <p:nvPr/>
        </p:nvGraphicFramePr>
        <p:xfrm>
          <a:off x="2420620" y="3429000"/>
          <a:ext cx="466598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06" r:id="rId3" imgW="2260440" imgH="419040" progId="">
                  <p:embed/>
                </p:oleObj>
              </mc:Choice>
              <mc:Fallback>
                <p:oleObj r:id="rId3" imgW="2260440" imgH="4190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0620" y="3429000"/>
                        <a:ext cx="466598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u="sng" dirty="0" smtClean="0">
                <a:solidFill>
                  <a:srgbClr val="0070C0"/>
                </a:solidFill>
              </a:rPr>
              <a:t>EXERCISE</a:t>
            </a:r>
            <a:endParaRPr lang="en-US" b="1" u="sng" dirty="0" smtClean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/>
          <a:lstStyle/>
          <a:p>
            <a:r>
              <a:rPr lang="en-US" dirty="0" smtClean="0"/>
              <a:t>Find the sum of the geometric series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b="1" u="sng" dirty="0" smtClean="0">
              <a:solidFill>
                <a:srgbClr val="C00000"/>
              </a:solidFill>
            </a:endParaRPr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  <p:graphicFrame>
        <p:nvGraphicFramePr>
          <p:cNvPr id="154626" name="Object 2"/>
          <p:cNvGraphicFramePr>
            <a:graphicFrameLocks noChangeAspect="1"/>
          </p:cNvGraphicFramePr>
          <p:nvPr/>
        </p:nvGraphicFramePr>
        <p:xfrm>
          <a:off x="2438400" y="1828800"/>
          <a:ext cx="4495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34" r:id="rId3" imgW="1968480" imgH="393480" progId="">
                  <p:embed/>
                </p:oleObj>
              </mc:Choice>
              <mc:Fallback>
                <p:oleObj r:id="rId3" imgW="196848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828800"/>
                        <a:ext cx="44958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27" name="Object 3"/>
          <p:cNvGraphicFramePr>
            <a:graphicFrameLocks noChangeAspect="1"/>
          </p:cNvGraphicFramePr>
          <p:nvPr/>
        </p:nvGraphicFramePr>
        <p:xfrm>
          <a:off x="2514600" y="3886200"/>
          <a:ext cx="4495800" cy="817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35" r:id="rId5" imgW="2057400" imgH="393480" progId="">
                  <p:embed/>
                </p:oleObj>
              </mc:Choice>
              <mc:Fallback>
                <p:oleObj r:id="rId5" imgW="2057400" imgH="39348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886200"/>
                        <a:ext cx="4495800" cy="81741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55650" name="Object 2"/>
          <p:cNvGraphicFramePr>
            <a:graphicFrameLocks noChangeAspect="1"/>
          </p:cNvGraphicFramePr>
          <p:nvPr/>
        </p:nvGraphicFramePr>
        <p:xfrm>
          <a:off x="2133599" y="1329816"/>
          <a:ext cx="5358583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54" r:id="rId3" imgW="2768400" imgH="1968480" progId="">
                  <p:embed/>
                </p:oleObj>
              </mc:Choice>
              <mc:Fallback>
                <p:oleObj r:id="rId3" imgW="2768400" imgH="1968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599" y="1329816"/>
                        <a:ext cx="5358583" cy="381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5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RECURRENCE 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recurrence relation</a:t>
            </a:r>
            <a:r>
              <a:rPr lang="en-US" dirty="0" smtClean="0"/>
              <a:t> for a sequence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0</a:t>
            </a:r>
            <a:r>
              <a:rPr lang="en-US" dirty="0" smtClean="0">
                <a:solidFill>
                  <a:srgbClr val="C00000"/>
                </a:solidFill>
              </a:rPr>
              <a:t>, 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, . . .</a:t>
            </a:r>
            <a:r>
              <a:rPr lang="en-US" dirty="0" smtClean="0"/>
              <a:t> , is a formula that relates each term </a:t>
            </a:r>
            <a:r>
              <a:rPr lang="en-US" dirty="0" err="1" smtClean="0">
                <a:solidFill>
                  <a:srgbClr val="C00000"/>
                </a:solidFill>
              </a:rPr>
              <a:t>a</a:t>
            </a:r>
            <a:r>
              <a:rPr lang="en-US" baseline="-25000" dirty="0" err="1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to certain of its </a:t>
            </a:r>
            <a:r>
              <a:rPr lang="en-US" dirty="0" smtClean="0">
                <a:solidFill>
                  <a:srgbClr val="C00000"/>
                </a:solidFill>
              </a:rPr>
              <a:t>predecessors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k-1</a:t>
            </a:r>
            <a:r>
              <a:rPr lang="en-US" dirty="0" smtClean="0">
                <a:solidFill>
                  <a:srgbClr val="C00000"/>
                </a:solidFill>
              </a:rPr>
              <a:t>, a</a:t>
            </a:r>
            <a:r>
              <a:rPr lang="en-US" baseline="-25000" dirty="0" smtClean="0">
                <a:solidFill>
                  <a:srgbClr val="C00000"/>
                </a:solidFill>
              </a:rPr>
              <a:t>k-2</a:t>
            </a:r>
            <a:r>
              <a:rPr lang="en-US" dirty="0" smtClean="0">
                <a:solidFill>
                  <a:srgbClr val="C00000"/>
                </a:solidFill>
              </a:rPr>
              <a:t>, . . . , </a:t>
            </a:r>
            <a:r>
              <a:rPr lang="en-US" dirty="0" err="1" smtClean="0">
                <a:solidFill>
                  <a:srgbClr val="C00000"/>
                </a:solidFill>
              </a:rPr>
              <a:t>a</a:t>
            </a:r>
            <a:r>
              <a:rPr lang="en-US" baseline="-25000" dirty="0" err="1" smtClean="0">
                <a:solidFill>
                  <a:srgbClr val="C00000"/>
                </a:solidFill>
              </a:rPr>
              <a:t>k-i</a:t>
            </a:r>
            <a:r>
              <a:rPr lang="en-US" dirty="0" smtClean="0"/>
              <a:t> , where </a:t>
            </a:r>
            <a:r>
              <a:rPr lang="en-US" dirty="0" err="1" smtClean="0">
                <a:solidFill>
                  <a:srgbClr val="C00000"/>
                </a:solidFill>
              </a:rPr>
              <a:t>i</a:t>
            </a:r>
            <a:r>
              <a:rPr lang="en-US" dirty="0" smtClean="0"/>
              <a:t> is a fixed integer and </a:t>
            </a:r>
            <a:r>
              <a:rPr lang="en-US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is any integer greater than or equal to </a:t>
            </a:r>
            <a:r>
              <a:rPr lang="en-US" dirty="0" err="1" smtClean="0">
                <a:solidFill>
                  <a:srgbClr val="C00000"/>
                </a:solidFill>
              </a:rPr>
              <a:t>i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initial conditions </a:t>
            </a:r>
            <a:r>
              <a:rPr lang="en-US" dirty="0" smtClean="0"/>
              <a:t>for such a </a:t>
            </a:r>
            <a:r>
              <a:rPr lang="en-US" dirty="0" smtClean="0">
                <a:solidFill>
                  <a:srgbClr val="C00000"/>
                </a:solidFill>
              </a:rPr>
              <a:t>recurrence relation</a:t>
            </a:r>
            <a:r>
              <a:rPr lang="en-US" dirty="0" smtClean="0"/>
              <a:t> specify the values of </a:t>
            </a:r>
            <a:br>
              <a:rPr lang="en-US" dirty="0" smtClean="0"/>
            </a:b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0</a:t>
            </a:r>
            <a:r>
              <a:rPr lang="en-US" dirty="0" smtClean="0">
                <a:solidFill>
                  <a:srgbClr val="C00000"/>
                </a:solidFill>
              </a:rPr>
              <a:t>, 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, . . . , a</a:t>
            </a:r>
            <a:r>
              <a:rPr lang="en-US" baseline="-25000" dirty="0" smtClean="0">
                <a:solidFill>
                  <a:srgbClr val="C00000"/>
                </a:solidFill>
              </a:rPr>
              <a:t>i-1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{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} be a sequence that satisfies the recurrence relation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a</a:t>
            </a:r>
            <a:r>
              <a:rPr lang="en-US" b="1" baseline="-25000" dirty="0" smtClean="0">
                <a:solidFill>
                  <a:srgbClr val="C00000"/>
                </a:solidFill>
              </a:rPr>
              <a:t>n-1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sz="2200" b="1" dirty="0" smtClean="0">
                <a:solidFill>
                  <a:srgbClr val="C00000"/>
                </a:solidFill>
              </a:rPr>
              <a:t>+3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for n = 1, 2, 3, …, and suppose that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0</a:t>
            </a:r>
            <a:r>
              <a:rPr lang="en-US" b="1" dirty="0" smtClean="0">
                <a:solidFill>
                  <a:srgbClr val="C00000"/>
                </a:solidFill>
              </a:rPr>
              <a:t> =</a:t>
            </a:r>
            <a:r>
              <a:rPr lang="en-US" sz="2200" b="1" dirty="0" smtClean="0">
                <a:solidFill>
                  <a:srgbClr val="C00000"/>
                </a:solidFill>
              </a:rPr>
              <a:t> 2</a:t>
            </a:r>
            <a:r>
              <a:rPr lang="en-US" b="1" dirty="0" smtClean="0"/>
              <a:t>.</a:t>
            </a:r>
            <a:r>
              <a:rPr lang="en-US" dirty="0" smtClean="0"/>
              <a:t> What are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 , a</a:t>
            </a:r>
            <a:r>
              <a:rPr lang="en-US" b="1" baseline="-25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 , a</a:t>
            </a:r>
            <a:r>
              <a:rPr lang="en-US" b="1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?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Solution: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	 </a:t>
            </a:r>
            <a:r>
              <a:rPr lang="en-US" b="1" dirty="0" smtClean="0"/>
              <a:t>a</a:t>
            </a:r>
            <a:r>
              <a:rPr lang="en-US" b="1" baseline="-25000" dirty="0" smtClean="0"/>
              <a:t>n</a:t>
            </a:r>
            <a:r>
              <a:rPr lang="en-US" b="1" dirty="0" smtClean="0"/>
              <a:t> = a</a:t>
            </a:r>
            <a:r>
              <a:rPr lang="en-US" b="1" baseline="-25000" dirty="0" smtClean="0"/>
              <a:t>n-1</a:t>
            </a:r>
            <a:r>
              <a:rPr lang="en-US" b="1" dirty="0" smtClean="0"/>
              <a:t> </a:t>
            </a:r>
            <a:r>
              <a:rPr lang="en-US" sz="2200" b="1" dirty="0" smtClean="0"/>
              <a:t>+3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                           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 = a</a:t>
            </a:r>
            <a:r>
              <a:rPr lang="en-US" b="1" baseline="-25000" dirty="0" smtClean="0">
                <a:solidFill>
                  <a:srgbClr val="C00000"/>
                </a:solidFill>
              </a:rPr>
              <a:t>0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sz="2200" b="1" dirty="0" smtClean="0">
                <a:solidFill>
                  <a:srgbClr val="C00000"/>
                </a:solidFill>
              </a:rPr>
              <a:t>+3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                              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 = </a:t>
            </a:r>
            <a:r>
              <a:rPr lang="en-US" sz="2200" b="1" dirty="0" smtClean="0">
                <a:solidFill>
                  <a:srgbClr val="C00000"/>
                </a:solidFill>
              </a:rPr>
              <a:t>2 +3</a:t>
            </a:r>
            <a:r>
              <a:rPr lang="en-US" b="1" dirty="0" smtClean="0">
                <a:solidFill>
                  <a:srgbClr val="C00000"/>
                </a:solidFill>
              </a:rPr>
              <a:t> = </a:t>
            </a:r>
            <a:r>
              <a:rPr lang="en-US" sz="2200" b="1" dirty="0" smtClean="0">
                <a:solidFill>
                  <a:srgbClr val="C00000"/>
                </a:solidFill>
              </a:rPr>
              <a:t>5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	 </a:t>
            </a:r>
            <a:r>
              <a:rPr lang="en-US" b="1" dirty="0" smtClean="0"/>
              <a:t>a</a:t>
            </a:r>
            <a:r>
              <a:rPr lang="en-US" b="1" baseline="-25000" dirty="0" smtClean="0"/>
              <a:t>2</a:t>
            </a:r>
            <a:r>
              <a:rPr lang="en-US" b="1" dirty="0" smtClean="0"/>
              <a:t> = a</a:t>
            </a:r>
            <a:r>
              <a:rPr lang="en-US" b="1" baseline="-25000" dirty="0" smtClean="0"/>
              <a:t>1</a:t>
            </a:r>
            <a:r>
              <a:rPr lang="en-US" b="1" dirty="0" smtClean="0"/>
              <a:t> </a:t>
            </a:r>
            <a:r>
              <a:rPr lang="en-US" sz="2200" b="1" dirty="0" smtClean="0"/>
              <a:t>+3 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  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 = </a:t>
            </a:r>
            <a:r>
              <a:rPr lang="en-US" sz="2200" b="1" dirty="0" smtClean="0">
                <a:solidFill>
                  <a:srgbClr val="C00000"/>
                </a:solidFill>
              </a:rPr>
              <a:t>5 +3 </a:t>
            </a:r>
          </a:p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2</a:t>
            </a:r>
            <a:r>
              <a:rPr lang="en-US" sz="2400" b="1" dirty="0" smtClean="0">
                <a:solidFill>
                  <a:srgbClr val="C00000"/>
                </a:solidFill>
              </a:rPr>
              <a:t> = </a:t>
            </a:r>
            <a:r>
              <a:rPr lang="en-US" sz="2200" b="1" dirty="0" smtClean="0">
                <a:solidFill>
                  <a:srgbClr val="C00000"/>
                </a:solidFill>
              </a:rPr>
              <a:t>8 </a:t>
            </a:r>
          </a:p>
          <a:p>
            <a:pPr algn="ctr">
              <a:buNone/>
            </a:pPr>
            <a:endParaRPr lang="en-US" sz="2200" dirty="0" smtClean="0">
              <a:solidFill>
                <a:srgbClr val="C00000"/>
              </a:solidFill>
            </a:endParaRP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   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/>
              <a:t>a</a:t>
            </a:r>
            <a:r>
              <a:rPr lang="en-US" b="1" baseline="-25000" dirty="0" smtClean="0"/>
              <a:t>3</a:t>
            </a:r>
            <a:r>
              <a:rPr lang="en-US" b="1" dirty="0" smtClean="0"/>
              <a:t> = a</a:t>
            </a:r>
            <a:r>
              <a:rPr lang="en-US" b="1" baseline="-25000" dirty="0" smtClean="0"/>
              <a:t>2</a:t>
            </a:r>
            <a:r>
              <a:rPr lang="en-US" b="1" dirty="0" smtClean="0"/>
              <a:t> </a:t>
            </a:r>
            <a:r>
              <a:rPr lang="en-US" sz="2200" b="1" dirty="0" smtClean="0"/>
              <a:t>+3 </a:t>
            </a:r>
          </a:p>
          <a:p>
            <a:pPr algn="ctr">
              <a:buNone/>
            </a:pPr>
            <a:r>
              <a:rPr lang="en-US" sz="2400" dirty="0" smtClean="0">
                <a:solidFill>
                  <a:srgbClr val="C00000"/>
                </a:solidFill>
              </a:rPr>
              <a:t> 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3</a:t>
            </a:r>
            <a:r>
              <a:rPr lang="en-US" sz="2400" b="1" dirty="0" smtClean="0">
                <a:solidFill>
                  <a:srgbClr val="C00000"/>
                </a:solidFill>
              </a:rPr>
              <a:t> = </a:t>
            </a:r>
            <a:r>
              <a:rPr lang="en-US" sz="2200" b="1" dirty="0" smtClean="0">
                <a:solidFill>
                  <a:srgbClr val="C00000"/>
                </a:solidFill>
              </a:rPr>
              <a:t>8 +3</a:t>
            </a:r>
          </a:p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3</a:t>
            </a:r>
            <a:r>
              <a:rPr lang="en-US" sz="2400" b="1" dirty="0" smtClean="0">
                <a:solidFill>
                  <a:srgbClr val="C00000"/>
                </a:solidFill>
              </a:rPr>
              <a:t> = </a:t>
            </a:r>
            <a:r>
              <a:rPr lang="en-US" sz="2200" b="1" dirty="0" smtClean="0">
                <a:solidFill>
                  <a:srgbClr val="C00000"/>
                </a:solidFill>
              </a:rPr>
              <a:t>11</a:t>
            </a:r>
          </a:p>
          <a:p>
            <a:pPr algn="ctr">
              <a:buNone/>
            </a:pPr>
            <a:endParaRPr lang="en-US" sz="2200" dirty="0" smtClean="0">
              <a:solidFill>
                <a:srgbClr val="C00000"/>
              </a:solidFill>
            </a:endParaRPr>
          </a:p>
          <a:p>
            <a:pPr algn="ctr"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 algn="ctr"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{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} be a sequence that satisfies the recurrence relation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a</a:t>
            </a:r>
            <a:r>
              <a:rPr lang="en-US" b="1" baseline="-25000" dirty="0" smtClean="0">
                <a:solidFill>
                  <a:srgbClr val="C00000"/>
                </a:solidFill>
              </a:rPr>
              <a:t>n-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 - a</a:t>
            </a:r>
            <a:r>
              <a:rPr lang="en-US" b="1" baseline="-25000" dirty="0" smtClean="0">
                <a:solidFill>
                  <a:srgbClr val="C00000"/>
                </a:solidFill>
              </a:rPr>
              <a:t>n-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for n = 2, 3, 4, … and suppose that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a</a:t>
            </a:r>
            <a:r>
              <a:rPr lang="en-US" baseline="-25000" dirty="0" smtClean="0">
                <a:solidFill>
                  <a:srgbClr val="C00000"/>
                </a:solidFill>
              </a:rPr>
              <a:t>0</a:t>
            </a:r>
            <a:r>
              <a:rPr lang="en-US" dirty="0" smtClean="0">
                <a:solidFill>
                  <a:srgbClr val="C00000"/>
                </a:solidFill>
              </a:rPr>
              <a:t> =</a:t>
            </a:r>
            <a:r>
              <a:rPr lang="en-US" sz="2200" dirty="0" smtClean="0">
                <a:solidFill>
                  <a:srgbClr val="C00000"/>
                </a:solidFill>
              </a:rPr>
              <a:t> 3 </a:t>
            </a:r>
            <a:r>
              <a:rPr lang="en-US" dirty="0" smtClean="0"/>
              <a:t>and</a:t>
            </a:r>
            <a:r>
              <a:rPr lang="en-US" sz="2200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</a:t>
            </a:r>
            <a:r>
              <a:rPr lang="en-US" sz="2200" dirty="0" smtClean="0">
                <a:solidFill>
                  <a:srgbClr val="C00000"/>
                </a:solidFill>
              </a:rPr>
              <a:t> 5</a:t>
            </a:r>
            <a:r>
              <a:rPr lang="en-US" dirty="0" smtClean="0"/>
              <a:t>. What are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, 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?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	 </a:t>
            </a:r>
            <a:r>
              <a:rPr lang="en-US" b="1" dirty="0" smtClean="0"/>
              <a:t>a</a:t>
            </a:r>
            <a:r>
              <a:rPr lang="en-US" b="1" baseline="-25000" dirty="0" smtClean="0"/>
              <a:t>n</a:t>
            </a:r>
            <a:r>
              <a:rPr lang="en-US" b="1" dirty="0" smtClean="0"/>
              <a:t> </a:t>
            </a:r>
            <a:r>
              <a:rPr lang="en-US" sz="2400" b="1" dirty="0" smtClean="0"/>
              <a:t>=</a:t>
            </a:r>
            <a:r>
              <a:rPr lang="en-US" b="1" dirty="0" smtClean="0"/>
              <a:t> a</a:t>
            </a:r>
            <a:r>
              <a:rPr lang="en-US" b="1" baseline="-25000" dirty="0" smtClean="0"/>
              <a:t>n-</a:t>
            </a:r>
            <a:r>
              <a:rPr lang="en-US" sz="2200" b="1" baseline="-25000" dirty="0" smtClean="0"/>
              <a:t>1</a:t>
            </a:r>
            <a:r>
              <a:rPr lang="en-US" b="1" dirty="0" smtClean="0"/>
              <a:t> </a:t>
            </a:r>
            <a:r>
              <a:rPr lang="en-US" sz="2800" b="1" dirty="0" smtClean="0"/>
              <a:t>–</a:t>
            </a:r>
            <a:r>
              <a:rPr lang="en-US" b="1" dirty="0" smtClean="0"/>
              <a:t> a</a:t>
            </a:r>
            <a:r>
              <a:rPr lang="en-US" b="1" baseline="-25000" dirty="0" smtClean="0"/>
              <a:t>n-</a:t>
            </a:r>
            <a:r>
              <a:rPr lang="en-US" sz="2200" b="1" baseline="-25000" dirty="0" smtClean="0"/>
              <a:t>2</a:t>
            </a:r>
            <a:r>
              <a:rPr lang="en-US" b="1" dirty="0" smtClean="0"/>
              <a:t>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                           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=</a:t>
            </a:r>
            <a:r>
              <a:rPr lang="en-US" b="1" dirty="0" smtClean="0">
                <a:solidFill>
                  <a:srgbClr val="C00000"/>
                </a:solidFill>
              </a:rPr>
              <a:t> a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1</a:t>
            </a:r>
            <a:r>
              <a:rPr lang="en-US" sz="2800" b="1" dirty="0" smtClean="0">
                <a:solidFill>
                  <a:srgbClr val="C00000"/>
                </a:solidFill>
              </a:rPr>
              <a:t> –</a:t>
            </a:r>
            <a:r>
              <a:rPr lang="en-US" b="1" dirty="0" smtClean="0">
                <a:solidFill>
                  <a:srgbClr val="C00000"/>
                </a:solidFill>
              </a:rPr>
              <a:t> a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0</a:t>
            </a:r>
            <a:endParaRPr lang="en-US" sz="2200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                               </a:t>
            </a:r>
            <a:r>
              <a:rPr lang="en-US" b="1" dirty="0" smtClean="0"/>
              <a:t>a</a:t>
            </a:r>
            <a:r>
              <a:rPr lang="en-US" sz="2200" b="1" baseline="-25000" dirty="0" smtClean="0"/>
              <a:t>2</a:t>
            </a:r>
            <a:r>
              <a:rPr lang="en-US" b="1" dirty="0" smtClean="0"/>
              <a:t> </a:t>
            </a:r>
            <a:r>
              <a:rPr lang="en-US" sz="2400" b="1" dirty="0" smtClean="0"/>
              <a:t>=</a:t>
            </a:r>
            <a:r>
              <a:rPr lang="en-US" b="1" dirty="0" smtClean="0"/>
              <a:t> </a:t>
            </a:r>
            <a:r>
              <a:rPr lang="en-US" sz="2200" b="1" dirty="0" smtClean="0"/>
              <a:t>5 – 3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=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sz="2200" b="1" dirty="0" smtClean="0">
                <a:solidFill>
                  <a:srgbClr val="C00000"/>
                </a:solidFill>
              </a:rPr>
              <a:t>2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	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3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=</a:t>
            </a:r>
            <a:r>
              <a:rPr lang="en-US" b="1" dirty="0" smtClean="0">
                <a:solidFill>
                  <a:srgbClr val="C00000"/>
                </a:solidFill>
              </a:rPr>
              <a:t> a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sz="2800" b="1" dirty="0" smtClean="0">
                <a:solidFill>
                  <a:srgbClr val="C00000"/>
                </a:solidFill>
              </a:rPr>
              <a:t>–</a:t>
            </a:r>
            <a:r>
              <a:rPr lang="en-US" b="1" dirty="0" smtClean="0">
                <a:solidFill>
                  <a:srgbClr val="C00000"/>
                </a:solidFill>
              </a:rPr>
              <a:t> a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1</a:t>
            </a:r>
            <a:endParaRPr lang="en-US" sz="2200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200" dirty="0" smtClean="0">
                <a:solidFill>
                  <a:srgbClr val="C00000"/>
                </a:solidFill>
              </a:rPr>
              <a:t>				</a:t>
            </a:r>
            <a:r>
              <a:rPr lang="en-US" sz="2400" dirty="0" smtClean="0"/>
              <a:t> </a:t>
            </a:r>
            <a:r>
              <a:rPr lang="en-US" sz="2400" b="1" dirty="0" smtClean="0"/>
              <a:t>a</a:t>
            </a:r>
            <a:r>
              <a:rPr lang="en-US" sz="2400" b="1" baseline="-25000" dirty="0" smtClean="0"/>
              <a:t>3</a:t>
            </a:r>
            <a:r>
              <a:rPr lang="en-US" sz="2400" b="1" dirty="0" smtClean="0"/>
              <a:t> = </a:t>
            </a:r>
            <a:r>
              <a:rPr lang="en-US" sz="2200" b="1" dirty="0" smtClean="0"/>
              <a:t>2 – 5</a:t>
            </a:r>
            <a:r>
              <a:rPr lang="en-US" sz="2400" b="1" dirty="0" smtClean="0">
                <a:solidFill>
                  <a:srgbClr val="C00000"/>
                </a:solidFill>
              </a:rPr>
              <a:t> = – </a:t>
            </a:r>
            <a:r>
              <a:rPr lang="en-US" sz="2200" b="1" dirty="0" smtClean="0">
                <a:solidFill>
                  <a:srgbClr val="C00000"/>
                </a:solidFill>
              </a:rPr>
              <a:t>3</a:t>
            </a:r>
          </a:p>
          <a:p>
            <a:pPr>
              <a:buNone/>
            </a:pPr>
            <a:endParaRPr lang="en-US" sz="2200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THE FIBONACCI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C00000"/>
                </a:solidFill>
              </a:rPr>
              <a:t>Fibonacci sequence</a:t>
            </a:r>
            <a:r>
              <a:rPr lang="en-US" dirty="0" smtClean="0"/>
              <a:t> is defined as follows.</a:t>
            </a:r>
          </a:p>
          <a:p>
            <a:pPr>
              <a:buNone/>
            </a:pPr>
            <a:r>
              <a:rPr lang="en-US" dirty="0" smtClean="0"/>
              <a:t>	- </a:t>
            </a:r>
            <a:r>
              <a:rPr lang="en-US" dirty="0" smtClean="0">
                <a:solidFill>
                  <a:srgbClr val="C00000"/>
                </a:solidFill>
              </a:rPr>
              <a:t>BASE</a:t>
            </a:r>
          </a:p>
          <a:p>
            <a:pPr>
              <a:buNone/>
            </a:pPr>
            <a:r>
              <a:rPr lang="en-US" dirty="0" smtClean="0"/>
              <a:t>			F</a:t>
            </a:r>
            <a:r>
              <a:rPr lang="en-US" baseline="-25000" dirty="0" smtClean="0"/>
              <a:t>0</a:t>
            </a:r>
            <a:r>
              <a:rPr lang="en-US" dirty="0" smtClean="0"/>
              <a:t> = 0, F</a:t>
            </a:r>
            <a:r>
              <a:rPr lang="en-US" baseline="-25000" dirty="0" smtClean="0"/>
              <a:t>1</a:t>
            </a:r>
            <a:r>
              <a:rPr lang="en-US" dirty="0" smtClean="0"/>
              <a:t> = 1</a:t>
            </a:r>
          </a:p>
          <a:p>
            <a:pPr>
              <a:buNone/>
            </a:pPr>
            <a:r>
              <a:rPr lang="en-US" dirty="0" smtClean="0"/>
              <a:t>	- </a:t>
            </a:r>
            <a:r>
              <a:rPr lang="en-US" dirty="0" smtClean="0">
                <a:solidFill>
                  <a:srgbClr val="C00000"/>
                </a:solidFill>
              </a:rPr>
              <a:t>Recursion</a:t>
            </a:r>
            <a:br>
              <a:rPr lang="en-US" dirty="0" smtClean="0">
                <a:solidFill>
                  <a:srgbClr val="C00000"/>
                </a:solidFill>
              </a:rPr>
            </a:br>
            <a:r>
              <a:rPr lang="en-US" dirty="0" smtClean="0"/>
              <a:t>		</a:t>
            </a:r>
            <a:r>
              <a:rPr lang="en-US" dirty="0" err="1" smtClean="0"/>
              <a:t>F</a:t>
            </a:r>
            <a:r>
              <a:rPr lang="en-US" baseline="-25000" dirty="0" err="1" smtClean="0"/>
              <a:t>k</a:t>
            </a:r>
            <a:r>
              <a:rPr lang="en-US" dirty="0" smtClean="0"/>
              <a:t> = F</a:t>
            </a:r>
            <a:r>
              <a:rPr lang="en-US" baseline="-25000" dirty="0" smtClean="0"/>
              <a:t>k-1</a:t>
            </a:r>
            <a:r>
              <a:rPr lang="en-US" dirty="0" smtClean="0"/>
              <a:t> + F</a:t>
            </a:r>
            <a:r>
              <a:rPr lang="en-US" baseline="-25000" dirty="0" smtClean="0"/>
              <a:t>k-2</a:t>
            </a:r>
            <a:r>
              <a:rPr lang="en-US" dirty="0" smtClean="0"/>
              <a:t> 	for all integers k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2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F</a:t>
            </a:r>
            <a:r>
              <a:rPr lang="en-US" baseline="-25000" dirty="0" smtClean="0"/>
              <a:t>2</a:t>
            </a:r>
            <a:r>
              <a:rPr lang="en-US" dirty="0" smtClean="0"/>
              <a:t> = F</a:t>
            </a:r>
            <a:r>
              <a:rPr lang="en-US" baseline="-25000" dirty="0" smtClean="0"/>
              <a:t>1</a:t>
            </a:r>
            <a:r>
              <a:rPr lang="en-US" dirty="0" smtClean="0"/>
              <a:t> + F</a:t>
            </a:r>
            <a:r>
              <a:rPr lang="en-US" baseline="-25000" dirty="0" smtClean="0"/>
              <a:t>0</a:t>
            </a:r>
            <a:r>
              <a:rPr lang="en-US" dirty="0" smtClean="0"/>
              <a:t> = 1 + 0 = 1</a:t>
            </a:r>
            <a:br>
              <a:rPr lang="en-US" dirty="0" smtClean="0"/>
            </a:br>
            <a:r>
              <a:rPr lang="en-US" dirty="0" smtClean="0"/>
              <a:t>		F</a:t>
            </a:r>
            <a:r>
              <a:rPr lang="en-US" baseline="-25000" dirty="0" smtClean="0"/>
              <a:t>3</a:t>
            </a:r>
            <a:r>
              <a:rPr lang="en-US" dirty="0" smtClean="0"/>
              <a:t> = F</a:t>
            </a:r>
            <a:r>
              <a:rPr lang="en-US" baseline="-25000" dirty="0" smtClean="0"/>
              <a:t>2</a:t>
            </a:r>
            <a:r>
              <a:rPr lang="en-US" dirty="0" smtClean="0"/>
              <a:t> + F</a:t>
            </a:r>
            <a:r>
              <a:rPr lang="en-US" baseline="-25000" dirty="0" smtClean="0"/>
              <a:t>1</a:t>
            </a:r>
            <a:r>
              <a:rPr lang="en-US" dirty="0" smtClean="0"/>
              <a:t> = 1 + 1 = 2</a:t>
            </a:r>
          </a:p>
          <a:p>
            <a:pPr>
              <a:buNone/>
            </a:pPr>
            <a:r>
              <a:rPr lang="en-US" dirty="0" smtClean="0"/>
              <a:t>			F</a:t>
            </a:r>
            <a:r>
              <a:rPr lang="en-US" baseline="-25000" dirty="0" smtClean="0"/>
              <a:t>4</a:t>
            </a:r>
            <a:r>
              <a:rPr lang="en-US" dirty="0" smtClean="0"/>
              <a:t> = F</a:t>
            </a:r>
            <a:r>
              <a:rPr lang="en-US" baseline="-25000" dirty="0" smtClean="0"/>
              <a:t>3</a:t>
            </a:r>
            <a:r>
              <a:rPr lang="en-US" dirty="0" smtClean="0"/>
              <a:t> + F</a:t>
            </a:r>
            <a:r>
              <a:rPr lang="en-US" baseline="-25000" dirty="0" smtClean="0"/>
              <a:t>2</a:t>
            </a:r>
            <a:r>
              <a:rPr lang="en-US" dirty="0" smtClean="0"/>
              <a:t> = 2 + 1 = 3</a:t>
            </a:r>
            <a:br>
              <a:rPr lang="en-US" dirty="0" smtClean="0"/>
            </a:br>
            <a:r>
              <a:rPr lang="en-US" dirty="0" smtClean="0"/>
              <a:t>		F</a:t>
            </a:r>
            <a:r>
              <a:rPr lang="en-US" baseline="-25000" dirty="0" smtClean="0"/>
              <a:t>5</a:t>
            </a:r>
            <a:r>
              <a:rPr lang="en-US" dirty="0" smtClean="0"/>
              <a:t> = F</a:t>
            </a:r>
            <a:r>
              <a:rPr lang="en-US" baseline="-25000" dirty="0" smtClean="0"/>
              <a:t>4</a:t>
            </a:r>
            <a:r>
              <a:rPr lang="en-US" dirty="0" smtClean="0"/>
              <a:t> + F</a:t>
            </a:r>
            <a:r>
              <a:rPr lang="en-US" baseline="-25000" dirty="0" smtClean="0"/>
              <a:t>3</a:t>
            </a:r>
            <a:r>
              <a:rPr lang="en-US" dirty="0" smtClean="0"/>
              <a:t> = 3 + 2 = 5</a:t>
            </a:r>
          </a:p>
          <a:p>
            <a:pPr>
              <a:buNone/>
            </a:pPr>
            <a:r>
              <a:rPr lang="en-US" dirty="0" smtClean="0"/>
              <a:t>				      …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Determine whether the sequence {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}, where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3n </a:t>
            </a:r>
            <a:r>
              <a:rPr lang="en-US" dirty="0" smtClean="0"/>
              <a:t>for every nonnegative integer</a:t>
            </a:r>
            <a:r>
              <a:rPr lang="en-US" dirty="0" smtClean="0">
                <a:solidFill>
                  <a:srgbClr val="C00000"/>
                </a:solidFill>
              </a:rPr>
              <a:t> n, </a:t>
            </a:r>
            <a:r>
              <a:rPr lang="en-US" dirty="0" smtClean="0"/>
              <a:t>is a </a:t>
            </a:r>
            <a:r>
              <a:rPr lang="en-US" b="1" dirty="0" smtClean="0">
                <a:solidFill>
                  <a:srgbClr val="C00000"/>
                </a:solidFill>
              </a:rPr>
              <a:t>solution</a:t>
            </a:r>
            <a:r>
              <a:rPr lang="en-US" dirty="0" smtClean="0"/>
              <a:t> of the </a:t>
            </a:r>
            <a:r>
              <a:rPr lang="en-US" b="1" dirty="0" smtClean="0">
                <a:solidFill>
                  <a:srgbClr val="C00000"/>
                </a:solidFill>
              </a:rPr>
              <a:t>recurrence relation</a:t>
            </a:r>
            <a:r>
              <a:rPr lang="en-US" dirty="0" smtClean="0"/>
              <a:t> that satisfies the recurrence relation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2a</a:t>
            </a:r>
            <a:r>
              <a:rPr lang="en-US" b="1" baseline="-25000" dirty="0" smtClean="0">
                <a:solidFill>
                  <a:srgbClr val="C00000"/>
                </a:solidFill>
              </a:rPr>
              <a:t>n-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 - a</a:t>
            </a:r>
            <a:r>
              <a:rPr lang="en-US" b="1" baseline="-25000" dirty="0" smtClean="0">
                <a:solidFill>
                  <a:srgbClr val="C00000"/>
                </a:solidFill>
              </a:rPr>
              <a:t>n-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for n = 2, 3, 4, … suppose that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/>
              <a:t>	Suppose that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3n</a:t>
            </a:r>
            <a:r>
              <a:rPr lang="en-US" dirty="0" smtClean="0"/>
              <a:t> for every nonnegative integer n.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/>
              <a:t>a</a:t>
            </a:r>
            <a:r>
              <a:rPr lang="en-US" b="1" baseline="-25000" dirty="0" smtClean="0"/>
              <a:t>n</a:t>
            </a:r>
            <a:r>
              <a:rPr lang="en-US" b="1" dirty="0" smtClean="0"/>
              <a:t> = 2a</a:t>
            </a:r>
            <a:r>
              <a:rPr lang="en-US" b="1" baseline="-25000" dirty="0" smtClean="0"/>
              <a:t>n-</a:t>
            </a:r>
            <a:r>
              <a:rPr lang="en-US" sz="2200" b="1" baseline="-25000" dirty="0" smtClean="0"/>
              <a:t>1</a:t>
            </a:r>
            <a:r>
              <a:rPr lang="en-US" b="1" dirty="0" smtClean="0"/>
              <a:t> - a</a:t>
            </a:r>
            <a:r>
              <a:rPr lang="en-US" b="1" baseline="-25000" dirty="0" smtClean="0"/>
              <a:t>n-</a:t>
            </a:r>
            <a:r>
              <a:rPr lang="en-US" sz="2200" b="1" baseline="-25000" dirty="0" smtClean="0"/>
              <a:t>2</a:t>
            </a:r>
            <a:r>
              <a:rPr lang="en-US" sz="2200" b="1" dirty="0" smtClean="0"/>
              <a:t>  </a:t>
            </a:r>
          </a:p>
          <a:p>
            <a:pPr>
              <a:buNone/>
            </a:pPr>
            <a:r>
              <a:rPr lang="en-US" sz="2200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So, </a:t>
            </a:r>
          </a:p>
          <a:p>
            <a:pPr>
              <a:buNone/>
            </a:pPr>
            <a:r>
              <a:rPr lang="en-US" sz="2200" dirty="0" smtClean="0">
                <a:solidFill>
                  <a:srgbClr val="C00000"/>
                </a:solidFill>
              </a:rPr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sz="2400" b="1" baseline="-25000" dirty="0" smtClean="0">
                <a:solidFill>
                  <a:srgbClr val="C00000"/>
                </a:solidFill>
              </a:rPr>
              <a:t>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1</a:t>
            </a:r>
            <a:r>
              <a:rPr lang="en-US" sz="2400" b="1" dirty="0" smtClean="0">
                <a:solidFill>
                  <a:srgbClr val="C00000"/>
                </a:solidFill>
              </a:rPr>
              <a:t> = </a:t>
            </a:r>
            <a:r>
              <a:rPr lang="en-US" sz="2200" b="1" dirty="0" smtClean="0">
                <a:solidFill>
                  <a:srgbClr val="C00000"/>
                </a:solidFill>
              </a:rPr>
              <a:t>3(n-1)</a:t>
            </a:r>
          </a:p>
          <a:p>
            <a:pPr>
              <a:buNone/>
            </a:pPr>
            <a:r>
              <a:rPr lang="en-US" sz="2400" baseline="-25000" dirty="0" smtClean="0">
                <a:solidFill>
                  <a:srgbClr val="C00000"/>
                </a:solidFill>
              </a:rPr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n-2</a:t>
            </a:r>
            <a:r>
              <a:rPr lang="en-US" sz="2000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= </a:t>
            </a:r>
            <a:r>
              <a:rPr lang="en-US" sz="2200" b="1" dirty="0" smtClean="0">
                <a:solidFill>
                  <a:srgbClr val="C00000"/>
                </a:solidFill>
              </a:rPr>
              <a:t>3(n-2)</a:t>
            </a:r>
            <a:endParaRPr lang="en-US" sz="2200" b="1" baseline="-25000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sz="2200" baseline="-25000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	</a:t>
            </a:r>
            <a:r>
              <a:rPr lang="en-US" b="1" dirty="0" smtClean="0"/>
              <a:t>a</a:t>
            </a:r>
            <a:r>
              <a:rPr lang="en-US" b="1" baseline="-25000" dirty="0" smtClean="0"/>
              <a:t>n</a:t>
            </a:r>
            <a:r>
              <a:rPr lang="en-US" b="1" dirty="0" smtClean="0"/>
              <a:t> = 2a</a:t>
            </a:r>
            <a:r>
              <a:rPr lang="en-US" b="1" baseline="-25000" dirty="0" smtClean="0"/>
              <a:t>n-1</a:t>
            </a:r>
            <a:r>
              <a:rPr lang="en-US" b="1" dirty="0" smtClean="0"/>
              <a:t> – a</a:t>
            </a:r>
            <a:r>
              <a:rPr lang="en-US" b="1" baseline="-25000" dirty="0" smtClean="0"/>
              <a:t>n-2</a:t>
            </a:r>
            <a:r>
              <a:rPr lang="en-US" b="1" dirty="0" smtClean="0"/>
              <a:t> 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 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2(3(n – 1)) – 3(n – 2) </a:t>
            </a:r>
          </a:p>
          <a:p>
            <a:pPr>
              <a:buNone/>
            </a:pPr>
            <a:r>
              <a:rPr lang="en-US" b="1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2(3n – 3) – 3n + 6</a:t>
            </a:r>
          </a:p>
          <a:p>
            <a:pPr>
              <a:buNone/>
            </a:pPr>
            <a:r>
              <a:rPr lang="en-US" b="1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6n – 6 – 3n + 6</a:t>
            </a:r>
          </a:p>
          <a:p>
            <a:pPr>
              <a:buNone/>
            </a:pPr>
            <a:r>
              <a:rPr lang="en-US" b="1" dirty="0" smtClean="0"/>
              <a:t>		a</a:t>
            </a:r>
            <a:r>
              <a:rPr lang="en-US" b="1" baseline="-25000" dirty="0" smtClean="0"/>
              <a:t>n</a:t>
            </a:r>
            <a:r>
              <a:rPr lang="en-US" b="1" dirty="0" smtClean="0"/>
              <a:t> = 3n</a:t>
            </a:r>
          </a:p>
          <a:p>
            <a:pPr algn="ctr">
              <a:buNone/>
            </a:pPr>
            <a:endParaRPr lang="en-US" sz="2000" b="1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dirty="0" smtClean="0"/>
              <a:t>So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3n</a:t>
            </a:r>
            <a:r>
              <a:rPr lang="en-US" dirty="0" smtClean="0"/>
              <a:t> is solution of recurrence relation.</a:t>
            </a:r>
          </a:p>
          <a:p>
            <a:pPr algn="ctr">
              <a:buNone/>
            </a:pPr>
            <a:endParaRPr lang="en-US" sz="2000" b="1" dirty="0" smtClean="0"/>
          </a:p>
          <a:p>
            <a:pPr algn="ctr">
              <a:buNone/>
            </a:pPr>
            <a:endParaRPr lang="en-US" sz="2200" b="1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Determine whether the sequence {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}, where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2</a:t>
            </a:r>
            <a:r>
              <a:rPr lang="en-US" baseline="30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for every nonnegative integer</a:t>
            </a:r>
            <a:r>
              <a:rPr lang="en-US" dirty="0" smtClean="0">
                <a:solidFill>
                  <a:srgbClr val="C00000"/>
                </a:solidFill>
              </a:rPr>
              <a:t> n, </a:t>
            </a:r>
            <a:r>
              <a:rPr lang="en-US" dirty="0" smtClean="0"/>
              <a:t>is a </a:t>
            </a:r>
            <a:r>
              <a:rPr lang="en-US" b="1" dirty="0" smtClean="0">
                <a:solidFill>
                  <a:srgbClr val="C00000"/>
                </a:solidFill>
              </a:rPr>
              <a:t>solution</a:t>
            </a:r>
            <a:r>
              <a:rPr lang="en-US" dirty="0" smtClean="0"/>
              <a:t> of the </a:t>
            </a:r>
            <a:r>
              <a:rPr lang="en-US" b="1" dirty="0" smtClean="0">
                <a:solidFill>
                  <a:srgbClr val="C00000"/>
                </a:solidFill>
              </a:rPr>
              <a:t>recurrence relation</a:t>
            </a:r>
            <a:r>
              <a:rPr lang="en-US" dirty="0" smtClean="0"/>
              <a:t> that satisfies the recurrence relation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2a</a:t>
            </a:r>
            <a:r>
              <a:rPr lang="en-US" b="1" baseline="-25000" dirty="0" smtClean="0">
                <a:solidFill>
                  <a:srgbClr val="C00000"/>
                </a:solidFill>
              </a:rPr>
              <a:t>n-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 - a</a:t>
            </a:r>
            <a:r>
              <a:rPr lang="en-US" b="1" baseline="-25000" dirty="0" smtClean="0">
                <a:solidFill>
                  <a:srgbClr val="C00000"/>
                </a:solidFill>
              </a:rPr>
              <a:t>n-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for n = 2, 3, 4, … suppose that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/>
              <a:t>	Suppose that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2</a:t>
            </a:r>
            <a:r>
              <a:rPr lang="en-US" baseline="30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for every nonnegative integer n.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/>
              <a:t>a</a:t>
            </a:r>
            <a:r>
              <a:rPr lang="en-US" b="1" baseline="-25000" dirty="0" smtClean="0"/>
              <a:t>n</a:t>
            </a:r>
            <a:r>
              <a:rPr lang="en-US" b="1" dirty="0" smtClean="0"/>
              <a:t> = 2a</a:t>
            </a:r>
            <a:r>
              <a:rPr lang="en-US" b="1" baseline="-25000" dirty="0" smtClean="0"/>
              <a:t>n-</a:t>
            </a:r>
            <a:r>
              <a:rPr lang="en-US" sz="2200" b="1" baseline="-25000" dirty="0" smtClean="0"/>
              <a:t>1</a:t>
            </a:r>
            <a:r>
              <a:rPr lang="en-US" b="1" dirty="0" smtClean="0"/>
              <a:t> - a</a:t>
            </a:r>
            <a:r>
              <a:rPr lang="en-US" b="1" baseline="-25000" dirty="0" smtClean="0"/>
              <a:t>n-</a:t>
            </a:r>
            <a:r>
              <a:rPr lang="en-US" sz="2200" b="1" baseline="-25000" dirty="0" smtClean="0"/>
              <a:t>2</a:t>
            </a:r>
            <a:r>
              <a:rPr lang="en-US" sz="2200" b="1" dirty="0" smtClean="0"/>
              <a:t>  </a:t>
            </a:r>
          </a:p>
          <a:p>
            <a:pPr>
              <a:buNone/>
            </a:pPr>
            <a:r>
              <a:rPr lang="en-US" sz="2200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So, </a:t>
            </a:r>
          </a:p>
          <a:p>
            <a:pPr>
              <a:buNone/>
            </a:pPr>
            <a:r>
              <a:rPr lang="en-US" sz="2200" dirty="0" smtClean="0">
                <a:solidFill>
                  <a:srgbClr val="C00000"/>
                </a:solidFill>
              </a:rPr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sz="2400" b="1" baseline="-25000" dirty="0" smtClean="0">
                <a:solidFill>
                  <a:srgbClr val="C00000"/>
                </a:solidFill>
              </a:rPr>
              <a:t>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1</a:t>
            </a:r>
            <a:r>
              <a:rPr lang="en-US" sz="2400" b="1" dirty="0" smtClean="0">
                <a:solidFill>
                  <a:srgbClr val="C00000"/>
                </a:solidFill>
              </a:rPr>
              <a:t> = </a:t>
            </a:r>
            <a:r>
              <a:rPr lang="en-US" sz="2200" b="1" dirty="0" smtClean="0">
                <a:solidFill>
                  <a:srgbClr val="C00000"/>
                </a:solidFill>
              </a:rPr>
              <a:t>2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n-1 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  	</a:t>
            </a:r>
            <a:endParaRPr lang="en-US" sz="2400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2400" baseline="-25000" dirty="0" smtClean="0">
                <a:solidFill>
                  <a:srgbClr val="C00000"/>
                </a:solidFill>
              </a:rPr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n-2</a:t>
            </a:r>
            <a:r>
              <a:rPr lang="en-US" sz="2000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= </a:t>
            </a:r>
            <a:r>
              <a:rPr lang="en-US" sz="2400" b="1" dirty="0" smtClean="0">
                <a:solidFill>
                  <a:srgbClr val="C00000"/>
                </a:solidFill>
              </a:rPr>
              <a:t>2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n-2</a:t>
            </a:r>
            <a:endParaRPr lang="en-US" sz="2400" b="1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sz="2200" b="1" baseline="-25000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sz="2200" baseline="-25000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	</a:t>
            </a:r>
            <a:r>
              <a:rPr lang="en-US" b="1" dirty="0" smtClean="0"/>
              <a:t>a</a:t>
            </a:r>
            <a:r>
              <a:rPr lang="en-US" b="1" baseline="-25000" dirty="0" smtClean="0"/>
              <a:t>n</a:t>
            </a:r>
            <a:r>
              <a:rPr lang="en-US" b="1" dirty="0" smtClean="0"/>
              <a:t> = 2a</a:t>
            </a:r>
            <a:r>
              <a:rPr lang="en-US" b="1" baseline="-25000" dirty="0" smtClean="0"/>
              <a:t>n-1</a:t>
            </a:r>
            <a:r>
              <a:rPr lang="en-US" b="1" dirty="0" smtClean="0"/>
              <a:t> – a</a:t>
            </a:r>
            <a:r>
              <a:rPr lang="en-US" b="1" baseline="-25000" dirty="0" smtClean="0"/>
              <a:t>n-2</a:t>
            </a:r>
            <a:r>
              <a:rPr lang="en-US" b="1" dirty="0" smtClean="0"/>
              <a:t> 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 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2.</a:t>
            </a:r>
            <a:r>
              <a:rPr lang="en-US" sz="2800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2</a:t>
            </a:r>
            <a:r>
              <a:rPr lang="en-US" b="1" baseline="30000" dirty="0" smtClean="0">
                <a:solidFill>
                  <a:srgbClr val="C00000"/>
                </a:solidFill>
              </a:rPr>
              <a:t>n-1</a:t>
            </a:r>
            <a:r>
              <a:rPr lang="en-US" b="1" dirty="0" smtClean="0">
                <a:solidFill>
                  <a:srgbClr val="C00000"/>
                </a:solidFill>
              </a:rPr>
              <a:t> –</a:t>
            </a:r>
            <a:r>
              <a:rPr lang="en-US" sz="2800" b="1" dirty="0" smtClean="0">
                <a:solidFill>
                  <a:srgbClr val="C00000"/>
                </a:solidFill>
              </a:rPr>
              <a:t>2</a:t>
            </a:r>
            <a:r>
              <a:rPr lang="en-US" sz="2800" b="1" baseline="30000" dirty="0" smtClean="0">
                <a:solidFill>
                  <a:srgbClr val="C00000"/>
                </a:solidFill>
              </a:rPr>
              <a:t>n-2</a:t>
            </a:r>
          </a:p>
          <a:p>
            <a:pPr>
              <a:buNone/>
            </a:pPr>
            <a:r>
              <a:rPr lang="en-US" b="1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</a:t>
            </a:r>
            <a:r>
              <a:rPr lang="en-US" b="1" baseline="30000" dirty="0" smtClean="0">
                <a:solidFill>
                  <a:srgbClr val="C00000"/>
                </a:solidFill>
              </a:rPr>
              <a:t>n-1+1 </a:t>
            </a:r>
            <a:r>
              <a:rPr lang="en-US" b="1" dirty="0" smtClean="0">
                <a:solidFill>
                  <a:srgbClr val="C00000"/>
                </a:solidFill>
              </a:rPr>
              <a:t> – </a:t>
            </a:r>
            <a:r>
              <a:rPr lang="en-US" sz="2400" b="1" dirty="0" smtClean="0">
                <a:solidFill>
                  <a:srgbClr val="C00000"/>
                </a:solidFill>
              </a:rPr>
              <a:t>2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n-2</a:t>
            </a:r>
          </a:p>
          <a:p>
            <a:pPr>
              <a:buNone/>
            </a:pPr>
            <a:r>
              <a:rPr lang="en-US" b="1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</a:t>
            </a:r>
            <a:r>
              <a:rPr lang="en-US" b="1" baseline="30000" dirty="0" smtClean="0">
                <a:solidFill>
                  <a:srgbClr val="C00000"/>
                </a:solidFill>
              </a:rPr>
              <a:t>n </a:t>
            </a:r>
            <a:r>
              <a:rPr lang="en-US" b="1" dirty="0" smtClean="0">
                <a:solidFill>
                  <a:srgbClr val="C00000"/>
                </a:solidFill>
              </a:rPr>
              <a:t> – </a:t>
            </a:r>
            <a:r>
              <a:rPr lang="en-US" sz="2400" b="1" dirty="0" smtClean="0">
                <a:solidFill>
                  <a:srgbClr val="C00000"/>
                </a:solidFill>
              </a:rPr>
              <a:t>2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n-2</a:t>
            </a:r>
            <a:endParaRPr lang="en-US" b="1" dirty="0" smtClean="0">
              <a:solidFill>
                <a:srgbClr val="C00000"/>
              </a:solidFill>
            </a:endParaRPr>
          </a:p>
          <a:p>
            <a:pPr algn="ctr">
              <a:buNone/>
            </a:pPr>
            <a:endParaRPr lang="en-US" sz="2000" b="1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dirty="0" smtClean="0"/>
              <a:t>So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</a:t>
            </a:r>
            <a:r>
              <a:rPr lang="en-US" b="1" baseline="30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C00000"/>
                </a:solidFill>
              </a:rPr>
              <a:t>not a solution</a:t>
            </a:r>
            <a:r>
              <a:rPr lang="en-US" dirty="0" smtClean="0"/>
              <a:t> of recurrence relation.</a:t>
            </a:r>
          </a:p>
          <a:p>
            <a:pPr algn="ctr">
              <a:buNone/>
            </a:pPr>
            <a:endParaRPr lang="en-US" sz="2000" b="1" dirty="0" smtClean="0"/>
          </a:p>
          <a:p>
            <a:pPr algn="ctr">
              <a:buNone/>
            </a:pPr>
            <a:endParaRPr lang="en-US" sz="2200" b="1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Determine whether the sequence {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}, where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5 </a:t>
            </a:r>
            <a:r>
              <a:rPr lang="en-US" dirty="0" smtClean="0"/>
              <a:t>for every nonnegative integer</a:t>
            </a:r>
            <a:r>
              <a:rPr lang="en-US" dirty="0" smtClean="0">
                <a:solidFill>
                  <a:srgbClr val="C00000"/>
                </a:solidFill>
              </a:rPr>
              <a:t> n, </a:t>
            </a:r>
            <a:r>
              <a:rPr lang="en-US" dirty="0" smtClean="0"/>
              <a:t>is a </a:t>
            </a:r>
            <a:r>
              <a:rPr lang="en-US" b="1" dirty="0" smtClean="0">
                <a:solidFill>
                  <a:srgbClr val="C00000"/>
                </a:solidFill>
              </a:rPr>
              <a:t>solution</a:t>
            </a:r>
            <a:r>
              <a:rPr lang="en-US" dirty="0" smtClean="0"/>
              <a:t> of the </a:t>
            </a:r>
            <a:r>
              <a:rPr lang="en-US" b="1" dirty="0" smtClean="0">
                <a:solidFill>
                  <a:srgbClr val="C00000"/>
                </a:solidFill>
              </a:rPr>
              <a:t>recurrence relation</a:t>
            </a:r>
            <a:r>
              <a:rPr lang="en-US" dirty="0" smtClean="0"/>
              <a:t> that satisfies the recurrence relation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2a</a:t>
            </a:r>
            <a:r>
              <a:rPr lang="en-US" b="1" baseline="-25000" dirty="0" smtClean="0">
                <a:solidFill>
                  <a:srgbClr val="C00000"/>
                </a:solidFill>
              </a:rPr>
              <a:t>n-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 - a</a:t>
            </a:r>
            <a:r>
              <a:rPr lang="en-US" b="1" baseline="-25000" dirty="0" smtClean="0">
                <a:solidFill>
                  <a:srgbClr val="C00000"/>
                </a:solidFill>
              </a:rPr>
              <a:t>n-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for n = 2, 3, 4, … suppose that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/>
              <a:t>	Suppose that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5</a:t>
            </a:r>
            <a:r>
              <a:rPr lang="en-US" dirty="0" smtClean="0"/>
              <a:t> for every nonnegative integer n.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/>
              <a:t>a</a:t>
            </a:r>
            <a:r>
              <a:rPr lang="en-US" b="1" baseline="-25000" dirty="0" smtClean="0"/>
              <a:t>n</a:t>
            </a:r>
            <a:r>
              <a:rPr lang="en-US" b="1" dirty="0" smtClean="0"/>
              <a:t> = 2a</a:t>
            </a:r>
            <a:r>
              <a:rPr lang="en-US" b="1" baseline="-25000" dirty="0" smtClean="0"/>
              <a:t>n-</a:t>
            </a:r>
            <a:r>
              <a:rPr lang="en-US" sz="2200" b="1" baseline="-25000" dirty="0" smtClean="0"/>
              <a:t>1</a:t>
            </a:r>
            <a:r>
              <a:rPr lang="en-US" b="1" dirty="0" smtClean="0"/>
              <a:t> - a</a:t>
            </a:r>
            <a:r>
              <a:rPr lang="en-US" b="1" baseline="-25000" dirty="0" smtClean="0"/>
              <a:t>n-</a:t>
            </a:r>
            <a:r>
              <a:rPr lang="en-US" sz="2200" b="1" baseline="-25000" dirty="0" smtClean="0"/>
              <a:t>2</a:t>
            </a:r>
            <a:r>
              <a:rPr lang="en-US" sz="2200" b="1" dirty="0" smtClean="0"/>
              <a:t>  </a:t>
            </a:r>
          </a:p>
          <a:p>
            <a:pPr>
              <a:buNone/>
            </a:pPr>
            <a:r>
              <a:rPr lang="en-US" sz="2200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So, </a:t>
            </a:r>
          </a:p>
          <a:p>
            <a:pPr>
              <a:buNone/>
            </a:pPr>
            <a:r>
              <a:rPr lang="en-US" sz="2200" dirty="0" smtClean="0">
                <a:solidFill>
                  <a:srgbClr val="C00000"/>
                </a:solidFill>
              </a:rPr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sz="2400" b="1" baseline="-25000" dirty="0" smtClean="0">
                <a:solidFill>
                  <a:srgbClr val="C00000"/>
                </a:solidFill>
              </a:rPr>
              <a:t>-</a:t>
            </a:r>
            <a:r>
              <a:rPr lang="en-US" sz="2200" b="1" baseline="-25000" dirty="0" smtClean="0">
                <a:solidFill>
                  <a:srgbClr val="C00000"/>
                </a:solidFill>
              </a:rPr>
              <a:t>1</a:t>
            </a:r>
            <a:r>
              <a:rPr lang="en-US" sz="2400" b="1" dirty="0" smtClean="0">
                <a:solidFill>
                  <a:srgbClr val="C00000"/>
                </a:solidFill>
              </a:rPr>
              <a:t> = </a:t>
            </a:r>
            <a:r>
              <a:rPr lang="en-US" sz="2200" b="1" dirty="0" smtClean="0">
                <a:solidFill>
                  <a:srgbClr val="C00000"/>
                </a:solidFill>
              </a:rPr>
              <a:t>5</a:t>
            </a:r>
          </a:p>
          <a:p>
            <a:pPr>
              <a:buNone/>
            </a:pPr>
            <a:r>
              <a:rPr lang="en-US" sz="2400" baseline="-25000" dirty="0" smtClean="0">
                <a:solidFill>
                  <a:srgbClr val="C00000"/>
                </a:solidFill>
              </a:rPr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n-2</a:t>
            </a:r>
            <a:r>
              <a:rPr lang="en-US" sz="2000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= </a:t>
            </a:r>
            <a:r>
              <a:rPr lang="en-US" sz="2200" b="1" dirty="0" smtClean="0">
                <a:solidFill>
                  <a:srgbClr val="C00000"/>
                </a:solidFill>
              </a:rPr>
              <a:t>5</a:t>
            </a:r>
            <a:endParaRPr lang="en-US" sz="2200" b="1" baseline="-25000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sz="2200" baseline="-25000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	</a:t>
            </a:r>
            <a:r>
              <a:rPr lang="en-US" b="1" dirty="0" smtClean="0"/>
              <a:t>a</a:t>
            </a:r>
            <a:r>
              <a:rPr lang="en-US" b="1" baseline="-25000" dirty="0" smtClean="0"/>
              <a:t>n</a:t>
            </a:r>
            <a:r>
              <a:rPr lang="en-US" b="1" dirty="0" smtClean="0"/>
              <a:t> = 2a</a:t>
            </a:r>
            <a:r>
              <a:rPr lang="en-US" b="1" baseline="-25000" dirty="0" smtClean="0"/>
              <a:t>n-1</a:t>
            </a:r>
            <a:r>
              <a:rPr lang="en-US" b="1" dirty="0" smtClean="0"/>
              <a:t> – a</a:t>
            </a:r>
            <a:r>
              <a:rPr lang="en-US" b="1" baseline="-25000" dirty="0" smtClean="0"/>
              <a:t>n-2</a:t>
            </a:r>
            <a:r>
              <a:rPr lang="en-US" b="1" dirty="0" smtClean="0"/>
              <a:t> 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 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2 .</a:t>
            </a:r>
            <a:r>
              <a:rPr lang="en-US" sz="28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5</a:t>
            </a:r>
            <a:r>
              <a:rPr lang="en-US" b="1" dirty="0" smtClean="0">
                <a:solidFill>
                  <a:srgbClr val="C00000"/>
                </a:solidFill>
              </a:rPr>
              <a:t> – 5</a:t>
            </a:r>
            <a:endParaRPr lang="en-US" sz="2800" b="1" baseline="30000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10</a:t>
            </a:r>
            <a:r>
              <a:rPr lang="en-US" b="1" baseline="30000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</a:rPr>
              <a:t> – 5</a:t>
            </a:r>
            <a:endParaRPr lang="en-US" sz="2400" b="1" baseline="30000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/>
              <a:t>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5</a:t>
            </a:r>
          </a:p>
          <a:p>
            <a:pPr algn="ctr">
              <a:buNone/>
            </a:pPr>
            <a:endParaRPr lang="en-US" sz="2000" b="1" dirty="0" smtClean="0"/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dirty="0" smtClean="0"/>
              <a:t>So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5 </a:t>
            </a:r>
            <a:r>
              <a:rPr lang="en-US" dirty="0" smtClean="0"/>
              <a:t>is </a:t>
            </a:r>
            <a:r>
              <a:rPr lang="en-US" b="1" dirty="0" smtClean="0">
                <a:solidFill>
                  <a:srgbClr val="C00000"/>
                </a:solidFill>
              </a:rPr>
              <a:t>a solution</a:t>
            </a:r>
            <a:r>
              <a:rPr lang="en-US" dirty="0" smtClean="0"/>
              <a:t> of recurrence relation.</a:t>
            </a:r>
          </a:p>
          <a:p>
            <a:pPr algn="ctr">
              <a:buNone/>
            </a:pPr>
            <a:endParaRPr lang="en-US" sz="2000" b="1" dirty="0" smtClean="0"/>
          </a:p>
          <a:p>
            <a:pPr algn="ctr">
              <a:buNone/>
            </a:pPr>
            <a:endParaRPr lang="en-US" sz="2200" b="1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2824</TotalTime>
  <Words>781</Words>
  <Application>Microsoft Office PowerPoint</Application>
  <PresentationFormat>On-screen Show (4:3)</PresentationFormat>
  <Paragraphs>374</Paragraphs>
  <Slides>52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4" baseType="lpstr">
      <vt:lpstr>Origin</vt:lpstr>
      <vt:lpstr>Equation</vt:lpstr>
      <vt:lpstr>SUMMATION Lecture # 24</vt:lpstr>
      <vt:lpstr>INTRODUCTION</vt:lpstr>
      <vt:lpstr>SUMMATION NOTATION</vt:lpstr>
      <vt:lpstr>PowerPoint Presentation</vt:lpstr>
      <vt:lpstr>COMPUTING SUMMATIONS</vt:lpstr>
      <vt:lpstr>SOLUTION</vt:lpstr>
      <vt:lpstr>SOLUTION</vt:lpstr>
      <vt:lpstr>SOLUTION</vt:lpstr>
      <vt:lpstr>EXERCISE</vt:lpstr>
      <vt:lpstr>NOTE</vt:lpstr>
      <vt:lpstr>SUMMATION NOTATION TO EXPANDED FORM</vt:lpstr>
      <vt:lpstr>EXPANDED FORM TO SUMMATION NOTATION</vt:lpstr>
      <vt:lpstr>PowerPoint Presentation</vt:lpstr>
      <vt:lpstr>PowerPoint Presentation</vt:lpstr>
      <vt:lpstr>PowerPoint Presentation</vt:lpstr>
      <vt:lpstr>PowerPoint Presentation</vt:lpstr>
      <vt:lpstr>REMARK</vt:lpstr>
      <vt:lpstr>EXERCISE</vt:lpstr>
      <vt:lpstr>PowerPoint Presentation</vt:lpstr>
      <vt:lpstr>EXERCISE</vt:lpstr>
      <vt:lpstr>SOLUTION</vt:lpstr>
      <vt:lpstr>PROPERTIES OF SUMMATIONS</vt:lpstr>
      <vt:lpstr>EXERCISE</vt:lpstr>
      <vt:lpstr>PowerPoint Presentation</vt:lpstr>
      <vt:lpstr>ARITHMETIC SERIES</vt:lpstr>
      <vt:lpstr>PowerPoint Presentation</vt:lpstr>
      <vt:lpstr>SUM OF n TERMS OF AN ARITHMETIC SERIES</vt:lpstr>
      <vt:lpstr>PowerPoint Presentation</vt:lpstr>
      <vt:lpstr>PowerPoint Presentation</vt:lpstr>
      <vt:lpstr>EXERCISE</vt:lpstr>
      <vt:lpstr>PowerPoint Presentation</vt:lpstr>
      <vt:lpstr>EXERCISE</vt:lpstr>
      <vt:lpstr>PowerPoint Presentation</vt:lpstr>
      <vt:lpstr>PowerPoint Presentation</vt:lpstr>
      <vt:lpstr>PowerPoint Presentation</vt:lpstr>
      <vt:lpstr>GEOMETRIC SERIES</vt:lpstr>
      <vt:lpstr>PowerPoint Presentation</vt:lpstr>
      <vt:lpstr>SUM OF n TERMS OF A GEOMETRIC SERIES</vt:lpstr>
      <vt:lpstr>PowerPoint Presentation</vt:lpstr>
      <vt:lpstr>EXERCISE</vt:lpstr>
      <vt:lpstr>PowerPoint Presentation</vt:lpstr>
      <vt:lpstr>RECURRENCE RELATION</vt:lpstr>
      <vt:lpstr>EXAMPLE</vt:lpstr>
      <vt:lpstr>PowerPoint Presentation</vt:lpstr>
      <vt:lpstr>EXAMPLE</vt:lpstr>
      <vt:lpstr>THE FIBONACCI SEQUENCE</vt:lpstr>
      <vt:lpstr>EXAMPLE</vt:lpstr>
      <vt:lpstr>PowerPoint Presentation</vt:lpstr>
      <vt:lpstr>EXAMPLE</vt:lpstr>
      <vt:lpstr>PowerPoint Presentation</vt:lpstr>
      <vt:lpstr>EXAMPLE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RULES OF INFERENCE Lecture # 08</dc:title>
  <dc:creator>C &amp; M</dc:creator>
  <cp:lastModifiedBy>Dell</cp:lastModifiedBy>
  <cp:revision>310</cp:revision>
  <dcterms:created xsi:type="dcterms:W3CDTF">2013-10-15T06:26:31Z</dcterms:created>
  <dcterms:modified xsi:type="dcterms:W3CDTF">2024-12-28T09:19:31Z</dcterms:modified>
</cp:coreProperties>
</file>
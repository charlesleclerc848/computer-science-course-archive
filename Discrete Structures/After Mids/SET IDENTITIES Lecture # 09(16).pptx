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0"/>
  </p:notesMasterIdLst>
  <p:sldIdLst>
    <p:sldId id="256" r:id="rId2"/>
    <p:sldId id="257" r:id="rId3"/>
    <p:sldId id="258" r:id="rId4"/>
    <p:sldId id="261" r:id="rId5"/>
    <p:sldId id="263" r:id="rId6"/>
    <p:sldId id="264" r:id="rId7"/>
    <p:sldId id="314" r:id="rId8"/>
    <p:sldId id="316" r:id="rId9"/>
    <p:sldId id="318" r:id="rId10"/>
    <p:sldId id="319" r:id="rId11"/>
    <p:sldId id="339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21" autoAdjust="0"/>
    <p:restoredTop sz="94660"/>
  </p:normalViewPr>
  <p:slideViewPr>
    <p:cSldViewPr>
      <p:cViewPr varScale="1">
        <p:scale>
          <a:sx n="65" d="100"/>
          <a:sy n="65" d="100"/>
        </p:scale>
        <p:origin x="-58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7939-79AF-4A32-AB9F-5BF5911533C4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E571A-A855-4B32-A55C-36747286D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0" lang="en-US" sz="2400" b="1" kern="1200" dirty="0" smtClean="0">
              <a:solidFill>
                <a:schemeClr val="accent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7E571A-A855-4B32-A55C-36747286D09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5D386AA-E25C-4F5A-84F7-0B9C1ACAE6A2}" type="datetimeFigureOut">
              <a:rPr lang="en-US" smtClean="0"/>
              <a:pPr/>
              <a:t>10/26/2013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SET IDENTITIES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Lecture # 09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i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be </a:t>
            </a:r>
            <a:r>
              <a:rPr lang="en-US" b="1" dirty="0" smtClean="0">
                <a:solidFill>
                  <a:srgbClr val="C00000"/>
                </a:solidFill>
              </a:rPr>
              <a:t>subsets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universal</a:t>
            </a:r>
            <a:r>
              <a:rPr lang="en-US" dirty="0" smtClean="0"/>
              <a:t> set </a:t>
            </a:r>
            <a:r>
              <a:rPr lang="en-US" dirty="0" smtClean="0">
                <a:solidFill>
                  <a:srgbClr val="C00000"/>
                </a:solidFill>
              </a:rPr>
              <a:t>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Idempotent Laws</a:t>
            </a:r>
          </a:p>
          <a:p>
            <a:pPr>
              <a:buNone/>
            </a:pPr>
            <a:r>
              <a:rPr lang="en-US" dirty="0" smtClean="0"/>
              <a:t>	a.	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 = A		b.	A </a:t>
            </a:r>
            <a:r>
              <a:rPr lang="en-US" dirty="0" smtClean="0">
                <a:sym typeface="Symbol"/>
              </a:rPr>
              <a:t> </a:t>
            </a:r>
            <a:r>
              <a:rPr lang="en-US" dirty="0" smtClean="0"/>
              <a:t>A = A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Commutative Laws</a:t>
            </a:r>
          </a:p>
          <a:p>
            <a:pPr>
              <a:buNone/>
            </a:pPr>
            <a:r>
              <a:rPr lang="en-US" dirty="0" smtClean="0"/>
              <a:t>	a.	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= B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	b.	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 = B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A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Associative Laws</a:t>
            </a:r>
          </a:p>
          <a:p>
            <a:pPr>
              <a:buNone/>
            </a:pPr>
            <a:r>
              <a:rPr lang="en-US" dirty="0" smtClean="0"/>
              <a:t>		a.	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(B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C) =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C</a:t>
            </a:r>
          </a:p>
          <a:p>
            <a:pPr>
              <a:buNone/>
            </a:pPr>
            <a:r>
              <a:rPr lang="en-US" dirty="0" smtClean="0"/>
              <a:t>		b.	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C) = (A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C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 smtClean="0"/>
              <a:t>SETS IDENTITIES</a:t>
            </a:r>
            <a:endParaRPr lang="en-US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Distributive Laws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a.	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(B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C) = (A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B)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 (A </a:t>
            </a:r>
            <a:r>
              <a:rPr lang="en-US" dirty="0" smtClean="0">
                <a:sym typeface="Symbol"/>
              </a:rPr>
              <a:t></a:t>
            </a:r>
            <a:r>
              <a:rPr lang="pt-BR" smtClean="0"/>
              <a:t> </a:t>
            </a:r>
            <a:r>
              <a:rPr lang="pt-BR" smtClean="0"/>
              <a:t>C)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	b.	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(B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C) = (A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B)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(A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C)</a:t>
            </a:r>
          </a:p>
          <a:p>
            <a:pPr>
              <a:buNone/>
            </a:pPr>
            <a:endParaRPr lang="pt-BR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Identity Laws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s-ES" dirty="0" smtClean="0"/>
              <a:t>a.	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</a:t>
            </a:r>
            <a:r>
              <a:rPr lang="es-ES" dirty="0" smtClean="0"/>
              <a:t> = A		b.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</a:t>
            </a:r>
            <a:r>
              <a:rPr lang="es-ES" dirty="0" smtClean="0"/>
              <a:t> = </a:t>
            </a:r>
            <a:r>
              <a:rPr lang="en-US" dirty="0" smtClean="0">
                <a:sym typeface="Symbol"/>
              </a:rPr>
              <a:t></a:t>
            </a:r>
            <a:endParaRPr lang="en-US" dirty="0" smtClean="0"/>
          </a:p>
          <a:p>
            <a:pPr>
              <a:buNone/>
            </a:pPr>
            <a:r>
              <a:rPr lang="es-ES" dirty="0" smtClean="0"/>
              <a:t>		c.	A </a:t>
            </a:r>
            <a:r>
              <a:rPr lang="en-US" dirty="0" smtClean="0">
                <a:sym typeface="Symbol"/>
              </a:rPr>
              <a:t></a:t>
            </a:r>
            <a:r>
              <a:rPr lang="es-ES" dirty="0" smtClean="0"/>
              <a:t> U = U		d. A </a:t>
            </a:r>
            <a:r>
              <a:rPr lang="en-US" dirty="0" smtClean="0">
                <a:sym typeface="Symbol"/>
              </a:rPr>
              <a:t></a:t>
            </a:r>
            <a:r>
              <a:rPr lang="es-ES" dirty="0" smtClean="0"/>
              <a:t> U = A</a:t>
            </a:r>
          </a:p>
          <a:p>
            <a:pPr>
              <a:buNone/>
            </a:pPr>
            <a:endParaRPr lang="es-E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Complement Laws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a.	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A</a:t>
            </a:r>
            <a:r>
              <a:rPr lang="pt-BR" baseline="30000" dirty="0" smtClean="0"/>
              <a:t>c</a:t>
            </a:r>
            <a:r>
              <a:rPr lang="pt-BR" dirty="0" smtClean="0"/>
              <a:t> = U		b. 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A</a:t>
            </a:r>
            <a:r>
              <a:rPr lang="pt-BR" baseline="30000" dirty="0" smtClean="0"/>
              <a:t>c</a:t>
            </a:r>
            <a:r>
              <a:rPr lang="pt-BR" dirty="0" smtClean="0"/>
              <a:t> = </a:t>
            </a:r>
            <a:r>
              <a:rPr lang="en-US" dirty="0" smtClean="0">
                <a:sym typeface="Symbol"/>
              </a:rPr>
              <a:t>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	c.	U</a:t>
            </a:r>
            <a:r>
              <a:rPr lang="pt-BR" baseline="30000" dirty="0" smtClean="0"/>
              <a:t>c</a:t>
            </a:r>
            <a:r>
              <a:rPr lang="pt-BR" dirty="0" smtClean="0"/>
              <a:t> = </a:t>
            </a:r>
            <a:r>
              <a:rPr lang="en-US" dirty="0" smtClean="0">
                <a:sym typeface="Symbol"/>
              </a:rPr>
              <a:t></a:t>
            </a:r>
            <a:r>
              <a:rPr lang="pt-BR" dirty="0" smtClean="0"/>
              <a:t> 		d.  </a:t>
            </a:r>
            <a:r>
              <a:rPr lang="en-US" dirty="0" smtClean="0">
                <a:sym typeface="Symbol"/>
              </a:rPr>
              <a:t></a:t>
            </a:r>
            <a:r>
              <a:rPr lang="en-US" dirty="0" smtClean="0"/>
              <a:t> </a:t>
            </a:r>
            <a:r>
              <a:rPr lang="en-US" baseline="30000" dirty="0" smtClean="0"/>
              <a:t>c</a:t>
            </a:r>
            <a:r>
              <a:rPr lang="en-US" dirty="0" smtClean="0"/>
              <a:t> = U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48600" cy="487375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			(A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 c</a:t>
            </a:r>
            <a:r>
              <a:rPr lang="en-US" dirty="0" smtClean="0"/>
              <a:t> = A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De-Morgan’s Laws</a:t>
            </a:r>
          </a:p>
          <a:p>
            <a:pPr>
              <a:buNone/>
            </a:pPr>
            <a:r>
              <a:rPr lang="en-US" dirty="0" smtClean="0"/>
              <a:t>			a. 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=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endParaRPr lang="en-US" baseline="30000" dirty="0" smtClean="0"/>
          </a:p>
          <a:p>
            <a:pPr>
              <a:buNone/>
            </a:pPr>
            <a:r>
              <a:rPr lang="en-US" baseline="30000" dirty="0" smtClean="0"/>
              <a:t>	</a:t>
            </a:r>
            <a:r>
              <a:rPr lang="en-US" dirty="0" smtClean="0"/>
              <a:t>		b. (A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=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endParaRPr lang="en-US" baseline="30000" dirty="0" smtClean="0"/>
          </a:p>
          <a:p>
            <a:pPr>
              <a:buNone/>
            </a:pPr>
            <a:endParaRPr lang="en-US" dirty="0" smtClean="0"/>
          </a:p>
          <a:p>
            <a:pPr lvl="0"/>
            <a:r>
              <a:rPr lang="en-US" b="1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			A – B =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smtClean="0">
                <a:solidFill>
                  <a:srgbClr val="C00000"/>
                </a:solidFill>
              </a:rPr>
              <a:t>Subset Laws</a:t>
            </a:r>
          </a:p>
          <a:p>
            <a:pPr>
              <a:buNone/>
            </a:pPr>
            <a:r>
              <a:rPr lang="en-US" dirty="0" smtClean="0"/>
              <a:t>		a.	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C </a:t>
            </a:r>
            <a:r>
              <a:rPr lang="en-US" i="1" dirty="0" err="1" smtClean="0"/>
              <a:t>iff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C and B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C</a:t>
            </a:r>
          </a:p>
          <a:p>
            <a:pPr>
              <a:buNone/>
            </a:pPr>
            <a:r>
              <a:rPr lang="en-US" dirty="0" smtClean="0"/>
              <a:t>		b.	C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 </a:t>
            </a:r>
            <a:r>
              <a:rPr lang="en-US" i="1" dirty="0" err="1" smtClean="0"/>
              <a:t>iff</a:t>
            </a:r>
            <a:r>
              <a:rPr lang="en-US" dirty="0" smtClean="0"/>
              <a:t> C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and C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B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Absorption Laws</a:t>
            </a:r>
          </a:p>
          <a:p>
            <a:pPr>
              <a:buNone/>
            </a:pPr>
            <a:r>
              <a:rPr lang="pt-BR" dirty="0" smtClean="0"/>
              <a:t>		a. 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(A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B) = A</a:t>
            </a:r>
          </a:p>
          <a:p>
            <a:pPr>
              <a:buNone/>
            </a:pPr>
            <a:r>
              <a:rPr lang="pt-BR" dirty="0" smtClean="0"/>
              <a:t>		b. 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(A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B) = A</a:t>
            </a:r>
            <a:endParaRPr lang="en-US" dirty="0" smtClean="0"/>
          </a:p>
          <a:p>
            <a:endParaRPr lang="en-US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&amp; </a:t>
            </a:r>
            <a:r>
              <a:rPr lang="en-US" b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be </a:t>
            </a:r>
            <a:r>
              <a:rPr lang="en-US" b="1" dirty="0" smtClean="0">
                <a:solidFill>
                  <a:srgbClr val="C00000"/>
                </a:solidFill>
              </a:rPr>
              <a:t>subsets</a:t>
            </a:r>
            <a:r>
              <a:rPr lang="en-US" dirty="0" smtClean="0"/>
              <a:t> of a universal set </a:t>
            </a:r>
            <a:r>
              <a:rPr lang="en-US" b="1" dirty="0" smtClean="0">
                <a:solidFill>
                  <a:srgbClr val="C00000"/>
                </a:solidFill>
              </a:rPr>
              <a:t>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Show that:</a:t>
            </a:r>
          </a:p>
          <a:p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b="1" dirty="0" smtClean="0"/>
              <a:t> B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</a:rPr>
              <a:t>– </a:t>
            </a:r>
            <a:r>
              <a:rPr lang="en-US" sz="2400" b="1" dirty="0" smtClean="0"/>
              <a:t>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>
                <a:solidFill>
                  <a:srgbClr val="C00000"/>
                </a:solidFill>
              </a:rPr>
              <a:t>If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B </a:t>
            </a:r>
            <a:r>
              <a:rPr lang="en-US" sz="2400" b="1" dirty="0" smtClean="0">
                <a:solidFill>
                  <a:srgbClr val="C00000"/>
                </a:solidFill>
              </a:rPr>
              <a:t>and</a:t>
            </a:r>
            <a:r>
              <a:rPr lang="en-US" sz="2400" b="1" dirty="0" smtClean="0"/>
              <a:t> 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/>
              <a:t>C </a:t>
            </a:r>
            <a:r>
              <a:rPr lang="en-US" sz="2400" b="1" dirty="0" smtClean="0">
                <a:solidFill>
                  <a:srgbClr val="C00000"/>
                </a:solidFill>
              </a:rPr>
              <a:t>then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C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B </a:t>
            </a:r>
            <a:r>
              <a:rPr lang="en-US" sz="2400" b="1" dirty="0" smtClean="0">
                <a:solidFill>
                  <a:srgbClr val="C00000"/>
                </a:solidFill>
              </a:rPr>
              <a:t>if, and only if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endParaRPr lang="en-US" sz="2400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lvl="1" indent="-457200" algn="ctr">
              <a:spcBef>
                <a:spcPts val="600"/>
              </a:spcBef>
              <a:buSzPct val="70000"/>
              <a:buFont typeface="+mj-lt"/>
              <a:buAutoNum type="arabicPeriod" startAt="2"/>
            </a:pPr>
            <a:r>
              <a:rPr lang="en-US" sz="2400" b="1" dirty="0" smtClean="0">
                <a:solidFill>
                  <a:srgbClr val="C00000"/>
                </a:solidFill>
              </a:rPr>
              <a:t>A – 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A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Let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</a:rPr>
              <a:t>– </a:t>
            </a:r>
            <a:r>
              <a:rPr lang="en-US" sz="2400" dirty="0" smtClean="0"/>
              <a:t>B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 and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B	</a:t>
            </a:r>
            <a:r>
              <a:rPr lang="en-US" sz="2400" dirty="0" smtClean="0">
                <a:solidFill>
                  <a:srgbClr val="C00000"/>
                </a:solidFill>
              </a:rPr>
              <a:t>(by definition of A – B) 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			</a:t>
            </a:r>
            <a:r>
              <a:rPr lang="en-US" sz="2400" dirty="0" smtClean="0">
                <a:solidFill>
                  <a:srgbClr val="C00000"/>
                </a:solidFill>
              </a:rPr>
              <a:t>(in particular)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 But x is an arbitrary element of A – 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dirty="0" smtClean="0">
                <a:sym typeface="Symbol"/>
              </a:rPr>
              <a:t>	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 –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>
                <a:solidFill>
                  <a:srgbClr val="C00000"/>
                </a:solidFill>
              </a:rPr>
              <a:t> A </a:t>
            </a:r>
            <a:r>
              <a:rPr lang="en-US" dirty="0" smtClean="0"/>
              <a:t>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 smtClean="0"/>
              <a:t>If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B and 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C</a:t>
            </a:r>
            <a:r>
              <a:rPr lang="en-US" sz="2400" b="1" dirty="0" smtClean="0"/>
              <a:t>, then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C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eriod" startAt="2"/>
            </a:pPr>
            <a:endParaRPr lang="en-US" sz="2400" b="1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 Suppose that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B and 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C</a:t>
            </a:r>
            <a:endParaRPr lang="en-US" sz="2400" dirty="0" smtClean="0">
              <a:solidFill>
                <a:srgbClr val="C00000"/>
              </a:solidFill>
              <a:sym typeface="Symbol"/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</a:t>
            </a:r>
            <a:r>
              <a:rPr lang="pt-BR" sz="2400" dirty="0" smtClean="0"/>
              <a:t> Consider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sz="2400" dirty="0" smtClean="0"/>
              <a:t>A 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 </a:t>
            </a:r>
            <a:r>
              <a:rPr lang="pt-BR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sz="2400" dirty="0" smtClean="0"/>
              <a:t>B			(as A </a:t>
            </a:r>
            <a:r>
              <a:rPr lang="en-US" sz="2400" dirty="0" smtClean="0">
                <a:sym typeface="Symbol"/>
              </a:rPr>
              <a:t></a:t>
            </a:r>
            <a:r>
              <a:rPr lang="pt-BR" sz="2400" dirty="0" smtClean="0"/>
              <a:t> B)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pt-BR" sz="2400" dirty="0" smtClean="0"/>
              <a:t>	</a:t>
            </a:r>
            <a:r>
              <a:rPr lang="en-US" sz="2400" dirty="0" smtClean="0">
                <a:sym typeface="Symbol"/>
              </a:rPr>
              <a:t> </a:t>
            </a:r>
            <a:r>
              <a:rPr lang="en-US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C			 (as B </a:t>
            </a:r>
            <a:r>
              <a:rPr lang="en-US" sz="2400" dirty="0" smtClean="0">
                <a:sym typeface="Symbol"/>
              </a:rPr>
              <a:t></a:t>
            </a:r>
            <a:r>
              <a:rPr lang="en-US" sz="2400" dirty="0" smtClean="0"/>
              <a:t> C)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 But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C	</a:t>
            </a:r>
            <a:r>
              <a:rPr lang="en-US" sz="2400" dirty="0" smtClean="0"/>
              <a:t>		(proved)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pt-B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3300" b="1" dirty="0" smtClean="0"/>
              <a:t>Prove that </a:t>
            </a:r>
            <a:r>
              <a:rPr lang="en-US" sz="3300" b="1" dirty="0" smtClean="0">
                <a:solidFill>
                  <a:srgbClr val="C00000"/>
                </a:solidFill>
              </a:rPr>
              <a:t>A </a:t>
            </a:r>
            <a:r>
              <a:rPr lang="en-US" sz="33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b="1" dirty="0" smtClean="0">
                <a:solidFill>
                  <a:srgbClr val="C00000"/>
                </a:solidFill>
              </a:rPr>
              <a:t> B </a:t>
            </a:r>
            <a:r>
              <a:rPr lang="en-US" sz="3300" b="1" dirty="0" err="1" smtClean="0">
                <a:solidFill>
                  <a:srgbClr val="C00000"/>
                </a:solidFill>
              </a:rPr>
              <a:t>iff</a:t>
            </a:r>
            <a:r>
              <a:rPr lang="en-US" sz="3300" b="1" dirty="0" smtClean="0">
                <a:solidFill>
                  <a:srgbClr val="C00000"/>
                </a:solidFill>
              </a:rPr>
              <a:t> </a:t>
            </a:r>
            <a:r>
              <a:rPr lang="en-US" sz="3300" b="1" dirty="0" err="1" smtClean="0">
                <a:solidFill>
                  <a:srgbClr val="C00000"/>
                </a:solidFill>
              </a:rPr>
              <a:t>B</a:t>
            </a:r>
            <a:r>
              <a:rPr lang="en-US" sz="33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3300" b="1" dirty="0" smtClean="0">
                <a:solidFill>
                  <a:srgbClr val="C00000"/>
                </a:solidFill>
              </a:rPr>
              <a:t> </a:t>
            </a:r>
            <a:r>
              <a:rPr lang="en-US" sz="33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b="1" dirty="0" smtClean="0">
                <a:solidFill>
                  <a:srgbClr val="C00000"/>
                </a:solidFill>
              </a:rPr>
              <a:t> A</a:t>
            </a:r>
            <a:r>
              <a:rPr lang="en-US" sz="3300" baseline="30000" dirty="0" smtClean="0">
                <a:solidFill>
                  <a:srgbClr val="C00000"/>
                </a:solidFill>
              </a:rPr>
              <a:t>c</a:t>
            </a:r>
          </a:p>
          <a:p>
            <a:pPr marL="457200" indent="-457200">
              <a:buNone/>
            </a:pPr>
            <a:endParaRPr lang="en-US" sz="3300" b="1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33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/>
              <a:t>	 Suppose A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dirty="0" smtClean="0"/>
              <a:t> B		{To prove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r>
              <a:rPr lang="en-US" sz="3300" dirty="0" smtClean="0"/>
              <a:t>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dirty="0" smtClean="0"/>
              <a:t> 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}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>
                <a:sym typeface="Symbol"/>
              </a:rPr>
              <a:t>	</a:t>
            </a:r>
            <a:r>
              <a:rPr lang="pt-BR" sz="3300" dirty="0" smtClean="0"/>
              <a:t> </a:t>
            </a:r>
            <a:r>
              <a:rPr lang="en-US" sz="3300" dirty="0" smtClean="0"/>
              <a:t>Let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endParaRPr lang="en-US" sz="33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>
                <a:sym typeface="Symbol"/>
              </a:rPr>
              <a:t>	 </a:t>
            </a:r>
            <a:r>
              <a:rPr lang="en-US" sz="3300" dirty="0" smtClean="0"/>
              <a:t>	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/>
              <a:t>B		(by definition of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r>
              <a:rPr lang="en-US" sz="3300" dirty="0" smtClean="0"/>
              <a:t>)</a:t>
            </a:r>
            <a:endParaRPr lang="pt-BR" sz="3300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pt-BR" sz="3300" dirty="0" smtClean="0"/>
              <a:t>	</a:t>
            </a:r>
            <a:r>
              <a:rPr lang="en-US" sz="3300" dirty="0" smtClean="0">
                <a:sym typeface="Symbol"/>
              </a:rPr>
              <a:t> </a:t>
            </a:r>
            <a:r>
              <a:rPr lang="en-US" sz="3300" dirty="0" smtClean="0"/>
              <a:t>	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/>
              <a:t>A		</a:t>
            </a:r>
            <a:r>
              <a:rPr lang="en-US" sz="3300" dirty="0" smtClean="0">
                <a:solidFill>
                  <a:srgbClr val="C00000"/>
                </a:solidFill>
              </a:rPr>
              <a:t>(A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dirty="0" smtClean="0">
                <a:solidFill>
                  <a:srgbClr val="C00000"/>
                </a:solidFill>
              </a:rPr>
              <a:t> B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</a:t>
            </a:r>
            <a:r>
              <a:rPr lang="en-US" sz="3300" dirty="0" smtClean="0">
                <a:solidFill>
                  <a:srgbClr val="C00000"/>
                </a:solidFill>
              </a:rPr>
              <a:t> if 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3300" dirty="0" smtClean="0">
                <a:solidFill>
                  <a:srgbClr val="C00000"/>
                </a:solidFill>
              </a:rPr>
              <a:t>A then 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3300" dirty="0" smtClean="0">
                <a:solidFill>
                  <a:srgbClr val="C00000"/>
                </a:solidFill>
              </a:rPr>
              <a:t>B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 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>
                <a:solidFill>
                  <a:srgbClr val="C00000"/>
                </a:solidFill>
                <a:sym typeface="Symbol"/>
              </a:rPr>
              <a:t>				</a:t>
            </a:r>
            <a:r>
              <a:rPr lang="en-US" sz="3300" dirty="0" err="1" smtClean="0">
                <a:solidFill>
                  <a:srgbClr val="C00000"/>
                </a:solidFill>
                <a:sym typeface="Symbol"/>
              </a:rPr>
              <a:t>contrapositive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: if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B then 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A)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/>
              <a:t>	</a:t>
            </a:r>
            <a:r>
              <a:rPr lang="en-US" sz="3300" dirty="0" smtClean="0">
                <a:sym typeface="Symbol"/>
              </a:rPr>
              <a:t> </a:t>
            </a:r>
            <a:r>
              <a:rPr lang="en-US" sz="3300" dirty="0" smtClean="0"/>
              <a:t> 	x </a:t>
            </a:r>
            <a:r>
              <a:rPr lang="en-US" sz="3300" dirty="0" smtClean="0">
                <a:sym typeface="Symbol"/>
              </a:rPr>
              <a:t></a:t>
            </a:r>
            <a:r>
              <a:rPr lang="en-US" sz="3300" dirty="0" smtClean="0"/>
              <a:t>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		 (by definition of 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)</a:t>
            </a:r>
          </a:p>
          <a:p>
            <a:pPr>
              <a:buNone/>
            </a:pPr>
            <a:r>
              <a:rPr lang="en-US" sz="3300" dirty="0" smtClean="0"/>
              <a:t>	 </a:t>
            </a:r>
          </a:p>
          <a:p>
            <a:pPr>
              <a:buNone/>
            </a:pPr>
            <a:r>
              <a:rPr lang="en-US" sz="3300" dirty="0" smtClean="0"/>
              <a:t>	Thus if we show for any two sets A and B, if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B</a:t>
            </a:r>
            <a:r>
              <a:rPr lang="en-US" sz="3300" dirty="0" smtClean="0"/>
              <a:t> then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A</a:t>
            </a:r>
            <a:r>
              <a:rPr lang="en-US" sz="3300" b="1" dirty="0" smtClean="0"/>
              <a:t>.</a:t>
            </a:r>
          </a:p>
          <a:p>
            <a:pPr>
              <a:buNone/>
            </a:pPr>
            <a:endParaRPr lang="en-US" sz="3300" b="1" dirty="0" smtClean="0"/>
          </a:p>
          <a:p>
            <a:pPr>
              <a:buNone/>
            </a:pPr>
            <a:r>
              <a:rPr lang="en-US" sz="3300" b="1" dirty="0" smtClean="0"/>
              <a:t>	</a:t>
            </a:r>
            <a:r>
              <a:rPr lang="en-US" sz="3300" dirty="0" smtClean="0"/>
              <a:t>But </a:t>
            </a:r>
            <a:r>
              <a:rPr lang="en-US" sz="3300" dirty="0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is an </a:t>
            </a:r>
            <a:r>
              <a:rPr lang="en-US" sz="3300" dirty="0" smtClean="0">
                <a:solidFill>
                  <a:srgbClr val="C00000"/>
                </a:solidFill>
              </a:rPr>
              <a:t>arbitrary element </a:t>
            </a:r>
            <a:r>
              <a:rPr lang="en-US" sz="3300" dirty="0" smtClean="0"/>
              <a:t>of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endParaRPr lang="en-US" sz="3300" dirty="0" smtClean="0"/>
          </a:p>
          <a:p>
            <a:endParaRPr lang="en-US" sz="3300" dirty="0" smtClean="0"/>
          </a:p>
          <a:p>
            <a:pPr>
              <a:buNone/>
            </a:pPr>
            <a:r>
              <a:rPr lang="en-US" sz="3300" dirty="0" smtClean="0"/>
              <a:t>		 			</a:t>
            </a:r>
            <a:r>
              <a:rPr lang="en-US" sz="3300" dirty="0" smtClean="0">
                <a:sym typeface="Symbol"/>
              </a:rPr>
              <a:t></a:t>
            </a:r>
            <a:r>
              <a:rPr lang="en-US" sz="3300" dirty="0" smtClean="0"/>
              <a:t>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r>
              <a:rPr lang="en-US" sz="3300" dirty="0" smtClean="0"/>
              <a:t> </a:t>
            </a:r>
            <a:r>
              <a:rPr lang="en-US" sz="3300" dirty="0" smtClean="0">
                <a:sym typeface="Symbol"/>
              </a:rPr>
              <a:t></a:t>
            </a:r>
            <a:r>
              <a:rPr lang="en-US" sz="3300" dirty="0" smtClean="0"/>
              <a:t> 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	</a:t>
            </a:r>
            <a:r>
              <a:rPr lang="en-US" dirty="0" smtClean="0"/>
              <a:t>	</a:t>
            </a:r>
            <a:endParaRPr lang="en-US" sz="2400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Conversely,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		{To prove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B}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A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30000" dirty="0" smtClean="0"/>
              <a:t>c</a:t>
            </a:r>
            <a:r>
              <a:rPr lang="en-US" dirty="0" smtClean="0"/>
              <a:t> 		</a:t>
            </a:r>
            <a:r>
              <a:rPr lang="en-US" dirty="0" smtClean="0">
                <a:solidFill>
                  <a:srgbClr val="C00000"/>
                </a:solidFill>
              </a:rPr>
              <a:t>(by definition of A</a:t>
            </a:r>
            <a:r>
              <a:rPr lang="en-US" baseline="30000" dirty="0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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30000" dirty="0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   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B			 </a:t>
            </a:r>
            <a:r>
              <a:rPr lang="en-US" dirty="0" smtClean="0">
                <a:solidFill>
                  <a:srgbClr val="C00000"/>
                </a:solidFill>
              </a:rPr>
              <a:t>(by definition of </a:t>
            </a:r>
            <a:r>
              <a:rPr lang="en-US" dirty="0" err="1" smtClean="0">
                <a:solidFill>
                  <a:srgbClr val="C00000"/>
                </a:solidFill>
              </a:rPr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arbitrary element </a:t>
            </a:r>
            <a:r>
              <a:rPr lang="en-US" dirty="0" smtClean="0"/>
              <a:t>of A.</a:t>
            </a:r>
          </a:p>
          <a:p>
            <a:pPr>
              <a:buNone/>
            </a:pPr>
            <a:r>
              <a:rPr lang="en-US" dirty="0" smtClean="0"/>
              <a:t>   			 </a:t>
            </a:r>
            <a:r>
              <a:rPr lang="en-US" dirty="0" smtClean="0">
                <a:sym typeface="Symbol"/>
              </a:rPr>
              <a:t>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>
                <a:solidFill>
                  <a:srgbClr val="C00000"/>
                </a:solidFill>
              </a:rPr>
              <a:t> B</a:t>
            </a:r>
            <a:r>
              <a:rPr lang="en-US" dirty="0" smtClean="0"/>
              <a:t>			 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lvl="1" indent="-457200" algn="ctr">
              <a:spcBef>
                <a:spcPts val="600"/>
              </a:spcBef>
              <a:buSzPct val="70000"/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b="1" dirty="0" smtClean="0"/>
              <a:t> 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Let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be the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A, that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 A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x </a:t>
            </a:r>
            <a:r>
              <a:rPr lang="en-US" sz="2400" dirty="0" smtClean="0">
                <a:sym typeface="Symbol"/>
              </a:rPr>
              <a:t> </a:t>
            </a:r>
            <a:r>
              <a:rPr lang="en-US" sz="2400" dirty="0" smtClean="0"/>
              <a:t>A or 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 </a:t>
            </a:r>
            <a:r>
              <a:rPr lang="en-US" sz="2400" dirty="0" smtClean="0"/>
              <a:t>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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But x is an arbitrary element of A.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</a:t>
            </a:r>
            <a:r>
              <a:rPr lang="en-US" sz="2400" dirty="0" smtClean="0"/>
              <a:t>	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		(proved) </a:t>
            </a:r>
          </a:p>
          <a:p>
            <a:pPr marL="457200" indent="-45720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&amp; </a:t>
            </a:r>
            <a:r>
              <a:rPr lang="en-US" b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be </a:t>
            </a:r>
            <a:r>
              <a:rPr lang="en-US" b="1" dirty="0" smtClean="0">
                <a:solidFill>
                  <a:srgbClr val="C00000"/>
                </a:solidFill>
              </a:rPr>
              <a:t>subsets</a:t>
            </a:r>
            <a:r>
              <a:rPr lang="en-US" dirty="0" smtClean="0"/>
              <a:t> of a universal set </a:t>
            </a:r>
            <a:r>
              <a:rPr lang="en-US" b="1" dirty="0" smtClean="0">
                <a:solidFill>
                  <a:srgbClr val="C00000"/>
                </a:solidFill>
              </a:rPr>
              <a:t>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Prove that:</a:t>
            </a:r>
          </a:p>
          <a:p>
            <a:pPr>
              <a:buNone/>
            </a:pPr>
            <a:r>
              <a:rPr lang="en-US" dirty="0" smtClean="0"/>
              <a:t>				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aseline="30000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EQUAL SETS:</a:t>
            </a:r>
          </a:p>
          <a:p>
            <a:pPr>
              <a:buNone/>
            </a:pPr>
            <a:r>
              <a:rPr lang="en-US" dirty="0" smtClean="0"/>
              <a:t>	Two sets are equal if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second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second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baseline="30000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 and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baseline="30000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 – B</a:t>
            </a:r>
          </a:p>
          <a:p>
            <a:pPr>
              <a:buNone/>
            </a:pPr>
            <a:endParaRPr lang="en-US" dirty="0" smtClean="0"/>
          </a:p>
          <a:p>
            <a:pPr>
              <a:buFont typeface="Symbol"/>
              <a:buChar char="Þ"/>
            </a:pP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A and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/>
              <a:t> B	</a:t>
            </a:r>
            <a:r>
              <a:rPr lang="en-US" dirty="0" smtClean="0">
                <a:solidFill>
                  <a:srgbClr val="C00000"/>
                </a:solidFill>
              </a:rPr>
              <a:t>(definition of set difference)</a:t>
            </a:r>
          </a:p>
          <a:p>
            <a:pPr>
              <a:buFont typeface="Symbol"/>
              <a:buChar char="Þ"/>
            </a:pP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A and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(definition of complement)</a:t>
            </a:r>
          </a:p>
          <a:p>
            <a:pPr>
              <a:buFont typeface="Symbol"/>
              <a:buChar char="Þ"/>
            </a:pPr>
            <a:r>
              <a:rPr lang="en-US" dirty="0" smtClean="0"/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	 	</a:t>
            </a:r>
            <a:r>
              <a:rPr lang="en-US" dirty="0" smtClean="0">
                <a:solidFill>
                  <a:srgbClr val="C00000"/>
                </a:solidFill>
              </a:rPr>
              <a:t>(definition of intersection)</a:t>
            </a:r>
          </a:p>
          <a:p>
            <a:pPr>
              <a:buFont typeface="Symbol"/>
              <a:buChar char="Þ"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arbitrary element </a:t>
            </a:r>
            <a:r>
              <a:rPr lang="en-US" dirty="0" smtClean="0"/>
              <a:t>of A – B </a:t>
            </a:r>
          </a:p>
          <a:p>
            <a:pPr>
              <a:buNone/>
            </a:pPr>
            <a:r>
              <a:rPr lang="en-US" dirty="0" smtClean="0"/>
              <a:t>	So we can write: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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………….(1)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Conversely, 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 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endParaRPr lang="en-US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 and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 B  </a:t>
            </a:r>
            <a:r>
              <a:rPr lang="en-US" sz="2400" dirty="0" smtClean="0">
                <a:solidFill>
                  <a:srgbClr val="C00000"/>
                </a:solidFill>
              </a:rPr>
              <a:t>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A – B	   </a:t>
            </a:r>
            <a:r>
              <a:rPr lang="en-US" sz="2400" dirty="0" smtClean="0">
                <a:solidFill>
                  <a:srgbClr val="C00000"/>
                </a:solidFill>
              </a:rPr>
              <a:t>(definition of set difference)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But </a:t>
            </a:r>
            <a:r>
              <a:rPr lang="en-US" sz="2400" dirty="0" smtClean="0">
                <a:solidFill>
                  <a:srgbClr val="C00000"/>
                </a:solidFill>
              </a:rPr>
              <a:t>y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endParaRPr lang="en-US" sz="2400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baseline="300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</a:rPr>
              <a:t>–</a:t>
            </a:r>
            <a:r>
              <a:rPr lang="en-US" sz="2400" dirty="0" smtClean="0"/>
              <a:t> B………….	(2)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From (1) and (2) it follows that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		 </a:t>
            </a:r>
            <a:r>
              <a:rPr lang="en-US" sz="2400" dirty="0" smtClean="0">
                <a:solidFill>
                  <a:srgbClr val="C00000"/>
                </a:solidFill>
              </a:rPr>
              <a:t>A – B =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</a:rPr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	(as required)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DEMORGAN’S LAW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dirty="0" smtClean="0"/>
              <a:t>(A </a:t>
            </a:r>
            <a:r>
              <a:rPr lang="en-US" b="1" dirty="0" smtClean="0">
                <a:sym typeface="Symbol"/>
              </a:rPr>
              <a:t></a:t>
            </a:r>
            <a:r>
              <a:rPr lang="en-US" b="1" dirty="0" smtClean="0"/>
              <a:t> B)</a:t>
            </a:r>
            <a:r>
              <a:rPr lang="en-US" b="1" baseline="30000" dirty="0" smtClean="0"/>
              <a:t>c</a:t>
            </a:r>
            <a:r>
              <a:rPr lang="en-US" b="1" dirty="0" smtClean="0"/>
              <a:t> = A</a:t>
            </a:r>
            <a:r>
              <a:rPr lang="en-US" b="1" baseline="30000" dirty="0" smtClean="0"/>
              <a:t>c</a:t>
            </a:r>
            <a:r>
              <a:rPr lang="en-US" b="1" dirty="0" smtClean="0"/>
              <a:t> </a:t>
            </a:r>
            <a:r>
              <a:rPr lang="en-US" b="1" dirty="0" smtClean="0">
                <a:sym typeface="Symbol"/>
              </a:rPr>
              <a:t></a:t>
            </a:r>
            <a:r>
              <a:rPr lang="en-US" b="1" dirty="0" smtClean="0"/>
              <a:t> </a:t>
            </a:r>
            <a:r>
              <a:rPr lang="en-US" b="1" dirty="0" err="1" smtClean="0"/>
              <a:t>B</a:t>
            </a:r>
            <a:r>
              <a:rPr lang="en-US" b="1" baseline="30000" dirty="0" err="1" smtClean="0"/>
              <a:t>c</a:t>
            </a:r>
            <a:r>
              <a:rPr lang="en-US" b="1" baseline="30000" dirty="0" smtClean="0"/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EQUAL SETS:</a:t>
            </a:r>
          </a:p>
          <a:p>
            <a:pPr>
              <a:buNone/>
            </a:pPr>
            <a:r>
              <a:rPr lang="en-US" dirty="0" smtClean="0"/>
              <a:t>	Two sets are equal if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second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second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and </a:t>
            </a:r>
            <a:r>
              <a:rPr lang="en-US" dirty="0" smtClean="0"/>
              <a:t>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</a:p>
          <a:p>
            <a:endParaRPr lang="en-US" baseline="30000" dirty="0" smtClean="0"/>
          </a:p>
          <a:p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PROOF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First we show that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(A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B)</a:t>
            </a:r>
            <a:r>
              <a:rPr lang="en-US" baseline="30000" dirty="0" smtClean="0"/>
              <a:t> c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dirty="0" smtClean="0"/>
              <a:t>	 </a:t>
            </a:r>
            <a:r>
              <a:rPr lang="en-US" sz="2400" dirty="0" smtClean="0">
                <a:sym typeface="Symbol"/>
              </a:rPr>
              <a:t> 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x </a:t>
            </a:r>
            <a:r>
              <a:rPr lang="en-US" sz="2400" dirty="0" smtClean="0">
                <a:sym typeface="Symbol"/>
              </a:rPr>
              <a:t> AB	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(definition of complement</a:t>
            </a:r>
            <a:r>
              <a:rPr lang="en-US" sz="2400" dirty="0" smtClean="0">
                <a:sym typeface="Symbol"/>
              </a:rPr>
              <a:t>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  </a:t>
            </a:r>
            <a:r>
              <a:rPr lang="en-US" sz="2400" dirty="0" smtClean="0"/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A and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 B      (</a:t>
            </a:r>
            <a:r>
              <a:rPr lang="en-US" sz="2400" dirty="0" err="1" smtClean="0"/>
              <a:t>DeMorgan’s</a:t>
            </a:r>
            <a:r>
              <a:rPr lang="en-US" sz="2400" dirty="0" smtClean="0"/>
              <a:t> Law of Logic)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and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r>
              <a:rPr lang="en-US" sz="2400" dirty="0" smtClean="0"/>
              <a:t>     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r>
              <a:rPr lang="en-US" sz="2400" dirty="0" smtClean="0"/>
              <a:t>	        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But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(A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B)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so we have proved that:</a:t>
            </a:r>
          </a:p>
          <a:p>
            <a:pPr marL="274320" lvl="2" indent="-274320" algn="ctr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(A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>
                <a:solidFill>
                  <a:srgbClr val="C00000"/>
                </a:solidFill>
              </a:rPr>
              <a:t> B)</a:t>
            </a:r>
            <a:r>
              <a:rPr lang="en-US" sz="2400" baseline="30000" dirty="0" smtClean="0">
                <a:solidFill>
                  <a:srgbClr val="C00000"/>
                </a:solidFill>
              </a:rPr>
              <a:t> 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A</a:t>
            </a:r>
            <a:r>
              <a:rPr lang="en-US" sz="2400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</a:rPr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………(1)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>
              <a:sym typeface="Symbol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Conversely, 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 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</a:t>
            </a:r>
            <a:r>
              <a:rPr lang="en-US" baseline="30000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endParaRPr lang="en-US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</a:t>
            </a:r>
            <a:r>
              <a:rPr lang="en-US" sz="2400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  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 </a:t>
            </a:r>
            <a:r>
              <a:rPr lang="en-US" sz="2400" dirty="0" smtClean="0"/>
              <a:t>A and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 B    </a:t>
            </a:r>
            <a:r>
              <a:rPr lang="en-US" sz="2400" dirty="0" smtClean="0">
                <a:solidFill>
                  <a:srgbClr val="C00000"/>
                </a:solidFill>
              </a:rPr>
              <a:t>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	   </a:t>
            </a:r>
            <a:r>
              <a:rPr lang="en-US" sz="2400" dirty="0" smtClean="0">
                <a:solidFill>
                  <a:srgbClr val="C00000"/>
                </a:solidFill>
              </a:rPr>
              <a:t>(definition of set difference)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(A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B)</a:t>
            </a:r>
            <a:r>
              <a:rPr lang="en-US" sz="2400" baseline="30000" dirty="0" smtClean="0"/>
              <a:t> c</a:t>
            </a:r>
            <a:r>
              <a:rPr lang="en-US" sz="2400" dirty="0" smtClean="0"/>
              <a:t>	   </a:t>
            </a:r>
            <a:r>
              <a:rPr lang="en-US" sz="2400" dirty="0" smtClean="0">
                <a:solidFill>
                  <a:srgbClr val="C00000"/>
                </a:solidFill>
              </a:rPr>
              <a:t>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>
              <a:solidFill>
                <a:srgbClr val="C00000"/>
              </a:solidFill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But </a:t>
            </a:r>
            <a:r>
              <a:rPr lang="en-US" sz="2400" dirty="0" smtClean="0">
                <a:solidFill>
                  <a:srgbClr val="C00000"/>
                </a:solidFill>
              </a:rPr>
              <a:t>y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endParaRPr lang="en-US" sz="2400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baseline="30000" dirty="0" smtClean="0"/>
              <a:t>	</a:t>
            </a:r>
            <a:r>
              <a:rPr lang="en-US" sz="2400" dirty="0" smtClean="0">
                <a:sym typeface="Symbol"/>
              </a:rPr>
              <a:t> 	</a:t>
            </a:r>
            <a:r>
              <a:rPr lang="en-US" sz="2400" dirty="0" smtClean="0"/>
              <a:t> 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B………….	(2)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From (1) and (2) it follows that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		 </a:t>
            </a:r>
            <a:r>
              <a:rPr lang="en-US" sz="2400" b="1" dirty="0" smtClean="0">
                <a:solidFill>
                  <a:srgbClr val="C00000"/>
                </a:solidFill>
              </a:rPr>
              <a:t>(A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b="1" dirty="0" smtClean="0">
                <a:solidFill>
                  <a:srgbClr val="C00000"/>
                </a:solidFill>
              </a:rPr>
              <a:t> B)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 c</a:t>
            </a:r>
            <a:r>
              <a:rPr lang="en-US" sz="2400" b="1" dirty="0" smtClean="0">
                <a:solidFill>
                  <a:srgbClr val="C00000"/>
                </a:solidFill>
              </a:rPr>
              <a:t> =  A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	  (</a:t>
            </a:r>
            <a:r>
              <a:rPr lang="en-US" sz="2400" dirty="0" err="1" smtClean="0"/>
              <a:t>Demorgans</a:t>
            </a:r>
            <a:r>
              <a:rPr lang="en-US" sz="2400" dirty="0" smtClean="0"/>
              <a:t> Law)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ASSOCIATIVE LAW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(B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C) = 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C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sz="2200" b="1" u="sng" dirty="0" smtClean="0">
                <a:solidFill>
                  <a:srgbClr val="C00000"/>
                </a:solidFill>
              </a:rPr>
              <a:t>PROOF:</a:t>
            </a:r>
          </a:p>
          <a:p>
            <a:pPr>
              <a:buNone/>
            </a:pPr>
            <a:r>
              <a:rPr lang="en-US" sz="2200" dirty="0" smtClean="0"/>
              <a:t>	First we show that A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(B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C) </a:t>
            </a:r>
            <a:r>
              <a:rPr lang="en-US" sz="2200" dirty="0" smtClean="0">
                <a:sym typeface="Symbol"/>
              </a:rPr>
              <a:t> </a:t>
            </a:r>
            <a:r>
              <a:rPr lang="en-US" sz="2200" dirty="0" smtClean="0"/>
              <a:t>(A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B)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</a:t>
            </a:r>
          </a:p>
          <a:p>
            <a:pPr>
              <a:buNone/>
            </a:pPr>
            <a:r>
              <a:rPr lang="en-US" sz="2200" dirty="0" smtClean="0"/>
              <a:t>	Consider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A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(B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 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A and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 B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  	 </a:t>
            </a:r>
            <a:r>
              <a:rPr lang="en-US" sz="22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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A and 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B and 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 C </a:t>
            </a:r>
            <a:r>
              <a:rPr lang="en-US" sz="22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 </a:t>
            </a:r>
            <a:r>
              <a:rPr lang="en-US" sz="2200" dirty="0" smtClean="0"/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A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200" dirty="0" smtClean="0"/>
              <a:t> B and 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C 	</a:t>
            </a:r>
            <a:r>
              <a:rPr lang="en-US" sz="2200" dirty="0" smtClean="0">
                <a:solidFill>
                  <a:srgbClr val="C00000"/>
                </a:solidFill>
              </a:rPr>
              <a:t> 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 </a:t>
            </a:r>
            <a:r>
              <a:rPr lang="en-US" sz="2200" dirty="0" smtClean="0"/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(A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200" dirty="0" smtClean="0"/>
              <a:t> B)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200" dirty="0" smtClean="0"/>
              <a:t> C		 </a:t>
            </a:r>
            <a:r>
              <a:rPr lang="en-US" sz="22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endParaRPr lang="en-US" sz="2400" dirty="0" smtClean="0"/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arbitrary element </a:t>
            </a:r>
            <a:r>
              <a:rPr lang="en-US" dirty="0" smtClean="0"/>
              <a:t>of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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C……(1)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Conversely, 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 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endParaRPr lang="en-US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B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C	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A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B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C 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A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	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(B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C)		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But </a:t>
            </a:r>
            <a:r>
              <a:rPr lang="en-US" sz="2400" dirty="0" smtClean="0">
                <a:solidFill>
                  <a:srgbClr val="C00000"/>
                </a:solidFill>
              </a:rPr>
              <a:t>y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(A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B)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C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 (A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B)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(B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C)……..(2)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From (1) &amp; (2), we conclude that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	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(B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C) = (A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B)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C</a:t>
            </a:r>
            <a:r>
              <a:rPr lang="en-US" sz="2400" dirty="0" smtClean="0"/>
              <a:t>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USING SET IDENTITIES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For all subsets A and B of a universal set U, prove that         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</a:rPr>
              <a:t>=</a:t>
            </a:r>
            <a:r>
              <a:rPr lang="en-US" dirty="0" smtClean="0"/>
              <a:t> A</a:t>
            </a:r>
          </a:p>
          <a:p>
            <a:r>
              <a:rPr lang="en-US" b="1" u="sng" dirty="0" smtClean="0"/>
              <a:t>PROOF</a:t>
            </a:r>
            <a:r>
              <a:rPr lang="en-US" b="1" dirty="0" smtClean="0"/>
              <a:t>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LHS: 	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</a:p>
          <a:p>
            <a:pPr>
              <a:buNone/>
            </a:pPr>
            <a:r>
              <a:rPr lang="en-US" dirty="0" smtClean="0"/>
              <a:t>			=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	</a:t>
            </a:r>
          </a:p>
          <a:p>
            <a:pPr algn="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(Alternative representation for set difference)</a:t>
            </a:r>
          </a:p>
          <a:p>
            <a:pPr>
              <a:buNone/>
            </a:pPr>
            <a:r>
              <a:rPr lang="en-US" dirty="0" smtClean="0"/>
              <a:t>		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B)	</a:t>
            </a:r>
            <a:r>
              <a:rPr lang="en-US" dirty="0" smtClean="0">
                <a:solidFill>
                  <a:srgbClr val="C00000"/>
                </a:solidFill>
              </a:rPr>
              <a:t>Distributive Law</a:t>
            </a:r>
          </a:p>
          <a:p>
            <a:pPr>
              <a:buNone/>
            </a:pPr>
            <a:r>
              <a:rPr lang="en-US" dirty="0" smtClean="0"/>
              <a:t>		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U		</a:t>
            </a:r>
            <a:r>
              <a:rPr lang="en-US" dirty="0" smtClean="0">
                <a:solidFill>
                  <a:srgbClr val="C00000"/>
                </a:solidFill>
              </a:rPr>
              <a:t>Complement Law</a:t>
            </a:r>
          </a:p>
          <a:p>
            <a:pPr>
              <a:buNone/>
            </a:pPr>
            <a:r>
              <a:rPr lang="en-US" dirty="0" smtClean="0"/>
              <a:t>			= A			</a:t>
            </a:r>
            <a:r>
              <a:rPr lang="en-US" dirty="0" smtClean="0">
                <a:solidFill>
                  <a:srgbClr val="C00000"/>
                </a:solidFill>
              </a:rPr>
              <a:t>Identity Law</a:t>
            </a:r>
          </a:p>
          <a:p>
            <a:pPr>
              <a:buNone/>
            </a:pPr>
            <a:r>
              <a:rPr lang="en-US" dirty="0" smtClean="0"/>
              <a:t>			= RHS 		</a:t>
            </a:r>
            <a:r>
              <a:rPr lang="en-US" dirty="0" smtClean="0">
                <a:solidFill>
                  <a:srgbClr val="C00000"/>
                </a:solidFill>
              </a:rPr>
              <a:t>(proved)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result can also be proved through Venn diagram.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43000" y="2743200"/>
            <a:ext cx="5943600" cy="2133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831700" y="3077496"/>
            <a:ext cx="1676400" cy="1295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166424" y="3092244"/>
            <a:ext cx="1676400" cy="1295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307080" y="4434840"/>
            <a:ext cx="762000" cy="381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50080" y="4434840"/>
            <a:ext cx="762000" cy="381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34" name="Picture 33" descr="2.GIF"/>
          <p:cNvPicPr>
            <a:picLocks noChangeAspect="1"/>
          </p:cNvPicPr>
          <p:nvPr/>
        </p:nvPicPr>
        <p:blipFill>
          <a:blip r:embed="rId2"/>
          <a:srcRect r="3296" b="-2128"/>
          <a:stretch>
            <a:fillRect/>
          </a:stretch>
        </p:blipFill>
        <p:spPr>
          <a:xfrm>
            <a:off x="2819400" y="3048000"/>
            <a:ext cx="1676400" cy="1371600"/>
          </a:xfrm>
          <a:prstGeom prst="rect">
            <a:avLst/>
          </a:prstGeom>
          <a:blipFill dpi="0" rotWithShape="1">
            <a:blip r:embed="rId3">
              <a:alphaModFix amt="0"/>
            </a:blip>
            <a:srcRect/>
            <a:tile tx="0" ty="0" sx="100000" sy="100000" flip="none" algn="tl"/>
          </a:blipFill>
        </p:spPr>
      </p:pic>
      <p:sp>
        <p:nvSpPr>
          <p:cNvPr id="35" name="Rectangle 34"/>
          <p:cNvSpPr/>
          <p:nvPr/>
        </p:nvSpPr>
        <p:spPr>
          <a:xfrm>
            <a:off x="3352800" y="50292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 - B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114800" y="3200400"/>
            <a:ext cx="4572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352800" y="50292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 </a:t>
            </a:r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2819400" y="3048000"/>
            <a:ext cx="1676400" cy="1295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002280" y="5059680"/>
            <a:ext cx="268224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 – 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 </a:t>
            </a:r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35" grpId="0"/>
      <p:bldP spid="35" grpId="1"/>
      <p:bldP spid="36" grpId="0" animBg="1"/>
      <p:bldP spid="36" grpId="1" animBg="1"/>
      <p:bldP spid="38" grpId="0"/>
      <p:bldP spid="38" grpId="1"/>
      <p:bldP spid="39" grpId="0" animBg="1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 – (A – B) =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PROOF: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LHS</a:t>
            </a:r>
            <a:r>
              <a:rPr lang="en-US" dirty="0" smtClean="0"/>
              <a:t> = 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  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((A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)    	</a:t>
            </a:r>
            <a:r>
              <a:rPr lang="en-US" dirty="0" err="1" smtClean="0">
                <a:solidFill>
                  <a:srgbClr val="C00000"/>
                </a:solidFill>
              </a:rPr>
              <a:t>DeMorgan’s</a:t>
            </a:r>
            <a:r>
              <a:rPr lang="en-US" dirty="0" smtClean="0">
                <a:solidFill>
                  <a:srgbClr val="C00000"/>
                </a:solidFill>
              </a:rPr>
              <a:t> Law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B)	       	</a:t>
            </a:r>
            <a:r>
              <a:rPr lang="en-US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=</a:t>
            </a:r>
            <a:r>
              <a:rPr lang="en-US" b="1" dirty="0" smtClean="0"/>
              <a:t> </a:t>
            </a:r>
            <a:r>
              <a:rPr lang="en-US" dirty="0" smtClean="0"/>
              <a:t>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	</a:t>
            </a:r>
            <a:r>
              <a:rPr lang="en-US" dirty="0" smtClean="0">
                <a:solidFill>
                  <a:srgbClr val="C00000"/>
                </a:solidFill>
              </a:rPr>
              <a:t>Distributive Law</a:t>
            </a:r>
          </a:p>
          <a:p>
            <a:pPr>
              <a:buNone/>
            </a:pPr>
            <a:r>
              <a:rPr lang="en-US" dirty="0" smtClean="0"/>
              <a:t>	= </a:t>
            </a:r>
            <a:r>
              <a:rPr lang="en-US" dirty="0" smtClean="0">
                <a:sym typeface="Symbol"/>
              </a:rPr>
              <a:t>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		</a:t>
            </a:r>
            <a:r>
              <a:rPr lang="en-US" dirty="0" smtClean="0">
                <a:solidFill>
                  <a:srgbClr val="C00000"/>
                </a:solidFill>
              </a:rPr>
              <a:t>Complement Law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			</a:t>
            </a:r>
            <a:r>
              <a:rPr lang="en-US" dirty="0" smtClean="0">
                <a:solidFill>
                  <a:srgbClr val="C00000"/>
                </a:solidFill>
              </a:rPr>
              <a:t>Identity Law</a:t>
            </a:r>
          </a:p>
          <a:p>
            <a:pPr>
              <a:buNone/>
            </a:pPr>
            <a:r>
              <a:rPr lang="en-US" dirty="0" smtClean="0"/>
              <a:t>	= </a:t>
            </a:r>
            <a:r>
              <a:rPr lang="en-US" b="1" dirty="0" smtClean="0"/>
              <a:t>RHS</a:t>
            </a:r>
            <a:r>
              <a:rPr lang="en-US" dirty="0" smtClean="0"/>
              <a:t>	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(A – B) – C = (A – C) – B </a:t>
            </a:r>
          </a:p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PROOF: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LHS</a:t>
            </a:r>
            <a:r>
              <a:rPr lang="en-US" dirty="0" smtClean="0"/>
              <a:t> 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</a:t>
            </a:r>
          </a:p>
          <a:p>
            <a:pPr>
              <a:buNone/>
            </a:pPr>
            <a:r>
              <a:rPr lang="en-US" dirty="0" smtClean="0"/>
              <a:t>	 =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      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 =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>
                <a:sym typeface="Symbol"/>
              </a:rPr>
              <a:t> C</a:t>
            </a:r>
            <a:r>
              <a:rPr lang="en-US" baseline="30000" dirty="0" smtClean="0"/>
              <a:t>c</a:t>
            </a:r>
            <a:r>
              <a:rPr lang="en-US" dirty="0" smtClean="0"/>
              <a:t>    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 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</a:t>
            </a:r>
            <a:r>
              <a:rPr lang="en-US" baseline="30000" dirty="0" smtClean="0"/>
              <a:t>c</a:t>
            </a:r>
            <a:r>
              <a:rPr lang="en-US" dirty="0" smtClean="0"/>
              <a:t>)	     	</a:t>
            </a:r>
            <a:r>
              <a:rPr lang="en-US" dirty="0" smtClean="0">
                <a:solidFill>
                  <a:srgbClr val="C00000"/>
                </a:solidFill>
              </a:rPr>
              <a:t>Associative Law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(C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	       	</a:t>
            </a:r>
            <a:r>
              <a:rPr lang="en-US" dirty="0" smtClean="0">
                <a:solidFill>
                  <a:srgbClr val="C00000"/>
                </a:solidFill>
              </a:rPr>
              <a:t>Commutative Law</a:t>
            </a:r>
          </a:p>
          <a:p>
            <a:pPr>
              <a:buNone/>
            </a:pPr>
            <a:r>
              <a:rPr lang="en-US" dirty="0" smtClean="0"/>
              <a:t>	=</a:t>
            </a:r>
            <a:r>
              <a:rPr lang="en-US" b="1" dirty="0" smtClean="0"/>
              <a:t> </a:t>
            </a:r>
            <a:r>
              <a:rPr lang="en-US" dirty="0" smtClean="0"/>
              <a:t>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</a:t>
            </a:r>
            <a:r>
              <a:rPr lang="en-US" baseline="30000" dirty="0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	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Associative Law</a:t>
            </a:r>
          </a:p>
          <a:p>
            <a:pPr>
              <a:buNone/>
            </a:pPr>
            <a:r>
              <a:rPr lang="en-US" dirty="0" smtClean="0"/>
              <a:t>	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C)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	</a:t>
            </a:r>
            <a:r>
              <a:rPr lang="en-US" dirty="0" smtClean="0">
                <a:solidFill>
                  <a:srgbClr val="C00000"/>
                </a:solidFill>
              </a:rPr>
              <a:t>Alternative representation of set difference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C)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	</a:t>
            </a:r>
            <a:r>
              <a:rPr lang="en-US" dirty="0" smtClean="0">
                <a:solidFill>
                  <a:srgbClr val="C00000"/>
                </a:solidFill>
              </a:rPr>
              <a:t>Alternative representation of set difference </a:t>
            </a:r>
          </a:p>
          <a:p>
            <a:pPr>
              <a:buNone/>
            </a:pPr>
            <a:r>
              <a:rPr lang="en-US" dirty="0" smtClean="0"/>
              <a:t>	= </a:t>
            </a:r>
            <a:r>
              <a:rPr lang="en-US" b="1" dirty="0" smtClean="0"/>
              <a:t>RHS</a:t>
            </a:r>
            <a:r>
              <a:rPr lang="en-US" dirty="0" smtClean="0"/>
              <a:t>	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Simplify 	</a:t>
            </a:r>
            <a:r>
              <a:rPr lang="en-US" b="1" dirty="0" smtClean="0">
                <a:solidFill>
                  <a:srgbClr val="C00000"/>
                </a:solidFill>
              </a:rPr>
              <a:t>(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(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– A))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A))</a:t>
            </a:r>
            <a:r>
              <a:rPr lang="en-US" baseline="30000" dirty="0" smtClean="0"/>
              <a:t>c</a:t>
            </a:r>
            <a:r>
              <a:rPr lang="en-US" dirty="0" smtClean="0"/>
              <a:t> =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Alternative representation  for set difference</a:t>
            </a:r>
          </a:p>
          <a:p>
            <a:pPr>
              <a:buNone/>
            </a:pPr>
            <a:r>
              <a:rPr lang="en-US" dirty="0" smtClean="0"/>
              <a:t>	=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         </a:t>
            </a:r>
            <a:r>
              <a:rPr lang="en-US" dirty="0" err="1" smtClean="0">
                <a:solidFill>
                  <a:srgbClr val="C00000"/>
                </a:solidFill>
              </a:rPr>
              <a:t>DeMorgan’s</a:t>
            </a:r>
            <a:r>
              <a:rPr lang="en-US" dirty="0" smtClean="0">
                <a:solidFill>
                  <a:srgbClr val="C00000"/>
                </a:solidFill>
              </a:rPr>
              <a:t> Law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=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       	</a:t>
            </a:r>
            <a:r>
              <a:rPr lang="en-US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=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)        </a:t>
            </a:r>
            <a:r>
              <a:rPr lang="en-US" dirty="0" err="1" smtClean="0">
                <a:solidFill>
                  <a:srgbClr val="C00000"/>
                </a:solidFill>
              </a:rPr>
              <a:t>DeMorgan’s</a:t>
            </a:r>
            <a:r>
              <a:rPr lang="en-US" dirty="0" smtClean="0">
                <a:solidFill>
                  <a:srgbClr val="C00000"/>
                </a:solidFill>
              </a:rPr>
              <a:t> Law</a:t>
            </a:r>
          </a:p>
          <a:p>
            <a:pPr>
              <a:buNone/>
            </a:pPr>
            <a:r>
              <a:rPr lang="en-US" dirty="0" smtClean="0"/>
              <a:t>	=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A)	      	</a:t>
            </a:r>
            <a:r>
              <a:rPr lang="en-US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= B		         		</a:t>
            </a:r>
            <a:r>
              <a:rPr lang="en-US" dirty="0" smtClean="0">
                <a:solidFill>
                  <a:srgbClr val="C00000"/>
                </a:solidFill>
              </a:rPr>
              <a:t>Absorption Law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PROVING SET IDENTITIES BY MEMBERSHIP TABLE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the following using </a:t>
            </a:r>
            <a:r>
              <a:rPr lang="en-US" b="1" dirty="0" smtClean="0">
                <a:solidFill>
                  <a:srgbClr val="C00000"/>
                </a:solidFill>
              </a:rPr>
              <a:t>Membership Table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</a:t>
            </a:r>
            <a:r>
              <a:rPr lang="en-US" sz="2400" b="1" dirty="0" smtClean="0">
                <a:solidFill>
                  <a:srgbClr val="C00000"/>
                </a:solidFill>
              </a:rPr>
              <a:t> – </a:t>
            </a:r>
            <a:r>
              <a:rPr lang="en-US" sz="2400" dirty="0" smtClean="0"/>
              <a:t>(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–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  <a:r>
              <a:rPr lang="en-US" sz="2400" dirty="0" smtClean="0"/>
              <a:t>) = 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</a:p>
          <a:p>
            <a:pPr marL="822960" lvl="1" indent="-457200">
              <a:buFont typeface="+mj-lt"/>
              <a:buAutoNum type="arabicPeriod"/>
            </a:pPr>
            <a:endParaRPr lang="en-US" sz="2400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dirty="0" smtClean="0"/>
              <a:t>(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  <a:r>
              <a:rPr lang="en-US" sz="2400" dirty="0" smtClean="0"/>
              <a:t>)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= </a:t>
            </a:r>
            <a:r>
              <a:rPr lang="en-US" sz="2400" b="1" dirty="0" smtClean="0"/>
              <a:t>A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</a:t>
            </a:r>
            <a:r>
              <a:rPr lang="en-US" sz="2400" b="1" dirty="0" err="1" smtClean="0"/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</a:t>
            </a:r>
          </a:p>
          <a:p>
            <a:pPr marL="822960" lvl="1" indent="-457200">
              <a:buFont typeface="+mj-lt"/>
              <a:buAutoNum type="arabicPeriod"/>
            </a:pPr>
            <a:endParaRPr lang="en-US" sz="2400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–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  <a:r>
              <a:rPr lang="en-US" sz="2400" dirty="0" smtClean="0"/>
              <a:t> = 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b="1" dirty="0" err="1" smtClean="0"/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algn="ctr">
              <a:spcBef>
                <a:spcPts val="600"/>
              </a:spcBef>
              <a:buSzPct val="70000"/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A – (A – B) =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B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57399" y="2438400"/>
          <a:ext cx="4191001" cy="1920240"/>
        </p:xfrm>
        <a:graphic>
          <a:graphicData uri="http://schemas.openxmlformats.org/drawingml/2006/table">
            <a:tbl>
              <a:tblPr/>
              <a:tblGrid>
                <a:gridCol w="441158"/>
                <a:gridCol w="564683"/>
                <a:gridCol w="754380"/>
                <a:gridCol w="1508760"/>
                <a:gridCol w="922020"/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- 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- (A - B)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2388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8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8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290920"/>
          <a:ext cx="6553200" cy="1920240"/>
        </p:xfrm>
        <a:graphic>
          <a:graphicData uri="http://schemas.openxmlformats.org/drawingml/2006/table">
            <a:tbl>
              <a:tblPr/>
              <a:tblGrid>
                <a:gridCol w="609600"/>
                <a:gridCol w="533400"/>
                <a:gridCol w="1066800"/>
                <a:gridCol w="1447800"/>
                <a:gridCol w="588006"/>
                <a:gridCol w="849791"/>
                <a:gridCol w="1457803"/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B)</a:t>
                      </a:r>
                      <a:r>
                        <a:rPr lang="en-US" sz="2400" b="1" baseline="30000" dirty="0" smtClean="0"/>
                        <a:t>c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sz="2400" b="1" baseline="30000" dirty="0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="1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sz="2400" b="1" baseline="30000" dirty="0" smtClean="0"/>
                        <a:t>c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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="1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algn="ctr">
              <a:spcBef>
                <a:spcPts val="600"/>
              </a:spcBef>
              <a:buSzPct val="70000"/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A – B =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9800" y="2209800"/>
          <a:ext cx="4152901" cy="2212976"/>
        </p:xfrm>
        <a:graphic>
          <a:graphicData uri="http://schemas.openxmlformats.org/drawingml/2006/table">
            <a:tbl>
              <a:tblPr/>
              <a:tblGrid>
                <a:gridCol w="512821"/>
                <a:gridCol w="481359"/>
                <a:gridCol w="1160925"/>
                <a:gridCol w="605107"/>
                <a:gridCol w="1392689"/>
              </a:tblGrid>
              <a:tr h="457200"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–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1224</TotalTime>
  <Words>483</Words>
  <Application>Microsoft Office PowerPoint</Application>
  <PresentationFormat>On-screen Show (4:3)</PresentationFormat>
  <Paragraphs>357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Oriel</vt:lpstr>
      <vt:lpstr>SET IDENTITIES</vt:lpstr>
      <vt:lpstr>SETS IDENTITIES</vt:lpstr>
      <vt:lpstr>Slide 3</vt:lpstr>
      <vt:lpstr>Slide 4</vt:lpstr>
      <vt:lpstr>Slide 5</vt:lpstr>
      <vt:lpstr>EXERCISE</vt:lpstr>
      <vt:lpstr>SOLUTION</vt:lpstr>
      <vt:lpstr>SOLUTION</vt:lpstr>
      <vt:lpstr>SOLUTION</vt:lpstr>
      <vt:lpstr>Cont…</vt:lpstr>
      <vt:lpstr>SOLUTION</vt:lpstr>
      <vt:lpstr>EXERCISE</vt:lpstr>
      <vt:lpstr>SOLUTION</vt:lpstr>
      <vt:lpstr>Cont…</vt:lpstr>
      <vt:lpstr>DEMORGAN’S LAW</vt:lpstr>
      <vt:lpstr>PROOF</vt:lpstr>
      <vt:lpstr>Cont…</vt:lpstr>
      <vt:lpstr>ASSOCIATIVE LAW</vt:lpstr>
      <vt:lpstr>Cont…</vt:lpstr>
      <vt:lpstr>USING SET IDENTITIES</vt:lpstr>
      <vt:lpstr>Slide 21</vt:lpstr>
      <vt:lpstr>EXERCISE</vt:lpstr>
      <vt:lpstr>EXERCISE</vt:lpstr>
      <vt:lpstr>EXERCISE</vt:lpstr>
      <vt:lpstr>PROVING SET IDENTITIES BY MEMBERSHIP TABLE</vt:lpstr>
      <vt:lpstr>SOLUTION</vt:lpstr>
      <vt:lpstr>SOLUTION</vt:lpstr>
      <vt:lpstr>SOLUTION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Theory</dc:title>
  <dc:creator>C &amp; M</dc:creator>
  <cp:lastModifiedBy>C &amp; M</cp:lastModifiedBy>
  <cp:revision>187</cp:revision>
  <dcterms:created xsi:type="dcterms:W3CDTF">2013-03-28T16:10:02Z</dcterms:created>
  <dcterms:modified xsi:type="dcterms:W3CDTF">2013-10-26T09:31:05Z</dcterms:modified>
</cp:coreProperties>
</file>
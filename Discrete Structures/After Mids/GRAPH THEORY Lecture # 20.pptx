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emf" ContentType="image/x-emf"/>
  <Default Extension="wmf" ContentType="image/x-wmf"/>
  <Default Extension="rels" ContentType="application/vnd.openxmlformats-package.relationships+xml"/>
  <Default Extension="xml" ContentType="application/xml"/>
  <Default Extension="vml" ContentType="application/vnd.openxmlformats-officedocument.vmlDrawing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5" r:id="rId1"/>
  </p:sldMasterIdLst>
  <p:notesMasterIdLst>
    <p:notesMasterId r:id="rId62"/>
  </p:notesMasterIdLst>
  <p:handoutMasterIdLst>
    <p:handoutMasterId r:id="rId63"/>
  </p:handoutMasterIdLst>
  <p:sldIdLst>
    <p:sldId id="256" r:id="rId2"/>
    <p:sldId id="257" r:id="rId3"/>
    <p:sldId id="258" r:id="rId4"/>
    <p:sldId id="320" r:id="rId5"/>
    <p:sldId id="322" r:id="rId6"/>
    <p:sldId id="323" r:id="rId7"/>
    <p:sldId id="324" r:id="rId8"/>
    <p:sldId id="325" r:id="rId9"/>
    <p:sldId id="326" r:id="rId10"/>
    <p:sldId id="327" r:id="rId11"/>
    <p:sldId id="328" r:id="rId12"/>
    <p:sldId id="329" r:id="rId13"/>
    <p:sldId id="330" r:id="rId14"/>
    <p:sldId id="365" r:id="rId15"/>
    <p:sldId id="331" r:id="rId16"/>
    <p:sldId id="366" r:id="rId17"/>
    <p:sldId id="332" r:id="rId18"/>
    <p:sldId id="408" r:id="rId19"/>
    <p:sldId id="409" r:id="rId20"/>
    <p:sldId id="410" r:id="rId21"/>
    <p:sldId id="333" r:id="rId22"/>
    <p:sldId id="367" r:id="rId23"/>
    <p:sldId id="335" r:id="rId24"/>
    <p:sldId id="368" r:id="rId25"/>
    <p:sldId id="369" r:id="rId26"/>
    <p:sldId id="370" r:id="rId27"/>
    <p:sldId id="371" r:id="rId28"/>
    <p:sldId id="372" r:id="rId29"/>
    <p:sldId id="373" r:id="rId30"/>
    <p:sldId id="374" r:id="rId31"/>
    <p:sldId id="375" r:id="rId32"/>
    <p:sldId id="376" r:id="rId33"/>
    <p:sldId id="377" r:id="rId34"/>
    <p:sldId id="411" r:id="rId35"/>
    <p:sldId id="412" r:id="rId36"/>
    <p:sldId id="379" r:id="rId37"/>
    <p:sldId id="380" r:id="rId38"/>
    <p:sldId id="381" r:id="rId39"/>
    <p:sldId id="383" r:id="rId40"/>
    <p:sldId id="384" r:id="rId41"/>
    <p:sldId id="385" r:id="rId42"/>
    <p:sldId id="386" r:id="rId43"/>
    <p:sldId id="387" r:id="rId44"/>
    <p:sldId id="388" r:id="rId45"/>
    <p:sldId id="389" r:id="rId46"/>
    <p:sldId id="390" r:id="rId47"/>
    <p:sldId id="391" r:id="rId48"/>
    <p:sldId id="392" r:id="rId49"/>
    <p:sldId id="393" r:id="rId50"/>
    <p:sldId id="394" r:id="rId51"/>
    <p:sldId id="395" r:id="rId52"/>
    <p:sldId id="396" r:id="rId53"/>
    <p:sldId id="397" r:id="rId54"/>
    <p:sldId id="398" r:id="rId55"/>
    <p:sldId id="399" r:id="rId56"/>
    <p:sldId id="400" r:id="rId57"/>
    <p:sldId id="401" r:id="rId58"/>
    <p:sldId id="402" r:id="rId59"/>
    <p:sldId id="403" r:id="rId60"/>
    <p:sldId id="404" r:id="rId61"/>
  </p:sldIdLst>
  <p:sldSz cx="9144000" cy="6858000" type="screen4x3"/>
  <p:notesSz cx="6858000" cy="9144000"/>
  <p:custDataLst>
    <p:tags r:id="rId64"/>
  </p:custDataLst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 xmlns="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49C2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128" autoAdjust="0"/>
    <p:restoredTop sz="94660"/>
  </p:normalViewPr>
  <p:slideViewPr>
    <p:cSldViewPr>
      <p:cViewPr>
        <p:scale>
          <a:sx n="64" d="100"/>
          <a:sy n="64" d="100"/>
        </p:scale>
        <p:origin x="-77" y="-41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50" d="100"/>
        <a:sy n="50" d="100"/>
      </p:scale>
      <p:origin x="0" y="186"/>
    </p:cViewPr>
  </p:sorterViewPr>
  <p:notesViewPr>
    <p:cSldViewPr>
      <p:cViewPr varScale="1">
        <p:scale>
          <a:sx n="83" d="100"/>
          <a:sy n="83" d="100"/>
        </p:scale>
        <p:origin x="-1422" y="-84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handoutMaster" Target="handoutMasters/handoutMaster1.xml"/><Relationship Id="rId68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61" Type="http://schemas.openxmlformats.org/officeDocument/2006/relationships/slide" Target="slides/slide60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tags" Target="tags/tag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notesMaster" Target="notesMasters/notes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5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26.w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27.w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28.w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29.wmf"/></Relationships>
</file>

<file path=ppt/drawings/_rels/vmlDrawing6.vml.rels><?xml version="1.0" encoding="UTF-8" standalone="yes"?>
<Relationships xmlns="http://schemas.openxmlformats.org/package/2006/relationships"><Relationship Id="rId2" Type="http://schemas.openxmlformats.org/officeDocument/2006/relationships/image" Target="../media/image30.wmf"/><Relationship Id="rId1" Type="http://schemas.openxmlformats.org/officeDocument/2006/relationships/image" Target="../media/image27.wmf"/></Relationships>
</file>

<file path=ppt/drawings/_rels/vmlDrawing7.vml.rels><?xml version="1.0" encoding="UTF-8" standalone="yes"?>
<Relationships xmlns="http://schemas.openxmlformats.org/package/2006/relationships"><Relationship Id="rId2" Type="http://schemas.openxmlformats.org/officeDocument/2006/relationships/image" Target="../media/image32.wmf"/><Relationship Id="rId1" Type="http://schemas.openxmlformats.org/officeDocument/2006/relationships/image" Target="../media/image31.wmf"/></Relationships>
</file>

<file path=ppt/drawings/_rels/vmlDrawing8.vml.rels><?xml version="1.0" encoding="UTF-8" standalone="yes"?>
<Relationships xmlns="http://schemas.openxmlformats.org/package/2006/relationships"><Relationship Id="rId1" Type="http://schemas.openxmlformats.org/officeDocument/2006/relationships/image" Target="../media/image33.wmf"/></Relationships>
</file>

<file path=ppt/drawings/_rels/vmlDrawing9.vml.rels><?xml version="1.0" encoding="UTF-8" standalone="yes"?>
<Relationships xmlns="http://schemas.openxmlformats.org/package/2006/relationships"><Relationship Id="rId1" Type="http://schemas.openxmlformats.org/officeDocument/2006/relationships/image" Target="../media/image34.wmf"/></Relationships>
</file>

<file path=ppt/drawings/_rels/vmlDrawing10.vml.rels><?xml version="1.0" encoding="UTF-8" standalone="yes"?>
<Relationships xmlns="http://schemas.openxmlformats.org/package/2006/relationships"><Relationship Id="rId1" Type="http://schemas.openxmlformats.org/officeDocument/2006/relationships/image" Target="../media/image35.wmf"/></Relationships>
</file>

<file path=ppt/drawings/_rels/vmlDrawing11.vml.rels><?xml version="1.0" encoding="UTF-8" standalone="yes"?>
<Relationships xmlns="http://schemas.openxmlformats.org/package/2006/relationships"><Relationship Id="rId1" Type="http://schemas.openxmlformats.org/officeDocument/2006/relationships/image" Target="../media/image38.wmf"/></Relationships>
</file>

<file path=ppt/drawings/_rels/vmlDrawing12.vml.rels><?xml version="1.0" encoding="UTF-8" standalone="yes"?>
<Relationships xmlns="http://schemas.openxmlformats.org/package/2006/relationships"><Relationship Id="rId1" Type="http://schemas.openxmlformats.org/officeDocument/2006/relationships/image" Target="../media/image41.wmf"/></Relationships>
</file>

<file path=ppt/drawings/_rels/vmlDrawing13.vml.rels><?xml version="1.0" encoding="UTF-8" standalone="yes"?>
<Relationships xmlns="http://schemas.openxmlformats.org/package/2006/relationships"><Relationship Id="rId1" Type="http://schemas.openxmlformats.org/officeDocument/2006/relationships/image" Target="../media/image45.wmf"/></Relationships>
</file>

<file path=ppt/drawings/_rels/vmlDrawing14.vml.rels><?xml version="1.0" encoding="UTF-8" standalone="yes"?>
<Relationships xmlns="http://schemas.openxmlformats.org/package/2006/relationships"><Relationship Id="rId1" Type="http://schemas.openxmlformats.org/officeDocument/2006/relationships/image" Target="../media/image46.wmf"/></Relationships>
</file>

<file path=ppt/drawings/_rels/vmlDrawing15.vml.rels><?xml version="1.0" encoding="UTF-8" standalone="yes"?>
<Relationships xmlns="http://schemas.openxmlformats.org/package/2006/relationships"><Relationship Id="rId1" Type="http://schemas.openxmlformats.org/officeDocument/2006/relationships/image" Target="../media/image48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/>
          </a:p>
        </p:txBody>
      </p:sp>
      <p:sp>
        <p:nvSpPr>
          <p:cNvPr id="1331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endParaRPr lang="en-US"/>
          </a:p>
        </p:txBody>
      </p:sp>
      <p:sp>
        <p:nvSpPr>
          <p:cNvPr id="1331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/>
          </a:p>
        </p:txBody>
      </p:sp>
      <p:sp>
        <p:nvSpPr>
          <p:cNvPr id="1331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D5959C94-BE30-4F86-B0FD-A3A1B0C4789D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828147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/>
          </a:p>
        </p:txBody>
      </p:sp>
      <p:sp>
        <p:nvSpPr>
          <p:cNvPr id="3686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endParaRPr lang="en-US"/>
          </a:p>
        </p:txBody>
      </p:sp>
      <p:sp>
        <p:nvSpPr>
          <p:cNvPr id="36868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</p:sp>
      <p:sp>
        <p:nvSpPr>
          <p:cNvPr id="3686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3687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/>
          </a:p>
        </p:txBody>
      </p:sp>
      <p:sp>
        <p:nvSpPr>
          <p:cNvPr id="3687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8E971F3D-4CCB-414F-9454-B7A9A7C50F2E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559627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1219200" y="3886200"/>
            <a:ext cx="6858000" cy="990600"/>
          </a:xfrm>
        </p:spPr>
        <p:txBody>
          <a:bodyPr anchor="t" anchorCtr="0"/>
          <a:lstStyle>
            <a:lvl1pPr algn="r">
              <a:defRPr sz="3200">
                <a:solidFill>
                  <a:schemeClr val="tx1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1219200" y="5124450"/>
            <a:ext cx="6858000" cy="533400"/>
          </a:xfrm>
        </p:spPr>
        <p:txBody>
          <a:bodyPr/>
          <a:lstStyle>
            <a:lvl1pPr marL="0" indent="0" algn="r">
              <a:buNone/>
              <a:defRPr sz="20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>
          <a:xfrm>
            <a:off x="6400800" y="6355080"/>
            <a:ext cx="2286000" cy="365760"/>
          </a:xfrm>
        </p:spPr>
        <p:txBody>
          <a:bodyPr/>
          <a:lstStyle>
            <a:lvl1pPr>
              <a:defRPr sz="1400"/>
            </a:lvl1pPr>
          </a:lstStyle>
          <a:p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>
          <a:xfrm>
            <a:off x="2898648" y="6355080"/>
            <a:ext cx="3474720" cy="365760"/>
          </a:xfrm>
        </p:spPr>
        <p:txBody>
          <a:bodyPr/>
          <a:lstStyle/>
          <a:p>
            <a:endParaRPr lang="en-US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>
          <a:xfrm>
            <a:off x="1216152" y="6355080"/>
            <a:ext cx="1219200" cy="365760"/>
          </a:xfrm>
        </p:spPr>
        <p:txBody>
          <a:bodyPr/>
          <a:lstStyle/>
          <a:p>
            <a:fld id="{95046609-F674-44B6-8FCB-CC08E7B10C7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1" name="Rectangle 20"/>
          <p:cNvSpPr/>
          <p:nvPr/>
        </p:nvSpPr>
        <p:spPr>
          <a:xfrm>
            <a:off x="904875" y="3648075"/>
            <a:ext cx="7315200" cy="1280160"/>
          </a:xfrm>
          <a:prstGeom prst="rect">
            <a:avLst/>
          </a:prstGeom>
          <a:noFill/>
          <a:ln w="6350" cap="rnd" cmpd="sng" algn="ctr">
            <a:solidFill>
              <a:schemeClr val="accent1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3" name="Rectangle 32"/>
          <p:cNvSpPr/>
          <p:nvPr/>
        </p:nvSpPr>
        <p:spPr>
          <a:xfrm>
            <a:off x="914400" y="5048250"/>
            <a:ext cx="7315200" cy="685800"/>
          </a:xfrm>
          <a:prstGeom prst="rect">
            <a:avLst/>
          </a:prstGeom>
          <a:noFill/>
          <a:ln w="6350" cap="rnd" cmpd="sng" algn="ctr">
            <a:solidFill>
              <a:schemeClr val="accent2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2" name="Rectangle 21"/>
          <p:cNvSpPr/>
          <p:nvPr/>
        </p:nvSpPr>
        <p:spPr>
          <a:xfrm>
            <a:off x="904875" y="3648075"/>
            <a:ext cx="228600" cy="128016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2" name="Rectangle 31"/>
          <p:cNvSpPr/>
          <p:nvPr/>
        </p:nvSpPr>
        <p:spPr>
          <a:xfrm>
            <a:off x="914400" y="5048250"/>
            <a:ext cx="228600" cy="685800"/>
          </a:xfrm>
          <a:prstGeom prst="rect">
            <a:avLst/>
          </a:prstGeom>
          <a:solidFill>
            <a:schemeClr val="accent2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19944-04AC-4CD8-BA69-63C2A678C21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493776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9200" y="2971800"/>
            <a:ext cx="6858000" cy="1066800"/>
          </a:xfrm>
        </p:spPr>
        <p:txBody>
          <a:bodyPr anchor="t" anchorCtr="0"/>
          <a:lstStyle>
            <a:lvl1pPr algn="r">
              <a:buNone/>
              <a:defRPr sz="3200" b="0" cap="none" baseline="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267200"/>
            <a:ext cx="6781800" cy="1143000"/>
          </a:xfrm>
        </p:spPr>
        <p:txBody>
          <a:bodyPr anchor="t" anchorCtr="0"/>
          <a:lstStyle>
            <a:lvl1pPr marL="0" indent="0" algn="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400800" y="6355080"/>
            <a:ext cx="2286000" cy="36576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898648" y="6355080"/>
            <a:ext cx="3474720" cy="36576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69848" y="6355080"/>
            <a:ext cx="1520952" cy="365760"/>
          </a:xfrm>
        </p:spPr>
        <p:txBody>
          <a:bodyPr/>
          <a:lstStyle/>
          <a:p>
            <a:fld id="{E6843562-6A8D-4508-B433-375FE97B4E10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914400" y="2819400"/>
            <a:ext cx="7315200" cy="1280160"/>
          </a:xfrm>
          <a:prstGeom prst="rect">
            <a:avLst/>
          </a:prstGeom>
          <a:noFill/>
          <a:ln w="6350" cap="rnd" cmpd="sng" algn="ctr">
            <a:solidFill>
              <a:schemeClr val="accent1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914400" y="2819400"/>
            <a:ext cx="228600" cy="128016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B74772-4651-4709-B5B8-851202ACB60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4041648" cy="493776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632198" y="1216152"/>
            <a:ext cx="4041648" cy="493776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85875"/>
            <a:ext cx="4040188" cy="685800"/>
          </a:xfrm>
          <a:noFill/>
          <a:ln>
            <a:noFill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8200" y="1295400"/>
            <a:ext cx="4041775" cy="685800"/>
          </a:xfrm>
          <a:noFill/>
          <a:ln>
            <a:noFill/>
          </a:ln>
        </p:spPr>
        <p:txBody>
          <a:bodyPr lIns="91440" anchor="b" anchorCtr="0"/>
          <a:lstStyle>
            <a:lvl1pPr marL="0" indent="0">
              <a:buNone/>
              <a:defRPr sz="2400" b="1">
                <a:solidFill>
                  <a:schemeClr val="accent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0A212F-0F62-46B2-BBCF-A4267B9585F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57200" y="2133600"/>
            <a:ext cx="4038600" cy="40386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4"/>
          </p:nvPr>
        </p:nvSpPr>
        <p:spPr>
          <a:xfrm>
            <a:off x="4648200" y="2133600"/>
            <a:ext cx="4038600" cy="40386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BAF5EE-3D59-4A2D-B384-C9549A05CAE2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Isosceles Triangle 5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30E3FE-F966-4958-A76A-B25FC80995A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Straight Connector 4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6" name="Isosceles Triangle 5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24600" y="304800"/>
            <a:ext cx="2514600" cy="838200"/>
          </a:xfrm>
        </p:spPr>
        <p:txBody>
          <a:bodyPr anchor="b" anchorCtr="0">
            <a:noAutofit/>
          </a:bodyPr>
          <a:lstStyle>
            <a:lvl1pPr algn="l">
              <a:buNone/>
              <a:defRPr sz="2000" b="1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324600" y="1219200"/>
            <a:ext cx="2514600" cy="4843463"/>
          </a:xfrm>
        </p:spPr>
        <p:txBody>
          <a:bodyPr/>
          <a:lstStyle>
            <a:lvl1pPr marL="0" indent="0">
              <a:lnSpc>
                <a:spcPts val="2200"/>
              </a:lnSpc>
              <a:spcAft>
                <a:spcPts val="1000"/>
              </a:spcAft>
              <a:buNone/>
              <a:defRPr sz="1600">
                <a:solidFill>
                  <a:schemeClr val="tx2"/>
                </a:solidFill>
              </a:defRPr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D392CC-0ABD-4EAD-8464-CAFE0E96F69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0" name="Straight Connector 9"/>
          <p:cNvSpPr>
            <a:spLocks noChangeShapeType="1"/>
          </p:cNvSpPr>
          <p:nvPr/>
        </p:nvSpPr>
        <p:spPr bwMode="auto">
          <a:xfrm rot="5400000">
            <a:off x="3160645" y="3324225"/>
            <a:ext cx="603504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9" name="Isosceles Triangle 8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Content Placeholder 11"/>
          <p:cNvSpPr>
            <a:spLocks noGrp="1"/>
          </p:cNvSpPr>
          <p:nvPr>
            <p:ph sz="quarter" idx="1"/>
          </p:nvPr>
        </p:nvSpPr>
        <p:spPr>
          <a:xfrm>
            <a:off x="304800" y="304800"/>
            <a:ext cx="5715000" cy="57150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00856"/>
            <a:ext cx="8229600" cy="674688"/>
          </a:xfrm>
          <a:ln>
            <a:solidFill>
              <a:schemeClr val="accent1"/>
            </a:solidFill>
          </a:ln>
        </p:spPr>
        <p:txBody>
          <a:bodyPr lIns="274320" anchor="ctr"/>
          <a:lstStyle>
            <a:lvl1pPr algn="r">
              <a:buNone/>
              <a:defRPr sz="2000" b="0">
                <a:solidFill>
                  <a:schemeClr val="tx1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57200" y="1905000"/>
            <a:ext cx="8229600" cy="4270248"/>
          </a:xfrm>
          <a:solidFill>
            <a:schemeClr val="tx1">
              <a:shade val="50000"/>
            </a:schemeClr>
          </a:solidFill>
          <a:ln>
            <a:noFill/>
          </a:ln>
          <a:effectLst/>
        </p:spPr>
        <p:txBody>
          <a:bodyPr/>
          <a:lstStyle>
            <a:lvl1pPr marL="0" indent="0">
              <a:spcBef>
                <a:spcPts val="600"/>
              </a:spcBef>
              <a:buNone/>
              <a:defRPr sz="3200"/>
            </a:lvl1pPr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219200"/>
            <a:ext cx="8229600" cy="533400"/>
          </a:xfrm>
        </p:spPr>
        <p:txBody>
          <a:bodyPr anchor="ctr" anchorCtr="0"/>
          <a:lstStyle>
            <a:lvl1pPr marL="0" indent="0" algn="l">
              <a:buFontTx/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8E1282-669A-4C75-B4DC-B452198C5AF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9" name="Isosceles Triangle 8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ctangle 9"/>
          <p:cNvSpPr/>
          <p:nvPr/>
        </p:nvSpPr>
        <p:spPr>
          <a:xfrm>
            <a:off x="457200" y="500856"/>
            <a:ext cx="182880" cy="68580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51697B-FB9C-4DE7-84A0-1309B4BE144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847E7-2302-4993-835F-A2750329BEB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Straight Connector 6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8" name="Isosceles Triangle 7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Straight Connector 8"/>
          <p:cNvSpPr>
            <a:spLocks noChangeShapeType="1"/>
          </p:cNvSpPr>
          <p:nvPr/>
        </p:nvSpPr>
        <p:spPr bwMode="auto">
          <a:xfrm rot="5400000">
            <a:off x="3629607" y="3201952"/>
            <a:ext cx="585216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990600"/>
          </a:xfrm>
          <a:prstGeom prst="rect">
            <a:avLst/>
          </a:prstGeom>
        </p:spPr>
        <p:txBody>
          <a:bodyPr vert="horz" anchor="b" anchorCtr="0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457200" y="1219200"/>
            <a:ext cx="8229600" cy="4910328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6400800" y="6356350"/>
            <a:ext cx="2289048" cy="36576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2898648" y="6356350"/>
            <a:ext cx="3505200" cy="365760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612648" y="6356350"/>
            <a:ext cx="1981200" cy="36576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fld id="{E2D1B8C6-6188-4C48-BCDE-6213A1D72AE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8" name="Straight Connector 27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9" name="Straight Connector 28"/>
          <p:cNvSpPr>
            <a:spLocks noChangeShapeType="1"/>
          </p:cNvSpPr>
          <p:nvPr/>
        </p:nvSpPr>
        <p:spPr bwMode="auto">
          <a:xfrm>
            <a:off x="457200" y="1143000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0" name="Isosceles Triangle 9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6" r:id="rId1"/>
    <p:sldLayoutId id="2147483677" r:id="rId2"/>
    <p:sldLayoutId id="2147483678" r:id="rId3"/>
    <p:sldLayoutId id="2147483679" r:id="rId4"/>
    <p:sldLayoutId id="2147483680" r:id="rId5"/>
    <p:sldLayoutId id="2147483681" r:id="rId6"/>
    <p:sldLayoutId id="2147483682" r:id="rId7"/>
    <p:sldLayoutId id="2147483683" r:id="rId8"/>
    <p:sldLayoutId id="2147483684" r:id="rId9"/>
    <p:sldLayoutId id="2147483685" r:id="rId10"/>
    <p:sldLayoutId id="2147483686" r:id="rId11"/>
  </p:sldLayoutIdLst>
  <p:hf hdr="0" ftr="0" dt="0"/>
  <p:txStyles>
    <p:titleStyle>
      <a:lvl1pPr algn="l" rtl="0" eaLnBrk="1" latinLnBrk="0" hangingPunct="1">
        <a:spcBef>
          <a:spcPct val="0"/>
        </a:spcBef>
        <a:buNone/>
        <a:defRPr kumimoji="0" sz="32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600"/>
        </a:spcBef>
        <a:buClr>
          <a:schemeClr val="accent1"/>
        </a:buClr>
        <a:buSzPct val="76000"/>
        <a:buFont typeface="Wingdings 3"/>
        <a:buChar char="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274320" algn="l" rtl="0" eaLnBrk="1" latinLnBrk="0" hangingPunct="1">
        <a:spcBef>
          <a:spcPts val="500"/>
        </a:spcBef>
        <a:buClr>
          <a:schemeClr val="accent2"/>
        </a:buClr>
        <a:buSzPct val="76000"/>
        <a:buFont typeface="Wingdings 3"/>
        <a:buChar char=""/>
        <a:defRPr kumimoji="0" sz="2300" kern="1200">
          <a:solidFill>
            <a:schemeClr val="tx2"/>
          </a:solidFill>
          <a:latin typeface="+mn-lt"/>
          <a:ea typeface="+mn-ea"/>
          <a:cs typeface="+mn-cs"/>
        </a:defRPr>
      </a:lvl2pPr>
      <a:lvl3pPr marL="822960" indent="-228600" algn="l" rtl="0" eaLnBrk="1" latinLnBrk="0" hangingPunct="1">
        <a:spcBef>
          <a:spcPts val="500"/>
        </a:spcBef>
        <a:buClr>
          <a:schemeClr val="bg1">
            <a:shade val="50000"/>
          </a:schemeClr>
        </a:buClr>
        <a:buSzPct val="76000"/>
        <a:buFont typeface="Wingdings 3"/>
        <a:buChar char="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rtl="0" eaLnBrk="1" latinLnBrk="0" hangingPunct="1">
        <a:spcBef>
          <a:spcPts val="400"/>
        </a:spcBef>
        <a:buClr>
          <a:schemeClr val="accent2">
            <a:shade val="75000"/>
          </a:schemeClr>
        </a:buClr>
        <a:buSzPct val="70000"/>
        <a:buFont typeface="Wingdings"/>
        <a:buChar char="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00"/>
        </a:spcBef>
        <a:buClr>
          <a:schemeClr val="accent2"/>
        </a:buClr>
        <a:buSzPct val="70000"/>
        <a:buFont typeface="Wingdings"/>
        <a:buChar char="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182880" algn="l" rtl="0" eaLnBrk="1" latinLnBrk="0" hangingPunct="1">
        <a:spcBef>
          <a:spcPts val="300"/>
        </a:spcBef>
        <a:buClr>
          <a:srgbClr val="9FB8CD">
            <a:shade val="75000"/>
          </a:srgbClr>
        </a:buClr>
        <a:buSzPct val="75000"/>
        <a:buFont typeface="Wingdings 3"/>
        <a:buChar char=""/>
        <a:defRPr kumimoji="0" lang="en-US" sz="1600" kern="1200" smtClean="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182880" algn="l" rtl="0" eaLnBrk="1" latinLnBrk="0" hangingPunct="1">
        <a:spcBef>
          <a:spcPts val="300"/>
        </a:spcBef>
        <a:buClr>
          <a:srgbClr val="727CA3">
            <a:shade val="75000"/>
          </a:srgbClr>
        </a:buClr>
        <a:buSzPct val="75000"/>
        <a:buFont typeface="Wingdings 3"/>
        <a:buChar char=""/>
        <a:defRPr kumimoji="0" lang="en-US" sz="1400" kern="1200" smtClean="0">
          <a:solidFill>
            <a:schemeClr val="tx1"/>
          </a:solidFill>
          <a:latin typeface="+mn-lt"/>
          <a:ea typeface="+mn-ea"/>
          <a:cs typeface="+mn-cs"/>
        </a:defRPr>
      </a:lvl7pPr>
      <a:lvl8pPr marL="2011680" indent="-182880" algn="l" rtl="0" eaLnBrk="1" latinLnBrk="0" hangingPunct="1">
        <a:spcBef>
          <a:spcPts val="300"/>
        </a:spcBef>
        <a:buClr>
          <a:prstClr val="white">
            <a:shade val="50000"/>
          </a:prstClr>
        </a:buClr>
        <a:buSzPct val="75000"/>
        <a:buFont typeface="Wingdings 3"/>
        <a:buChar char=""/>
        <a:defRPr kumimoji="0" lang="en-US" sz="1400" kern="1200" smtClean="0">
          <a:solidFill>
            <a:schemeClr val="tx1"/>
          </a:solidFill>
          <a:latin typeface="+mn-lt"/>
          <a:ea typeface="+mn-ea"/>
          <a:cs typeface="+mn-cs"/>
        </a:defRPr>
      </a:lvl8pPr>
      <a:lvl9pPr marL="2194560" indent="-182880" algn="l" rtl="0" eaLnBrk="1" latinLnBrk="0" hangingPunct="1">
        <a:spcBef>
          <a:spcPts val="300"/>
        </a:spcBef>
        <a:buClr>
          <a:srgbClr val="9FB8CD"/>
        </a:buClr>
        <a:buSzPct val="75000"/>
        <a:buFont typeface="Wingdings 3"/>
        <a:buChar char=""/>
        <a:defRPr kumimoji="0" lang="en-US" sz="1200" kern="1200" smtClean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emf"/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emf"/><Relationship Id="rId5" Type="http://schemas.openxmlformats.org/officeDocument/2006/relationships/image" Target="../media/image10.emf"/><Relationship Id="rId4" Type="http://schemas.openxmlformats.org/officeDocument/2006/relationships/image" Target="../media/image9.emf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emf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emf"/><Relationship Id="rId2" Type="http://schemas.openxmlformats.org/officeDocument/2006/relationships/image" Target="../media/image13.emf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15.wmf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emf"/><Relationship Id="rId2" Type="http://schemas.openxmlformats.org/officeDocument/2006/relationships/image" Target="../media/image16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emf"/><Relationship Id="rId5" Type="http://schemas.openxmlformats.org/officeDocument/2006/relationships/image" Target="../media/image19.emf"/><Relationship Id="rId4" Type="http://schemas.openxmlformats.org/officeDocument/2006/relationships/image" Target="../media/image18.emf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emf"/><Relationship Id="rId2" Type="http://schemas.openxmlformats.org/officeDocument/2006/relationships/image" Target="../media/image21.e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emf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emf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emf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4" Type="http://schemas.openxmlformats.org/officeDocument/2006/relationships/image" Target="../media/image26.wmf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4" Type="http://schemas.openxmlformats.org/officeDocument/2006/relationships/image" Target="../media/image27.wmf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.vml"/><Relationship Id="rId4" Type="http://schemas.openxmlformats.org/officeDocument/2006/relationships/image" Target="../media/image28.wmf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5.vml"/><Relationship Id="rId4" Type="http://schemas.openxmlformats.org/officeDocument/2006/relationships/image" Target="../media/image29.wmf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6.vml"/><Relationship Id="rId6" Type="http://schemas.openxmlformats.org/officeDocument/2006/relationships/image" Target="../media/image30.wmf"/><Relationship Id="rId5" Type="http://schemas.openxmlformats.org/officeDocument/2006/relationships/oleObject" Target="../embeddings/oleObject7.bin"/><Relationship Id="rId4" Type="http://schemas.openxmlformats.org/officeDocument/2006/relationships/image" Target="../media/image27.wmf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7.vml"/><Relationship Id="rId6" Type="http://schemas.openxmlformats.org/officeDocument/2006/relationships/image" Target="../media/image32.wmf"/><Relationship Id="rId5" Type="http://schemas.openxmlformats.org/officeDocument/2006/relationships/oleObject" Target="../embeddings/oleObject9.bin"/><Relationship Id="rId4" Type="http://schemas.openxmlformats.org/officeDocument/2006/relationships/image" Target="../media/image31.wmf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0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8.vml"/><Relationship Id="rId4" Type="http://schemas.openxmlformats.org/officeDocument/2006/relationships/image" Target="../media/image33.wmf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9.vml"/><Relationship Id="rId4" Type="http://schemas.openxmlformats.org/officeDocument/2006/relationships/image" Target="../media/image34.wmf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jpe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0.vml"/><Relationship Id="rId6" Type="http://schemas.openxmlformats.org/officeDocument/2006/relationships/image" Target="../media/image37.jpeg"/><Relationship Id="rId5" Type="http://schemas.openxmlformats.org/officeDocument/2006/relationships/image" Target="../media/image35.wmf"/><Relationship Id="rId4" Type="http://schemas.openxmlformats.org/officeDocument/2006/relationships/oleObject" Target="../embeddings/oleObject12.bin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3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1.vml"/><Relationship Id="rId4" Type="http://schemas.openxmlformats.org/officeDocument/2006/relationships/image" Target="../media/image38.wmf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gif"/><Relationship Id="rId2" Type="http://schemas.openxmlformats.org/officeDocument/2006/relationships/image" Target="../media/image39.gif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4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2.vml"/><Relationship Id="rId4" Type="http://schemas.openxmlformats.org/officeDocument/2006/relationships/image" Target="../media/image41.wmf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emf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emf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emf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5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3.vml"/><Relationship Id="rId4" Type="http://schemas.openxmlformats.org/officeDocument/2006/relationships/image" Target="../media/image45.wmf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6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4.vml"/><Relationship Id="rId4" Type="http://schemas.openxmlformats.org/officeDocument/2006/relationships/image" Target="../media/image46.wmf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emf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7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5.vml"/><Relationship Id="rId4" Type="http://schemas.openxmlformats.org/officeDocument/2006/relationships/image" Target="../media/image48.wmf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gif"/><Relationship Id="rId2" Type="http://schemas.openxmlformats.org/officeDocument/2006/relationships/image" Target="../media/image49.gif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219200" y="3886200"/>
            <a:ext cx="6858000" cy="685800"/>
          </a:xfrm>
        </p:spPr>
        <p:txBody>
          <a:bodyPr>
            <a:normAutofit fontScale="90000"/>
          </a:bodyPr>
          <a:lstStyle/>
          <a:p>
            <a:pPr algn="ctr"/>
            <a:r>
              <a:rPr lang="en-US" sz="3600" b="1" dirty="0" smtClean="0">
                <a:solidFill>
                  <a:srgbClr val="C00000"/>
                </a:solidFill>
              </a:rPr>
              <a:t>GRAPH THEORY</a:t>
            </a:r>
            <a:r>
              <a:rPr lang="en-US" sz="3100" b="1" u="sng" dirty="0" smtClean="0">
                <a:solidFill>
                  <a:srgbClr val="C00000"/>
                </a:solidFill>
              </a:rPr>
              <a:t/>
            </a:r>
            <a:br>
              <a:rPr lang="en-US" sz="3100" b="1" u="sng" dirty="0" smtClean="0">
                <a:solidFill>
                  <a:srgbClr val="C00000"/>
                </a:solidFill>
              </a:rPr>
            </a:br>
            <a:r>
              <a:rPr lang="en-US" sz="2800" b="1" dirty="0" smtClean="0">
                <a:solidFill>
                  <a:srgbClr val="0070C0"/>
                </a:solidFill>
              </a:rPr>
              <a:t>Lecture </a:t>
            </a:r>
            <a:r>
              <a:rPr lang="en-US" sz="2800" b="1" smtClean="0">
                <a:solidFill>
                  <a:srgbClr val="0070C0"/>
                </a:solidFill>
              </a:rPr>
              <a:t># </a:t>
            </a:r>
            <a:r>
              <a:rPr lang="en-US" sz="2800" b="1" smtClean="0">
                <a:solidFill>
                  <a:srgbClr val="0070C0"/>
                </a:solidFill>
              </a:rPr>
              <a:t>20</a:t>
            </a:r>
            <a:r>
              <a:rPr lang="en-US" sz="2800" dirty="0" smtClean="0"/>
              <a:t/>
            </a:r>
            <a:br>
              <a:rPr lang="en-US" sz="2800" dirty="0" smtClean="0"/>
            </a:br>
            <a:r>
              <a:rPr lang="en-US" sz="2800" dirty="0" smtClean="0"/>
              <a:t/>
            </a:r>
            <a:br>
              <a:rPr lang="en-US" sz="2800" dirty="0" smtClean="0"/>
            </a:br>
            <a:endParaRPr lang="en-US" sz="2900" b="1" u="sng" dirty="0">
              <a:solidFill>
                <a:srgbClr val="C00000"/>
              </a:solidFill>
            </a:endParaRPr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subTitle" idx="1"/>
          </p:nvPr>
        </p:nvSpPr>
        <p:spPr/>
        <p:txBody>
          <a:bodyPr>
            <a:noAutofit/>
          </a:bodyPr>
          <a:lstStyle/>
          <a:p>
            <a:pPr algn="ctr"/>
            <a:endParaRPr lang="en-US" sz="2400" dirty="0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1A3B3F-4222-45C1-91A8-A367DD2FCE91}" type="slidenum">
              <a:rPr lang="en-US"/>
              <a:pPr/>
              <a:t>1</a:t>
            </a:fld>
            <a:endParaRPr lang="en-US"/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u="sng" dirty="0" smtClean="0">
                <a:solidFill>
                  <a:srgbClr val="0070C0"/>
                </a:solidFill>
              </a:rPr>
              <a:t>INTRODUCTION</a:t>
            </a:r>
            <a:endParaRPr lang="en-US" b="1" u="sng" dirty="0">
              <a:solidFill>
                <a:srgbClr val="0070C0"/>
              </a:solidFill>
            </a:endParaRP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C95044-D182-4BAE-9152-421F005E817B}" type="slidenum">
              <a:rPr lang="en-US"/>
              <a:pPr/>
              <a:t>2</a:t>
            </a:fld>
            <a:endParaRPr lang="en-US"/>
          </a:p>
        </p:txBody>
      </p:sp>
      <p:sp>
        <p:nvSpPr>
          <p:cNvPr id="7171" name="Rectangle 3"/>
          <p:cNvSpPr>
            <a:spLocks noGrp="1" noChangeArrowheads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US" dirty="0" smtClean="0">
                <a:solidFill>
                  <a:srgbClr val="FF0000"/>
                </a:solidFill>
              </a:rPr>
              <a:t>Graph theory</a:t>
            </a:r>
            <a:r>
              <a:rPr lang="en-US" dirty="0" smtClean="0"/>
              <a:t> plays an important role in several areas of </a:t>
            </a:r>
            <a:r>
              <a:rPr lang="en-US" dirty="0" smtClean="0">
                <a:solidFill>
                  <a:srgbClr val="FF0000"/>
                </a:solidFill>
              </a:rPr>
              <a:t>computer science</a:t>
            </a:r>
            <a:r>
              <a:rPr lang="en-US" dirty="0" smtClean="0"/>
              <a:t> such as:</a:t>
            </a:r>
          </a:p>
          <a:p>
            <a:endParaRPr lang="en-US" sz="2800" dirty="0" smtClean="0"/>
          </a:p>
          <a:p>
            <a:pPr lvl="1"/>
            <a:r>
              <a:rPr lang="en-US" sz="2600" dirty="0" smtClean="0">
                <a:solidFill>
                  <a:srgbClr val="C00000"/>
                </a:solidFill>
              </a:rPr>
              <a:t>Switching Theory and Logical Design</a:t>
            </a:r>
          </a:p>
          <a:p>
            <a:pPr lvl="1"/>
            <a:r>
              <a:rPr lang="en-US" sz="2600" dirty="0" smtClean="0">
                <a:solidFill>
                  <a:srgbClr val="002060"/>
                </a:solidFill>
              </a:rPr>
              <a:t>Artificial Intelligence</a:t>
            </a:r>
          </a:p>
          <a:p>
            <a:pPr lvl="1"/>
            <a:r>
              <a:rPr lang="en-US" sz="2600" dirty="0" smtClean="0">
                <a:solidFill>
                  <a:srgbClr val="C00000"/>
                </a:solidFill>
              </a:rPr>
              <a:t>Formal Languages</a:t>
            </a:r>
          </a:p>
          <a:p>
            <a:pPr lvl="1"/>
            <a:r>
              <a:rPr lang="en-US" sz="2600" dirty="0" smtClean="0">
                <a:solidFill>
                  <a:srgbClr val="002060"/>
                </a:solidFill>
              </a:rPr>
              <a:t>Computer Graphics</a:t>
            </a:r>
          </a:p>
          <a:p>
            <a:pPr lvl="1"/>
            <a:r>
              <a:rPr lang="en-US" sz="2600" dirty="0" smtClean="0">
                <a:solidFill>
                  <a:srgbClr val="C00000"/>
                </a:solidFill>
              </a:rPr>
              <a:t>Operating Systems</a:t>
            </a:r>
          </a:p>
          <a:p>
            <a:pPr lvl="1"/>
            <a:r>
              <a:rPr lang="en-US" sz="2600" dirty="0" smtClean="0">
                <a:solidFill>
                  <a:srgbClr val="002060"/>
                </a:solidFill>
              </a:rPr>
              <a:t>Compiler Writing</a:t>
            </a:r>
          </a:p>
          <a:p>
            <a:pPr lvl="1"/>
            <a:r>
              <a:rPr lang="en-US" sz="2600" dirty="0" smtClean="0">
                <a:solidFill>
                  <a:srgbClr val="C00000"/>
                </a:solidFill>
              </a:rPr>
              <a:t>Information Organization and Retrieval.</a:t>
            </a:r>
          </a:p>
          <a:p>
            <a:endParaRPr lang="en-US" dirty="0" smtClean="0"/>
          </a:p>
          <a:p>
            <a:endParaRPr lang="en-US" dirty="0" smtClean="0"/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71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71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71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717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717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717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000"/>
                                        <p:tgtEl>
                                          <p:spTgt spid="717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2000"/>
                                        <p:tgtEl>
                                          <p:spTgt spid="717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71" grpId="0" uiExpand="1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u="sng" dirty="0" smtClean="0">
                <a:solidFill>
                  <a:srgbClr val="0070C0"/>
                </a:solidFill>
              </a:rPr>
              <a:t>GRAPH</a:t>
            </a:r>
            <a:endParaRPr lang="en-US" b="1" u="sng" dirty="0">
              <a:solidFill>
                <a:srgbClr val="0070C0"/>
              </a:solidFill>
            </a:endParaRP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F35CA-D4F4-41A4-954A-F0C2B8818BFD}" type="slidenum">
              <a:rPr lang="en-US"/>
              <a:pPr/>
              <a:t>3</a:t>
            </a:fld>
            <a:endParaRPr lang="en-US"/>
          </a:p>
        </p:txBody>
      </p:sp>
      <p:sp>
        <p:nvSpPr>
          <p:cNvPr id="8195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457200" y="1219200"/>
            <a:ext cx="8229600" cy="5105400"/>
          </a:xfrm>
        </p:spPr>
        <p:txBody>
          <a:bodyPr>
            <a:normAutofit/>
          </a:bodyPr>
          <a:lstStyle/>
          <a:p>
            <a:r>
              <a:rPr lang="en-US" dirty="0" smtClean="0"/>
              <a:t>A </a:t>
            </a:r>
            <a:r>
              <a:rPr lang="en-US" dirty="0" smtClean="0">
                <a:solidFill>
                  <a:srgbClr val="FF0000"/>
                </a:solidFill>
              </a:rPr>
              <a:t>graph</a:t>
            </a:r>
            <a:r>
              <a:rPr lang="en-US" dirty="0" smtClean="0"/>
              <a:t> is a non-empty set of points called </a:t>
            </a:r>
            <a:r>
              <a:rPr lang="en-US" dirty="0" smtClean="0">
                <a:solidFill>
                  <a:srgbClr val="FF0000"/>
                </a:solidFill>
              </a:rPr>
              <a:t>vertices</a:t>
            </a:r>
            <a:r>
              <a:rPr lang="en-US" dirty="0" smtClean="0"/>
              <a:t> and</a:t>
            </a:r>
          </a:p>
          <a:p>
            <a:endParaRPr lang="en-US" dirty="0" smtClean="0"/>
          </a:p>
          <a:p>
            <a:r>
              <a:rPr lang="en-US" dirty="0" smtClean="0"/>
              <a:t>A set of line segments joining pairs of </a:t>
            </a:r>
            <a:r>
              <a:rPr lang="en-US" dirty="0" smtClean="0">
                <a:solidFill>
                  <a:srgbClr val="FF0000"/>
                </a:solidFill>
              </a:rPr>
              <a:t>vertices</a:t>
            </a:r>
            <a:r>
              <a:rPr lang="en-US" dirty="0" smtClean="0"/>
              <a:t> called </a:t>
            </a:r>
            <a:r>
              <a:rPr lang="en-US" dirty="0" smtClean="0">
                <a:solidFill>
                  <a:srgbClr val="FF0000"/>
                </a:solidFill>
              </a:rPr>
              <a:t>edges</a:t>
            </a:r>
            <a:r>
              <a:rPr lang="en-US" dirty="0" smtClean="0"/>
              <a:t>.</a:t>
            </a:r>
          </a:p>
          <a:p>
            <a:endParaRPr lang="en-US" dirty="0" smtClean="0"/>
          </a:p>
          <a:p>
            <a:r>
              <a:rPr lang="en-US" dirty="0" smtClean="0"/>
              <a:t>Formally, a </a:t>
            </a:r>
            <a:r>
              <a:rPr lang="en-US" dirty="0" smtClean="0">
                <a:solidFill>
                  <a:srgbClr val="FF0000"/>
                </a:solidFill>
              </a:rPr>
              <a:t>graph G </a:t>
            </a:r>
            <a:r>
              <a:rPr lang="en-US" dirty="0" smtClean="0"/>
              <a:t>consists of two finite sets:</a:t>
            </a:r>
          </a:p>
          <a:p>
            <a:endParaRPr lang="en-US" dirty="0" smtClean="0"/>
          </a:p>
          <a:p>
            <a:pPr lvl="1"/>
            <a:r>
              <a:rPr lang="en-US" sz="2500" dirty="0" smtClean="0">
                <a:solidFill>
                  <a:srgbClr val="002060"/>
                </a:solidFill>
              </a:rPr>
              <a:t> A set </a:t>
            </a:r>
            <a:r>
              <a:rPr lang="en-US" sz="2500" dirty="0" smtClean="0">
                <a:solidFill>
                  <a:srgbClr val="FF0000"/>
                </a:solidFill>
              </a:rPr>
              <a:t>V = V(G)</a:t>
            </a:r>
            <a:r>
              <a:rPr lang="en-US" sz="2500" dirty="0" smtClean="0">
                <a:solidFill>
                  <a:srgbClr val="002060"/>
                </a:solidFill>
              </a:rPr>
              <a:t> of </a:t>
            </a:r>
            <a:r>
              <a:rPr lang="en-US" sz="2500" dirty="0" smtClean="0">
                <a:solidFill>
                  <a:srgbClr val="FF0000"/>
                </a:solidFill>
              </a:rPr>
              <a:t>vertices</a:t>
            </a:r>
            <a:r>
              <a:rPr lang="en-US" sz="2500" dirty="0" smtClean="0">
                <a:solidFill>
                  <a:srgbClr val="002060"/>
                </a:solidFill>
              </a:rPr>
              <a:t> (or points or nodes)</a:t>
            </a:r>
          </a:p>
          <a:p>
            <a:pPr lvl="1"/>
            <a:r>
              <a:rPr lang="en-US" sz="2500" dirty="0" smtClean="0">
                <a:solidFill>
                  <a:srgbClr val="002060"/>
                </a:solidFill>
              </a:rPr>
              <a:t>A set </a:t>
            </a:r>
            <a:r>
              <a:rPr lang="en-US" sz="2500" dirty="0" smtClean="0">
                <a:solidFill>
                  <a:srgbClr val="FF0000"/>
                </a:solidFill>
              </a:rPr>
              <a:t>E = E(G)</a:t>
            </a:r>
            <a:r>
              <a:rPr lang="en-US" sz="2500" dirty="0" smtClean="0">
                <a:solidFill>
                  <a:srgbClr val="002060"/>
                </a:solidFill>
              </a:rPr>
              <a:t> of </a:t>
            </a:r>
            <a:r>
              <a:rPr lang="en-US" sz="2500" dirty="0" smtClean="0">
                <a:solidFill>
                  <a:srgbClr val="FF0000"/>
                </a:solidFill>
              </a:rPr>
              <a:t>edges</a:t>
            </a:r>
            <a:r>
              <a:rPr lang="en-US" sz="2500" dirty="0" smtClean="0">
                <a:solidFill>
                  <a:srgbClr val="002060"/>
                </a:solidFill>
              </a:rPr>
              <a:t>; </a:t>
            </a:r>
          </a:p>
          <a:p>
            <a:pPr lvl="1"/>
            <a:endParaRPr lang="en-US" sz="2500" dirty="0" smtClean="0">
              <a:solidFill>
                <a:srgbClr val="002060"/>
              </a:solidFill>
            </a:endParaRPr>
          </a:p>
          <a:p>
            <a:pPr lvl="1">
              <a:buNone/>
            </a:pPr>
            <a:r>
              <a:rPr lang="en-US" sz="2500" dirty="0" smtClean="0">
                <a:solidFill>
                  <a:srgbClr val="002060"/>
                </a:solidFill>
              </a:rPr>
              <a:t>	where each </a:t>
            </a:r>
            <a:r>
              <a:rPr lang="en-US" sz="2500" dirty="0" smtClean="0">
                <a:solidFill>
                  <a:srgbClr val="FF0000"/>
                </a:solidFill>
              </a:rPr>
              <a:t>edge</a:t>
            </a:r>
            <a:r>
              <a:rPr lang="en-US" sz="2500" dirty="0" smtClean="0">
                <a:solidFill>
                  <a:srgbClr val="002060"/>
                </a:solidFill>
              </a:rPr>
              <a:t> corresponds to a pair of </a:t>
            </a:r>
            <a:r>
              <a:rPr lang="en-US" sz="2500" dirty="0" smtClean="0">
                <a:solidFill>
                  <a:srgbClr val="FF0000"/>
                </a:solidFill>
              </a:rPr>
              <a:t>vertices</a:t>
            </a:r>
            <a:r>
              <a:rPr lang="en-US" sz="2500" dirty="0" smtClean="0">
                <a:solidFill>
                  <a:srgbClr val="002060"/>
                </a:solidFill>
              </a:rPr>
              <a:t>.</a:t>
            </a:r>
          </a:p>
          <a:p>
            <a:endParaRPr lang="en-US" dirty="0" smtClean="0"/>
          </a:p>
          <a:p>
            <a:endParaRPr lang="en-US" dirty="0" smtClean="0"/>
          </a:p>
          <a:p>
            <a:pPr>
              <a:buNone/>
            </a:pPr>
            <a:endParaRPr lang="en-US" dirty="0" smtClean="0"/>
          </a:p>
          <a:p>
            <a:endParaRPr lang="en-US" dirty="0" smtClean="0"/>
          </a:p>
          <a:p>
            <a:pPr>
              <a:buNone/>
            </a:pPr>
            <a:endParaRPr lang="en-US" dirty="0"/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u="sng" dirty="0" smtClean="0">
                <a:solidFill>
                  <a:srgbClr val="0070C0"/>
                </a:solidFill>
              </a:rPr>
              <a:t>EXAMPLE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19944-04AC-4CD8-BA69-63C2A678C21A}" type="slidenum">
              <a:rPr lang="en-US" smtClean="0"/>
              <a:pPr/>
              <a:t>4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endParaRPr lang="en-US" dirty="0" smtClean="0"/>
          </a:p>
          <a:p>
            <a:pPr>
              <a:buNone/>
            </a:pPr>
            <a:endParaRPr lang="en-US" dirty="0" smtClean="0">
              <a:sym typeface="Symbol" charset="2"/>
            </a:endParaRPr>
          </a:p>
          <a:p>
            <a:pPr>
              <a:buNone/>
            </a:pPr>
            <a:endParaRPr lang="en-US" dirty="0" smtClean="0">
              <a:sym typeface="Symbol" charset="2"/>
            </a:endParaRPr>
          </a:p>
          <a:p>
            <a:pPr>
              <a:buNone/>
            </a:pPr>
            <a:endParaRPr lang="en-US" dirty="0" smtClean="0">
              <a:sym typeface="Symbol" charset="2"/>
            </a:endParaRPr>
          </a:p>
          <a:p>
            <a:pPr>
              <a:buNone/>
            </a:pPr>
            <a:endParaRPr lang="en-US" dirty="0" smtClean="0">
              <a:sym typeface="Symbol" charset="2"/>
            </a:endParaRPr>
          </a:p>
          <a:p>
            <a:pPr>
              <a:buNone/>
            </a:pPr>
            <a:endParaRPr lang="en-US" dirty="0" smtClean="0">
              <a:sym typeface="Symbol" charset="2"/>
            </a:endParaRPr>
          </a:p>
          <a:p>
            <a:pPr>
              <a:buNone/>
            </a:pPr>
            <a:endParaRPr lang="en-US" dirty="0" smtClean="0">
              <a:sym typeface="Symbol" charset="2"/>
            </a:endParaRPr>
          </a:p>
          <a:p>
            <a:r>
              <a:rPr lang="en-US" dirty="0" smtClean="0">
                <a:sym typeface="Symbol" charset="2"/>
              </a:rPr>
              <a:t>We have </a:t>
            </a:r>
            <a:r>
              <a:rPr lang="en-US" dirty="0" smtClean="0">
                <a:solidFill>
                  <a:srgbClr val="FF0000"/>
                </a:solidFill>
                <a:sym typeface="Symbol" charset="2"/>
              </a:rPr>
              <a:t>five vertices</a:t>
            </a:r>
            <a:r>
              <a:rPr lang="en-US" dirty="0" smtClean="0">
                <a:sym typeface="Symbol" charset="2"/>
              </a:rPr>
              <a:t> labeled by </a:t>
            </a:r>
            <a:r>
              <a:rPr lang="en-US" dirty="0" smtClean="0">
                <a:solidFill>
                  <a:srgbClr val="FF0000"/>
                </a:solidFill>
              </a:rPr>
              <a:t>v</a:t>
            </a:r>
            <a:r>
              <a:rPr lang="en-US" baseline="-25000" dirty="0" smtClean="0">
                <a:solidFill>
                  <a:srgbClr val="FF0000"/>
                </a:solidFill>
              </a:rPr>
              <a:t>1</a:t>
            </a:r>
            <a:r>
              <a:rPr lang="en-US" dirty="0" smtClean="0">
                <a:solidFill>
                  <a:srgbClr val="FF0000"/>
                </a:solidFill>
              </a:rPr>
              <a:t>, v</a:t>
            </a:r>
            <a:r>
              <a:rPr lang="en-US" baseline="-25000" dirty="0" smtClean="0">
                <a:solidFill>
                  <a:srgbClr val="FF0000"/>
                </a:solidFill>
              </a:rPr>
              <a:t>2</a:t>
            </a:r>
            <a:r>
              <a:rPr lang="en-US" dirty="0" smtClean="0">
                <a:solidFill>
                  <a:srgbClr val="FF0000"/>
                </a:solidFill>
              </a:rPr>
              <a:t>, v</a:t>
            </a:r>
            <a:r>
              <a:rPr lang="en-US" baseline="-25000" dirty="0" smtClean="0">
                <a:solidFill>
                  <a:srgbClr val="FF0000"/>
                </a:solidFill>
              </a:rPr>
              <a:t>3</a:t>
            </a:r>
            <a:r>
              <a:rPr lang="en-US" dirty="0" smtClean="0">
                <a:solidFill>
                  <a:srgbClr val="FF0000"/>
                </a:solidFill>
              </a:rPr>
              <a:t>, v</a:t>
            </a:r>
            <a:r>
              <a:rPr lang="en-US" baseline="-25000" dirty="0" smtClean="0">
                <a:solidFill>
                  <a:srgbClr val="FF0000"/>
                </a:solidFill>
              </a:rPr>
              <a:t>4</a:t>
            </a:r>
            <a:r>
              <a:rPr lang="en-US" dirty="0" smtClean="0">
                <a:solidFill>
                  <a:srgbClr val="FF0000"/>
                </a:solidFill>
              </a:rPr>
              <a:t>, v</a:t>
            </a:r>
            <a:r>
              <a:rPr lang="en-US" baseline="-25000" dirty="0" smtClean="0">
                <a:solidFill>
                  <a:srgbClr val="FF0000"/>
                </a:solidFill>
              </a:rPr>
              <a:t>5</a:t>
            </a:r>
            <a:r>
              <a:rPr lang="en-US" dirty="0" smtClean="0"/>
              <a:t> .</a:t>
            </a:r>
          </a:p>
          <a:p>
            <a:r>
              <a:rPr lang="en-US" dirty="0" smtClean="0">
                <a:sym typeface="Symbol" charset="2"/>
              </a:rPr>
              <a:t>We have </a:t>
            </a:r>
            <a:r>
              <a:rPr lang="en-US" dirty="0" smtClean="0">
                <a:solidFill>
                  <a:srgbClr val="FF0000"/>
                </a:solidFill>
                <a:sym typeface="Symbol" charset="2"/>
              </a:rPr>
              <a:t>edges </a:t>
            </a:r>
            <a:r>
              <a:rPr lang="pt-BR" dirty="0" smtClean="0">
                <a:solidFill>
                  <a:srgbClr val="FF0000"/>
                </a:solidFill>
              </a:rPr>
              <a:t>e</a:t>
            </a:r>
            <a:r>
              <a:rPr lang="pt-BR" baseline="-25000" dirty="0" smtClean="0">
                <a:solidFill>
                  <a:srgbClr val="FF0000"/>
                </a:solidFill>
              </a:rPr>
              <a:t>1</a:t>
            </a:r>
            <a:r>
              <a:rPr lang="pt-BR" dirty="0" smtClean="0">
                <a:solidFill>
                  <a:srgbClr val="FF0000"/>
                </a:solidFill>
              </a:rPr>
              <a:t>, e</a:t>
            </a:r>
            <a:r>
              <a:rPr lang="pt-BR" baseline="-25000" dirty="0" smtClean="0">
                <a:solidFill>
                  <a:srgbClr val="FF0000"/>
                </a:solidFill>
              </a:rPr>
              <a:t>2</a:t>
            </a:r>
            <a:r>
              <a:rPr lang="pt-BR" dirty="0" smtClean="0">
                <a:solidFill>
                  <a:srgbClr val="FF0000"/>
                </a:solidFill>
              </a:rPr>
              <a:t>, e</a:t>
            </a:r>
            <a:r>
              <a:rPr lang="pt-BR" baseline="-25000" dirty="0" smtClean="0">
                <a:solidFill>
                  <a:srgbClr val="FF0000"/>
                </a:solidFill>
              </a:rPr>
              <a:t>3</a:t>
            </a:r>
            <a:r>
              <a:rPr lang="pt-BR" dirty="0" smtClean="0">
                <a:solidFill>
                  <a:srgbClr val="FF0000"/>
                </a:solidFill>
              </a:rPr>
              <a:t>, e</a:t>
            </a:r>
            <a:r>
              <a:rPr lang="pt-BR" baseline="-25000" dirty="0" smtClean="0">
                <a:solidFill>
                  <a:srgbClr val="FF0000"/>
                </a:solidFill>
              </a:rPr>
              <a:t>4</a:t>
            </a:r>
            <a:r>
              <a:rPr lang="pt-BR" dirty="0" smtClean="0">
                <a:solidFill>
                  <a:srgbClr val="FF0000"/>
                </a:solidFill>
              </a:rPr>
              <a:t>, e</a:t>
            </a:r>
            <a:r>
              <a:rPr lang="pt-BR" baseline="-25000" dirty="0" smtClean="0">
                <a:solidFill>
                  <a:srgbClr val="FF0000"/>
                </a:solidFill>
              </a:rPr>
              <a:t>5</a:t>
            </a:r>
            <a:r>
              <a:rPr lang="pt-BR" dirty="0" smtClean="0">
                <a:solidFill>
                  <a:srgbClr val="FF0000"/>
                </a:solidFill>
              </a:rPr>
              <a:t>, e</a:t>
            </a:r>
            <a:r>
              <a:rPr lang="pt-BR" baseline="-25000" dirty="0" smtClean="0">
                <a:solidFill>
                  <a:srgbClr val="FF0000"/>
                </a:solidFill>
              </a:rPr>
              <a:t>6</a:t>
            </a:r>
            <a:r>
              <a:rPr lang="pt-BR" dirty="0" smtClean="0"/>
              <a:t> .</a:t>
            </a:r>
            <a:endParaRPr lang="en-US" dirty="0" smtClean="0">
              <a:sym typeface="Symbol" charset="2"/>
            </a:endParaRPr>
          </a:p>
        </p:txBody>
      </p:sp>
      <p:pic>
        <p:nvPicPr>
          <p:cNvPr id="5" name="Picture 4"/>
          <p:cNvPicPr/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154680" y="1143000"/>
            <a:ext cx="3931920" cy="28346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endParaRPr lang="en-US" b="1" u="sng" dirty="0" smtClean="0">
              <a:solidFill>
                <a:srgbClr val="0070C0"/>
              </a:solidFill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19944-04AC-4CD8-BA69-63C2A678C21A}" type="slidenum">
              <a:rPr lang="en-US" smtClean="0"/>
              <a:pPr/>
              <a:t>5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pt-BR" dirty="0" smtClean="0">
                <a:solidFill>
                  <a:srgbClr val="FF0000"/>
                </a:solidFill>
              </a:rPr>
              <a:t>e</a:t>
            </a:r>
            <a:r>
              <a:rPr lang="pt-BR" baseline="-25000" dirty="0" smtClean="0">
                <a:solidFill>
                  <a:srgbClr val="FF0000"/>
                </a:solidFill>
              </a:rPr>
              <a:t>1</a:t>
            </a:r>
            <a:r>
              <a:rPr lang="pt-BR" dirty="0" smtClean="0">
                <a:solidFill>
                  <a:srgbClr val="FF0000"/>
                </a:solidFill>
              </a:rPr>
              <a:t> edge </a:t>
            </a:r>
            <a:r>
              <a:rPr lang="pt-BR" dirty="0" smtClean="0"/>
              <a:t>is for</a:t>
            </a:r>
            <a:r>
              <a:rPr lang="pt-BR" dirty="0" smtClean="0">
                <a:solidFill>
                  <a:srgbClr val="FF0000"/>
                </a:solidFill>
              </a:rPr>
              <a:t> vertices </a:t>
            </a:r>
            <a:r>
              <a:rPr lang="en-US" dirty="0" smtClean="0">
                <a:solidFill>
                  <a:srgbClr val="FF0000"/>
                </a:solidFill>
              </a:rPr>
              <a:t>v</a:t>
            </a:r>
            <a:r>
              <a:rPr lang="en-US" baseline="-25000" dirty="0" smtClean="0">
                <a:solidFill>
                  <a:srgbClr val="FF0000"/>
                </a:solidFill>
              </a:rPr>
              <a:t>1</a:t>
            </a:r>
            <a:r>
              <a:rPr lang="en-US" dirty="0" smtClean="0">
                <a:solidFill>
                  <a:srgbClr val="FF0000"/>
                </a:solidFill>
              </a:rPr>
              <a:t> </a:t>
            </a:r>
            <a:r>
              <a:rPr lang="en-US" dirty="0" smtClean="0"/>
              <a:t>and</a:t>
            </a:r>
            <a:r>
              <a:rPr lang="en-US" dirty="0" smtClean="0">
                <a:solidFill>
                  <a:srgbClr val="FF0000"/>
                </a:solidFill>
              </a:rPr>
              <a:t> v</a:t>
            </a:r>
            <a:r>
              <a:rPr lang="en-US" baseline="-25000" dirty="0" smtClean="0">
                <a:solidFill>
                  <a:srgbClr val="FF0000"/>
                </a:solidFill>
              </a:rPr>
              <a:t>2</a:t>
            </a:r>
            <a:r>
              <a:rPr lang="pt-BR" baseline="-25000" dirty="0" smtClean="0">
                <a:solidFill>
                  <a:srgbClr val="FF0000"/>
                </a:solidFill>
              </a:rPr>
              <a:t> </a:t>
            </a:r>
            <a:r>
              <a:rPr lang="pt-BR" dirty="0" smtClean="0"/>
              <a:t>.</a:t>
            </a:r>
          </a:p>
          <a:p>
            <a:endParaRPr lang="pt-BR" dirty="0" smtClean="0"/>
          </a:p>
          <a:p>
            <a:r>
              <a:rPr lang="pt-BR" dirty="0" smtClean="0">
                <a:solidFill>
                  <a:srgbClr val="FF0000"/>
                </a:solidFill>
              </a:rPr>
              <a:t>e</a:t>
            </a:r>
            <a:r>
              <a:rPr lang="pt-BR" baseline="-25000" dirty="0" smtClean="0">
                <a:solidFill>
                  <a:srgbClr val="FF0000"/>
                </a:solidFill>
              </a:rPr>
              <a:t>2</a:t>
            </a:r>
            <a:r>
              <a:rPr lang="pt-BR" dirty="0" smtClean="0">
                <a:solidFill>
                  <a:srgbClr val="FF0000"/>
                </a:solidFill>
              </a:rPr>
              <a:t> </a:t>
            </a:r>
            <a:r>
              <a:rPr lang="pt-BR" dirty="0" smtClean="0"/>
              <a:t>and</a:t>
            </a:r>
            <a:r>
              <a:rPr lang="pt-BR" dirty="0" smtClean="0">
                <a:solidFill>
                  <a:srgbClr val="FF0000"/>
                </a:solidFill>
              </a:rPr>
              <a:t> e</a:t>
            </a:r>
            <a:r>
              <a:rPr lang="pt-BR" baseline="-25000" dirty="0" smtClean="0">
                <a:solidFill>
                  <a:srgbClr val="FF0000"/>
                </a:solidFill>
              </a:rPr>
              <a:t>3</a:t>
            </a:r>
            <a:r>
              <a:rPr lang="pt-BR" dirty="0" smtClean="0">
                <a:solidFill>
                  <a:srgbClr val="FF0000"/>
                </a:solidFill>
              </a:rPr>
              <a:t> </a:t>
            </a:r>
            <a:r>
              <a:rPr lang="pt-BR" dirty="0" smtClean="0"/>
              <a:t>are</a:t>
            </a:r>
            <a:r>
              <a:rPr lang="pt-BR" dirty="0" smtClean="0">
                <a:solidFill>
                  <a:srgbClr val="FF0000"/>
                </a:solidFill>
              </a:rPr>
              <a:t> </a:t>
            </a:r>
            <a:r>
              <a:rPr lang="pt-BR" dirty="0" smtClean="0"/>
              <a:t>end points </a:t>
            </a:r>
            <a:r>
              <a:rPr lang="en-US" dirty="0" smtClean="0">
                <a:solidFill>
                  <a:srgbClr val="FF0000"/>
                </a:solidFill>
              </a:rPr>
              <a:t>v</a:t>
            </a:r>
            <a:r>
              <a:rPr lang="en-US" baseline="-25000" dirty="0" smtClean="0">
                <a:solidFill>
                  <a:srgbClr val="FF0000"/>
                </a:solidFill>
              </a:rPr>
              <a:t>1</a:t>
            </a:r>
            <a:r>
              <a:rPr lang="en-US" dirty="0" smtClean="0">
                <a:solidFill>
                  <a:srgbClr val="FF0000"/>
                </a:solidFill>
              </a:rPr>
              <a:t> </a:t>
            </a:r>
            <a:r>
              <a:rPr lang="en-US" dirty="0" smtClean="0"/>
              <a:t>and</a:t>
            </a:r>
            <a:r>
              <a:rPr lang="en-US" dirty="0" smtClean="0">
                <a:solidFill>
                  <a:srgbClr val="FF0000"/>
                </a:solidFill>
              </a:rPr>
              <a:t> v</a:t>
            </a:r>
            <a:r>
              <a:rPr lang="en-US" baseline="-25000" dirty="0" smtClean="0">
                <a:solidFill>
                  <a:srgbClr val="FF0000"/>
                </a:solidFill>
              </a:rPr>
              <a:t>4</a:t>
            </a:r>
            <a:r>
              <a:rPr lang="pt-BR" dirty="0" smtClean="0"/>
              <a:t>.</a:t>
            </a:r>
          </a:p>
          <a:p>
            <a:endParaRPr lang="pt-BR" dirty="0" smtClean="0"/>
          </a:p>
          <a:p>
            <a:r>
              <a:rPr lang="pt-BR" dirty="0" smtClean="0">
                <a:solidFill>
                  <a:srgbClr val="FF0000"/>
                </a:solidFill>
              </a:rPr>
              <a:t>e</a:t>
            </a:r>
            <a:r>
              <a:rPr lang="pt-BR" baseline="-25000" dirty="0" smtClean="0">
                <a:solidFill>
                  <a:srgbClr val="FF0000"/>
                </a:solidFill>
              </a:rPr>
              <a:t>4</a:t>
            </a:r>
            <a:r>
              <a:rPr lang="pt-BR" dirty="0" smtClean="0">
                <a:solidFill>
                  <a:srgbClr val="FF0000"/>
                </a:solidFill>
              </a:rPr>
              <a:t> </a:t>
            </a:r>
            <a:r>
              <a:rPr lang="pt-BR" dirty="0" smtClean="0"/>
              <a:t>has end points </a:t>
            </a:r>
            <a:r>
              <a:rPr lang="en-US" dirty="0" smtClean="0">
                <a:solidFill>
                  <a:srgbClr val="FF0000"/>
                </a:solidFill>
              </a:rPr>
              <a:t>v</a:t>
            </a:r>
            <a:r>
              <a:rPr lang="en-US" baseline="-25000" dirty="0" smtClean="0">
                <a:solidFill>
                  <a:srgbClr val="FF0000"/>
                </a:solidFill>
              </a:rPr>
              <a:t>2</a:t>
            </a:r>
            <a:r>
              <a:rPr lang="en-US" dirty="0" smtClean="0">
                <a:solidFill>
                  <a:srgbClr val="FF0000"/>
                </a:solidFill>
              </a:rPr>
              <a:t> </a:t>
            </a:r>
            <a:r>
              <a:rPr lang="en-US" dirty="0" smtClean="0"/>
              <a:t>and</a:t>
            </a:r>
            <a:r>
              <a:rPr lang="en-US" dirty="0" smtClean="0">
                <a:solidFill>
                  <a:srgbClr val="FF0000"/>
                </a:solidFill>
              </a:rPr>
              <a:t> v</a:t>
            </a:r>
            <a:r>
              <a:rPr lang="en-US" baseline="-25000" dirty="0" smtClean="0">
                <a:solidFill>
                  <a:srgbClr val="FF0000"/>
                </a:solidFill>
              </a:rPr>
              <a:t>4</a:t>
            </a:r>
            <a:r>
              <a:rPr lang="en-US" dirty="0" smtClean="0">
                <a:solidFill>
                  <a:srgbClr val="FF0000"/>
                </a:solidFill>
              </a:rPr>
              <a:t> </a:t>
            </a:r>
            <a:r>
              <a:rPr lang="en-US" dirty="0" smtClean="0"/>
              <a:t>.</a:t>
            </a:r>
          </a:p>
          <a:p>
            <a:endParaRPr lang="en-US" dirty="0" smtClean="0"/>
          </a:p>
          <a:p>
            <a:r>
              <a:rPr lang="pt-BR" dirty="0" smtClean="0">
                <a:solidFill>
                  <a:srgbClr val="FF0000"/>
                </a:solidFill>
              </a:rPr>
              <a:t>e</a:t>
            </a:r>
            <a:r>
              <a:rPr lang="pt-BR" baseline="-25000" dirty="0" smtClean="0">
                <a:solidFill>
                  <a:srgbClr val="FF0000"/>
                </a:solidFill>
              </a:rPr>
              <a:t>5</a:t>
            </a:r>
            <a:r>
              <a:rPr lang="pt-BR" dirty="0" smtClean="0">
                <a:solidFill>
                  <a:srgbClr val="FF0000"/>
                </a:solidFill>
              </a:rPr>
              <a:t> </a:t>
            </a:r>
            <a:r>
              <a:rPr lang="pt-BR" dirty="0" smtClean="0"/>
              <a:t>has end points </a:t>
            </a:r>
            <a:r>
              <a:rPr lang="en-US" dirty="0" smtClean="0">
                <a:solidFill>
                  <a:srgbClr val="FF0000"/>
                </a:solidFill>
              </a:rPr>
              <a:t>v</a:t>
            </a:r>
            <a:r>
              <a:rPr lang="en-US" baseline="-25000" dirty="0" smtClean="0">
                <a:solidFill>
                  <a:srgbClr val="FF0000"/>
                </a:solidFill>
              </a:rPr>
              <a:t>2</a:t>
            </a:r>
            <a:r>
              <a:rPr lang="en-US" dirty="0" smtClean="0">
                <a:solidFill>
                  <a:srgbClr val="FF0000"/>
                </a:solidFill>
              </a:rPr>
              <a:t> </a:t>
            </a:r>
            <a:r>
              <a:rPr lang="en-US" dirty="0" smtClean="0"/>
              <a:t>and</a:t>
            </a:r>
            <a:r>
              <a:rPr lang="en-US" dirty="0" smtClean="0">
                <a:solidFill>
                  <a:srgbClr val="FF0000"/>
                </a:solidFill>
              </a:rPr>
              <a:t> v</a:t>
            </a:r>
            <a:r>
              <a:rPr lang="en-US" baseline="-25000" dirty="0" smtClean="0">
                <a:solidFill>
                  <a:srgbClr val="FF0000"/>
                </a:solidFill>
              </a:rPr>
              <a:t>3</a:t>
            </a:r>
            <a:r>
              <a:rPr lang="en-US" dirty="0" smtClean="0">
                <a:solidFill>
                  <a:srgbClr val="FF0000"/>
                </a:solidFill>
              </a:rPr>
              <a:t> </a:t>
            </a:r>
            <a:r>
              <a:rPr lang="en-US" dirty="0" smtClean="0"/>
              <a:t>.</a:t>
            </a:r>
          </a:p>
          <a:p>
            <a:endParaRPr lang="en-US" dirty="0" smtClean="0"/>
          </a:p>
          <a:p>
            <a:r>
              <a:rPr lang="pt-BR" dirty="0" smtClean="0">
                <a:solidFill>
                  <a:srgbClr val="FF0000"/>
                </a:solidFill>
              </a:rPr>
              <a:t>e</a:t>
            </a:r>
            <a:r>
              <a:rPr lang="pt-BR" baseline="-25000" dirty="0" smtClean="0">
                <a:solidFill>
                  <a:srgbClr val="FF0000"/>
                </a:solidFill>
              </a:rPr>
              <a:t>6</a:t>
            </a:r>
            <a:r>
              <a:rPr lang="pt-BR" dirty="0" smtClean="0">
                <a:solidFill>
                  <a:srgbClr val="FF0000"/>
                </a:solidFill>
              </a:rPr>
              <a:t> </a:t>
            </a:r>
            <a:r>
              <a:rPr lang="pt-BR" dirty="0" smtClean="0"/>
              <a:t>is a </a:t>
            </a:r>
            <a:r>
              <a:rPr lang="pt-BR" dirty="0" smtClean="0">
                <a:solidFill>
                  <a:srgbClr val="FF0000"/>
                </a:solidFill>
              </a:rPr>
              <a:t>loop</a:t>
            </a:r>
            <a:r>
              <a:rPr lang="pt-BR" dirty="0" smtClean="0"/>
              <a:t> .</a:t>
            </a:r>
            <a:endParaRPr lang="en-US" baseline="-25000" dirty="0" smtClean="0">
              <a:solidFill>
                <a:srgbClr val="FF0000"/>
              </a:solidFill>
            </a:endParaRPr>
          </a:p>
          <a:p>
            <a:endParaRPr lang="en-US" dirty="0" smtClean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u="sng" dirty="0" smtClean="0">
                <a:solidFill>
                  <a:srgbClr val="0070C0"/>
                </a:solidFill>
              </a:rPr>
              <a:t>SOME TERMINOLOGY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19944-04AC-4CD8-BA69-63C2A678C21A}" type="slidenum">
              <a:rPr lang="en-US" smtClean="0"/>
              <a:pPr/>
              <a:t>6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r>
              <a:rPr lang="en-US" dirty="0" smtClean="0"/>
              <a:t>An </a:t>
            </a:r>
            <a:r>
              <a:rPr lang="en-US" dirty="0" smtClean="0">
                <a:solidFill>
                  <a:srgbClr val="FF0000"/>
                </a:solidFill>
              </a:rPr>
              <a:t>edge</a:t>
            </a:r>
            <a:r>
              <a:rPr lang="en-US" dirty="0" smtClean="0"/>
              <a:t> connects either one or two </a:t>
            </a:r>
            <a:r>
              <a:rPr lang="en-US" dirty="0" smtClean="0">
                <a:solidFill>
                  <a:srgbClr val="FF0000"/>
                </a:solidFill>
              </a:rPr>
              <a:t>vertices</a:t>
            </a:r>
            <a:r>
              <a:rPr lang="en-US" dirty="0" smtClean="0"/>
              <a:t> called its </a:t>
            </a:r>
            <a:r>
              <a:rPr lang="en-US" b="1" dirty="0" smtClean="0">
                <a:solidFill>
                  <a:srgbClr val="FF0000"/>
                </a:solidFill>
              </a:rPr>
              <a:t>endpoints</a:t>
            </a:r>
            <a:r>
              <a:rPr lang="en-US" dirty="0" smtClean="0"/>
              <a:t> (</a:t>
            </a:r>
            <a:r>
              <a:rPr lang="en-US" dirty="0" smtClean="0">
                <a:solidFill>
                  <a:srgbClr val="FF0000"/>
                </a:solidFill>
              </a:rPr>
              <a:t>edge e</a:t>
            </a:r>
            <a:r>
              <a:rPr lang="en-US" baseline="-25000" dirty="0" smtClean="0">
                <a:solidFill>
                  <a:srgbClr val="FF0000"/>
                </a:solidFill>
              </a:rPr>
              <a:t>1</a:t>
            </a:r>
            <a:r>
              <a:rPr lang="en-US" baseline="-25000" dirty="0" smtClean="0"/>
              <a:t> </a:t>
            </a:r>
            <a:r>
              <a:rPr lang="en-US" dirty="0" smtClean="0"/>
              <a:t>connects </a:t>
            </a:r>
            <a:r>
              <a:rPr lang="en-US" dirty="0" smtClean="0">
                <a:solidFill>
                  <a:srgbClr val="FF0000"/>
                </a:solidFill>
              </a:rPr>
              <a:t>vertices v</a:t>
            </a:r>
            <a:r>
              <a:rPr lang="en-US" baseline="-25000" dirty="0" smtClean="0">
                <a:solidFill>
                  <a:srgbClr val="FF0000"/>
                </a:solidFill>
              </a:rPr>
              <a:t>1</a:t>
            </a:r>
            <a:r>
              <a:rPr lang="en-US" dirty="0" smtClean="0"/>
              <a:t> and </a:t>
            </a:r>
            <a:r>
              <a:rPr lang="en-US" dirty="0" smtClean="0">
                <a:solidFill>
                  <a:srgbClr val="FF0000"/>
                </a:solidFill>
              </a:rPr>
              <a:t>v</a:t>
            </a:r>
            <a:r>
              <a:rPr lang="en-US" baseline="-25000" dirty="0" smtClean="0">
                <a:solidFill>
                  <a:srgbClr val="FF0000"/>
                </a:solidFill>
              </a:rPr>
              <a:t>2</a:t>
            </a:r>
            <a:r>
              <a:rPr lang="en-US" dirty="0" smtClean="0"/>
              <a:t> described as {</a:t>
            </a:r>
            <a:r>
              <a:rPr lang="en-US" dirty="0" smtClean="0">
                <a:solidFill>
                  <a:srgbClr val="FF0000"/>
                </a:solidFill>
              </a:rPr>
              <a:t>v</a:t>
            </a:r>
            <a:r>
              <a:rPr lang="en-US" baseline="-25000" dirty="0" smtClean="0">
                <a:solidFill>
                  <a:srgbClr val="FF0000"/>
                </a:solidFill>
              </a:rPr>
              <a:t>1</a:t>
            </a:r>
            <a:r>
              <a:rPr lang="en-US" dirty="0" smtClean="0">
                <a:solidFill>
                  <a:srgbClr val="FF0000"/>
                </a:solidFill>
              </a:rPr>
              <a:t>, v</a:t>
            </a:r>
            <a:r>
              <a:rPr lang="en-US" baseline="-25000" dirty="0" smtClean="0">
                <a:solidFill>
                  <a:srgbClr val="FF0000"/>
                </a:solidFill>
              </a:rPr>
              <a:t>2</a:t>
            </a:r>
            <a:r>
              <a:rPr lang="en-US" dirty="0" smtClean="0"/>
              <a:t>} </a:t>
            </a:r>
            <a:r>
              <a:rPr lang="en-US" dirty="0" err="1" smtClean="0"/>
              <a:t>i.e</a:t>
            </a:r>
            <a:r>
              <a:rPr lang="en-US" dirty="0" smtClean="0"/>
              <a:t> v</a:t>
            </a:r>
            <a:r>
              <a:rPr lang="en-US" baseline="-25000" dirty="0" smtClean="0"/>
              <a:t>1</a:t>
            </a:r>
            <a:r>
              <a:rPr lang="en-US" dirty="0" smtClean="0"/>
              <a:t> and v</a:t>
            </a:r>
            <a:r>
              <a:rPr lang="en-US" baseline="-25000" dirty="0" smtClean="0"/>
              <a:t>2 </a:t>
            </a:r>
            <a:r>
              <a:rPr lang="en-US" dirty="0" smtClean="0"/>
              <a:t>are the endpoints of an edge e</a:t>
            </a:r>
            <a:r>
              <a:rPr lang="en-US" baseline="-25000" dirty="0" smtClean="0"/>
              <a:t>1</a:t>
            </a:r>
            <a:r>
              <a:rPr lang="en-US" dirty="0" smtClean="0"/>
              <a:t>).</a:t>
            </a:r>
          </a:p>
          <a:p>
            <a:endParaRPr lang="en-US" dirty="0" smtClean="0"/>
          </a:p>
          <a:p>
            <a:endParaRPr lang="en-US" dirty="0"/>
          </a:p>
        </p:txBody>
      </p:sp>
      <p:pic>
        <p:nvPicPr>
          <p:cNvPr id="5" name="Picture 4"/>
          <p:cNvPicPr/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078480" y="1143000"/>
            <a:ext cx="3931920" cy="28346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endParaRPr lang="en-US" b="1" u="sng" dirty="0">
              <a:solidFill>
                <a:srgbClr val="0070C0"/>
              </a:solidFill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19944-04AC-4CD8-BA69-63C2A678C21A}" type="slidenum">
              <a:rPr lang="en-US" smtClean="0"/>
              <a:pPr/>
              <a:t>7</a:t>
            </a:fld>
            <a:endParaRPr lang="en-US"/>
          </a:p>
        </p:txBody>
      </p:sp>
      <p:sp>
        <p:nvSpPr>
          <p:cNvPr id="146434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An </a:t>
            </a:r>
            <a:r>
              <a:rPr lang="en-US" dirty="0" smtClean="0">
                <a:solidFill>
                  <a:srgbClr val="FF0000"/>
                </a:solidFill>
              </a:rPr>
              <a:t>edge</a:t>
            </a:r>
            <a:r>
              <a:rPr lang="en-US" dirty="0" smtClean="0"/>
              <a:t> with just </a:t>
            </a:r>
            <a:r>
              <a:rPr lang="en-US" dirty="0" smtClean="0">
                <a:solidFill>
                  <a:srgbClr val="FF0000"/>
                </a:solidFill>
              </a:rPr>
              <a:t>one endpoint</a:t>
            </a:r>
            <a:r>
              <a:rPr lang="en-US" dirty="0" smtClean="0"/>
              <a:t> is called a </a:t>
            </a:r>
            <a:r>
              <a:rPr lang="en-US" b="1" dirty="0" smtClean="0">
                <a:solidFill>
                  <a:srgbClr val="FF0000"/>
                </a:solidFill>
              </a:rPr>
              <a:t>loop</a:t>
            </a:r>
            <a:r>
              <a:rPr lang="en-US" dirty="0" smtClean="0"/>
              <a:t>. Thus a </a:t>
            </a:r>
            <a:r>
              <a:rPr lang="en-US" dirty="0" smtClean="0">
                <a:solidFill>
                  <a:srgbClr val="FF0000"/>
                </a:solidFill>
              </a:rPr>
              <a:t>loop</a:t>
            </a:r>
            <a:r>
              <a:rPr lang="en-US" dirty="0" smtClean="0"/>
              <a:t> is an </a:t>
            </a:r>
            <a:r>
              <a:rPr lang="en-US" dirty="0" smtClean="0">
                <a:solidFill>
                  <a:srgbClr val="FF0000"/>
                </a:solidFill>
              </a:rPr>
              <a:t>edge</a:t>
            </a:r>
            <a:r>
              <a:rPr lang="en-US" dirty="0" smtClean="0"/>
              <a:t> that connects a </a:t>
            </a:r>
            <a:r>
              <a:rPr lang="en-US" dirty="0" smtClean="0">
                <a:solidFill>
                  <a:srgbClr val="FF0000"/>
                </a:solidFill>
              </a:rPr>
              <a:t>vertex</a:t>
            </a:r>
            <a:r>
              <a:rPr lang="en-US" dirty="0" smtClean="0"/>
              <a:t> to itself (e.g., edge </a:t>
            </a:r>
            <a:r>
              <a:rPr lang="en-US" dirty="0" smtClean="0">
                <a:solidFill>
                  <a:srgbClr val="FF0000"/>
                </a:solidFill>
              </a:rPr>
              <a:t>e</a:t>
            </a:r>
            <a:r>
              <a:rPr lang="en-US" baseline="-25000" dirty="0" smtClean="0">
                <a:solidFill>
                  <a:srgbClr val="FF0000"/>
                </a:solidFill>
              </a:rPr>
              <a:t>6</a:t>
            </a:r>
            <a:r>
              <a:rPr lang="en-US" baseline="-25000" dirty="0" smtClean="0"/>
              <a:t> </a:t>
            </a:r>
            <a:r>
              <a:rPr lang="en-US" dirty="0" smtClean="0"/>
              <a:t>).</a:t>
            </a:r>
          </a:p>
          <a:p>
            <a:endParaRPr lang="en-US" dirty="0" smtClean="0"/>
          </a:p>
          <a:p>
            <a:r>
              <a:rPr lang="en-US" dirty="0" smtClean="0"/>
              <a:t>Two </a:t>
            </a:r>
            <a:r>
              <a:rPr lang="en-US" dirty="0" smtClean="0">
                <a:solidFill>
                  <a:srgbClr val="FF0000"/>
                </a:solidFill>
              </a:rPr>
              <a:t>vertices</a:t>
            </a:r>
            <a:r>
              <a:rPr lang="en-US" dirty="0" smtClean="0"/>
              <a:t> that are connected by an </a:t>
            </a:r>
            <a:r>
              <a:rPr lang="en-US" dirty="0" smtClean="0">
                <a:solidFill>
                  <a:srgbClr val="FF0000"/>
                </a:solidFill>
              </a:rPr>
              <a:t>edge</a:t>
            </a:r>
            <a:r>
              <a:rPr lang="en-US" dirty="0" smtClean="0"/>
              <a:t> are called </a:t>
            </a:r>
            <a:r>
              <a:rPr lang="en-US" b="1" dirty="0" smtClean="0">
                <a:solidFill>
                  <a:srgbClr val="FF0000"/>
                </a:solidFill>
              </a:rPr>
              <a:t>adjacent</a:t>
            </a:r>
            <a:r>
              <a:rPr lang="en-US" dirty="0" smtClean="0"/>
              <a:t>; and a </a:t>
            </a:r>
            <a:r>
              <a:rPr lang="en-US" dirty="0" smtClean="0">
                <a:solidFill>
                  <a:srgbClr val="FF0000"/>
                </a:solidFill>
              </a:rPr>
              <a:t>vertex</a:t>
            </a:r>
            <a:r>
              <a:rPr lang="en-US" dirty="0" smtClean="0"/>
              <a:t> that is an </a:t>
            </a:r>
            <a:r>
              <a:rPr lang="en-US" dirty="0" smtClean="0">
                <a:solidFill>
                  <a:srgbClr val="FF0000"/>
                </a:solidFill>
              </a:rPr>
              <a:t>endpoint</a:t>
            </a:r>
            <a:r>
              <a:rPr lang="en-US" dirty="0" smtClean="0"/>
              <a:t> of a </a:t>
            </a:r>
            <a:r>
              <a:rPr lang="en-US" dirty="0" smtClean="0">
                <a:solidFill>
                  <a:srgbClr val="FF0000"/>
                </a:solidFill>
              </a:rPr>
              <a:t>loop</a:t>
            </a:r>
            <a:r>
              <a:rPr lang="en-US" dirty="0" smtClean="0"/>
              <a:t> is said to be </a:t>
            </a:r>
            <a:r>
              <a:rPr lang="en-US" dirty="0" smtClean="0">
                <a:solidFill>
                  <a:srgbClr val="FF0000"/>
                </a:solidFill>
              </a:rPr>
              <a:t>adjacent</a:t>
            </a:r>
            <a:r>
              <a:rPr lang="en-US" dirty="0" smtClean="0"/>
              <a:t> to itself.</a:t>
            </a:r>
          </a:p>
          <a:p>
            <a:endParaRPr lang="en-US" dirty="0" smtClean="0"/>
          </a:p>
          <a:p>
            <a:r>
              <a:rPr lang="en-US" dirty="0" smtClean="0"/>
              <a:t>An </a:t>
            </a:r>
            <a:r>
              <a:rPr lang="en-US" dirty="0" smtClean="0">
                <a:solidFill>
                  <a:srgbClr val="FF0000"/>
                </a:solidFill>
              </a:rPr>
              <a:t>edge</a:t>
            </a:r>
            <a:r>
              <a:rPr lang="en-US" dirty="0" smtClean="0"/>
              <a:t> is said to be </a:t>
            </a:r>
            <a:r>
              <a:rPr lang="en-US" b="1" dirty="0" smtClean="0">
                <a:solidFill>
                  <a:srgbClr val="FF0000"/>
                </a:solidFill>
              </a:rPr>
              <a:t>incident</a:t>
            </a:r>
            <a:r>
              <a:rPr lang="en-US" dirty="0" smtClean="0"/>
              <a:t> on each of it </a:t>
            </a:r>
            <a:r>
              <a:rPr lang="en-US" dirty="0" smtClean="0">
                <a:solidFill>
                  <a:srgbClr val="FF0000"/>
                </a:solidFill>
              </a:rPr>
              <a:t>endpoints</a:t>
            </a:r>
            <a:r>
              <a:rPr lang="en-US" dirty="0" smtClean="0"/>
              <a:t>(i.e. </a:t>
            </a:r>
            <a:r>
              <a:rPr lang="en-US" dirty="0" smtClean="0">
                <a:solidFill>
                  <a:srgbClr val="FF0000"/>
                </a:solidFill>
              </a:rPr>
              <a:t>e</a:t>
            </a:r>
            <a:r>
              <a:rPr lang="en-US" baseline="-25000" dirty="0" smtClean="0">
                <a:solidFill>
                  <a:srgbClr val="FF0000"/>
                </a:solidFill>
              </a:rPr>
              <a:t>1</a:t>
            </a:r>
            <a:r>
              <a:rPr lang="en-US" baseline="-25000" dirty="0" smtClean="0"/>
              <a:t> </a:t>
            </a:r>
            <a:r>
              <a:rPr lang="en-US" dirty="0" smtClean="0"/>
              <a:t>is incident on </a:t>
            </a:r>
            <a:r>
              <a:rPr lang="en-US" dirty="0" smtClean="0">
                <a:solidFill>
                  <a:srgbClr val="FF0000"/>
                </a:solidFill>
              </a:rPr>
              <a:t>v</a:t>
            </a:r>
            <a:r>
              <a:rPr lang="en-US" baseline="-25000" dirty="0" smtClean="0">
                <a:solidFill>
                  <a:srgbClr val="FF0000"/>
                </a:solidFill>
              </a:rPr>
              <a:t>1</a:t>
            </a:r>
            <a:r>
              <a:rPr lang="en-US" dirty="0" smtClean="0"/>
              <a:t> and </a:t>
            </a:r>
            <a:r>
              <a:rPr lang="en-US" dirty="0" smtClean="0">
                <a:solidFill>
                  <a:srgbClr val="FF0000"/>
                </a:solidFill>
              </a:rPr>
              <a:t>v</a:t>
            </a:r>
            <a:r>
              <a:rPr lang="en-US" baseline="-25000" dirty="0" smtClean="0">
                <a:solidFill>
                  <a:srgbClr val="FF0000"/>
                </a:solidFill>
              </a:rPr>
              <a:t>2</a:t>
            </a:r>
            <a:r>
              <a:rPr lang="en-US" baseline="-25000" dirty="0" smtClean="0"/>
              <a:t> </a:t>
            </a:r>
            <a:r>
              <a:rPr lang="en-US" dirty="0" smtClean="0"/>
              <a:t>).</a:t>
            </a: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endParaRPr lang="en-US" b="1" u="sng" dirty="0" smtClean="0">
              <a:solidFill>
                <a:srgbClr val="0070C0"/>
              </a:solidFill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19944-04AC-4CD8-BA69-63C2A678C21A}" type="slidenum">
              <a:rPr lang="en-US" smtClean="0"/>
              <a:pPr/>
              <a:t>8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A </a:t>
            </a:r>
            <a:r>
              <a:rPr lang="en-US" dirty="0" smtClean="0">
                <a:solidFill>
                  <a:srgbClr val="FF0000"/>
                </a:solidFill>
              </a:rPr>
              <a:t>vertex</a:t>
            </a:r>
            <a:r>
              <a:rPr lang="en-US" dirty="0" smtClean="0"/>
              <a:t> on which no </a:t>
            </a:r>
            <a:r>
              <a:rPr lang="en-US" dirty="0" smtClean="0">
                <a:solidFill>
                  <a:srgbClr val="FF0000"/>
                </a:solidFill>
              </a:rPr>
              <a:t>edges</a:t>
            </a:r>
            <a:r>
              <a:rPr lang="en-US" dirty="0" smtClean="0"/>
              <a:t> are incident is called </a:t>
            </a:r>
            <a:r>
              <a:rPr lang="en-US" b="1" dirty="0" smtClean="0">
                <a:solidFill>
                  <a:srgbClr val="FF0000"/>
                </a:solidFill>
              </a:rPr>
              <a:t>isolated</a:t>
            </a:r>
            <a:r>
              <a:rPr lang="en-US" dirty="0" smtClean="0"/>
              <a:t> (e.g., </a:t>
            </a:r>
            <a:r>
              <a:rPr lang="en-US" dirty="0" smtClean="0">
                <a:solidFill>
                  <a:srgbClr val="FF0000"/>
                </a:solidFill>
              </a:rPr>
              <a:t>v</a:t>
            </a:r>
            <a:r>
              <a:rPr lang="en-US" baseline="-25000" dirty="0" smtClean="0">
                <a:solidFill>
                  <a:srgbClr val="FF0000"/>
                </a:solidFill>
              </a:rPr>
              <a:t>5</a:t>
            </a:r>
            <a:r>
              <a:rPr lang="en-US" dirty="0" smtClean="0"/>
              <a:t>)</a:t>
            </a:r>
          </a:p>
          <a:p>
            <a:endParaRPr lang="en-US" dirty="0" smtClean="0">
              <a:solidFill>
                <a:srgbClr val="FF0000"/>
              </a:solidFill>
            </a:endParaRPr>
          </a:p>
          <a:p>
            <a:r>
              <a:rPr lang="en-US" dirty="0" smtClean="0"/>
              <a:t>Two </a:t>
            </a:r>
            <a:r>
              <a:rPr lang="en-US" dirty="0" smtClean="0">
                <a:solidFill>
                  <a:srgbClr val="FF0000"/>
                </a:solidFill>
              </a:rPr>
              <a:t>distinct edges</a:t>
            </a:r>
            <a:r>
              <a:rPr lang="en-US" dirty="0" smtClean="0"/>
              <a:t> with the same set of </a:t>
            </a:r>
            <a:r>
              <a:rPr lang="en-US" dirty="0" smtClean="0">
                <a:solidFill>
                  <a:srgbClr val="FF0000"/>
                </a:solidFill>
              </a:rPr>
              <a:t>end points</a:t>
            </a:r>
            <a:r>
              <a:rPr lang="en-US" dirty="0" smtClean="0"/>
              <a:t> are said to be </a:t>
            </a:r>
            <a:r>
              <a:rPr lang="en-US" b="1" dirty="0" smtClean="0">
                <a:solidFill>
                  <a:srgbClr val="FF0000"/>
                </a:solidFill>
              </a:rPr>
              <a:t>parallel</a:t>
            </a:r>
            <a:r>
              <a:rPr lang="en-US" dirty="0" smtClean="0"/>
              <a:t> (i.e. </a:t>
            </a:r>
            <a:r>
              <a:rPr lang="en-US" dirty="0" smtClean="0">
                <a:solidFill>
                  <a:srgbClr val="FF0000"/>
                </a:solidFill>
              </a:rPr>
              <a:t>e</a:t>
            </a:r>
            <a:r>
              <a:rPr lang="en-US" baseline="-25000" dirty="0" smtClean="0">
                <a:solidFill>
                  <a:srgbClr val="FF0000"/>
                </a:solidFill>
              </a:rPr>
              <a:t>2</a:t>
            </a:r>
            <a:r>
              <a:rPr lang="en-US" dirty="0" smtClean="0"/>
              <a:t> &amp; </a:t>
            </a:r>
            <a:r>
              <a:rPr lang="en-US" dirty="0" smtClean="0">
                <a:solidFill>
                  <a:srgbClr val="FF0000"/>
                </a:solidFill>
              </a:rPr>
              <a:t>e</a:t>
            </a:r>
            <a:r>
              <a:rPr lang="en-US" baseline="-25000" dirty="0" smtClean="0">
                <a:solidFill>
                  <a:srgbClr val="FF0000"/>
                </a:solidFill>
              </a:rPr>
              <a:t>3</a:t>
            </a:r>
            <a:r>
              <a:rPr lang="en-US" dirty="0" smtClean="0"/>
              <a:t>).</a:t>
            </a:r>
            <a:endParaRPr lang="en-US" dirty="0" smtClean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u="sng" dirty="0" smtClean="0">
                <a:solidFill>
                  <a:srgbClr val="0070C0"/>
                </a:solidFill>
              </a:rPr>
              <a:t>EXAMPLE</a:t>
            </a:r>
            <a:endParaRPr lang="en-US" b="1" u="sng" dirty="0">
              <a:solidFill>
                <a:srgbClr val="0070C0"/>
              </a:solidFill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19944-04AC-4CD8-BA69-63C2A678C21A}" type="slidenum">
              <a:rPr lang="en-US" smtClean="0"/>
              <a:pPr/>
              <a:t>9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Define the following </a:t>
            </a:r>
            <a:r>
              <a:rPr lang="en-US" dirty="0" smtClean="0">
                <a:solidFill>
                  <a:srgbClr val="FF0000"/>
                </a:solidFill>
              </a:rPr>
              <a:t>graph</a:t>
            </a:r>
            <a:r>
              <a:rPr lang="en-US" dirty="0" smtClean="0"/>
              <a:t> formally by specifying its </a:t>
            </a:r>
            <a:r>
              <a:rPr lang="en-US" dirty="0" smtClean="0">
                <a:solidFill>
                  <a:srgbClr val="FF0000"/>
                </a:solidFill>
              </a:rPr>
              <a:t>vertex</a:t>
            </a:r>
            <a:r>
              <a:rPr lang="en-US" dirty="0" smtClean="0"/>
              <a:t> set, its edge set, and a table giving the </a:t>
            </a:r>
            <a:r>
              <a:rPr lang="en-US" dirty="0" smtClean="0">
                <a:solidFill>
                  <a:srgbClr val="FF0000"/>
                </a:solidFill>
              </a:rPr>
              <a:t>edge</a:t>
            </a:r>
            <a:r>
              <a:rPr lang="en-US" dirty="0" smtClean="0"/>
              <a:t> </a:t>
            </a:r>
            <a:r>
              <a:rPr lang="en-US" dirty="0" smtClean="0">
                <a:solidFill>
                  <a:srgbClr val="FF0000"/>
                </a:solidFill>
              </a:rPr>
              <a:t>endpoint function</a:t>
            </a:r>
            <a:r>
              <a:rPr lang="en-US" dirty="0" smtClean="0"/>
              <a:t>.</a:t>
            </a:r>
          </a:p>
          <a:p>
            <a:pPr>
              <a:buNone/>
            </a:pPr>
            <a:endParaRPr lang="en-US" dirty="0" smtClean="0"/>
          </a:p>
          <a:p>
            <a:endParaRPr lang="en-US" dirty="0" smtClean="0"/>
          </a:p>
          <a:p>
            <a:endParaRPr lang="en-US" dirty="0"/>
          </a:p>
        </p:txBody>
      </p:sp>
      <p:pic>
        <p:nvPicPr>
          <p:cNvPr id="6" name="Picture 5"/>
          <p:cNvPicPr/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154680" y="2651760"/>
            <a:ext cx="3017520" cy="19202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u="sng" dirty="0" smtClean="0">
                <a:solidFill>
                  <a:srgbClr val="0070C0"/>
                </a:solidFill>
              </a:rPr>
              <a:t>SOLUTION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19944-04AC-4CD8-BA69-63C2A678C21A}" type="slidenum">
              <a:rPr lang="en-US" smtClean="0"/>
              <a:pPr/>
              <a:t>10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en-US" dirty="0" smtClean="0"/>
              <a:t>	</a:t>
            </a:r>
            <a:r>
              <a:rPr lang="en-US" dirty="0" smtClean="0">
                <a:solidFill>
                  <a:srgbClr val="FF0000"/>
                </a:solidFill>
              </a:rPr>
              <a:t>Vertex Set</a:t>
            </a:r>
            <a:r>
              <a:rPr lang="en-US" dirty="0" smtClean="0"/>
              <a:t> = {v</a:t>
            </a:r>
            <a:r>
              <a:rPr lang="en-US" baseline="-25000" dirty="0" smtClean="0"/>
              <a:t>1</a:t>
            </a:r>
            <a:r>
              <a:rPr lang="en-US" dirty="0" smtClean="0"/>
              <a:t>, v</a:t>
            </a:r>
            <a:r>
              <a:rPr lang="en-US" baseline="-25000" dirty="0" smtClean="0"/>
              <a:t>2</a:t>
            </a:r>
            <a:r>
              <a:rPr lang="en-US" dirty="0" smtClean="0"/>
              <a:t>, v</a:t>
            </a:r>
            <a:r>
              <a:rPr lang="en-US" baseline="-25000" dirty="0" smtClean="0"/>
              <a:t>3</a:t>
            </a:r>
            <a:r>
              <a:rPr lang="en-US" dirty="0" smtClean="0"/>
              <a:t>, v</a:t>
            </a:r>
            <a:r>
              <a:rPr lang="en-US" baseline="-25000" dirty="0" smtClean="0"/>
              <a:t>4</a:t>
            </a:r>
            <a:r>
              <a:rPr lang="en-US" dirty="0" smtClean="0"/>
              <a:t>}</a:t>
            </a:r>
          </a:p>
          <a:p>
            <a:pPr>
              <a:buNone/>
            </a:pPr>
            <a:r>
              <a:rPr lang="en-US" dirty="0" smtClean="0"/>
              <a:t>	</a:t>
            </a:r>
            <a:r>
              <a:rPr lang="pt-BR" dirty="0" smtClean="0">
                <a:solidFill>
                  <a:srgbClr val="FF0000"/>
                </a:solidFill>
              </a:rPr>
              <a:t>Edge Set</a:t>
            </a:r>
            <a:r>
              <a:rPr lang="pt-BR" dirty="0" smtClean="0"/>
              <a:t> = {e</a:t>
            </a:r>
            <a:r>
              <a:rPr lang="pt-BR" baseline="-25000" dirty="0" smtClean="0"/>
              <a:t>1</a:t>
            </a:r>
            <a:r>
              <a:rPr lang="pt-BR" dirty="0" smtClean="0"/>
              <a:t>, e</a:t>
            </a:r>
            <a:r>
              <a:rPr lang="pt-BR" baseline="-25000" dirty="0" smtClean="0"/>
              <a:t>2</a:t>
            </a:r>
            <a:r>
              <a:rPr lang="pt-BR" dirty="0" smtClean="0"/>
              <a:t>, e</a:t>
            </a:r>
            <a:r>
              <a:rPr lang="pt-BR" baseline="-25000" dirty="0" smtClean="0"/>
              <a:t>3</a:t>
            </a:r>
            <a:r>
              <a:rPr lang="pt-BR" dirty="0" smtClean="0"/>
              <a:t>}	</a:t>
            </a:r>
            <a:endParaRPr lang="en-US" dirty="0" smtClean="0"/>
          </a:p>
          <a:p>
            <a:pPr>
              <a:buNone/>
            </a:pPr>
            <a:r>
              <a:rPr lang="en-US" dirty="0" smtClean="0"/>
              <a:t>	</a:t>
            </a:r>
          </a:p>
          <a:p>
            <a:pPr>
              <a:buNone/>
            </a:pPr>
            <a:r>
              <a:rPr lang="en-US" dirty="0" smtClean="0"/>
              <a:t>	</a:t>
            </a:r>
            <a:r>
              <a:rPr lang="en-US" dirty="0" smtClean="0">
                <a:solidFill>
                  <a:srgbClr val="FF0000"/>
                </a:solidFill>
              </a:rPr>
              <a:t>Edge - endpoint function</a:t>
            </a:r>
            <a:r>
              <a:rPr lang="en-US" dirty="0" smtClean="0"/>
              <a:t> is:</a:t>
            </a:r>
          </a:p>
          <a:p>
            <a:endParaRPr lang="en-US" dirty="0" smtClean="0"/>
          </a:p>
          <a:p>
            <a:pPr>
              <a:buNone/>
            </a:pPr>
            <a:endParaRPr lang="en-US" dirty="0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733800" y="3276600"/>
          <a:ext cx="2209800" cy="1583160"/>
        </p:xfrm>
        <a:graphic>
          <a:graphicData uri="http://schemas.openxmlformats.org/drawingml/2006/table">
            <a:tbl>
              <a:tblPr/>
              <a:tblGrid>
                <a:gridCol w="841638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368162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kumimoji="0" lang="en-US" sz="24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Times New Roman" pitchFamily="18" charset="0"/>
                          <a:sym typeface="Symbol" pitchFamily="18" charset="2"/>
                        </a:rPr>
                        <a:t>Edge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kumimoji="0" lang="en-US" sz="24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Times New Roman" pitchFamily="18" charset="0"/>
                          <a:sym typeface="Symbol" pitchFamily="18" charset="2"/>
                        </a:rPr>
                        <a:t>Endpoint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375320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>
                          <a:latin typeface="+mn-lt"/>
                          <a:ea typeface="MS Mincho"/>
                        </a:rPr>
                        <a:t>e</a:t>
                      </a:r>
                      <a:r>
                        <a:rPr lang="en-US" sz="2400" baseline="-25000" dirty="0">
                          <a:latin typeface="+mn-lt"/>
                          <a:ea typeface="MS Mincho"/>
                        </a:rPr>
                        <a:t>1</a:t>
                      </a:r>
                      <a:endParaRPr lang="en-US" sz="2400" dirty="0">
                        <a:latin typeface="+mn-lt"/>
                        <a:ea typeface="MS Mincho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>
                          <a:latin typeface="+mn-lt"/>
                          <a:ea typeface="MS Mincho"/>
                        </a:rPr>
                        <a:t>{v</a:t>
                      </a:r>
                      <a:r>
                        <a:rPr lang="en-US" sz="2400" baseline="-25000" dirty="0">
                          <a:latin typeface="+mn-lt"/>
                          <a:ea typeface="MS Mincho"/>
                        </a:rPr>
                        <a:t>1</a:t>
                      </a:r>
                      <a:r>
                        <a:rPr lang="en-US" sz="2400" dirty="0">
                          <a:latin typeface="+mn-lt"/>
                          <a:ea typeface="MS Mincho"/>
                        </a:rPr>
                        <a:t>, v</a:t>
                      </a:r>
                      <a:r>
                        <a:rPr lang="en-US" sz="2400" baseline="-25000" dirty="0">
                          <a:latin typeface="+mn-lt"/>
                          <a:ea typeface="MS Mincho"/>
                        </a:rPr>
                        <a:t>2</a:t>
                      </a:r>
                      <a:r>
                        <a:rPr lang="en-US" sz="2400" dirty="0">
                          <a:latin typeface="+mn-lt"/>
                          <a:ea typeface="MS Mincho"/>
                        </a:rPr>
                        <a:t>}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375320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>
                          <a:latin typeface="+mn-lt"/>
                          <a:ea typeface="MS Mincho"/>
                        </a:rPr>
                        <a:t>e</a:t>
                      </a:r>
                      <a:r>
                        <a:rPr lang="en-US" sz="2400" baseline="-25000" dirty="0">
                          <a:latin typeface="+mn-lt"/>
                          <a:ea typeface="MS Mincho"/>
                        </a:rPr>
                        <a:t>2</a:t>
                      </a:r>
                      <a:endParaRPr lang="en-US" sz="2400" dirty="0">
                        <a:latin typeface="+mn-lt"/>
                        <a:ea typeface="MS Mincho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>
                          <a:latin typeface="+mn-lt"/>
                          <a:ea typeface="MS Mincho"/>
                        </a:rPr>
                        <a:t>{v</a:t>
                      </a:r>
                      <a:r>
                        <a:rPr lang="en-US" sz="2400" baseline="-25000" dirty="0">
                          <a:latin typeface="+mn-lt"/>
                          <a:ea typeface="MS Mincho"/>
                        </a:rPr>
                        <a:t>1</a:t>
                      </a:r>
                      <a:r>
                        <a:rPr lang="en-US" sz="2400" dirty="0">
                          <a:latin typeface="+mn-lt"/>
                          <a:ea typeface="MS Mincho"/>
                        </a:rPr>
                        <a:t>, v</a:t>
                      </a:r>
                      <a:r>
                        <a:rPr lang="en-US" sz="2400" baseline="-25000" dirty="0">
                          <a:latin typeface="+mn-lt"/>
                          <a:ea typeface="MS Mincho"/>
                        </a:rPr>
                        <a:t>3</a:t>
                      </a:r>
                      <a:r>
                        <a:rPr lang="en-US" sz="2400" dirty="0">
                          <a:latin typeface="+mn-lt"/>
                          <a:ea typeface="MS Mincho"/>
                        </a:rPr>
                        <a:t>}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375320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>
                          <a:latin typeface="+mn-lt"/>
                          <a:ea typeface="MS Mincho"/>
                        </a:rPr>
                        <a:t>e</a:t>
                      </a:r>
                      <a:r>
                        <a:rPr lang="en-US" sz="2400" baseline="-25000" dirty="0">
                          <a:latin typeface="+mn-lt"/>
                          <a:ea typeface="MS Mincho"/>
                        </a:rPr>
                        <a:t>3</a:t>
                      </a:r>
                      <a:endParaRPr lang="en-US" sz="2400" dirty="0">
                        <a:latin typeface="+mn-lt"/>
                        <a:ea typeface="MS Mincho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>
                          <a:latin typeface="+mn-lt"/>
                          <a:ea typeface="MS Mincho"/>
                        </a:rPr>
                        <a:t>{v</a:t>
                      </a:r>
                      <a:r>
                        <a:rPr lang="en-US" sz="2400" baseline="-25000" dirty="0">
                          <a:latin typeface="+mn-lt"/>
                          <a:ea typeface="MS Mincho"/>
                        </a:rPr>
                        <a:t>3</a:t>
                      </a:r>
                      <a:r>
                        <a:rPr lang="en-US" sz="2400" dirty="0">
                          <a:latin typeface="+mn-lt"/>
                          <a:ea typeface="MS Mincho"/>
                        </a:rPr>
                        <a:t>}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u="sng" dirty="0" smtClean="0">
                <a:solidFill>
                  <a:srgbClr val="0070C0"/>
                </a:solidFill>
              </a:rPr>
              <a:t>EXAMPLE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19944-04AC-4CD8-BA69-63C2A678C21A}" type="slidenum">
              <a:rPr lang="en-US" smtClean="0"/>
              <a:pPr/>
              <a:t>11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5105400"/>
          </a:xfrm>
        </p:spPr>
        <p:txBody>
          <a:bodyPr>
            <a:normAutofit/>
          </a:bodyPr>
          <a:lstStyle/>
          <a:p>
            <a:r>
              <a:rPr lang="en-US" dirty="0" smtClean="0"/>
              <a:t>For the </a:t>
            </a:r>
            <a:r>
              <a:rPr lang="en-US" dirty="0" smtClean="0">
                <a:solidFill>
                  <a:srgbClr val="FF0000"/>
                </a:solidFill>
              </a:rPr>
              <a:t>graph</a:t>
            </a:r>
            <a:r>
              <a:rPr lang="en-US" dirty="0" smtClean="0"/>
              <a:t> shown below:</a:t>
            </a:r>
          </a:p>
          <a:p>
            <a:pPr>
              <a:buNone/>
            </a:pPr>
            <a:endParaRPr lang="en-US" dirty="0" smtClean="0"/>
          </a:p>
          <a:p>
            <a:pPr lvl="1"/>
            <a:r>
              <a:rPr lang="en-US" dirty="0" smtClean="0"/>
              <a:t>Find all </a:t>
            </a:r>
            <a:r>
              <a:rPr lang="en-US" dirty="0" smtClean="0">
                <a:solidFill>
                  <a:srgbClr val="FF0000"/>
                </a:solidFill>
              </a:rPr>
              <a:t>edges</a:t>
            </a:r>
            <a:r>
              <a:rPr lang="en-US" dirty="0" smtClean="0"/>
              <a:t> that are </a:t>
            </a:r>
            <a:r>
              <a:rPr lang="en-US" dirty="0" smtClean="0">
                <a:solidFill>
                  <a:srgbClr val="FF0000"/>
                </a:solidFill>
              </a:rPr>
              <a:t>incident</a:t>
            </a:r>
            <a:r>
              <a:rPr lang="en-US" dirty="0" smtClean="0"/>
              <a:t> on </a:t>
            </a:r>
            <a:r>
              <a:rPr lang="en-US" dirty="0" smtClean="0">
                <a:solidFill>
                  <a:srgbClr val="FF0000"/>
                </a:solidFill>
              </a:rPr>
              <a:t>v</a:t>
            </a:r>
            <a:r>
              <a:rPr lang="en-US" baseline="-25000" dirty="0" smtClean="0">
                <a:solidFill>
                  <a:srgbClr val="FF0000"/>
                </a:solidFill>
              </a:rPr>
              <a:t>1</a:t>
            </a:r>
            <a:r>
              <a:rPr lang="en-US" dirty="0" smtClean="0"/>
              <a:t>;</a:t>
            </a:r>
          </a:p>
          <a:p>
            <a:pPr lvl="1"/>
            <a:r>
              <a:rPr lang="en-US" dirty="0" smtClean="0"/>
              <a:t>Find all </a:t>
            </a:r>
            <a:r>
              <a:rPr lang="en-US" dirty="0" smtClean="0">
                <a:solidFill>
                  <a:srgbClr val="FF0000"/>
                </a:solidFill>
              </a:rPr>
              <a:t>vertices</a:t>
            </a:r>
            <a:r>
              <a:rPr lang="en-US" dirty="0" smtClean="0"/>
              <a:t> that are </a:t>
            </a:r>
            <a:r>
              <a:rPr lang="en-US" dirty="0" smtClean="0">
                <a:solidFill>
                  <a:srgbClr val="FF0000"/>
                </a:solidFill>
              </a:rPr>
              <a:t>adjacent</a:t>
            </a:r>
            <a:r>
              <a:rPr lang="en-US" dirty="0" smtClean="0"/>
              <a:t> to </a:t>
            </a:r>
            <a:r>
              <a:rPr lang="en-US" dirty="0" smtClean="0">
                <a:solidFill>
                  <a:srgbClr val="FF0000"/>
                </a:solidFill>
              </a:rPr>
              <a:t>v</a:t>
            </a:r>
            <a:r>
              <a:rPr lang="en-US" baseline="-25000" dirty="0" smtClean="0">
                <a:solidFill>
                  <a:srgbClr val="FF0000"/>
                </a:solidFill>
              </a:rPr>
              <a:t>3</a:t>
            </a:r>
            <a:r>
              <a:rPr lang="en-US" dirty="0" smtClean="0"/>
              <a:t>;</a:t>
            </a:r>
          </a:p>
          <a:p>
            <a:pPr lvl="1"/>
            <a:r>
              <a:rPr lang="en-US" dirty="0" smtClean="0"/>
              <a:t>Find all </a:t>
            </a:r>
            <a:r>
              <a:rPr lang="en-US" dirty="0" smtClean="0">
                <a:solidFill>
                  <a:srgbClr val="FF0000"/>
                </a:solidFill>
              </a:rPr>
              <a:t>loops</a:t>
            </a:r>
            <a:r>
              <a:rPr lang="en-US" dirty="0" smtClean="0"/>
              <a:t>;</a:t>
            </a:r>
          </a:p>
          <a:p>
            <a:pPr lvl="1"/>
            <a:r>
              <a:rPr lang="en-US" dirty="0" smtClean="0"/>
              <a:t>Find all </a:t>
            </a:r>
            <a:r>
              <a:rPr lang="en-US" dirty="0" smtClean="0">
                <a:solidFill>
                  <a:srgbClr val="FF0000"/>
                </a:solidFill>
              </a:rPr>
              <a:t>parallel</a:t>
            </a:r>
            <a:r>
              <a:rPr lang="en-US" dirty="0" smtClean="0"/>
              <a:t> edges;</a:t>
            </a:r>
          </a:p>
          <a:p>
            <a:pPr lvl="1"/>
            <a:r>
              <a:rPr lang="en-US" dirty="0" smtClean="0"/>
              <a:t>Find all </a:t>
            </a:r>
            <a:r>
              <a:rPr lang="en-US" dirty="0" smtClean="0">
                <a:solidFill>
                  <a:srgbClr val="FF0000"/>
                </a:solidFill>
              </a:rPr>
              <a:t>isolated</a:t>
            </a:r>
            <a:r>
              <a:rPr lang="en-US" dirty="0" smtClean="0"/>
              <a:t> vertices;</a:t>
            </a:r>
            <a:endParaRPr lang="en-US" dirty="0" smtClean="0">
              <a:solidFill>
                <a:srgbClr val="FF0000"/>
              </a:solidFill>
            </a:endParaRPr>
          </a:p>
          <a:p>
            <a:endParaRPr lang="en-US" dirty="0" smtClean="0"/>
          </a:p>
          <a:p>
            <a:pPr>
              <a:buNone/>
            </a:pPr>
            <a:endParaRPr lang="en-US" dirty="0"/>
          </a:p>
        </p:txBody>
      </p:sp>
      <p:pic>
        <p:nvPicPr>
          <p:cNvPr id="5" name="Picture 4"/>
          <p:cNvPicPr/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276600" y="4099560"/>
            <a:ext cx="2834640" cy="23774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2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20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20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20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u="sng" dirty="0" smtClean="0">
                <a:solidFill>
                  <a:srgbClr val="0070C0"/>
                </a:solidFill>
              </a:rPr>
              <a:t>SOLUTION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19944-04AC-4CD8-BA69-63C2A678C21A}" type="slidenum">
              <a:rPr lang="en-US" smtClean="0"/>
              <a:pPr/>
              <a:t>12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 marL="274320" lvl="1">
              <a:spcBef>
                <a:spcPts val="600"/>
              </a:spcBef>
              <a:buClr>
                <a:schemeClr val="accent1"/>
              </a:buClr>
            </a:pPr>
            <a:r>
              <a:rPr lang="en-US" sz="2600" dirty="0" smtClean="0">
                <a:solidFill>
                  <a:schemeClr val="tx1"/>
                </a:solidFill>
              </a:rPr>
              <a:t>Find all </a:t>
            </a:r>
            <a:r>
              <a:rPr lang="en-US" sz="2600" dirty="0" smtClean="0">
                <a:solidFill>
                  <a:srgbClr val="FF0000"/>
                </a:solidFill>
              </a:rPr>
              <a:t>edges</a:t>
            </a:r>
            <a:r>
              <a:rPr lang="en-US" sz="2600" dirty="0" smtClean="0"/>
              <a:t> </a:t>
            </a:r>
            <a:r>
              <a:rPr lang="en-US" sz="2600" dirty="0" smtClean="0">
                <a:solidFill>
                  <a:schemeClr val="tx1"/>
                </a:solidFill>
              </a:rPr>
              <a:t>that are</a:t>
            </a:r>
            <a:r>
              <a:rPr lang="en-US" sz="2600" dirty="0" smtClean="0"/>
              <a:t> </a:t>
            </a:r>
            <a:r>
              <a:rPr lang="en-US" sz="2600" dirty="0" smtClean="0">
                <a:solidFill>
                  <a:srgbClr val="FF0000"/>
                </a:solidFill>
              </a:rPr>
              <a:t>incident</a:t>
            </a:r>
            <a:r>
              <a:rPr lang="en-US" sz="2600" dirty="0" smtClean="0"/>
              <a:t> </a:t>
            </a:r>
            <a:r>
              <a:rPr lang="en-US" sz="2600" dirty="0" smtClean="0">
                <a:solidFill>
                  <a:schemeClr val="tx1"/>
                </a:solidFill>
              </a:rPr>
              <a:t>on</a:t>
            </a:r>
            <a:r>
              <a:rPr lang="en-US" sz="2600" dirty="0" smtClean="0"/>
              <a:t> </a:t>
            </a:r>
            <a:r>
              <a:rPr lang="en-US" sz="2600" dirty="0" smtClean="0">
                <a:solidFill>
                  <a:srgbClr val="FF0000"/>
                </a:solidFill>
              </a:rPr>
              <a:t>v</a:t>
            </a:r>
            <a:r>
              <a:rPr lang="en-US" sz="2600" baseline="-25000" dirty="0" smtClean="0">
                <a:solidFill>
                  <a:srgbClr val="FF0000"/>
                </a:solidFill>
              </a:rPr>
              <a:t>1</a:t>
            </a:r>
            <a:r>
              <a:rPr lang="en-US" sz="2600" dirty="0" smtClean="0">
                <a:solidFill>
                  <a:schemeClr val="tx1"/>
                </a:solidFill>
              </a:rPr>
              <a:t>?</a:t>
            </a:r>
          </a:p>
          <a:p>
            <a:pPr marL="548640" lvl="2">
              <a:spcBef>
                <a:spcPts val="600"/>
              </a:spcBef>
              <a:buClr>
                <a:schemeClr val="accent1"/>
              </a:buClr>
            </a:pPr>
            <a:r>
              <a:rPr lang="en-US" sz="2500" b="1" dirty="0" smtClean="0">
                <a:solidFill>
                  <a:srgbClr val="249C2F"/>
                </a:solidFill>
              </a:rPr>
              <a:t>v</a:t>
            </a:r>
            <a:r>
              <a:rPr lang="en-US" sz="2500" b="1" baseline="-25000" dirty="0" smtClean="0">
                <a:solidFill>
                  <a:srgbClr val="249C2F"/>
                </a:solidFill>
              </a:rPr>
              <a:t>1</a:t>
            </a:r>
            <a:r>
              <a:rPr lang="en-US" sz="2500" dirty="0" smtClean="0"/>
              <a:t> is </a:t>
            </a:r>
            <a:r>
              <a:rPr lang="en-US" sz="2500" b="1" dirty="0" smtClean="0">
                <a:solidFill>
                  <a:srgbClr val="249C2F"/>
                </a:solidFill>
              </a:rPr>
              <a:t>incident</a:t>
            </a:r>
            <a:r>
              <a:rPr lang="en-US" sz="2500" dirty="0" smtClean="0"/>
              <a:t> with edges </a:t>
            </a:r>
            <a:r>
              <a:rPr lang="en-US" sz="2500" b="1" dirty="0" smtClean="0">
                <a:solidFill>
                  <a:srgbClr val="249C2F"/>
                </a:solidFill>
              </a:rPr>
              <a:t>e</a:t>
            </a:r>
            <a:r>
              <a:rPr lang="en-US" sz="2500" b="1" baseline="-25000" dirty="0" smtClean="0">
                <a:solidFill>
                  <a:srgbClr val="249C2F"/>
                </a:solidFill>
              </a:rPr>
              <a:t>1</a:t>
            </a:r>
            <a:r>
              <a:rPr lang="en-US" sz="2500" dirty="0" smtClean="0"/>
              <a:t>, </a:t>
            </a:r>
            <a:r>
              <a:rPr lang="en-US" sz="2500" b="1" dirty="0" smtClean="0">
                <a:solidFill>
                  <a:srgbClr val="249C2F"/>
                </a:solidFill>
              </a:rPr>
              <a:t>e</a:t>
            </a:r>
            <a:r>
              <a:rPr lang="en-US" sz="2500" b="1" baseline="-25000" dirty="0" smtClean="0">
                <a:solidFill>
                  <a:srgbClr val="249C2F"/>
                </a:solidFill>
              </a:rPr>
              <a:t>2</a:t>
            </a:r>
            <a:r>
              <a:rPr lang="en-US" sz="2500" dirty="0" smtClean="0"/>
              <a:t> and </a:t>
            </a:r>
            <a:r>
              <a:rPr lang="en-US" sz="2500" b="1" dirty="0" smtClean="0">
                <a:solidFill>
                  <a:srgbClr val="249C2F"/>
                </a:solidFill>
              </a:rPr>
              <a:t>e</a:t>
            </a:r>
            <a:r>
              <a:rPr lang="en-US" sz="2500" b="1" baseline="-25000" dirty="0" smtClean="0">
                <a:solidFill>
                  <a:srgbClr val="249C2F"/>
                </a:solidFill>
              </a:rPr>
              <a:t>7</a:t>
            </a:r>
          </a:p>
          <a:p>
            <a:pPr marL="274320" lvl="1">
              <a:spcBef>
                <a:spcPts val="600"/>
              </a:spcBef>
              <a:buClr>
                <a:schemeClr val="accent1"/>
              </a:buClr>
            </a:pPr>
            <a:endParaRPr lang="en-US" sz="2800" baseline="-25000" dirty="0" smtClean="0">
              <a:solidFill>
                <a:schemeClr val="tx1"/>
              </a:solidFill>
            </a:endParaRPr>
          </a:p>
          <a:p>
            <a:pPr marL="274320" lvl="1">
              <a:spcBef>
                <a:spcPts val="600"/>
              </a:spcBef>
              <a:buClr>
                <a:schemeClr val="accent1"/>
              </a:buClr>
            </a:pPr>
            <a:r>
              <a:rPr lang="en-US" sz="2600" dirty="0" smtClean="0">
                <a:solidFill>
                  <a:schemeClr val="tx1"/>
                </a:solidFill>
              </a:rPr>
              <a:t>Find all </a:t>
            </a:r>
            <a:r>
              <a:rPr lang="en-US" sz="2800" dirty="0" smtClean="0">
                <a:solidFill>
                  <a:srgbClr val="FF0000"/>
                </a:solidFill>
              </a:rPr>
              <a:t>vertices</a:t>
            </a:r>
            <a:r>
              <a:rPr lang="en-US" sz="2800" dirty="0" smtClean="0"/>
              <a:t> </a:t>
            </a:r>
            <a:r>
              <a:rPr lang="en-US" sz="2600" dirty="0" smtClean="0">
                <a:solidFill>
                  <a:schemeClr val="tx1"/>
                </a:solidFill>
              </a:rPr>
              <a:t>that are </a:t>
            </a:r>
            <a:r>
              <a:rPr lang="en-US" sz="2800" dirty="0" smtClean="0">
                <a:solidFill>
                  <a:srgbClr val="FF0000"/>
                </a:solidFill>
              </a:rPr>
              <a:t>adjacent</a:t>
            </a:r>
            <a:r>
              <a:rPr lang="en-US" sz="2800" dirty="0" smtClean="0"/>
              <a:t> </a:t>
            </a:r>
            <a:r>
              <a:rPr lang="en-US" sz="2600" dirty="0" smtClean="0">
                <a:solidFill>
                  <a:schemeClr val="tx1"/>
                </a:solidFill>
              </a:rPr>
              <a:t>to</a:t>
            </a:r>
            <a:r>
              <a:rPr lang="en-US" sz="2800" dirty="0" smtClean="0"/>
              <a:t> </a:t>
            </a:r>
            <a:r>
              <a:rPr lang="en-US" sz="2800" dirty="0" smtClean="0">
                <a:solidFill>
                  <a:srgbClr val="FF0000"/>
                </a:solidFill>
              </a:rPr>
              <a:t>v</a:t>
            </a:r>
            <a:r>
              <a:rPr lang="en-US" sz="2800" baseline="-25000" dirty="0" smtClean="0">
                <a:solidFill>
                  <a:srgbClr val="FF0000"/>
                </a:solidFill>
              </a:rPr>
              <a:t>3</a:t>
            </a:r>
            <a:r>
              <a:rPr lang="en-US" sz="2600" dirty="0" smtClean="0">
                <a:solidFill>
                  <a:schemeClr val="tx1"/>
                </a:solidFill>
              </a:rPr>
              <a:t>?</a:t>
            </a:r>
          </a:p>
          <a:p>
            <a:pPr marL="548640" lvl="2">
              <a:spcBef>
                <a:spcPts val="600"/>
              </a:spcBef>
              <a:buClr>
                <a:schemeClr val="accent1"/>
              </a:buClr>
            </a:pPr>
            <a:r>
              <a:rPr lang="en-US" sz="2500" dirty="0" smtClean="0"/>
              <a:t>vertices </a:t>
            </a:r>
            <a:r>
              <a:rPr lang="en-US" sz="2500" b="1" dirty="0" smtClean="0">
                <a:solidFill>
                  <a:srgbClr val="249C2F"/>
                </a:solidFill>
              </a:rPr>
              <a:t>adjacent</a:t>
            </a:r>
            <a:r>
              <a:rPr lang="en-US" sz="2500" dirty="0" smtClean="0"/>
              <a:t> to </a:t>
            </a:r>
            <a:r>
              <a:rPr lang="en-US" sz="2500" b="1" dirty="0" smtClean="0">
                <a:solidFill>
                  <a:srgbClr val="249C2F"/>
                </a:solidFill>
              </a:rPr>
              <a:t>v</a:t>
            </a:r>
            <a:r>
              <a:rPr lang="en-US" sz="2500" b="1" baseline="-25000" dirty="0" smtClean="0">
                <a:solidFill>
                  <a:srgbClr val="249C2F"/>
                </a:solidFill>
              </a:rPr>
              <a:t>3</a:t>
            </a:r>
            <a:r>
              <a:rPr lang="en-US" sz="2500" dirty="0" smtClean="0"/>
              <a:t> are </a:t>
            </a:r>
            <a:r>
              <a:rPr lang="en-US" sz="2500" b="1" dirty="0" smtClean="0">
                <a:solidFill>
                  <a:srgbClr val="249C2F"/>
                </a:solidFill>
              </a:rPr>
              <a:t>v</a:t>
            </a:r>
            <a:r>
              <a:rPr lang="en-US" sz="2500" b="1" baseline="-25000" dirty="0" smtClean="0">
                <a:solidFill>
                  <a:srgbClr val="249C2F"/>
                </a:solidFill>
              </a:rPr>
              <a:t>1</a:t>
            </a:r>
            <a:r>
              <a:rPr lang="en-US" sz="2500" dirty="0" smtClean="0"/>
              <a:t> and </a:t>
            </a:r>
            <a:r>
              <a:rPr lang="en-US" sz="2500" b="1" dirty="0" smtClean="0">
                <a:solidFill>
                  <a:srgbClr val="249C2F"/>
                </a:solidFill>
              </a:rPr>
              <a:t>v</a:t>
            </a:r>
            <a:r>
              <a:rPr lang="en-US" sz="2500" b="1" baseline="-25000" dirty="0" smtClean="0">
                <a:solidFill>
                  <a:srgbClr val="249C2F"/>
                </a:solidFill>
              </a:rPr>
              <a:t>2</a:t>
            </a:r>
          </a:p>
          <a:p>
            <a:pPr marL="274320" lvl="1">
              <a:spcBef>
                <a:spcPts val="600"/>
              </a:spcBef>
              <a:buClr>
                <a:schemeClr val="accent1"/>
              </a:buClr>
            </a:pPr>
            <a:endParaRPr lang="en-US" sz="2800" baseline="-25000" dirty="0" smtClean="0">
              <a:solidFill>
                <a:schemeClr val="tx1"/>
              </a:solidFill>
            </a:endParaRPr>
          </a:p>
          <a:p>
            <a:pPr marL="274320" lvl="1">
              <a:spcBef>
                <a:spcPts val="600"/>
              </a:spcBef>
              <a:buClr>
                <a:schemeClr val="accent1"/>
              </a:buClr>
            </a:pPr>
            <a:r>
              <a:rPr lang="en-US" sz="2600" dirty="0" smtClean="0">
                <a:solidFill>
                  <a:schemeClr val="tx1"/>
                </a:solidFill>
              </a:rPr>
              <a:t>Find all </a:t>
            </a:r>
            <a:r>
              <a:rPr lang="en-US" sz="2800" dirty="0" smtClean="0">
                <a:solidFill>
                  <a:srgbClr val="FF0000"/>
                </a:solidFill>
              </a:rPr>
              <a:t>loops</a:t>
            </a:r>
            <a:r>
              <a:rPr lang="en-US" sz="2600" dirty="0" smtClean="0">
                <a:solidFill>
                  <a:schemeClr val="tx1"/>
                </a:solidFill>
              </a:rPr>
              <a:t>?</a:t>
            </a:r>
          </a:p>
          <a:p>
            <a:pPr marL="548640" lvl="2">
              <a:spcBef>
                <a:spcPts val="600"/>
              </a:spcBef>
              <a:buClr>
                <a:schemeClr val="accent1"/>
              </a:buClr>
            </a:pPr>
            <a:r>
              <a:rPr lang="en-US" sz="2500" b="1" dirty="0" smtClean="0">
                <a:solidFill>
                  <a:srgbClr val="249C2F"/>
                </a:solidFill>
              </a:rPr>
              <a:t>Loops</a:t>
            </a:r>
            <a:r>
              <a:rPr lang="en-US" sz="2500" dirty="0" smtClean="0"/>
              <a:t> are </a:t>
            </a:r>
            <a:r>
              <a:rPr lang="en-US" sz="2500" b="1" dirty="0" smtClean="0">
                <a:solidFill>
                  <a:srgbClr val="249C2F"/>
                </a:solidFill>
              </a:rPr>
              <a:t>e</a:t>
            </a:r>
            <a:r>
              <a:rPr lang="en-US" sz="2500" b="1" baseline="-25000" dirty="0" smtClean="0">
                <a:solidFill>
                  <a:srgbClr val="249C2F"/>
                </a:solidFill>
              </a:rPr>
              <a:t>1</a:t>
            </a:r>
            <a:r>
              <a:rPr lang="en-US" sz="2500" dirty="0" smtClean="0"/>
              <a:t> and </a:t>
            </a:r>
            <a:r>
              <a:rPr lang="en-US" sz="2500" b="1" dirty="0" smtClean="0">
                <a:solidFill>
                  <a:srgbClr val="249C2F"/>
                </a:solidFill>
              </a:rPr>
              <a:t>e</a:t>
            </a:r>
            <a:r>
              <a:rPr lang="en-US" sz="2500" b="1" baseline="-25000" dirty="0" smtClean="0">
                <a:solidFill>
                  <a:srgbClr val="249C2F"/>
                </a:solidFill>
              </a:rPr>
              <a:t>3</a:t>
            </a:r>
            <a:r>
              <a:rPr lang="en-US" sz="2500" dirty="0" smtClean="0"/>
              <a:t> </a:t>
            </a:r>
          </a:p>
          <a:p>
            <a:pPr marL="274320" lvl="1">
              <a:spcBef>
                <a:spcPts val="600"/>
              </a:spcBef>
              <a:buClr>
                <a:schemeClr val="accent1"/>
              </a:buClr>
            </a:pPr>
            <a:endParaRPr lang="en-US" sz="2800" dirty="0" smtClean="0">
              <a:solidFill>
                <a:schemeClr val="tx1"/>
              </a:solidFill>
            </a:endParaRPr>
          </a:p>
          <a:p>
            <a:pPr marL="274320" lvl="1">
              <a:spcBef>
                <a:spcPts val="600"/>
              </a:spcBef>
              <a:buClr>
                <a:schemeClr val="accent1"/>
              </a:buClr>
            </a:pPr>
            <a:endParaRPr lang="en-US" sz="2600" dirty="0" smtClean="0">
              <a:solidFill>
                <a:schemeClr val="tx1"/>
              </a:solidFill>
            </a:endParaRPr>
          </a:p>
          <a:p>
            <a:pPr marL="274320" lvl="1">
              <a:spcBef>
                <a:spcPts val="600"/>
              </a:spcBef>
              <a:buClr>
                <a:schemeClr val="accent1"/>
              </a:buClr>
            </a:pPr>
            <a:endParaRPr lang="en-US" sz="2600" dirty="0" smtClean="0">
              <a:solidFill>
                <a:schemeClr val="tx1"/>
              </a:solidFill>
            </a:endParaRPr>
          </a:p>
          <a:p>
            <a:pPr marL="274320" lvl="1">
              <a:spcBef>
                <a:spcPts val="600"/>
              </a:spcBef>
              <a:buClr>
                <a:schemeClr val="accent1"/>
              </a:buClr>
            </a:pPr>
            <a:endParaRPr lang="en-US" sz="2600" dirty="0" smtClean="0">
              <a:solidFill>
                <a:schemeClr val="tx1"/>
              </a:solidFill>
            </a:endParaRPr>
          </a:p>
          <a:p>
            <a:endParaRPr lang="en-US" dirty="0" smtClean="0">
              <a:solidFill>
                <a:srgbClr val="FF0000"/>
              </a:solidFill>
            </a:endParaRP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endParaRPr lang="en-US" b="1" u="sng" dirty="0" smtClean="0">
              <a:solidFill>
                <a:srgbClr val="0070C0"/>
              </a:solidFill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19944-04AC-4CD8-BA69-63C2A678C21A}" type="slidenum">
              <a:rPr lang="en-US" smtClean="0"/>
              <a:pPr/>
              <a:t>13</a:t>
            </a:fld>
            <a:endParaRPr lang="en-US"/>
          </a:p>
        </p:txBody>
      </p:sp>
      <p:sp>
        <p:nvSpPr>
          <p:cNvPr id="5" name="Content Placeholder 4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marL="274320" lvl="1">
              <a:spcBef>
                <a:spcPts val="600"/>
              </a:spcBef>
              <a:buClr>
                <a:schemeClr val="accent1"/>
              </a:buClr>
            </a:pPr>
            <a:r>
              <a:rPr lang="en-US" sz="2600" dirty="0" smtClean="0">
                <a:solidFill>
                  <a:schemeClr val="tx1"/>
                </a:solidFill>
              </a:rPr>
              <a:t>Find all </a:t>
            </a:r>
            <a:r>
              <a:rPr lang="en-US" sz="2600" dirty="0" smtClean="0">
                <a:solidFill>
                  <a:srgbClr val="FF0000"/>
                </a:solidFill>
              </a:rPr>
              <a:t>parallel</a:t>
            </a:r>
            <a:r>
              <a:rPr lang="en-US" sz="2600" dirty="0" smtClean="0"/>
              <a:t> </a:t>
            </a:r>
            <a:r>
              <a:rPr lang="en-US" sz="2600" dirty="0" smtClean="0">
                <a:solidFill>
                  <a:schemeClr val="tx1"/>
                </a:solidFill>
              </a:rPr>
              <a:t>edges?</a:t>
            </a:r>
          </a:p>
          <a:p>
            <a:pPr marL="548640" lvl="2">
              <a:spcBef>
                <a:spcPts val="600"/>
              </a:spcBef>
              <a:buClr>
                <a:schemeClr val="accent1"/>
              </a:buClr>
            </a:pPr>
            <a:r>
              <a:rPr lang="en-US" sz="2500" dirty="0" smtClean="0"/>
              <a:t>Only edges </a:t>
            </a:r>
            <a:r>
              <a:rPr lang="en-US" sz="2500" b="1" dirty="0" smtClean="0">
                <a:solidFill>
                  <a:srgbClr val="249C2F"/>
                </a:solidFill>
              </a:rPr>
              <a:t>e</a:t>
            </a:r>
            <a:r>
              <a:rPr lang="en-US" sz="2500" b="1" baseline="-25000" dirty="0" smtClean="0">
                <a:solidFill>
                  <a:srgbClr val="249C2F"/>
                </a:solidFill>
              </a:rPr>
              <a:t>4</a:t>
            </a:r>
            <a:r>
              <a:rPr lang="en-US" sz="2500" dirty="0" smtClean="0"/>
              <a:t> and </a:t>
            </a:r>
            <a:r>
              <a:rPr lang="en-US" sz="2500" b="1" dirty="0" smtClean="0">
                <a:solidFill>
                  <a:srgbClr val="249C2F"/>
                </a:solidFill>
              </a:rPr>
              <a:t>e</a:t>
            </a:r>
            <a:r>
              <a:rPr lang="en-US" sz="2500" b="1" baseline="-25000" dirty="0" smtClean="0">
                <a:solidFill>
                  <a:srgbClr val="249C2F"/>
                </a:solidFill>
              </a:rPr>
              <a:t>5</a:t>
            </a:r>
            <a:r>
              <a:rPr lang="en-US" sz="2500" dirty="0" smtClean="0"/>
              <a:t> are </a:t>
            </a:r>
            <a:r>
              <a:rPr lang="en-US" sz="2500" b="1" dirty="0" smtClean="0">
                <a:solidFill>
                  <a:srgbClr val="249C2F"/>
                </a:solidFill>
              </a:rPr>
              <a:t>parallel</a:t>
            </a:r>
          </a:p>
          <a:p>
            <a:pPr marL="274320" lvl="1">
              <a:spcBef>
                <a:spcPts val="600"/>
              </a:spcBef>
              <a:buClr>
                <a:schemeClr val="accent1"/>
              </a:buClr>
            </a:pPr>
            <a:endParaRPr lang="en-US" sz="2800" dirty="0" smtClean="0"/>
          </a:p>
          <a:p>
            <a:pPr marL="274320" lvl="1">
              <a:spcBef>
                <a:spcPts val="600"/>
              </a:spcBef>
              <a:buClr>
                <a:schemeClr val="accent1"/>
              </a:buClr>
            </a:pPr>
            <a:r>
              <a:rPr lang="en-US" sz="2600" dirty="0" smtClean="0">
                <a:solidFill>
                  <a:schemeClr val="tx1"/>
                </a:solidFill>
              </a:rPr>
              <a:t>Find all </a:t>
            </a:r>
            <a:r>
              <a:rPr lang="en-US" sz="2600" dirty="0" smtClean="0">
                <a:solidFill>
                  <a:srgbClr val="FF0000"/>
                </a:solidFill>
              </a:rPr>
              <a:t>isolated</a:t>
            </a:r>
            <a:r>
              <a:rPr lang="en-US" sz="2600" dirty="0" smtClean="0"/>
              <a:t> </a:t>
            </a:r>
            <a:r>
              <a:rPr lang="en-US" sz="2600" dirty="0" smtClean="0">
                <a:solidFill>
                  <a:schemeClr val="tx1"/>
                </a:solidFill>
              </a:rPr>
              <a:t>vertices?</a:t>
            </a:r>
          </a:p>
          <a:p>
            <a:pPr marL="548640" lvl="2">
              <a:spcBef>
                <a:spcPts val="600"/>
              </a:spcBef>
              <a:buClr>
                <a:schemeClr val="accent1"/>
              </a:buClr>
            </a:pPr>
            <a:r>
              <a:rPr lang="en-US" sz="2500" dirty="0" smtClean="0"/>
              <a:t>The only </a:t>
            </a:r>
            <a:r>
              <a:rPr lang="en-US" sz="2500" b="1" dirty="0" smtClean="0">
                <a:solidFill>
                  <a:srgbClr val="249C2F"/>
                </a:solidFill>
              </a:rPr>
              <a:t>isolated</a:t>
            </a:r>
            <a:r>
              <a:rPr lang="en-US" sz="2500" dirty="0" smtClean="0"/>
              <a:t> vertex is </a:t>
            </a:r>
            <a:r>
              <a:rPr lang="en-US" sz="2500" b="1" dirty="0" smtClean="0">
                <a:solidFill>
                  <a:srgbClr val="249C2F"/>
                </a:solidFill>
              </a:rPr>
              <a:t>v</a:t>
            </a:r>
            <a:r>
              <a:rPr lang="en-US" sz="2500" b="1" baseline="-25000" dirty="0" smtClean="0">
                <a:solidFill>
                  <a:srgbClr val="249C2F"/>
                </a:solidFill>
              </a:rPr>
              <a:t>4</a:t>
            </a:r>
            <a:r>
              <a:rPr lang="en-US" sz="2500" dirty="0" smtClean="0"/>
              <a:t> in this Graph.</a:t>
            </a:r>
            <a:endParaRPr lang="en-US" dirty="0" smtClean="0">
              <a:solidFill>
                <a:schemeClr val="tx1"/>
              </a:solidFill>
            </a:endParaRPr>
          </a:p>
          <a:p>
            <a:pPr marL="274320" lvl="1">
              <a:spcBef>
                <a:spcPts val="600"/>
              </a:spcBef>
              <a:buClr>
                <a:schemeClr val="accent1"/>
              </a:buClr>
            </a:pPr>
            <a:endParaRPr lang="en-US" sz="2800" dirty="0" smtClean="0"/>
          </a:p>
          <a:p>
            <a:pPr marL="274320" lvl="1">
              <a:spcBef>
                <a:spcPts val="600"/>
              </a:spcBef>
              <a:buClr>
                <a:schemeClr val="accent1"/>
              </a:buClr>
            </a:pPr>
            <a:endParaRPr lang="en-US" sz="2800" dirty="0" smtClean="0">
              <a:solidFill>
                <a:schemeClr val="tx1"/>
              </a:solidFill>
            </a:endParaRPr>
          </a:p>
          <a:p>
            <a:pPr marL="274320" lvl="1">
              <a:spcBef>
                <a:spcPts val="600"/>
              </a:spcBef>
              <a:buClr>
                <a:schemeClr val="accent1"/>
              </a:buClr>
            </a:pPr>
            <a:endParaRPr lang="en-US" sz="2600" dirty="0" smtClean="0">
              <a:solidFill>
                <a:schemeClr val="tx1"/>
              </a:solidFill>
            </a:endParaRP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uiExpand="1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u="sng" dirty="0" smtClean="0">
                <a:solidFill>
                  <a:srgbClr val="0070C0"/>
                </a:solidFill>
              </a:rPr>
              <a:t>EXERCISE</a:t>
            </a:r>
            <a:endParaRPr lang="en-US" dirty="0">
              <a:solidFill>
                <a:srgbClr val="0070C0"/>
              </a:solidFill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19944-04AC-4CD8-BA69-63C2A678C21A}" type="slidenum">
              <a:rPr lang="en-US" smtClean="0"/>
              <a:pPr/>
              <a:t>14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5029200"/>
          </a:xfrm>
        </p:spPr>
        <p:txBody>
          <a:bodyPr>
            <a:normAutofit/>
          </a:bodyPr>
          <a:lstStyle/>
          <a:p>
            <a:r>
              <a:rPr lang="en-US" dirty="0" smtClean="0"/>
              <a:t>Draw picture of </a:t>
            </a:r>
            <a:r>
              <a:rPr lang="en-US" dirty="0" smtClean="0">
                <a:solidFill>
                  <a:srgbClr val="FF0000"/>
                </a:solidFill>
              </a:rPr>
              <a:t>Graph H</a:t>
            </a:r>
            <a:r>
              <a:rPr lang="en-US" dirty="0" smtClean="0"/>
              <a:t> having </a:t>
            </a:r>
            <a:r>
              <a:rPr lang="en-US" dirty="0" smtClean="0">
                <a:solidFill>
                  <a:srgbClr val="FF0000"/>
                </a:solidFill>
              </a:rPr>
              <a:t>vertex</a:t>
            </a:r>
            <a:r>
              <a:rPr lang="en-US" dirty="0" smtClean="0"/>
              <a:t> set {</a:t>
            </a:r>
            <a:r>
              <a:rPr lang="en-US" dirty="0" smtClean="0">
                <a:solidFill>
                  <a:srgbClr val="FF0000"/>
                </a:solidFill>
              </a:rPr>
              <a:t>v</a:t>
            </a:r>
            <a:r>
              <a:rPr lang="en-US" baseline="-25000" dirty="0" smtClean="0">
                <a:solidFill>
                  <a:srgbClr val="FF0000"/>
                </a:solidFill>
              </a:rPr>
              <a:t>1</a:t>
            </a:r>
            <a:r>
              <a:rPr lang="en-US" dirty="0" smtClean="0">
                <a:solidFill>
                  <a:srgbClr val="FF0000"/>
                </a:solidFill>
              </a:rPr>
              <a:t>, v</a:t>
            </a:r>
            <a:r>
              <a:rPr lang="en-US" baseline="-25000" dirty="0" smtClean="0">
                <a:solidFill>
                  <a:srgbClr val="FF0000"/>
                </a:solidFill>
              </a:rPr>
              <a:t>2</a:t>
            </a:r>
            <a:r>
              <a:rPr lang="en-US" dirty="0" smtClean="0">
                <a:solidFill>
                  <a:srgbClr val="FF0000"/>
                </a:solidFill>
              </a:rPr>
              <a:t>, v</a:t>
            </a:r>
            <a:r>
              <a:rPr lang="en-US" baseline="-25000" dirty="0" smtClean="0">
                <a:solidFill>
                  <a:srgbClr val="FF0000"/>
                </a:solidFill>
              </a:rPr>
              <a:t>3</a:t>
            </a:r>
            <a:r>
              <a:rPr lang="en-US" dirty="0" smtClean="0">
                <a:solidFill>
                  <a:srgbClr val="FF0000"/>
                </a:solidFill>
              </a:rPr>
              <a:t>, v</a:t>
            </a:r>
            <a:r>
              <a:rPr lang="en-US" baseline="-25000" dirty="0" smtClean="0">
                <a:solidFill>
                  <a:srgbClr val="FF0000"/>
                </a:solidFill>
              </a:rPr>
              <a:t>4</a:t>
            </a:r>
            <a:r>
              <a:rPr lang="en-US" dirty="0" smtClean="0">
                <a:solidFill>
                  <a:srgbClr val="FF0000"/>
                </a:solidFill>
              </a:rPr>
              <a:t>, v</a:t>
            </a:r>
            <a:r>
              <a:rPr lang="en-US" baseline="-25000" dirty="0" smtClean="0">
                <a:solidFill>
                  <a:srgbClr val="FF0000"/>
                </a:solidFill>
              </a:rPr>
              <a:t>5</a:t>
            </a:r>
            <a:r>
              <a:rPr lang="en-US" dirty="0" smtClean="0"/>
              <a:t>} and </a:t>
            </a:r>
            <a:r>
              <a:rPr lang="en-US" dirty="0" smtClean="0">
                <a:solidFill>
                  <a:srgbClr val="FF0000"/>
                </a:solidFill>
              </a:rPr>
              <a:t>edge</a:t>
            </a:r>
            <a:r>
              <a:rPr lang="en-US" dirty="0" smtClean="0"/>
              <a:t> set {</a:t>
            </a:r>
            <a:r>
              <a:rPr lang="en-US" dirty="0" smtClean="0">
                <a:solidFill>
                  <a:srgbClr val="FF0000"/>
                </a:solidFill>
              </a:rPr>
              <a:t>e</a:t>
            </a:r>
            <a:r>
              <a:rPr lang="en-US" baseline="-25000" dirty="0" smtClean="0">
                <a:solidFill>
                  <a:srgbClr val="FF0000"/>
                </a:solidFill>
              </a:rPr>
              <a:t>1</a:t>
            </a:r>
            <a:r>
              <a:rPr lang="en-US" dirty="0" smtClean="0">
                <a:solidFill>
                  <a:srgbClr val="FF0000"/>
                </a:solidFill>
              </a:rPr>
              <a:t>, e</a:t>
            </a:r>
            <a:r>
              <a:rPr lang="en-US" baseline="-25000" dirty="0" smtClean="0">
                <a:solidFill>
                  <a:srgbClr val="FF0000"/>
                </a:solidFill>
              </a:rPr>
              <a:t>2</a:t>
            </a:r>
            <a:r>
              <a:rPr lang="en-US" dirty="0" smtClean="0">
                <a:solidFill>
                  <a:srgbClr val="FF0000"/>
                </a:solidFill>
              </a:rPr>
              <a:t>, e</a:t>
            </a:r>
            <a:r>
              <a:rPr lang="en-US" baseline="-25000" dirty="0" smtClean="0">
                <a:solidFill>
                  <a:srgbClr val="FF0000"/>
                </a:solidFill>
              </a:rPr>
              <a:t>3</a:t>
            </a:r>
            <a:r>
              <a:rPr lang="en-US" dirty="0" smtClean="0">
                <a:solidFill>
                  <a:srgbClr val="FF0000"/>
                </a:solidFill>
              </a:rPr>
              <a:t>, e</a:t>
            </a:r>
            <a:r>
              <a:rPr lang="en-US" baseline="-25000" dirty="0" smtClean="0">
                <a:solidFill>
                  <a:srgbClr val="FF0000"/>
                </a:solidFill>
              </a:rPr>
              <a:t>4</a:t>
            </a:r>
            <a:r>
              <a:rPr lang="en-US" dirty="0" smtClean="0"/>
              <a:t>} with </a:t>
            </a:r>
            <a:r>
              <a:rPr lang="en-US" dirty="0" smtClean="0">
                <a:solidFill>
                  <a:srgbClr val="FF0000"/>
                </a:solidFill>
              </a:rPr>
              <a:t>edge endpoint function</a:t>
            </a:r>
            <a:r>
              <a:rPr lang="en-US" dirty="0" smtClean="0"/>
              <a:t>:</a:t>
            </a:r>
          </a:p>
          <a:p>
            <a:endParaRPr lang="en-US" dirty="0" smtClean="0"/>
          </a:p>
          <a:p>
            <a:pPr>
              <a:buNone/>
            </a:pPr>
            <a:r>
              <a:rPr lang="en-US" dirty="0" smtClean="0"/>
              <a:t>	</a:t>
            </a:r>
          </a:p>
          <a:p>
            <a:endParaRPr lang="en-US" dirty="0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276600" y="2776538"/>
          <a:ext cx="2602230" cy="1963102"/>
        </p:xfrm>
        <a:graphic>
          <a:graphicData uri="http://schemas.openxmlformats.org/drawingml/2006/table">
            <a:tbl>
              <a:tblPr/>
              <a:tblGrid>
                <a:gridCol w="129917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30306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500062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kumimoji="0" lang="en-US" sz="24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Times New Roman" pitchFamily="18" charset="0"/>
                          <a:sym typeface="Symbol" pitchFamily="18" charset="2"/>
                        </a:rPr>
                        <a:t>Edge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kumimoji="0" lang="en-US" sz="24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Times New Roman" pitchFamily="18" charset="0"/>
                          <a:sym typeface="Symbol" pitchFamily="18" charset="2"/>
                        </a:rPr>
                        <a:t>Endpoint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31993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 smtClean="0">
                          <a:latin typeface="+mn-lt"/>
                          <a:ea typeface="MS Mincho"/>
                        </a:rPr>
                        <a:t>e</a:t>
                      </a:r>
                      <a:r>
                        <a:rPr lang="en-US" sz="2400" baseline="-25000" dirty="0" smtClean="0">
                          <a:latin typeface="+mn-lt"/>
                          <a:ea typeface="MS Mincho"/>
                        </a:rPr>
                        <a:t>1</a:t>
                      </a:r>
                      <a:endParaRPr lang="en-US" sz="2400" dirty="0" smtClean="0">
                        <a:latin typeface="+mn-lt"/>
                        <a:ea typeface="MS Mincho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400" kern="1200" dirty="0" smtClean="0">
                          <a:solidFill>
                            <a:schemeClr val="tx1"/>
                          </a:solidFill>
                          <a:latin typeface="+mn-lt"/>
                          <a:ea typeface="MS Mincho"/>
                          <a:cs typeface="+mn-cs"/>
                        </a:rPr>
                        <a:t>{</a:t>
                      </a:r>
                      <a:r>
                        <a:rPr lang="en-US" sz="2400" dirty="0" smtClean="0">
                          <a:latin typeface="+mn-lt"/>
                          <a:ea typeface="MS Mincho"/>
                        </a:rPr>
                        <a:t>v</a:t>
                      </a:r>
                      <a:r>
                        <a:rPr lang="en-US" sz="2400" baseline="-25000" dirty="0" smtClean="0">
                          <a:latin typeface="+mn-lt"/>
                          <a:ea typeface="MS Mincho"/>
                        </a:rPr>
                        <a:t>1</a:t>
                      </a:r>
                      <a:r>
                        <a:rPr kumimoji="0" lang="en-US" sz="2400" kern="1200" dirty="0" smtClean="0">
                          <a:solidFill>
                            <a:schemeClr val="tx1"/>
                          </a:solidFill>
                          <a:latin typeface="+mn-lt"/>
                          <a:ea typeface="MS Mincho"/>
                          <a:cs typeface="+mn-cs"/>
                        </a:rPr>
                        <a:t>}</a:t>
                      </a:r>
                      <a:endParaRPr kumimoji="0" lang="en-US" sz="2400" kern="1200" dirty="0">
                        <a:solidFill>
                          <a:schemeClr val="tx1"/>
                        </a:solidFill>
                        <a:latin typeface="+mn-lt"/>
                        <a:ea typeface="MS Mincho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31993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 smtClean="0">
                          <a:latin typeface="+mn-lt"/>
                          <a:ea typeface="MS Mincho"/>
                        </a:rPr>
                        <a:t>e</a:t>
                      </a:r>
                      <a:r>
                        <a:rPr kumimoji="0" lang="en-US" sz="2400" kern="1200" baseline="-25000" dirty="0" smtClean="0">
                          <a:solidFill>
                            <a:schemeClr val="tx1"/>
                          </a:solidFill>
                          <a:latin typeface="+mn-lt"/>
                          <a:ea typeface="MS Mincho"/>
                          <a:cs typeface="+mn-cs"/>
                        </a:rPr>
                        <a:t>2</a:t>
                      </a:r>
                      <a:endParaRPr lang="en-US" sz="2400" dirty="0" smtClean="0">
                        <a:latin typeface="+mn-lt"/>
                        <a:ea typeface="MS Mincho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kumimoji="0" lang="en-US" sz="2400" kern="1200" dirty="0" smtClean="0">
                          <a:solidFill>
                            <a:schemeClr val="tx1"/>
                          </a:solidFill>
                          <a:latin typeface="+mn-lt"/>
                          <a:ea typeface="MS Mincho"/>
                          <a:cs typeface="+mn-cs"/>
                        </a:rPr>
                        <a:t>{</a:t>
                      </a:r>
                      <a:r>
                        <a:rPr lang="en-US" sz="2400" dirty="0" smtClean="0">
                          <a:latin typeface="+mn-lt"/>
                          <a:ea typeface="MS Mincho"/>
                        </a:rPr>
                        <a:t>v</a:t>
                      </a:r>
                      <a:r>
                        <a:rPr lang="en-US" sz="2400" baseline="-25000" dirty="0" smtClean="0">
                          <a:latin typeface="+mn-lt"/>
                          <a:ea typeface="MS Mincho"/>
                        </a:rPr>
                        <a:t>2</a:t>
                      </a:r>
                      <a:r>
                        <a:rPr kumimoji="0" lang="en-US" sz="2400" kern="1200" dirty="0" smtClean="0">
                          <a:solidFill>
                            <a:schemeClr val="tx1"/>
                          </a:solidFill>
                          <a:latin typeface="+mn-lt"/>
                          <a:ea typeface="MS Mincho"/>
                          <a:cs typeface="+mn-cs"/>
                        </a:rPr>
                        <a:t>,</a:t>
                      </a:r>
                      <a:r>
                        <a:rPr lang="en-US" sz="2400" dirty="0" smtClean="0">
                          <a:latin typeface="+mn-lt"/>
                          <a:ea typeface="MS Mincho"/>
                        </a:rPr>
                        <a:t> v</a:t>
                      </a:r>
                      <a:r>
                        <a:rPr lang="en-US" sz="2400" baseline="-25000" dirty="0" smtClean="0">
                          <a:latin typeface="+mn-lt"/>
                          <a:ea typeface="MS Mincho"/>
                        </a:rPr>
                        <a:t>3</a:t>
                      </a:r>
                      <a:r>
                        <a:rPr kumimoji="0" lang="en-US" sz="2400" kern="1200" dirty="0" smtClean="0">
                          <a:solidFill>
                            <a:schemeClr val="tx1"/>
                          </a:solidFill>
                          <a:latin typeface="+mn-lt"/>
                          <a:ea typeface="MS Mincho"/>
                          <a:cs typeface="+mn-cs"/>
                        </a:rPr>
                        <a:t>}</a:t>
                      </a:r>
                      <a:endParaRPr kumimoji="0" lang="en-US" sz="2400" kern="1200" dirty="0">
                        <a:solidFill>
                          <a:schemeClr val="tx1"/>
                        </a:solidFill>
                        <a:latin typeface="+mn-lt"/>
                        <a:ea typeface="MS Mincho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31993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 smtClean="0">
                          <a:latin typeface="+mn-lt"/>
                          <a:ea typeface="MS Mincho"/>
                        </a:rPr>
                        <a:t>e</a:t>
                      </a:r>
                      <a:r>
                        <a:rPr kumimoji="0" lang="en-US" sz="2400" kern="1200" baseline="-25000" dirty="0" smtClean="0">
                          <a:solidFill>
                            <a:schemeClr val="tx1"/>
                          </a:solidFill>
                          <a:latin typeface="+mn-lt"/>
                          <a:ea typeface="MS Mincho"/>
                          <a:cs typeface="+mn-cs"/>
                        </a:rPr>
                        <a:t>3</a:t>
                      </a:r>
                      <a:endParaRPr lang="en-US" sz="2400" dirty="0" smtClean="0">
                        <a:latin typeface="+mn-lt"/>
                        <a:ea typeface="MS Mincho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kumimoji="0" lang="en-US" sz="2400" kern="1200" dirty="0" smtClean="0">
                          <a:solidFill>
                            <a:schemeClr val="tx1"/>
                          </a:solidFill>
                          <a:latin typeface="+mn-lt"/>
                          <a:ea typeface="MS Mincho"/>
                          <a:cs typeface="+mn-cs"/>
                        </a:rPr>
                        <a:t>{</a:t>
                      </a:r>
                      <a:r>
                        <a:rPr lang="en-US" sz="2400" dirty="0" smtClean="0">
                          <a:latin typeface="+mn-lt"/>
                          <a:ea typeface="MS Mincho"/>
                        </a:rPr>
                        <a:t>v</a:t>
                      </a:r>
                      <a:r>
                        <a:rPr lang="en-US" sz="2400" baseline="-25000" dirty="0" smtClean="0">
                          <a:latin typeface="+mn-lt"/>
                          <a:ea typeface="MS Mincho"/>
                        </a:rPr>
                        <a:t>2</a:t>
                      </a:r>
                      <a:r>
                        <a:rPr kumimoji="0" lang="en-US" sz="2400" kern="1200" dirty="0" smtClean="0">
                          <a:solidFill>
                            <a:schemeClr val="tx1"/>
                          </a:solidFill>
                          <a:latin typeface="+mn-lt"/>
                          <a:ea typeface="MS Mincho"/>
                          <a:cs typeface="+mn-cs"/>
                        </a:rPr>
                        <a:t>,</a:t>
                      </a:r>
                      <a:r>
                        <a:rPr lang="en-US" sz="2400" dirty="0" smtClean="0">
                          <a:latin typeface="+mn-lt"/>
                          <a:ea typeface="MS Mincho"/>
                        </a:rPr>
                        <a:t> v</a:t>
                      </a:r>
                      <a:r>
                        <a:rPr lang="en-US" sz="2400" baseline="-25000" dirty="0" smtClean="0">
                          <a:latin typeface="+mn-lt"/>
                          <a:ea typeface="MS Mincho"/>
                        </a:rPr>
                        <a:t>3</a:t>
                      </a:r>
                      <a:r>
                        <a:rPr kumimoji="0" lang="en-US" sz="2400" kern="1200" dirty="0" smtClean="0">
                          <a:solidFill>
                            <a:schemeClr val="tx1"/>
                          </a:solidFill>
                          <a:latin typeface="+mn-lt"/>
                          <a:ea typeface="MS Mincho"/>
                          <a:cs typeface="+mn-cs"/>
                        </a:rPr>
                        <a:t>}</a:t>
                      </a:r>
                      <a:endParaRPr kumimoji="0" lang="en-US" sz="2400" kern="1200" dirty="0">
                        <a:solidFill>
                          <a:schemeClr val="tx1"/>
                        </a:solidFill>
                        <a:latin typeface="+mn-lt"/>
                        <a:ea typeface="MS Mincho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31993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 smtClean="0">
                          <a:latin typeface="+mn-lt"/>
                          <a:ea typeface="MS Mincho"/>
                        </a:rPr>
                        <a:t>e</a:t>
                      </a:r>
                      <a:r>
                        <a:rPr kumimoji="0" lang="en-US" sz="2400" kern="1200" baseline="-25000" dirty="0" smtClean="0">
                          <a:solidFill>
                            <a:schemeClr val="tx1"/>
                          </a:solidFill>
                          <a:latin typeface="+mn-lt"/>
                          <a:ea typeface="MS Mincho"/>
                          <a:cs typeface="+mn-cs"/>
                        </a:rPr>
                        <a:t>4</a:t>
                      </a:r>
                      <a:endParaRPr lang="en-US" sz="2400" dirty="0" smtClean="0">
                        <a:latin typeface="+mn-lt"/>
                        <a:ea typeface="MS Mincho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kumimoji="0" lang="en-US" sz="2400" kern="1200" dirty="0" smtClean="0">
                          <a:solidFill>
                            <a:schemeClr val="tx1"/>
                          </a:solidFill>
                          <a:latin typeface="+mn-lt"/>
                          <a:ea typeface="MS Mincho"/>
                          <a:cs typeface="+mn-cs"/>
                        </a:rPr>
                        <a:t>{</a:t>
                      </a:r>
                      <a:r>
                        <a:rPr lang="en-US" sz="2400" dirty="0" smtClean="0">
                          <a:latin typeface="+mn-lt"/>
                          <a:ea typeface="MS Mincho"/>
                        </a:rPr>
                        <a:t>v</a:t>
                      </a:r>
                      <a:r>
                        <a:rPr lang="en-US" sz="2400" baseline="-25000" dirty="0" smtClean="0">
                          <a:latin typeface="+mn-lt"/>
                          <a:ea typeface="MS Mincho"/>
                        </a:rPr>
                        <a:t>1</a:t>
                      </a:r>
                      <a:r>
                        <a:rPr kumimoji="0" lang="en-US" sz="2400" kern="1200" dirty="0" smtClean="0">
                          <a:solidFill>
                            <a:schemeClr val="tx1"/>
                          </a:solidFill>
                          <a:latin typeface="+mn-lt"/>
                          <a:ea typeface="MS Mincho"/>
                          <a:cs typeface="+mn-cs"/>
                        </a:rPr>
                        <a:t>,</a:t>
                      </a:r>
                      <a:r>
                        <a:rPr lang="en-US" sz="2400" dirty="0" smtClean="0">
                          <a:latin typeface="+mn-lt"/>
                          <a:ea typeface="MS Mincho"/>
                        </a:rPr>
                        <a:t> v</a:t>
                      </a:r>
                      <a:r>
                        <a:rPr lang="en-US" sz="2400" baseline="-25000" dirty="0" smtClean="0">
                          <a:latin typeface="+mn-lt"/>
                          <a:ea typeface="MS Mincho"/>
                        </a:rPr>
                        <a:t>5</a:t>
                      </a:r>
                      <a:r>
                        <a:rPr kumimoji="0" lang="en-US" sz="2400" kern="1200" dirty="0" smtClean="0">
                          <a:solidFill>
                            <a:schemeClr val="tx1"/>
                          </a:solidFill>
                          <a:latin typeface="+mn-lt"/>
                          <a:ea typeface="MS Mincho"/>
                          <a:cs typeface="+mn-cs"/>
                        </a:rPr>
                        <a:t>}</a:t>
                      </a:r>
                      <a:endParaRPr kumimoji="0" lang="en-US" sz="2400" kern="1200" dirty="0">
                        <a:solidFill>
                          <a:schemeClr val="tx1"/>
                        </a:solidFill>
                        <a:latin typeface="+mn-lt"/>
                        <a:ea typeface="MS Mincho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u="sng" dirty="0" smtClean="0">
                <a:solidFill>
                  <a:srgbClr val="0070C0"/>
                </a:solidFill>
              </a:rPr>
              <a:t>EXERCISE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19944-04AC-4CD8-BA69-63C2A678C21A}" type="slidenum">
              <a:rPr lang="en-US" smtClean="0"/>
              <a:pPr/>
              <a:t>15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Given </a:t>
            </a:r>
            <a:r>
              <a:rPr lang="en-US" dirty="0" smtClean="0">
                <a:solidFill>
                  <a:srgbClr val="FF0000"/>
                </a:solidFill>
              </a:rPr>
              <a:t>V(H)</a:t>
            </a:r>
            <a:r>
              <a:rPr lang="en-US" dirty="0" smtClean="0"/>
              <a:t> = {v</a:t>
            </a:r>
            <a:r>
              <a:rPr lang="en-US" baseline="-25000" dirty="0" smtClean="0"/>
              <a:t>1</a:t>
            </a:r>
            <a:r>
              <a:rPr lang="en-US" dirty="0" smtClean="0"/>
              <a:t>, v</a:t>
            </a:r>
            <a:r>
              <a:rPr lang="en-US" baseline="-25000" dirty="0" smtClean="0"/>
              <a:t>2</a:t>
            </a:r>
            <a:r>
              <a:rPr lang="en-US" dirty="0" smtClean="0"/>
              <a:t>, v</a:t>
            </a:r>
            <a:r>
              <a:rPr lang="en-US" baseline="-25000" dirty="0" smtClean="0"/>
              <a:t>3</a:t>
            </a:r>
            <a:r>
              <a:rPr lang="en-US" dirty="0" smtClean="0"/>
              <a:t>, v</a:t>
            </a:r>
            <a:r>
              <a:rPr lang="en-US" baseline="-25000" dirty="0" smtClean="0"/>
              <a:t>4</a:t>
            </a:r>
            <a:r>
              <a:rPr lang="en-US" dirty="0" smtClean="0"/>
              <a:t>, v</a:t>
            </a:r>
            <a:r>
              <a:rPr lang="en-US" baseline="-25000" dirty="0" smtClean="0"/>
              <a:t>5</a:t>
            </a:r>
            <a:r>
              <a:rPr lang="en-US" dirty="0" smtClean="0"/>
              <a:t>} and</a:t>
            </a:r>
          </a:p>
          <a:p>
            <a:pPr>
              <a:buNone/>
            </a:pPr>
            <a:r>
              <a:rPr lang="en-US" dirty="0" smtClean="0"/>
              <a:t>		  </a:t>
            </a:r>
            <a:r>
              <a:rPr lang="en-US" dirty="0" smtClean="0">
                <a:solidFill>
                  <a:srgbClr val="FF0000"/>
                </a:solidFill>
              </a:rPr>
              <a:t>E(H)</a:t>
            </a:r>
            <a:r>
              <a:rPr lang="en-US" dirty="0" smtClean="0"/>
              <a:t> = {e</a:t>
            </a:r>
            <a:r>
              <a:rPr lang="en-US" baseline="-25000" dirty="0" smtClean="0"/>
              <a:t>1</a:t>
            </a:r>
            <a:r>
              <a:rPr lang="en-US" dirty="0" smtClean="0"/>
              <a:t>, e</a:t>
            </a:r>
            <a:r>
              <a:rPr lang="en-US" baseline="-25000" dirty="0" smtClean="0"/>
              <a:t>2</a:t>
            </a:r>
            <a:r>
              <a:rPr lang="en-US" dirty="0" smtClean="0"/>
              <a:t>, e</a:t>
            </a:r>
            <a:r>
              <a:rPr lang="en-US" baseline="-25000" dirty="0" smtClean="0"/>
              <a:t>3</a:t>
            </a:r>
            <a:r>
              <a:rPr lang="en-US" dirty="0" smtClean="0"/>
              <a:t>, e</a:t>
            </a:r>
            <a:r>
              <a:rPr lang="en-US" baseline="-25000" dirty="0" smtClean="0"/>
              <a:t>4</a:t>
            </a:r>
            <a:r>
              <a:rPr lang="en-US" dirty="0" smtClean="0"/>
              <a:t>}</a:t>
            </a:r>
          </a:p>
          <a:p>
            <a:pPr>
              <a:buNone/>
            </a:pPr>
            <a:r>
              <a:rPr lang="en-US" dirty="0" smtClean="0"/>
              <a:t>		  with edge </a:t>
            </a:r>
            <a:r>
              <a:rPr lang="en-US" dirty="0" smtClean="0">
                <a:solidFill>
                  <a:srgbClr val="FF0000"/>
                </a:solidFill>
              </a:rPr>
              <a:t>endpoint function</a:t>
            </a:r>
            <a:r>
              <a:rPr lang="en-US" dirty="0" smtClean="0"/>
              <a:t> </a:t>
            </a:r>
          </a:p>
          <a:p>
            <a:endParaRPr lang="pt-BR" dirty="0" smtClean="0"/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endParaRPr lang="en-US" dirty="0" smtClean="0"/>
          </a:p>
          <a:p>
            <a:endParaRPr lang="en-US" dirty="0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371600" y="3048000"/>
          <a:ext cx="2602230" cy="1963102"/>
        </p:xfrm>
        <a:graphic>
          <a:graphicData uri="http://schemas.openxmlformats.org/drawingml/2006/table">
            <a:tbl>
              <a:tblPr/>
              <a:tblGrid>
                <a:gridCol w="129917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30306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500062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kumimoji="0" lang="en-US" sz="24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Times New Roman" pitchFamily="18" charset="0"/>
                          <a:sym typeface="Symbol" pitchFamily="18" charset="2"/>
                        </a:rPr>
                        <a:t>Edge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kumimoji="0" lang="en-US" sz="24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Times New Roman" pitchFamily="18" charset="0"/>
                          <a:sym typeface="Symbol" pitchFamily="18" charset="2"/>
                        </a:rPr>
                        <a:t>Endpoint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31993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 smtClean="0">
                          <a:latin typeface="+mn-lt"/>
                          <a:ea typeface="MS Mincho"/>
                        </a:rPr>
                        <a:t>e</a:t>
                      </a:r>
                      <a:r>
                        <a:rPr lang="en-US" sz="2400" baseline="-25000" dirty="0" smtClean="0">
                          <a:latin typeface="+mn-lt"/>
                          <a:ea typeface="MS Mincho"/>
                        </a:rPr>
                        <a:t>1</a:t>
                      </a:r>
                      <a:endParaRPr lang="en-US" sz="2400" dirty="0" smtClean="0">
                        <a:latin typeface="+mn-lt"/>
                        <a:ea typeface="MS Mincho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400" kern="1200" dirty="0" smtClean="0">
                          <a:solidFill>
                            <a:schemeClr val="tx1"/>
                          </a:solidFill>
                          <a:latin typeface="+mn-lt"/>
                          <a:ea typeface="MS Mincho"/>
                          <a:cs typeface="+mn-cs"/>
                        </a:rPr>
                        <a:t>{</a:t>
                      </a:r>
                      <a:r>
                        <a:rPr lang="en-US" sz="2400" dirty="0" smtClean="0">
                          <a:latin typeface="+mn-lt"/>
                          <a:ea typeface="MS Mincho"/>
                        </a:rPr>
                        <a:t>v</a:t>
                      </a:r>
                      <a:r>
                        <a:rPr lang="en-US" sz="2400" baseline="-25000" dirty="0" smtClean="0">
                          <a:latin typeface="+mn-lt"/>
                          <a:ea typeface="MS Mincho"/>
                        </a:rPr>
                        <a:t>1</a:t>
                      </a:r>
                      <a:r>
                        <a:rPr kumimoji="0" lang="en-US" sz="2400" kern="1200" dirty="0" smtClean="0">
                          <a:solidFill>
                            <a:schemeClr val="tx1"/>
                          </a:solidFill>
                          <a:latin typeface="+mn-lt"/>
                          <a:ea typeface="MS Mincho"/>
                          <a:cs typeface="+mn-cs"/>
                        </a:rPr>
                        <a:t>}</a:t>
                      </a:r>
                      <a:endParaRPr kumimoji="0" lang="en-US" sz="2400" kern="1200" dirty="0">
                        <a:solidFill>
                          <a:schemeClr val="tx1"/>
                        </a:solidFill>
                        <a:latin typeface="+mn-lt"/>
                        <a:ea typeface="MS Mincho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31993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 smtClean="0">
                          <a:latin typeface="+mn-lt"/>
                          <a:ea typeface="MS Mincho"/>
                        </a:rPr>
                        <a:t>e</a:t>
                      </a:r>
                      <a:r>
                        <a:rPr kumimoji="0" lang="en-US" sz="2400" kern="1200" baseline="-25000" dirty="0" smtClean="0">
                          <a:solidFill>
                            <a:schemeClr val="tx1"/>
                          </a:solidFill>
                          <a:latin typeface="+mn-lt"/>
                          <a:ea typeface="MS Mincho"/>
                          <a:cs typeface="+mn-cs"/>
                        </a:rPr>
                        <a:t>2</a:t>
                      </a:r>
                      <a:endParaRPr lang="en-US" sz="2400" dirty="0" smtClean="0">
                        <a:latin typeface="+mn-lt"/>
                        <a:ea typeface="MS Mincho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kumimoji="0" lang="en-US" sz="2400" kern="1200" dirty="0" smtClean="0">
                          <a:solidFill>
                            <a:schemeClr val="tx1"/>
                          </a:solidFill>
                          <a:latin typeface="+mn-lt"/>
                          <a:ea typeface="MS Mincho"/>
                          <a:cs typeface="+mn-cs"/>
                        </a:rPr>
                        <a:t>{</a:t>
                      </a:r>
                      <a:r>
                        <a:rPr lang="en-US" sz="2400" dirty="0" smtClean="0">
                          <a:latin typeface="+mn-lt"/>
                          <a:ea typeface="MS Mincho"/>
                        </a:rPr>
                        <a:t>v</a:t>
                      </a:r>
                      <a:r>
                        <a:rPr lang="en-US" sz="2400" baseline="-25000" dirty="0" smtClean="0">
                          <a:latin typeface="+mn-lt"/>
                          <a:ea typeface="MS Mincho"/>
                        </a:rPr>
                        <a:t>2</a:t>
                      </a:r>
                      <a:r>
                        <a:rPr kumimoji="0" lang="en-US" sz="2400" kern="1200" dirty="0" smtClean="0">
                          <a:solidFill>
                            <a:schemeClr val="tx1"/>
                          </a:solidFill>
                          <a:latin typeface="+mn-lt"/>
                          <a:ea typeface="MS Mincho"/>
                          <a:cs typeface="+mn-cs"/>
                        </a:rPr>
                        <a:t>,</a:t>
                      </a:r>
                      <a:r>
                        <a:rPr lang="en-US" sz="2400" dirty="0" smtClean="0">
                          <a:latin typeface="+mn-lt"/>
                          <a:ea typeface="MS Mincho"/>
                        </a:rPr>
                        <a:t> v</a:t>
                      </a:r>
                      <a:r>
                        <a:rPr lang="en-US" sz="2400" baseline="-25000" dirty="0" smtClean="0">
                          <a:latin typeface="+mn-lt"/>
                          <a:ea typeface="MS Mincho"/>
                        </a:rPr>
                        <a:t>3</a:t>
                      </a:r>
                      <a:r>
                        <a:rPr kumimoji="0" lang="en-US" sz="2400" kern="1200" dirty="0" smtClean="0">
                          <a:solidFill>
                            <a:schemeClr val="tx1"/>
                          </a:solidFill>
                          <a:latin typeface="+mn-lt"/>
                          <a:ea typeface="MS Mincho"/>
                          <a:cs typeface="+mn-cs"/>
                        </a:rPr>
                        <a:t>}</a:t>
                      </a:r>
                      <a:endParaRPr kumimoji="0" lang="en-US" sz="2400" kern="1200" dirty="0">
                        <a:solidFill>
                          <a:schemeClr val="tx1"/>
                        </a:solidFill>
                        <a:latin typeface="+mn-lt"/>
                        <a:ea typeface="MS Mincho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31993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 smtClean="0">
                          <a:latin typeface="+mn-lt"/>
                          <a:ea typeface="MS Mincho"/>
                        </a:rPr>
                        <a:t>e</a:t>
                      </a:r>
                      <a:r>
                        <a:rPr kumimoji="0" lang="en-US" sz="2400" kern="1200" baseline="-25000" dirty="0" smtClean="0">
                          <a:solidFill>
                            <a:schemeClr val="tx1"/>
                          </a:solidFill>
                          <a:latin typeface="+mn-lt"/>
                          <a:ea typeface="MS Mincho"/>
                          <a:cs typeface="+mn-cs"/>
                        </a:rPr>
                        <a:t>3</a:t>
                      </a:r>
                      <a:endParaRPr lang="en-US" sz="2400" dirty="0" smtClean="0">
                        <a:latin typeface="+mn-lt"/>
                        <a:ea typeface="MS Mincho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kumimoji="0" lang="en-US" sz="2400" kern="1200" dirty="0" smtClean="0">
                          <a:solidFill>
                            <a:schemeClr val="tx1"/>
                          </a:solidFill>
                          <a:latin typeface="+mn-lt"/>
                          <a:ea typeface="MS Mincho"/>
                          <a:cs typeface="+mn-cs"/>
                        </a:rPr>
                        <a:t>{</a:t>
                      </a:r>
                      <a:r>
                        <a:rPr lang="en-US" sz="2400" dirty="0" smtClean="0">
                          <a:latin typeface="+mn-lt"/>
                          <a:ea typeface="MS Mincho"/>
                        </a:rPr>
                        <a:t>v</a:t>
                      </a:r>
                      <a:r>
                        <a:rPr lang="en-US" sz="2400" baseline="-25000" dirty="0" smtClean="0">
                          <a:latin typeface="+mn-lt"/>
                          <a:ea typeface="MS Mincho"/>
                        </a:rPr>
                        <a:t>2</a:t>
                      </a:r>
                      <a:r>
                        <a:rPr kumimoji="0" lang="en-US" sz="2400" kern="1200" dirty="0" smtClean="0">
                          <a:solidFill>
                            <a:schemeClr val="tx1"/>
                          </a:solidFill>
                          <a:latin typeface="+mn-lt"/>
                          <a:ea typeface="MS Mincho"/>
                          <a:cs typeface="+mn-cs"/>
                        </a:rPr>
                        <a:t>,</a:t>
                      </a:r>
                      <a:r>
                        <a:rPr lang="en-US" sz="2400" dirty="0" smtClean="0">
                          <a:latin typeface="+mn-lt"/>
                          <a:ea typeface="MS Mincho"/>
                        </a:rPr>
                        <a:t> v</a:t>
                      </a:r>
                      <a:r>
                        <a:rPr lang="en-US" sz="2400" baseline="-25000" dirty="0" smtClean="0">
                          <a:latin typeface="+mn-lt"/>
                          <a:ea typeface="MS Mincho"/>
                        </a:rPr>
                        <a:t>3</a:t>
                      </a:r>
                      <a:r>
                        <a:rPr kumimoji="0" lang="en-US" sz="2400" kern="1200" dirty="0" smtClean="0">
                          <a:solidFill>
                            <a:schemeClr val="tx1"/>
                          </a:solidFill>
                          <a:latin typeface="+mn-lt"/>
                          <a:ea typeface="MS Mincho"/>
                          <a:cs typeface="+mn-cs"/>
                        </a:rPr>
                        <a:t>}</a:t>
                      </a:r>
                      <a:endParaRPr kumimoji="0" lang="en-US" sz="2400" kern="1200" dirty="0">
                        <a:solidFill>
                          <a:schemeClr val="tx1"/>
                        </a:solidFill>
                        <a:latin typeface="+mn-lt"/>
                        <a:ea typeface="MS Mincho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31993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 smtClean="0">
                          <a:latin typeface="+mn-lt"/>
                          <a:ea typeface="MS Mincho"/>
                        </a:rPr>
                        <a:t>e</a:t>
                      </a:r>
                      <a:r>
                        <a:rPr kumimoji="0" lang="en-US" sz="2400" kern="1200" baseline="-25000" dirty="0" smtClean="0">
                          <a:solidFill>
                            <a:schemeClr val="tx1"/>
                          </a:solidFill>
                          <a:latin typeface="+mn-lt"/>
                          <a:ea typeface="MS Mincho"/>
                          <a:cs typeface="+mn-cs"/>
                        </a:rPr>
                        <a:t>4</a:t>
                      </a:r>
                      <a:endParaRPr lang="en-US" sz="2400" dirty="0" smtClean="0">
                        <a:latin typeface="+mn-lt"/>
                        <a:ea typeface="MS Mincho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kumimoji="0" lang="en-US" sz="2400" kern="1200" dirty="0" smtClean="0">
                          <a:solidFill>
                            <a:schemeClr val="tx1"/>
                          </a:solidFill>
                          <a:latin typeface="+mn-lt"/>
                          <a:ea typeface="MS Mincho"/>
                          <a:cs typeface="+mn-cs"/>
                        </a:rPr>
                        <a:t>{</a:t>
                      </a:r>
                      <a:r>
                        <a:rPr lang="en-US" sz="2400" dirty="0" smtClean="0">
                          <a:latin typeface="+mn-lt"/>
                          <a:ea typeface="MS Mincho"/>
                        </a:rPr>
                        <a:t>v</a:t>
                      </a:r>
                      <a:r>
                        <a:rPr lang="en-US" sz="2400" baseline="-25000" dirty="0" smtClean="0">
                          <a:latin typeface="+mn-lt"/>
                          <a:ea typeface="MS Mincho"/>
                        </a:rPr>
                        <a:t>1</a:t>
                      </a:r>
                      <a:r>
                        <a:rPr kumimoji="0" lang="en-US" sz="2400" kern="1200" dirty="0" smtClean="0">
                          <a:solidFill>
                            <a:schemeClr val="tx1"/>
                          </a:solidFill>
                          <a:latin typeface="+mn-lt"/>
                          <a:ea typeface="MS Mincho"/>
                          <a:cs typeface="+mn-cs"/>
                        </a:rPr>
                        <a:t>,</a:t>
                      </a:r>
                      <a:r>
                        <a:rPr lang="en-US" sz="2400" dirty="0" smtClean="0">
                          <a:latin typeface="+mn-lt"/>
                          <a:ea typeface="MS Mincho"/>
                        </a:rPr>
                        <a:t> v</a:t>
                      </a:r>
                      <a:r>
                        <a:rPr lang="en-US" sz="2400" baseline="-25000" dirty="0" smtClean="0">
                          <a:latin typeface="+mn-lt"/>
                          <a:ea typeface="MS Mincho"/>
                        </a:rPr>
                        <a:t>5</a:t>
                      </a:r>
                      <a:r>
                        <a:rPr kumimoji="0" lang="en-US" sz="2400" kern="1200" dirty="0" smtClean="0">
                          <a:solidFill>
                            <a:schemeClr val="tx1"/>
                          </a:solidFill>
                          <a:latin typeface="+mn-lt"/>
                          <a:ea typeface="MS Mincho"/>
                          <a:cs typeface="+mn-cs"/>
                        </a:rPr>
                        <a:t>}</a:t>
                      </a:r>
                      <a:endParaRPr kumimoji="0" lang="en-US" sz="2400" kern="1200" dirty="0">
                        <a:solidFill>
                          <a:schemeClr val="tx1"/>
                        </a:solidFill>
                        <a:latin typeface="+mn-lt"/>
                        <a:ea typeface="MS Mincho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</a:tbl>
          </a:graphicData>
        </a:graphic>
      </p:graphicFrame>
      <p:pic>
        <p:nvPicPr>
          <p:cNvPr id="19" name="Picture 18"/>
          <p:cNvPicPr/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648200" y="2286000"/>
            <a:ext cx="3810000" cy="3672840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u="sng" dirty="0" smtClean="0">
                <a:solidFill>
                  <a:srgbClr val="0070C0"/>
                </a:solidFill>
              </a:rPr>
              <a:t>SIMPLE GRAPH</a:t>
            </a:r>
            <a:endParaRPr lang="en-US" b="1" u="sng" dirty="0">
              <a:solidFill>
                <a:srgbClr val="0070C0"/>
              </a:solidFill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19944-04AC-4CD8-BA69-63C2A678C21A}" type="slidenum">
              <a:rPr lang="en-US" smtClean="0"/>
              <a:pPr/>
              <a:t>16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5181600"/>
          </a:xfrm>
        </p:spPr>
        <p:txBody>
          <a:bodyPr>
            <a:normAutofit/>
          </a:bodyPr>
          <a:lstStyle/>
          <a:p>
            <a:r>
              <a:rPr lang="en-US" dirty="0" smtClean="0"/>
              <a:t>A </a:t>
            </a:r>
            <a:r>
              <a:rPr lang="en-US" dirty="0" smtClean="0">
                <a:solidFill>
                  <a:srgbClr val="FF0000"/>
                </a:solidFill>
              </a:rPr>
              <a:t>simple graph</a:t>
            </a:r>
            <a:r>
              <a:rPr lang="en-US" dirty="0" smtClean="0"/>
              <a:t> is a </a:t>
            </a:r>
            <a:r>
              <a:rPr lang="en-US" dirty="0" smtClean="0">
                <a:solidFill>
                  <a:srgbClr val="FF0000"/>
                </a:solidFill>
              </a:rPr>
              <a:t>graph</a:t>
            </a:r>
            <a:r>
              <a:rPr lang="en-US" dirty="0" smtClean="0"/>
              <a:t> that </a:t>
            </a:r>
            <a:r>
              <a:rPr lang="en-US" dirty="0" smtClean="0">
                <a:solidFill>
                  <a:srgbClr val="FF0000"/>
                </a:solidFill>
              </a:rPr>
              <a:t>does not</a:t>
            </a:r>
            <a:r>
              <a:rPr lang="en-US" dirty="0" smtClean="0"/>
              <a:t> have any </a:t>
            </a:r>
            <a:r>
              <a:rPr lang="en-US" dirty="0" smtClean="0">
                <a:solidFill>
                  <a:srgbClr val="FF0000"/>
                </a:solidFill>
              </a:rPr>
              <a:t>loop</a:t>
            </a:r>
            <a:r>
              <a:rPr lang="en-US" dirty="0" smtClean="0"/>
              <a:t> or </a:t>
            </a:r>
            <a:r>
              <a:rPr lang="en-US" dirty="0" smtClean="0">
                <a:solidFill>
                  <a:srgbClr val="FF0000"/>
                </a:solidFill>
              </a:rPr>
              <a:t>parallel edges</a:t>
            </a:r>
            <a:r>
              <a:rPr lang="en-US" dirty="0" smtClean="0"/>
              <a:t>.</a:t>
            </a:r>
          </a:p>
          <a:p>
            <a:endParaRPr lang="en-US" dirty="0" smtClean="0"/>
          </a:p>
          <a:p>
            <a:r>
              <a:rPr lang="en-US" b="1" u="sng" dirty="0" smtClean="0">
                <a:solidFill>
                  <a:srgbClr val="0070C0"/>
                </a:solidFill>
              </a:rPr>
              <a:t>Example:</a:t>
            </a:r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r>
              <a:rPr lang="en-US" dirty="0" smtClean="0"/>
              <a:t>It is a </a:t>
            </a:r>
            <a:r>
              <a:rPr lang="en-US" dirty="0" smtClean="0">
                <a:solidFill>
                  <a:srgbClr val="FF0000"/>
                </a:solidFill>
              </a:rPr>
              <a:t>simple graph H</a:t>
            </a:r>
          </a:p>
          <a:p>
            <a:pPr>
              <a:buNone/>
            </a:pPr>
            <a:r>
              <a:rPr lang="pt-BR" dirty="0" smtClean="0"/>
              <a:t>	</a:t>
            </a:r>
            <a:r>
              <a:rPr lang="pt-BR" dirty="0" smtClean="0">
                <a:solidFill>
                  <a:srgbClr val="FF0000"/>
                </a:solidFill>
              </a:rPr>
              <a:t>V(H)</a:t>
            </a:r>
            <a:r>
              <a:rPr lang="pt-BR" dirty="0" smtClean="0"/>
              <a:t> = {v</a:t>
            </a:r>
            <a:r>
              <a:rPr lang="pt-BR" baseline="-25000" dirty="0" smtClean="0"/>
              <a:t>1</a:t>
            </a:r>
            <a:r>
              <a:rPr lang="pt-BR" dirty="0" smtClean="0"/>
              <a:t>, v</a:t>
            </a:r>
            <a:r>
              <a:rPr lang="pt-BR" baseline="-25000" dirty="0" smtClean="0"/>
              <a:t>2</a:t>
            </a:r>
            <a:r>
              <a:rPr lang="pt-BR" dirty="0" smtClean="0"/>
              <a:t>, v</a:t>
            </a:r>
            <a:r>
              <a:rPr lang="pt-BR" baseline="-25000" dirty="0" smtClean="0"/>
              <a:t>3</a:t>
            </a:r>
            <a:r>
              <a:rPr lang="pt-BR" dirty="0" smtClean="0"/>
              <a:t>, v</a:t>
            </a:r>
            <a:r>
              <a:rPr lang="pt-BR" baseline="-25000" dirty="0" smtClean="0"/>
              <a:t>4</a:t>
            </a:r>
            <a:r>
              <a:rPr lang="pt-BR" dirty="0" smtClean="0"/>
              <a:t>, v</a:t>
            </a:r>
            <a:r>
              <a:rPr lang="pt-BR" baseline="-25000" dirty="0" smtClean="0"/>
              <a:t>5</a:t>
            </a:r>
            <a:r>
              <a:rPr lang="pt-BR" dirty="0" smtClean="0"/>
              <a:t>}  &amp;  </a:t>
            </a:r>
            <a:r>
              <a:rPr lang="pt-BR" dirty="0" smtClean="0">
                <a:solidFill>
                  <a:srgbClr val="FF0000"/>
                </a:solidFill>
              </a:rPr>
              <a:t>E(H)</a:t>
            </a:r>
            <a:r>
              <a:rPr lang="pt-BR" dirty="0" smtClean="0"/>
              <a:t> = {e</a:t>
            </a:r>
            <a:r>
              <a:rPr lang="pt-BR" baseline="-25000" dirty="0" smtClean="0"/>
              <a:t>1</a:t>
            </a:r>
            <a:r>
              <a:rPr lang="pt-BR" dirty="0" smtClean="0"/>
              <a:t>, e</a:t>
            </a:r>
            <a:r>
              <a:rPr lang="pt-BR" baseline="-25000" dirty="0" smtClean="0"/>
              <a:t>2</a:t>
            </a:r>
            <a:r>
              <a:rPr lang="pt-BR" dirty="0" smtClean="0"/>
              <a:t>, e</a:t>
            </a:r>
            <a:r>
              <a:rPr lang="pt-BR" baseline="-25000" dirty="0" smtClean="0"/>
              <a:t>3</a:t>
            </a:r>
            <a:r>
              <a:rPr lang="pt-BR" dirty="0" smtClean="0"/>
              <a:t>, e</a:t>
            </a:r>
            <a:r>
              <a:rPr lang="pt-BR" baseline="-25000" dirty="0" smtClean="0"/>
              <a:t>4</a:t>
            </a:r>
            <a:r>
              <a:rPr lang="pt-BR" dirty="0" smtClean="0"/>
              <a:t>}</a:t>
            </a:r>
            <a:endParaRPr lang="en-US" dirty="0" smtClean="0"/>
          </a:p>
          <a:p>
            <a:endParaRPr lang="en-US" dirty="0" smtClean="0"/>
          </a:p>
          <a:p>
            <a:endParaRPr lang="en-US" dirty="0"/>
          </a:p>
        </p:txBody>
      </p:sp>
      <p:pic>
        <p:nvPicPr>
          <p:cNvPr id="5" name="Picture 4"/>
          <p:cNvPicPr/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200400" y="2514600"/>
            <a:ext cx="3931920" cy="26517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u="sng" dirty="0" smtClean="0">
                <a:solidFill>
                  <a:srgbClr val="0070C0"/>
                </a:solidFill>
              </a:rPr>
              <a:t>EXERCISE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19944-04AC-4CD8-BA69-63C2A678C21A}" type="slidenum">
              <a:rPr lang="en-US" smtClean="0"/>
              <a:pPr/>
              <a:t>17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5105400"/>
          </a:xfrm>
        </p:spPr>
        <p:txBody>
          <a:bodyPr>
            <a:normAutofit/>
          </a:bodyPr>
          <a:lstStyle/>
          <a:p>
            <a:r>
              <a:rPr lang="en-US" dirty="0" smtClean="0"/>
              <a:t>Draw all </a:t>
            </a:r>
            <a:r>
              <a:rPr lang="en-US" dirty="0" smtClean="0">
                <a:solidFill>
                  <a:srgbClr val="FF0000"/>
                </a:solidFill>
              </a:rPr>
              <a:t>simple graphs</a:t>
            </a:r>
            <a:r>
              <a:rPr lang="en-US" dirty="0" smtClean="0"/>
              <a:t> with the four vertices </a:t>
            </a:r>
            <a:r>
              <a:rPr lang="en-US" dirty="0" smtClean="0">
                <a:solidFill>
                  <a:srgbClr val="FF0000"/>
                </a:solidFill>
              </a:rPr>
              <a:t>{u, v, w, x}</a:t>
            </a:r>
            <a:r>
              <a:rPr lang="en-US" dirty="0" smtClean="0"/>
              <a:t> and two edges, one of which is </a:t>
            </a:r>
            <a:r>
              <a:rPr lang="en-US" dirty="0" smtClean="0">
                <a:solidFill>
                  <a:srgbClr val="FF0000"/>
                </a:solidFill>
              </a:rPr>
              <a:t>{u, v}</a:t>
            </a:r>
            <a:r>
              <a:rPr lang="en-US" dirty="0" smtClean="0"/>
              <a:t>.</a:t>
            </a:r>
          </a:p>
          <a:p>
            <a:endParaRPr lang="en-US" dirty="0" smtClean="0"/>
          </a:p>
          <a:p>
            <a:r>
              <a:rPr lang="en-US" b="1" u="sng" dirty="0" smtClean="0">
                <a:solidFill>
                  <a:srgbClr val="0070C0"/>
                </a:solidFill>
                <a:latin typeface="+mj-lt"/>
                <a:ea typeface="+mj-ea"/>
                <a:cs typeface="+mj-cs"/>
              </a:rPr>
              <a:t>Solution:</a:t>
            </a:r>
          </a:p>
          <a:p>
            <a:pPr>
              <a:buNone/>
            </a:pPr>
            <a:r>
              <a:rPr lang="en-US" dirty="0" smtClean="0"/>
              <a:t>	We are given four vertices </a:t>
            </a:r>
            <a:r>
              <a:rPr lang="en-US" dirty="0" smtClean="0">
                <a:solidFill>
                  <a:srgbClr val="FF0000"/>
                </a:solidFill>
              </a:rPr>
              <a:t>{u, v, w, x}</a:t>
            </a:r>
            <a:r>
              <a:rPr lang="en-US" dirty="0" smtClean="0"/>
              <a:t> and one edge</a:t>
            </a:r>
          </a:p>
          <a:p>
            <a:pPr>
              <a:buNone/>
            </a:pPr>
            <a:r>
              <a:rPr lang="en-US" dirty="0" smtClean="0"/>
              <a:t>	 is </a:t>
            </a:r>
            <a:r>
              <a:rPr lang="en-US" dirty="0" smtClean="0">
                <a:solidFill>
                  <a:srgbClr val="FF0000"/>
                </a:solidFill>
              </a:rPr>
              <a:t>{u, v}</a:t>
            </a:r>
            <a:r>
              <a:rPr lang="en-US" dirty="0" smtClean="0"/>
              <a:t>.</a:t>
            </a:r>
          </a:p>
          <a:p>
            <a:endParaRPr lang="en-US" b="1" u="sng" dirty="0" smtClean="0">
              <a:solidFill>
                <a:srgbClr val="0070C0"/>
              </a:solidFill>
              <a:latin typeface="+mj-lt"/>
              <a:ea typeface="+mj-ea"/>
              <a:cs typeface="+mj-cs"/>
            </a:endParaRPr>
          </a:p>
          <a:p>
            <a:pPr>
              <a:buNone/>
            </a:pPr>
            <a:r>
              <a:rPr lang="en-US" dirty="0" smtClean="0"/>
              <a:t>	Since we are interested in </a:t>
            </a:r>
            <a:r>
              <a:rPr lang="en-US" dirty="0" smtClean="0">
                <a:solidFill>
                  <a:srgbClr val="FF0000"/>
                </a:solidFill>
              </a:rPr>
              <a:t>simple graph</a:t>
            </a:r>
            <a:r>
              <a:rPr lang="en-US" dirty="0" smtClean="0"/>
              <a:t> so we cannot take </a:t>
            </a:r>
            <a:r>
              <a:rPr lang="en-US" dirty="0" smtClean="0">
                <a:solidFill>
                  <a:srgbClr val="FF0000"/>
                </a:solidFill>
              </a:rPr>
              <a:t>{u, v}</a:t>
            </a:r>
            <a:r>
              <a:rPr lang="en-US" dirty="0" smtClean="0"/>
              <a:t> again.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endParaRPr lang="en-US" b="1" u="sng" dirty="0" smtClean="0">
              <a:solidFill>
                <a:srgbClr val="0070C0"/>
              </a:solidFill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19944-04AC-4CD8-BA69-63C2A678C21A}" type="slidenum">
              <a:rPr lang="en-US" smtClean="0"/>
              <a:pPr/>
              <a:t>18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/>
              <a:t>There are </a:t>
            </a:r>
            <a:r>
              <a:rPr lang="en-US" dirty="0" smtClean="0">
                <a:solidFill>
                  <a:srgbClr val="FF0000"/>
                </a:solidFill>
              </a:rPr>
              <a:t>C(4,2) = 6</a:t>
            </a:r>
            <a:r>
              <a:rPr lang="en-US" dirty="0" smtClean="0"/>
              <a:t> ways of choosing two vertices from 4 vertices. </a:t>
            </a:r>
          </a:p>
          <a:p>
            <a:endParaRPr lang="en-US" dirty="0" smtClean="0"/>
          </a:p>
          <a:p>
            <a:r>
              <a:rPr lang="en-US" dirty="0" smtClean="0"/>
              <a:t>These edges may be listed as:</a:t>
            </a:r>
          </a:p>
          <a:p>
            <a:pPr algn="ctr">
              <a:buNone/>
            </a:pPr>
            <a:r>
              <a:rPr lang="en-US" dirty="0" smtClean="0"/>
              <a:t>	</a:t>
            </a:r>
            <a:r>
              <a:rPr lang="en-US" dirty="0" smtClean="0">
                <a:solidFill>
                  <a:srgbClr val="FF0000"/>
                </a:solidFill>
              </a:rPr>
              <a:t>{u, v}, {u, w}, {u, x}, {v, w}, {v, x}, {w, x}</a:t>
            </a:r>
            <a:endParaRPr lang="en-US" sz="2600" dirty="0" smtClean="0">
              <a:solidFill>
                <a:srgbClr val="FF0000"/>
              </a:solidFill>
            </a:endParaRPr>
          </a:p>
          <a:p>
            <a:endParaRPr lang="en-US" dirty="0" smtClean="0"/>
          </a:p>
          <a:p>
            <a:r>
              <a:rPr lang="en-US" dirty="0" smtClean="0"/>
              <a:t>One edge of the graph is specified to be </a:t>
            </a:r>
            <a:r>
              <a:rPr lang="en-US" dirty="0" smtClean="0">
                <a:solidFill>
                  <a:srgbClr val="FF0000"/>
                </a:solidFill>
              </a:rPr>
              <a:t>{u, v}</a:t>
            </a:r>
            <a:r>
              <a:rPr lang="en-US" dirty="0" smtClean="0"/>
              <a:t>, so any of the remaining </a:t>
            </a:r>
            <a:r>
              <a:rPr lang="en-US" dirty="0" smtClean="0">
                <a:solidFill>
                  <a:srgbClr val="FF0000"/>
                </a:solidFill>
              </a:rPr>
              <a:t>five</a:t>
            </a:r>
            <a:r>
              <a:rPr lang="en-US" dirty="0" smtClean="0"/>
              <a:t> from this list may be chosen to be the second edge. </a:t>
            </a:r>
          </a:p>
          <a:p>
            <a:endParaRPr lang="en-US" dirty="0" smtClean="0"/>
          </a:p>
          <a:p>
            <a:r>
              <a:rPr lang="en-US" dirty="0" smtClean="0"/>
              <a:t>This required </a:t>
            </a:r>
            <a:r>
              <a:rPr lang="en-US" dirty="0" smtClean="0">
                <a:solidFill>
                  <a:srgbClr val="FF0000"/>
                </a:solidFill>
              </a:rPr>
              <a:t>graphs</a:t>
            </a:r>
            <a:r>
              <a:rPr lang="en-US" dirty="0" smtClean="0"/>
              <a:t> are:</a:t>
            </a:r>
          </a:p>
          <a:p>
            <a:pPr>
              <a:buNone/>
            </a:pPr>
            <a:endParaRPr lang="en-US" dirty="0" smtClean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endParaRPr lang="en-US" b="1" u="sng" dirty="0" smtClean="0">
              <a:solidFill>
                <a:srgbClr val="0070C0"/>
              </a:solidFill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19944-04AC-4CD8-BA69-63C2A678C21A}" type="slidenum">
              <a:rPr lang="en-US" smtClean="0"/>
              <a:pPr/>
              <a:t>19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en-US" dirty="0" smtClean="0"/>
          </a:p>
          <a:p>
            <a:pPr>
              <a:buNone/>
            </a:pPr>
            <a:endParaRPr lang="en-US" dirty="0" smtClean="0"/>
          </a:p>
          <a:p>
            <a:endParaRPr lang="en-US" dirty="0"/>
          </a:p>
        </p:txBody>
      </p:sp>
      <p:pic>
        <p:nvPicPr>
          <p:cNvPr id="7" name="Picture 6"/>
          <p:cNvPicPr/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914400" y="1371600"/>
            <a:ext cx="2286000" cy="1676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8" name="Picture 7"/>
          <p:cNvPicPr/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513160" y="1371600"/>
            <a:ext cx="1995488" cy="1905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9" name="Picture 8"/>
          <p:cNvPicPr/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5905500" y="1330656"/>
            <a:ext cx="2324100" cy="17935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" name="Picture 9"/>
          <p:cNvPicPr/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2133600" y="3638550"/>
            <a:ext cx="2362200" cy="1695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1" name="Picture 10"/>
          <p:cNvPicPr/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5029199" y="3520440"/>
            <a:ext cx="1900519" cy="179180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u="sng" dirty="0" smtClean="0">
                <a:solidFill>
                  <a:srgbClr val="0070C0"/>
                </a:solidFill>
              </a:rPr>
              <a:t>DEGREE OF A VERTEX</a:t>
            </a:r>
            <a:endParaRPr lang="en-US" b="1" u="sng" dirty="0">
              <a:solidFill>
                <a:srgbClr val="0070C0"/>
              </a:solidFill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19944-04AC-4CD8-BA69-63C2A678C21A}" type="slidenum">
              <a:rPr lang="en-US" smtClean="0"/>
              <a:pPr/>
              <a:t>20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Let </a:t>
            </a:r>
            <a:r>
              <a:rPr lang="en-US" dirty="0" smtClean="0">
                <a:solidFill>
                  <a:srgbClr val="FF0000"/>
                </a:solidFill>
              </a:rPr>
              <a:t>G</a:t>
            </a:r>
            <a:r>
              <a:rPr lang="en-US" dirty="0" smtClean="0"/>
              <a:t> be a </a:t>
            </a:r>
            <a:r>
              <a:rPr lang="en-US" dirty="0" smtClean="0">
                <a:solidFill>
                  <a:srgbClr val="FF0000"/>
                </a:solidFill>
              </a:rPr>
              <a:t>graph</a:t>
            </a:r>
            <a:r>
              <a:rPr lang="en-US" dirty="0" smtClean="0"/>
              <a:t> and </a:t>
            </a:r>
            <a:r>
              <a:rPr lang="en-US" b="1" i="1" dirty="0" smtClean="0">
                <a:solidFill>
                  <a:srgbClr val="FF0000"/>
                </a:solidFill>
              </a:rPr>
              <a:t>v</a:t>
            </a:r>
            <a:r>
              <a:rPr lang="en-US" dirty="0" smtClean="0"/>
              <a:t> a </a:t>
            </a:r>
            <a:r>
              <a:rPr lang="en-US" dirty="0" smtClean="0">
                <a:solidFill>
                  <a:srgbClr val="FF0000"/>
                </a:solidFill>
              </a:rPr>
              <a:t>vertex</a:t>
            </a:r>
            <a:r>
              <a:rPr lang="en-US" dirty="0" smtClean="0"/>
              <a:t> of </a:t>
            </a:r>
            <a:r>
              <a:rPr lang="en-US" dirty="0" smtClean="0">
                <a:solidFill>
                  <a:srgbClr val="FF0000"/>
                </a:solidFill>
              </a:rPr>
              <a:t>G</a:t>
            </a:r>
            <a:r>
              <a:rPr lang="en-US" dirty="0" smtClean="0"/>
              <a:t>. The </a:t>
            </a:r>
            <a:r>
              <a:rPr lang="en-US" dirty="0" smtClean="0">
                <a:solidFill>
                  <a:srgbClr val="FF0000"/>
                </a:solidFill>
              </a:rPr>
              <a:t>degree</a:t>
            </a:r>
            <a:r>
              <a:rPr lang="en-US" dirty="0" smtClean="0"/>
              <a:t> of </a:t>
            </a:r>
            <a:r>
              <a:rPr lang="en-US" b="1" i="1" dirty="0" smtClean="0">
                <a:solidFill>
                  <a:srgbClr val="FF0000"/>
                </a:solidFill>
              </a:rPr>
              <a:t>v</a:t>
            </a:r>
            <a:r>
              <a:rPr lang="en-US" dirty="0" smtClean="0"/>
              <a:t>, denoted </a:t>
            </a:r>
            <a:r>
              <a:rPr lang="en-US" b="1" dirty="0" smtClean="0">
                <a:solidFill>
                  <a:srgbClr val="FF0000"/>
                </a:solidFill>
              </a:rPr>
              <a:t>deg(</a:t>
            </a:r>
            <a:r>
              <a:rPr lang="en-US" b="1" i="1" dirty="0" smtClean="0">
                <a:solidFill>
                  <a:srgbClr val="FF0000"/>
                </a:solidFill>
              </a:rPr>
              <a:t>v</a:t>
            </a:r>
            <a:r>
              <a:rPr lang="en-US" b="1" dirty="0" smtClean="0">
                <a:solidFill>
                  <a:srgbClr val="FF0000"/>
                </a:solidFill>
              </a:rPr>
              <a:t>)</a:t>
            </a:r>
            <a:r>
              <a:rPr lang="en-US" b="1" dirty="0" smtClean="0"/>
              <a:t>,</a:t>
            </a:r>
            <a:r>
              <a:rPr lang="en-US" dirty="0" smtClean="0"/>
              <a:t> equals the number of </a:t>
            </a:r>
            <a:r>
              <a:rPr lang="en-US" dirty="0" smtClean="0">
                <a:solidFill>
                  <a:srgbClr val="FF0000"/>
                </a:solidFill>
              </a:rPr>
              <a:t>edges</a:t>
            </a:r>
            <a:r>
              <a:rPr lang="en-US" dirty="0" smtClean="0"/>
              <a:t> that are </a:t>
            </a:r>
            <a:r>
              <a:rPr lang="en-US" dirty="0" smtClean="0">
                <a:solidFill>
                  <a:srgbClr val="FF0000"/>
                </a:solidFill>
              </a:rPr>
              <a:t>incident on </a:t>
            </a:r>
            <a:r>
              <a:rPr lang="en-US" b="1" i="1" dirty="0" smtClean="0">
                <a:solidFill>
                  <a:srgbClr val="FF0000"/>
                </a:solidFill>
              </a:rPr>
              <a:t>v</a:t>
            </a:r>
            <a:r>
              <a:rPr lang="en-US" dirty="0" smtClean="0"/>
              <a:t>, with an </a:t>
            </a:r>
            <a:r>
              <a:rPr lang="en-US" dirty="0" smtClean="0">
                <a:solidFill>
                  <a:srgbClr val="FF0000"/>
                </a:solidFill>
              </a:rPr>
              <a:t>edge</a:t>
            </a:r>
            <a:r>
              <a:rPr lang="en-US" dirty="0" smtClean="0"/>
              <a:t> that is a </a:t>
            </a:r>
            <a:r>
              <a:rPr lang="en-US" dirty="0" smtClean="0">
                <a:solidFill>
                  <a:srgbClr val="FF0000"/>
                </a:solidFill>
              </a:rPr>
              <a:t>loop counted twice</a:t>
            </a:r>
            <a:r>
              <a:rPr lang="en-US" dirty="0" smtClean="0"/>
              <a:t>.</a:t>
            </a:r>
          </a:p>
          <a:p>
            <a:endParaRPr lang="en-US" dirty="0" smtClean="0"/>
          </a:p>
          <a:p>
            <a:r>
              <a:rPr lang="en-US" dirty="0" smtClean="0"/>
              <a:t>The</a:t>
            </a:r>
            <a:r>
              <a:rPr lang="en-US" b="1" dirty="0" smtClean="0"/>
              <a:t> </a:t>
            </a:r>
            <a:r>
              <a:rPr lang="en-US" b="1" dirty="0" smtClean="0">
                <a:solidFill>
                  <a:srgbClr val="FF0000"/>
                </a:solidFill>
              </a:rPr>
              <a:t>total degree</a:t>
            </a:r>
            <a:r>
              <a:rPr lang="en-US" dirty="0" smtClean="0"/>
              <a:t> of </a:t>
            </a:r>
            <a:r>
              <a:rPr lang="en-US" dirty="0" smtClean="0">
                <a:solidFill>
                  <a:srgbClr val="FF0000"/>
                </a:solidFill>
              </a:rPr>
              <a:t>G</a:t>
            </a:r>
            <a:r>
              <a:rPr lang="en-US" dirty="0" smtClean="0"/>
              <a:t> is the sum of the </a:t>
            </a:r>
            <a:r>
              <a:rPr lang="en-US" dirty="0" smtClean="0">
                <a:solidFill>
                  <a:srgbClr val="FF0000"/>
                </a:solidFill>
              </a:rPr>
              <a:t>degrees</a:t>
            </a:r>
            <a:r>
              <a:rPr lang="en-US" dirty="0" smtClean="0"/>
              <a:t> of all the </a:t>
            </a:r>
            <a:r>
              <a:rPr lang="en-US" dirty="0" smtClean="0">
                <a:solidFill>
                  <a:srgbClr val="FF0000"/>
                </a:solidFill>
              </a:rPr>
              <a:t>vertices</a:t>
            </a:r>
            <a:r>
              <a:rPr lang="en-US" dirty="0" smtClean="0"/>
              <a:t> of </a:t>
            </a:r>
            <a:r>
              <a:rPr lang="en-US" dirty="0" smtClean="0">
                <a:solidFill>
                  <a:srgbClr val="FF0000"/>
                </a:solidFill>
              </a:rPr>
              <a:t>G</a:t>
            </a:r>
            <a:r>
              <a:rPr lang="en-US" dirty="0" smtClean="0"/>
              <a:t>.</a:t>
            </a:r>
          </a:p>
          <a:p>
            <a:endParaRPr lang="en-US" dirty="0" smtClean="0"/>
          </a:p>
          <a:p>
            <a:r>
              <a:rPr lang="en-US" dirty="0" smtClean="0"/>
              <a:t>The </a:t>
            </a:r>
            <a:r>
              <a:rPr lang="en-US" b="1" dirty="0" smtClean="0">
                <a:solidFill>
                  <a:srgbClr val="FF0000"/>
                </a:solidFill>
              </a:rPr>
              <a:t>degree</a:t>
            </a:r>
            <a:r>
              <a:rPr lang="en-US" dirty="0" smtClean="0"/>
              <a:t> of a loop is counted twice.</a:t>
            </a:r>
          </a:p>
          <a:p>
            <a:endParaRPr lang="en-US" dirty="0" smtClean="0"/>
          </a:p>
          <a:p>
            <a:endParaRPr lang="en-US" dirty="0" smtClean="0">
              <a:solidFill>
                <a:srgbClr val="FF0000"/>
              </a:solidFill>
            </a:endParaRP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u="sng" dirty="0" smtClean="0">
                <a:solidFill>
                  <a:srgbClr val="0070C0"/>
                </a:solidFill>
              </a:rPr>
              <a:t>EXAMPLE</a:t>
            </a:r>
            <a:endParaRPr lang="en-US" b="1" u="sng" dirty="0">
              <a:solidFill>
                <a:srgbClr val="0070C0"/>
              </a:solidFill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19944-04AC-4CD8-BA69-63C2A678C21A}" type="slidenum">
              <a:rPr lang="en-US" smtClean="0"/>
              <a:pPr/>
              <a:t>21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5105400"/>
          </a:xfrm>
        </p:spPr>
        <p:txBody>
          <a:bodyPr>
            <a:normAutofit fontScale="92500" lnSpcReduction="10000"/>
          </a:bodyPr>
          <a:lstStyle/>
          <a:p>
            <a:r>
              <a:rPr lang="en-US" dirty="0" smtClean="0"/>
              <a:t>For the graph shown</a:t>
            </a:r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r>
              <a:rPr lang="en-US" dirty="0" smtClean="0">
                <a:solidFill>
                  <a:srgbClr val="FF0000"/>
                </a:solidFill>
              </a:rPr>
              <a:t>deg (v</a:t>
            </a:r>
            <a:r>
              <a:rPr lang="en-US" baseline="-25000" dirty="0" smtClean="0">
                <a:solidFill>
                  <a:srgbClr val="FF0000"/>
                </a:solidFill>
              </a:rPr>
              <a:t>1</a:t>
            </a:r>
            <a:r>
              <a:rPr lang="en-US" dirty="0" smtClean="0">
                <a:solidFill>
                  <a:srgbClr val="FF0000"/>
                </a:solidFill>
              </a:rPr>
              <a:t>)</a:t>
            </a:r>
            <a:r>
              <a:rPr lang="en-US" dirty="0" smtClean="0"/>
              <a:t> = </a:t>
            </a:r>
            <a:r>
              <a:rPr lang="en-US" dirty="0" smtClean="0">
                <a:solidFill>
                  <a:srgbClr val="FF0000"/>
                </a:solidFill>
              </a:rPr>
              <a:t>0</a:t>
            </a:r>
            <a:r>
              <a:rPr lang="en-US" dirty="0" smtClean="0"/>
              <a:t>, since </a:t>
            </a:r>
            <a:r>
              <a:rPr lang="en-US" dirty="0" smtClean="0">
                <a:solidFill>
                  <a:srgbClr val="FF0000"/>
                </a:solidFill>
              </a:rPr>
              <a:t>v</a:t>
            </a:r>
            <a:r>
              <a:rPr lang="en-US" baseline="-25000" dirty="0" smtClean="0">
                <a:solidFill>
                  <a:srgbClr val="FF0000"/>
                </a:solidFill>
              </a:rPr>
              <a:t>1</a:t>
            </a:r>
            <a:r>
              <a:rPr lang="en-US" dirty="0" smtClean="0"/>
              <a:t> is </a:t>
            </a:r>
            <a:r>
              <a:rPr lang="en-US" dirty="0" smtClean="0">
                <a:solidFill>
                  <a:srgbClr val="FF0000"/>
                </a:solidFill>
              </a:rPr>
              <a:t>isolated vertex</a:t>
            </a:r>
            <a:r>
              <a:rPr lang="en-US" dirty="0" smtClean="0"/>
              <a:t>.</a:t>
            </a:r>
          </a:p>
          <a:p>
            <a:r>
              <a:rPr lang="en-US" dirty="0" smtClean="0">
                <a:solidFill>
                  <a:srgbClr val="FF0000"/>
                </a:solidFill>
              </a:rPr>
              <a:t>deg (v</a:t>
            </a:r>
            <a:r>
              <a:rPr lang="en-US" baseline="-25000" dirty="0" smtClean="0">
                <a:solidFill>
                  <a:srgbClr val="FF0000"/>
                </a:solidFill>
              </a:rPr>
              <a:t>2</a:t>
            </a:r>
            <a:r>
              <a:rPr lang="en-US" dirty="0" smtClean="0">
                <a:solidFill>
                  <a:srgbClr val="FF0000"/>
                </a:solidFill>
              </a:rPr>
              <a:t>)</a:t>
            </a:r>
            <a:r>
              <a:rPr lang="en-US" dirty="0" smtClean="0"/>
              <a:t> = </a:t>
            </a:r>
            <a:r>
              <a:rPr lang="en-US" dirty="0" smtClean="0">
                <a:solidFill>
                  <a:srgbClr val="FF0000"/>
                </a:solidFill>
              </a:rPr>
              <a:t>2</a:t>
            </a:r>
            <a:r>
              <a:rPr lang="en-US" dirty="0" smtClean="0"/>
              <a:t>, since </a:t>
            </a:r>
            <a:r>
              <a:rPr lang="en-US" dirty="0" smtClean="0">
                <a:solidFill>
                  <a:srgbClr val="FF0000"/>
                </a:solidFill>
              </a:rPr>
              <a:t>v</a:t>
            </a:r>
            <a:r>
              <a:rPr lang="en-US" baseline="-25000" dirty="0" smtClean="0">
                <a:solidFill>
                  <a:srgbClr val="FF0000"/>
                </a:solidFill>
              </a:rPr>
              <a:t>2</a:t>
            </a:r>
            <a:r>
              <a:rPr lang="en-US" dirty="0" smtClean="0"/>
              <a:t> is </a:t>
            </a:r>
            <a:r>
              <a:rPr lang="en-US" dirty="0" smtClean="0">
                <a:solidFill>
                  <a:srgbClr val="FF0000"/>
                </a:solidFill>
              </a:rPr>
              <a:t>incident</a:t>
            </a:r>
            <a:r>
              <a:rPr lang="en-US" dirty="0" smtClean="0"/>
              <a:t> on </a:t>
            </a:r>
            <a:r>
              <a:rPr lang="en-US" dirty="0" smtClean="0">
                <a:solidFill>
                  <a:srgbClr val="FF0000"/>
                </a:solidFill>
              </a:rPr>
              <a:t>e</a:t>
            </a:r>
            <a:r>
              <a:rPr lang="en-US" baseline="-25000" dirty="0" smtClean="0">
                <a:solidFill>
                  <a:srgbClr val="FF0000"/>
                </a:solidFill>
              </a:rPr>
              <a:t>1</a:t>
            </a:r>
            <a:r>
              <a:rPr lang="en-US" dirty="0" smtClean="0"/>
              <a:t> and </a:t>
            </a:r>
            <a:r>
              <a:rPr lang="en-US" dirty="0" smtClean="0">
                <a:solidFill>
                  <a:srgbClr val="FF0000"/>
                </a:solidFill>
              </a:rPr>
              <a:t>e</a:t>
            </a:r>
            <a:r>
              <a:rPr lang="en-US" baseline="-25000" dirty="0" smtClean="0">
                <a:solidFill>
                  <a:srgbClr val="FF0000"/>
                </a:solidFill>
              </a:rPr>
              <a:t>2</a:t>
            </a:r>
            <a:r>
              <a:rPr lang="en-US" dirty="0" smtClean="0"/>
              <a:t>.</a:t>
            </a:r>
          </a:p>
          <a:p>
            <a:r>
              <a:rPr lang="en-US" dirty="0" smtClean="0">
                <a:solidFill>
                  <a:srgbClr val="FF0000"/>
                </a:solidFill>
              </a:rPr>
              <a:t>deg (v</a:t>
            </a:r>
            <a:r>
              <a:rPr lang="en-US" baseline="-25000" dirty="0" smtClean="0">
                <a:solidFill>
                  <a:srgbClr val="FF0000"/>
                </a:solidFill>
              </a:rPr>
              <a:t>3</a:t>
            </a:r>
            <a:r>
              <a:rPr lang="en-US" dirty="0" smtClean="0">
                <a:solidFill>
                  <a:srgbClr val="FF0000"/>
                </a:solidFill>
              </a:rPr>
              <a:t>)</a:t>
            </a:r>
            <a:r>
              <a:rPr lang="en-US" dirty="0" smtClean="0"/>
              <a:t> = </a:t>
            </a:r>
            <a:r>
              <a:rPr lang="en-US" dirty="0" smtClean="0">
                <a:solidFill>
                  <a:srgbClr val="FF0000"/>
                </a:solidFill>
              </a:rPr>
              <a:t>4</a:t>
            </a:r>
            <a:r>
              <a:rPr lang="en-US" dirty="0" smtClean="0"/>
              <a:t>, since </a:t>
            </a:r>
            <a:r>
              <a:rPr lang="en-US" dirty="0" smtClean="0">
                <a:solidFill>
                  <a:srgbClr val="FF0000"/>
                </a:solidFill>
              </a:rPr>
              <a:t>v</a:t>
            </a:r>
            <a:r>
              <a:rPr lang="en-US" baseline="-25000" dirty="0" smtClean="0">
                <a:solidFill>
                  <a:srgbClr val="FF0000"/>
                </a:solidFill>
              </a:rPr>
              <a:t>3</a:t>
            </a:r>
            <a:r>
              <a:rPr lang="en-US" dirty="0" smtClean="0"/>
              <a:t> is </a:t>
            </a:r>
            <a:r>
              <a:rPr lang="en-US" dirty="0" smtClean="0">
                <a:solidFill>
                  <a:srgbClr val="FF0000"/>
                </a:solidFill>
              </a:rPr>
              <a:t>incident</a:t>
            </a:r>
            <a:r>
              <a:rPr lang="en-US" dirty="0" smtClean="0"/>
              <a:t> on </a:t>
            </a:r>
            <a:r>
              <a:rPr lang="en-US" dirty="0" smtClean="0">
                <a:solidFill>
                  <a:srgbClr val="FF0000"/>
                </a:solidFill>
              </a:rPr>
              <a:t>e</a:t>
            </a:r>
            <a:r>
              <a:rPr lang="en-US" baseline="-25000" dirty="0" smtClean="0">
                <a:solidFill>
                  <a:srgbClr val="FF0000"/>
                </a:solidFill>
              </a:rPr>
              <a:t>1</a:t>
            </a:r>
            <a:r>
              <a:rPr lang="en-US" dirty="0" smtClean="0"/>
              <a:t>,</a:t>
            </a:r>
            <a:r>
              <a:rPr lang="en-US" dirty="0" smtClean="0">
                <a:solidFill>
                  <a:srgbClr val="FF0000"/>
                </a:solidFill>
              </a:rPr>
              <a:t>e</a:t>
            </a:r>
            <a:r>
              <a:rPr lang="en-US" baseline="-25000" dirty="0" smtClean="0">
                <a:solidFill>
                  <a:srgbClr val="FF0000"/>
                </a:solidFill>
              </a:rPr>
              <a:t>2</a:t>
            </a:r>
            <a:r>
              <a:rPr lang="en-US" dirty="0" smtClean="0"/>
              <a:t> and the </a:t>
            </a:r>
            <a:r>
              <a:rPr lang="en-US" dirty="0" smtClean="0">
                <a:solidFill>
                  <a:srgbClr val="FF0000"/>
                </a:solidFill>
              </a:rPr>
              <a:t>loop e</a:t>
            </a:r>
            <a:r>
              <a:rPr lang="en-US" baseline="-25000" dirty="0" smtClean="0">
                <a:solidFill>
                  <a:srgbClr val="FF0000"/>
                </a:solidFill>
              </a:rPr>
              <a:t>3</a:t>
            </a:r>
            <a:r>
              <a:rPr lang="en-US" dirty="0" smtClean="0"/>
              <a:t>.</a:t>
            </a:r>
          </a:p>
          <a:p>
            <a:r>
              <a:rPr lang="en-US" dirty="0" smtClean="0">
                <a:solidFill>
                  <a:srgbClr val="FF0000"/>
                </a:solidFill>
              </a:rPr>
              <a:t>Total degree</a:t>
            </a:r>
            <a:r>
              <a:rPr lang="en-US" dirty="0" smtClean="0"/>
              <a:t> of </a:t>
            </a:r>
            <a:r>
              <a:rPr lang="en-US" dirty="0" smtClean="0">
                <a:solidFill>
                  <a:srgbClr val="FF0000"/>
                </a:solidFill>
              </a:rPr>
              <a:t>G</a:t>
            </a:r>
            <a:r>
              <a:rPr lang="en-US" dirty="0" smtClean="0"/>
              <a:t> = </a:t>
            </a:r>
            <a:r>
              <a:rPr lang="en-US" dirty="0" smtClean="0">
                <a:solidFill>
                  <a:srgbClr val="FF0000"/>
                </a:solidFill>
              </a:rPr>
              <a:t>deg(v</a:t>
            </a:r>
            <a:r>
              <a:rPr lang="en-US" baseline="-25000" dirty="0" smtClean="0">
                <a:solidFill>
                  <a:srgbClr val="FF0000"/>
                </a:solidFill>
              </a:rPr>
              <a:t>1</a:t>
            </a:r>
            <a:r>
              <a:rPr lang="en-US" dirty="0" smtClean="0">
                <a:solidFill>
                  <a:srgbClr val="FF0000"/>
                </a:solidFill>
              </a:rPr>
              <a:t>)</a:t>
            </a:r>
            <a:r>
              <a:rPr lang="en-US" dirty="0" smtClean="0"/>
              <a:t> + </a:t>
            </a:r>
            <a:r>
              <a:rPr lang="en-US" dirty="0" smtClean="0">
                <a:solidFill>
                  <a:srgbClr val="FF0000"/>
                </a:solidFill>
              </a:rPr>
              <a:t>deg(v</a:t>
            </a:r>
            <a:r>
              <a:rPr lang="en-US" baseline="-25000" dirty="0" smtClean="0">
                <a:solidFill>
                  <a:srgbClr val="FF0000"/>
                </a:solidFill>
              </a:rPr>
              <a:t>2</a:t>
            </a:r>
            <a:r>
              <a:rPr lang="en-US" dirty="0" smtClean="0">
                <a:solidFill>
                  <a:srgbClr val="FF0000"/>
                </a:solidFill>
              </a:rPr>
              <a:t>)</a:t>
            </a:r>
            <a:r>
              <a:rPr lang="en-US" dirty="0" smtClean="0"/>
              <a:t> + </a:t>
            </a:r>
            <a:r>
              <a:rPr lang="en-US" dirty="0" smtClean="0">
                <a:solidFill>
                  <a:srgbClr val="FF0000"/>
                </a:solidFill>
              </a:rPr>
              <a:t>deg(v</a:t>
            </a:r>
            <a:r>
              <a:rPr lang="en-US" baseline="-25000" dirty="0" smtClean="0">
                <a:solidFill>
                  <a:srgbClr val="FF0000"/>
                </a:solidFill>
              </a:rPr>
              <a:t>3</a:t>
            </a:r>
            <a:r>
              <a:rPr lang="en-US" dirty="0" smtClean="0">
                <a:solidFill>
                  <a:srgbClr val="FF0000"/>
                </a:solidFill>
              </a:rPr>
              <a:t>)</a:t>
            </a:r>
          </a:p>
          <a:p>
            <a:pPr>
              <a:buNone/>
            </a:pPr>
            <a:r>
              <a:rPr lang="en-US" dirty="0" smtClean="0"/>
              <a:t>			        = </a:t>
            </a:r>
            <a:r>
              <a:rPr lang="en-US" dirty="0" smtClean="0">
                <a:solidFill>
                  <a:srgbClr val="FF0000"/>
                </a:solidFill>
              </a:rPr>
              <a:t>0</a:t>
            </a:r>
            <a:r>
              <a:rPr lang="en-US" dirty="0" smtClean="0"/>
              <a:t> </a:t>
            </a:r>
            <a:r>
              <a:rPr lang="en-US" dirty="0" smtClean="0">
                <a:solidFill>
                  <a:srgbClr val="FF0000"/>
                </a:solidFill>
              </a:rPr>
              <a:t>+ 2 + 4</a:t>
            </a:r>
            <a:r>
              <a:rPr lang="en-US" dirty="0" smtClean="0"/>
              <a:t> = </a:t>
            </a:r>
            <a:r>
              <a:rPr lang="en-US" dirty="0" smtClean="0">
                <a:solidFill>
                  <a:srgbClr val="FF0000"/>
                </a:solidFill>
              </a:rPr>
              <a:t>6</a:t>
            </a:r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pPr>
              <a:buNone/>
            </a:pPr>
            <a:endParaRPr lang="en-US" dirty="0"/>
          </a:p>
        </p:txBody>
      </p:sp>
      <p:pic>
        <p:nvPicPr>
          <p:cNvPr id="5" name="Picture 4"/>
          <p:cNvPicPr/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886200" y="1143000"/>
            <a:ext cx="1930352" cy="29894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000"/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u="sng" dirty="0" smtClean="0">
                <a:solidFill>
                  <a:srgbClr val="0070C0"/>
                </a:solidFill>
              </a:rPr>
              <a:t>NOTE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19944-04AC-4CD8-BA69-63C2A678C21A}" type="slidenum">
              <a:rPr lang="en-US" smtClean="0"/>
              <a:pPr/>
              <a:t>22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5105400"/>
          </a:xfrm>
        </p:spPr>
        <p:txBody>
          <a:bodyPr/>
          <a:lstStyle/>
          <a:p>
            <a:r>
              <a:rPr lang="en-US" dirty="0" smtClean="0"/>
              <a:t>The </a:t>
            </a:r>
            <a:r>
              <a:rPr lang="en-US" dirty="0" smtClean="0">
                <a:solidFill>
                  <a:srgbClr val="FF0000"/>
                </a:solidFill>
              </a:rPr>
              <a:t>total degree</a:t>
            </a:r>
            <a:r>
              <a:rPr lang="en-US" dirty="0" smtClean="0"/>
              <a:t> of </a:t>
            </a:r>
            <a:r>
              <a:rPr lang="en-US" dirty="0" smtClean="0">
                <a:solidFill>
                  <a:srgbClr val="FF0000"/>
                </a:solidFill>
              </a:rPr>
              <a:t>G</a:t>
            </a:r>
            <a:r>
              <a:rPr lang="en-US" dirty="0" smtClean="0"/>
              <a:t>, which is </a:t>
            </a:r>
            <a:r>
              <a:rPr lang="en-US" dirty="0" smtClean="0">
                <a:solidFill>
                  <a:srgbClr val="FF0000"/>
                </a:solidFill>
              </a:rPr>
              <a:t>6</a:t>
            </a:r>
            <a:r>
              <a:rPr lang="en-US" dirty="0" smtClean="0"/>
              <a:t>, equals </a:t>
            </a:r>
            <a:r>
              <a:rPr lang="en-US" dirty="0" smtClean="0">
                <a:solidFill>
                  <a:srgbClr val="FF0000"/>
                </a:solidFill>
              </a:rPr>
              <a:t>twice</a:t>
            </a:r>
            <a:r>
              <a:rPr lang="en-US" dirty="0" smtClean="0"/>
              <a:t> the </a:t>
            </a:r>
            <a:r>
              <a:rPr lang="en-US" dirty="0" smtClean="0">
                <a:solidFill>
                  <a:srgbClr val="FF0000"/>
                </a:solidFill>
              </a:rPr>
              <a:t>number</a:t>
            </a:r>
            <a:r>
              <a:rPr lang="en-US" dirty="0" smtClean="0"/>
              <a:t> of </a:t>
            </a:r>
            <a:r>
              <a:rPr lang="en-US" dirty="0" smtClean="0">
                <a:solidFill>
                  <a:srgbClr val="FF0000"/>
                </a:solidFill>
              </a:rPr>
              <a:t>edges</a:t>
            </a:r>
            <a:r>
              <a:rPr lang="en-US" dirty="0" smtClean="0"/>
              <a:t> of </a:t>
            </a:r>
            <a:r>
              <a:rPr lang="en-US" dirty="0" smtClean="0">
                <a:solidFill>
                  <a:srgbClr val="FF0000"/>
                </a:solidFill>
              </a:rPr>
              <a:t>G,</a:t>
            </a:r>
            <a:r>
              <a:rPr lang="en-US" dirty="0" smtClean="0"/>
              <a:t> which is </a:t>
            </a:r>
            <a:r>
              <a:rPr lang="en-US" dirty="0" smtClean="0">
                <a:solidFill>
                  <a:srgbClr val="FF0000"/>
                </a:solidFill>
              </a:rPr>
              <a:t>3</a:t>
            </a:r>
            <a:r>
              <a:rPr lang="en-US" dirty="0" smtClean="0"/>
              <a:t>. </a:t>
            </a:r>
            <a:r>
              <a:rPr lang="en-US" b="1" dirty="0" smtClean="0"/>
              <a:t>	</a:t>
            </a:r>
            <a:endParaRPr lang="en-US" dirty="0" smtClean="0"/>
          </a:p>
          <a:p>
            <a:pPr>
              <a:buNone/>
            </a:pPr>
            <a:endParaRPr lang="en-US" dirty="0" smtClean="0"/>
          </a:p>
          <a:p>
            <a:r>
              <a:rPr lang="en-US" dirty="0" smtClean="0"/>
              <a:t>This is always the case the </a:t>
            </a:r>
            <a:r>
              <a:rPr lang="en-US" dirty="0" smtClean="0">
                <a:solidFill>
                  <a:srgbClr val="FF0000"/>
                </a:solidFill>
              </a:rPr>
              <a:t>total degree</a:t>
            </a:r>
            <a:r>
              <a:rPr lang="en-US" dirty="0" smtClean="0"/>
              <a:t> of </a:t>
            </a:r>
            <a:r>
              <a:rPr lang="en-US" dirty="0" smtClean="0">
                <a:solidFill>
                  <a:srgbClr val="FF0000"/>
                </a:solidFill>
              </a:rPr>
              <a:t>graph</a:t>
            </a:r>
            <a:r>
              <a:rPr lang="en-US" dirty="0" smtClean="0"/>
              <a:t> is always </a:t>
            </a:r>
            <a:r>
              <a:rPr lang="en-US" dirty="0" smtClean="0">
                <a:solidFill>
                  <a:srgbClr val="FF0000"/>
                </a:solidFill>
              </a:rPr>
              <a:t>twice</a:t>
            </a:r>
            <a:r>
              <a:rPr lang="en-US" dirty="0" smtClean="0"/>
              <a:t> the </a:t>
            </a:r>
            <a:r>
              <a:rPr lang="en-US" dirty="0" smtClean="0">
                <a:solidFill>
                  <a:srgbClr val="FF0000"/>
                </a:solidFill>
              </a:rPr>
              <a:t>number</a:t>
            </a:r>
            <a:r>
              <a:rPr lang="en-US" dirty="0" smtClean="0"/>
              <a:t> of </a:t>
            </a:r>
            <a:r>
              <a:rPr lang="en-US" dirty="0" smtClean="0">
                <a:solidFill>
                  <a:srgbClr val="FF0000"/>
                </a:solidFill>
              </a:rPr>
              <a:t>edges</a:t>
            </a:r>
            <a:r>
              <a:rPr lang="en-US" dirty="0" smtClean="0"/>
              <a:t> in that </a:t>
            </a:r>
            <a:r>
              <a:rPr lang="en-US" dirty="0" smtClean="0">
                <a:solidFill>
                  <a:srgbClr val="FF0000"/>
                </a:solidFill>
              </a:rPr>
              <a:t>graph</a:t>
            </a:r>
            <a:r>
              <a:rPr lang="en-US" dirty="0" smtClean="0"/>
              <a:t>. This is actually the theorem called Handshaking Theorem. </a:t>
            </a:r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u="sng" dirty="0" smtClean="0">
                <a:solidFill>
                  <a:srgbClr val="0070C0"/>
                </a:solidFill>
              </a:rPr>
              <a:t>THE HANDSHAKING THEOREM</a:t>
            </a:r>
            <a:endParaRPr lang="en-US" b="1" u="sng" dirty="0">
              <a:solidFill>
                <a:srgbClr val="0070C0"/>
              </a:solidFill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19944-04AC-4CD8-BA69-63C2A678C21A}" type="slidenum">
              <a:rPr lang="en-US" smtClean="0"/>
              <a:pPr/>
              <a:t>23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If </a:t>
            </a:r>
            <a:r>
              <a:rPr lang="en-US" dirty="0" smtClean="0">
                <a:solidFill>
                  <a:srgbClr val="FF0000"/>
                </a:solidFill>
              </a:rPr>
              <a:t>G</a:t>
            </a:r>
            <a:r>
              <a:rPr lang="en-US" dirty="0" smtClean="0"/>
              <a:t> is any </a:t>
            </a:r>
            <a:r>
              <a:rPr lang="en-US" dirty="0" smtClean="0">
                <a:solidFill>
                  <a:srgbClr val="FF0000"/>
                </a:solidFill>
              </a:rPr>
              <a:t>graph</a:t>
            </a:r>
            <a:r>
              <a:rPr lang="en-US" dirty="0" smtClean="0"/>
              <a:t>, then the sum of the </a:t>
            </a:r>
            <a:r>
              <a:rPr lang="en-US" dirty="0" smtClean="0">
                <a:solidFill>
                  <a:srgbClr val="FF0000"/>
                </a:solidFill>
              </a:rPr>
              <a:t>degrees</a:t>
            </a:r>
            <a:r>
              <a:rPr lang="en-US" dirty="0" smtClean="0"/>
              <a:t> of all the </a:t>
            </a:r>
            <a:r>
              <a:rPr lang="en-US" dirty="0" smtClean="0">
                <a:solidFill>
                  <a:srgbClr val="FF0000"/>
                </a:solidFill>
              </a:rPr>
              <a:t>vertices</a:t>
            </a:r>
            <a:r>
              <a:rPr lang="en-US" dirty="0" smtClean="0"/>
              <a:t> of </a:t>
            </a:r>
            <a:r>
              <a:rPr lang="en-US" dirty="0" smtClean="0">
                <a:solidFill>
                  <a:srgbClr val="FF0000"/>
                </a:solidFill>
              </a:rPr>
              <a:t>G</a:t>
            </a:r>
            <a:r>
              <a:rPr lang="en-US" dirty="0" smtClean="0"/>
              <a:t> equals twice the number of </a:t>
            </a:r>
            <a:r>
              <a:rPr lang="en-US" dirty="0" smtClean="0">
                <a:solidFill>
                  <a:srgbClr val="FF0000"/>
                </a:solidFill>
              </a:rPr>
              <a:t>edges</a:t>
            </a:r>
            <a:r>
              <a:rPr lang="en-US" dirty="0" smtClean="0"/>
              <a:t> of </a:t>
            </a:r>
            <a:r>
              <a:rPr lang="en-US" dirty="0" smtClean="0">
                <a:solidFill>
                  <a:srgbClr val="FF0000"/>
                </a:solidFill>
              </a:rPr>
              <a:t>G</a:t>
            </a:r>
            <a:r>
              <a:rPr lang="en-US" dirty="0" smtClean="0"/>
              <a:t>.</a:t>
            </a:r>
          </a:p>
          <a:p>
            <a:endParaRPr lang="en-US" dirty="0" smtClean="0"/>
          </a:p>
          <a:p>
            <a:r>
              <a:rPr lang="en-US" dirty="0" smtClean="0"/>
              <a:t>Specifically, if the </a:t>
            </a:r>
            <a:r>
              <a:rPr lang="en-US" dirty="0" smtClean="0">
                <a:solidFill>
                  <a:srgbClr val="FF0000"/>
                </a:solidFill>
              </a:rPr>
              <a:t>vertices</a:t>
            </a:r>
            <a:r>
              <a:rPr lang="en-US" dirty="0" smtClean="0"/>
              <a:t> of </a:t>
            </a:r>
            <a:r>
              <a:rPr lang="en-US" dirty="0" smtClean="0">
                <a:solidFill>
                  <a:srgbClr val="FF0000"/>
                </a:solidFill>
              </a:rPr>
              <a:t>G</a:t>
            </a:r>
            <a:r>
              <a:rPr lang="en-US" dirty="0" smtClean="0"/>
              <a:t> are </a:t>
            </a:r>
            <a:r>
              <a:rPr lang="en-US" dirty="0" smtClean="0">
                <a:solidFill>
                  <a:srgbClr val="FF0000"/>
                </a:solidFill>
              </a:rPr>
              <a:t>v</a:t>
            </a:r>
            <a:r>
              <a:rPr lang="en-US" b="1" baseline="-25000" dirty="0" smtClean="0">
                <a:solidFill>
                  <a:srgbClr val="FF0000"/>
                </a:solidFill>
              </a:rPr>
              <a:t>1</a:t>
            </a:r>
            <a:r>
              <a:rPr lang="en-US" dirty="0" smtClean="0">
                <a:solidFill>
                  <a:srgbClr val="FF0000"/>
                </a:solidFill>
              </a:rPr>
              <a:t>, v</a:t>
            </a:r>
            <a:r>
              <a:rPr lang="en-US" b="1" baseline="-25000" dirty="0" smtClean="0">
                <a:solidFill>
                  <a:srgbClr val="FF0000"/>
                </a:solidFill>
              </a:rPr>
              <a:t>2</a:t>
            </a:r>
            <a:r>
              <a:rPr lang="en-US" dirty="0" smtClean="0">
                <a:solidFill>
                  <a:srgbClr val="FF0000"/>
                </a:solidFill>
              </a:rPr>
              <a:t>, …, </a:t>
            </a:r>
            <a:r>
              <a:rPr lang="en-US" dirty="0" err="1" smtClean="0">
                <a:solidFill>
                  <a:srgbClr val="FF0000"/>
                </a:solidFill>
              </a:rPr>
              <a:t>v</a:t>
            </a:r>
            <a:r>
              <a:rPr lang="en-US" b="1" baseline="-25000" dirty="0" err="1" smtClean="0">
                <a:solidFill>
                  <a:srgbClr val="FF0000"/>
                </a:solidFill>
              </a:rPr>
              <a:t>n</a:t>
            </a:r>
            <a:r>
              <a:rPr lang="en-US" dirty="0" smtClean="0"/>
              <a:t>, where </a:t>
            </a:r>
            <a:r>
              <a:rPr lang="en-US" dirty="0" smtClean="0">
                <a:solidFill>
                  <a:srgbClr val="FF0000"/>
                </a:solidFill>
              </a:rPr>
              <a:t>n</a:t>
            </a:r>
            <a:r>
              <a:rPr lang="en-US" dirty="0" smtClean="0"/>
              <a:t> is a </a:t>
            </a:r>
            <a:r>
              <a:rPr lang="en-US" dirty="0" smtClean="0">
                <a:solidFill>
                  <a:srgbClr val="FF0000"/>
                </a:solidFill>
              </a:rPr>
              <a:t>positive integer</a:t>
            </a:r>
            <a:r>
              <a:rPr lang="en-US" dirty="0" smtClean="0"/>
              <a:t>, then </a:t>
            </a:r>
          </a:p>
          <a:p>
            <a:endParaRPr lang="en-US" dirty="0" smtClean="0"/>
          </a:p>
          <a:p>
            <a:r>
              <a:rPr lang="en-US" dirty="0" smtClean="0"/>
              <a:t>The </a:t>
            </a:r>
            <a:r>
              <a:rPr lang="en-US" dirty="0" smtClean="0">
                <a:solidFill>
                  <a:srgbClr val="FF0000"/>
                </a:solidFill>
              </a:rPr>
              <a:t>total degree</a:t>
            </a:r>
            <a:r>
              <a:rPr lang="en-US" dirty="0" smtClean="0"/>
              <a:t> of</a:t>
            </a:r>
          </a:p>
          <a:p>
            <a:pPr>
              <a:buNone/>
            </a:pPr>
            <a:r>
              <a:rPr lang="en-US" dirty="0" smtClean="0"/>
              <a:t>	 </a:t>
            </a:r>
            <a:r>
              <a:rPr lang="en-US" dirty="0" smtClean="0">
                <a:solidFill>
                  <a:srgbClr val="FF0000"/>
                </a:solidFill>
              </a:rPr>
              <a:t>G</a:t>
            </a:r>
            <a:r>
              <a:rPr lang="en-US" dirty="0" smtClean="0"/>
              <a:t> = deg(v</a:t>
            </a:r>
            <a:r>
              <a:rPr lang="en-US" baseline="-25000" dirty="0" smtClean="0"/>
              <a:t>1</a:t>
            </a:r>
            <a:r>
              <a:rPr lang="en-US" dirty="0" smtClean="0"/>
              <a:t>) + deg(v</a:t>
            </a:r>
            <a:r>
              <a:rPr lang="en-US" baseline="-25000" dirty="0" smtClean="0"/>
              <a:t>2</a:t>
            </a:r>
            <a:r>
              <a:rPr lang="en-US" dirty="0" smtClean="0"/>
              <a:t>) + … + deg(</a:t>
            </a:r>
            <a:r>
              <a:rPr lang="en-US" dirty="0" err="1" smtClean="0"/>
              <a:t>v</a:t>
            </a:r>
            <a:r>
              <a:rPr lang="en-US" baseline="-25000" dirty="0" err="1" smtClean="0"/>
              <a:t>n</a:t>
            </a:r>
            <a:r>
              <a:rPr lang="en-US" dirty="0" smtClean="0"/>
              <a:t>)</a:t>
            </a:r>
          </a:p>
          <a:p>
            <a:pPr>
              <a:buNone/>
            </a:pPr>
            <a:r>
              <a:rPr lang="en-US" dirty="0" smtClean="0"/>
              <a:t>	     = </a:t>
            </a:r>
            <a:r>
              <a:rPr lang="en-US" dirty="0" smtClean="0">
                <a:solidFill>
                  <a:srgbClr val="FF0000"/>
                </a:solidFill>
              </a:rPr>
              <a:t>2 </a:t>
            </a:r>
            <a:r>
              <a:rPr lang="en-US" b="1" dirty="0" smtClean="0">
                <a:solidFill>
                  <a:srgbClr val="FF0000"/>
                </a:solidFill>
              </a:rPr>
              <a:t>.</a:t>
            </a:r>
            <a:r>
              <a:rPr lang="en-US" dirty="0" smtClean="0">
                <a:solidFill>
                  <a:srgbClr val="FF0000"/>
                </a:solidFill>
              </a:rPr>
              <a:t> (the number of edges of G)</a:t>
            </a:r>
          </a:p>
          <a:p>
            <a:endParaRPr lang="en-US" sz="2600" dirty="0" smtClean="0">
              <a:solidFill>
                <a:srgbClr val="002060"/>
              </a:solidFill>
            </a:endParaRPr>
          </a:p>
          <a:p>
            <a:endParaRPr lang="en-US" dirty="0" smtClean="0"/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u="sng" dirty="0" smtClean="0">
                <a:solidFill>
                  <a:srgbClr val="0070C0"/>
                </a:solidFill>
              </a:rPr>
              <a:t>COROLLARY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19944-04AC-4CD8-BA69-63C2A678C21A}" type="slidenum">
              <a:rPr lang="en-US" smtClean="0"/>
              <a:pPr/>
              <a:t>24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The</a:t>
            </a:r>
            <a:r>
              <a:rPr lang="en-US" dirty="0" smtClean="0">
                <a:solidFill>
                  <a:srgbClr val="FF0000"/>
                </a:solidFill>
              </a:rPr>
              <a:t> total degree </a:t>
            </a:r>
            <a:r>
              <a:rPr lang="en-US" dirty="0" smtClean="0"/>
              <a:t>of </a:t>
            </a:r>
            <a:r>
              <a:rPr lang="en-US" dirty="0" smtClean="0">
                <a:solidFill>
                  <a:srgbClr val="FF0000"/>
                </a:solidFill>
              </a:rPr>
              <a:t>G</a:t>
            </a:r>
            <a:r>
              <a:rPr lang="en-US" dirty="0" smtClean="0"/>
              <a:t> is an </a:t>
            </a:r>
            <a:r>
              <a:rPr lang="en-US" dirty="0" smtClean="0">
                <a:solidFill>
                  <a:srgbClr val="FF0000"/>
                </a:solidFill>
              </a:rPr>
              <a:t>even number</a:t>
            </a:r>
            <a:endParaRPr lang="en-US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u="sng" dirty="0" smtClean="0">
                <a:solidFill>
                  <a:srgbClr val="0070C0"/>
                </a:solidFill>
              </a:rPr>
              <a:t>EXERCISE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19944-04AC-4CD8-BA69-63C2A678C21A}" type="slidenum">
              <a:rPr lang="en-US" smtClean="0"/>
              <a:pPr/>
              <a:t>25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Draw a </a:t>
            </a:r>
            <a:r>
              <a:rPr lang="en-US" dirty="0" smtClean="0">
                <a:solidFill>
                  <a:srgbClr val="FF0000"/>
                </a:solidFill>
              </a:rPr>
              <a:t>graph</a:t>
            </a:r>
            <a:r>
              <a:rPr lang="en-US" dirty="0" smtClean="0"/>
              <a:t> with the specified properties or explain why no such </a:t>
            </a:r>
            <a:r>
              <a:rPr lang="en-US" dirty="0" smtClean="0">
                <a:solidFill>
                  <a:srgbClr val="FF0000"/>
                </a:solidFill>
              </a:rPr>
              <a:t>graph</a:t>
            </a:r>
            <a:r>
              <a:rPr lang="en-US" dirty="0" smtClean="0"/>
              <a:t> exists.</a:t>
            </a:r>
          </a:p>
          <a:p>
            <a:endParaRPr lang="en-US" dirty="0" smtClean="0"/>
          </a:p>
          <a:p>
            <a:pPr>
              <a:buNone/>
            </a:pPr>
            <a:r>
              <a:rPr lang="en-US" dirty="0" smtClean="0"/>
              <a:t>	</a:t>
            </a:r>
            <a:r>
              <a:rPr lang="en-US" b="1" dirty="0" smtClean="0">
                <a:solidFill>
                  <a:srgbClr val="249C2F"/>
                </a:solidFill>
              </a:rPr>
              <a:t>(</a:t>
            </a:r>
            <a:r>
              <a:rPr lang="en-US" b="1" dirty="0" err="1" smtClean="0">
                <a:solidFill>
                  <a:srgbClr val="249C2F"/>
                </a:solidFill>
              </a:rPr>
              <a:t>i</a:t>
            </a:r>
            <a:r>
              <a:rPr lang="en-US" b="1" dirty="0" smtClean="0">
                <a:solidFill>
                  <a:srgbClr val="249C2F"/>
                </a:solidFill>
              </a:rPr>
              <a:t>)</a:t>
            </a:r>
            <a:r>
              <a:rPr lang="en-US" dirty="0" smtClean="0"/>
              <a:t>  Graph with </a:t>
            </a:r>
            <a:r>
              <a:rPr lang="en-US" dirty="0" smtClean="0">
                <a:solidFill>
                  <a:srgbClr val="FF0000"/>
                </a:solidFill>
              </a:rPr>
              <a:t>four vertices</a:t>
            </a:r>
            <a:r>
              <a:rPr lang="en-US" dirty="0" smtClean="0"/>
              <a:t> of </a:t>
            </a:r>
            <a:r>
              <a:rPr lang="en-US" dirty="0" smtClean="0">
                <a:solidFill>
                  <a:srgbClr val="FF0000"/>
                </a:solidFill>
              </a:rPr>
              <a:t>degrees 1, 2, 3</a:t>
            </a:r>
            <a:r>
              <a:rPr lang="en-US" dirty="0" smtClean="0"/>
              <a:t> and </a:t>
            </a:r>
            <a:r>
              <a:rPr lang="en-US" dirty="0" smtClean="0">
                <a:solidFill>
                  <a:srgbClr val="FF0000"/>
                </a:solidFill>
              </a:rPr>
              <a:t>3</a:t>
            </a:r>
          </a:p>
          <a:p>
            <a:pPr>
              <a:buNone/>
            </a:pPr>
            <a:r>
              <a:rPr lang="en-US" dirty="0" smtClean="0"/>
              <a:t>	</a:t>
            </a:r>
            <a:r>
              <a:rPr lang="en-US" b="1" dirty="0" smtClean="0">
                <a:solidFill>
                  <a:srgbClr val="249C2F"/>
                </a:solidFill>
              </a:rPr>
              <a:t>(ii)</a:t>
            </a:r>
            <a:r>
              <a:rPr lang="en-US" dirty="0" smtClean="0"/>
              <a:t> Graph with </a:t>
            </a:r>
            <a:r>
              <a:rPr lang="en-US" dirty="0" smtClean="0">
                <a:solidFill>
                  <a:srgbClr val="FF0000"/>
                </a:solidFill>
              </a:rPr>
              <a:t>four vertices</a:t>
            </a:r>
            <a:r>
              <a:rPr lang="en-US" dirty="0" smtClean="0"/>
              <a:t> of </a:t>
            </a:r>
            <a:r>
              <a:rPr lang="en-US" dirty="0" smtClean="0">
                <a:solidFill>
                  <a:srgbClr val="FF0000"/>
                </a:solidFill>
              </a:rPr>
              <a:t>degrees 1, 2, 3</a:t>
            </a:r>
            <a:r>
              <a:rPr lang="en-US" dirty="0" smtClean="0"/>
              <a:t> and </a:t>
            </a:r>
            <a:r>
              <a:rPr lang="en-US" dirty="0" smtClean="0">
                <a:solidFill>
                  <a:srgbClr val="FF0000"/>
                </a:solidFill>
              </a:rPr>
              <a:t>4</a:t>
            </a:r>
          </a:p>
          <a:p>
            <a:pPr>
              <a:buNone/>
            </a:pPr>
            <a:r>
              <a:rPr lang="en-US" dirty="0" smtClean="0"/>
              <a:t>	</a:t>
            </a:r>
            <a:r>
              <a:rPr lang="en-US" b="1" dirty="0" smtClean="0">
                <a:solidFill>
                  <a:srgbClr val="249C2F"/>
                </a:solidFill>
              </a:rPr>
              <a:t>(iii)</a:t>
            </a:r>
            <a:r>
              <a:rPr lang="en-US" dirty="0" smtClean="0"/>
              <a:t> </a:t>
            </a:r>
            <a:r>
              <a:rPr lang="en-US" dirty="0" smtClean="0">
                <a:solidFill>
                  <a:srgbClr val="FF0000"/>
                </a:solidFill>
              </a:rPr>
              <a:t>Simple graph</a:t>
            </a:r>
            <a:r>
              <a:rPr lang="en-US" dirty="0" smtClean="0"/>
              <a:t> with </a:t>
            </a:r>
            <a:r>
              <a:rPr lang="en-US" dirty="0" smtClean="0">
                <a:solidFill>
                  <a:srgbClr val="FF0000"/>
                </a:solidFill>
              </a:rPr>
              <a:t>four vertices</a:t>
            </a:r>
            <a:r>
              <a:rPr lang="en-US" dirty="0" smtClean="0"/>
              <a:t> of </a:t>
            </a:r>
            <a:r>
              <a:rPr lang="en-US" dirty="0" smtClean="0">
                <a:solidFill>
                  <a:srgbClr val="FF0000"/>
                </a:solidFill>
              </a:rPr>
              <a:t>degrees 1, 2, 3</a:t>
            </a:r>
            <a:r>
              <a:rPr lang="en-US" dirty="0" smtClean="0"/>
              <a:t> and    </a:t>
            </a:r>
          </a:p>
          <a:p>
            <a:pPr>
              <a:buNone/>
            </a:pPr>
            <a:r>
              <a:rPr lang="en-US" dirty="0" smtClean="0"/>
              <a:t>          </a:t>
            </a:r>
            <a:r>
              <a:rPr lang="en-US" dirty="0" smtClean="0">
                <a:solidFill>
                  <a:srgbClr val="FF0000"/>
                </a:solidFill>
              </a:rPr>
              <a:t>4.</a:t>
            </a:r>
          </a:p>
          <a:p>
            <a:endParaRPr lang="en-US" dirty="0" smtClean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ctr"/>
            <a:endParaRPr lang="en-US" b="1" u="sng" dirty="0" smtClean="0">
              <a:solidFill>
                <a:srgbClr val="0070C0"/>
              </a:solidFill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19944-04AC-4CD8-BA69-63C2A678C21A}" type="slidenum">
              <a:rPr lang="en-US" smtClean="0"/>
              <a:pPr/>
              <a:t>26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>
              <a:buNone/>
            </a:pPr>
            <a:r>
              <a:rPr lang="en-US" b="1" dirty="0" smtClean="0">
                <a:solidFill>
                  <a:srgbClr val="249C2F"/>
                </a:solidFill>
              </a:rPr>
              <a:t>(</a:t>
            </a:r>
            <a:r>
              <a:rPr lang="en-US" b="1" dirty="0" err="1" smtClean="0">
                <a:solidFill>
                  <a:srgbClr val="249C2F"/>
                </a:solidFill>
              </a:rPr>
              <a:t>i</a:t>
            </a:r>
            <a:r>
              <a:rPr lang="en-US" b="1" dirty="0" smtClean="0">
                <a:solidFill>
                  <a:srgbClr val="249C2F"/>
                </a:solidFill>
              </a:rPr>
              <a:t>)</a:t>
            </a:r>
            <a:r>
              <a:rPr lang="en-US" dirty="0" smtClean="0"/>
              <a:t>  Graph with </a:t>
            </a:r>
            <a:r>
              <a:rPr lang="en-US" dirty="0" smtClean="0">
                <a:solidFill>
                  <a:srgbClr val="FF0000"/>
                </a:solidFill>
              </a:rPr>
              <a:t>four vertices</a:t>
            </a:r>
            <a:r>
              <a:rPr lang="en-US" dirty="0" smtClean="0"/>
              <a:t> of </a:t>
            </a:r>
            <a:r>
              <a:rPr lang="en-US" dirty="0" smtClean="0">
                <a:solidFill>
                  <a:srgbClr val="FF0000"/>
                </a:solidFill>
              </a:rPr>
              <a:t>degrees 1, 2, 3</a:t>
            </a:r>
            <a:r>
              <a:rPr lang="en-US" dirty="0" smtClean="0"/>
              <a:t> and </a:t>
            </a:r>
            <a:r>
              <a:rPr lang="en-US" dirty="0" smtClean="0">
                <a:solidFill>
                  <a:srgbClr val="FF0000"/>
                </a:solidFill>
              </a:rPr>
              <a:t>3 </a:t>
            </a:r>
          </a:p>
          <a:p>
            <a:pPr>
              <a:buNone/>
            </a:pPr>
            <a:r>
              <a:rPr lang="en-US" b="1" dirty="0" smtClean="0"/>
              <a:t>	</a:t>
            </a:r>
          </a:p>
          <a:p>
            <a:pPr>
              <a:buNone/>
            </a:pPr>
            <a:r>
              <a:rPr lang="en-US" b="1" dirty="0" smtClean="0"/>
              <a:t>		</a:t>
            </a:r>
            <a:r>
              <a:rPr lang="en-US" dirty="0" smtClean="0"/>
              <a:t>Total degree of graph = 1 + 2 + 3 + 3</a:t>
            </a:r>
          </a:p>
          <a:p>
            <a:pPr>
              <a:buNone/>
            </a:pPr>
            <a:r>
              <a:rPr lang="en-US" dirty="0" smtClean="0"/>
              <a:t>	  		           	  = </a:t>
            </a:r>
            <a:r>
              <a:rPr lang="en-US" dirty="0" smtClean="0">
                <a:solidFill>
                  <a:srgbClr val="FF0000"/>
                </a:solidFill>
              </a:rPr>
              <a:t>9 an odd integer</a:t>
            </a:r>
          </a:p>
          <a:p>
            <a:endParaRPr lang="en-US" dirty="0" smtClean="0"/>
          </a:p>
          <a:p>
            <a:pPr>
              <a:buNone/>
            </a:pPr>
            <a:r>
              <a:rPr lang="en-US" dirty="0" smtClean="0"/>
              <a:t>	Hence by </a:t>
            </a:r>
            <a:r>
              <a:rPr lang="en-US" dirty="0" smtClean="0">
                <a:solidFill>
                  <a:srgbClr val="FF0000"/>
                </a:solidFill>
              </a:rPr>
              <a:t>Hand-Shaking Theorem</a:t>
            </a:r>
            <a:r>
              <a:rPr lang="en-US" dirty="0" smtClean="0"/>
              <a:t>, first graph is not possible.</a:t>
            </a:r>
          </a:p>
          <a:p>
            <a:endParaRPr lang="en-US" dirty="0" smtClean="0"/>
          </a:p>
          <a:p>
            <a:endParaRPr lang="en-US" dirty="0" smtClean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endParaRPr lang="en-US" b="1" u="sng" dirty="0" smtClean="0">
              <a:solidFill>
                <a:srgbClr val="0070C0"/>
              </a:solidFill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19944-04AC-4CD8-BA69-63C2A678C21A}" type="slidenum">
              <a:rPr lang="en-US" smtClean="0"/>
              <a:pPr/>
              <a:t>27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>
              <a:buNone/>
            </a:pPr>
            <a:r>
              <a:rPr lang="en-US" b="1" dirty="0" smtClean="0">
                <a:solidFill>
                  <a:srgbClr val="249C2F"/>
                </a:solidFill>
              </a:rPr>
              <a:t>(ii)</a:t>
            </a:r>
            <a:r>
              <a:rPr lang="en-US" dirty="0" smtClean="0"/>
              <a:t> Graph with </a:t>
            </a:r>
            <a:r>
              <a:rPr lang="en-US" dirty="0" smtClean="0">
                <a:solidFill>
                  <a:srgbClr val="FF0000"/>
                </a:solidFill>
              </a:rPr>
              <a:t>four vertices</a:t>
            </a:r>
            <a:r>
              <a:rPr lang="en-US" dirty="0" smtClean="0"/>
              <a:t> of </a:t>
            </a:r>
            <a:r>
              <a:rPr lang="en-US" dirty="0" smtClean="0">
                <a:solidFill>
                  <a:srgbClr val="FF0000"/>
                </a:solidFill>
              </a:rPr>
              <a:t>degrees 1, 2, 3</a:t>
            </a:r>
            <a:r>
              <a:rPr lang="en-US" dirty="0" smtClean="0"/>
              <a:t> and </a:t>
            </a:r>
            <a:r>
              <a:rPr lang="en-US" dirty="0" smtClean="0">
                <a:solidFill>
                  <a:srgbClr val="FF0000"/>
                </a:solidFill>
              </a:rPr>
              <a:t>4</a:t>
            </a:r>
          </a:p>
          <a:p>
            <a:pPr>
              <a:buNone/>
            </a:pPr>
            <a:endParaRPr lang="en-US" dirty="0" smtClean="0">
              <a:solidFill>
                <a:srgbClr val="FF0000"/>
              </a:solidFill>
            </a:endParaRPr>
          </a:p>
          <a:p>
            <a:pPr>
              <a:buNone/>
            </a:pPr>
            <a:r>
              <a:rPr lang="en-US" dirty="0" smtClean="0"/>
              <a:t>		Total degree of graph = 1 + 2 + 3 </a:t>
            </a:r>
            <a:r>
              <a:rPr lang="en-US" smtClean="0"/>
              <a:t>+ 4</a:t>
            </a:r>
            <a:endParaRPr lang="en-US" dirty="0" smtClean="0"/>
          </a:p>
          <a:p>
            <a:pPr>
              <a:buNone/>
            </a:pPr>
            <a:r>
              <a:rPr lang="en-US" dirty="0" smtClean="0"/>
              <a:t>	  		           	  = </a:t>
            </a:r>
            <a:r>
              <a:rPr lang="en-US" dirty="0" smtClean="0">
                <a:solidFill>
                  <a:srgbClr val="FF0000"/>
                </a:solidFill>
              </a:rPr>
              <a:t>10 an even integer</a:t>
            </a:r>
          </a:p>
          <a:p>
            <a:pPr>
              <a:buNone/>
            </a:pPr>
            <a:endParaRPr lang="en-US" dirty="0" smtClean="0">
              <a:solidFill>
                <a:srgbClr val="FF0000"/>
              </a:solidFill>
            </a:endParaRPr>
          </a:p>
          <a:p>
            <a:r>
              <a:rPr lang="en-US" dirty="0" smtClean="0"/>
              <a:t>The vertices </a:t>
            </a:r>
            <a:r>
              <a:rPr lang="en-US" dirty="0" smtClean="0">
                <a:solidFill>
                  <a:srgbClr val="FF0000"/>
                </a:solidFill>
              </a:rPr>
              <a:t>a</a:t>
            </a:r>
            <a:r>
              <a:rPr lang="en-US" dirty="0" smtClean="0"/>
              <a:t>, </a:t>
            </a:r>
            <a:r>
              <a:rPr lang="en-US" dirty="0" smtClean="0">
                <a:solidFill>
                  <a:srgbClr val="FF0000"/>
                </a:solidFill>
              </a:rPr>
              <a:t>b</a:t>
            </a:r>
            <a:r>
              <a:rPr lang="en-US" dirty="0" smtClean="0"/>
              <a:t>, </a:t>
            </a:r>
            <a:r>
              <a:rPr lang="en-US" dirty="0" smtClean="0">
                <a:solidFill>
                  <a:srgbClr val="FF0000"/>
                </a:solidFill>
              </a:rPr>
              <a:t>c</a:t>
            </a:r>
            <a:r>
              <a:rPr lang="en-US" dirty="0" smtClean="0"/>
              <a:t>, </a:t>
            </a:r>
            <a:r>
              <a:rPr lang="en-US" dirty="0" smtClean="0">
                <a:solidFill>
                  <a:srgbClr val="FF0000"/>
                </a:solidFill>
              </a:rPr>
              <a:t>d</a:t>
            </a:r>
            <a:r>
              <a:rPr lang="en-US" dirty="0" smtClean="0"/>
              <a:t> have degrees </a:t>
            </a:r>
            <a:r>
              <a:rPr lang="en-US" dirty="0" smtClean="0">
                <a:solidFill>
                  <a:srgbClr val="FF0000"/>
                </a:solidFill>
              </a:rPr>
              <a:t>1</a:t>
            </a:r>
            <a:r>
              <a:rPr lang="en-US" dirty="0" smtClean="0"/>
              <a:t>, </a:t>
            </a:r>
            <a:r>
              <a:rPr lang="en-US" dirty="0" smtClean="0">
                <a:solidFill>
                  <a:srgbClr val="FF0000"/>
                </a:solidFill>
              </a:rPr>
              <a:t>2</a:t>
            </a:r>
            <a:r>
              <a:rPr lang="en-US" dirty="0" smtClean="0"/>
              <a:t>, </a:t>
            </a:r>
            <a:r>
              <a:rPr lang="en-US" dirty="0" smtClean="0">
                <a:solidFill>
                  <a:srgbClr val="FF0000"/>
                </a:solidFill>
              </a:rPr>
              <a:t>3</a:t>
            </a:r>
            <a:r>
              <a:rPr lang="en-US" dirty="0" smtClean="0"/>
              <a:t>, and </a:t>
            </a:r>
            <a:r>
              <a:rPr lang="en-US" dirty="0" smtClean="0">
                <a:solidFill>
                  <a:srgbClr val="FF0000"/>
                </a:solidFill>
              </a:rPr>
              <a:t>4</a:t>
            </a:r>
            <a:r>
              <a:rPr lang="en-US" dirty="0" smtClean="0"/>
              <a:t> respectively (i.e. graph exists).</a:t>
            </a:r>
          </a:p>
          <a:p>
            <a:endParaRPr lang="en-US" dirty="0" smtClean="0"/>
          </a:p>
          <a:p>
            <a:pPr>
              <a:buNone/>
            </a:pPr>
            <a:r>
              <a:rPr lang="en-US" dirty="0" smtClean="0"/>
              <a:t>			</a:t>
            </a:r>
            <a:r>
              <a:rPr lang="en-US" dirty="0" smtClean="0">
                <a:solidFill>
                  <a:srgbClr val="FF0000"/>
                </a:solidFill>
              </a:rPr>
              <a:t>deg(a) </a:t>
            </a:r>
            <a:r>
              <a:rPr lang="en-US" dirty="0" smtClean="0"/>
              <a:t>=</a:t>
            </a:r>
            <a:r>
              <a:rPr lang="en-US" dirty="0" smtClean="0">
                <a:solidFill>
                  <a:srgbClr val="FF0000"/>
                </a:solidFill>
              </a:rPr>
              <a:t> 1</a:t>
            </a:r>
            <a:r>
              <a:rPr lang="en-US" dirty="0" smtClean="0"/>
              <a:t>		</a:t>
            </a:r>
            <a:r>
              <a:rPr lang="en-US" dirty="0" smtClean="0">
                <a:solidFill>
                  <a:srgbClr val="FF0000"/>
                </a:solidFill>
              </a:rPr>
              <a:t>deg(b) </a:t>
            </a:r>
            <a:r>
              <a:rPr lang="en-US" dirty="0" smtClean="0"/>
              <a:t>=</a:t>
            </a:r>
            <a:r>
              <a:rPr lang="en-US" dirty="0" smtClean="0">
                <a:solidFill>
                  <a:srgbClr val="FF0000"/>
                </a:solidFill>
              </a:rPr>
              <a:t> 2</a:t>
            </a:r>
          </a:p>
          <a:p>
            <a:pPr>
              <a:buNone/>
            </a:pPr>
            <a:r>
              <a:rPr lang="en-US" dirty="0" smtClean="0"/>
              <a:t>			</a:t>
            </a:r>
            <a:r>
              <a:rPr lang="en-US" dirty="0" smtClean="0">
                <a:solidFill>
                  <a:srgbClr val="FF0000"/>
                </a:solidFill>
              </a:rPr>
              <a:t>deg(c) </a:t>
            </a:r>
            <a:r>
              <a:rPr lang="en-US" dirty="0" smtClean="0"/>
              <a:t>=</a:t>
            </a:r>
            <a:r>
              <a:rPr lang="en-US" dirty="0" smtClean="0">
                <a:solidFill>
                  <a:srgbClr val="FF0000"/>
                </a:solidFill>
              </a:rPr>
              <a:t> 3</a:t>
            </a:r>
            <a:r>
              <a:rPr lang="en-US" dirty="0" smtClean="0"/>
              <a:t>		</a:t>
            </a:r>
            <a:r>
              <a:rPr lang="en-US" dirty="0" smtClean="0">
                <a:solidFill>
                  <a:srgbClr val="FF0000"/>
                </a:solidFill>
              </a:rPr>
              <a:t>deg(d) </a:t>
            </a:r>
            <a:r>
              <a:rPr lang="en-US" dirty="0" smtClean="0"/>
              <a:t>=</a:t>
            </a:r>
            <a:r>
              <a:rPr lang="en-US" dirty="0" smtClean="0">
                <a:solidFill>
                  <a:srgbClr val="FF0000"/>
                </a:solidFill>
              </a:rPr>
              <a:t> 4</a:t>
            </a: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endParaRPr lang="en-US" b="1" u="sng" dirty="0" smtClean="0">
              <a:solidFill>
                <a:srgbClr val="0070C0"/>
              </a:solidFill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19944-04AC-4CD8-BA69-63C2A678C21A}" type="slidenum">
              <a:rPr lang="en-US" smtClean="0"/>
              <a:pPr/>
              <a:t>28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>
              <a:buNone/>
            </a:pPr>
            <a:r>
              <a:rPr lang="en-US" dirty="0" smtClean="0">
                <a:solidFill>
                  <a:srgbClr val="FF0000"/>
                </a:solidFill>
              </a:rPr>
              <a:t>		</a:t>
            </a:r>
          </a:p>
          <a:p>
            <a:pPr>
              <a:buNone/>
            </a:pPr>
            <a:endParaRPr lang="en-US" dirty="0" smtClean="0">
              <a:solidFill>
                <a:srgbClr val="FF0000"/>
              </a:solidFill>
            </a:endParaRPr>
          </a:p>
          <a:p>
            <a:pPr>
              <a:buNone/>
            </a:pPr>
            <a:endParaRPr lang="en-US" dirty="0" smtClean="0">
              <a:solidFill>
                <a:srgbClr val="FF0000"/>
              </a:solidFill>
            </a:endParaRPr>
          </a:p>
          <a:p>
            <a:pPr>
              <a:buNone/>
            </a:pPr>
            <a:endParaRPr lang="en-US" dirty="0" smtClean="0">
              <a:solidFill>
                <a:srgbClr val="FF0000"/>
              </a:solidFill>
            </a:endParaRPr>
          </a:p>
          <a:p>
            <a:pPr>
              <a:buNone/>
            </a:pPr>
            <a:endParaRPr lang="en-US" dirty="0" smtClean="0">
              <a:solidFill>
                <a:srgbClr val="FF0000"/>
              </a:solidFill>
            </a:endParaRPr>
          </a:p>
          <a:p>
            <a:pPr>
              <a:buNone/>
            </a:pPr>
            <a:endParaRPr lang="en-US" dirty="0" smtClean="0">
              <a:solidFill>
                <a:srgbClr val="FF0000"/>
              </a:solidFill>
            </a:endParaRPr>
          </a:p>
          <a:p>
            <a:pPr>
              <a:buNone/>
            </a:pPr>
            <a:r>
              <a:rPr lang="en-US" dirty="0" smtClean="0">
                <a:solidFill>
                  <a:srgbClr val="FF0000"/>
                </a:solidFill>
              </a:rPr>
              <a:t>	deg(a) </a:t>
            </a:r>
            <a:r>
              <a:rPr lang="en-US" dirty="0" smtClean="0"/>
              <a:t>=</a:t>
            </a:r>
            <a:r>
              <a:rPr lang="en-US" dirty="0" smtClean="0">
                <a:solidFill>
                  <a:srgbClr val="FF0000"/>
                </a:solidFill>
              </a:rPr>
              <a:t> 1</a:t>
            </a:r>
            <a:r>
              <a:rPr lang="en-US" dirty="0" smtClean="0"/>
              <a:t>	</a:t>
            </a:r>
            <a:r>
              <a:rPr lang="en-US" dirty="0" smtClean="0">
                <a:solidFill>
                  <a:srgbClr val="FF0000"/>
                </a:solidFill>
              </a:rPr>
              <a:t>deg(b) </a:t>
            </a:r>
            <a:r>
              <a:rPr lang="en-US" dirty="0" smtClean="0"/>
              <a:t>=</a:t>
            </a:r>
            <a:r>
              <a:rPr lang="en-US" dirty="0" smtClean="0">
                <a:solidFill>
                  <a:srgbClr val="FF0000"/>
                </a:solidFill>
              </a:rPr>
              <a:t> 2		deg(a) </a:t>
            </a:r>
            <a:r>
              <a:rPr lang="en-US" dirty="0" smtClean="0"/>
              <a:t>=</a:t>
            </a:r>
            <a:r>
              <a:rPr lang="en-US" dirty="0" smtClean="0">
                <a:solidFill>
                  <a:srgbClr val="FF0000"/>
                </a:solidFill>
              </a:rPr>
              <a:t> 1</a:t>
            </a:r>
            <a:r>
              <a:rPr lang="en-US" dirty="0" smtClean="0"/>
              <a:t>	</a:t>
            </a:r>
            <a:r>
              <a:rPr lang="en-US" dirty="0" smtClean="0">
                <a:solidFill>
                  <a:srgbClr val="FF0000"/>
                </a:solidFill>
              </a:rPr>
              <a:t>deg(b) </a:t>
            </a:r>
            <a:r>
              <a:rPr lang="en-US" dirty="0" smtClean="0"/>
              <a:t>=</a:t>
            </a:r>
            <a:r>
              <a:rPr lang="en-US" dirty="0" smtClean="0">
                <a:solidFill>
                  <a:srgbClr val="FF0000"/>
                </a:solidFill>
              </a:rPr>
              <a:t> 2</a:t>
            </a:r>
          </a:p>
          <a:p>
            <a:pPr>
              <a:buNone/>
            </a:pPr>
            <a:r>
              <a:rPr lang="en-US" dirty="0" smtClean="0"/>
              <a:t>	</a:t>
            </a:r>
            <a:r>
              <a:rPr lang="en-US" dirty="0" smtClean="0">
                <a:solidFill>
                  <a:srgbClr val="FF0000"/>
                </a:solidFill>
              </a:rPr>
              <a:t>deg(c) </a:t>
            </a:r>
            <a:r>
              <a:rPr lang="en-US" dirty="0" smtClean="0"/>
              <a:t>=</a:t>
            </a:r>
            <a:r>
              <a:rPr lang="en-US" dirty="0" smtClean="0">
                <a:solidFill>
                  <a:srgbClr val="FF0000"/>
                </a:solidFill>
              </a:rPr>
              <a:t> 3</a:t>
            </a:r>
            <a:r>
              <a:rPr lang="en-US" dirty="0" smtClean="0"/>
              <a:t>	</a:t>
            </a:r>
            <a:r>
              <a:rPr lang="en-US" dirty="0" smtClean="0">
                <a:solidFill>
                  <a:srgbClr val="FF0000"/>
                </a:solidFill>
              </a:rPr>
              <a:t>deg(d) </a:t>
            </a:r>
            <a:r>
              <a:rPr lang="en-US" dirty="0" smtClean="0"/>
              <a:t>=</a:t>
            </a:r>
            <a:r>
              <a:rPr lang="en-US" dirty="0" smtClean="0">
                <a:solidFill>
                  <a:srgbClr val="FF0000"/>
                </a:solidFill>
              </a:rPr>
              <a:t> 4		deg(c) </a:t>
            </a:r>
            <a:r>
              <a:rPr lang="en-US" dirty="0" smtClean="0"/>
              <a:t>=</a:t>
            </a:r>
            <a:r>
              <a:rPr lang="en-US" dirty="0" smtClean="0">
                <a:solidFill>
                  <a:srgbClr val="FF0000"/>
                </a:solidFill>
              </a:rPr>
              <a:t> 3</a:t>
            </a:r>
            <a:r>
              <a:rPr lang="en-US" dirty="0" smtClean="0"/>
              <a:t>	</a:t>
            </a:r>
            <a:r>
              <a:rPr lang="en-US" dirty="0" smtClean="0">
                <a:solidFill>
                  <a:srgbClr val="FF0000"/>
                </a:solidFill>
              </a:rPr>
              <a:t>deg(d) </a:t>
            </a:r>
            <a:r>
              <a:rPr lang="en-US" dirty="0" smtClean="0"/>
              <a:t>=</a:t>
            </a:r>
            <a:r>
              <a:rPr lang="en-US" dirty="0" smtClean="0">
                <a:solidFill>
                  <a:srgbClr val="FF0000"/>
                </a:solidFill>
              </a:rPr>
              <a:t> 4</a:t>
            </a:r>
          </a:p>
        </p:txBody>
      </p:sp>
      <p:pic>
        <p:nvPicPr>
          <p:cNvPr id="6" name="Picture 5"/>
          <p:cNvPicPr/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807720" y="1371600"/>
            <a:ext cx="2926080" cy="24688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" name="Picture 6"/>
          <p:cNvPicPr/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648200" y="1219200"/>
            <a:ext cx="3017520" cy="2743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endParaRPr lang="en-US" b="1" u="sng" dirty="0" smtClean="0">
              <a:solidFill>
                <a:srgbClr val="0070C0"/>
              </a:solidFill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19944-04AC-4CD8-BA69-63C2A678C21A}" type="slidenum">
              <a:rPr lang="en-US" smtClean="0"/>
              <a:pPr/>
              <a:t>29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92500" lnSpcReduction="20000"/>
          </a:bodyPr>
          <a:lstStyle/>
          <a:p>
            <a:pPr>
              <a:buNone/>
            </a:pPr>
            <a:r>
              <a:rPr lang="en-US" sz="2800" b="1" dirty="0" smtClean="0">
                <a:solidFill>
                  <a:srgbClr val="249C2F"/>
                </a:solidFill>
              </a:rPr>
              <a:t>(iii)</a:t>
            </a:r>
            <a:r>
              <a:rPr lang="en-US" sz="2800" dirty="0" smtClean="0"/>
              <a:t> </a:t>
            </a:r>
            <a:r>
              <a:rPr lang="en-US" sz="2800" dirty="0" smtClean="0">
                <a:solidFill>
                  <a:srgbClr val="FF0000"/>
                </a:solidFill>
              </a:rPr>
              <a:t>Simple graph</a:t>
            </a:r>
            <a:r>
              <a:rPr lang="en-US" sz="2800" dirty="0" smtClean="0"/>
              <a:t> with </a:t>
            </a:r>
            <a:r>
              <a:rPr lang="en-US" sz="2800" dirty="0" smtClean="0">
                <a:solidFill>
                  <a:srgbClr val="FF0000"/>
                </a:solidFill>
              </a:rPr>
              <a:t>four vertices</a:t>
            </a:r>
            <a:r>
              <a:rPr lang="en-US" sz="2800" dirty="0" smtClean="0"/>
              <a:t> of </a:t>
            </a:r>
            <a:r>
              <a:rPr lang="en-US" sz="2800" dirty="0" smtClean="0">
                <a:solidFill>
                  <a:srgbClr val="FF0000"/>
                </a:solidFill>
              </a:rPr>
              <a:t>degrees 1, 2, 3</a:t>
            </a:r>
            <a:r>
              <a:rPr lang="en-US" sz="2800" dirty="0" smtClean="0"/>
              <a:t>  and </a:t>
            </a:r>
            <a:r>
              <a:rPr lang="en-US" sz="2800" dirty="0" smtClean="0">
                <a:solidFill>
                  <a:srgbClr val="FF0000"/>
                </a:solidFill>
              </a:rPr>
              <a:t>4</a:t>
            </a:r>
            <a:r>
              <a:rPr lang="en-US" sz="2800" dirty="0" smtClean="0"/>
              <a:t>.</a:t>
            </a:r>
          </a:p>
          <a:p>
            <a:pPr>
              <a:buNone/>
            </a:pPr>
            <a:endParaRPr lang="en-US" sz="2800" dirty="0" smtClean="0"/>
          </a:p>
          <a:p>
            <a:r>
              <a:rPr lang="en-US" sz="2800" dirty="0" smtClean="0"/>
              <a:t>Suppose there was a </a:t>
            </a:r>
            <a:r>
              <a:rPr lang="en-US" sz="2800" dirty="0" smtClean="0">
                <a:solidFill>
                  <a:srgbClr val="FF0000"/>
                </a:solidFill>
              </a:rPr>
              <a:t>simple graph</a:t>
            </a:r>
            <a:r>
              <a:rPr lang="en-US" sz="2800" dirty="0" smtClean="0"/>
              <a:t> with four vertices of degrees </a:t>
            </a:r>
            <a:r>
              <a:rPr lang="en-US" sz="2800" dirty="0" smtClean="0">
                <a:solidFill>
                  <a:srgbClr val="FF0000"/>
                </a:solidFill>
              </a:rPr>
              <a:t>1</a:t>
            </a:r>
            <a:r>
              <a:rPr lang="en-US" sz="2800" dirty="0" smtClean="0"/>
              <a:t>, </a:t>
            </a:r>
            <a:r>
              <a:rPr lang="en-US" sz="2800" dirty="0" smtClean="0">
                <a:solidFill>
                  <a:srgbClr val="FF0000"/>
                </a:solidFill>
              </a:rPr>
              <a:t>2</a:t>
            </a:r>
            <a:r>
              <a:rPr lang="en-US" sz="2800" dirty="0" smtClean="0"/>
              <a:t>, </a:t>
            </a:r>
            <a:r>
              <a:rPr lang="en-US" sz="2800" dirty="0" smtClean="0">
                <a:solidFill>
                  <a:srgbClr val="FF0000"/>
                </a:solidFill>
              </a:rPr>
              <a:t>3</a:t>
            </a:r>
            <a:r>
              <a:rPr lang="en-US" sz="2800" dirty="0" smtClean="0"/>
              <a:t>, and </a:t>
            </a:r>
            <a:r>
              <a:rPr lang="en-US" sz="2800" dirty="0" smtClean="0">
                <a:solidFill>
                  <a:srgbClr val="FF0000"/>
                </a:solidFill>
              </a:rPr>
              <a:t>4</a:t>
            </a:r>
            <a:r>
              <a:rPr lang="en-US" sz="2800" dirty="0" smtClean="0"/>
              <a:t>. Then the </a:t>
            </a:r>
            <a:r>
              <a:rPr lang="en-US" sz="2800" dirty="0" smtClean="0">
                <a:solidFill>
                  <a:srgbClr val="FF0000"/>
                </a:solidFill>
              </a:rPr>
              <a:t>vertex</a:t>
            </a:r>
            <a:r>
              <a:rPr lang="en-US" sz="2800" dirty="0" smtClean="0"/>
              <a:t> of </a:t>
            </a:r>
            <a:r>
              <a:rPr lang="en-US" sz="2800" dirty="0" smtClean="0">
                <a:solidFill>
                  <a:srgbClr val="FF0000"/>
                </a:solidFill>
              </a:rPr>
              <a:t>degree 4</a:t>
            </a:r>
            <a:r>
              <a:rPr lang="en-US" sz="2800" dirty="0" smtClean="0"/>
              <a:t> would have to be connected by </a:t>
            </a:r>
            <a:r>
              <a:rPr lang="en-US" sz="2800" dirty="0" smtClean="0">
                <a:solidFill>
                  <a:srgbClr val="FF0000"/>
                </a:solidFill>
              </a:rPr>
              <a:t>edges</a:t>
            </a:r>
            <a:r>
              <a:rPr lang="en-US" sz="2800" dirty="0" smtClean="0"/>
              <a:t> to </a:t>
            </a:r>
            <a:r>
              <a:rPr lang="en-US" sz="2800" dirty="0" smtClean="0">
                <a:solidFill>
                  <a:srgbClr val="FF0000"/>
                </a:solidFill>
              </a:rPr>
              <a:t>four distinct vertices</a:t>
            </a:r>
            <a:r>
              <a:rPr lang="en-US" sz="2800" dirty="0" smtClean="0"/>
              <a:t> other than itself because of the assumption that the graph is simple (and hence has </a:t>
            </a:r>
            <a:r>
              <a:rPr lang="en-US" sz="2800" dirty="0" smtClean="0">
                <a:solidFill>
                  <a:srgbClr val="FF0000"/>
                </a:solidFill>
              </a:rPr>
              <a:t>no loop</a:t>
            </a:r>
            <a:r>
              <a:rPr lang="en-US" sz="2800" dirty="0" smtClean="0"/>
              <a:t> or </a:t>
            </a:r>
            <a:r>
              <a:rPr lang="en-US" sz="2800" dirty="0" smtClean="0">
                <a:solidFill>
                  <a:srgbClr val="FF0000"/>
                </a:solidFill>
              </a:rPr>
              <a:t>parallel edges</a:t>
            </a:r>
            <a:r>
              <a:rPr lang="en-US" sz="2800" dirty="0" smtClean="0"/>
              <a:t>.) This contradicts the assumption that the graph has four vertices in total. </a:t>
            </a:r>
          </a:p>
          <a:p>
            <a:endParaRPr lang="en-US" sz="2800" dirty="0" smtClean="0"/>
          </a:p>
          <a:p>
            <a:r>
              <a:rPr lang="en-US" sz="2800" dirty="0" smtClean="0"/>
              <a:t>Hence there is </a:t>
            </a:r>
            <a:r>
              <a:rPr lang="en-US" sz="2800" dirty="0" smtClean="0">
                <a:solidFill>
                  <a:srgbClr val="FF0000"/>
                </a:solidFill>
              </a:rPr>
              <a:t>no simple graph</a:t>
            </a:r>
            <a:r>
              <a:rPr lang="en-US" sz="2800" dirty="0" smtClean="0"/>
              <a:t> with </a:t>
            </a:r>
            <a:r>
              <a:rPr lang="en-US" sz="2800" dirty="0" smtClean="0">
                <a:solidFill>
                  <a:srgbClr val="FF0000"/>
                </a:solidFill>
              </a:rPr>
              <a:t>four vertices</a:t>
            </a:r>
            <a:r>
              <a:rPr lang="en-US" sz="2800" dirty="0" smtClean="0"/>
              <a:t> of degrees 1, 2, 3, and 4, so simple </a:t>
            </a:r>
            <a:r>
              <a:rPr lang="en-US" sz="2800" dirty="0" smtClean="0">
                <a:solidFill>
                  <a:srgbClr val="FF0000"/>
                </a:solidFill>
              </a:rPr>
              <a:t>graph is not possible</a:t>
            </a:r>
            <a:r>
              <a:rPr lang="en-US" sz="2800" dirty="0" smtClean="0"/>
              <a:t> in this case.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u="sng" dirty="0" smtClean="0">
                <a:solidFill>
                  <a:srgbClr val="0070C0"/>
                </a:solidFill>
              </a:rPr>
              <a:t>EXERCISE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19944-04AC-4CD8-BA69-63C2A678C21A}" type="slidenum">
              <a:rPr lang="en-US" smtClean="0"/>
              <a:pPr/>
              <a:t>30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Suppose a </a:t>
            </a:r>
            <a:r>
              <a:rPr lang="en-US" dirty="0" smtClean="0">
                <a:solidFill>
                  <a:srgbClr val="FF0000"/>
                </a:solidFill>
              </a:rPr>
              <a:t>graph</a:t>
            </a:r>
            <a:r>
              <a:rPr lang="en-US" dirty="0" smtClean="0"/>
              <a:t> has </a:t>
            </a:r>
            <a:r>
              <a:rPr lang="en-US" dirty="0" smtClean="0">
                <a:solidFill>
                  <a:srgbClr val="FF0000"/>
                </a:solidFill>
              </a:rPr>
              <a:t>vertices</a:t>
            </a:r>
            <a:r>
              <a:rPr lang="en-US" dirty="0" smtClean="0"/>
              <a:t> of </a:t>
            </a:r>
            <a:r>
              <a:rPr lang="en-US" dirty="0" smtClean="0">
                <a:solidFill>
                  <a:srgbClr val="FF0000"/>
                </a:solidFill>
              </a:rPr>
              <a:t>degrees</a:t>
            </a:r>
            <a:r>
              <a:rPr lang="en-US" dirty="0" smtClean="0"/>
              <a:t> </a:t>
            </a:r>
            <a:r>
              <a:rPr lang="en-US" dirty="0" smtClean="0">
                <a:solidFill>
                  <a:srgbClr val="FF0000"/>
                </a:solidFill>
              </a:rPr>
              <a:t>1</a:t>
            </a:r>
            <a:r>
              <a:rPr lang="en-US" dirty="0" smtClean="0"/>
              <a:t>, </a:t>
            </a:r>
            <a:r>
              <a:rPr lang="en-US" dirty="0" smtClean="0">
                <a:solidFill>
                  <a:srgbClr val="FF0000"/>
                </a:solidFill>
              </a:rPr>
              <a:t>1</a:t>
            </a:r>
            <a:r>
              <a:rPr lang="en-US" dirty="0" smtClean="0"/>
              <a:t>, </a:t>
            </a:r>
            <a:r>
              <a:rPr lang="en-US" dirty="0" smtClean="0">
                <a:solidFill>
                  <a:srgbClr val="FF0000"/>
                </a:solidFill>
              </a:rPr>
              <a:t>4</a:t>
            </a:r>
            <a:r>
              <a:rPr lang="en-US" dirty="0" smtClean="0"/>
              <a:t>, </a:t>
            </a:r>
            <a:r>
              <a:rPr lang="en-US" dirty="0" smtClean="0">
                <a:solidFill>
                  <a:srgbClr val="FF0000"/>
                </a:solidFill>
              </a:rPr>
              <a:t>4</a:t>
            </a:r>
            <a:r>
              <a:rPr lang="en-US" dirty="0" smtClean="0"/>
              <a:t> and </a:t>
            </a:r>
            <a:r>
              <a:rPr lang="en-US" dirty="0" smtClean="0">
                <a:solidFill>
                  <a:srgbClr val="FF0000"/>
                </a:solidFill>
              </a:rPr>
              <a:t>6</a:t>
            </a:r>
            <a:r>
              <a:rPr lang="en-US" dirty="0" smtClean="0"/>
              <a:t>. How many </a:t>
            </a:r>
            <a:r>
              <a:rPr lang="en-US" dirty="0" smtClean="0">
                <a:solidFill>
                  <a:srgbClr val="FF0000"/>
                </a:solidFill>
              </a:rPr>
              <a:t>edges</a:t>
            </a:r>
            <a:r>
              <a:rPr lang="en-US" dirty="0" smtClean="0"/>
              <a:t> does the </a:t>
            </a:r>
            <a:r>
              <a:rPr lang="en-US" dirty="0" smtClean="0">
                <a:solidFill>
                  <a:srgbClr val="FF0000"/>
                </a:solidFill>
              </a:rPr>
              <a:t>graph</a:t>
            </a:r>
            <a:r>
              <a:rPr lang="en-US" dirty="0" smtClean="0"/>
              <a:t> have?</a:t>
            </a:r>
          </a:p>
          <a:p>
            <a:endParaRPr lang="en-US" dirty="0" smtClean="0"/>
          </a:p>
          <a:p>
            <a:r>
              <a:rPr lang="en-US" b="1" u="sng" dirty="0" smtClean="0">
                <a:solidFill>
                  <a:srgbClr val="0070C0"/>
                </a:solidFill>
              </a:rPr>
              <a:t>SOLUTION:</a:t>
            </a:r>
            <a:endParaRPr lang="en-US" dirty="0" smtClean="0">
              <a:solidFill>
                <a:srgbClr val="0070C0"/>
              </a:solidFill>
            </a:endParaRPr>
          </a:p>
          <a:p>
            <a:pPr>
              <a:buNone/>
            </a:pPr>
            <a:r>
              <a:rPr lang="en-US" dirty="0" smtClean="0"/>
              <a:t>		The </a:t>
            </a:r>
            <a:r>
              <a:rPr lang="en-US" dirty="0" smtClean="0">
                <a:solidFill>
                  <a:srgbClr val="FF0000"/>
                </a:solidFill>
              </a:rPr>
              <a:t>total degree</a:t>
            </a:r>
            <a:r>
              <a:rPr lang="en-US" dirty="0" smtClean="0"/>
              <a:t> of </a:t>
            </a:r>
            <a:r>
              <a:rPr lang="en-US" dirty="0" smtClean="0">
                <a:solidFill>
                  <a:srgbClr val="FF0000"/>
                </a:solidFill>
              </a:rPr>
              <a:t>graph</a:t>
            </a:r>
            <a:r>
              <a:rPr lang="en-US" dirty="0" smtClean="0"/>
              <a:t> = 1 + 1 + 4 + 4 + 6</a:t>
            </a:r>
          </a:p>
          <a:p>
            <a:pPr>
              <a:buNone/>
            </a:pPr>
            <a:r>
              <a:rPr lang="en-US" dirty="0" smtClean="0"/>
              <a:t>					        = 16</a:t>
            </a:r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r>
              <a:rPr lang="en-US" dirty="0" smtClean="0"/>
              <a:t>	 </a:t>
            </a:r>
            <a:r>
              <a:rPr lang="en-US" dirty="0" smtClean="0">
                <a:sym typeface="Symbol"/>
              </a:rPr>
              <a:t></a:t>
            </a:r>
            <a:r>
              <a:rPr lang="en-US" dirty="0" smtClean="0"/>
              <a:t>  Number of </a:t>
            </a:r>
            <a:r>
              <a:rPr lang="en-US" dirty="0" smtClean="0">
                <a:solidFill>
                  <a:srgbClr val="FF0000"/>
                </a:solidFill>
              </a:rPr>
              <a:t>edges</a:t>
            </a:r>
            <a:r>
              <a:rPr lang="en-US" dirty="0" smtClean="0"/>
              <a:t> of </a:t>
            </a:r>
            <a:r>
              <a:rPr lang="en-US" dirty="0" smtClean="0">
                <a:solidFill>
                  <a:srgbClr val="FF0000"/>
                </a:solidFill>
              </a:rPr>
              <a:t>graph</a:t>
            </a:r>
            <a:r>
              <a:rPr lang="en-US" dirty="0" smtClean="0"/>
              <a:t> = </a:t>
            </a:r>
          </a:p>
          <a:p>
            <a:endParaRPr lang="en-US" dirty="0" smtClean="0"/>
          </a:p>
          <a:p>
            <a:endParaRPr lang="en-US" dirty="0"/>
          </a:p>
        </p:txBody>
      </p:sp>
      <p:graphicFrame>
        <p:nvGraphicFramePr>
          <p:cNvPr id="274433" name="Object 1"/>
          <p:cNvGraphicFramePr>
            <a:graphicFrameLocks noChangeAspect="1"/>
          </p:cNvGraphicFramePr>
          <p:nvPr/>
        </p:nvGraphicFramePr>
        <p:xfrm>
          <a:off x="5334000" y="4293398"/>
          <a:ext cx="838200" cy="76424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4435" r:id="rId3" imgW="431640" imgH="393480" progId="">
                  <p:embed/>
                </p:oleObj>
              </mc:Choice>
              <mc:Fallback>
                <p:oleObj r:id="rId3" imgW="431640" imgH="393480" progId="">
                  <p:embed/>
                  <p:pic>
                    <p:nvPicPr>
                      <p:cNvPr id="0" name="Picture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34000" y="4293398"/>
                        <a:ext cx="838200" cy="76424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4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2" dur="500"/>
                                        <p:tgtEl>
                                          <p:spTgt spid="2744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u="sng" dirty="0" smtClean="0">
                <a:solidFill>
                  <a:srgbClr val="0070C0"/>
                </a:solidFill>
              </a:rPr>
              <a:t>COMPLETE GRAPH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19944-04AC-4CD8-BA69-63C2A678C21A}" type="slidenum">
              <a:rPr lang="en-US" smtClean="0"/>
              <a:pPr/>
              <a:t>31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A </a:t>
            </a:r>
            <a:r>
              <a:rPr lang="en-US" dirty="0" smtClean="0">
                <a:solidFill>
                  <a:srgbClr val="FF0000"/>
                </a:solidFill>
              </a:rPr>
              <a:t>complete graph</a:t>
            </a:r>
            <a:r>
              <a:rPr lang="en-US" dirty="0" smtClean="0"/>
              <a:t> on </a:t>
            </a:r>
            <a:r>
              <a:rPr lang="en-US" dirty="0" smtClean="0">
                <a:solidFill>
                  <a:srgbClr val="FF0000"/>
                </a:solidFill>
              </a:rPr>
              <a:t>“n”</a:t>
            </a:r>
            <a:r>
              <a:rPr lang="en-US" dirty="0" smtClean="0"/>
              <a:t> </a:t>
            </a:r>
            <a:r>
              <a:rPr lang="en-US" dirty="0" smtClean="0">
                <a:solidFill>
                  <a:srgbClr val="FF0000"/>
                </a:solidFill>
              </a:rPr>
              <a:t>vertices</a:t>
            </a:r>
            <a:r>
              <a:rPr lang="en-US" dirty="0" smtClean="0"/>
              <a:t> is a </a:t>
            </a:r>
            <a:r>
              <a:rPr lang="en-US" dirty="0" smtClean="0">
                <a:solidFill>
                  <a:srgbClr val="FF0000"/>
                </a:solidFill>
              </a:rPr>
              <a:t>simple graph</a:t>
            </a:r>
            <a:r>
              <a:rPr lang="en-US" dirty="0" smtClean="0"/>
              <a:t> in which each </a:t>
            </a:r>
            <a:r>
              <a:rPr lang="en-US" dirty="0" smtClean="0">
                <a:solidFill>
                  <a:srgbClr val="FF0000"/>
                </a:solidFill>
              </a:rPr>
              <a:t>vertex</a:t>
            </a:r>
            <a:r>
              <a:rPr lang="en-US" dirty="0" smtClean="0"/>
              <a:t> is </a:t>
            </a:r>
            <a:r>
              <a:rPr lang="en-US" dirty="0" smtClean="0">
                <a:solidFill>
                  <a:srgbClr val="FF0000"/>
                </a:solidFill>
              </a:rPr>
              <a:t>connected</a:t>
            </a:r>
            <a:r>
              <a:rPr lang="en-US" dirty="0" smtClean="0"/>
              <a:t> to every other </a:t>
            </a:r>
            <a:r>
              <a:rPr lang="en-US" dirty="0" smtClean="0">
                <a:solidFill>
                  <a:srgbClr val="FF0000"/>
                </a:solidFill>
              </a:rPr>
              <a:t>vertex</a:t>
            </a:r>
            <a:r>
              <a:rPr lang="en-US" dirty="0" smtClean="0"/>
              <a:t> and is denoted by </a:t>
            </a:r>
            <a:r>
              <a:rPr lang="en-US" dirty="0" err="1" smtClean="0">
                <a:solidFill>
                  <a:srgbClr val="FF0000"/>
                </a:solidFill>
              </a:rPr>
              <a:t>K</a:t>
            </a:r>
            <a:r>
              <a:rPr lang="en-US" baseline="-25000" dirty="0" err="1" smtClean="0">
                <a:solidFill>
                  <a:srgbClr val="FF0000"/>
                </a:solidFill>
              </a:rPr>
              <a:t>n</a:t>
            </a:r>
            <a:r>
              <a:rPr lang="en-US" baseline="-25000" dirty="0" smtClean="0"/>
              <a:t> </a:t>
            </a:r>
            <a:r>
              <a:rPr lang="en-US" dirty="0" smtClean="0"/>
              <a:t>(</a:t>
            </a:r>
            <a:r>
              <a:rPr lang="en-US" dirty="0" err="1" smtClean="0"/>
              <a:t>K</a:t>
            </a:r>
            <a:r>
              <a:rPr lang="en-US" baseline="-25000" dirty="0" err="1" smtClean="0"/>
              <a:t>n</a:t>
            </a:r>
            <a:r>
              <a:rPr lang="en-US" dirty="0" smtClean="0"/>
              <a:t> means that there are n vertices).</a:t>
            </a:r>
          </a:p>
          <a:p>
            <a:pPr>
              <a:buNone/>
            </a:pPr>
            <a:endParaRPr lang="pt-BR" dirty="0" smtClean="0">
              <a:solidFill>
                <a:srgbClr val="FF0000"/>
              </a:solidFill>
            </a:endParaRPr>
          </a:p>
        </p:txBody>
      </p:sp>
      <p:pic>
        <p:nvPicPr>
          <p:cNvPr id="5" name="Picture 4"/>
          <p:cNvPicPr/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918962" y="2743200"/>
            <a:ext cx="516709" cy="914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" name="Picture 5"/>
          <p:cNvPicPr/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977640" y="2788920"/>
            <a:ext cx="2194560" cy="10972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" name="Picture 6"/>
          <p:cNvPicPr/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899160" y="2316480"/>
            <a:ext cx="2377440" cy="21031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8" name="Picture 7"/>
          <p:cNvPicPr/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1752600" y="4191000"/>
            <a:ext cx="2743200" cy="23774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9" name="Picture 8"/>
          <p:cNvPicPr/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5029200" y="3764280"/>
            <a:ext cx="2651760" cy="25603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33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u="sng" dirty="0" smtClean="0">
                <a:solidFill>
                  <a:srgbClr val="0070C0"/>
                </a:solidFill>
              </a:rPr>
              <a:t>REGULAR GRAPH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19944-04AC-4CD8-BA69-63C2A678C21A}" type="slidenum">
              <a:rPr lang="en-US" smtClean="0"/>
              <a:pPr/>
              <a:t>32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A </a:t>
            </a:r>
            <a:r>
              <a:rPr lang="en-US" dirty="0" smtClean="0">
                <a:solidFill>
                  <a:srgbClr val="FF0000"/>
                </a:solidFill>
              </a:rPr>
              <a:t>graph G</a:t>
            </a:r>
            <a:r>
              <a:rPr lang="en-US" dirty="0" smtClean="0"/>
              <a:t> is regular graph of </a:t>
            </a:r>
            <a:r>
              <a:rPr lang="en-US" dirty="0" smtClean="0">
                <a:solidFill>
                  <a:srgbClr val="FF0000"/>
                </a:solidFill>
              </a:rPr>
              <a:t>degree k</a:t>
            </a:r>
            <a:r>
              <a:rPr lang="en-US" dirty="0" smtClean="0"/>
              <a:t> or </a:t>
            </a:r>
            <a:r>
              <a:rPr lang="en-US" dirty="0" smtClean="0">
                <a:solidFill>
                  <a:srgbClr val="FF0000"/>
                </a:solidFill>
              </a:rPr>
              <a:t>k-regular</a:t>
            </a:r>
            <a:r>
              <a:rPr lang="en-US" dirty="0" smtClean="0"/>
              <a:t> if every </a:t>
            </a:r>
            <a:r>
              <a:rPr lang="en-US" dirty="0" smtClean="0">
                <a:solidFill>
                  <a:srgbClr val="FF0000"/>
                </a:solidFill>
              </a:rPr>
              <a:t>vertex</a:t>
            </a:r>
            <a:r>
              <a:rPr lang="en-US" dirty="0" smtClean="0"/>
              <a:t> of </a:t>
            </a:r>
            <a:r>
              <a:rPr lang="en-US" dirty="0" smtClean="0">
                <a:solidFill>
                  <a:srgbClr val="FF0000"/>
                </a:solidFill>
              </a:rPr>
              <a:t>G</a:t>
            </a:r>
            <a:r>
              <a:rPr lang="en-US" dirty="0" smtClean="0"/>
              <a:t> has </a:t>
            </a:r>
            <a:r>
              <a:rPr lang="en-US" dirty="0" smtClean="0">
                <a:solidFill>
                  <a:srgbClr val="FF0000"/>
                </a:solidFill>
              </a:rPr>
              <a:t>degree k</a:t>
            </a:r>
            <a:r>
              <a:rPr lang="en-US" dirty="0" smtClean="0"/>
              <a:t>.</a:t>
            </a:r>
          </a:p>
          <a:p>
            <a:endParaRPr lang="en-US" dirty="0" smtClean="0"/>
          </a:p>
          <a:p>
            <a:r>
              <a:rPr lang="en-US" dirty="0" smtClean="0"/>
              <a:t>In other words, a </a:t>
            </a:r>
            <a:r>
              <a:rPr lang="en-US" dirty="0" smtClean="0">
                <a:solidFill>
                  <a:srgbClr val="FF0000"/>
                </a:solidFill>
              </a:rPr>
              <a:t>graph</a:t>
            </a:r>
            <a:r>
              <a:rPr lang="en-US" dirty="0" smtClean="0"/>
              <a:t> is </a:t>
            </a:r>
            <a:r>
              <a:rPr lang="en-US" dirty="0" smtClean="0">
                <a:solidFill>
                  <a:srgbClr val="FF0000"/>
                </a:solidFill>
              </a:rPr>
              <a:t>regular</a:t>
            </a:r>
            <a:r>
              <a:rPr lang="en-US" dirty="0" smtClean="0"/>
              <a:t> if every </a:t>
            </a:r>
            <a:r>
              <a:rPr lang="en-US" dirty="0" smtClean="0">
                <a:solidFill>
                  <a:srgbClr val="FF0000"/>
                </a:solidFill>
              </a:rPr>
              <a:t>vertex</a:t>
            </a:r>
            <a:r>
              <a:rPr lang="en-US" dirty="0" smtClean="0"/>
              <a:t> has the </a:t>
            </a:r>
            <a:r>
              <a:rPr lang="en-US" dirty="0" smtClean="0">
                <a:solidFill>
                  <a:srgbClr val="FF0000"/>
                </a:solidFill>
              </a:rPr>
              <a:t>same degree</a:t>
            </a:r>
            <a:r>
              <a:rPr lang="en-US" dirty="0" smtClean="0"/>
              <a:t>.</a:t>
            </a:r>
          </a:p>
          <a:p>
            <a:endParaRPr lang="en-US" dirty="0" smtClean="0"/>
          </a:p>
          <a:p>
            <a:r>
              <a:rPr lang="en-US" dirty="0" smtClean="0"/>
              <a:t>Following are some </a:t>
            </a:r>
            <a:r>
              <a:rPr lang="en-US" dirty="0" smtClean="0">
                <a:solidFill>
                  <a:srgbClr val="FF0000"/>
                </a:solidFill>
              </a:rPr>
              <a:t>regular graphs</a:t>
            </a:r>
            <a:r>
              <a:rPr lang="en-US" dirty="0" smtClean="0"/>
              <a:t>.</a:t>
            </a: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endParaRPr lang="en-US" b="1" u="sng" dirty="0" smtClean="0">
              <a:solidFill>
                <a:srgbClr val="0070C0"/>
              </a:solidFill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19944-04AC-4CD8-BA69-63C2A678C21A}" type="slidenum">
              <a:rPr lang="en-US" smtClean="0"/>
              <a:pPr/>
              <a:t>33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en-US" dirty="0" smtClean="0"/>
          </a:p>
          <a:p>
            <a:pPr>
              <a:buNone/>
            </a:pPr>
            <a:endParaRPr lang="en-US" dirty="0" smtClean="0"/>
          </a:p>
          <a:p>
            <a:endParaRPr lang="en-US" dirty="0"/>
          </a:p>
        </p:txBody>
      </p:sp>
      <p:pic>
        <p:nvPicPr>
          <p:cNvPr id="5" name="Picture 4"/>
          <p:cNvPicPr/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295400" y="1371600"/>
            <a:ext cx="1737360" cy="914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" name="Picture 5"/>
          <p:cNvPicPr/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838700" y="1352263"/>
            <a:ext cx="1828800" cy="914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" name="Picture 6"/>
          <p:cNvPicPr/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1371600" y="2743199"/>
            <a:ext cx="6858000" cy="1828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u="sng" dirty="0" smtClean="0">
                <a:solidFill>
                  <a:srgbClr val="0070C0"/>
                </a:solidFill>
              </a:rPr>
              <a:t>EXERCISE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19944-04AC-4CD8-BA69-63C2A678C21A}" type="slidenum">
              <a:rPr lang="en-US" smtClean="0"/>
              <a:pPr/>
              <a:t>34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Draw two </a:t>
            </a:r>
            <a:r>
              <a:rPr lang="en-US" dirty="0" smtClean="0">
                <a:solidFill>
                  <a:srgbClr val="FF0000"/>
                </a:solidFill>
              </a:rPr>
              <a:t>3-regular graphs</a:t>
            </a:r>
            <a:r>
              <a:rPr lang="en-US" dirty="0" smtClean="0"/>
              <a:t> with </a:t>
            </a:r>
            <a:r>
              <a:rPr lang="en-US" dirty="0" smtClean="0">
                <a:solidFill>
                  <a:srgbClr val="FF0000"/>
                </a:solidFill>
              </a:rPr>
              <a:t>six vertices</a:t>
            </a:r>
            <a:r>
              <a:rPr lang="en-US" dirty="0" smtClean="0"/>
              <a:t>.</a:t>
            </a:r>
          </a:p>
          <a:p>
            <a:pPr>
              <a:buNone/>
            </a:pPr>
            <a:endParaRPr lang="en-US" dirty="0" smtClean="0"/>
          </a:p>
          <a:p>
            <a:r>
              <a:rPr lang="en-US" b="1" u="sng" dirty="0" smtClean="0">
                <a:solidFill>
                  <a:srgbClr val="0070C0"/>
                </a:solidFill>
              </a:rPr>
              <a:t>SOLUTION:</a:t>
            </a:r>
            <a:endParaRPr lang="en-US" dirty="0" smtClean="0">
              <a:solidFill>
                <a:srgbClr val="0070C0"/>
              </a:solidFill>
            </a:endParaRPr>
          </a:p>
          <a:p>
            <a:endParaRPr lang="en-US" dirty="0"/>
          </a:p>
        </p:txBody>
      </p:sp>
      <p:pic>
        <p:nvPicPr>
          <p:cNvPr id="5" name="Picture 4"/>
          <p:cNvPicPr/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219200" y="2743200"/>
            <a:ext cx="6583680" cy="26517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u="sng" dirty="0" smtClean="0">
                <a:solidFill>
                  <a:srgbClr val="0070C0"/>
                </a:solidFill>
              </a:rPr>
              <a:t>BIPARTITE GRAPH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19944-04AC-4CD8-BA69-63C2A678C21A}" type="slidenum">
              <a:rPr lang="en-US" smtClean="0"/>
              <a:pPr/>
              <a:t>35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A </a:t>
            </a:r>
            <a:r>
              <a:rPr lang="en-US" dirty="0" smtClean="0">
                <a:solidFill>
                  <a:srgbClr val="FF0000"/>
                </a:solidFill>
              </a:rPr>
              <a:t>bipartite graph G</a:t>
            </a:r>
            <a:r>
              <a:rPr lang="en-US" dirty="0" smtClean="0"/>
              <a:t> is a </a:t>
            </a:r>
            <a:r>
              <a:rPr lang="en-US" dirty="0" smtClean="0">
                <a:solidFill>
                  <a:srgbClr val="FF0000"/>
                </a:solidFill>
              </a:rPr>
              <a:t>simple graph</a:t>
            </a:r>
            <a:r>
              <a:rPr lang="en-US" dirty="0" smtClean="0"/>
              <a:t> whose </a:t>
            </a:r>
            <a:r>
              <a:rPr lang="en-US" dirty="0" smtClean="0">
                <a:solidFill>
                  <a:srgbClr val="FF0000"/>
                </a:solidFill>
              </a:rPr>
              <a:t>vertex set</a:t>
            </a:r>
            <a:r>
              <a:rPr lang="en-US" dirty="0" smtClean="0"/>
              <a:t> can be partitioned into two </a:t>
            </a:r>
            <a:r>
              <a:rPr lang="en-US" dirty="0" smtClean="0">
                <a:solidFill>
                  <a:srgbClr val="FF0000"/>
                </a:solidFill>
              </a:rPr>
              <a:t>mutually disjoint</a:t>
            </a:r>
            <a:r>
              <a:rPr lang="en-US" dirty="0" smtClean="0"/>
              <a:t> non </a:t>
            </a:r>
            <a:r>
              <a:rPr lang="en-US" dirty="0" smtClean="0">
                <a:solidFill>
                  <a:srgbClr val="FF0000"/>
                </a:solidFill>
              </a:rPr>
              <a:t>empty subsets A</a:t>
            </a:r>
            <a:r>
              <a:rPr lang="en-US" dirty="0" smtClean="0"/>
              <a:t> and </a:t>
            </a:r>
            <a:r>
              <a:rPr lang="en-US" dirty="0" smtClean="0">
                <a:solidFill>
                  <a:srgbClr val="FF0000"/>
                </a:solidFill>
              </a:rPr>
              <a:t>B</a:t>
            </a:r>
            <a:r>
              <a:rPr lang="en-US" dirty="0" smtClean="0"/>
              <a:t> such that the </a:t>
            </a:r>
            <a:r>
              <a:rPr lang="en-US" dirty="0" smtClean="0">
                <a:solidFill>
                  <a:srgbClr val="FF0000"/>
                </a:solidFill>
              </a:rPr>
              <a:t>vertices</a:t>
            </a:r>
            <a:r>
              <a:rPr lang="en-US" dirty="0" smtClean="0"/>
              <a:t> in </a:t>
            </a:r>
            <a:r>
              <a:rPr lang="en-US" dirty="0" smtClean="0">
                <a:solidFill>
                  <a:srgbClr val="FF0000"/>
                </a:solidFill>
              </a:rPr>
              <a:t>A</a:t>
            </a:r>
            <a:r>
              <a:rPr lang="en-US" dirty="0" smtClean="0"/>
              <a:t> may be </a:t>
            </a:r>
            <a:r>
              <a:rPr lang="en-US" dirty="0" smtClean="0">
                <a:solidFill>
                  <a:srgbClr val="FF0000"/>
                </a:solidFill>
              </a:rPr>
              <a:t>connected</a:t>
            </a:r>
            <a:r>
              <a:rPr lang="en-US" dirty="0" smtClean="0"/>
              <a:t> to </a:t>
            </a:r>
            <a:r>
              <a:rPr lang="en-US" dirty="0" smtClean="0">
                <a:solidFill>
                  <a:srgbClr val="FF0000"/>
                </a:solidFill>
              </a:rPr>
              <a:t>vertices</a:t>
            </a:r>
            <a:r>
              <a:rPr lang="en-US" dirty="0" smtClean="0"/>
              <a:t> in </a:t>
            </a:r>
            <a:r>
              <a:rPr lang="en-US" dirty="0" smtClean="0">
                <a:solidFill>
                  <a:srgbClr val="FF0000"/>
                </a:solidFill>
              </a:rPr>
              <a:t>B</a:t>
            </a:r>
            <a:r>
              <a:rPr lang="en-US" dirty="0" smtClean="0"/>
              <a:t>, but no </a:t>
            </a:r>
            <a:r>
              <a:rPr lang="en-US" dirty="0" smtClean="0">
                <a:solidFill>
                  <a:srgbClr val="FF0000"/>
                </a:solidFill>
              </a:rPr>
              <a:t>vertices</a:t>
            </a:r>
            <a:r>
              <a:rPr lang="en-US" dirty="0" smtClean="0"/>
              <a:t> in </a:t>
            </a:r>
            <a:r>
              <a:rPr lang="en-US" dirty="0" smtClean="0">
                <a:solidFill>
                  <a:srgbClr val="FF0000"/>
                </a:solidFill>
              </a:rPr>
              <a:t>A</a:t>
            </a:r>
            <a:r>
              <a:rPr lang="en-US" dirty="0" smtClean="0"/>
              <a:t> are </a:t>
            </a:r>
            <a:r>
              <a:rPr lang="en-US" dirty="0" smtClean="0">
                <a:solidFill>
                  <a:srgbClr val="FF0000"/>
                </a:solidFill>
              </a:rPr>
              <a:t>connected</a:t>
            </a:r>
            <a:r>
              <a:rPr lang="en-US" dirty="0" smtClean="0"/>
              <a:t> to </a:t>
            </a:r>
            <a:r>
              <a:rPr lang="en-US" dirty="0" smtClean="0">
                <a:solidFill>
                  <a:srgbClr val="FF0000"/>
                </a:solidFill>
              </a:rPr>
              <a:t>vertices</a:t>
            </a:r>
            <a:r>
              <a:rPr lang="en-US" dirty="0" smtClean="0"/>
              <a:t> in </a:t>
            </a:r>
            <a:r>
              <a:rPr lang="en-US" dirty="0" smtClean="0">
                <a:solidFill>
                  <a:srgbClr val="FF0000"/>
                </a:solidFill>
              </a:rPr>
              <a:t>A</a:t>
            </a:r>
            <a:r>
              <a:rPr lang="en-US" dirty="0" smtClean="0"/>
              <a:t> and no </a:t>
            </a:r>
            <a:r>
              <a:rPr lang="en-US" dirty="0" smtClean="0">
                <a:solidFill>
                  <a:srgbClr val="FF0000"/>
                </a:solidFill>
              </a:rPr>
              <a:t>vertices</a:t>
            </a:r>
            <a:r>
              <a:rPr lang="en-US" dirty="0" smtClean="0"/>
              <a:t> in </a:t>
            </a:r>
            <a:r>
              <a:rPr lang="en-US" dirty="0" smtClean="0">
                <a:solidFill>
                  <a:srgbClr val="FF0000"/>
                </a:solidFill>
              </a:rPr>
              <a:t>B</a:t>
            </a:r>
            <a:r>
              <a:rPr lang="en-US" dirty="0" smtClean="0"/>
              <a:t> are </a:t>
            </a:r>
            <a:r>
              <a:rPr lang="en-US" dirty="0" smtClean="0">
                <a:solidFill>
                  <a:srgbClr val="FF0000"/>
                </a:solidFill>
              </a:rPr>
              <a:t>connected</a:t>
            </a:r>
            <a:r>
              <a:rPr lang="en-US" dirty="0" smtClean="0"/>
              <a:t> to </a:t>
            </a:r>
            <a:r>
              <a:rPr lang="en-US" dirty="0" smtClean="0">
                <a:solidFill>
                  <a:srgbClr val="FF0000"/>
                </a:solidFill>
              </a:rPr>
              <a:t>vertices</a:t>
            </a:r>
            <a:r>
              <a:rPr lang="en-US" dirty="0" smtClean="0"/>
              <a:t> in </a:t>
            </a:r>
            <a:r>
              <a:rPr lang="en-US" dirty="0" smtClean="0">
                <a:solidFill>
                  <a:srgbClr val="FF0000"/>
                </a:solidFill>
              </a:rPr>
              <a:t>B</a:t>
            </a:r>
            <a:r>
              <a:rPr lang="en-US" dirty="0" smtClean="0"/>
              <a:t>.</a:t>
            </a:r>
          </a:p>
          <a:p>
            <a:endParaRPr lang="en-US" dirty="0" smtClean="0">
              <a:solidFill>
                <a:srgbClr val="FF0000"/>
              </a:solidFill>
            </a:endParaRPr>
          </a:p>
          <a:p>
            <a:endParaRPr lang="en-US" dirty="0"/>
          </a:p>
        </p:txBody>
      </p:sp>
      <p:pic>
        <p:nvPicPr>
          <p:cNvPr id="5" name="Picture 4"/>
          <p:cNvPicPr/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838200" y="3810000"/>
            <a:ext cx="7589520" cy="2286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 smtClean="0">
                <a:solidFill>
                  <a:srgbClr val="0070C0"/>
                </a:solidFill>
              </a:rPr>
              <a:t>MATRIX REPRESENTATIONS OF GRAPHS</a:t>
            </a:r>
            <a:endParaRPr lang="en-US" dirty="0">
              <a:solidFill>
                <a:srgbClr val="0070C0"/>
              </a:solidFill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19944-04AC-4CD8-BA69-63C2A678C21A}" type="slidenum">
              <a:rPr lang="en-US" smtClean="0"/>
              <a:pPr/>
              <a:t>36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To </a:t>
            </a:r>
            <a:r>
              <a:rPr lang="en-US" dirty="0" smtClean="0">
                <a:solidFill>
                  <a:srgbClr val="FF0000"/>
                </a:solidFill>
              </a:rPr>
              <a:t>store graph</a:t>
            </a:r>
            <a:r>
              <a:rPr lang="en-US" dirty="0" smtClean="0"/>
              <a:t> in </a:t>
            </a:r>
            <a:r>
              <a:rPr lang="en-US" dirty="0" smtClean="0">
                <a:solidFill>
                  <a:srgbClr val="FF0000"/>
                </a:solidFill>
              </a:rPr>
              <a:t>computer</a:t>
            </a:r>
            <a:r>
              <a:rPr lang="en-US" dirty="0" smtClean="0"/>
              <a:t> with </a:t>
            </a:r>
            <a:r>
              <a:rPr lang="en-US" dirty="0" smtClean="0">
                <a:solidFill>
                  <a:srgbClr val="FF0000"/>
                </a:solidFill>
              </a:rPr>
              <a:t>pictorial</a:t>
            </a:r>
            <a:r>
              <a:rPr lang="en-US" dirty="0" smtClean="0"/>
              <a:t> representation is </a:t>
            </a:r>
            <a:r>
              <a:rPr lang="en-US" dirty="0" smtClean="0">
                <a:solidFill>
                  <a:srgbClr val="FF0000"/>
                </a:solidFill>
              </a:rPr>
              <a:t>not possible</a:t>
            </a:r>
            <a:r>
              <a:rPr lang="en-US" dirty="0" smtClean="0"/>
              <a:t> rather you will </a:t>
            </a:r>
            <a:r>
              <a:rPr lang="en-US" dirty="0" smtClean="0">
                <a:solidFill>
                  <a:srgbClr val="FF0000"/>
                </a:solidFill>
              </a:rPr>
              <a:t>store</a:t>
            </a:r>
            <a:r>
              <a:rPr lang="en-US" dirty="0" smtClean="0"/>
              <a:t> the </a:t>
            </a:r>
            <a:r>
              <a:rPr lang="en-US" dirty="0" smtClean="0">
                <a:solidFill>
                  <a:srgbClr val="FF0000"/>
                </a:solidFill>
              </a:rPr>
              <a:t>graph</a:t>
            </a:r>
            <a:r>
              <a:rPr lang="en-US" dirty="0" smtClean="0"/>
              <a:t> with </a:t>
            </a:r>
            <a:r>
              <a:rPr lang="en-US" dirty="0" smtClean="0">
                <a:solidFill>
                  <a:srgbClr val="FF0000"/>
                </a:solidFill>
              </a:rPr>
              <a:t>matrix</a:t>
            </a:r>
            <a:r>
              <a:rPr lang="en-US" dirty="0" smtClean="0"/>
              <a:t> representation.</a:t>
            </a:r>
          </a:p>
          <a:p>
            <a:endParaRPr lang="en-US" dirty="0" smtClean="0"/>
          </a:p>
          <a:p>
            <a:r>
              <a:rPr lang="en-US" dirty="0" smtClean="0"/>
              <a:t>It is difficult to </a:t>
            </a:r>
            <a:r>
              <a:rPr lang="en-US" dirty="0" smtClean="0">
                <a:solidFill>
                  <a:srgbClr val="FF0000"/>
                </a:solidFill>
              </a:rPr>
              <a:t>analyze</a:t>
            </a:r>
            <a:r>
              <a:rPr lang="en-US" dirty="0" smtClean="0"/>
              <a:t> a big complex graph with hundreds of vertices and thousands of edges, but in matrix form you can analyze big graph better. 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ctr"/>
            <a:r>
              <a:rPr lang="en-US" b="1" u="sng" dirty="0" smtClean="0">
                <a:solidFill>
                  <a:srgbClr val="0070C0"/>
                </a:solidFill>
              </a:rPr>
              <a:t>MATRIX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19944-04AC-4CD8-BA69-63C2A678C21A}" type="slidenum">
              <a:rPr lang="en-US" smtClean="0"/>
              <a:pPr/>
              <a:t>37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5029200"/>
          </a:xfrm>
        </p:spPr>
        <p:txBody>
          <a:bodyPr>
            <a:normAutofit fontScale="92500" lnSpcReduction="10000"/>
          </a:bodyPr>
          <a:lstStyle/>
          <a:p>
            <a:r>
              <a:rPr lang="en-US" dirty="0" smtClean="0"/>
              <a:t>An </a:t>
            </a:r>
            <a:r>
              <a:rPr lang="en-US" dirty="0" smtClean="0">
                <a:solidFill>
                  <a:srgbClr val="FF0000"/>
                </a:solidFill>
              </a:rPr>
              <a:t>m </a:t>
            </a:r>
            <a:r>
              <a:rPr lang="en-US" dirty="0" smtClean="0">
                <a:solidFill>
                  <a:srgbClr val="FF0000"/>
                </a:solidFill>
                <a:sym typeface="Symbol"/>
              </a:rPr>
              <a:t></a:t>
            </a:r>
            <a:r>
              <a:rPr lang="en-US" dirty="0" smtClean="0">
                <a:solidFill>
                  <a:srgbClr val="FF0000"/>
                </a:solidFill>
              </a:rPr>
              <a:t> n</a:t>
            </a:r>
            <a:r>
              <a:rPr lang="en-US" dirty="0" smtClean="0"/>
              <a:t> matrix </a:t>
            </a:r>
            <a:r>
              <a:rPr lang="en-US" dirty="0" smtClean="0">
                <a:solidFill>
                  <a:srgbClr val="FF0000"/>
                </a:solidFill>
              </a:rPr>
              <a:t>A</a:t>
            </a:r>
            <a:r>
              <a:rPr lang="en-US" dirty="0" smtClean="0"/>
              <a:t> over a set </a:t>
            </a:r>
            <a:r>
              <a:rPr lang="en-US" dirty="0" smtClean="0">
                <a:solidFill>
                  <a:srgbClr val="FF0000"/>
                </a:solidFill>
              </a:rPr>
              <a:t>S</a:t>
            </a:r>
            <a:r>
              <a:rPr lang="en-US" dirty="0" smtClean="0"/>
              <a:t> is a </a:t>
            </a:r>
            <a:r>
              <a:rPr lang="en-US" dirty="0" smtClean="0">
                <a:solidFill>
                  <a:srgbClr val="FF0000"/>
                </a:solidFill>
              </a:rPr>
              <a:t>rectangular array</a:t>
            </a:r>
            <a:r>
              <a:rPr lang="en-US" dirty="0" smtClean="0"/>
              <a:t> of elements of </a:t>
            </a:r>
            <a:r>
              <a:rPr lang="en-US" dirty="0" smtClean="0">
                <a:solidFill>
                  <a:srgbClr val="FF0000"/>
                </a:solidFill>
              </a:rPr>
              <a:t>S</a:t>
            </a:r>
            <a:r>
              <a:rPr lang="en-US" dirty="0" smtClean="0"/>
              <a:t> arranged into </a:t>
            </a:r>
            <a:r>
              <a:rPr lang="en-US" dirty="0" smtClean="0">
                <a:solidFill>
                  <a:srgbClr val="FF0000"/>
                </a:solidFill>
              </a:rPr>
              <a:t>m rows</a:t>
            </a:r>
            <a:r>
              <a:rPr lang="en-US" dirty="0" smtClean="0"/>
              <a:t> and </a:t>
            </a:r>
            <a:r>
              <a:rPr lang="en-US" dirty="0" smtClean="0">
                <a:solidFill>
                  <a:srgbClr val="FF0000"/>
                </a:solidFill>
              </a:rPr>
              <a:t>n columns</a:t>
            </a:r>
            <a:r>
              <a:rPr lang="en-US" dirty="0" smtClean="0"/>
              <a:t>:</a:t>
            </a:r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pPr>
              <a:buNone/>
            </a:pPr>
            <a:r>
              <a:rPr lang="en-US" dirty="0" smtClean="0"/>
              <a:t>						     </a:t>
            </a:r>
            <a:r>
              <a:rPr lang="en-US" dirty="0" smtClean="0">
                <a:solidFill>
                  <a:srgbClr val="FF0000"/>
                </a:solidFill>
                <a:sym typeface="Symbol"/>
              </a:rPr>
              <a:t></a:t>
            </a:r>
          </a:p>
          <a:p>
            <a:pPr>
              <a:buNone/>
            </a:pPr>
            <a:r>
              <a:rPr lang="en-US" dirty="0" smtClean="0"/>
              <a:t>						</a:t>
            </a:r>
            <a:r>
              <a:rPr lang="en-US" dirty="0" err="1" smtClean="0">
                <a:solidFill>
                  <a:srgbClr val="FF0000"/>
                </a:solidFill>
              </a:rPr>
              <a:t>j</a:t>
            </a:r>
            <a:r>
              <a:rPr lang="en-US" baseline="30000" dirty="0" err="1" smtClean="0">
                <a:solidFill>
                  <a:srgbClr val="FF0000"/>
                </a:solidFill>
              </a:rPr>
              <a:t>th</a:t>
            </a:r>
            <a:r>
              <a:rPr lang="en-US" dirty="0" smtClean="0">
                <a:solidFill>
                  <a:srgbClr val="FF0000"/>
                </a:solidFill>
              </a:rPr>
              <a:t> column</a:t>
            </a:r>
            <a:r>
              <a:rPr lang="en-US" dirty="0" smtClean="0"/>
              <a:t> of </a:t>
            </a:r>
            <a:r>
              <a:rPr lang="en-US" dirty="0" smtClean="0">
                <a:solidFill>
                  <a:srgbClr val="FF0000"/>
                </a:solidFill>
              </a:rPr>
              <a:t>A</a:t>
            </a:r>
          </a:p>
          <a:p>
            <a:pPr>
              <a:buNone/>
            </a:pPr>
            <a:r>
              <a:rPr lang="en-US" dirty="0" smtClean="0"/>
              <a:t>	Briefly, it is written as: </a:t>
            </a:r>
            <a:r>
              <a:rPr lang="pt-BR" b="1" dirty="0" smtClean="0">
                <a:solidFill>
                  <a:srgbClr val="FF0000"/>
                </a:solidFill>
              </a:rPr>
              <a:t>A = [a</a:t>
            </a:r>
            <a:r>
              <a:rPr lang="pt-BR" b="1" baseline="-25000" dirty="0" smtClean="0">
                <a:solidFill>
                  <a:srgbClr val="FF0000"/>
                </a:solidFill>
              </a:rPr>
              <a:t>ij </a:t>
            </a:r>
            <a:r>
              <a:rPr lang="pt-BR" b="1" dirty="0" smtClean="0">
                <a:solidFill>
                  <a:srgbClr val="FF0000"/>
                </a:solidFill>
              </a:rPr>
              <a:t>]</a:t>
            </a:r>
            <a:r>
              <a:rPr lang="pt-BR" b="1" baseline="-25000" dirty="0" smtClean="0">
                <a:solidFill>
                  <a:srgbClr val="FF0000"/>
                </a:solidFill>
              </a:rPr>
              <a:t> m</a:t>
            </a:r>
            <a:r>
              <a:rPr lang="en-US" b="1" baseline="-25000" dirty="0" smtClean="0">
                <a:solidFill>
                  <a:srgbClr val="FF0000"/>
                </a:solidFill>
                <a:sym typeface="Symbol"/>
              </a:rPr>
              <a:t></a:t>
            </a:r>
            <a:r>
              <a:rPr lang="pt-BR" b="1" baseline="-25000" dirty="0" smtClean="0">
                <a:solidFill>
                  <a:srgbClr val="FF0000"/>
                </a:solidFill>
              </a:rPr>
              <a:t>n</a:t>
            </a:r>
            <a:endParaRPr lang="en-US" dirty="0" smtClean="0">
              <a:solidFill>
                <a:srgbClr val="FF0000"/>
              </a:solidFill>
            </a:endParaRPr>
          </a:p>
          <a:p>
            <a:endParaRPr lang="en-US" dirty="0" smtClean="0"/>
          </a:p>
          <a:p>
            <a:endParaRPr lang="en-US" dirty="0" smtClean="0"/>
          </a:p>
          <a:p>
            <a:endParaRPr lang="en-US" dirty="0"/>
          </a:p>
        </p:txBody>
      </p:sp>
      <p:graphicFrame>
        <p:nvGraphicFramePr>
          <p:cNvPr id="268289" name="Object 1"/>
          <p:cNvGraphicFramePr>
            <a:graphicFrameLocks noChangeAspect="1"/>
          </p:cNvGraphicFramePr>
          <p:nvPr/>
        </p:nvGraphicFramePr>
        <p:xfrm>
          <a:off x="2687573" y="1926608"/>
          <a:ext cx="4793675" cy="304800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8291" r:id="rId3" imgW="2197080" imgH="1396800" progId="">
                  <p:embed/>
                </p:oleObj>
              </mc:Choice>
              <mc:Fallback>
                <p:oleObj r:id="rId3" imgW="2197080" imgH="1396800" progId="">
                  <p:embed/>
                  <p:pic>
                    <p:nvPicPr>
                      <p:cNvPr id="0" name="Picture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87573" y="1926608"/>
                        <a:ext cx="4793675" cy="304800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2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2682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u="sng" dirty="0" smtClean="0">
                <a:solidFill>
                  <a:srgbClr val="0070C0"/>
                </a:solidFill>
              </a:rPr>
              <a:t>EXAMPLE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19944-04AC-4CD8-BA69-63C2A678C21A}" type="slidenum">
              <a:rPr lang="en-US" smtClean="0"/>
              <a:pPr/>
              <a:t>38</a:t>
            </a:fld>
            <a:endParaRPr lang="en-US"/>
          </a:p>
        </p:txBody>
      </p:sp>
      <p:sp>
        <p:nvSpPr>
          <p:cNvPr id="10" name="Content Placeholder 9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5181600"/>
          </a:xfrm>
        </p:spPr>
        <p:txBody>
          <a:bodyPr>
            <a:normAutofit/>
          </a:bodyPr>
          <a:lstStyle/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r>
              <a:rPr lang="en-US" dirty="0" smtClean="0">
                <a:solidFill>
                  <a:srgbClr val="FF0000"/>
                </a:solidFill>
              </a:rPr>
              <a:t>A</a:t>
            </a:r>
            <a:r>
              <a:rPr lang="en-US" dirty="0" smtClean="0"/>
              <a:t> is a </a:t>
            </a:r>
            <a:r>
              <a:rPr lang="en-US" dirty="0" smtClean="0">
                <a:solidFill>
                  <a:srgbClr val="FF0000"/>
                </a:solidFill>
              </a:rPr>
              <a:t>matrix</a:t>
            </a:r>
            <a:r>
              <a:rPr lang="en-US" dirty="0" smtClean="0"/>
              <a:t> having </a:t>
            </a:r>
            <a:r>
              <a:rPr lang="en-US" dirty="0" smtClean="0">
                <a:solidFill>
                  <a:srgbClr val="FF0000"/>
                </a:solidFill>
              </a:rPr>
              <a:t>3 rows</a:t>
            </a:r>
            <a:r>
              <a:rPr lang="en-US" dirty="0" smtClean="0"/>
              <a:t> and </a:t>
            </a:r>
            <a:r>
              <a:rPr lang="en-US" dirty="0" smtClean="0">
                <a:solidFill>
                  <a:srgbClr val="FF0000"/>
                </a:solidFill>
              </a:rPr>
              <a:t>4 columns</a:t>
            </a:r>
            <a:r>
              <a:rPr lang="en-US" dirty="0" smtClean="0"/>
              <a:t>. We call it a    </a:t>
            </a:r>
            <a:r>
              <a:rPr lang="en-US" dirty="0" smtClean="0">
                <a:solidFill>
                  <a:srgbClr val="FF0000"/>
                </a:solidFill>
              </a:rPr>
              <a:t>3 </a:t>
            </a:r>
            <a:r>
              <a:rPr lang="en-US" dirty="0" smtClean="0">
                <a:solidFill>
                  <a:srgbClr val="FF0000"/>
                </a:solidFill>
                <a:sym typeface="Symbol"/>
              </a:rPr>
              <a:t></a:t>
            </a:r>
            <a:r>
              <a:rPr lang="en-US" dirty="0" smtClean="0">
                <a:solidFill>
                  <a:srgbClr val="FF0000"/>
                </a:solidFill>
              </a:rPr>
              <a:t> 4</a:t>
            </a:r>
            <a:r>
              <a:rPr lang="en-US" dirty="0" smtClean="0"/>
              <a:t> </a:t>
            </a:r>
            <a:r>
              <a:rPr lang="en-US" dirty="0" smtClean="0">
                <a:solidFill>
                  <a:srgbClr val="FF0000"/>
                </a:solidFill>
              </a:rPr>
              <a:t>matrix</a:t>
            </a:r>
            <a:r>
              <a:rPr lang="en-US" dirty="0" smtClean="0"/>
              <a:t>, or matrix of </a:t>
            </a:r>
            <a:r>
              <a:rPr lang="en-US" dirty="0" smtClean="0">
                <a:solidFill>
                  <a:srgbClr val="FF0000"/>
                </a:solidFill>
              </a:rPr>
              <a:t>size 3 </a:t>
            </a:r>
            <a:r>
              <a:rPr lang="en-US" dirty="0" smtClean="0">
                <a:solidFill>
                  <a:srgbClr val="FF0000"/>
                </a:solidFill>
                <a:sym typeface="Symbol"/>
              </a:rPr>
              <a:t></a:t>
            </a:r>
            <a:r>
              <a:rPr lang="en-US" dirty="0" smtClean="0">
                <a:solidFill>
                  <a:srgbClr val="FF0000"/>
                </a:solidFill>
              </a:rPr>
              <a:t> 4</a:t>
            </a:r>
            <a:r>
              <a:rPr lang="en-US" dirty="0" smtClean="0"/>
              <a:t>(or we say that a </a:t>
            </a:r>
            <a:r>
              <a:rPr lang="en-US" dirty="0" smtClean="0">
                <a:solidFill>
                  <a:srgbClr val="FF0000"/>
                </a:solidFill>
              </a:rPr>
              <a:t>matrix</a:t>
            </a:r>
            <a:r>
              <a:rPr lang="en-US" dirty="0" smtClean="0"/>
              <a:t> having an </a:t>
            </a:r>
            <a:r>
              <a:rPr lang="en-US" dirty="0" smtClean="0">
                <a:solidFill>
                  <a:srgbClr val="FF0000"/>
                </a:solidFill>
              </a:rPr>
              <a:t>order 3 </a:t>
            </a:r>
            <a:r>
              <a:rPr lang="en-US" dirty="0" smtClean="0">
                <a:solidFill>
                  <a:srgbClr val="FF0000"/>
                </a:solidFill>
                <a:sym typeface="Symbol"/>
              </a:rPr>
              <a:t></a:t>
            </a:r>
            <a:r>
              <a:rPr lang="en-US" dirty="0" smtClean="0">
                <a:solidFill>
                  <a:srgbClr val="FF0000"/>
                </a:solidFill>
              </a:rPr>
              <a:t> 4</a:t>
            </a:r>
            <a:r>
              <a:rPr lang="en-US" dirty="0" smtClean="0"/>
              <a:t>).</a:t>
            </a:r>
          </a:p>
          <a:p>
            <a:r>
              <a:rPr lang="en-US" dirty="0" smtClean="0"/>
              <a:t>Note:</a:t>
            </a:r>
          </a:p>
          <a:p>
            <a:pPr>
              <a:buNone/>
            </a:pPr>
            <a:r>
              <a:rPr lang="en-US" dirty="0" smtClean="0"/>
              <a:t>	</a:t>
            </a:r>
            <a:r>
              <a:rPr lang="en-US" dirty="0" smtClean="0">
                <a:solidFill>
                  <a:srgbClr val="FF0000"/>
                </a:solidFill>
              </a:rPr>
              <a:t>a</a:t>
            </a:r>
            <a:r>
              <a:rPr lang="en-US" baseline="-25000" dirty="0" smtClean="0">
                <a:solidFill>
                  <a:srgbClr val="FF0000"/>
                </a:solidFill>
              </a:rPr>
              <a:t>11</a:t>
            </a:r>
            <a:r>
              <a:rPr lang="en-US" dirty="0" smtClean="0"/>
              <a:t> = </a:t>
            </a:r>
            <a:r>
              <a:rPr lang="en-US" dirty="0" smtClean="0">
                <a:solidFill>
                  <a:srgbClr val="FF0000"/>
                </a:solidFill>
              </a:rPr>
              <a:t>4</a:t>
            </a:r>
            <a:r>
              <a:rPr lang="en-US" dirty="0" smtClean="0"/>
              <a:t> (11 means 1</a:t>
            </a:r>
            <a:r>
              <a:rPr lang="en-US" baseline="30000" dirty="0" smtClean="0"/>
              <a:t>st</a:t>
            </a:r>
            <a:r>
              <a:rPr lang="en-US" dirty="0" smtClean="0"/>
              <a:t> row and 1</a:t>
            </a:r>
            <a:r>
              <a:rPr lang="en-US" baseline="30000" dirty="0" smtClean="0"/>
              <a:t>st</a:t>
            </a:r>
            <a:r>
              <a:rPr lang="en-US" dirty="0" smtClean="0"/>
              <a:t> column), </a:t>
            </a:r>
          </a:p>
          <a:p>
            <a:pPr>
              <a:buNone/>
            </a:pPr>
            <a:r>
              <a:rPr lang="en-US" dirty="0" smtClean="0"/>
              <a:t>	</a:t>
            </a:r>
            <a:r>
              <a:rPr lang="en-US" dirty="0" smtClean="0">
                <a:solidFill>
                  <a:srgbClr val="FF0000"/>
                </a:solidFill>
              </a:rPr>
              <a:t>a</a:t>
            </a:r>
            <a:r>
              <a:rPr lang="en-US" baseline="-25000" dirty="0" smtClean="0">
                <a:solidFill>
                  <a:srgbClr val="FF0000"/>
                </a:solidFill>
              </a:rPr>
              <a:t>12</a:t>
            </a:r>
            <a:r>
              <a:rPr lang="en-US" dirty="0" smtClean="0"/>
              <a:t> = </a:t>
            </a:r>
            <a:r>
              <a:rPr lang="en-US" dirty="0" smtClean="0">
                <a:solidFill>
                  <a:srgbClr val="FF0000"/>
                </a:solidFill>
              </a:rPr>
              <a:t>-2</a:t>
            </a:r>
            <a:r>
              <a:rPr lang="en-US" dirty="0" smtClean="0"/>
              <a:t> (12 means 1</a:t>
            </a:r>
            <a:r>
              <a:rPr lang="en-US" baseline="30000" dirty="0" smtClean="0"/>
              <a:t>st</a:t>
            </a:r>
            <a:r>
              <a:rPr lang="en-US" dirty="0" smtClean="0"/>
              <a:t> row  and 2</a:t>
            </a:r>
            <a:r>
              <a:rPr lang="en-US" baseline="30000" dirty="0" smtClean="0"/>
              <a:t>nd</a:t>
            </a:r>
            <a:r>
              <a:rPr lang="en-US" dirty="0" smtClean="0"/>
              <a:t>  column),       </a:t>
            </a:r>
            <a:r>
              <a:rPr lang="en-US" dirty="0" smtClean="0">
                <a:solidFill>
                  <a:srgbClr val="FF0000"/>
                </a:solidFill>
              </a:rPr>
              <a:t>a</a:t>
            </a:r>
            <a:r>
              <a:rPr lang="en-US" baseline="-25000" dirty="0" smtClean="0">
                <a:solidFill>
                  <a:srgbClr val="FF0000"/>
                </a:solidFill>
              </a:rPr>
              <a:t>13</a:t>
            </a:r>
            <a:r>
              <a:rPr lang="en-US" dirty="0" smtClean="0"/>
              <a:t> = </a:t>
            </a:r>
            <a:r>
              <a:rPr lang="en-US" dirty="0" smtClean="0">
                <a:solidFill>
                  <a:srgbClr val="FF0000"/>
                </a:solidFill>
              </a:rPr>
              <a:t>0</a:t>
            </a:r>
            <a:r>
              <a:rPr lang="en-US" dirty="0" smtClean="0"/>
              <a:t>,                  </a:t>
            </a:r>
            <a:r>
              <a:rPr lang="en-US" dirty="0" smtClean="0">
                <a:solidFill>
                  <a:srgbClr val="FF0000"/>
                </a:solidFill>
              </a:rPr>
              <a:t>a</a:t>
            </a:r>
            <a:r>
              <a:rPr lang="en-US" baseline="-25000" dirty="0" smtClean="0">
                <a:solidFill>
                  <a:srgbClr val="FF0000"/>
                </a:solidFill>
              </a:rPr>
              <a:t>14</a:t>
            </a:r>
            <a:r>
              <a:rPr lang="en-US" dirty="0" smtClean="0"/>
              <a:t> = </a:t>
            </a:r>
            <a:r>
              <a:rPr lang="en-US" dirty="0" smtClean="0">
                <a:solidFill>
                  <a:srgbClr val="FF0000"/>
                </a:solidFill>
              </a:rPr>
              <a:t>6</a:t>
            </a:r>
            <a:r>
              <a:rPr lang="en-US" dirty="0" smtClean="0"/>
              <a:t>	</a:t>
            </a:r>
            <a:r>
              <a:rPr lang="pt-BR" dirty="0" smtClean="0">
                <a:solidFill>
                  <a:srgbClr val="FF0000"/>
                </a:solidFill>
              </a:rPr>
              <a:t>a</a:t>
            </a:r>
            <a:r>
              <a:rPr lang="pt-BR" baseline="-25000" dirty="0" smtClean="0">
                <a:solidFill>
                  <a:srgbClr val="FF0000"/>
                </a:solidFill>
              </a:rPr>
              <a:t>21</a:t>
            </a:r>
            <a:r>
              <a:rPr lang="pt-BR" dirty="0" smtClean="0"/>
              <a:t> = </a:t>
            </a:r>
            <a:r>
              <a:rPr lang="pt-BR" dirty="0" smtClean="0">
                <a:solidFill>
                  <a:srgbClr val="FF0000"/>
                </a:solidFill>
              </a:rPr>
              <a:t>2</a:t>
            </a:r>
            <a:r>
              <a:rPr lang="pt-BR" dirty="0" smtClean="0"/>
              <a:t>,         </a:t>
            </a:r>
            <a:r>
              <a:rPr lang="pt-BR" dirty="0" smtClean="0">
                <a:solidFill>
                  <a:srgbClr val="FF0000"/>
                </a:solidFill>
              </a:rPr>
              <a:t>a</a:t>
            </a:r>
            <a:r>
              <a:rPr lang="pt-BR" baseline="-25000" dirty="0" smtClean="0">
                <a:solidFill>
                  <a:srgbClr val="FF0000"/>
                </a:solidFill>
              </a:rPr>
              <a:t>22</a:t>
            </a:r>
            <a:r>
              <a:rPr lang="pt-BR" dirty="0" smtClean="0"/>
              <a:t> = </a:t>
            </a:r>
            <a:r>
              <a:rPr lang="pt-BR" dirty="0" smtClean="0">
                <a:solidFill>
                  <a:srgbClr val="FF0000"/>
                </a:solidFill>
              </a:rPr>
              <a:t>-3</a:t>
            </a:r>
            <a:r>
              <a:rPr lang="pt-BR" dirty="0" smtClean="0"/>
              <a:t>,       </a:t>
            </a:r>
            <a:r>
              <a:rPr lang="pt-BR" dirty="0" smtClean="0">
                <a:solidFill>
                  <a:srgbClr val="FF0000"/>
                </a:solidFill>
              </a:rPr>
              <a:t>a</a:t>
            </a:r>
            <a:r>
              <a:rPr lang="pt-BR" baseline="-25000" dirty="0" smtClean="0">
                <a:solidFill>
                  <a:srgbClr val="FF0000"/>
                </a:solidFill>
              </a:rPr>
              <a:t>23</a:t>
            </a:r>
            <a:r>
              <a:rPr lang="pt-BR" dirty="0" smtClean="0"/>
              <a:t> = </a:t>
            </a:r>
            <a:r>
              <a:rPr lang="pt-BR" dirty="0" smtClean="0">
                <a:solidFill>
                  <a:srgbClr val="FF0000"/>
                </a:solidFill>
              </a:rPr>
              <a:t>1</a:t>
            </a:r>
            <a:r>
              <a:rPr lang="pt-BR" dirty="0" smtClean="0"/>
              <a:t>, </a:t>
            </a:r>
            <a:r>
              <a:rPr lang="pt-BR" dirty="0" smtClean="0">
                <a:solidFill>
                  <a:srgbClr val="FF0000"/>
                </a:solidFill>
              </a:rPr>
              <a:t>a</a:t>
            </a:r>
            <a:r>
              <a:rPr lang="pt-BR" baseline="-25000" dirty="0" smtClean="0">
                <a:solidFill>
                  <a:srgbClr val="FF0000"/>
                </a:solidFill>
              </a:rPr>
              <a:t>24</a:t>
            </a:r>
            <a:r>
              <a:rPr lang="pt-BR" dirty="0" smtClean="0"/>
              <a:t> =</a:t>
            </a:r>
            <a:r>
              <a:rPr lang="pt-BR" dirty="0" smtClean="0">
                <a:solidFill>
                  <a:srgbClr val="FF0000"/>
                </a:solidFill>
              </a:rPr>
              <a:t>9</a:t>
            </a:r>
            <a:r>
              <a:rPr lang="pt-BR" dirty="0" smtClean="0"/>
              <a:t>   etc.</a:t>
            </a:r>
            <a:endParaRPr lang="en-US" dirty="0" smtClean="0"/>
          </a:p>
          <a:p>
            <a:endParaRPr lang="en-US" dirty="0"/>
          </a:p>
        </p:txBody>
      </p:sp>
      <p:graphicFrame>
        <p:nvGraphicFramePr>
          <p:cNvPr id="267269" name="Object 5"/>
          <p:cNvGraphicFramePr>
            <a:graphicFrameLocks noChangeAspect="1"/>
          </p:cNvGraphicFramePr>
          <p:nvPr/>
        </p:nvGraphicFramePr>
        <p:xfrm>
          <a:off x="2667000" y="1371600"/>
          <a:ext cx="3113315" cy="167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7271" r:id="rId3" imgW="1320480" imgH="711000" progId="">
                  <p:embed/>
                </p:oleObj>
              </mc:Choice>
              <mc:Fallback>
                <p:oleObj r:id="rId3" imgW="1320480" imgH="711000" progId="">
                  <p:embed/>
                  <p:pic>
                    <p:nvPicPr>
                      <p:cNvPr id="0" name="Picture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67000" y="1371600"/>
                        <a:ext cx="3113315" cy="1676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2672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build="p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ctr"/>
            <a:r>
              <a:rPr lang="en-US" b="1" u="sng" dirty="0" smtClean="0">
                <a:solidFill>
                  <a:srgbClr val="0070C0"/>
                </a:solidFill>
              </a:rPr>
              <a:t>SQUARE MATRIX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19944-04AC-4CD8-BA69-63C2A678C21A}" type="slidenum">
              <a:rPr lang="en-US" smtClean="0"/>
              <a:pPr/>
              <a:t>39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5105400"/>
          </a:xfrm>
        </p:spPr>
        <p:txBody>
          <a:bodyPr>
            <a:normAutofit lnSpcReduction="10000"/>
          </a:bodyPr>
          <a:lstStyle/>
          <a:p>
            <a:r>
              <a:rPr lang="en-US" dirty="0" smtClean="0"/>
              <a:t>A </a:t>
            </a:r>
            <a:r>
              <a:rPr lang="en-US" dirty="0" smtClean="0">
                <a:solidFill>
                  <a:srgbClr val="FF0000"/>
                </a:solidFill>
              </a:rPr>
              <a:t>matrix</a:t>
            </a:r>
            <a:r>
              <a:rPr lang="en-US" dirty="0" smtClean="0"/>
              <a:t> for which the number of rows and columns are equal is called a </a:t>
            </a:r>
            <a:r>
              <a:rPr lang="en-US" dirty="0" smtClean="0">
                <a:solidFill>
                  <a:srgbClr val="FF0000"/>
                </a:solidFill>
              </a:rPr>
              <a:t>square matrix</a:t>
            </a:r>
            <a:r>
              <a:rPr lang="en-US" dirty="0" smtClean="0"/>
              <a:t>. </a:t>
            </a:r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pPr>
              <a:buNone/>
            </a:pPr>
            <a:r>
              <a:rPr lang="en-US" dirty="0" smtClean="0"/>
              <a:t> </a:t>
            </a:r>
          </a:p>
          <a:p>
            <a:r>
              <a:rPr lang="en-US" dirty="0" smtClean="0"/>
              <a:t>The main </a:t>
            </a:r>
            <a:r>
              <a:rPr lang="en-US" dirty="0" smtClean="0">
                <a:solidFill>
                  <a:srgbClr val="FF0000"/>
                </a:solidFill>
              </a:rPr>
              <a:t>diagonal</a:t>
            </a:r>
            <a:r>
              <a:rPr lang="en-US" dirty="0" smtClean="0"/>
              <a:t> of </a:t>
            </a:r>
            <a:r>
              <a:rPr lang="en-US" dirty="0" smtClean="0">
                <a:solidFill>
                  <a:srgbClr val="FF0000"/>
                </a:solidFill>
              </a:rPr>
              <a:t>A</a:t>
            </a:r>
            <a:r>
              <a:rPr lang="en-US" dirty="0" smtClean="0"/>
              <a:t> consists of all the entries </a:t>
            </a:r>
          </a:p>
          <a:p>
            <a:pPr>
              <a:buNone/>
            </a:pPr>
            <a:r>
              <a:rPr lang="en-US" dirty="0" smtClean="0"/>
              <a:t>			</a:t>
            </a:r>
            <a:r>
              <a:rPr lang="en-US" dirty="0" smtClean="0">
                <a:solidFill>
                  <a:srgbClr val="FF0000"/>
                </a:solidFill>
              </a:rPr>
              <a:t>a</a:t>
            </a:r>
            <a:r>
              <a:rPr lang="en-US" baseline="-25000" dirty="0" smtClean="0">
                <a:solidFill>
                  <a:srgbClr val="FF0000"/>
                </a:solidFill>
              </a:rPr>
              <a:t>11</a:t>
            </a:r>
            <a:r>
              <a:rPr lang="en-US" dirty="0" smtClean="0"/>
              <a:t>, </a:t>
            </a:r>
            <a:r>
              <a:rPr lang="en-US" dirty="0" smtClean="0">
                <a:solidFill>
                  <a:srgbClr val="FF0000"/>
                </a:solidFill>
              </a:rPr>
              <a:t>a</a:t>
            </a:r>
            <a:r>
              <a:rPr lang="en-US" baseline="-25000" dirty="0" smtClean="0">
                <a:solidFill>
                  <a:srgbClr val="FF0000"/>
                </a:solidFill>
              </a:rPr>
              <a:t>22</a:t>
            </a:r>
            <a:r>
              <a:rPr lang="en-US" dirty="0" smtClean="0"/>
              <a:t>, </a:t>
            </a:r>
            <a:r>
              <a:rPr lang="en-US" dirty="0" smtClean="0">
                <a:solidFill>
                  <a:srgbClr val="FF0000"/>
                </a:solidFill>
              </a:rPr>
              <a:t>a</a:t>
            </a:r>
            <a:r>
              <a:rPr lang="en-US" baseline="-25000" dirty="0" smtClean="0">
                <a:solidFill>
                  <a:srgbClr val="FF0000"/>
                </a:solidFill>
              </a:rPr>
              <a:t>33</a:t>
            </a:r>
            <a:r>
              <a:rPr lang="en-US" dirty="0" smtClean="0"/>
              <a:t>, …, </a:t>
            </a:r>
            <a:r>
              <a:rPr lang="en-US" dirty="0" err="1" smtClean="0">
                <a:solidFill>
                  <a:srgbClr val="FF0000"/>
                </a:solidFill>
              </a:rPr>
              <a:t>a</a:t>
            </a:r>
            <a:r>
              <a:rPr lang="en-US" baseline="-25000" dirty="0" err="1" smtClean="0">
                <a:solidFill>
                  <a:srgbClr val="FF0000"/>
                </a:solidFill>
              </a:rPr>
              <a:t>ii</a:t>
            </a:r>
            <a:r>
              <a:rPr lang="en-US" dirty="0" smtClean="0"/>
              <a:t>,…, </a:t>
            </a:r>
            <a:r>
              <a:rPr lang="en-US" dirty="0" err="1" smtClean="0">
                <a:solidFill>
                  <a:srgbClr val="FF0000"/>
                </a:solidFill>
              </a:rPr>
              <a:t>a</a:t>
            </a:r>
            <a:r>
              <a:rPr lang="en-US" baseline="-25000" dirty="0" err="1" smtClean="0">
                <a:solidFill>
                  <a:srgbClr val="FF0000"/>
                </a:solidFill>
              </a:rPr>
              <a:t>nn</a:t>
            </a:r>
            <a:endParaRPr lang="en-US" dirty="0" smtClean="0">
              <a:solidFill>
                <a:srgbClr val="FF0000"/>
              </a:solidFill>
            </a:endParaRPr>
          </a:p>
          <a:p>
            <a:endParaRPr lang="en-US" dirty="0" smtClean="0"/>
          </a:p>
          <a:p>
            <a:endParaRPr lang="en-US" dirty="0"/>
          </a:p>
        </p:txBody>
      </p:sp>
      <p:graphicFrame>
        <p:nvGraphicFramePr>
          <p:cNvPr id="265217" name="Object 1"/>
          <p:cNvGraphicFramePr>
            <a:graphicFrameLocks noChangeAspect="1"/>
          </p:cNvGraphicFramePr>
          <p:nvPr/>
        </p:nvGraphicFramePr>
        <p:xfrm>
          <a:off x="1981200" y="1981200"/>
          <a:ext cx="4679953" cy="295902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5219" r:id="rId3" imgW="2133360" imgH="1396800" progId="">
                  <p:embed/>
                </p:oleObj>
              </mc:Choice>
              <mc:Fallback>
                <p:oleObj r:id="rId3" imgW="2133360" imgH="1396800" progId="">
                  <p:embed/>
                  <p:pic>
                    <p:nvPicPr>
                      <p:cNvPr id="0" name="Picture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81200" y="1981200"/>
                        <a:ext cx="4679953" cy="2959029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5218" name="Line 2"/>
          <p:cNvSpPr>
            <a:spLocks noChangeShapeType="1"/>
          </p:cNvSpPr>
          <p:nvPr/>
        </p:nvSpPr>
        <p:spPr bwMode="auto">
          <a:xfrm>
            <a:off x="2734096" y="2102888"/>
            <a:ext cx="3619500" cy="274320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65219" name="Line 3"/>
          <p:cNvSpPr>
            <a:spLocks noChangeShapeType="1"/>
          </p:cNvSpPr>
          <p:nvPr/>
        </p:nvSpPr>
        <p:spPr bwMode="auto">
          <a:xfrm flipV="1">
            <a:off x="6353596" y="4007888"/>
            <a:ext cx="876300" cy="83820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8" name="Flowchart: Process 7"/>
          <p:cNvSpPr/>
          <p:nvPr/>
        </p:nvSpPr>
        <p:spPr>
          <a:xfrm>
            <a:off x="7086600" y="3581400"/>
            <a:ext cx="1752600" cy="381000"/>
          </a:xfrm>
          <a:prstGeom prst="flowChartProcess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rgbClr val="FF0000"/>
                </a:solidFill>
              </a:rPr>
              <a:t>Diagonal entries</a:t>
            </a:r>
            <a:endParaRPr lang="en-US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2652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2652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0" dur="500"/>
                                        <p:tgtEl>
                                          <p:spTgt spid="2652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20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2000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  <p:bldP spid="265218" grpId="0" animBg="1"/>
      <p:bldP spid="265219" grpId="0" animBg="1"/>
      <p:bldP spid="8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u="sng" dirty="0" smtClean="0">
                <a:solidFill>
                  <a:srgbClr val="0070C0"/>
                </a:solidFill>
              </a:rPr>
              <a:t>TRANSPOSE OF A MATRIX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19944-04AC-4CD8-BA69-63C2A678C21A}" type="slidenum">
              <a:rPr lang="en-US" smtClean="0"/>
              <a:pPr/>
              <a:t>40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The </a:t>
            </a:r>
            <a:r>
              <a:rPr lang="en-US" dirty="0" smtClean="0">
                <a:solidFill>
                  <a:srgbClr val="FF0000"/>
                </a:solidFill>
              </a:rPr>
              <a:t>transpose</a:t>
            </a:r>
            <a:r>
              <a:rPr lang="en-US" dirty="0" smtClean="0"/>
              <a:t> of a </a:t>
            </a:r>
            <a:r>
              <a:rPr lang="en-US" dirty="0" smtClean="0">
                <a:solidFill>
                  <a:srgbClr val="FF0000"/>
                </a:solidFill>
              </a:rPr>
              <a:t>matrix A</a:t>
            </a:r>
            <a:r>
              <a:rPr lang="en-US" dirty="0" smtClean="0"/>
              <a:t> of </a:t>
            </a:r>
            <a:r>
              <a:rPr lang="en-US" dirty="0" smtClean="0">
                <a:solidFill>
                  <a:srgbClr val="FF0000"/>
                </a:solidFill>
              </a:rPr>
              <a:t>size m </a:t>
            </a:r>
            <a:r>
              <a:rPr lang="en-US" dirty="0" smtClean="0">
                <a:solidFill>
                  <a:srgbClr val="FF0000"/>
                </a:solidFill>
                <a:sym typeface="Symbol"/>
              </a:rPr>
              <a:t></a:t>
            </a:r>
            <a:r>
              <a:rPr lang="en-US" dirty="0" smtClean="0">
                <a:solidFill>
                  <a:srgbClr val="FF0000"/>
                </a:solidFill>
              </a:rPr>
              <a:t> n</a:t>
            </a:r>
            <a:r>
              <a:rPr lang="en-US" dirty="0" smtClean="0"/>
              <a:t>, is the </a:t>
            </a:r>
            <a:r>
              <a:rPr lang="en-US" dirty="0" smtClean="0">
                <a:solidFill>
                  <a:srgbClr val="FF0000"/>
                </a:solidFill>
              </a:rPr>
              <a:t>matrix</a:t>
            </a:r>
            <a:r>
              <a:rPr lang="en-US" dirty="0" smtClean="0"/>
              <a:t> denoted by </a:t>
            </a:r>
            <a:r>
              <a:rPr lang="en-US" dirty="0" smtClean="0">
                <a:solidFill>
                  <a:srgbClr val="FF0000"/>
                </a:solidFill>
              </a:rPr>
              <a:t>A</a:t>
            </a:r>
            <a:r>
              <a:rPr lang="en-US" baseline="30000" dirty="0" smtClean="0">
                <a:solidFill>
                  <a:srgbClr val="FF0000"/>
                </a:solidFill>
              </a:rPr>
              <a:t>t</a:t>
            </a:r>
            <a:r>
              <a:rPr lang="en-US" dirty="0" smtClean="0"/>
              <a:t> of </a:t>
            </a:r>
            <a:r>
              <a:rPr lang="en-US" dirty="0" smtClean="0">
                <a:solidFill>
                  <a:srgbClr val="FF0000"/>
                </a:solidFill>
              </a:rPr>
              <a:t>size n </a:t>
            </a:r>
            <a:r>
              <a:rPr lang="en-US" dirty="0" smtClean="0">
                <a:solidFill>
                  <a:srgbClr val="FF0000"/>
                </a:solidFill>
                <a:sym typeface="Symbol"/>
              </a:rPr>
              <a:t></a:t>
            </a:r>
            <a:r>
              <a:rPr lang="en-US" dirty="0" smtClean="0">
                <a:solidFill>
                  <a:srgbClr val="FF0000"/>
                </a:solidFill>
              </a:rPr>
              <a:t> m</a:t>
            </a:r>
            <a:r>
              <a:rPr lang="en-US" dirty="0" smtClean="0"/>
              <a:t>, obtained by writing the </a:t>
            </a:r>
            <a:r>
              <a:rPr lang="en-US" dirty="0" smtClean="0">
                <a:solidFill>
                  <a:srgbClr val="FF0000"/>
                </a:solidFill>
              </a:rPr>
              <a:t>rows of A</a:t>
            </a:r>
            <a:r>
              <a:rPr lang="en-US" dirty="0" smtClean="0"/>
              <a:t>, in order, as columns.</a:t>
            </a:r>
          </a:p>
        </p:txBody>
      </p:sp>
      <p:graphicFrame>
        <p:nvGraphicFramePr>
          <p:cNvPr id="225283" name="Object 3"/>
          <p:cNvGraphicFramePr>
            <a:graphicFrameLocks noChangeAspect="1"/>
          </p:cNvGraphicFramePr>
          <p:nvPr/>
        </p:nvGraphicFramePr>
        <p:xfrm>
          <a:off x="762000" y="2819400"/>
          <a:ext cx="7978344" cy="1981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5285" r:id="rId3" imgW="3784320" imgH="939600" progId="">
                  <p:embed/>
                </p:oleObj>
              </mc:Choice>
              <mc:Fallback>
                <p:oleObj r:id="rId3" imgW="3784320" imgH="939600" progId="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2000" y="2819400"/>
                        <a:ext cx="7978344" cy="1981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2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2252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u="sng" dirty="0" smtClean="0">
                <a:solidFill>
                  <a:srgbClr val="0070C0"/>
                </a:solidFill>
              </a:rPr>
              <a:t>EXAMPLE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19944-04AC-4CD8-BA69-63C2A678C21A}" type="slidenum">
              <a:rPr lang="en-US" smtClean="0"/>
              <a:pPr/>
              <a:t>41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r>
              <a:rPr lang="en-US" dirty="0" smtClean="0"/>
              <a:t>Then</a:t>
            </a:r>
          </a:p>
          <a:p>
            <a:endParaRPr lang="en-US" dirty="0"/>
          </a:p>
        </p:txBody>
      </p:sp>
      <p:graphicFrame>
        <p:nvGraphicFramePr>
          <p:cNvPr id="283649" name="Object 1"/>
          <p:cNvGraphicFramePr>
            <a:graphicFrameLocks noChangeAspect="1"/>
          </p:cNvGraphicFramePr>
          <p:nvPr/>
        </p:nvGraphicFramePr>
        <p:xfrm>
          <a:off x="2667000" y="1371600"/>
          <a:ext cx="3113088" cy="167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3653" r:id="rId3" imgW="1320480" imgH="711000" progId="">
                  <p:embed/>
                </p:oleObj>
              </mc:Choice>
              <mc:Fallback>
                <p:oleObj r:id="rId3" imgW="1320480" imgH="711000" progId="">
                  <p:embed/>
                  <p:pic>
                    <p:nvPicPr>
                      <p:cNvPr id="0" name="Picture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67000" y="1371600"/>
                        <a:ext cx="3113088" cy="1676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3650" name="Object 2"/>
          <p:cNvGraphicFramePr>
            <a:graphicFrameLocks noChangeAspect="1"/>
          </p:cNvGraphicFramePr>
          <p:nvPr/>
        </p:nvGraphicFramePr>
        <p:xfrm>
          <a:off x="2618096" y="3506768"/>
          <a:ext cx="2769658" cy="205583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3654" r:id="rId5" imgW="1231560" imgH="914400" progId="">
                  <p:embed/>
                </p:oleObj>
              </mc:Choice>
              <mc:Fallback>
                <p:oleObj r:id="rId5" imgW="1231560" imgH="914400" progId="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18096" y="3506768"/>
                        <a:ext cx="2769658" cy="205583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36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2836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36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2836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u="sng" dirty="0" smtClean="0">
                <a:solidFill>
                  <a:srgbClr val="0070C0"/>
                </a:solidFill>
              </a:rPr>
              <a:t>SYMMETRIC MATRIX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19944-04AC-4CD8-BA69-63C2A678C21A}" type="slidenum">
              <a:rPr lang="en-US" smtClean="0"/>
              <a:pPr/>
              <a:t>42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A square matrix </a:t>
            </a:r>
            <a:r>
              <a:rPr lang="en-US" dirty="0" smtClean="0">
                <a:solidFill>
                  <a:srgbClr val="FF0000"/>
                </a:solidFill>
              </a:rPr>
              <a:t>A = [</a:t>
            </a:r>
            <a:r>
              <a:rPr lang="en-US" dirty="0" err="1" smtClean="0">
                <a:solidFill>
                  <a:srgbClr val="FF0000"/>
                </a:solidFill>
              </a:rPr>
              <a:t>a</a:t>
            </a:r>
            <a:r>
              <a:rPr lang="en-US" baseline="-25000" dirty="0" err="1" smtClean="0">
                <a:solidFill>
                  <a:srgbClr val="FF0000"/>
                </a:solidFill>
              </a:rPr>
              <a:t>ij</a:t>
            </a:r>
            <a:r>
              <a:rPr lang="en-US" dirty="0" smtClean="0">
                <a:solidFill>
                  <a:srgbClr val="FF0000"/>
                </a:solidFill>
              </a:rPr>
              <a:t>]</a:t>
            </a:r>
            <a:r>
              <a:rPr lang="en-US" dirty="0" smtClean="0"/>
              <a:t> of size </a:t>
            </a:r>
            <a:r>
              <a:rPr lang="en-US" dirty="0" smtClean="0">
                <a:solidFill>
                  <a:srgbClr val="FF0000"/>
                </a:solidFill>
              </a:rPr>
              <a:t>n </a:t>
            </a:r>
            <a:r>
              <a:rPr lang="en-US" dirty="0" smtClean="0">
                <a:solidFill>
                  <a:srgbClr val="FF0000"/>
                </a:solidFill>
                <a:sym typeface="Symbol"/>
              </a:rPr>
              <a:t></a:t>
            </a:r>
            <a:r>
              <a:rPr lang="en-US" dirty="0" smtClean="0">
                <a:solidFill>
                  <a:srgbClr val="FF0000"/>
                </a:solidFill>
              </a:rPr>
              <a:t> n</a:t>
            </a:r>
            <a:r>
              <a:rPr lang="en-US" dirty="0" smtClean="0"/>
              <a:t> is called </a:t>
            </a:r>
            <a:r>
              <a:rPr lang="en-US" dirty="0" smtClean="0">
                <a:solidFill>
                  <a:srgbClr val="FF0000"/>
                </a:solidFill>
              </a:rPr>
              <a:t>symmetric</a:t>
            </a:r>
            <a:r>
              <a:rPr lang="en-US" dirty="0" smtClean="0"/>
              <a:t> if, and only if,  </a:t>
            </a:r>
            <a:r>
              <a:rPr lang="en-US" dirty="0" smtClean="0">
                <a:solidFill>
                  <a:srgbClr val="FF0000"/>
                </a:solidFill>
              </a:rPr>
              <a:t>A</a:t>
            </a:r>
            <a:r>
              <a:rPr lang="en-US" baseline="30000" dirty="0" smtClean="0">
                <a:solidFill>
                  <a:srgbClr val="FF0000"/>
                </a:solidFill>
              </a:rPr>
              <a:t>t</a:t>
            </a:r>
            <a:r>
              <a:rPr lang="en-US" dirty="0" smtClean="0">
                <a:solidFill>
                  <a:srgbClr val="FF0000"/>
                </a:solidFill>
              </a:rPr>
              <a:t>= A</a:t>
            </a:r>
            <a:r>
              <a:rPr lang="en-US" dirty="0" smtClean="0"/>
              <a:t> i.e., for all </a:t>
            </a:r>
            <a:r>
              <a:rPr lang="en-US" dirty="0" err="1" smtClean="0"/>
              <a:t>i</a:t>
            </a:r>
            <a:r>
              <a:rPr lang="en-US" dirty="0" smtClean="0"/>
              <a:t>, j = 1, 2, …, n,	</a:t>
            </a:r>
            <a:r>
              <a:rPr lang="en-US" dirty="0" err="1" smtClean="0"/>
              <a:t>a</a:t>
            </a:r>
            <a:r>
              <a:rPr lang="en-US" baseline="-25000" dirty="0" err="1" smtClean="0"/>
              <a:t>ij</a:t>
            </a:r>
            <a:r>
              <a:rPr lang="en-US" dirty="0" smtClean="0"/>
              <a:t> = </a:t>
            </a:r>
            <a:r>
              <a:rPr lang="en-US" dirty="0" err="1" smtClean="0"/>
              <a:t>a</a:t>
            </a:r>
            <a:r>
              <a:rPr lang="en-US" baseline="-25000" dirty="0" err="1" smtClean="0"/>
              <a:t>ji</a:t>
            </a:r>
            <a:endParaRPr lang="en-US" dirty="0" smtClean="0"/>
          </a:p>
          <a:p>
            <a:endParaRPr lang="en-US" dirty="0" smtClean="0">
              <a:solidFill>
                <a:srgbClr val="FF0000"/>
              </a:solidFill>
            </a:endParaRP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u="sng" dirty="0" smtClean="0">
                <a:solidFill>
                  <a:srgbClr val="0070C0"/>
                </a:solidFill>
              </a:rPr>
              <a:t>EXAMPLE</a:t>
            </a:r>
            <a:endParaRPr lang="en-US" b="1" u="sng" dirty="0">
              <a:solidFill>
                <a:srgbClr val="0070C0"/>
              </a:solidFill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19944-04AC-4CD8-BA69-63C2A678C21A}" type="slidenum">
              <a:rPr lang="en-US" smtClean="0"/>
              <a:pPr/>
              <a:t>43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r>
              <a:rPr lang="en-US" dirty="0" smtClean="0"/>
              <a:t>Note that </a:t>
            </a:r>
            <a:r>
              <a:rPr lang="en-US" dirty="0" smtClean="0">
                <a:solidFill>
                  <a:srgbClr val="FF0000"/>
                </a:solidFill>
              </a:rPr>
              <a:t>B</a:t>
            </a:r>
            <a:r>
              <a:rPr lang="en-US" baseline="30000" dirty="0" smtClean="0">
                <a:solidFill>
                  <a:srgbClr val="FF0000"/>
                </a:solidFill>
              </a:rPr>
              <a:t>t</a:t>
            </a:r>
            <a:r>
              <a:rPr lang="en-US" dirty="0" smtClean="0">
                <a:solidFill>
                  <a:srgbClr val="FF0000"/>
                </a:solidFill>
              </a:rPr>
              <a:t> = B</a:t>
            </a:r>
            <a:r>
              <a:rPr lang="en-US" dirty="0" smtClean="0"/>
              <a:t>, so that </a:t>
            </a:r>
            <a:r>
              <a:rPr lang="en-US" dirty="0" smtClean="0">
                <a:solidFill>
                  <a:srgbClr val="FF0000"/>
                </a:solidFill>
              </a:rPr>
              <a:t>B</a:t>
            </a:r>
            <a:r>
              <a:rPr lang="en-US" dirty="0" smtClean="0"/>
              <a:t> is a </a:t>
            </a:r>
            <a:r>
              <a:rPr lang="en-US" dirty="0" smtClean="0">
                <a:solidFill>
                  <a:srgbClr val="FF0000"/>
                </a:solidFill>
              </a:rPr>
              <a:t>symmetric matrix</a:t>
            </a:r>
            <a:r>
              <a:rPr lang="en-US" dirty="0" smtClean="0"/>
              <a:t>.</a:t>
            </a:r>
          </a:p>
          <a:p>
            <a:endParaRPr lang="en-US" dirty="0"/>
          </a:p>
        </p:txBody>
      </p:sp>
      <p:graphicFrame>
        <p:nvGraphicFramePr>
          <p:cNvPr id="281601" name="Object 1"/>
          <p:cNvGraphicFramePr>
            <a:graphicFrameLocks noChangeAspect="1"/>
          </p:cNvGraphicFramePr>
          <p:nvPr/>
        </p:nvGraphicFramePr>
        <p:xfrm>
          <a:off x="1066800" y="1201479"/>
          <a:ext cx="6400802" cy="138932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1605" r:id="rId3" imgW="3276360" imgH="711000" progId="">
                  <p:embed/>
                </p:oleObj>
              </mc:Choice>
              <mc:Fallback>
                <p:oleObj r:id="rId3" imgW="3276360" imgH="711000" progId="">
                  <p:embed/>
                  <p:pic>
                    <p:nvPicPr>
                      <p:cNvPr id="0" name="Picture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66800" y="1201479"/>
                        <a:ext cx="6400802" cy="1389321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1602" name="Object 2"/>
          <p:cNvGraphicFramePr>
            <a:graphicFrameLocks noChangeAspect="1"/>
          </p:cNvGraphicFramePr>
          <p:nvPr/>
        </p:nvGraphicFramePr>
        <p:xfrm>
          <a:off x="1074965" y="2667000"/>
          <a:ext cx="6773635" cy="1447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1606" r:id="rId5" imgW="3327120" imgH="711000" progId="">
                  <p:embed/>
                </p:oleObj>
              </mc:Choice>
              <mc:Fallback>
                <p:oleObj r:id="rId5" imgW="3327120" imgH="711000" progId="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74965" y="2667000"/>
                        <a:ext cx="6773635" cy="1447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16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2816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16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2816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ctr"/>
            <a:r>
              <a:rPr lang="en-US" b="1" u="sng" dirty="0" smtClean="0">
                <a:solidFill>
                  <a:srgbClr val="0070C0"/>
                </a:solidFill>
              </a:rPr>
              <a:t>MATRIX MULTIPLICATION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19944-04AC-4CD8-BA69-63C2A678C21A}" type="slidenum">
              <a:rPr lang="en-US" smtClean="0"/>
              <a:pPr/>
              <a:t>44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r>
              <a:rPr lang="en-US" b="1" dirty="0" smtClean="0">
                <a:solidFill>
                  <a:srgbClr val="0070C0"/>
                </a:solidFill>
              </a:rPr>
              <a:t>Note:</a:t>
            </a:r>
          </a:p>
          <a:p>
            <a:pPr>
              <a:buNone/>
            </a:pPr>
            <a:r>
              <a:rPr lang="en-US" dirty="0" smtClean="0"/>
              <a:t>	If the </a:t>
            </a:r>
            <a:r>
              <a:rPr lang="en-US" dirty="0" smtClean="0">
                <a:solidFill>
                  <a:srgbClr val="FF0000"/>
                </a:solidFill>
              </a:rPr>
              <a:t>number</a:t>
            </a:r>
            <a:r>
              <a:rPr lang="en-US" dirty="0" smtClean="0"/>
              <a:t> of</a:t>
            </a:r>
            <a:r>
              <a:rPr lang="en-US" dirty="0" smtClean="0">
                <a:solidFill>
                  <a:srgbClr val="FF0000"/>
                </a:solidFill>
              </a:rPr>
              <a:t> columns</a:t>
            </a:r>
            <a:r>
              <a:rPr lang="en-US" dirty="0" smtClean="0"/>
              <a:t> of </a:t>
            </a:r>
            <a:r>
              <a:rPr lang="en-US" dirty="0" smtClean="0">
                <a:solidFill>
                  <a:srgbClr val="FF0000"/>
                </a:solidFill>
              </a:rPr>
              <a:t>A</a:t>
            </a:r>
            <a:r>
              <a:rPr lang="en-US" dirty="0" smtClean="0"/>
              <a:t> is </a:t>
            </a:r>
            <a:r>
              <a:rPr lang="en-US" dirty="0" smtClean="0">
                <a:solidFill>
                  <a:srgbClr val="FF0000"/>
                </a:solidFill>
              </a:rPr>
              <a:t>not equal</a:t>
            </a:r>
            <a:r>
              <a:rPr lang="en-US" dirty="0" smtClean="0"/>
              <a:t> to the </a:t>
            </a:r>
            <a:r>
              <a:rPr lang="en-US" dirty="0" smtClean="0">
                <a:solidFill>
                  <a:srgbClr val="FF0000"/>
                </a:solidFill>
              </a:rPr>
              <a:t>number</a:t>
            </a:r>
            <a:r>
              <a:rPr lang="en-US" dirty="0" smtClean="0"/>
              <a:t> of </a:t>
            </a:r>
            <a:r>
              <a:rPr lang="en-US" dirty="0" smtClean="0">
                <a:solidFill>
                  <a:srgbClr val="FF0000"/>
                </a:solidFill>
              </a:rPr>
              <a:t>rows</a:t>
            </a:r>
            <a:r>
              <a:rPr lang="en-US" dirty="0" smtClean="0"/>
              <a:t> of </a:t>
            </a:r>
            <a:r>
              <a:rPr lang="en-US" dirty="0" smtClean="0">
                <a:solidFill>
                  <a:srgbClr val="FF0000"/>
                </a:solidFill>
              </a:rPr>
              <a:t>B</a:t>
            </a:r>
            <a:r>
              <a:rPr lang="en-US" dirty="0" smtClean="0"/>
              <a:t>, then the </a:t>
            </a:r>
            <a:r>
              <a:rPr lang="en-US" dirty="0" smtClean="0">
                <a:solidFill>
                  <a:srgbClr val="FF0000"/>
                </a:solidFill>
              </a:rPr>
              <a:t>product AB</a:t>
            </a:r>
            <a:r>
              <a:rPr lang="en-US" dirty="0" smtClean="0"/>
              <a:t> is </a:t>
            </a:r>
            <a:r>
              <a:rPr lang="en-US" dirty="0" smtClean="0">
                <a:solidFill>
                  <a:srgbClr val="FF0000"/>
                </a:solidFill>
              </a:rPr>
              <a:t>not defined</a:t>
            </a:r>
            <a:r>
              <a:rPr lang="en-US" dirty="0" smtClean="0"/>
              <a:t>.</a:t>
            </a:r>
          </a:p>
          <a:p>
            <a:endParaRPr lang="en-US" dirty="0" smtClean="0"/>
          </a:p>
          <a:p>
            <a:endParaRPr lang="en-US" dirty="0"/>
          </a:p>
        </p:txBody>
      </p:sp>
      <p:graphicFrame>
        <p:nvGraphicFramePr>
          <p:cNvPr id="280577" name="Object 1"/>
          <p:cNvGraphicFramePr>
            <a:graphicFrameLocks noChangeAspect="1"/>
          </p:cNvGraphicFramePr>
          <p:nvPr/>
        </p:nvGraphicFramePr>
        <p:xfrm>
          <a:off x="0" y="1295400"/>
          <a:ext cx="8991600" cy="2514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0579" r:id="rId3" imgW="4622760" imgH="1168200" progId="">
                  <p:embed/>
                </p:oleObj>
              </mc:Choice>
              <mc:Fallback>
                <p:oleObj r:id="rId3" imgW="4622760" imgH="1168200" progId="">
                  <p:embed/>
                  <p:pic>
                    <p:nvPicPr>
                      <p:cNvPr id="0" name="Picture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1295400"/>
                        <a:ext cx="8991600" cy="2514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05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2805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u="sng" dirty="0" smtClean="0">
                <a:solidFill>
                  <a:srgbClr val="0070C0"/>
                </a:solidFill>
              </a:rPr>
              <a:t>EXAMPLE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19944-04AC-4CD8-BA69-63C2A678C21A}" type="slidenum">
              <a:rPr lang="en-US" smtClean="0"/>
              <a:pPr/>
              <a:t>45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Find the </a:t>
            </a:r>
            <a:r>
              <a:rPr lang="en-US" dirty="0" smtClean="0">
                <a:solidFill>
                  <a:srgbClr val="FF0000"/>
                </a:solidFill>
              </a:rPr>
              <a:t>product AB</a:t>
            </a:r>
            <a:r>
              <a:rPr lang="en-US" dirty="0" smtClean="0"/>
              <a:t> and </a:t>
            </a:r>
            <a:r>
              <a:rPr lang="en-US" dirty="0" smtClean="0">
                <a:solidFill>
                  <a:srgbClr val="FF0000"/>
                </a:solidFill>
              </a:rPr>
              <a:t>BA</a:t>
            </a:r>
            <a:r>
              <a:rPr lang="en-US" dirty="0" smtClean="0"/>
              <a:t> of the </a:t>
            </a:r>
            <a:r>
              <a:rPr lang="en-US" dirty="0" smtClean="0">
                <a:solidFill>
                  <a:srgbClr val="FF0000"/>
                </a:solidFill>
              </a:rPr>
              <a:t>matrices</a:t>
            </a:r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r>
              <a:rPr lang="en-US" b="1" u="sng" dirty="0" smtClean="0">
                <a:solidFill>
                  <a:srgbClr val="0070C0"/>
                </a:solidFill>
              </a:rPr>
              <a:t>SOLUTION:</a:t>
            </a:r>
          </a:p>
          <a:p>
            <a:endParaRPr lang="en-US" dirty="0" smtClean="0">
              <a:solidFill>
                <a:srgbClr val="0070C0"/>
              </a:solidFill>
            </a:endParaRPr>
          </a:p>
          <a:p>
            <a:pPr>
              <a:buNone/>
            </a:pPr>
            <a:r>
              <a:rPr lang="en-US" dirty="0" smtClean="0"/>
              <a:t>	</a:t>
            </a:r>
            <a:r>
              <a:rPr lang="en-US" dirty="0" smtClean="0">
                <a:solidFill>
                  <a:srgbClr val="FF0000"/>
                </a:solidFill>
              </a:rPr>
              <a:t>Size</a:t>
            </a:r>
            <a:r>
              <a:rPr lang="en-US" dirty="0" smtClean="0"/>
              <a:t> of </a:t>
            </a:r>
            <a:r>
              <a:rPr lang="en-US" dirty="0" smtClean="0">
                <a:solidFill>
                  <a:srgbClr val="FF0000"/>
                </a:solidFill>
              </a:rPr>
              <a:t>A</a:t>
            </a:r>
            <a:r>
              <a:rPr lang="en-US" dirty="0" smtClean="0"/>
              <a:t> is </a:t>
            </a:r>
            <a:r>
              <a:rPr lang="en-US" dirty="0" smtClean="0">
                <a:solidFill>
                  <a:srgbClr val="FF0000"/>
                </a:solidFill>
              </a:rPr>
              <a:t>2 </a:t>
            </a:r>
            <a:r>
              <a:rPr lang="en-US" dirty="0" smtClean="0">
                <a:solidFill>
                  <a:srgbClr val="FF0000"/>
                </a:solidFill>
                <a:sym typeface="Symbol"/>
              </a:rPr>
              <a:t></a:t>
            </a:r>
            <a:r>
              <a:rPr lang="en-US" dirty="0" smtClean="0">
                <a:solidFill>
                  <a:srgbClr val="FF0000"/>
                </a:solidFill>
              </a:rPr>
              <a:t> 2</a:t>
            </a:r>
            <a:r>
              <a:rPr lang="en-US" dirty="0" smtClean="0"/>
              <a:t> and of </a:t>
            </a:r>
            <a:r>
              <a:rPr lang="en-US" dirty="0" smtClean="0">
                <a:solidFill>
                  <a:srgbClr val="FF0000"/>
                </a:solidFill>
              </a:rPr>
              <a:t>B</a:t>
            </a:r>
            <a:r>
              <a:rPr lang="en-US" dirty="0" smtClean="0"/>
              <a:t> is </a:t>
            </a:r>
            <a:r>
              <a:rPr lang="en-US" dirty="0" smtClean="0">
                <a:solidFill>
                  <a:srgbClr val="FF0000"/>
                </a:solidFill>
              </a:rPr>
              <a:t>2 </a:t>
            </a:r>
            <a:r>
              <a:rPr lang="en-US" dirty="0" smtClean="0">
                <a:solidFill>
                  <a:srgbClr val="FF0000"/>
                </a:solidFill>
                <a:sym typeface="Symbol"/>
              </a:rPr>
              <a:t></a:t>
            </a:r>
            <a:r>
              <a:rPr lang="en-US" dirty="0" smtClean="0">
                <a:solidFill>
                  <a:srgbClr val="FF0000"/>
                </a:solidFill>
              </a:rPr>
              <a:t> 3</a:t>
            </a:r>
            <a:r>
              <a:rPr lang="en-US" dirty="0" smtClean="0"/>
              <a:t>, the </a:t>
            </a:r>
            <a:r>
              <a:rPr lang="en-US" dirty="0" smtClean="0">
                <a:solidFill>
                  <a:srgbClr val="FF0000"/>
                </a:solidFill>
              </a:rPr>
              <a:t>product AB</a:t>
            </a:r>
            <a:r>
              <a:rPr lang="en-US" dirty="0" smtClean="0"/>
              <a:t> is defined as a </a:t>
            </a:r>
            <a:r>
              <a:rPr lang="en-US" dirty="0" smtClean="0">
                <a:solidFill>
                  <a:srgbClr val="FF0000"/>
                </a:solidFill>
              </a:rPr>
              <a:t>2 </a:t>
            </a:r>
            <a:r>
              <a:rPr lang="en-US" dirty="0" smtClean="0">
                <a:solidFill>
                  <a:srgbClr val="FF0000"/>
                </a:solidFill>
                <a:sym typeface="Symbol"/>
              </a:rPr>
              <a:t></a:t>
            </a:r>
            <a:r>
              <a:rPr lang="en-US" dirty="0" smtClean="0">
                <a:solidFill>
                  <a:srgbClr val="FF0000"/>
                </a:solidFill>
              </a:rPr>
              <a:t> 3 matrix</a:t>
            </a:r>
            <a:r>
              <a:rPr lang="en-US" dirty="0" smtClean="0"/>
              <a:t>.</a:t>
            </a:r>
            <a:endParaRPr lang="en-US" dirty="0"/>
          </a:p>
        </p:txBody>
      </p:sp>
      <p:graphicFrame>
        <p:nvGraphicFramePr>
          <p:cNvPr id="279553" name="Object 1"/>
          <p:cNvGraphicFramePr>
            <a:graphicFrameLocks noChangeAspect="1"/>
          </p:cNvGraphicFramePr>
          <p:nvPr/>
        </p:nvGraphicFramePr>
        <p:xfrm>
          <a:off x="1066799" y="1828800"/>
          <a:ext cx="6934201" cy="10826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9555" r:id="rId3" imgW="3416040" imgH="457200" progId="">
                  <p:embed/>
                </p:oleObj>
              </mc:Choice>
              <mc:Fallback>
                <p:oleObj r:id="rId3" imgW="3416040" imgH="457200" progId="">
                  <p:embed/>
                  <p:pic>
                    <p:nvPicPr>
                      <p:cNvPr id="0" name="Picture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66799" y="1828800"/>
                        <a:ext cx="6934201" cy="10826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95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2795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19944-04AC-4CD8-BA69-63C2A678C21A}" type="slidenum">
              <a:rPr lang="en-US" smtClean="0"/>
              <a:pPr/>
              <a:t>46</a:t>
            </a:fld>
            <a:endParaRPr lang="en-US"/>
          </a:p>
        </p:txBody>
      </p:sp>
      <p:pic>
        <p:nvPicPr>
          <p:cNvPr id="9" name="Content Placeholder 8" descr="1.jpg"/>
          <p:cNvPicPr>
            <a:picLocks noGrp="1" noChangeAspect="1"/>
          </p:cNvPicPr>
          <p:nvPr>
            <p:ph sz="quarter" idx="1"/>
          </p:nvPr>
        </p:nvPicPr>
        <p:blipFill>
          <a:blip r:embed="rId3"/>
          <a:stretch>
            <a:fillRect/>
          </a:stretch>
        </p:blipFill>
        <p:spPr>
          <a:xfrm>
            <a:off x="1038225" y="2514600"/>
            <a:ext cx="7067550" cy="914400"/>
          </a:xfrm>
        </p:spPr>
      </p:pic>
      <p:graphicFrame>
        <p:nvGraphicFramePr>
          <p:cNvPr id="278529" name="Object 1"/>
          <p:cNvGraphicFramePr>
            <a:graphicFrameLocks noChangeAspect="1"/>
          </p:cNvGraphicFramePr>
          <p:nvPr/>
        </p:nvGraphicFramePr>
        <p:xfrm>
          <a:off x="2412999" y="1416485"/>
          <a:ext cx="3835401" cy="94571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8531" r:id="rId4" imgW="1854000" imgH="457200" progId="">
                  <p:embed/>
                </p:oleObj>
              </mc:Choice>
              <mc:Fallback>
                <p:oleObj r:id="rId4" imgW="1854000" imgH="457200" progId="">
                  <p:embed/>
                  <p:pic>
                    <p:nvPicPr>
                      <p:cNvPr id="0" name="Picture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12999" y="1416485"/>
                        <a:ext cx="3835401" cy="94571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0" name="Picture 9" descr="2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895600" y="3581400"/>
            <a:ext cx="2162175" cy="914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5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2785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ctr"/>
            <a:r>
              <a:rPr lang="en-US" b="1" u="sng" dirty="0" smtClean="0">
                <a:solidFill>
                  <a:srgbClr val="0070C0"/>
                </a:solidFill>
              </a:rPr>
              <a:t>ADJACENCY MATRIX OF A GRAPH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19944-04AC-4CD8-BA69-63C2A678C21A}" type="slidenum">
              <a:rPr lang="en-US" smtClean="0"/>
              <a:pPr/>
              <a:t>47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5105400"/>
          </a:xfrm>
        </p:spPr>
        <p:txBody>
          <a:bodyPr>
            <a:normAutofit/>
          </a:bodyPr>
          <a:lstStyle/>
          <a:p>
            <a:r>
              <a:rPr lang="en-US" dirty="0" smtClean="0"/>
              <a:t>Let </a:t>
            </a:r>
            <a:r>
              <a:rPr lang="en-US" dirty="0" smtClean="0">
                <a:solidFill>
                  <a:srgbClr val="FF0000"/>
                </a:solidFill>
              </a:rPr>
              <a:t>G</a:t>
            </a:r>
            <a:r>
              <a:rPr lang="en-US" dirty="0" smtClean="0"/>
              <a:t> be a graph with </a:t>
            </a:r>
            <a:r>
              <a:rPr lang="en-US" dirty="0" smtClean="0">
                <a:solidFill>
                  <a:srgbClr val="FF0000"/>
                </a:solidFill>
              </a:rPr>
              <a:t>ordered vertices</a:t>
            </a:r>
            <a:r>
              <a:rPr lang="en-US" dirty="0" smtClean="0"/>
              <a:t> </a:t>
            </a:r>
            <a:r>
              <a:rPr lang="en-US" dirty="0" smtClean="0">
                <a:solidFill>
                  <a:srgbClr val="FF0000"/>
                </a:solidFill>
              </a:rPr>
              <a:t>v</a:t>
            </a:r>
            <a:r>
              <a:rPr lang="en-US" baseline="-25000" dirty="0" smtClean="0">
                <a:solidFill>
                  <a:srgbClr val="FF0000"/>
                </a:solidFill>
              </a:rPr>
              <a:t>1</a:t>
            </a:r>
            <a:r>
              <a:rPr lang="en-US" dirty="0" smtClean="0">
                <a:solidFill>
                  <a:srgbClr val="FF0000"/>
                </a:solidFill>
              </a:rPr>
              <a:t>, v</a:t>
            </a:r>
            <a:r>
              <a:rPr lang="en-US" baseline="-25000" dirty="0" smtClean="0">
                <a:solidFill>
                  <a:srgbClr val="FF0000"/>
                </a:solidFill>
              </a:rPr>
              <a:t>2,</a:t>
            </a:r>
            <a:r>
              <a:rPr lang="en-US" dirty="0" smtClean="0">
                <a:solidFill>
                  <a:srgbClr val="FF0000"/>
                </a:solidFill>
              </a:rPr>
              <a:t>..., </a:t>
            </a:r>
            <a:r>
              <a:rPr lang="en-US" dirty="0" err="1" smtClean="0">
                <a:solidFill>
                  <a:srgbClr val="FF0000"/>
                </a:solidFill>
              </a:rPr>
              <a:t>v</a:t>
            </a:r>
            <a:r>
              <a:rPr lang="en-US" baseline="-25000" dirty="0" err="1" smtClean="0">
                <a:solidFill>
                  <a:srgbClr val="FF0000"/>
                </a:solidFill>
              </a:rPr>
              <a:t>n</a:t>
            </a:r>
            <a:r>
              <a:rPr lang="en-US" dirty="0" smtClean="0"/>
              <a:t>. The </a:t>
            </a:r>
            <a:r>
              <a:rPr lang="en-US" dirty="0" smtClean="0">
                <a:solidFill>
                  <a:srgbClr val="FF0000"/>
                </a:solidFill>
              </a:rPr>
              <a:t>adjacency matrix</a:t>
            </a:r>
            <a:r>
              <a:rPr lang="en-US" dirty="0" smtClean="0"/>
              <a:t> of </a:t>
            </a:r>
            <a:r>
              <a:rPr lang="en-US" dirty="0" smtClean="0">
                <a:solidFill>
                  <a:srgbClr val="FF0000"/>
                </a:solidFill>
              </a:rPr>
              <a:t>G</a:t>
            </a:r>
            <a:r>
              <a:rPr lang="en-US" dirty="0" smtClean="0"/>
              <a:t> is the </a:t>
            </a:r>
            <a:r>
              <a:rPr lang="en-US" dirty="0" smtClean="0">
                <a:solidFill>
                  <a:srgbClr val="FF0000"/>
                </a:solidFill>
              </a:rPr>
              <a:t>matrix A = [</a:t>
            </a:r>
            <a:r>
              <a:rPr lang="en-US" dirty="0" err="1" smtClean="0">
                <a:solidFill>
                  <a:srgbClr val="FF0000"/>
                </a:solidFill>
              </a:rPr>
              <a:t>a</a:t>
            </a:r>
            <a:r>
              <a:rPr lang="en-US" baseline="-25000" dirty="0" err="1" smtClean="0">
                <a:solidFill>
                  <a:srgbClr val="FF0000"/>
                </a:solidFill>
              </a:rPr>
              <a:t>ij</a:t>
            </a:r>
            <a:r>
              <a:rPr lang="en-US" dirty="0" smtClean="0">
                <a:solidFill>
                  <a:srgbClr val="FF0000"/>
                </a:solidFill>
              </a:rPr>
              <a:t>] </a:t>
            </a:r>
            <a:r>
              <a:rPr lang="en-US" dirty="0" smtClean="0"/>
              <a:t>over the set of </a:t>
            </a:r>
            <a:r>
              <a:rPr lang="en-US" dirty="0" smtClean="0">
                <a:solidFill>
                  <a:srgbClr val="FF0000"/>
                </a:solidFill>
              </a:rPr>
              <a:t>non-negative integers</a:t>
            </a:r>
            <a:r>
              <a:rPr lang="en-US" dirty="0" smtClean="0"/>
              <a:t> such that</a:t>
            </a:r>
          </a:p>
          <a:p>
            <a:endParaRPr lang="en-US" dirty="0" smtClean="0"/>
          </a:p>
          <a:p>
            <a:pPr>
              <a:buNone/>
            </a:pPr>
            <a:r>
              <a:rPr lang="en-US" dirty="0" smtClean="0"/>
              <a:t>	 </a:t>
            </a:r>
            <a:r>
              <a:rPr lang="en-US" dirty="0" err="1" smtClean="0">
                <a:solidFill>
                  <a:srgbClr val="FF0000"/>
                </a:solidFill>
              </a:rPr>
              <a:t>a</a:t>
            </a:r>
            <a:r>
              <a:rPr lang="en-US" baseline="-25000" dirty="0" err="1" smtClean="0">
                <a:solidFill>
                  <a:srgbClr val="FF0000"/>
                </a:solidFill>
              </a:rPr>
              <a:t>ij</a:t>
            </a:r>
            <a:r>
              <a:rPr lang="en-US" dirty="0" smtClean="0"/>
              <a:t> = the number of </a:t>
            </a:r>
            <a:r>
              <a:rPr lang="en-US" dirty="0" smtClean="0">
                <a:solidFill>
                  <a:srgbClr val="FF0000"/>
                </a:solidFill>
              </a:rPr>
              <a:t>edges</a:t>
            </a:r>
            <a:r>
              <a:rPr lang="en-US" dirty="0" smtClean="0"/>
              <a:t> connecting </a:t>
            </a:r>
            <a:r>
              <a:rPr lang="en-US" dirty="0" smtClean="0">
                <a:solidFill>
                  <a:srgbClr val="FF0000"/>
                </a:solidFill>
              </a:rPr>
              <a:t>v</a:t>
            </a:r>
            <a:r>
              <a:rPr lang="en-US" baseline="-25000" dirty="0" smtClean="0">
                <a:solidFill>
                  <a:srgbClr val="FF0000"/>
                </a:solidFill>
              </a:rPr>
              <a:t>i</a:t>
            </a:r>
            <a:r>
              <a:rPr lang="en-US" dirty="0" smtClean="0"/>
              <a:t> and </a:t>
            </a:r>
            <a:r>
              <a:rPr lang="en-US" dirty="0" err="1" smtClean="0">
                <a:solidFill>
                  <a:srgbClr val="FF0000"/>
                </a:solidFill>
              </a:rPr>
              <a:t>v</a:t>
            </a:r>
            <a:r>
              <a:rPr lang="en-US" baseline="-25000" dirty="0" err="1" smtClean="0">
                <a:solidFill>
                  <a:srgbClr val="FF0000"/>
                </a:solidFill>
              </a:rPr>
              <a:t>j</a:t>
            </a:r>
            <a:r>
              <a:rPr lang="en-US" dirty="0" smtClean="0"/>
              <a:t> </a:t>
            </a:r>
          </a:p>
          <a:p>
            <a:pPr>
              <a:buNone/>
            </a:pPr>
            <a:r>
              <a:rPr lang="en-US" dirty="0" smtClean="0"/>
              <a:t>		 for all</a:t>
            </a:r>
            <a:r>
              <a:rPr lang="en-US" dirty="0" smtClean="0">
                <a:solidFill>
                  <a:srgbClr val="FF0000"/>
                </a:solidFill>
              </a:rPr>
              <a:t> </a:t>
            </a:r>
            <a:r>
              <a:rPr lang="en-US" dirty="0" err="1" smtClean="0">
                <a:solidFill>
                  <a:srgbClr val="FF0000"/>
                </a:solidFill>
              </a:rPr>
              <a:t>i</a:t>
            </a:r>
            <a:r>
              <a:rPr lang="en-US" dirty="0" smtClean="0">
                <a:solidFill>
                  <a:srgbClr val="FF0000"/>
                </a:solidFill>
              </a:rPr>
              <a:t>, j = 1, 2, …, n</a:t>
            </a:r>
            <a:r>
              <a:rPr lang="en-US" dirty="0" smtClean="0"/>
              <a:t>.</a:t>
            </a:r>
          </a:p>
          <a:p>
            <a:pPr algn="ctr">
              <a:buNone/>
            </a:pPr>
            <a:r>
              <a:rPr lang="en-US" b="1" dirty="0" smtClean="0"/>
              <a:t>	OR</a:t>
            </a:r>
            <a:endParaRPr lang="en-US" dirty="0" smtClean="0"/>
          </a:p>
          <a:p>
            <a:r>
              <a:rPr lang="en-US" dirty="0" smtClean="0"/>
              <a:t>The </a:t>
            </a:r>
            <a:r>
              <a:rPr lang="en-US" dirty="0" err="1" smtClean="0"/>
              <a:t>adjancy</a:t>
            </a:r>
            <a:r>
              <a:rPr lang="en-US" dirty="0" smtClean="0"/>
              <a:t> matrix say A= [</a:t>
            </a:r>
            <a:r>
              <a:rPr lang="en-US" dirty="0" err="1" smtClean="0"/>
              <a:t>a</a:t>
            </a:r>
            <a:r>
              <a:rPr lang="en-US" baseline="-25000" dirty="0" err="1" smtClean="0"/>
              <a:t>ij</a:t>
            </a:r>
            <a:r>
              <a:rPr lang="en-US" dirty="0" smtClean="0"/>
              <a:t>] is also defined as </a:t>
            </a:r>
          </a:p>
          <a:p>
            <a:endParaRPr lang="en-US" dirty="0" smtClean="0">
              <a:solidFill>
                <a:srgbClr val="FF0000"/>
              </a:solidFill>
            </a:endParaRPr>
          </a:p>
          <a:p>
            <a:pPr>
              <a:buNone/>
            </a:pPr>
            <a:endParaRPr lang="en-US" dirty="0"/>
          </a:p>
        </p:txBody>
      </p:sp>
      <p:sp>
        <p:nvSpPr>
          <p:cNvPr id="330754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aphicFrame>
        <p:nvGraphicFramePr>
          <p:cNvPr id="330753" name="Object 1"/>
          <p:cNvGraphicFramePr>
            <a:graphicFrameLocks noChangeAspect="1"/>
          </p:cNvGraphicFramePr>
          <p:nvPr/>
        </p:nvGraphicFramePr>
        <p:xfrm>
          <a:off x="2598760" y="4981991"/>
          <a:ext cx="4391025" cy="109240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0755" r:id="rId3" imgW="1955800" imgH="482600" progId="">
                  <p:embed/>
                </p:oleObj>
              </mc:Choice>
              <mc:Fallback>
                <p:oleObj r:id="rId3" imgW="1955800" imgH="482600" progId="">
                  <p:embed/>
                  <p:pic>
                    <p:nvPicPr>
                      <p:cNvPr id="0" name="Picture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98760" y="4981991"/>
                        <a:ext cx="4391025" cy="1092401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07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2" dur="500"/>
                                        <p:tgtEl>
                                          <p:spTgt spid="3307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u="sng" dirty="0" smtClean="0">
                <a:solidFill>
                  <a:srgbClr val="0070C0"/>
                </a:solidFill>
              </a:rPr>
              <a:t>EXAMPLE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19944-04AC-4CD8-BA69-63C2A678C21A}" type="slidenum">
              <a:rPr lang="en-US" smtClean="0"/>
              <a:pPr/>
              <a:t>48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 A </a:t>
            </a:r>
            <a:r>
              <a:rPr lang="en-US" dirty="0" smtClean="0">
                <a:solidFill>
                  <a:srgbClr val="FF0000"/>
                </a:solidFill>
              </a:rPr>
              <a:t>graph</a:t>
            </a:r>
            <a:r>
              <a:rPr lang="en-US" dirty="0" smtClean="0"/>
              <a:t> with it’s </a:t>
            </a:r>
            <a:r>
              <a:rPr lang="en-US" dirty="0" smtClean="0">
                <a:solidFill>
                  <a:srgbClr val="FF0000"/>
                </a:solidFill>
              </a:rPr>
              <a:t>adjacency matrix</a:t>
            </a:r>
            <a:r>
              <a:rPr lang="en-US" dirty="0" smtClean="0"/>
              <a:t> is shown.</a:t>
            </a:r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r>
              <a:rPr lang="en-US" dirty="0" smtClean="0"/>
              <a:t>Clearly graph has </a:t>
            </a:r>
            <a:r>
              <a:rPr lang="en-US" dirty="0" smtClean="0">
                <a:solidFill>
                  <a:srgbClr val="FF0000"/>
                </a:solidFill>
              </a:rPr>
              <a:t>four vertices</a:t>
            </a:r>
            <a:r>
              <a:rPr lang="en-US" dirty="0" smtClean="0"/>
              <a:t>. It means that the corresponding </a:t>
            </a:r>
            <a:r>
              <a:rPr lang="en-US" dirty="0" smtClean="0">
                <a:solidFill>
                  <a:srgbClr val="FF0000"/>
                </a:solidFill>
              </a:rPr>
              <a:t>square matrix</a:t>
            </a:r>
            <a:r>
              <a:rPr lang="en-US" dirty="0" smtClean="0"/>
              <a:t> will be order </a:t>
            </a:r>
            <a:r>
              <a:rPr lang="en-US" dirty="0" smtClean="0">
                <a:solidFill>
                  <a:srgbClr val="FF0000"/>
                </a:solidFill>
              </a:rPr>
              <a:t>4 x 4</a:t>
            </a:r>
            <a:r>
              <a:rPr lang="en-US" dirty="0" smtClean="0"/>
              <a:t>.</a:t>
            </a:r>
          </a:p>
          <a:p>
            <a:endParaRPr lang="en-US" dirty="0"/>
          </a:p>
        </p:txBody>
      </p:sp>
      <p:pic>
        <p:nvPicPr>
          <p:cNvPr id="9" name="Picture 8" descr="3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9200" y="1981200"/>
            <a:ext cx="2790825" cy="2400300"/>
          </a:xfrm>
          <a:prstGeom prst="rect">
            <a:avLst/>
          </a:prstGeom>
        </p:spPr>
      </p:pic>
      <p:pic>
        <p:nvPicPr>
          <p:cNvPr id="10" name="Picture 9" descr="4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43400" y="1981200"/>
            <a:ext cx="3200400" cy="2512464"/>
          </a:xfrm>
          <a:prstGeom prst="rect">
            <a:avLst/>
          </a:prstGeom>
        </p:spPr>
      </p:pic>
      <p:sp>
        <p:nvSpPr>
          <p:cNvPr id="7" name="Oval 6"/>
          <p:cNvSpPr/>
          <p:nvPr/>
        </p:nvSpPr>
        <p:spPr>
          <a:xfrm>
            <a:off x="6463352" y="3027536"/>
            <a:ext cx="394648" cy="381000"/>
          </a:xfrm>
          <a:prstGeom prst="ellipse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/>
          <p:cNvSpPr/>
          <p:nvPr/>
        </p:nvSpPr>
        <p:spPr>
          <a:xfrm>
            <a:off x="5943600" y="3499512"/>
            <a:ext cx="394648" cy="381000"/>
          </a:xfrm>
          <a:prstGeom prst="ellipse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20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  <p:bldP spid="7" grpId="0" animBg="1"/>
      <p:bldP spid="8" grpId="0" animBg="1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u="sng" dirty="0" smtClean="0">
                <a:solidFill>
                  <a:srgbClr val="0070C0"/>
                </a:solidFill>
              </a:rPr>
              <a:t>EXERCISE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19944-04AC-4CD8-BA69-63C2A678C21A}" type="slidenum">
              <a:rPr lang="en-US" smtClean="0"/>
              <a:pPr/>
              <a:t>49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Find a </a:t>
            </a:r>
            <a:r>
              <a:rPr lang="en-US" dirty="0" smtClean="0">
                <a:solidFill>
                  <a:srgbClr val="FF0000"/>
                </a:solidFill>
              </a:rPr>
              <a:t>graph</a:t>
            </a:r>
            <a:r>
              <a:rPr lang="en-US" dirty="0" smtClean="0"/>
              <a:t> that have the following </a:t>
            </a:r>
            <a:r>
              <a:rPr lang="en-US" dirty="0" smtClean="0">
                <a:solidFill>
                  <a:srgbClr val="FF0000"/>
                </a:solidFill>
              </a:rPr>
              <a:t>adjacency matrix</a:t>
            </a:r>
            <a:r>
              <a:rPr lang="en-US" dirty="0" smtClean="0"/>
              <a:t>.</a:t>
            </a:r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r>
              <a:rPr lang="en-US" dirty="0" smtClean="0"/>
              <a:t>Its order is </a:t>
            </a:r>
            <a:r>
              <a:rPr lang="en-US" dirty="0" smtClean="0">
                <a:solidFill>
                  <a:srgbClr val="FF0000"/>
                </a:solidFill>
              </a:rPr>
              <a:t>3 x 3</a:t>
            </a:r>
            <a:r>
              <a:rPr lang="en-US" dirty="0" smtClean="0"/>
              <a:t>, it means its corresponding graph has </a:t>
            </a:r>
            <a:r>
              <a:rPr lang="en-US" dirty="0" smtClean="0">
                <a:solidFill>
                  <a:srgbClr val="FF0000"/>
                </a:solidFill>
              </a:rPr>
              <a:t>three vertices</a:t>
            </a:r>
            <a:r>
              <a:rPr lang="en-US" dirty="0" smtClean="0"/>
              <a:t>.</a:t>
            </a:r>
          </a:p>
          <a:p>
            <a:endParaRPr lang="en-US" dirty="0" smtClean="0"/>
          </a:p>
          <a:p>
            <a:r>
              <a:rPr lang="en-US" dirty="0" smtClean="0"/>
              <a:t>Let the </a:t>
            </a:r>
            <a:r>
              <a:rPr lang="en-US" dirty="0" smtClean="0">
                <a:solidFill>
                  <a:srgbClr val="FF0000"/>
                </a:solidFill>
              </a:rPr>
              <a:t>three vertices</a:t>
            </a:r>
            <a:r>
              <a:rPr lang="en-US" dirty="0" smtClean="0"/>
              <a:t> of the </a:t>
            </a:r>
            <a:r>
              <a:rPr lang="en-US" dirty="0" smtClean="0">
                <a:solidFill>
                  <a:srgbClr val="FF0000"/>
                </a:solidFill>
              </a:rPr>
              <a:t>graph</a:t>
            </a:r>
            <a:r>
              <a:rPr lang="en-US" dirty="0" smtClean="0"/>
              <a:t> be named </a:t>
            </a:r>
            <a:r>
              <a:rPr lang="en-US" dirty="0" smtClean="0">
                <a:solidFill>
                  <a:srgbClr val="FF0000"/>
                </a:solidFill>
              </a:rPr>
              <a:t>v</a:t>
            </a:r>
            <a:r>
              <a:rPr lang="en-US" baseline="-25000" dirty="0" smtClean="0">
                <a:solidFill>
                  <a:srgbClr val="FF0000"/>
                </a:solidFill>
              </a:rPr>
              <a:t>1</a:t>
            </a:r>
            <a:r>
              <a:rPr lang="en-US" dirty="0" smtClean="0"/>
              <a:t>, </a:t>
            </a:r>
            <a:r>
              <a:rPr lang="en-US" dirty="0" smtClean="0">
                <a:solidFill>
                  <a:srgbClr val="FF0000"/>
                </a:solidFill>
              </a:rPr>
              <a:t>v</a:t>
            </a:r>
            <a:r>
              <a:rPr lang="en-US" baseline="-25000" dirty="0" smtClean="0">
                <a:solidFill>
                  <a:srgbClr val="FF0000"/>
                </a:solidFill>
              </a:rPr>
              <a:t>2</a:t>
            </a:r>
            <a:r>
              <a:rPr lang="en-US" dirty="0" smtClean="0"/>
              <a:t> and </a:t>
            </a:r>
            <a:r>
              <a:rPr lang="en-US" dirty="0" smtClean="0">
                <a:solidFill>
                  <a:srgbClr val="FF0000"/>
                </a:solidFill>
              </a:rPr>
              <a:t>v</a:t>
            </a:r>
            <a:r>
              <a:rPr lang="en-US" baseline="-25000" dirty="0" smtClean="0">
                <a:solidFill>
                  <a:srgbClr val="FF0000"/>
                </a:solidFill>
              </a:rPr>
              <a:t>3</a:t>
            </a:r>
            <a:endParaRPr lang="en-US" dirty="0" smtClean="0">
              <a:solidFill>
                <a:srgbClr val="FF0000"/>
              </a:solidFill>
            </a:endParaRPr>
          </a:p>
          <a:p>
            <a:endParaRPr lang="en-US" dirty="0" smtClean="0"/>
          </a:p>
          <a:p>
            <a:endParaRPr lang="en-US" dirty="0"/>
          </a:p>
        </p:txBody>
      </p:sp>
      <p:graphicFrame>
        <p:nvGraphicFramePr>
          <p:cNvPr id="347137" name="Object 1"/>
          <p:cNvGraphicFramePr>
            <a:graphicFrameLocks noChangeAspect="1"/>
          </p:cNvGraphicFramePr>
          <p:nvPr/>
        </p:nvGraphicFramePr>
        <p:xfrm>
          <a:off x="3733799" y="1727198"/>
          <a:ext cx="1447801" cy="147412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7139" r:id="rId3" imgW="698400" imgH="711000" progId="">
                  <p:embed/>
                </p:oleObj>
              </mc:Choice>
              <mc:Fallback>
                <p:oleObj r:id="rId3" imgW="698400" imgH="711000" progId="">
                  <p:embed/>
                  <p:pic>
                    <p:nvPicPr>
                      <p:cNvPr id="0" name="Picture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33799" y="1727198"/>
                        <a:ext cx="1447801" cy="147412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7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347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endParaRPr lang="en-US" b="1" u="sng" dirty="0" smtClean="0">
              <a:solidFill>
                <a:srgbClr val="0070C0"/>
              </a:solidFill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19944-04AC-4CD8-BA69-63C2A678C21A}" type="slidenum">
              <a:rPr lang="en-US" smtClean="0"/>
              <a:pPr/>
              <a:t>50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en-US" dirty="0" smtClean="0"/>
          </a:p>
          <a:p>
            <a:endParaRPr lang="en-US" dirty="0"/>
          </a:p>
        </p:txBody>
      </p:sp>
      <p:pic>
        <p:nvPicPr>
          <p:cNvPr id="5" name="Picture 4"/>
          <p:cNvPicPr/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838200" y="1295400"/>
            <a:ext cx="7467600" cy="2971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u="sng" dirty="0" smtClean="0">
                <a:solidFill>
                  <a:srgbClr val="0070C0"/>
                </a:solidFill>
              </a:rPr>
              <a:t>DIRECTED GRAPH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19944-04AC-4CD8-BA69-63C2A678C21A}" type="slidenum">
              <a:rPr lang="en-US" smtClean="0"/>
              <a:pPr/>
              <a:t>51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686800" cy="5105400"/>
          </a:xfrm>
        </p:spPr>
        <p:txBody>
          <a:bodyPr/>
          <a:lstStyle/>
          <a:p>
            <a:r>
              <a:rPr lang="en-US" dirty="0" smtClean="0"/>
              <a:t>A </a:t>
            </a:r>
            <a:r>
              <a:rPr lang="en-US" dirty="0" smtClean="0">
                <a:solidFill>
                  <a:srgbClr val="FF0000"/>
                </a:solidFill>
              </a:rPr>
              <a:t>directed graph</a:t>
            </a:r>
            <a:r>
              <a:rPr lang="en-US" dirty="0" smtClean="0"/>
              <a:t> or </a:t>
            </a:r>
            <a:r>
              <a:rPr lang="en-US" dirty="0" smtClean="0">
                <a:solidFill>
                  <a:srgbClr val="FF0000"/>
                </a:solidFill>
              </a:rPr>
              <a:t>digraph</a:t>
            </a:r>
            <a:r>
              <a:rPr lang="en-US" dirty="0" smtClean="0"/>
              <a:t>, consists of two finite </a:t>
            </a:r>
            <a:r>
              <a:rPr lang="en-US" dirty="0" smtClean="0">
                <a:solidFill>
                  <a:srgbClr val="FF0000"/>
                </a:solidFill>
              </a:rPr>
              <a:t>sets</a:t>
            </a:r>
            <a:r>
              <a:rPr lang="en-US" dirty="0" smtClean="0"/>
              <a:t>: a set </a:t>
            </a:r>
            <a:r>
              <a:rPr lang="en-US" dirty="0" smtClean="0">
                <a:solidFill>
                  <a:srgbClr val="FF0000"/>
                </a:solidFill>
              </a:rPr>
              <a:t>V(G)</a:t>
            </a:r>
            <a:r>
              <a:rPr lang="en-US" dirty="0" smtClean="0"/>
              <a:t> of </a:t>
            </a:r>
            <a:r>
              <a:rPr lang="en-US" dirty="0" smtClean="0">
                <a:solidFill>
                  <a:srgbClr val="FF0000"/>
                </a:solidFill>
              </a:rPr>
              <a:t>vertices</a:t>
            </a:r>
            <a:r>
              <a:rPr lang="en-US" dirty="0" smtClean="0"/>
              <a:t> and a set </a:t>
            </a:r>
            <a:r>
              <a:rPr lang="en-US" dirty="0" smtClean="0">
                <a:solidFill>
                  <a:srgbClr val="FF0000"/>
                </a:solidFill>
              </a:rPr>
              <a:t>D(G)</a:t>
            </a:r>
            <a:r>
              <a:rPr lang="en-US" dirty="0" smtClean="0"/>
              <a:t> of </a:t>
            </a:r>
            <a:r>
              <a:rPr lang="en-US" dirty="0" smtClean="0">
                <a:solidFill>
                  <a:srgbClr val="FF0000"/>
                </a:solidFill>
              </a:rPr>
              <a:t>directed edges</a:t>
            </a:r>
            <a:r>
              <a:rPr lang="en-US" dirty="0" smtClean="0"/>
              <a:t>, </a:t>
            </a:r>
          </a:p>
          <a:p>
            <a:endParaRPr lang="en-US" dirty="0" smtClean="0"/>
          </a:p>
          <a:p>
            <a:r>
              <a:rPr lang="en-US" dirty="0" smtClean="0"/>
              <a:t>where each </a:t>
            </a:r>
            <a:r>
              <a:rPr lang="en-US" dirty="0" smtClean="0">
                <a:solidFill>
                  <a:srgbClr val="FF0000"/>
                </a:solidFill>
              </a:rPr>
              <a:t>edge</a:t>
            </a:r>
            <a:r>
              <a:rPr lang="en-US" dirty="0" smtClean="0"/>
              <a:t> is associated with an </a:t>
            </a:r>
            <a:r>
              <a:rPr lang="en-US" dirty="0" smtClean="0">
                <a:solidFill>
                  <a:srgbClr val="FF0000"/>
                </a:solidFill>
              </a:rPr>
              <a:t>ordered pair</a:t>
            </a:r>
            <a:r>
              <a:rPr lang="en-US" dirty="0" smtClean="0"/>
              <a:t> of </a:t>
            </a:r>
            <a:r>
              <a:rPr lang="en-US" dirty="0" smtClean="0">
                <a:solidFill>
                  <a:srgbClr val="FF0000"/>
                </a:solidFill>
              </a:rPr>
              <a:t>vertices</a:t>
            </a:r>
            <a:r>
              <a:rPr lang="en-US" dirty="0" smtClean="0"/>
              <a:t> called its </a:t>
            </a:r>
            <a:r>
              <a:rPr lang="en-US" dirty="0" smtClean="0">
                <a:solidFill>
                  <a:srgbClr val="FF0000"/>
                </a:solidFill>
              </a:rPr>
              <a:t>end points</a:t>
            </a:r>
            <a:r>
              <a:rPr lang="en-US" dirty="0" smtClean="0"/>
              <a:t>.</a:t>
            </a:r>
          </a:p>
          <a:p>
            <a:endParaRPr lang="en-US" dirty="0" smtClean="0"/>
          </a:p>
          <a:p>
            <a:r>
              <a:rPr lang="en-US" dirty="0" smtClean="0"/>
              <a:t>If </a:t>
            </a:r>
            <a:r>
              <a:rPr lang="en-US" dirty="0" smtClean="0">
                <a:solidFill>
                  <a:srgbClr val="FF0000"/>
                </a:solidFill>
              </a:rPr>
              <a:t>edge e</a:t>
            </a:r>
            <a:r>
              <a:rPr lang="en-US" dirty="0" smtClean="0"/>
              <a:t> is associated with the </a:t>
            </a:r>
            <a:r>
              <a:rPr lang="en-US" dirty="0" smtClean="0">
                <a:solidFill>
                  <a:srgbClr val="FF0000"/>
                </a:solidFill>
              </a:rPr>
              <a:t>pair (v, w)</a:t>
            </a:r>
            <a:r>
              <a:rPr lang="en-US" dirty="0" smtClean="0"/>
              <a:t> of </a:t>
            </a:r>
            <a:r>
              <a:rPr lang="en-US" dirty="0" smtClean="0">
                <a:solidFill>
                  <a:srgbClr val="FF0000"/>
                </a:solidFill>
              </a:rPr>
              <a:t>vertices</a:t>
            </a:r>
            <a:r>
              <a:rPr lang="en-US" dirty="0" smtClean="0"/>
              <a:t>, then </a:t>
            </a:r>
            <a:r>
              <a:rPr lang="en-US" dirty="0" smtClean="0">
                <a:solidFill>
                  <a:srgbClr val="FF0000"/>
                </a:solidFill>
              </a:rPr>
              <a:t>e</a:t>
            </a:r>
            <a:r>
              <a:rPr lang="en-US" dirty="0" smtClean="0"/>
              <a:t> is said to be the </a:t>
            </a:r>
            <a:r>
              <a:rPr lang="en-US" dirty="0" smtClean="0">
                <a:solidFill>
                  <a:srgbClr val="FF0000"/>
                </a:solidFill>
              </a:rPr>
              <a:t>directed edge</a:t>
            </a:r>
            <a:r>
              <a:rPr lang="en-US" dirty="0" smtClean="0"/>
              <a:t> from </a:t>
            </a:r>
            <a:r>
              <a:rPr lang="en-US" dirty="0" smtClean="0">
                <a:solidFill>
                  <a:srgbClr val="FF0000"/>
                </a:solidFill>
              </a:rPr>
              <a:t>v</a:t>
            </a:r>
            <a:r>
              <a:rPr lang="en-US" dirty="0" smtClean="0"/>
              <a:t> to </a:t>
            </a:r>
            <a:r>
              <a:rPr lang="en-US" dirty="0" smtClean="0">
                <a:solidFill>
                  <a:srgbClr val="FF0000"/>
                </a:solidFill>
              </a:rPr>
              <a:t>w</a:t>
            </a:r>
            <a:r>
              <a:rPr lang="en-US" dirty="0" smtClean="0"/>
              <a:t> and is represented by drawing an </a:t>
            </a:r>
            <a:r>
              <a:rPr lang="en-US" dirty="0" smtClean="0">
                <a:solidFill>
                  <a:srgbClr val="FF0000"/>
                </a:solidFill>
              </a:rPr>
              <a:t>arrow</a:t>
            </a:r>
            <a:r>
              <a:rPr lang="en-US" dirty="0" smtClean="0"/>
              <a:t> from </a:t>
            </a:r>
            <a:r>
              <a:rPr lang="en-US" dirty="0" smtClean="0">
                <a:solidFill>
                  <a:srgbClr val="FF0000"/>
                </a:solidFill>
              </a:rPr>
              <a:t>v</a:t>
            </a:r>
            <a:r>
              <a:rPr lang="en-US" dirty="0" smtClean="0"/>
              <a:t> to </a:t>
            </a:r>
            <a:r>
              <a:rPr lang="en-US" dirty="0" smtClean="0">
                <a:solidFill>
                  <a:srgbClr val="FF0000"/>
                </a:solidFill>
              </a:rPr>
              <a:t>w</a:t>
            </a:r>
            <a:r>
              <a:rPr lang="en-US" dirty="0" smtClean="0"/>
              <a:t>.</a:t>
            </a: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ctr"/>
            <a:r>
              <a:rPr lang="en-US" b="1" u="sng" dirty="0" smtClean="0">
                <a:solidFill>
                  <a:srgbClr val="0070C0"/>
                </a:solidFill>
              </a:rPr>
              <a:t>EXAMPLE OF DIGRAPGH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19944-04AC-4CD8-BA69-63C2A678C21A}" type="slidenum">
              <a:rPr lang="en-US" smtClean="0"/>
              <a:pPr/>
              <a:t>52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en-US" dirty="0" smtClean="0"/>
          </a:p>
          <a:p>
            <a:endParaRPr lang="en-US" dirty="0"/>
          </a:p>
        </p:txBody>
      </p:sp>
      <p:pic>
        <p:nvPicPr>
          <p:cNvPr id="5" name="Picture 4"/>
          <p:cNvPicPr/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830314" y="1219200"/>
            <a:ext cx="3875286" cy="32196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ctr"/>
            <a:r>
              <a:rPr lang="en-US" b="1" u="sng" dirty="0" smtClean="0">
                <a:solidFill>
                  <a:srgbClr val="0070C0"/>
                </a:solidFill>
              </a:rPr>
              <a:t>ADJACENCY MATRIX OF A DIRECTED GRAPH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19944-04AC-4CD8-BA69-63C2A678C21A}" type="slidenum">
              <a:rPr lang="en-US" smtClean="0"/>
              <a:pPr/>
              <a:t>53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Let </a:t>
            </a:r>
            <a:r>
              <a:rPr lang="en-US" dirty="0" smtClean="0">
                <a:solidFill>
                  <a:srgbClr val="FF0000"/>
                </a:solidFill>
              </a:rPr>
              <a:t>G</a:t>
            </a:r>
            <a:r>
              <a:rPr lang="en-US" dirty="0" smtClean="0"/>
              <a:t> be a </a:t>
            </a:r>
            <a:r>
              <a:rPr lang="en-US" dirty="0" smtClean="0">
                <a:solidFill>
                  <a:srgbClr val="FF0000"/>
                </a:solidFill>
              </a:rPr>
              <a:t>graph</a:t>
            </a:r>
            <a:r>
              <a:rPr lang="en-US" dirty="0" smtClean="0"/>
              <a:t> with </a:t>
            </a:r>
            <a:r>
              <a:rPr lang="en-US" dirty="0" smtClean="0">
                <a:solidFill>
                  <a:srgbClr val="FF0000"/>
                </a:solidFill>
              </a:rPr>
              <a:t>ordered vertices</a:t>
            </a:r>
            <a:r>
              <a:rPr lang="en-US" dirty="0" smtClean="0"/>
              <a:t> </a:t>
            </a:r>
          </a:p>
          <a:p>
            <a:pPr>
              <a:buNone/>
            </a:pPr>
            <a:r>
              <a:rPr lang="en-US" dirty="0" smtClean="0"/>
              <a:t>					</a:t>
            </a:r>
            <a:r>
              <a:rPr lang="en-US" dirty="0" smtClean="0">
                <a:solidFill>
                  <a:srgbClr val="FF0000"/>
                </a:solidFill>
              </a:rPr>
              <a:t>v</a:t>
            </a:r>
            <a:r>
              <a:rPr lang="en-US" baseline="-25000" dirty="0" smtClean="0">
                <a:solidFill>
                  <a:srgbClr val="FF0000"/>
                </a:solidFill>
              </a:rPr>
              <a:t>1</a:t>
            </a:r>
            <a:r>
              <a:rPr lang="en-US" dirty="0" smtClean="0">
                <a:solidFill>
                  <a:srgbClr val="FF0000"/>
                </a:solidFill>
              </a:rPr>
              <a:t>, v</a:t>
            </a:r>
            <a:r>
              <a:rPr lang="en-US" baseline="-25000" dirty="0" smtClean="0">
                <a:solidFill>
                  <a:srgbClr val="FF0000"/>
                </a:solidFill>
              </a:rPr>
              <a:t>2</a:t>
            </a:r>
            <a:r>
              <a:rPr lang="en-US" dirty="0" smtClean="0">
                <a:solidFill>
                  <a:srgbClr val="FF0000"/>
                </a:solidFill>
              </a:rPr>
              <a:t>, …, </a:t>
            </a:r>
            <a:r>
              <a:rPr lang="en-US" dirty="0" err="1" smtClean="0">
                <a:solidFill>
                  <a:srgbClr val="FF0000"/>
                </a:solidFill>
              </a:rPr>
              <a:t>v</a:t>
            </a:r>
            <a:r>
              <a:rPr lang="en-US" baseline="-25000" dirty="0" err="1" smtClean="0">
                <a:solidFill>
                  <a:srgbClr val="FF0000"/>
                </a:solidFill>
              </a:rPr>
              <a:t>n</a:t>
            </a:r>
            <a:r>
              <a:rPr lang="en-US" dirty="0" smtClean="0"/>
              <a:t>.</a:t>
            </a:r>
          </a:p>
          <a:p>
            <a:endParaRPr lang="en-US" dirty="0" smtClean="0"/>
          </a:p>
          <a:p>
            <a:r>
              <a:rPr lang="en-US" dirty="0" smtClean="0"/>
              <a:t>The </a:t>
            </a:r>
            <a:r>
              <a:rPr lang="en-US" dirty="0" smtClean="0">
                <a:solidFill>
                  <a:srgbClr val="FF0000"/>
                </a:solidFill>
              </a:rPr>
              <a:t>adjacency matrix</a:t>
            </a:r>
            <a:r>
              <a:rPr lang="en-US" dirty="0" smtClean="0"/>
              <a:t> of </a:t>
            </a:r>
            <a:r>
              <a:rPr lang="en-US" dirty="0" smtClean="0">
                <a:solidFill>
                  <a:srgbClr val="FF0000"/>
                </a:solidFill>
              </a:rPr>
              <a:t>G</a:t>
            </a:r>
            <a:r>
              <a:rPr lang="en-US" dirty="0" smtClean="0"/>
              <a:t> is the matrix </a:t>
            </a:r>
            <a:r>
              <a:rPr lang="en-US" dirty="0" smtClean="0">
                <a:solidFill>
                  <a:srgbClr val="FF0000"/>
                </a:solidFill>
              </a:rPr>
              <a:t>A</a:t>
            </a:r>
            <a:r>
              <a:rPr lang="en-US" dirty="0" smtClean="0"/>
              <a:t> = </a:t>
            </a:r>
            <a:r>
              <a:rPr lang="en-US" dirty="0" smtClean="0">
                <a:solidFill>
                  <a:srgbClr val="FF0000"/>
                </a:solidFill>
              </a:rPr>
              <a:t>[</a:t>
            </a:r>
            <a:r>
              <a:rPr lang="en-US" dirty="0" err="1" smtClean="0">
                <a:solidFill>
                  <a:srgbClr val="FF0000"/>
                </a:solidFill>
              </a:rPr>
              <a:t>a</a:t>
            </a:r>
            <a:r>
              <a:rPr lang="en-US" baseline="-25000" dirty="0" err="1" smtClean="0">
                <a:solidFill>
                  <a:srgbClr val="FF0000"/>
                </a:solidFill>
              </a:rPr>
              <a:t>ij</a:t>
            </a:r>
            <a:r>
              <a:rPr lang="en-US" dirty="0" smtClean="0">
                <a:solidFill>
                  <a:srgbClr val="FF0000"/>
                </a:solidFill>
              </a:rPr>
              <a:t>]</a:t>
            </a:r>
            <a:r>
              <a:rPr lang="en-US" dirty="0" smtClean="0"/>
              <a:t> over the set of </a:t>
            </a:r>
            <a:r>
              <a:rPr lang="en-US" dirty="0" smtClean="0">
                <a:solidFill>
                  <a:srgbClr val="FF0000"/>
                </a:solidFill>
              </a:rPr>
              <a:t>non-negative integers</a:t>
            </a:r>
            <a:r>
              <a:rPr lang="en-US" dirty="0" smtClean="0"/>
              <a:t> such that</a:t>
            </a:r>
          </a:p>
          <a:p>
            <a:pPr>
              <a:buNone/>
            </a:pPr>
            <a:r>
              <a:rPr lang="en-US" dirty="0" smtClean="0"/>
              <a:t>	</a:t>
            </a:r>
          </a:p>
          <a:p>
            <a:pPr>
              <a:buNone/>
            </a:pPr>
            <a:r>
              <a:rPr lang="en-US" dirty="0" smtClean="0"/>
              <a:t>	</a:t>
            </a:r>
            <a:r>
              <a:rPr lang="en-US" dirty="0" err="1" smtClean="0">
                <a:solidFill>
                  <a:srgbClr val="FF0000"/>
                </a:solidFill>
              </a:rPr>
              <a:t>a</a:t>
            </a:r>
            <a:r>
              <a:rPr lang="en-US" baseline="-25000" dirty="0" err="1" smtClean="0">
                <a:solidFill>
                  <a:srgbClr val="FF0000"/>
                </a:solidFill>
              </a:rPr>
              <a:t>ij</a:t>
            </a:r>
            <a:r>
              <a:rPr lang="en-US" dirty="0" smtClean="0"/>
              <a:t> = the </a:t>
            </a:r>
            <a:r>
              <a:rPr lang="en-US" dirty="0" smtClean="0">
                <a:solidFill>
                  <a:srgbClr val="FF0000"/>
                </a:solidFill>
              </a:rPr>
              <a:t>number of arrows</a:t>
            </a:r>
            <a:r>
              <a:rPr lang="en-US" dirty="0" smtClean="0"/>
              <a:t> from </a:t>
            </a:r>
            <a:r>
              <a:rPr lang="en-US" dirty="0" smtClean="0">
                <a:solidFill>
                  <a:srgbClr val="FF0000"/>
                </a:solidFill>
              </a:rPr>
              <a:t>v</a:t>
            </a:r>
            <a:r>
              <a:rPr lang="en-US" baseline="-25000" dirty="0" smtClean="0">
                <a:solidFill>
                  <a:srgbClr val="FF0000"/>
                </a:solidFill>
              </a:rPr>
              <a:t>i</a:t>
            </a:r>
            <a:r>
              <a:rPr lang="en-US" dirty="0" smtClean="0"/>
              <a:t> to </a:t>
            </a:r>
            <a:r>
              <a:rPr lang="en-US" dirty="0" err="1" smtClean="0">
                <a:solidFill>
                  <a:srgbClr val="FF0000"/>
                </a:solidFill>
              </a:rPr>
              <a:t>v</a:t>
            </a:r>
            <a:r>
              <a:rPr lang="en-US" baseline="-25000" dirty="0" err="1" smtClean="0">
                <a:solidFill>
                  <a:srgbClr val="FF0000"/>
                </a:solidFill>
              </a:rPr>
              <a:t>j</a:t>
            </a:r>
            <a:r>
              <a:rPr lang="en-US" dirty="0" smtClean="0"/>
              <a:t>  </a:t>
            </a:r>
          </a:p>
          <a:p>
            <a:pPr>
              <a:buNone/>
            </a:pPr>
            <a:r>
              <a:rPr lang="en-US" dirty="0" smtClean="0"/>
              <a:t>		for all </a:t>
            </a:r>
            <a:r>
              <a:rPr lang="en-US" dirty="0" err="1" smtClean="0">
                <a:solidFill>
                  <a:srgbClr val="FF0000"/>
                </a:solidFill>
              </a:rPr>
              <a:t>i</a:t>
            </a:r>
            <a:r>
              <a:rPr lang="en-US" dirty="0" smtClean="0">
                <a:solidFill>
                  <a:srgbClr val="FF0000"/>
                </a:solidFill>
              </a:rPr>
              <a:t>, j = 1, 2, …, n</a:t>
            </a:r>
            <a:r>
              <a:rPr lang="en-US" dirty="0" smtClean="0"/>
              <a:t>.</a:t>
            </a:r>
          </a:p>
          <a:p>
            <a:endParaRPr lang="en-US" dirty="0" smtClean="0">
              <a:solidFill>
                <a:srgbClr val="FF0000"/>
              </a:solidFill>
            </a:endParaRP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u="sng" dirty="0" smtClean="0">
                <a:solidFill>
                  <a:srgbClr val="0070C0"/>
                </a:solidFill>
              </a:rPr>
              <a:t>EXAMPLE</a:t>
            </a:r>
            <a:endParaRPr lang="en-US" b="1" u="sng" dirty="0">
              <a:solidFill>
                <a:srgbClr val="0070C0"/>
              </a:solidFill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19944-04AC-4CD8-BA69-63C2A678C21A}" type="slidenum">
              <a:rPr lang="en-US" smtClean="0"/>
              <a:pPr/>
              <a:t>54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A directed graph with its adjacency matrix is shown</a:t>
            </a:r>
            <a:endParaRPr lang="en-US" dirty="0"/>
          </a:p>
        </p:txBody>
      </p:sp>
      <p:pic>
        <p:nvPicPr>
          <p:cNvPr id="6" name="Picture 5"/>
          <p:cNvPicPr/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85800" y="1752600"/>
            <a:ext cx="6949440" cy="26517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Rectangle 6"/>
          <p:cNvSpPr/>
          <p:nvPr/>
        </p:nvSpPr>
        <p:spPr>
          <a:xfrm>
            <a:off x="7315200" y="4267200"/>
            <a:ext cx="1905000" cy="381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rgbClr val="FF0000"/>
                </a:solidFill>
              </a:rPr>
              <a:t>Adjacency matrix</a:t>
            </a:r>
            <a:endParaRPr lang="en-US" dirty="0">
              <a:solidFill>
                <a:srgbClr val="FF0000"/>
              </a:solidFill>
            </a:endParaRPr>
          </a:p>
        </p:txBody>
      </p:sp>
      <p:cxnSp>
        <p:nvCxnSpPr>
          <p:cNvPr id="9" name="Straight Arrow Connector 8"/>
          <p:cNvCxnSpPr/>
          <p:nvPr/>
        </p:nvCxnSpPr>
        <p:spPr>
          <a:xfrm rot="16200000" flipH="1">
            <a:off x="7467600" y="3352800"/>
            <a:ext cx="838200" cy="838200"/>
          </a:xfrm>
          <a:prstGeom prst="straightConnector1">
            <a:avLst/>
          </a:prstGeom>
          <a:ln w="254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  <p:bldP spid="7" grpId="0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u="sng" dirty="0" smtClean="0">
                <a:solidFill>
                  <a:srgbClr val="0070C0"/>
                </a:solidFill>
              </a:rPr>
              <a:t>EXERCISE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19944-04AC-4CD8-BA69-63C2A678C21A}" type="slidenum">
              <a:rPr lang="en-US" smtClean="0"/>
              <a:pPr/>
              <a:t>55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Find </a:t>
            </a:r>
            <a:r>
              <a:rPr lang="en-US" dirty="0" smtClean="0">
                <a:solidFill>
                  <a:srgbClr val="FF0000"/>
                </a:solidFill>
              </a:rPr>
              <a:t>directed graph</a:t>
            </a:r>
            <a:r>
              <a:rPr lang="en-US" dirty="0" smtClean="0"/>
              <a:t> that has the </a:t>
            </a:r>
            <a:r>
              <a:rPr lang="en-US" dirty="0" smtClean="0">
                <a:solidFill>
                  <a:srgbClr val="FF0000"/>
                </a:solidFill>
              </a:rPr>
              <a:t>adjacency matrix</a:t>
            </a:r>
          </a:p>
          <a:p>
            <a:endParaRPr lang="en-US" dirty="0" smtClean="0">
              <a:solidFill>
                <a:srgbClr val="FF0000"/>
              </a:solidFill>
            </a:endParaRPr>
          </a:p>
          <a:p>
            <a:endParaRPr lang="en-US" dirty="0" smtClean="0">
              <a:solidFill>
                <a:srgbClr val="FF0000"/>
              </a:solidFill>
            </a:endParaRPr>
          </a:p>
          <a:p>
            <a:endParaRPr lang="en-US" dirty="0" smtClean="0">
              <a:solidFill>
                <a:srgbClr val="FF0000"/>
              </a:solidFill>
            </a:endParaRPr>
          </a:p>
          <a:p>
            <a:endParaRPr lang="en-US" dirty="0" smtClean="0">
              <a:solidFill>
                <a:srgbClr val="FF0000"/>
              </a:solidFill>
            </a:endParaRPr>
          </a:p>
          <a:p>
            <a:endParaRPr lang="en-US" dirty="0" smtClean="0">
              <a:solidFill>
                <a:srgbClr val="FF0000"/>
              </a:solidFill>
            </a:endParaRPr>
          </a:p>
          <a:p>
            <a:r>
              <a:rPr lang="en-US" dirty="0" smtClean="0"/>
              <a:t>The order of </a:t>
            </a:r>
            <a:r>
              <a:rPr lang="en-US" dirty="0" smtClean="0">
                <a:solidFill>
                  <a:srgbClr val="FF0000"/>
                </a:solidFill>
              </a:rPr>
              <a:t>matrix </a:t>
            </a:r>
            <a:r>
              <a:rPr lang="en-US" dirty="0" smtClean="0"/>
              <a:t>is</a:t>
            </a:r>
            <a:r>
              <a:rPr lang="en-US" dirty="0" smtClean="0">
                <a:solidFill>
                  <a:srgbClr val="FF0000"/>
                </a:solidFill>
              </a:rPr>
              <a:t> 4 x 4</a:t>
            </a:r>
            <a:r>
              <a:rPr lang="en-US" dirty="0" smtClean="0"/>
              <a:t>, it means it has </a:t>
            </a:r>
            <a:r>
              <a:rPr lang="en-US" dirty="0" smtClean="0">
                <a:solidFill>
                  <a:srgbClr val="FF0000"/>
                </a:solidFill>
              </a:rPr>
              <a:t>4 vertices</a:t>
            </a:r>
            <a:r>
              <a:rPr lang="en-US" dirty="0" smtClean="0"/>
              <a:t>.</a:t>
            </a:r>
            <a:endParaRPr lang="en-US" dirty="0"/>
          </a:p>
        </p:txBody>
      </p:sp>
      <p:graphicFrame>
        <p:nvGraphicFramePr>
          <p:cNvPr id="340993" name="Object 1"/>
          <p:cNvGraphicFramePr>
            <a:graphicFrameLocks noChangeAspect="1"/>
          </p:cNvGraphicFramePr>
          <p:nvPr/>
        </p:nvGraphicFramePr>
        <p:xfrm>
          <a:off x="3581400" y="1828795"/>
          <a:ext cx="2057400" cy="211241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0995" r:id="rId3" imgW="888840" imgH="914400" progId="">
                  <p:embed/>
                </p:oleObj>
              </mc:Choice>
              <mc:Fallback>
                <p:oleObj r:id="rId3" imgW="888840" imgH="914400" progId="">
                  <p:embed/>
                  <p:pic>
                    <p:nvPicPr>
                      <p:cNvPr id="0" name="Picture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81400" y="1828795"/>
                        <a:ext cx="2057400" cy="2112411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09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3409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u="sng" dirty="0" smtClean="0">
                <a:solidFill>
                  <a:srgbClr val="0070C0"/>
                </a:solidFill>
              </a:rPr>
              <a:t>SOLUTION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19944-04AC-4CD8-BA69-63C2A678C21A}" type="slidenum">
              <a:rPr lang="en-US" smtClean="0"/>
              <a:pPr/>
              <a:t>56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The </a:t>
            </a:r>
            <a:r>
              <a:rPr lang="en-US" dirty="0" smtClean="0">
                <a:solidFill>
                  <a:srgbClr val="FF0000"/>
                </a:solidFill>
              </a:rPr>
              <a:t>4 </a:t>
            </a:r>
            <a:r>
              <a:rPr lang="en-US" dirty="0" smtClean="0">
                <a:solidFill>
                  <a:srgbClr val="FF0000"/>
                </a:solidFill>
                <a:sym typeface="Symbol"/>
              </a:rPr>
              <a:t></a:t>
            </a:r>
            <a:r>
              <a:rPr lang="en-US" dirty="0" smtClean="0">
                <a:solidFill>
                  <a:srgbClr val="FF0000"/>
                </a:solidFill>
              </a:rPr>
              <a:t> 4 adjacency matrix</a:t>
            </a:r>
            <a:r>
              <a:rPr lang="en-US" dirty="0" smtClean="0"/>
              <a:t> shows that the </a:t>
            </a:r>
            <a:r>
              <a:rPr lang="en-US" dirty="0" smtClean="0">
                <a:solidFill>
                  <a:srgbClr val="FF0000"/>
                </a:solidFill>
              </a:rPr>
              <a:t>graph</a:t>
            </a:r>
            <a:r>
              <a:rPr lang="en-US" dirty="0" smtClean="0"/>
              <a:t> has </a:t>
            </a:r>
            <a:r>
              <a:rPr lang="en-US" dirty="0" smtClean="0">
                <a:solidFill>
                  <a:srgbClr val="FF0000"/>
                </a:solidFill>
              </a:rPr>
              <a:t>4 vertices</a:t>
            </a:r>
            <a:r>
              <a:rPr lang="en-US" dirty="0" smtClean="0"/>
              <a:t> say </a:t>
            </a:r>
            <a:r>
              <a:rPr lang="en-US" dirty="0" smtClean="0">
                <a:solidFill>
                  <a:srgbClr val="FF0000"/>
                </a:solidFill>
              </a:rPr>
              <a:t>v</a:t>
            </a:r>
            <a:r>
              <a:rPr lang="en-US" baseline="-25000" dirty="0" smtClean="0">
                <a:solidFill>
                  <a:srgbClr val="FF0000"/>
                </a:solidFill>
              </a:rPr>
              <a:t>1</a:t>
            </a:r>
            <a:r>
              <a:rPr lang="en-US" dirty="0" smtClean="0">
                <a:solidFill>
                  <a:srgbClr val="FF0000"/>
                </a:solidFill>
              </a:rPr>
              <a:t>, v</a:t>
            </a:r>
            <a:r>
              <a:rPr lang="en-US" baseline="-25000" dirty="0" smtClean="0">
                <a:solidFill>
                  <a:srgbClr val="FF0000"/>
                </a:solidFill>
              </a:rPr>
              <a:t>2</a:t>
            </a:r>
            <a:r>
              <a:rPr lang="en-US" dirty="0" smtClean="0">
                <a:solidFill>
                  <a:srgbClr val="FF0000"/>
                </a:solidFill>
              </a:rPr>
              <a:t>, v</a:t>
            </a:r>
            <a:r>
              <a:rPr lang="en-US" baseline="-25000" dirty="0" smtClean="0">
                <a:solidFill>
                  <a:srgbClr val="FF0000"/>
                </a:solidFill>
              </a:rPr>
              <a:t>3</a:t>
            </a:r>
            <a:r>
              <a:rPr lang="en-US" dirty="0" smtClean="0"/>
              <a:t> and </a:t>
            </a:r>
            <a:r>
              <a:rPr lang="en-US" dirty="0" smtClean="0">
                <a:solidFill>
                  <a:srgbClr val="FF0000"/>
                </a:solidFill>
              </a:rPr>
              <a:t>v</a:t>
            </a:r>
            <a:r>
              <a:rPr lang="en-US" baseline="-25000" dirty="0" smtClean="0">
                <a:solidFill>
                  <a:srgbClr val="FF0000"/>
                </a:solidFill>
              </a:rPr>
              <a:t>4</a:t>
            </a:r>
            <a:r>
              <a:rPr lang="en-US" dirty="0" smtClean="0"/>
              <a:t> labeled across the top and down the left side of the matrix. </a:t>
            </a:r>
          </a:p>
          <a:p>
            <a:pPr>
              <a:buNone/>
            </a:pPr>
            <a:endParaRPr lang="en-US" dirty="0" smtClean="0">
              <a:solidFill>
                <a:srgbClr val="FF0000"/>
              </a:solidFill>
            </a:endParaRPr>
          </a:p>
        </p:txBody>
      </p:sp>
      <p:graphicFrame>
        <p:nvGraphicFramePr>
          <p:cNvPr id="339969" name="Object 1"/>
          <p:cNvGraphicFramePr>
            <a:graphicFrameLocks noChangeAspect="1"/>
          </p:cNvGraphicFramePr>
          <p:nvPr/>
        </p:nvGraphicFramePr>
        <p:xfrm>
          <a:off x="2971800" y="2590799"/>
          <a:ext cx="2743200" cy="238397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9971" r:id="rId3" imgW="1346040" imgH="1168200" progId="">
                  <p:embed/>
                </p:oleObj>
              </mc:Choice>
              <mc:Fallback>
                <p:oleObj r:id="rId3" imgW="1346040" imgH="1168200" progId="">
                  <p:embed/>
                  <p:pic>
                    <p:nvPicPr>
                      <p:cNvPr id="0" name="Picture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71800" y="2590799"/>
                        <a:ext cx="2743200" cy="238397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99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3399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19944-04AC-4CD8-BA69-63C2A678C21A}" type="slidenum">
              <a:rPr lang="en-US" smtClean="0"/>
              <a:pPr/>
              <a:t>57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5105400"/>
          </a:xfrm>
        </p:spPr>
        <p:txBody>
          <a:bodyPr>
            <a:normAutofit/>
          </a:bodyPr>
          <a:lstStyle/>
          <a:p>
            <a:r>
              <a:rPr lang="en-US" dirty="0" smtClean="0"/>
              <a:t>A corresponding </a:t>
            </a:r>
            <a:r>
              <a:rPr lang="en-US" dirty="0" smtClean="0">
                <a:solidFill>
                  <a:srgbClr val="FF0000"/>
                </a:solidFill>
              </a:rPr>
              <a:t>directed graph</a:t>
            </a:r>
            <a:r>
              <a:rPr lang="en-US" dirty="0" smtClean="0"/>
              <a:t> is</a:t>
            </a:r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r>
              <a:rPr lang="en-US" dirty="0" smtClean="0"/>
              <a:t>It means that a </a:t>
            </a:r>
            <a:r>
              <a:rPr lang="en-US" dirty="0" smtClean="0">
                <a:solidFill>
                  <a:srgbClr val="FF0000"/>
                </a:solidFill>
              </a:rPr>
              <a:t>loop</a:t>
            </a:r>
            <a:r>
              <a:rPr lang="en-US" dirty="0" smtClean="0"/>
              <a:t> exists from </a:t>
            </a:r>
            <a:r>
              <a:rPr lang="en-US" dirty="0" smtClean="0">
                <a:solidFill>
                  <a:srgbClr val="FF0000"/>
                </a:solidFill>
              </a:rPr>
              <a:t>v</a:t>
            </a:r>
            <a:r>
              <a:rPr lang="en-US" baseline="-25000" dirty="0" smtClean="0">
                <a:solidFill>
                  <a:srgbClr val="FF0000"/>
                </a:solidFill>
              </a:rPr>
              <a:t>1</a:t>
            </a:r>
            <a:r>
              <a:rPr lang="en-US" baseline="-25000" dirty="0" smtClean="0"/>
              <a:t> </a:t>
            </a:r>
            <a:r>
              <a:rPr lang="en-US" dirty="0" smtClean="0"/>
              <a:t>and </a:t>
            </a:r>
            <a:r>
              <a:rPr lang="en-US" dirty="0" smtClean="0">
                <a:solidFill>
                  <a:srgbClr val="FF0000"/>
                </a:solidFill>
              </a:rPr>
              <a:t>v</a:t>
            </a:r>
            <a:r>
              <a:rPr lang="en-US" baseline="-25000" dirty="0" smtClean="0">
                <a:solidFill>
                  <a:srgbClr val="FF0000"/>
                </a:solidFill>
              </a:rPr>
              <a:t>3</a:t>
            </a:r>
            <a:r>
              <a:rPr lang="en-US" baseline="-25000" dirty="0" smtClean="0"/>
              <a:t> </a:t>
            </a:r>
            <a:r>
              <a:rPr lang="en-US" dirty="0" smtClean="0"/>
              <a:t>, </a:t>
            </a:r>
            <a:r>
              <a:rPr lang="en-US" dirty="0" smtClean="0">
                <a:solidFill>
                  <a:srgbClr val="FF0000"/>
                </a:solidFill>
              </a:rPr>
              <a:t>two</a:t>
            </a:r>
            <a:r>
              <a:rPr lang="en-US" dirty="0" smtClean="0"/>
              <a:t> arrows go from </a:t>
            </a:r>
            <a:r>
              <a:rPr lang="en-US" dirty="0" smtClean="0">
                <a:solidFill>
                  <a:srgbClr val="FF0000"/>
                </a:solidFill>
              </a:rPr>
              <a:t>v</a:t>
            </a:r>
            <a:r>
              <a:rPr lang="en-US" baseline="-25000" dirty="0" smtClean="0">
                <a:solidFill>
                  <a:srgbClr val="FF0000"/>
                </a:solidFill>
              </a:rPr>
              <a:t>1</a:t>
            </a:r>
            <a:r>
              <a:rPr lang="en-US" baseline="-25000" dirty="0" smtClean="0"/>
              <a:t> </a:t>
            </a:r>
            <a:r>
              <a:rPr lang="en-US" dirty="0" smtClean="0"/>
              <a:t>to </a:t>
            </a:r>
            <a:r>
              <a:rPr lang="en-US" dirty="0" smtClean="0">
                <a:solidFill>
                  <a:srgbClr val="FF0000"/>
                </a:solidFill>
              </a:rPr>
              <a:t>v</a:t>
            </a:r>
            <a:r>
              <a:rPr lang="en-US" baseline="-25000" dirty="0" smtClean="0">
                <a:solidFill>
                  <a:srgbClr val="FF0000"/>
                </a:solidFill>
              </a:rPr>
              <a:t>4</a:t>
            </a:r>
            <a:r>
              <a:rPr lang="en-US" baseline="-25000" dirty="0" smtClean="0"/>
              <a:t>  </a:t>
            </a:r>
            <a:r>
              <a:rPr lang="en-US" dirty="0" smtClean="0"/>
              <a:t>and </a:t>
            </a:r>
            <a:r>
              <a:rPr lang="en-US" dirty="0" smtClean="0">
                <a:solidFill>
                  <a:srgbClr val="FF0000"/>
                </a:solidFill>
              </a:rPr>
              <a:t>two</a:t>
            </a:r>
            <a:r>
              <a:rPr lang="en-US" dirty="0" smtClean="0"/>
              <a:t> from </a:t>
            </a:r>
            <a:r>
              <a:rPr lang="en-US" dirty="0" smtClean="0">
                <a:solidFill>
                  <a:srgbClr val="FF0000"/>
                </a:solidFill>
              </a:rPr>
              <a:t>v</a:t>
            </a:r>
            <a:r>
              <a:rPr lang="en-US" baseline="-25000" dirty="0" smtClean="0">
                <a:solidFill>
                  <a:srgbClr val="FF0000"/>
                </a:solidFill>
              </a:rPr>
              <a:t>3</a:t>
            </a:r>
            <a:r>
              <a:rPr lang="en-US" baseline="-25000" dirty="0" smtClean="0"/>
              <a:t> </a:t>
            </a:r>
            <a:r>
              <a:rPr lang="en-US" dirty="0" smtClean="0"/>
              <a:t>and </a:t>
            </a:r>
            <a:r>
              <a:rPr lang="en-US" dirty="0" smtClean="0">
                <a:solidFill>
                  <a:srgbClr val="FF0000"/>
                </a:solidFill>
              </a:rPr>
              <a:t>v</a:t>
            </a:r>
            <a:r>
              <a:rPr lang="en-US" baseline="-25000" dirty="0" smtClean="0">
                <a:solidFill>
                  <a:srgbClr val="FF0000"/>
                </a:solidFill>
              </a:rPr>
              <a:t>2</a:t>
            </a:r>
            <a:r>
              <a:rPr lang="en-US" baseline="-25000" dirty="0" smtClean="0"/>
              <a:t>  </a:t>
            </a:r>
            <a:r>
              <a:rPr lang="en-US" dirty="0" smtClean="0"/>
              <a:t>and </a:t>
            </a:r>
            <a:r>
              <a:rPr lang="en-US" dirty="0" smtClean="0">
                <a:solidFill>
                  <a:srgbClr val="FF0000"/>
                </a:solidFill>
              </a:rPr>
              <a:t>one arrow</a:t>
            </a:r>
            <a:r>
              <a:rPr lang="en-US" dirty="0" smtClean="0"/>
              <a:t> go from </a:t>
            </a:r>
            <a:r>
              <a:rPr lang="en-US" baseline="-25000" dirty="0" smtClean="0"/>
              <a:t> </a:t>
            </a:r>
            <a:r>
              <a:rPr lang="en-US" dirty="0" smtClean="0">
                <a:solidFill>
                  <a:srgbClr val="FF0000"/>
                </a:solidFill>
              </a:rPr>
              <a:t>v</a:t>
            </a:r>
            <a:r>
              <a:rPr lang="en-US" baseline="-25000" dirty="0" smtClean="0">
                <a:solidFill>
                  <a:srgbClr val="FF0000"/>
                </a:solidFill>
              </a:rPr>
              <a:t>1 </a:t>
            </a:r>
            <a:r>
              <a:rPr lang="en-US" dirty="0" smtClean="0"/>
              <a:t>to</a:t>
            </a:r>
            <a:r>
              <a:rPr lang="en-US" baseline="-25000" dirty="0" smtClean="0"/>
              <a:t> </a:t>
            </a:r>
            <a:r>
              <a:rPr lang="en-US" dirty="0" smtClean="0">
                <a:solidFill>
                  <a:srgbClr val="FF0000"/>
                </a:solidFill>
              </a:rPr>
              <a:t>v</a:t>
            </a:r>
            <a:r>
              <a:rPr lang="en-US" baseline="-25000" dirty="0" smtClean="0">
                <a:solidFill>
                  <a:srgbClr val="FF0000"/>
                </a:solidFill>
              </a:rPr>
              <a:t>3</a:t>
            </a:r>
            <a:r>
              <a:rPr lang="en-US" baseline="-25000" dirty="0" smtClean="0"/>
              <a:t> ,</a:t>
            </a:r>
            <a:r>
              <a:rPr lang="en-US" dirty="0" smtClean="0"/>
              <a:t> </a:t>
            </a:r>
            <a:r>
              <a:rPr lang="en-US" dirty="0" smtClean="0">
                <a:solidFill>
                  <a:srgbClr val="FF0000"/>
                </a:solidFill>
              </a:rPr>
              <a:t>v</a:t>
            </a:r>
            <a:r>
              <a:rPr lang="en-US" baseline="-25000" dirty="0" smtClean="0">
                <a:solidFill>
                  <a:srgbClr val="FF0000"/>
                </a:solidFill>
              </a:rPr>
              <a:t>2</a:t>
            </a:r>
            <a:r>
              <a:rPr lang="en-US" dirty="0" smtClean="0"/>
              <a:t> to</a:t>
            </a:r>
            <a:r>
              <a:rPr lang="en-US" baseline="-25000" dirty="0" smtClean="0"/>
              <a:t> </a:t>
            </a:r>
            <a:r>
              <a:rPr lang="en-US" dirty="0" smtClean="0">
                <a:solidFill>
                  <a:srgbClr val="FF0000"/>
                </a:solidFill>
              </a:rPr>
              <a:t>v</a:t>
            </a:r>
            <a:r>
              <a:rPr lang="en-US" baseline="-25000" dirty="0" smtClean="0">
                <a:solidFill>
                  <a:srgbClr val="FF0000"/>
                </a:solidFill>
              </a:rPr>
              <a:t>3</a:t>
            </a:r>
            <a:r>
              <a:rPr lang="en-US" baseline="-25000" dirty="0" smtClean="0"/>
              <a:t> ,</a:t>
            </a:r>
            <a:r>
              <a:rPr lang="en-US" dirty="0" smtClean="0"/>
              <a:t> </a:t>
            </a:r>
            <a:r>
              <a:rPr lang="en-US" dirty="0" smtClean="0">
                <a:solidFill>
                  <a:srgbClr val="FF0000"/>
                </a:solidFill>
              </a:rPr>
              <a:t>v</a:t>
            </a:r>
            <a:r>
              <a:rPr lang="en-US" baseline="-25000" dirty="0" smtClean="0">
                <a:solidFill>
                  <a:srgbClr val="FF0000"/>
                </a:solidFill>
              </a:rPr>
              <a:t>3</a:t>
            </a:r>
            <a:r>
              <a:rPr lang="en-US" baseline="-25000" dirty="0" smtClean="0"/>
              <a:t> </a:t>
            </a:r>
            <a:r>
              <a:rPr lang="en-US" dirty="0" smtClean="0"/>
              <a:t>to</a:t>
            </a:r>
            <a:r>
              <a:rPr lang="en-US" baseline="-25000" dirty="0" smtClean="0"/>
              <a:t> </a:t>
            </a:r>
            <a:r>
              <a:rPr lang="en-US" dirty="0" smtClean="0">
                <a:solidFill>
                  <a:srgbClr val="FF0000"/>
                </a:solidFill>
              </a:rPr>
              <a:t>v</a:t>
            </a:r>
            <a:r>
              <a:rPr lang="en-US" baseline="-25000" dirty="0" smtClean="0">
                <a:solidFill>
                  <a:srgbClr val="FF0000"/>
                </a:solidFill>
              </a:rPr>
              <a:t>4</a:t>
            </a:r>
            <a:r>
              <a:rPr lang="en-US" baseline="-25000" dirty="0" smtClean="0"/>
              <a:t>,</a:t>
            </a:r>
            <a:r>
              <a:rPr lang="en-US" dirty="0" smtClean="0"/>
              <a:t> </a:t>
            </a:r>
            <a:r>
              <a:rPr lang="en-US" dirty="0" smtClean="0">
                <a:solidFill>
                  <a:srgbClr val="FF0000"/>
                </a:solidFill>
              </a:rPr>
              <a:t>v</a:t>
            </a:r>
            <a:r>
              <a:rPr lang="en-US" baseline="-25000" dirty="0" smtClean="0">
                <a:solidFill>
                  <a:srgbClr val="FF0000"/>
                </a:solidFill>
              </a:rPr>
              <a:t>4</a:t>
            </a:r>
            <a:r>
              <a:rPr lang="en-US" baseline="-25000" dirty="0" smtClean="0"/>
              <a:t> </a:t>
            </a:r>
            <a:r>
              <a:rPr lang="en-US" dirty="0" smtClean="0"/>
              <a:t>to</a:t>
            </a:r>
            <a:r>
              <a:rPr lang="en-US" baseline="-25000" dirty="0" smtClean="0"/>
              <a:t> </a:t>
            </a:r>
            <a:r>
              <a:rPr lang="en-US" dirty="0" smtClean="0">
                <a:solidFill>
                  <a:srgbClr val="FF0000"/>
                </a:solidFill>
              </a:rPr>
              <a:t>v</a:t>
            </a:r>
            <a:r>
              <a:rPr lang="en-US" baseline="-25000" dirty="0" smtClean="0">
                <a:solidFill>
                  <a:srgbClr val="FF0000"/>
                </a:solidFill>
              </a:rPr>
              <a:t>2</a:t>
            </a:r>
            <a:r>
              <a:rPr lang="en-US" baseline="-25000" dirty="0" smtClean="0"/>
              <a:t> </a:t>
            </a:r>
            <a:r>
              <a:rPr lang="en-US" dirty="0" smtClean="0"/>
              <a:t>and</a:t>
            </a:r>
            <a:r>
              <a:rPr lang="en-US" baseline="-25000" dirty="0" smtClean="0"/>
              <a:t> </a:t>
            </a:r>
            <a:r>
              <a:rPr lang="en-US" dirty="0" smtClean="0">
                <a:solidFill>
                  <a:srgbClr val="FF0000"/>
                </a:solidFill>
              </a:rPr>
              <a:t>v</a:t>
            </a:r>
            <a:r>
              <a:rPr lang="en-US" baseline="-25000" dirty="0" smtClean="0">
                <a:solidFill>
                  <a:srgbClr val="FF0000"/>
                </a:solidFill>
              </a:rPr>
              <a:t>3</a:t>
            </a:r>
            <a:r>
              <a:rPr lang="en-US" baseline="-25000" dirty="0" smtClean="0"/>
              <a:t>.    </a:t>
            </a:r>
            <a:endParaRPr lang="en-US" dirty="0" smtClean="0"/>
          </a:p>
          <a:p>
            <a:endParaRPr lang="en-US" dirty="0" smtClean="0"/>
          </a:p>
          <a:p>
            <a:endParaRPr lang="en-US" dirty="0" smtClean="0">
              <a:solidFill>
                <a:srgbClr val="FF0000"/>
              </a:solidFill>
            </a:endParaRPr>
          </a:p>
        </p:txBody>
      </p:sp>
      <p:pic>
        <p:nvPicPr>
          <p:cNvPr id="5" name="Picture 4"/>
          <p:cNvPicPr/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154680" y="1746912"/>
            <a:ext cx="3017520" cy="2743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ctr"/>
            <a:r>
              <a:rPr lang="en-US" b="1" u="sng" dirty="0" smtClean="0">
                <a:solidFill>
                  <a:srgbClr val="0070C0"/>
                </a:solidFill>
              </a:rPr>
              <a:t>INCIDENCE MATRIX OF A SIMPLE GRAPH</a:t>
            </a:r>
            <a:endParaRPr lang="en-US" b="1" u="sng" dirty="0">
              <a:solidFill>
                <a:srgbClr val="0070C0"/>
              </a:solidFill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19944-04AC-4CD8-BA69-63C2A678C21A}" type="slidenum">
              <a:rPr lang="en-US" smtClean="0"/>
              <a:pPr/>
              <a:t>58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Let </a:t>
            </a:r>
            <a:r>
              <a:rPr lang="en-US" dirty="0" smtClean="0">
                <a:solidFill>
                  <a:srgbClr val="FF0000"/>
                </a:solidFill>
              </a:rPr>
              <a:t>G </a:t>
            </a:r>
            <a:r>
              <a:rPr lang="en-US" dirty="0" smtClean="0"/>
              <a:t>be a </a:t>
            </a:r>
            <a:r>
              <a:rPr lang="en-US" dirty="0" smtClean="0">
                <a:solidFill>
                  <a:srgbClr val="FF0000"/>
                </a:solidFill>
              </a:rPr>
              <a:t>graph</a:t>
            </a:r>
            <a:r>
              <a:rPr lang="en-US" dirty="0" smtClean="0"/>
              <a:t> with </a:t>
            </a:r>
            <a:r>
              <a:rPr lang="en-US" dirty="0" smtClean="0">
                <a:solidFill>
                  <a:srgbClr val="FF0000"/>
                </a:solidFill>
              </a:rPr>
              <a:t>vertices v</a:t>
            </a:r>
            <a:r>
              <a:rPr lang="en-US" baseline="-25000" dirty="0" smtClean="0">
                <a:solidFill>
                  <a:srgbClr val="FF0000"/>
                </a:solidFill>
              </a:rPr>
              <a:t>1</a:t>
            </a:r>
            <a:r>
              <a:rPr lang="en-US" dirty="0" smtClean="0">
                <a:solidFill>
                  <a:srgbClr val="FF0000"/>
                </a:solidFill>
              </a:rPr>
              <a:t>, v</a:t>
            </a:r>
            <a:r>
              <a:rPr lang="en-US" baseline="-25000" dirty="0" smtClean="0">
                <a:solidFill>
                  <a:srgbClr val="FF0000"/>
                </a:solidFill>
              </a:rPr>
              <a:t>2</a:t>
            </a:r>
            <a:r>
              <a:rPr lang="en-US" dirty="0" smtClean="0">
                <a:solidFill>
                  <a:srgbClr val="FF0000"/>
                </a:solidFill>
              </a:rPr>
              <a:t>, …, </a:t>
            </a:r>
            <a:r>
              <a:rPr lang="en-US" dirty="0" err="1" smtClean="0">
                <a:solidFill>
                  <a:srgbClr val="FF0000"/>
                </a:solidFill>
              </a:rPr>
              <a:t>v</a:t>
            </a:r>
            <a:r>
              <a:rPr lang="en-US" baseline="-25000" dirty="0" err="1" smtClean="0">
                <a:solidFill>
                  <a:srgbClr val="FF0000"/>
                </a:solidFill>
              </a:rPr>
              <a:t>n</a:t>
            </a:r>
            <a:r>
              <a:rPr lang="en-US" dirty="0" smtClean="0"/>
              <a:t> and </a:t>
            </a:r>
            <a:r>
              <a:rPr lang="en-US" dirty="0" smtClean="0">
                <a:solidFill>
                  <a:srgbClr val="FF0000"/>
                </a:solidFill>
              </a:rPr>
              <a:t>edges e</a:t>
            </a:r>
            <a:r>
              <a:rPr lang="en-US" baseline="-25000" dirty="0" smtClean="0">
                <a:solidFill>
                  <a:srgbClr val="FF0000"/>
                </a:solidFill>
              </a:rPr>
              <a:t>1</a:t>
            </a:r>
            <a:r>
              <a:rPr lang="en-US" dirty="0" smtClean="0">
                <a:solidFill>
                  <a:srgbClr val="FF0000"/>
                </a:solidFill>
              </a:rPr>
              <a:t>, e</a:t>
            </a:r>
            <a:r>
              <a:rPr lang="en-US" baseline="-25000" dirty="0" smtClean="0">
                <a:solidFill>
                  <a:srgbClr val="FF0000"/>
                </a:solidFill>
              </a:rPr>
              <a:t>2</a:t>
            </a:r>
            <a:r>
              <a:rPr lang="en-US" dirty="0" smtClean="0">
                <a:solidFill>
                  <a:srgbClr val="FF0000"/>
                </a:solidFill>
              </a:rPr>
              <a:t>, …, e</a:t>
            </a:r>
            <a:r>
              <a:rPr lang="en-US" baseline="-25000" dirty="0" smtClean="0">
                <a:solidFill>
                  <a:srgbClr val="FF0000"/>
                </a:solidFill>
              </a:rPr>
              <a:t>n</a:t>
            </a:r>
            <a:r>
              <a:rPr lang="en-US" dirty="0" smtClean="0"/>
              <a:t>. </a:t>
            </a:r>
          </a:p>
          <a:p>
            <a:endParaRPr lang="en-US" dirty="0" smtClean="0"/>
          </a:p>
          <a:p>
            <a:r>
              <a:rPr lang="en-US" dirty="0" smtClean="0"/>
              <a:t>The </a:t>
            </a:r>
            <a:r>
              <a:rPr lang="en-US" dirty="0" smtClean="0">
                <a:solidFill>
                  <a:srgbClr val="FF0000"/>
                </a:solidFill>
              </a:rPr>
              <a:t>incidence matrix</a:t>
            </a:r>
            <a:r>
              <a:rPr lang="en-US" dirty="0" smtClean="0"/>
              <a:t> of </a:t>
            </a:r>
            <a:r>
              <a:rPr lang="en-US" dirty="0" smtClean="0">
                <a:solidFill>
                  <a:srgbClr val="FF0000"/>
                </a:solidFill>
              </a:rPr>
              <a:t>G</a:t>
            </a:r>
            <a:r>
              <a:rPr lang="en-US" dirty="0" smtClean="0"/>
              <a:t> is the matrix </a:t>
            </a:r>
            <a:r>
              <a:rPr lang="en-US" dirty="0" smtClean="0">
                <a:solidFill>
                  <a:srgbClr val="FF0000"/>
                </a:solidFill>
              </a:rPr>
              <a:t>M</a:t>
            </a:r>
            <a:r>
              <a:rPr lang="en-US" dirty="0" smtClean="0"/>
              <a:t> = </a:t>
            </a:r>
            <a:r>
              <a:rPr lang="en-US" dirty="0" smtClean="0">
                <a:solidFill>
                  <a:srgbClr val="FF0000"/>
                </a:solidFill>
              </a:rPr>
              <a:t>[</a:t>
            </a:r>
            <a:r>
              <a:rPr lang="en-US" dirty="0" err="1" smtClean="0">
                <a:solidFill>
                  <a:srgbClr val="FF0000"/>
                </a:solidFill>
              </a:rPr>
              <a:t>m</a:t>
            </a:r>
            <a:r>
              <a:rPr lang="en-US" baseline="-25000" dirty="0" err="1" smtClean="0">
                <a:solidFill>
                  <a:srgbClr val="FF0000"/>
                </a:solidFill>
              </a:rPr>
              <a:t>ij</a:t>
            </a:r>
            <a:r>
              <a:rPr lang="en-US" dirty="0" smtClean="0">
                <a:solidFill>
                  <a:srgbClr val="FF0000"/>
                </a:solidFill>
              </a:rPr>
              <a:t>]</a:t>
            </a:r>
            <a:r>
              <a:rPr lang="en-US" dirty="0" smtClean="0"/>
              <a:t> of size </a:t>
            </a:r>
            <a:r>
              <a:rPr lang="en-US" dirty="0" smtClean="0">
                <a:solidFill>
                  <a:srgbClr val="FF0000"/>
                </a:solidFill>
              </a:rPr>
              <a:t>n </a:t>
            </a:r>
            <a:r>
              <a:rPr lang="en-US" dirty="0" smtClean="0">
                <a:solidFill>
                  <a:srgbClr val="FF0000"/>
                </a:solidFill>
                <a:sym typeface="Symbol"/>
              </a:rPr>
              <a:t></a:t>
            </a:r>
            <a:r>
              <a:rPr lang="en-US" dirty="0" smtClean="0">
                <a:solidFill>
                  <a:srgbClr val="FF0000"/>
                </a:solidFill>
              </a:rPr>
              <a:t> m</a:t>
            </a:r>
            <a:r>
              <a:rPr lang="en-US" dirty="0" smtClean="0"/>
              <a:t> defined by:</a:t>
            </a:r>
          </a:p>
          <a:p>
            <a:endParaRPr lang="en-US" sz="2600" dirty="0" smtClean="0">
              <a:solidFill>
                <a:srgbClr val="002060"/>
              </a:solidFill>
            </a:endParaRPr>
          </a:p>
          <a:p>
            <a:endParaRPr lang="en-US" dirty="0"/>
          </a:p>
        </p:txBody>
      </p:sp>
      <p:graphicFrame>
        <p:nvGraphicFramePr>
          <p:cNvPr id="337921" name="Object 1"/>
          <p:cNvGraphicFramePr>
            <a:graphicFrameLocks noChangeAspect="1"/>
          </p:cNvGraphicFramePr>
          <p:nvPr/>
        </p:nvGraphicFramePr>
        <p:xfrm>
          <a:off x="1517073" y="3810000"/>
          <a:ext cx="6483927" cy="1066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7923" r:id="rId3" imgW="3124080" imgH="457200" progId="">
                  <p:embed/>
                </p:oleObj>
              </mc:Choice>
              <mc:Fallback>
                <p:oleObj r:id="rId3" imgW="3124080" imgH="457200" progId="">
                  <p:embed/>
                  <p:pic>
                    <p:nvPicPr>
                      <p:cNvPr id="0" name="Picture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17073" y="3810000"/>
                        <a:ext cx="6483927" cy="1066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3379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u="sng" dirty="0" smtClean="0">
                <a:solidFill>
                  <a:srgbClr val="0070C0"/>
                </a:solidFill>
              </a:rPr>
              <a:t>EXERCISE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19944-04AC-4CD8-BA69-63C2A678C21A}" type="slidenum">
              <a:rPr lang="en-US" smtClean="0"/>
              <a:pPr/>
              <a:t>59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A </a:t>
            </a:r>
            <a:r>
              <a:rPr lang="en-US" dirty="0" smtClean="0">
                <a:solidFill>
                  <a:srgbClr val="FF0000"/>
                </a:solidFill>
              </a:rPr>
              <a:t>graph</a:t>
            </a:r>
            <a:r>
              <a:rPr lang="en-US" dirty="0" smtClean="0"/>
              <a:t> with its </a:t>
            </a:r>
            <a:r>
              <a:rPr lang="en-US" dirty="0" smtClean="0">
                <a:solidFill>
                  <a:srgbClr val="FF0000"/>
                </a:solidFill>
              </a:rPr>
              <a:t>incidence matrix</a:t>
            </a:r>
            <a:r>
              <a:rPr lang="en-US" dirty="0" smtClean="0"/>
              <a:t> is shown.</a:t>
            </a:r>
            <a:endParaRPr lang="en-US" sz="2600" dirty="0" smtClean="0">
              <a:solidFill>
                <a:srgbClr val="002060"/>
              </a:solidFill>
            </a:endParaRPr>
          </a:p>
          <a:p>
            <a:endParaRPr lang="en-US" dirty="0"/>
          </a:p>
        </p:txBody>
      </p:sp>
      <p:pic>
        <p:nvPicPr>
          <p:cNvPr id="6" name="Picture 5" descr="6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1752600"/>
            <a:ext cx="3352800" cy="2632105"/>
          </a:xfrm>
          <a:prstGeom prst="rect">
            <a:avLst/>
          </a:prstGeom>
        </p:spPr>
      </p:pic>
      <p:pic>
        <p:nvPicPr>
          <p:cNvPr id="7" name="Picture 6" descr="5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0" y="3581400"/>
            <a:ext cx="4027277" cy="2667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u="sng" dirty="0" smtClean="0">
                <a:solidFill>
                  <a:srgbClr val="0070C0"/>
                </a:solidFill>
              </a:rPr>
              <a:t>REMARK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19944-04AC-4CD8-BA69-63C2A678C21A}" type="slidenum">
              <a:rPr lang="en-US" smtClean="0"/>
              <a:pPr/>
              <a:t>60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sz="2800" b="1" dirty="0" smtClean="0"/>
              <a:t> </a:t>
            </a:r>
            <a:r>
              <a:rPr lang="en-US" sz="2800" dirty="0" smtClean="0"/>
              <a:t>In the </a:t>
            </a:r>
            <a:r>
              <a:rPr lang="en-US" sz="2800" dirty="0" smtClean="0">
                <a:solidFill>
                  <a:srgbClr val="FF0000"/>
                </a:solidFill>
              </a:rPr>
              <a:t>incidence matrix</a:t>
            </a:r>
            <a:r>
              <a:rPr lang="en-US" sz="2800" dirty="0" smtClean="0"/>
              <a:t>:</a:t>
            </a:r>
          </a:p>
          <a:p>
            <a:pPr>
              <a:buNone/>
            </a:pPr>
            <a:endParaRPr lang="en-US" sz="2800" dirty="0" smtClean="0"/>
          </a:p>
          <a:p>
            <a:pPr lvl="1"/>
            <a:r>
              <a:rPr lang="en-US" sz="2500" dirty="0" smtClean="0">
                <a:solidFill>
                  <a:srgbClr val="FF0000"/>
                </a:solidFill>
              </a:rPr>
              <a:t>Parallel edges</a:t>
            </a:r>
            <a:r>
              <a:rPr lang="en-US" sz="2500" dirty="0" smtClean="0">
                <a:solidFill>
                  <a:srgbClr val="002060"/>
                </a:solidFill>
              </a:rPr>
              <a:t> are represented by columns with </a:t>
            </a:r>
            <a:r>
              <a:rPr lang="en-US" sz="2500" dirty="0" smtClean="0">
                <a:solidFill>
                  <a:srgbClr val="FF0000"/>
                </a:solidFill>
              </a:rPr>
              <a:t>identical entries</a:t>
            </a:r>
            <a:r>
              <a:rPr lang="en-US" sz="2500" dirty="0" smtClean="0">
                <a:solidFill>
                  <a:srgbClr val="002060"/>
                </a:solidFill>
              </a:rPr>
              <a:t> (in this matrix </a:t>
            </a:r>
            <a:r>
              <a:rPr lang="en-US" sz="2500" dirty="0" smtClean="0">
                <a:solidFill>
                  <a:srgbClr val="FF0000"/>
                </a:solidFill>
              </a:rPr>
              <a:t>e</a:t>
            </a:r>
            <a:r>
              <a:rPr lang="en-US" sz="2500" baseline="-25000" dirty="0" smtClean="0">
                <a:solidFill>
                  <a:srgbClr val="FF0000"/>
                </a:solidFill>
              </a:rPr>
              <a:t>4</a:t>
            </a:r>
            <a:r>
              <a:rPr lang="en-US" sz="2500" dirty="0" smtClean="0">
                <a:solidFill>
                  <a:srgbClr val="002060"/>
                </a:solidFill>
              </a:rPr>
              <a:t> &amp; </a:t>
            </a:r>
            <a:r>
              <a:rPr lang="en-US" sz="2500" dirty="0" smtClean="0">
                <a:solidFill>
                  <a:srgbClr val="FF0000"/>
                </a:solidFill>
              </a:rPr>
              <a:t>e</a:t>
            </a:r>
            <a:r>
              <a:rPr lang="en-US" sz="2500" baseline="-25000" dirty="0" smtClean="0">
                <a:solidFill>
                  <a:srgbClr val="FF0000"/>
                </a:solidFill>
              </a:rPr>
              <a:t>5</a:t>
            </a:r>
            <a:r>
              <a:rPr lang="en-US" sz="2500" baseline="-25000" dirty="0" smtClean="0">
                <a:solidFill>
                  <a:srgbClr val="002060"/>
                </a:solidFill>
              </a:rPr>
              <a:t> </a:t>
            </a:r>
            <a:r>
              <a:rPr lang="en-US" sz="2500" dirty="0" smtClean="0">
                <a:solidFill>
                  <a:srgbClr val="002060"/>
                </a:solidFill>
              </a:rPr>
              <a:t>are </a:t>
            </a:r>
            <a:r>
              <a:rPr lang="en-US" sz="2500" dirty="0" smtClean="0">
                <a:solidFill>
                  <a:srgbClr val="FF0000"/>
                </a:solidFill>
              </a:rPr>
              <a:t>parallel edges</a:t>
            </a:r>
            <a:r>
              <a:rPr lang="en-US" sz="2500" dirty="0" smtClean="0">
                <a:solidFill>
                  <a:srgbClr val="002060"/>
                </a:solidFill>
              </a:rPr>
              <a:t>).</a:t>
            </a:r>
          </a:p>
          <a:p>
            <a:pPr lvl="1">
              <a:buNone/>
            </a:pPr>
            <a:endParaRPr lang="en-US" sz="2500" dirty="0" smtClean="0">
              <a:solidFill>
                <a:srgbClr val="002060"/>
              </a:solidFill>
            </a:endParaRPr>
          </a:p>
          <a:p>
            <a:pPr lvl="1"/>
            <a:r>
              <a:rPr lang="en-US" sz="2500" dirty="0" smtClean="0">
                <a:solidFill>
                  <a:srgbClr val="FF0000"/>
                </a:solidFill>
              </a:rPr>
              <a:t>Loops</a:t>
            </a:r>
            <a:r>
              <a:rPr lang="en-US" sz="2500" dirty="0" smtClean="0">
                <a:solidFill>
                  <a:srgbClr val="002060"/>
                </a:solidFill>
              </a:rPr>
              <a:t> are represented using a </a:t>
            </a:r>
            <a:r>
              <a:rPr lang="en-US" sz="2500" dirty="0" smtClean="0">
                <a:solidFill>
                  <a:srgbClr val="FF0000"/>
                </a:solidFill>
              </a:rPr>
              <a:t>column</a:t>
            </a:r>
            <a:r>
              <a:rPr lang="en-US" sz="2500" dirty="0" smtClean="0">
                <a:solidFill>
                  <a:srgbClr val="002060"/>
                </a:solidFill>
              </a:rPr>
              <a:t> with </a:t>
            </a:r>
            <a:r>
              <a:rPr lang="en-US" sz="2500" dirty="0" smtClean="0">
                <a:solidFill>
                  <a:srgbClr val="FF0000"/>
                </a:solidFill>
              </a:rPr>
              <a:t>exactly one</a:t>
            </a:r>
            <a:r>
              <a:rPr lang="en-US" sz="2500" dirty="0" smtClean="0">
                <a:solidFill>
                  <a:srgbClr val="002060"/>
                </a:solidFill>
              </a:rPr>
              <a:t> entry equal to </a:t>
            </a:r>
            <a:r>
              <a:rPr lang="en-US" sz="2500" dirty="0" smtClean="0">
                <a:solidFill>
                  <a:srgbClr val="FF0000"/>
                </a:solidFill>
              </a:rPr>
              <a:t>1</a:t>
            </a:r>
            <a:r>
              <a:rPr lang="en-US" sz="2500" dirty="0" smtClean="0">
                <a:solidFill>
                  <a:srgbClr val="002060"/>
                </a:solidFill>
              </a:rPr>
              <a:t>, corresponding to the vertex that is incident with this loop and </a:t>
            </a:r>
            <a:r>
              <a:rPr lang="en-US" sz="2500" dirty="0" smtClean="0">
                <a:solidFill>
                  <a:srgbClr val="FF0000"/>
                </a:solidFill>
              </a:rPr>
              <a:t>other zeros</a:t>
            </a:r>
            <a:r>
              <a:rPr lang="en-US" sz="2500" dirty="0" smtClean="0">
                <a:solidFill>
                  <a:srgbClr val="002060"/>
                </a:solidFill>
              </a:rPr>
              <a:t> (here </a:t>
            </a:r>
            <a:r>
              <a:rPr lang="en-US" sz="2500" dirty="0" smtClean="0">
                <a:solidFill>
                  <a:srgbClr val="FF0000"/>
                </a:solidFill>
              </a:rPr>
              <a:t>e</a:t>
            </a:r>
            <a:r>
              <a:rPr lang="en-US" sz="2500" baseline="-25000" dirty="0" smtClean="0">
                <a:solidFill>
                  <a:srgbClr val="FF0000"/>
                </a:solidFill>
              </a:rPr>
              <a:t>2</a:t>
            </a:r>
            <a:r>
              <a:rPr lang="en-US" sz="2500" baseline="-25000" dirty="0" smtClean="0">
                <a:solidFill>
                  <a:srgbClr val="002060"/>
                </a:solidFill>
              </a:rPr>
              <a:t> </a:t>
            </a:r>
            <a:r>
              <a:rPr lang="en-US" sz="2500" dirty="0" smtClean="0">
                <a:solidFill>
                  <a:srgbClr val="002060"/>
                </a:solidFill>
              </a:rPr>
              <a:t>is only a loop).</a:t>
            </a:r>
          </a:p>
          <a:p>
            <a:pPr>
              <a:buNone/>
            </a:pPr>
            <a:endParaRPr lang="en-US" dirty="0" smtClean="0"/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USESECONDARYMONITOR" val="True"/>
  <p:tag name="BULLETTYPE" val="3"/>
  <p:tag name="RESPCOUNTERSTYLE" val="-1"/>
  <p:tag name="INPUTSOURCE" val="1"/>
  <p:tag name="BACKUPSESSIONS" val="True"/>
  <p:tag name="REVIEWONLY" val="False"/>
  <p:tag name="PARTICIPANTSINLEADERBOARD" val="5"/>
  <p:tag name="BUBBLESIZEVISIBLE" val="True"/>
  <p:tag name="CUSTOMGRIDBACKCOLOR" val="-2830136"/>
  <p:tag name="CUSTOMCELLBACKCOLOR3" val="-268652"/>
  <p:tag name="DISPLAYDEVICENUMBER" val="True"/>
  <p:tag name="AUTOSIZEGRID" val="True"/>
  <p:tag name="CHARTCOLORS" val="0"/>
  <p:tag name="MULTIRESPDIVISOR" val="1"/>
  <p:tag name="CORRECTPOINTVALUE" val="100"/>
  <p:tag name="ZEROBASED" val="False"/>
  <p:tag name="SHOWBARVISIBLE" val="True"/>
  <p:tag name="REQUIREPASSWORD" val="False"/>
  <p:tag name="RESPCOUNTERFORMAT" val="0"/>
  <p:tag name="NUMRESPONSES" val="1"/>
  <p:tag name="AUTOADVANCE" val="False"/>
  <p:tag name="TEAMSINLEADERBOARD" val="5"/>
  <p:tag name="BUBBLEGROUPING" val="3"/>
  <p:tag name="CUSTOMCELLBACKCOLOR2" val="-13395457"/>
  <p:tag name="DISPLAYDEVICEID" val="True"/>
  <p:tag name="GRIDPOSITION" val="1"/>
  <p:tag name="INCLUDENONRESPONDERS" val="False"/>
  <p:tag name="INCORRECTPOINTVALUE" val="0"/>
  <p:tag name="CHARTSCALE" val="True"/>
  <p:tag name="DEFAULTPORT" val="1001"/>
  <p:tag name="RESPTABLESTYLE" val="-1"/>
  <p:tag name="BACKUPMAINTENANCE" val="7"/>
  <p:tag name="STDCHART" val="1"/>
  <p:tag name="DEFAULTNUMTEAMS" val="5"/>
  <p:tag name="USESCHEMECOLORS" val="True"/>
  <p:tag name="GRIDSIZE" val="{Width=800, Height=600}"/>
  <p:tag name="PARTLISTDEFAULT" val="0"/>
  <p:tag name="ADDINALWAYSLOADED" val="False"/>
  <p:tag name="ENABLEPRESENTERVPAD" val="False"/>
  <p:tag name="COUNTDOWNSECONDS" val="10"/>
  <p:tag name="ROTATIONINTERVAL" val="2"/>
  <p:tag name="BUBBLEVALUEFORMAT" val="0.0"/>
  <p:tag name="DISPLAYNAME" val="True"/>
  <p:tag name="CHARTLABELS" val="0"/>
  <p:tag name="REALTIMEBACKUP" val="False"/>
  <p:tag name="ANSWERNOWSTYLE" val="-1"/>
  <p:tag name="ALLOWDUPLICATES" val="False"/>
  <p:tag name="BUBBLENAMEVISIBLE" val="True"/>
  <p:tag name="GRIDOPACITY" val="90"/>
  <p:tag name="INCLUDEPPT" val="True"/>
  <p:tag name="EXPANDSHOWBAR" val="True"/>
  <p:tag name="CHARTVALUEFORMAT" val="0%"/>
  <p:tag name="CUSTOMCELLBACKCOLOR1" val="-657956"/>
  <p:tag name="RESETCHARTS" val="True"/>
  <p:tag name="ANSWERNOWTEXT" val="Answer Now"/>
  <p:tag name="MAXRESPONDERS" val="5"/>
  <p:tag name="POLLINGCYCLE" val="2"/>
  <p:tag name="COUNTDOWNSTYLE" val="-1"/>
  <p:tag name="CUSTOMCELLBACKCOLOR4" val="-8355712"/>
  <p:tag name="TPVERSION" val="2006"/>
  <p:tag name="GRIDROTATIONINTERVAL" val="2"/>
  <p:tag name="AUTOUPDATEALIASES" val="True"/>
  <p:tag name="USEENTERPRISEMANAGER" val="False"/>
  <p:tag name="CUSTOMCELLFORECOLOR" val="-16777216"/>
  <p:tag name="AUTOADJUSTPARTRANGE" val="True"/>
  <p:tag name="ALLOWUSERFEEDBACK" val="True"/>
  <p:tag name="DELIMITERS" val="3.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OPREFERENCE" val="False"/>
  <p:tag name="DELIMITERS" val="3.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OPREFERENCE" val="False"/>
  <p:tag name="DELIMITERS" val="3.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OPREFERENCE" val="False"/>
  <p:tag name="DELIMITERS" val="3.1"/>
</p:tagLst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igin">
  <a:themeElements>
    <a:clrScheme name="Origin">
      <a:dk1>
        <a:sysClr val="windowText" lastClr="000000"/>
      </a:dk1>
      <a:lt1>
        <a:sysClr val="window" lastClr="FFFFFF"/>
      </a:lt1>
      <a:dk2>
        <a:srgbClr val="464653"/>
      </a:dk2>
      <a:lt2>
        <a:srgbClr val="DDE9EC"/>
      </a:lt2>
      <a:accent1>
        <a:srgbClr val="727CA3"/>
      </a:accent1>
      <a:accent2>
        <a:srgbClr val="9FB8CD"/>
      </a:accent2>
      <a:accent3>
        <a:srgbClr val="D2DA7A"/>
      </a:accent3>
      <a:accent4>
        <a:srgbClr val="FADA7A"/>
      </a:accent4>
      <a:accent5>
        <a:srgbClr val="B88472"/>
      </a:accent5>
      <a:accent6>
        <a:srgbClr val="8E736A"/>
      </a:accent6>
      <a:hlink>
        <a:srgbClr val="B292CA"/>
      </a:hlink>
      <a:folHlink>
        <a:srgbClr val="6B5680"/>
      </a:folHlink>
    </a:clrScheme>
    <a:fontScheme name="Origin">
      <a:majorFont>
        <a:latin typeface="Bookman Old Style"/>
        <a:ea typeface=""/>
        <a:cs typeface=""/>
        <a:font script="Grek" typeface="Cambria"/>
        <a:font script="Cyrl" typeface="Cambria"/>
        <a:font script="Jpan" typeface="HG明朝E"/>
        <a:font script="Hang" typeface="돋움"/>
        <a:font script="Hans" typeface="宋体"/>
        <a:font script="Hant" typeface="標楷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Gill Sans MT"/>
        <a:ea typeface=""/>
        <a:cs typeface=""/>
        <a:font script="Grek" typeface="Calibri"/>
        <a:font script="Cyrl" typeface="Calibri"/>
        <a:font script="Jpan" typeface="ＭＳ Ｐゴシック"/>
        <a:font script="Hang" typeface="맑은 고딕"/>
        <a:font script="Hans" typeface="华文新魏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rigin">
      <a:fillStyleLst>
        <a:solidFill>
          <a:schemeClr val="phClr"/>
        </a:solidFill>
        <a:gradFill rotWithShape="1">
          <a:gsLst>
            <a:gs pos="0">
              <a:schemeClr val="phClr">
                <a:tint val="45000"/>
                <a:satMod val="200000"/>
              </a:schemeClr>
            </a:gs>
            <a:gs pos="30000">
              <a:schemeClr val="phClr">
                <a:tint val="61000"/>
                <a:satMod val="200000"/>
              </a:schemeClr>
            </a:gs>
            <a:gs pos="45000">
              <a:schemeClr val="phClr">
                <a:tint val="66000"/>
                <a:satMod val="200000"/>
              </a:schemeClr>
            </a:gs>
            <a:gs pos="55000">
              <a:schemeClr val="phClr">
                <a:tint val="66000"/>
                <a:satMod val="200000"/>
              </a:schemeClr>
            </a:gs>
            <a:gs pos="73000">
              <a:schemeClr val="phClr">
                <a:tint val="61000"/>
                <a:satMod val="200000"/>
              </a:schemeClr>
            </a:gs>
            <a:gs pos="100000">
              <a:schemeClr val="phClr">
                <a:tint val="45000"/>
                <a:satMod val="200000"/>
              </a:schemeClr>
            </a:gs>
          </a:gsLst>
          <a:lin ang="950000" scaled="1"/>
        </a:gradFill>
        <a:gradFill rotWithShape="1">
          <a:gsLst>
            <a:gs pos="0">
              <a:schemeClr val="phClr">
                <a:shade val="63000"/>
              </a:schemeClr>
            </a:gs>
            <a:gs pos="30000">
              <a:schemeClr val="phClr">
                <a:shade val="90000"/>
                <a:satMod val="110000"/>
              </a:schemeClr>
            </a:gs>
            <a:gs pos="45000">
              <a:schemeClr val="phClr">
                <a:shade val="100000"/>
                <a:satMod val="118000"/>
              </a:schemeClr>
            </a:gs>
            <a:gs pos="55000">
              <a:schemeClr val="phClr">
                <a:shade val="100000"/>
                <a:satMod val="118000"/>
              </a:schemeClr>
            </a:gs>
            <a:gs pos="73000">
              <a:schemeClr val="phClr">
                <a:shade val="90000"/>
                <a:satMod val="110000"/>
              </a:schemeClr>
            </a:gs>
            <a:gs pos="100000">
              <a:schemeClr val="phClr">
                <a:shade val="63000"/>
              </a:schemeClr>
            </a:gs>
          </a:gsLst>
          <a:lin ang="950000" scaled="1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43000" dir="5400000" rotWithShape="0">
              <a:srgbClr val="000000">
                <a:alpha val="40000"/>
              </a:srgbClr>
            </a:outerShdw>
          </a:effectLst>
          <a:scene3d>
            <a:camera prst="orthographicFront" fov="0">
              <a:rot lat="0" lon="0" rev="0"/>
            </a:camera>
            <a:lightRig rig="balanced" dir="t">
              <a:rot lat="0" lon="0" rev="0"/>
            </a:lightRig>
          </a:scene3d>
          <a:sp3d prstMaterial="matte">
            <a:bevelT w="0" h="0"/>
            <a:contourClr>
              <a:schemeClr val="phClr">
                <a:tint val="100000"/>
                <a:shade val="100000"/>
                <a:hueMod val="100000"/>
                <a:satMod val="100000"/>
              </a:schemeClr>
            </a:contourClr>
          </a:sp3d>
        </a:effectStyle>
        <a:effectStyle>
          <a:effectLst>
            <a:outerShdw blurRad="50800" dist="25400" dir="5400000" rotWithShape="0">
              <a:srgbClr val="000000">
                <a:alpha val="50000"/>
              </a:srgbClr>
            </a:outerShdw>
          </a:effectLst>
          <a:scene3d>
            <a:camera prst="orthographicFront" fov="0">
              <a:rot lat="0" lon="0" rev="0"/>
            </a:camera>
            <a:lightRig rig="soft" dir="t">
              <a:rot lat="0" lon="0" rev="2700000"/>
            </a:lightRig>
          </a:scene3d>
          <a:sp3d prstMaterial="matte">
            <a:bevelT w="50800" h="50800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60000"/>
                <a:satMod val="300000"/>
              </a:schemeClr>
            </a:gs>
            <a:gs pos="30000">
              <a:schemeClr val="phClr">
                <a:shade val="80000"/>
                <a:satMod val="230000"/>
              </a:schemeClr>
            </a:gs>
            <a:gs pos="100000">
              <a:schemeClr val="phClr">
                <a:tint val="97000"/>
                <a:satMod val="22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shade val="6000"/>
                <a:satMod val="120000"/>
              </a:schemeClr>
              <a:schemeClr val="phClr">
                <a:tint val="90000"/>
              </a:schemeClr>
            </a:duotone>
          </a:blip>
          <a:tile tx="0" ty="0" sx="35000" sy="40000" flip="x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5908</TotalTime>
  <Words>2039</Words>
  <Application>Microsoft Office PowerPoint</Application>
  <PresentationFormat>On-screen Show (4:3)</PresentationFormat>
  <Paragraphs>472</Paragraphs>
  <Slides>60</Slides>
  <Notes>0</Notes>
  <HiddenSlides>0</HiddenSlides>
  <MMClips>0</MMClips>
  <ScaleCrop>false</ScaleCrop>
  <HeadingPairs>
    <vt:vector size="6" baseType="variant">
      <vt:variant>
        <vt:lpstr>Theme</vt:lpstr>
      </vt:variant>
      <vt:variant>
        <vt:i4>1</vt:i4>
      </vt:variant>
      <vt:variant>
        <vt:lpstr>Embedded OLE Servers</vt:lpstr>
      </vt:variant>
      <vt:variant>
        <vt:i4>0</vt:i4>
      </vt:variant>
      <vt:variant>
        <vt:lpstr>Slide Titles</vt:lpstr>
      </vt:variant>
      <vt:variant>
        <vt:i4>60</vt:i4>
      </vt:variant>
    </vt:vector>
  </HeadingPairs>
  <TitlesOfParts>
    <vt:vector size="61" baseType="lpstr">
      <vt:lpstr>Origin</vt:lpstr>
      <vt:lpstr>GRAPH THEORY Lecture # 20  </vt:lpstr>
      <vt:lpstr>INTRODUCTION</vt:lpstr>
      <vt:lpstr>GRAPH</vt:lpstr>
      <vt:lpstr>EXAMPLE</vt:lpstr>
      <vt:lpstr>PowerPoint Presentation</vt:lpstr>
      <vt:lpstr>SOME TERMINOLOGY</vt:lpstr>
      <vt:lpstr>PowerPoint Presentation</vt:lpstr>
      <vt:lpstr>PowerPoint Presentation</vt:lpstr>
      <vt:lpstr>EXAMPLE</vt:lpstr>
      <vt:lpstr>SOLUTION</vt:lpstr>
      <vt:lpstr>EXAMPLE</vt:lpstr>
      <vt:lpstr>SOLUTION</vt:lpstr>
      <vt:lpstr>PowerPoint Presentation</vt:lpstr>
      <vt:lpstr>EXERCISE</vt:lpstr>
      <vt:lpstr>EXERCISE</vt:lpstr>
      <vt:lpstr>SIMPLE GRAPH</vt:lpstr>
      <vt:lpstr>EXERCISE</vt:lpstr>
      <vt:lpstr>PowerPoint Presentation</vt:lpstr>
      <vt:lpstr>PowerPoint Presentation</vt:lpstr>
      <vt:lpstr>DEGREE OF A VERTEX</vt:lpstr>
      <vt:lpstr>EXAMPLE</vt:lpstr>
      <vt:lpstr>NOTE</vt:lpstr>
      <vt:lpstr>THE HANDSHAKING THEOREM</vt:lpstr>
      <vt:lpstr>COROLLARY</vt:lpstr>
      <vt:lpstr>EXERCISE</vt:lpstr>
      <vt:lpstr>PowerPoint Presentation</vt:lpstr>
      <vt:lpstr>PowerPoint Presentation</vt:lpstr>
      <vt:lpstr>PowerPoint Presentation</vt:lpstr>
      <vt:lpstr>PowerPoint Presentation</vt:lpstr>
      <vt:lpstr>EXERCISE</vt:lpstr>
      <vt:lpstr>COMPLETE GRAPH</vt:lpstr>
      <vt:lpstr>REGULAR GRAPH</vt:lpstr>
      <vt:lpstr>PowerPoint Presentation</vt:lpstr>
      <vt:lpstr>EXERCISE</vt:lpstr>
      <vt:lpstr>BIPARTITE GRAPH</vt:lpstr>
      <vt:lpstr>MATRIX REPRESENTATIONS OF GRAPHS</vt:lpstr>
      <vt:lpstr>MATRIX</vt:lpstr>
      <vt:lpstr>EXAMPLE</vt:lpstr>
      <vt:lpstr>SQUARE MATRIX</vt:lpstr>
      <vt:lpstr>TRANSPOSE OF A MATRIX</vt:lpstr>
      <vt:lpstr>EXAMPLE</vt:lpstr>
      <vt:lpstr>SYMMETRIC MATRIX</vt:lpstr>
      <vt:lpstr>EXAMPLE</vt:lpstr>
      <vt:lpstr>MATRIX MULTIPLICATION</vt:lpstr>
      <vt:lpstr>EXAMPLE</vt:lpstr>
      <vt:lpstr>PowerPoint Presentation</vt:lpstr>
      <vt:lpstr>ADJACENCY MATRIX OF A GRAPH</vt:lpstr>
      <vt:lpstr>EXAMPLE</vt:lpstr>
      <vt:lpstr>EXERCISE</vt:lpstr>
      <vt:lpstr>PowerPoint Presentation</vt:lpstr>
      <vt:lpstr>DIRECTED GRAPH</vt:lpstr>
      <vt:lpstr>EXAMPLE OF DIGRAPGH</vt:lpstr>
      <vt:lpstr>ADJACENCY MATRIX OF A DIRECTED GRAPH</vt:lpstr>
      <vt:lpstr>EXAMPLE</vt:lpstr>
      <vt:lpstr>EXERCISE</vt:lpstr>
      <vt:lpstr>SOLUTION</vt:lpstr>
      <vt:lpstr>PowerPoint Presentation</vt:lpstr>
      <vt:lpstr>INCIDENCE MATRIX OF A SIMPLE GRAPH</vt:lpstr>
      <vt:lpstr>EXERCISE</vt:lpstr>
      <vt:lpstr>REMARK</vt:lpstr>
    </vt:vector>
  </TitlesOfParts>
  <Company>University of Virginia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Predicates and Quantifiers</dc:title>
  <dc:creator>Department of Computer Science</dc:creator>
  <cp:lastModifiedBy>Dell</cp:lastModifiedBy>
  <cp:revision>468</cp:revision>
  <dcterms:created xsi:type="dcterms:W3CDTF">2004-09-16T16:06:30Z</dcterms:created>
  <dcterms:modified xsi:type="dcterms:W3CDTF">2024-12-17T04:28:13Z</dcterms:modified>
</cp:coreProperties>
</file>
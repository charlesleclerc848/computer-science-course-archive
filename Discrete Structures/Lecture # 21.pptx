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1"/>
  </p:notesMasterIdLst>
  <p:handoutMasterIdLst>
    <p:handoutMasterId r:id="rId62"/>
  </p:handoutMasterIdLst>
  <p:sldIdLst>
    <p:sldId id="256" r:id="rId2"/>
    <p:sldId id="380" r:id="rId3"/>
    <p:sldId id="381" r:id="rId4"/>
    <p:sldId id="382" r:id="rId5"/>
    <p:sldId id="257" r:id="rId6"/>
    <p:sldId id="258" r:id="rId7"/>
    <p:sldId id="320" r:id="rId8"/>
    <p:sldId id="322" r:id="rId9"/>
    <p:sldId id="323" r:id="rId10"/>
    <p:sldId id="324" r:id="rId11"/>
    <p:sldId id="325" r:id="rId12"/>
    <p:sldId id="326" r:id="rId13"/>
    <p:sldId id="367" r:id="rId14"/>
    <p:sldId id="327" r:id="rId15"/>
    <p:sldId id="368" r:id="rId16"/>
    <p:sldId id="369" r:id="rId17"/>
    <p:sldId id="328" r:id="rId18"/>
    <p:sldId id="370" r:id="rId19"/>
    <p:sldId id="371" r:id="rId20"/>
    <p:sldId id="372" r:id="rId21"/>
    <p:sldId id="329" r:id="rId22"/>
    <p:sldId id="373" r:id="rId23"/>
    <p:sldId id="374" r:id="rId24"/>
    <p:sldId id="375" r:id="rId25"/>
    <p:sldId id="330" r:id="rId26"/>
    <p:sldId id="365" r:id="rId27"/>
    <p:sldId id="376" r:id="rId28"/>
    <p:sldId id="331" r:id="rId29"/>
    <p:sldId id="366" r:id="rId30"/>
    <p:sldId id="377" r:id="rId31"/>
    <p:sldId id="332" r:id="rId32"/>
    <p:sldId id="333" r:id="rId33"/>
    <p:sldId id="378" r:id="rId34"/>
    <p:sldId id="383" r:id="rId35"/>
    <p:sldId id="385" r:id="rId36"/>
    <p:sldId id="384" r:id="rId37"/>
    <p:sldId id="386" r:id="rId38"/>
    <p:sldId id="387" r:id="rId39"/>
    <p:sldId id="388" r:id="rId40"/>
    <p:sldId id="389" r:id="rId41"/>
    <p:sldId id="390" r:id="rId42"/>
    <p:sldId id="391" r:id="rId43"/>
    <p:sldId id="392" r:id="rId44"/>
    <p:sldId id="393" r:id="rId45"/>
    <p:sldId id="394" r:id="rId46"/>
    <p:sldId id="395" r:id="rId47"/>
    <p:sldId id="396" r:id="rId48"/>
    <p:sldId id="397" r:id="rId49"/>
    <p:sldId id="398" r:id="rId50"/>
    <p:sldId id="399" r:id="rId51"/>
    <p:sldId id="400" r:id="rId52"/>
    <p:sldId id="401" r:id="rId53"/>
    <p:sldId id="402" r:id="rId54"/>
    <p:sldId id="403" r:id="rId55"/>
    <p:sldId id="404" r:id="rId56"/>
    <p:sldId id="405" r:id="rId57"/>
    <p:sldId id="406" r:id="rId58"/>
    <p:sldId id="407" r:id="rId59"/>
    <p:sldId id="409" r:id="rId60"/>
  </p:sldIdLst>
  <p:sldSz cx="9144000" cy="6858000" type="screen4x3"/>
  <p:notesSz cx="6858000" cy="9144000"/>
  <p:custDataLst>
    <p:tags r:id="rId6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128" autoAdjust="0"/>
    <p:restoredTop sz="94660"/>
  </p:normalViewPr>
  <p:slideViewPr>
    <p:cSldViewPr>
      <p:cViewPr>
        <p:scale>
          <a:sx n="70" d="100"/>
          <a:sy n="70" d="100"/>
        </p:scale>
        <p:origin x="-1404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 smtClean="0">
                <a:solidFill>
                  <a:srgbClr val="C00000"/>
                </a:solidFill>
              </a:rPr>
              <a:t>COUNTING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400" b="1" dirty="0" smtClean="0">
                <a:solidFill>
                  <a:srgbClr val="0070C0"/>
                </a:solidFill>
              </a:rPr>
              <a:t>Lecture # 21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COUNTING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>
                <a:solidFill>
                  <a:srgbClr val="FF0000"/>
                </a:solidFill>
              </a:rPr>
              <a:t>combinatorics</a:t>
            </a:r>
            <a:r>
              <a:rPr lang="en-US" dirty="0" smtClean="0"/>
              <a:t> we generally solved </a:t>
            </a:r>
            <a:r>
              <a:rPr lang="en-US" dirty="0" smtClean="0">
                <a:solidFill>
                  <a:srgbClr val="FF0000"/>
                </a:solidFill>
              </a:rPr>
              <a:t>counting</a:t>
            </a:r>
            <a:r>
              <a:rPr lang="en-US" dirty="0" smtClean="0"/>
              <a:t> problems.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Example:  </a:t>
            </a:r>
            <a:r>
              <a:rPr lang="en-US" dirty="0" smtClean="0"/>
              <a:t>How many books you have you can easily count them.</a:t>
            </a:r>
          </a:p>
          <a:p>
            <a:endParaRPr lang="en-US" dirty="0" smtClean="0"/>
          </a:p>
          <a:p>
            <a:r>
              <a:rPr lang="en-US" dirty="0" smtClean="0"/>
              <a:t>Sometimes counting problems become complex and it is difficult to solve it.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counting problem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important step</a:t>
            </a:r>
            <a:r>
              <a:rPr lang="en-US" dirty="0" smtClean="0"/>
              <a:t> is we must realized that which thing we are </a:t>
            </a:r>
            <a:r>
              <a:rPr lang="en-US" dirty="0" smtClean="0">
                <a:solidFill>
                  <a:srgbClr val="FF0000"/>
                </a:solidFill>
              </a:rPr>
              <a:t>counting</a:t>
            </a:r>
            <a:r>
              <a:rPr lang="en-US" dirty="0" smtClean="0"/>
              <a:t>, if you do that step then to solve the actual problem is not a big deal.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solidFill>
                  <a:srgbClr val="FF0000"/>
                </a:solidFill>
              </a:rPr>
              <a:t>Combinatorics</a:t>
            </a:r>
            <a:r>
              <a:rPr lang="en-US" sz="2400" dirty="0" smtClean="0"/>
              <a:t> is the </a:t>
            </a:r>
            <a:r>
              <a:rPr lang="en-US" sz="2400" dirty="0" smtClean="0">
                <a:solidFill>
                  <a:srgbClr val="FF0000"/>
                </a:solidFill>
              </a:rPr>
              <a:t>mathematics of counting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rgbClr val="FF0000"/>
                </a:solidFill>
              </a:rPr>
              <a:t>arranging objects</a:t>
            </a:r>
            <a:r>
              <a:rPr lang="en-US" sz="2400" dirty="0" smtClean="0"/>
              <a:t>. </a:t>
            </a:r>
          </a:p>
          <a:p>
            <a:endParaRPr lang="en-US" sz="2400" dirty="0" smtClean="0"/>
          </a:p>
          <a:p>
            <a:r>
              <a:rPr lang="en-US" sz="2400" dirty="0" smtClean="0"/>
              <a:t>Counting of objects with certain properties (enumeration) is required to solve many different types of problem. 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0070C0"/>
                </a:solidFill>
              </a:rPr>
              <a:t>For example:</a:t>
            </a:r>
            <a:r>
              <a:rPr lang="en-US" sz="2400" dirty="0" smtClean="0"/>
              <a:t> Counting is used to:</a:t>
            </a:r>
          </a:p>
          <a:p>
            <a:r>
              <a:rPr lang="en-US" sz="2400" dirty="0" smtClean="0"/>
              <a:t>Determine number of </a:t>
            </a:r>
            <a:r>
              <a:rPr lang="en-US" sz="2400" dirty="0" smtClean="0">
                <a:solidFill>
                  <a:srgbClr val="FF0000"/>
                </a:solidFill>
              </a:rPr>
              <a:t>ordered or unordered</a:t>
            </a:r>
            <a:r>
              <a:rPr lang="en-US" sz="2400" dirty="0" smtClean="0"/>
              <a:t> arrangement of objects.</a:t>
            </a:r>
          </a:p>
          <a:p>
            <a:endParaRPr lang="en-US" sz="2400" dirty="0" smtClean="0"/>
          </a:p>
          <a:p>
            <a:r>
              <a:rPr lang="en-US" sz="2400" dirty="0" smtClean="0"/>
              <a:t>Generate all the </a:t>
            </a:r>
            <a:r>
              <a:rPr lang="en-US" sz="2400" dirty="0" smtClean="0">
                <a:solidFill>
                  <a:srgbClr val="FF0000"/>
                </a:solidFill>
              </a:rPr>
              <a:t>arrangements</a:t>
            </a:r>
            <a:r>
              <a:rPr lang="en-US" sz="2400" dirty="0" smtClean="0"/>
              <a:t> of a specified kind which is important in </a:t>
            </a:r>
            <a:r>
              <a:rPr lang="en-US" sz="2400" dirty="0" smtClean="0">
                <a:solidFill>
                  <a:srgbClr val="FF0000"/>
                </a:solidFill>
              </a:rPr>
              <a:t>computer simulations</a:t>
            </a:r>
            <a:r>
              <a:rPr lang="en-US" sz="2400" dirty="0" smtClean="0"/>
              <a:t>.</a:t>
            </a:r>
          </a:p>
          <a:p>
            <a:pPr>
              <a:buNone/>
            </a:pPr>
            <a:endParaRPr lang="en-US" sz="2400" dirty="0" smtClean="0"/>
          </a:p>
          <a:p>
            <a:endParaRPr lang="en-US" sz="2400" dirty="0" smtClean="0"/>
          </a:p>
          <a:p>
            <a:endParaRPr lang="en-US" sz="2500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many such </a:t>
            </a:r>
            <a:r>
              <a:rPr lang="en-US" dirty="0" smtClean="0">
                <a:solidFill>
                  <a:srgbClr val="FF0000"/>
                </a:solidFill>
              </a:rPr>
              <a:t>passwords</a:t>
            </a:r>
            <a:r>
              <a:rPr lang="en-US" dirty="0" smtClean="0"/>
              <a:t> are there.</a:t>
            </a:r>
          </a:p>
          <a:p>
            <a:endParaRPr lang="en-US" dirty="0" smtClean="0"/>
          </a:p>
          <a:p>
            <a:r>
              <a:rPr lang="en-US" dirty="0" smtClean="0"/>
              <a:t>Analyze the chance of </a:t>
            </a:r>
            <a:r>
              <a:rPr lang="en-US" dirty="0" smtClean="0">
                <a:solidFill>
                  <a:srgbClr val="FF0000"/>
                </a:solidFill>
              </a:rPr>
              <a:t>winning games, lotteries</a:t>
            </a:r>
            <a:r>
              <a:rPr lang="en-US" dirty="0" smtClean="0"/>
              <a:t> etc.</a:t>
            </a:r>
          </a:p>
          <a:p>
            <a:endParaRPr lang="en-US" dirty="0" smtClean="0"/>
          </a:p>
          <a:p>
            <a:r>
              <a:rPr lang="en-US" dirty="0" smtClean="0"/>
              <a:t>Determine the </a:t>
            </a:r>
            <a:r>
              <a:rPr lang="en-US" dirty="0" smtClean="0">
                <a:solidFill>
                  <a:srgbClr val="FF0000"/>
                </a:solidFill>
              </a:rPr>
              <a:t>complexity of algorithms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BASIC COUNTING PRINCIPLES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5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two basic</a:t>
            </a:r>
            <a:r>
              <a:rPr lang="en-US" dirty="0" smtClean="0">
                <a:solidFill>
                  <a:srgbClr val="C00000"/>
                </a:solidFill>
              </a:rPr>
              <a:t> counting principles </a:t>
            </a:r>
            <a:r>
              <a:rPr lang="en-US" dirty="0" smtClean="0"/>
              <a:t>are: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Product Rule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Sum Rule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They can be used to solve many different</a:t>
            </a:r>
            <a:r>
              <a:rPr lang="en-US" dirty="0" smtClean="0">
                <a:solidFill>
                  <a:srgbClr val="C00000"/>
                </a:solidFill>
              </a:rPr>
              <a:t> counting problems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6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Your </a:t>
            </a:r>
            <a:r>
              <a:rPr lang="en-US" dirty="0" smtClean="0">
                <a:solidFill>
                  <a:srgbClr val="FF0000"/>
                </a:solidFill>
              </a:rPr>
              <a:t>institute</a:t>
            </a:r>
            <a:r>
              <a:rPr lang="en-US" dirty="0" smtClean="0"/>
              <a:t> is offering </a:t>
            </a:r>
            <a:r>
              <a:rPr lang="en-US" dirty="0" smtClean="0">
                <a:solidFill>
                  <a:srgbClr val="FF0000"/>
                </a:solidFill>
              </a:rPr>
              <a:t>7</a:t>
            </a:r>
            <a:r>
              <a:rPr lang="en-US" dirty="0" smtClean="0"/>
              <a:t> courses in </a:t>
            </a:r>
            <a:r>
              <a:rPr lang="en-US" dirty="0" smtClean="0">
                <a:solidFill>
                  <a:srgbClr val="FF0000"/>
                </a:solidFill>
              </a:rPr>
              <a:t>computer science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courses in </a:t>
            </a:r>
            <a:r>
              <a:rPr lang="en-US" dirty="0" smtClean="0">
                <a:solidFill>
                  <a:srgbClr val="FF0000"/>
                </a:solidFill>
              </a:rPr>
              <a:t>mathematics</a:t>
            </a:r>
            <a:r>
              <a:rPr lang="en-US" dirty="0" smtClean="0"/>
              <a:t>. You are asked to </a:t>
            </a:r>
            <a:r>
              <a:rPr lang="en-US" dirty="0" smtClean="0">
                <a:solidFill>
                  <a:srgbClr val="FF0000"/>
                </a:solidFill>
              </a:rPr>
              <a:t>choose</a:t>
            </a:r>
            <a:r>
              <a:rPr lang="en-US" dirty="0" smtClean="0"/>
              <a:t> only 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course.</a:t>
            </a:r>
          </a:p>
          <a:p>
            <a:r>
              <a:rPr lang="en-US" dirty="0" smtClean="0"/>
              <a:t>How </a:t>
            </a:r>
            <a:r>
              <a:rPr lang="en-US" dirty="0" smtClean="0">
                <a:solidFill>
                  <a:srgbClr val="FF0000"/>
                </a:solidFill>
              </a:rPr>
              <a:t>many choices</a:t>
            </a:r>
            <a:r>
              <a:rPr lang="en-US" dirty="0" smtClean="0"/>
              <a:t> you have? </a:t>
            </a:r>
          </a:p>
          <a:p>
            <a:endParaRPr lang="en-US" dirty="0" smtClean="0"/>
          </a:p>
          <a:p>
            <a:r>
              <a:rPr lang="en-US" dirty="0" smtClean="0"/>
              <a:t>You can select either 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computer science course or mathematics.</a:t>
            </a:r>
          </a:p>
          <a:p>
            <a:pPr>
              <a:buNone/>
            </a:pPr>
            <a:r>
              <a:rPr lang="en-US" dirty="0" smtClean="0"/>
              <a:t>			7 </a:t>
            </a:r>
            <a:r>
              <a:rPr lang="en-US" dirty="0" err="1" smtClean="0"/>
              <a:t>cs</a:t>
            </a:r>
            <a:r>
              <a:rPr lang="en-US" dirty="0" smtClean="0"/>
              <a:t> courses = </a:t>
            </a:r>
            <a:r>
              <a:rPr lang="en-US" dirty="0" smtClean="0">
                <a:solidFill>
                  <a:srgbClr val="FF0000"/>
                </a:solidFill>
              </a:rPr>
              <a:t>7 choices</a:t>
            </a:r>
          </a:p>
          <a:p>
            <a:pPr>
              <a:buNone/>
            </a:pPr>
            <a:r>
              <a:rPr lang="en-US" dirty="0" smtClean="0"/>
              <a:t>			3 math courses = </a:t>
            </a:r>
            <a:r>
              <a:rPr lang="en-US" dirty="0" smtClean="0">
                <a:solidFill>
                  <a:srgbClr val="FF0000"/>
                </a:solidFill>
              </a:rPr>
              <a:t>3 choices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Total</a:t>
            </a:r>
            <a:r>
              <a:rPr lang="en-US" dirty="0" smtClean="0"/>
              <a:t> number of </a:t>
            </a:r>
            <a:r>
              <a:rPr lang="en-US" dirty="0" smtClean="0">
                <a:solidFill>
                  <a:srgbClr val="FF0000"/>
                </a:solidFill>
              </a:rPr>
              <a:t>choices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7 + 3</a:t>
            </a:r>
            <a:r>
              <a:rPr lang="en-US" dirty="0" smtClean="0"/>
              <a:t> (basically by applying sum rule)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SUM RULE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one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ways.</a:t>
            </a:r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second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(different) ways.</a:t>
            </a:r>
          </a:p>
          <a:p>
            <a:endParaRPr lang="en-US" dirty="0" smtClean="0"/>
          </a:p>
          <a:p>
            <a:r>
              <a:rPr lang="en-US" dirty="0" smtClean="0"/>
              <a:t>Then the total number of ways in which </a:t>
            </a:r>
            <a:r>
              <a:rPr lang="en-US" dirty="0" smtClean="0">
                <a:solidFill>
                  <a:srgbClr val="FF0000"/>
                </a:solidFill>
              </a:rPr>
              <a:t>exactly one</a:t>
            </a:r>
            <a:r>
              <a:rPr lang="en-US" dirty="0" smtClean="0"/>
              <a:t> of the events (i.e., first or second) can occur is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+ 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 student can choose a </a:t>
            </a:r>
            <a:r>
              <a:rPr lang="en-US" dirty="0" smtClean="0">
                <a:solidFill>
                  <a:srgbClr val="FF0000"/>
                </a:solidFill>
              </a:rPr>
              <a:t>computer project</a:t>
            </a:r>
            <a:r>
              <a:rPr lang="en-US" dirty="0" smtClean="0"/>
              <a:t> from one of the </a:t>
            </a:r>
            <a:r>
              <a:rPr lang="en-US" dirty="0" smtClean="0">
                <a:solidFill>
                  <a:srgbClr val="FF0000"/>
                </a:solidFill>
              </a:rPr>
              <a:t>three lists</a:t>
            </a:r>
            <a:r>
              <a:rPr lang="en-US" dirty="0" smtClean="0"/>
              <a:t>. The three lists contain </a:t>
            </a:r>
            <a:r>
              <a:rPr lang="en-US" dirty="0" smtClean="0">
                <a:solidFill>
                  <a:srgbClr val="FF0000"/>
                </a:solidFill>
              </a:rPr>
              <a:t>23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15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19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possible projects</a:t>
            </a:r>
            <a:r>
              <a:rPr lang="en-US" dirty="0" smtClean="0"/>
              <a:t>, respectively. </a:t>
            </a:r>
          </a:p>
          <a:p>
            <a:endParaRPr lang="en-US" dirty="0" smtClean="0"/>
          </a:p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FF0000"/>
                </a:solidFill>
              </a:rPr>
              <a:t>possible projects</a:t>
            </a:r>
            <a:r>
              <a:rPr lang="en-US" dirty="0" smtClean="0"/>
              <a:t> are there to choose from?</a:t>
            </a: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23</a:t>
            </a:r>
            <a:r>
              <a:rPr lang="en-US" dirty="0" smtClean="0"/>
              <a:t> choices are in </a:t>
            </a:r>
            <a:r>
              <a:rPr lang="en-US" dirty="0" smtClean="0">
                <a:solidFill>
                  <a:srgbClr val="FF0000"/>
                </a:solidFill>
              </a:rPr>
              <a:t>first list</a:t>
            </a:r>
            <a:r>
              <a:rPr lang="en-US" dirty="0" smtClean="0"/>
              <a:t>,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15</a:t>
            </a:r>
            <a:r>
              <a:rPr lang="en-US" dirty="0" smtClean="0"/>
              <a:t> choices are in </a:t>
            </a:r>
            <a:r>
              <a:rPr lang="en-US" dirty="0" smtClean="0">
                <a:solidFill>
                  <a:srgbClr val="FF0000"/>
                </a:solidFill>
              </a:rPr>
              <a:t>second list</a:t>
            </a:r>
            <a:r>
              <a:rPr lang="en-US" dirty="0" smtClean="0"/>
              <a:t>,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19</a:t>
            </a:r>
            <a:r>
              <a:rPr lang="en-US" dirty="0" smtClean="0"/>
              <a:t> choices are in </a:t>
            </a:r>
            <a:r>
              <a:rPr lang="en-US" dirty="0" smtClean="0">
                <a:solidFill>
                  <a:srgbClr val="FF0000"/>
                </a:solidFill>
              </a:rPr>
              <a:t>third list</a:t>
            </a:r>
            <a:r>
              <a:rPr lang="en-US" dirty="0" smtClean="0"/>
              <a:t>. Hence, there are </a:t>
            </a:r>
          </a:p>
          <a:p>
            <a:pPr>
              <a:buNone/>
            </a:pPr>
            <a:r>
              <a:rPr lang="en-US" dirty="0" smtClean="0"/>
              <a:t>	So, we have total number of choices </a:t>
            </a:r>
          </a:p>
          <a:p>
            <a:pPr>
              <a:buNone/>
            </a:pPr>
            <a:r>
              <a:rPr lang="en-US" dirty="0" smtClean="0"/>
              <a:t>		= </a:t>
            </a:r>
            <a:r>
              <a:rPr lang="en-US" dirty="0" smtClean="0">
                <a:solidFill>
                  <a:srgbClr val="FF0000"/>
                </a:solidFill>
              </a:rPr>
              <a:t>23 + 15 + 19 = </a:t>
            </a:r>
            <a:r>
              <a:rPr lang="en-US" dirty="0" smtClean="0">
                <a:solidFill>
                  <a:srgbClr val="0070C0"/>
                </a:solidFill>
              </a:rPr>
              <a:t>57</a:t>
            </a:r>
            <a:r>
              <a:rPr lang="en-US" dirty="0" smtClean="0"/>
              <a:t>  projects to choose from.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GENERALIZED SUM RULE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one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ways,</a:t>
            </a:r>
          </a:p>
          <a:p>
            <a:pPr>
              <a:buNone/>
            </a:pPr>
            <a:r>
              <a:rPr lang="en-US" dirty="0" smtClean="0"/>
              <a:t>	a </a:t>
            </a:r>
            <a:r>
              <a:rPr lang="en-US" dirty="0" smtClean="0">
                <a:solidFill>
                  <a:srgbClr val="FF0000"/>
                </a:solidFill>
              </a:rPr>
              <a:t>second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ways,</a:t>
            </a:r>
          </a:p>
          <a:p>
            <a:pPr>
              <a:buNone/>
            </a:pPr>
            <a:r>
              <a:rPr lang="en-US" dirty="0" smtClean="0"/>
              <a:t>	a </a:t>
            </a:r>
            <a:r>
              <a:rPr lang="en-US" dirty="0" smtClean="0">
                <a:solidFill>
                  <a:srgbClr val="FF0000"/>
                </a:solidFill>
              </a:rPr>
              <a:t>third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ways,</a:t>
            </a:r>
          </a:p>
          <a:p>
            <a:pPr>
              <a:buNone/>
            </a:pPr>
            <a:r>
              <a:rPr lang="en-US" dirty="0" smtClean="0"/>
              <a:t>	……………………………………..</a:t>
            </a:r>
          </a:p>
          <a:p>
            <a:pPr>
              <a:buNone/>
            </a:pPr>
            <a:r>
              <a:rPr lang="en-US" dirty="0" smtClean="0"/>
              <a:t>	 then there are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+ 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 + n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 + …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ways in which </a:t>
            </a:r>
            <a:r>
              <a:rPr lang="en-US" dirty="0" smtClean="0">
                <a:solidFill>
                  <a:srgbClr val="FF0000"/>
                </a:solidFill>
              </a:rPr>
              <a:t>exactly one</a:t>
            </a:r>
            <a:r>
              <a:rPr lang="en-US" dirty="0" smtClean="0"/>
              <a:t> of the events can occur.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RULE IN TERMS OF SETS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A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…, A</a:t>
            </a:r>
            <a:r>
              <a:rPr lang="en-US" baseline="-25000" dirty="0" smtClean="0">
                <a:solidFill>
                  <a:srgbClr val="FF0000"/>
                </a:solidFill>
              </a:rPr>
              <a:t>m</a:t>
            </a:r>
            <a:r>
              <a:rPr lang="en-US" baseline="-25000" dirty="0" smtClean="0"/>
              <a:t>  </a:t>
            </a:r>
            <a:r>
              <a:rPr lang="en-US" dirty="0" smtClean="0"/>
              <a:t>are </a:t>
            </a:r>
            <a:r>
              <a:rPr lang="en-US" dirty="0" smtClean="0">
                <a:solidFill>
                  <a:srgbClr val="FF0000"/>
                </a:solidFill>
              </a:rPr>
              <a:t>finite disjoint sets</a:t>
            </a:r>
            <a:r>
              <a:rPr lang="en-US" dirty="0" smtClean="0"/>
              <a:t>, then the number of </a:t>
            </a:r>
            <a:r>
              <a:rPr lang="en-US" dirty="0" smtClean="0">
                <a:solidFill>
                  <a:srgbClr val="FF0000"/>
                </a:solidFill>
              </a:rPr>
              <a:t>elements</a:t>
            </a:r>
            <a:r>
              <a:rPr lang="en-US" dirty="0" smtClean="0"/>
              <a:t> in the </a:t>
            </a:r>
            <a:r>
              <a:rPr lang="en-US" dirty="0" smtClean="0">
                <a:solidFill>
                  <a:srgbClr val="FF0000"/>
                </a:solidFill>
              </a:rPr>
              <a:t>union</a:t>
            </a:r>
            <a:r>
              <a:rPr lang="en-US" dirty="0" smtClean="0"/>
              <a:t> of these sets is the </a:t>
            </a:r>
            <a:r>
              <a:rPr lang="en-US" dirty="0" smtClean="0">
                <a:solidFill>
                  <a:srgbClr val="FF0000"/>
                </a:solidFill>
              </a:rPr>
              <a:t>sum</a:t>
            </a:r>
            <a:r>
              <a:rPr lang="en-US" dirty="0" smtClean="0"/>
              <a:t> of the number of elements in them.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n(A</a:t>
            </a:r>
            <a:r>
              <a:rPr lang="en-US" baseline="-25000" dirty="0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denotes the </a:t>
            </a:r>
            <a:r>
              <a:rPr lang="en-US" dirty="0" smtClean="0">
                <a:solidFill>
                  <a:srgbClr val="FF0000"/>
                </a:solidFill>
              </a:rPr>
              <a:t>number of elements</a:t>
            </a:r>
            <a:r>
              <a:rPr lang="en-US" dirty="0" smtClean="0"/>
              <a:t> in set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, then</a:t>
            </a:r>
          </a:p>
          <a:p>
            <a:pPr>
              <a:buNone/>
            </a:pPr>
            <a:endParaRPr lang="en-US" dirty="0" smtClean="0"/>
          </a:p>
          <a:p>
            <a:r>
              <a:rPr lang="pt-BR" dirty="0" smtClean="0">
                <a:solidFill>
                  <a:srgbClr val="FF0000"/>
                </a:solidFill>
              </a:rPr>
              <a:t>n(A</a:t>
            </a:r>
            <a:r>
              <a:rPr lang="pt-BR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</a:t>
            </a:r>
            <a:r>
              <a:rPr lang="pt-BR" dirty="0" smtClean="0">
                <a:solidFill>
                  <a:srgbClr val="FF0000"/>
                </a:solidFill>
              </a:rPr>
              <a:t>A</a:t>
            </a:r>
            <a:r>
              <a:rPr lang="pt-BR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</a:t>
            </a:r>
            <a:r>
              <a:rPr lang="pt-BR" dirty="0" smtClean="0">
                <a:solidFill>
                  <a:srgbClr val="FF0000"/>
                </a:solidFill>
              </a:rPr>
              <a:t> …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</a:t>
            </a:r>
            <a:r>
              <a:rPr lang="pt-BR" dirty="0" smtClean="0">
                <a:solidFill>
                  <a:srgbClr val="FF0000"/>
                </a:solidFill>
              </a:rPr>
              <a:t>A</a:t>
            </a:r>
            <a:r>
              <a:rPr lang="pt-BR" baseline="-25000" dirty="0" smtClean="0">
                <a:solidFill>
                  <a:srgbClr val="FF0000"/>
                </a:solidFill>
              </a:rPr>
              <a:t>m</a:t>
            </a:r>
            <a:r>
              <a:rPr lang="pt-BR" dirty="0" smtClean="0">
                <a:solidFill>
                  <a:srgbClr val="FF0000"/>
                </a:solidFill>
              </a:rPr>
              <a:t>) = n(A</a:t>
            </a:r>
            <a:r>
              <a:rPr lang="pt-BR" baseline="-25000" dirty="0" smtClean="0">
                <a:solidFill>
                  <a:srgbClr val="FF0000"/>
                </a:solidFill>
              </a:rPr>
              <a:t>1</a:t>
            </a:r>
            <a:r>
              <a:rPr lang="pt-BR" dirty="0" smtClean="0">
                <a:solidFill>
                  <a:srgbClr val="FF0000"/>
                </a:solidFill>
              </a:rPr>
              <a:t>) + n(A</a:t>
            </a:r>
            <a:r>
              <a:rPr lang="pt-BR" baseline="-25000" dirty="0" smtClean="0">
                <a:solidFill>
                  <a:srgbClr val="FF0000"/>
                </a:solidFill>
              </a:rPr>
              <a:t>2</a:t>
            </a:r>
            <a:r>
              <a:rPr lang="pt-BR" dirty="0" smtClean="0">
                <a:solidFill>
                  <a:srgbClr val="FF0000"/>
                </a:solidFill>
              </a:rPr>
              <a:t>) + … + n(A</a:t>
            </a:r>
            <a:r>
              <a:rPr lang="pt-BR" baseline="-25000" dirty="0" smtClean="0">
                <a:solidFill>
                  <a:srgbClr val="FF0000"/>
                </a:solidFill>
              </a:rPr>
              <a:t>m</a:t>
            </a:r>
            <a:r>
              <a:rPr lang="pt-BR" dirty="0" smtClean="0">
                <a:solidFill>
                  <a:srgbClr val="FF0000"/>
                </a:solidFill>
              </a:rPr>
              <a:t>)</a:t>
            </a:r>
            <a:r>
              <a:rPr lang="pt-BR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where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i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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j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</a:t>
            </a:r>
            <a:r>
              <a:rPr lang="en-US" dirty="0" smtClean="0"/>
              <a:t>    if  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</a:t>
            </a:r>
            <a:r>
              <a:rPr lang="en-US" dirty="0" smtClean="0"/>
              <a:t> j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Suppose</a:t>
            </a:r>
          </a:p>
          <a:p>
            <a:pPr>
              <a:buNone/>
            </a:pPr>
            <a:r>
              <a:rPr lang="en-US" dirty="0" smtClean="0"/>
              <a:t>	There are </a:t>
            </a:r>
            <a:r>
              <a:rPr lang="en-US" dirty="0" smtClean="0">
                <a:solidFill>
                  <a:srgbClr val="FF0000"/>
                </a:solidFill>
              </a:rPr>
              <a:t>7</a:t>
            </a:r>
            <a:r>
              <a:rPr lang="en-US" dirty="0" smtClean="0"/>
              <a:t> different optional courses in</a:t>
            </a:r>
            <a:r>
              <a:rPr lang="en-US" dirty="0" smtClean="0">
                <a:solidFill>
                  <a:srgbClr val="FF0000"/>
                </a:solidFill>
              </a:rPr>
              <a:t> Computer Science</a:t>
            </a:r>
            <a:r>
              <a:rPr lang="en-US" dirty="0" smtClean="0"/>
              <a:t> and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different optional courses in </a:t>
            </a:r>
            <a:r>
              <a:rPr lang="en-US" dirty="0" smtClean="0">
                <a:solidFill>
                  <a:srgbClr val="FF0000"/>
                </a:solidFill>
              </a:rPr>
              <a:t>Mathematics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A student who wants to take one optional course of each subject, there are: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FF0000"/>
                </a:solidFill>
              </a:rPr>
              <a:t>7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3 = 21 </a:t>
            </a:r>
            <a:r>
              <a:rPr lang="en-US" dirty="0" smtClean="0"/>
              <a:t>        choices.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PRODUCT RULE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one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ways and if for each of these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ways, a </a:t>
            </a:r>
            <a:r>
              <a:rPr lang="en-US" dirty="0" smtClean="0">
                <a:solidFill>
                  <a:srgbClr val="FF0000"/>
                </a:solidFill>
              </a:rPr>
              <a:t>second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ways.</a:t>
            </a:r>
          </a:p>
          <a:p>
            <a:endParaRPr lang="en-US" dirty="0" smtClean="0"/>
          </a:p>
          <a:p>
            <a:r>
              <a:rPr lang="en-US" dirty="0" smtClean="0"/>
              <a:t>Then the total number of ways in which both events occur is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·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chairs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FF0000"/>
                </a:solidFill>
              </a:rPr>
              <a:t>auditorium</a:t>
            </a:r>
            <a:r>
              <a:rPr lang="en-US" dirty="0" smtClean="0"/>
              <a:t> are to be labeled with </a:t>
            </a:r>
            <a:r>
              <a:rPr lang="en-US" dirty="0" smtClean="0">
                <a:solidFill>
                  <a:srgbClr val="FF0000"/>
                </a:solidFill>
              </a:rPr>
              <a:t>two characters</a:t>
            </a:r>
            <a:r>
              <a:rPr lang="en-US" dirty="0" smtClean="0"/>
              <a:t>, a </a:t>
            </a:r>
            <a:r>
              <a:rPr lang="en-US" dirty="0" smtClean="0">
                <a:solidFill>
                  <a:srgbClr val="FF0000"/>
                </a:solidFill>
              </a:rPr>
              <a:t>letter</a:t>
            </a:r>
            <a:r>
              <a:rPr lang="en-US" dirty="0" smtClean="0"/>
              <a:t> followed by a </a:t>
            </a:r>
            <a:r>
              <a:rPr lang="en-US" dirty="0" smtClean="0">
                <a:solidFill>
                  <a:srgbClr val="FF0000"/>
                </a:solidFill>
              </a:rPr>
              <a:t>digit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FF0000"/>
                </a:solidFill>
              </a:rPr>
              <a:t>largest 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chairs</a:t>
            </a:r>
            <a:r>
              <a:rPr lang="en-US" dirty="0" smtClean="0"/>
              <a:t> that can be labeled differently?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procedure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labeling</a:t>
            </a:r>
            <a:r>
              <a:rPr lang="en-US" dirty="0" smtClean="0"/>
              <a:t> a chair consists of </a:t>
            </a:r>
            <a:r>
              <a:rPr lang="en-US" dirty="0" smtClean="0">
                <a:solidFill>
                  <a:srgbClr val="FF0000"/>
                </a:solidFill>
              </a:rPr>
              <a:t>two events</a:t>
            </a:r>
            <a:r>
              <a:rPr lang="en-US" dirty="0" smtClean="0"/>
              <a:t>, namely,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Assigning one of the </a:t>
            </a:r>
            <a:r>
              <a:rPr lang="en-US" dirty="0" smtClean="0">
                <a:solidFill>
                  <a:srgbClr val="FF0000"/>
                </a:solidFill>
              </a:rPr>
              <a:t>26 letters</a:t>
            </a:r>
            <a:r>
              <a:rPr lang="en-US" dirty="0" smtClean="0"/>
              <a:t>:  A, B, C, …, Z and</a:t>
            </a:r>
          </a:p>
          <a:p>
            <a:pPr>
              <a:buNone/>
            </a:pPr>
            <a:r>
              <a:rPr lang="en-US" dirty="0" smtClean="0"/>
              <a:t>	Assigning one of the </a:t>
            </a:r>
            <a:r>
              <a:rPr lang="en-US" dirty="0" smtClean="0">
                <a:solidFill>
                  <a:srgbClr val="FF0000"/>
                </a:solidFill>
              </a:rPr>
              <a:t>10 digits</a:t>
            </a:r>
            <a:r>
              <a:rPr lang="en-US" dirty="0" smtClean="0"/>
              <a:t>:  0, 1, 2, …, 9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By </a:t>
            </a:r>
            <a:r>
              <a:rPr lang="en-US" dirty="0" smtClean="0">
                <a:solidFill>
                  <a:srgbClr val="FF0000"/>
                </a:solidFill>
              </a:rPr>
              <a:t>product rule</a:t>
            </a:r>
            <a:r>
              <a:rPr lang="en-US" dirty="0" smtClean="0"/>
              <a:t>, there are   26 </a:t>
            </a:r>
            <a:r>
              <a:rPr lang="en-US" dirty="0" smtClean="0">
                <a:sym typeface="Symbol"/>
              </a:rPr>
              <a:t></a:t>
            </a:r>
            <a:r>
              <a:rPr lang="en-US" dirty="0" smtClean="0"/>
              <a:t> 10 = </a:t>
            </a:r>
            <a:r>
              <a:rPr lang="en-US" dirty="0" smtClean="0">
                <a:solidFill>
                  <a:srgbClr val="FF0000"/>
                </a:solidFill>
              </a:rPr>
              <a:t>260</a:t>
            </a:r>
            <a:r>
              <a:rPr lang="en-US" dirty="0" smtClean="0"/>
              <a:t> different ways that a </a:t>
            </a:r>
            <a:r>
              <a:rPr lang="en-US" dirty="0" smtClean="0">
                <a:solidFill>
                  <a:srgbClr val="FF0000"/>
                </a:solidFill>
              </a:rPr>
              <a:t>chair</a:t>
            </a:r>
            <a:r>
              <a:rPr lang="en-US" dirty="0" smtClean="0"/>
              <a:t> can be </a:t>
            </a:r>
            <a:r>
              <a:rPr lang="en-US" dirty="0" smtClean="0">
                <a:solidFill>
                  <a:srgbClr val="FF0000"/>
                </a:solidFill>
              </a:rPr>
              <a:t>labeled</a:t>
            </a:r>
            <a:r>
              <a:rPr lang="en-US" dirty="0" smtClean="0"/>
              <a:t> by both a </a:t>
            </a:r>
            <a:r>
              <a:rPr lang="en-US" dirty="0" smtClean="0">
                <a:solidFill>
                  <a:srgbClr val="FF0000"/>
                </a:solidFill>
              </a:rPr>
              <a:t>letter</a:t>
            </a:r>
            <a:r>
              <a:rPr lang="en-US" dirty="0" smtClean="0"/>
              <a:t> and a </a:t>
            </a:r>
            <a:r>
              <a:rPr lang="en-US" dirty="0" smtClean="0">
                <a:solidFill>
                  <a:srgbClr val="FF0000"/>
                </a:solidFill>
              </a:rPr>
              <a:t>digit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GENERALIZED PRODUCT RULE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some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different ways, and if, following this event, a </a:t>
            </a:r>
            <a:r>
              <a:rPr lang="en-US" dirty="0" smtClean="0">
                <a:solidFill>
                  <a:srgbClr val="FF0000"/>
                </a:solidFill>
              </a:rPr>
              <a:t>second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different ways, and following this </a:t>
            </a:r>
            <a:r>
              <a:rPr lang="en-US" dirty="0" smtClean="0">
                <a:solidFill>
                  <a:srgbClr val="FF0000"/>
                </a:solidFill>
              </a:rPr>
              <a:t>second event</a:t>
            </a:r>
            <a:r>
              <a:rPr lang="en-US" dirty="0" smtClean="0"/>
              <a:t>, a </a:t>
            </a:r>
            <a:r>
              <a:rPr lang="en-US" dirty="0" smtClean="0">
                <a:solidFill>
                  <a:srgbClr val="FF0000"/>
                </a:solidFill>
              </a:rPr>
              <a:t>third event</a:t>
            </a:r>
            <a:r>
              <a:rPr lang="en-US" dirty="0" smtClean="0"/>
              <a:t> can occur in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different ways, …, then the number of ways all the </a:t>
            </a:r>
            <a:r>
              <a:rPr lang="en-US" dirty="0" smtClean="0">
                <a:solidFill>
                  <a:srgbClr val="FF0000"/>
                </a:solidFill>
              </a:rPr>
              <a:t>events</a:t>
            </a:r>
            <a:r>
              <a:rPr lang="en-US" dirty="0" smtClean="0"/>
              <a:t> can occur in the order indicated is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· 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· 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b="1" dirty="0" smtClean="0">
                <a:solidFill>
                  <a:srgbClr val="FF0000"/>
                </a:solidFill>
              </a:rPr>
              <a:t>· </a:t>
            </a:r>
            <a:r>
              <a:rPr lang="en-US" dirty="0" smtClean="0">
                <a:solidFill>
                  <a:srgbClr val="FF0000"/>
                </a:solidFill>
              </a:rPr>
              <a:t>…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PRODUCT RULE IN TERMS OF SETS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A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…, A</a:t>
            </a:r>
            <a:r>
              <a:rPr lang="en-US" baseline="-25000" dirty="0" smtClean="0">
                <a:solidFill>
                  <a:srgbClr val="FF0000"/>
                </a:solidFill>
              </a:rPr>
              <a:t>m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finite sets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FF0000"/>
                </a:solidFill>
              </a:rPr>
              <a:t>number</a:t>
            </a:r>
            <a:r>
              <a:rPr lang="en-US" dirty="0" smtClean="0"/>
              <a:t> of elements in the </a:t>
            </a:r>
            <a:r>
              <a:rPr lang="en-US" dirty="0" smtClean="0">
                <a:solidFill>
                  <a:srgbClr val="FF0000"/>
                </a:solidFill>
              </a:rPr>
              <a:t>Cartesian product</a:t>
            </a:r>
            <a:r>
              <a:rPr lang="en-US" dirty="0" smtClean="0"/>
              <a:t> of these sets is the </a:t>
            </a:r>
            <a:r>
              <a:rPr lang="en-US" dirty="0" smtClean="0">
                <a:solidFill>
                  <a:srgbClr val="FF0000"/>
                </a:solidFill>
              </a:rPr>
              <a:t>product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number</a:t>
            </a:r>
            <a:r>
              <a:rPr lang="en-US" dirty="0" smtClean="0"/>
              <a:t> of elements in each set. 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n(A</a:t>
            </a:r>
            <a:r>
              <a:rPr lang="en-US" baseline="-25000" dirty="0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denotes the </a:t>
            </a:r>
            <a:r>
              <a:rPr lang="en-US" dirty="0" smtClean="0">
                <a:solidFill>
                  <a:srgbClr val="FF0000"/>
                </a:solidFill>
              </a:rPr>
              <a:t>number of elements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set A</a:t>
            </a:r>
            <a:r>
              <a:rPr lang="en-US" baseline="-25000" dirty="0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, 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pt-BR" dirty="0" smtClean="0"/>
              <a:t>		</a:t>
            </a:r>
            <a:r>
              <a:rPr lang="pt-BR" dirty="0" smtClean="0">
                <a:solidFill>
                  <a:srgbClr val="FF0000"/>
                </a:solidFill>
              </a:rPr>
              <a:t>n(A</a:t>
            </a:r>
            <a:r>
              <a:rPr lang="pt-BR" baseline="-25000" dirty="0" smtClean="0">
                <a:solidFill>
                  <a:srgbClr val="FF0000"/>
                </a:solidFill>
              </a:rPr>
              <a:t>1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pt-BR" dirty="0" smtClean="0">
                <a:solidFill>
                  <a:srgbClr val="FF0000"/>
                </a:solidFill>
              </a:rPr>
              <a:t> A</a:t>
            </a:r>
            <a:r>
              <a:rPr lang="pt-BR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pt-BR" dirty="0" smtClean="0">
                <a:solidFill>
                  <a:srgbClr val="FF0000"/>
                </a:solidFill>
              </a:rPr>
              <a:t> …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pt-BR" dirty="0" smtClean="0">
                <a:solidFill>
                  <a:srgbClr val="FF0000"/>
                </a:solidFill>
              </a:rPr>
              <a:t>A</a:t>
            </a:r>
            <a:r>
              <a:rPr lang="pt-BR" baseline="-25000" dirty="0" smtClean="0">
                <a:solidFill>
                  <a:srgbClr val="FF0000"/>
                </a:solidFill>
              </a:rPr>
              <a:t>m</a:t>
            </a:r>
            <a:r>
              <a:rPr lang="pt-BR" dirty="0" smtClean="0">
                <a:solidFill>
                  <a:srgbClr val="FF0000"/>
                </a:solidFill>
              </a:rPr>
              <a:t>) =  n(A</a:t>
            </a:r>
            <a:r>
              <a:rPr lang="pt-BR" baseline="-25000" dirty="0" smtClean="0">
                <a:solidFill>
                  <a:srgbClr val="FF0000"/>
                </a:solidFill>
              </a:rPr>
              <a:t>1</a:t>
            </a:r>
            <a:r>
              <a:rPr lang="pt-BR" dirty="0" smtClean="0">
                <a:solidFill>
                  <a:srgbClr val="FF0000"/>
                </a:solidFill>
              </a:rPr>
              <a:t>)</a:t>
            </a:r>
            <a:r>
              <a:rPr lang="pt-BR" b="1" dirty="0" smtClean="0">
                <a:solidFill>
                  <a:srgbClr val="FF0000"/>
                </a:solidFill>
              </a:rPr>
              <a:t>· </a:t>
            </a:r>
            <a:r>
              <a:rPr lang="pt-BR" dirty="0" smtClean="0">
                <a:solidFill>
                  <a:srgbClr val="FF0000"/>
                </a:solidFill>
              </a:rPr>
              <a:t>n(A</a:t>
            </a:r>
            <a:r>
              <a:rPr lang="pt-BR" baseline="-25000" dirty="0" smtClean="0">
                <a:solidFill>
                  <a:srgbClr val="FF0000"/>
                </a:solidFill>
              </a:rPr>
              <a:t>2</a:t>
            </a:r>
            <a:r>
              <a:rPr lang="pt-BR" dirty="0" smtClean="0">
                <a:solidFill>
                  <a:srgbClr val="FF0000"/>
                </a:solidFill>
              </a:rPr>
              <a:t>)</a:t>
            </a:r>
            <a:r>
              <a:rPr lang="pt-BR" b="1" dirty="0" smtClean="0">
                <a:solidFill>
                  <a:srgbClr val="FF0000"/>
                </a:solidFill>
              </a:rPr>
              <a:t>· </a:t>
            </a:r>
            <a:r>
              <a:rPr lang="pt-BR" dirty="0" smtClean="0">
                <a:solidFill>
                  <a:srgbClr val="FF0000"/>
                </a:solidFill>
              </a:rPr>
              <a:t>…</a:t>
            </a:r>
            <a:r>
              <a:rPr lang="pt-BR" b="1" dirty="0" smtClean="0">
                <a:solidFill>
                  <a:srgbClr val="FF0000"/>
                </a:solidFill>
              </a:rPr>
              <a:t>· </a:t>
            </a:r>
            <a:r>
              <a:rPr lang="pt-BR" dirty="0" smtClean="0">
                <a:solidFill>
                  <a:srgbClr val="FF0000"/>
                </a:solidFill>
              </a:rPr>
              <a:t>n(A</a:t>
            </a:r>
            <a:r>
              <a:rPr lang="pt-BR" baseline="-25000" dirty="0" smtClean="0">
                <a:solidFill>
                  <a:srgbClr val="FF0000"/>
                </a:solidFill>
              </a:rPr>
              <a:t>m</a:t>
            </a:r>
            <a:r>
              <a:rPr lang="pt-BR" dirty="0" smtClean="0">
                <a:solidFill>
                  <a:srgbClr val="FF0000"/>
                </a:solidFill>
              </a:rPr>
              <a:t>)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FF0000"/>
                </a:solidFill>
              </a:rPr>
              <a:t>number n</a:t>
            </a:r>
            <a:r>
              <a:rPr lang="en-US" dirty="0" smtClean="0"/>
              <a:t> of ways that an organization consisting of </a:t>
            </a:r>
            <a:r>
              <a:rPr lang="en-US" dirty="0" smtClean="0">
                <a:solidFill>
                  <a:srgbClr val="FF0000"/>
                </a:solidFill>
              </a:rPr>
              <a:t>15 members</a:t>
            </a:r>
            <a:r>
              <a:rPr lang="en-US" dirty="0" smtClean="0"/>
              <a:t> can elect a </a:t>
            </a:r>
            <a:r>
              <a:rPr lang="en-US" dirty="0" smtClean="0">
                <a:solidFill>
                  <a:srgbClr val="FF0000"/>
                </a:solidFill>
              </a:rPr>
              <a:t>president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treasurer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FF0000"/>
                </a:solidFill>
              </a:rPr>
              <a:t>secretary</a:t>
            </a:r>
            <a:r>
              <a:rPr lang="en-US" dirty="0" smtClean="0"/>
              <a:t>. (assuming no person is elected to more than one position)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FF0000"/>
                </a:solidFill>
              </a:rPr>
              <a:t>president</a:t>
            </a:r>
            <a:r>
              <a:rPr lang="en-US" dirty="0" smtClean="0"/>
              <a:t> can be elected in </a:t>
            </a:r>
            <a:r>
              <a:rPr lang="en-US" dirty="0" smtClean="0">
                <a:solidFill>
                  <a:srgbClr val="FF0000"/>
                </a:solidFill>
              </a:rPr>
              <a:t>15 different ways</a:t>
            </a:r>
            <a:r>
              <a:rPr lang="en-US" dirty="0" smtClean="0"/>
              <a:t>; </a:t>
            </a: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FF0000"/>
                </a:solidFill>
              </a:rPr>
              <a:t>treasurer</a:t>
            </a:r>
            <a:r>
              <a:rPr lang="en-US" dirty="0" smtClean="0"/>
              <a:t> can be elected in </a:t>
            </a:r>
            <a:r>
              <a:rPr lang="en-US" dirty="0" smtClean="0">
                <a:solidFill>
                  <a:srgbClr val="FF0000"/>
                </a:solidFill>
              </a:rPr>
              <a:t>14 different ways</a:t>
            </a:r>
            <a:r>
              <a:rPr lang="en-US" dirty="0" smtClean="0"/>
              <a:t>;  </a:t>
            </a: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FF0000"/>
                </a:solidFill>
              </a:rPr>
              <a:t>secretary </a:t>
            </a:r>
            <a:r>
              <a:rPr lang="en-US" dirty="0" smtClean="0"/>
              <a:t>can be elected in </a:t>
            </a:r>
            <a:r>
              <a:rPr lang="en-US" dirty="0" smtClean="0">
                <a:solidFill>
                  <a:srgbClr val="FF0000"/>
                </a:solidFill>
              </a:rPr>
              <a:t>13 different ways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Thus, by product rule, there are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FF0000"/>
                </a:solidFill>
              </a:rPr>
              <a:t>n = 15 x 14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13 = 2730</a:t>
            </a:r>
          </a:p>
          <a:p>
            <a:pPr>
              <a:buNone/>
            </a:pPr>
            <a:r>
              <a:rPr lang="en-US" dirty="0" smtClean="0"/>
              <a:t>	different ways in which the organization can elect the officers.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There are </a:t>
            </a:r>
            <a:r>
              <a:rPr lang="en-US" dirty="0" smtClean="0">
                <a:solidFill>
                  <a:srgbClr val="FF0000"/>
                </a:solidFill>
              </a:rPr>
              <a:t>four bus lines</a:t>
            </a:r>
            <a:r>
              <a:rPr lang="en-US" dirty="0" smtClean="0"/>
              <a:t> between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; and </a:t>
            </a:r>
            <a:r>
              <a:rPr lang="en-US" dirty="0" smtClean="0">
                <a:solidFill>
                  <a:srgbClr val="FF0000"/>
                </a:solidFill>
              </a:rPr>
              <a:t>three bus lines</a:t>
            </a:r>
            <a:r>
              <a:rPr lang="en-US" dirty="0" smtClean="0"/>
              <a:t> between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Find the number of ways a person can travel: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(a) By bus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 by way of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(b) </a:t>
            </a:r>
            <a:r>
              <a:rPr lang="en-US" dirty="0" smtClean="0">
                <a:solidFill>
                  <a:srgbClr val="FF0000"/>
                </a:solidFill>
              </a:rPr>
              <a:t>Round trip</a:t>
            </a:r>
            <a:r>
              <a:rPr lang="en-US" dirty="0" smtClean="0"/>
              <a:t> by bus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 by way of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(c) </a:t>
            </a:r>
            <a:r>
              <a:rPr lang="en-US" dirty="0" smtClean="0">
                <a:solidFill>
                  <a:srgbClr val="FF0000"/>
                </a:solidFill>
              </a:rPr>
              <a:t>Round trip</a:t>
            </a:r>
            <a:r>
              <a:rPr lang="en-US" dirty="0" smtClean="0"/>
              <a:t> by bus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 by way of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, if the  </a:t>
            </a:r>
          </a:p>
          <a:p>
            <a:pPr>
              <a:buNone/>
            </a:pPr>
            <a:r>
              <a:rPr lang="en-US" dirty="0" smtClean="0"/>
              <a:t>        person does not want to use a </a:t>
            </a:r>
            <a:r>
              <a:rPr lang="en-US" dirty="0" smtClean="0">
                <a:solidFill>
                  <a:srgbClr val="FF0000"/>
                </a:solidFill>
              </a:rPr>
              <a:t>bus line</a:t>
            </a:r>
            <a:r>
              <a:rPr lang="en-US" dirty="0" smtClean="0"/>
              <a:t> more than   </a:t>
            </a:r>
          </a:p>
          <a:p>
            <a:pPr>
              <a:buNone/>
            </a:pPr>
            <a:r>
              <a:rPr lang="en-US" dirty="0" smtClean="0"/>
              <a:t>        once.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(a)</a:t>
            </a:r>
            <a:r>
              <a:rPr lang="en-US" dirty="0" smtClean="0"/>
              <a:t> There are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ways to go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ways to go from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; </a:t>
            </a:r>
          </a:p>
          <a:p>
            <a:pPr>
              <a:buNone/>
            </a:pPr>
            <a:r>
              <a:rPr lang="en-US" dirty="0" smtClean="0"/>
              <a:t>	hence there are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4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3 = 12</a:t>
            </a:r>
            <a:r>
              <a:rPr lang="en-US" dirty="0" smtClean="0"/>
              <a:t>  ways to go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 by way of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(b)</a:t>
            </a:r>
            <a:r>
              <a:rPr lang="en-US" dirty="0" smtClean="0"/>
              <a:t> The person will travel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for the round trip.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i.e</a:t>
            </a:r>
            <a:r>
              <a:rPr lang="en-US" dirty="0" smtClean="0"/>
              <a:t> 	   </a:t>
            </a:r>
            <a:r>
              <a:rPr lang="en-US" dirty="0" smtClean="0">
                <a:solidFill>
                  <a:srgbClr val="FF0000"/>
                </a:solidFill>
              </a:rPr>
              <a:t>(A →B →C →B →A)</a:t>
            </a:r>
          </a:p>
          <a:p>
            <a:pPr>
              <a:buNone/>
            </a:pPr>
            <a:r>
              <a:rPr lang="en-US" dirty="0" smtClean="0"/>
              <a:t>	The person can travel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ways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way from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back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i.e.,	 </a:t>
            </a:r>
          </a:p>
          <a:p>
            <a:pPr>
              <a:buNone/>
            </a:pPr>
            <a:r>
              <a:rPr lang="en-US" dirty="0" smtClean="0"/>
              <a:t>	Thus there are </a:t>
            </a:r>
            <a:r>
              <a:rPr lang="en-US" dirty="0" smtClean="0">
                <a:solidFill>
                  <a:srgbClr val="FF0000"/>
                </a:solidFill>
              </a:rPr>
              <a:t>4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3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3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4 = 144</a:t>
            </a:r>
            <a:r>
              <a:rPr lang="en-US" dirty="0" smtClean="0"/>
              <a:t> ways to travel the round trip.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195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558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779600" y="4876799"/>
          <a:ext cx="2773684" cy="533401"/>
        </p:xfrm>
        <a:graphic>
          <a:graphicData uri="http://schemas.openxmlformats.org/presentationml/2006/ole">
            <p:oleObj spid="_x0000_s195586" r:id="rId3" imgW="1308100" imgH="279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(c)</a:t>
            </a:r>
            <a:r>
              <a:rPr lang="en-US" dirty="0" smtClean="0"/>
              <a:t> The person can travel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ways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ways from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, but only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ways from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ways from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Since bus line cannot be used more than once. Thus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i.e.,	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 there are </a:t>
            </a:r>
            <a:r>
              <a:rPr lang="en-US" dirty="0" smtClean="0">
                <a:solidFill>
                  <a:srgbClr val="FF0000"/>
                </a:solidFill>
              </a:rPr>
              <a:t>4 x 3 x 2 x 3 = 72</a:t>
            </a:r>
            <a:r>
              <a:rPr lang="en-US" dirty="0" smtClean="0"/>
              <a:t> ways to travel the round trip without using a bus line more than once.</a:t>
            </a:r>
          </a:p>
          <a:p>
            <a:endParaRPr lang="en-US" dirty="0"/>
          </a:p>
        </p:txBody>
      </p:sp>
      <p:sp>
        <p:nvSpPr>
          <p:cNvPr id="2109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667000" y="3810000"/>
          <a:ext cx="2667000" cy="533400"/>
        </p:xfrm>
        <a:graphic>
          <a:graphicData uri="http://schemas.openxmlformats.org/presentationml/2006/ole">
            <p:oleObj spid="_x0000_s210946" r:id="rId3" imgW="1308100" imgH="279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FF0000"/>
                </a:solidFill>
              </a:rPr>
              <a:t>bit strings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length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(</a:t>
            </a:r>
            <a:r>
              <a:rPr lang="en-US" dirty="0" err="1" smtClean="0"/>
              <a:t>i</a:t>
            </a:r>
            <a:r>
              <a:rPr lang="en-US" dirty="0" smtClean="0"/>
              <a:t>)  </a:t>
            </a:r>
            <a:r>
              <a:rPr lang="en-US" dirty="0" smtClean="0">
                <a:solidFill>
                  <a:srgbClr val="FF0000"/>
                </a:solidFill>
              </a:rPr>
              <a:t>begin</a:t>
            </a:r>
            <a:r>
              <a:rPr lang="en-US" dirty="0" smtClean="0"/>
              <a:t> with a </a:t>
            </a:r>
            <a:r>
              <a:rPr lang="en-US" dirty="0" smtClean="0">
                <a:solidFill>
                  <a:srgbClr val="FF0000"/>
                </a:solidFill>
              </a:rPr>
              <a:t>“1”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dirty="0" smtClean="0"/>
              <a:t>   (ii) </a:t>
            </a:r>
            <a:r>
              <a:rPr lang="en-US" dirty="0" smtClean="0">
                <a:solidFill>
                  <a:srgbClr val="FF0000"/>
                </a:solidFill>
              </a:rPr>
              <a:t>begin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end</a:t>
            </a:r>
            <a:r>
              <a:rPr lang="en-US" dirty="0" smtClean="0"/>
              <a:t> with a </a:t>
            </a:r>
            <a:r>
              <a:rPr lang="en-US" dirty="0" smtClean="0">
                <a:solidFill>
                  <a:srgbClr val="FF0000"/>
                </a:solidFill>
              </a:rPr>
              <a:t>“1”</a:t>
            </a:r>
            <a:r>
              <a:rPr lang="en-US" dirty="0" smtClean="0"/>
              <a:t>?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(</a:t>
            </a:r>
            <a:r>
              <a:rPr lang="en-US" b="1" dirty="0" err="1" smtClean="0">
                <a:solidFill>
                  <a:srgbClr val="0070C0"/>
                </a:solidFill>
              </a:rPr>
              <a:t>i</a:t>
            </a:r>
            <a:r>
              <a:rPr lang="en-US" b="1" dirty="0" smtClean="0">
                <a:solidFill>
                  <a:srgbClr val="0070C0"/>
                </a:solidFill>
              </a:rPr>
              <a:t>)</a:t>
            </a:r>
            <a:r>
              <a:rPr lang="en-US" dirty="0" smtClean="0"/>
              <a:t> If the </a:t>
            </a:r>
            <a:r>
              <a:rPr lang="en-US" dirty="0" smtClean="0">
                <a:solidFill>
                  <a:srgbClr val="FF0000"/>
                </a:solidFill>
              </a:rPr>
              <a:t>first bit</a:t>
            </a:r>
            <a:r>
              <a:rPr lang="en-US" dirty="0" smtClean="0"/>
              <a:t> (left most bit) is a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then it can be filled in only one way.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Each of the </a:t>
            </a:r>
            <a:r>
              <a:rPr lang="en-US" dirty="0" smtClean="0">
                <a:solidFill>
                  <a:srgbClr val="FF0000"/>
                </a:solidFill>
              </a:rPr>
              <a:t>remaining seven positions</a:t>
            </a:r>
            <a:r>
              <a:rPr lang="en-US" dirty="0" smtClean="0"/>
              <a:t> in the </a:t>
            </a:r>
            <a:r>
              <a:rPr lang="en-US" dirty="0" smtClean="0">
                <a:solidFill>
                  <a:srgbClr val="FF0000"/>
                </a:solidFill>
              </a:rPr>
              <a:t>bit string</a:t>
            </a:r>
            <a:r>
              <a:rPr lang="en-US" dirty="0" smtClean="0"/>
              <a:t> can be filled in </a:t>
            </a:r>
            <a:r>
              <a:rPr lang="en-US" dirty="0" smtClean="0">
                <a:solidFill>
                  <a:srgbClr val="FF0000"/>
                </a:solidFill>
              </a:rPr>
              <a:t>2 ways</a:t>
            </a:r>
            <a:r>
              <a:rPr lang="en-US" dirty="0" smtClean="0"/>
              <a:t> (i.e., either by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Hence, </a:t>
            </a:r>
          </a:p>
          <a:p>
            <a:pPr>
              <a:buNone/>
            </a:pPr>
            <a:r>
              <a:rPr lang="en-US" dirty="0" smtClean="0"/>
              <a:t>	there are   </a:t>
            </a:r>
            <a:r>
              <a:rPr lang="en-US" dirty="0" smtClean="0">
                <a:solidFill>
                  <a:srgbClr val="FF0000"/>
                </a:solidFill>
              </a:rPr>
              <a:t>1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= 2</a:t>
            </a:r>
            <a:r>
              <a:rPr lang="en-US" baseline="30000" dirty="0" smtClean="0">
                <a:solidFill>
                  <a:srgbClr val="FF0000"/>
                </a:solidFill>
              </a:rPr>
              <a:t>7</a:t>
            </a:r>
            <a:r>
              <a:rPr lang="en-US" dirty="0" smtClean="0">
                <a:solidFill>
                  <a:srgbClr val="FF0000"/>
                </a:solidFill>
              </a:rPr>
              <a:t> = 128</a:t>
            </a:r>
            <a:r>
              <a:rPr lang="en-US" dirty="0" smtClean="0"/>
              <a:t> different </a:t>
            </a:r>
            <a:r>
              <a:rPr lang="en-US" dirty="0" smtClean="0">
                <a:solidFill>
                  <a:srgbClr val="FF0000"/>
                </a:solidFill>
              </a:rPr>
              <a:t>bit strings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length 8</a:t>
            </a:r>
            <a:r>
              <a:rPr lang="en-US" dirty="0" smtClean="0"/>
              <a:t> that </a:t>
            </a:r>
            <a:r>
              <a:rPr lang="en-US" dirty="0" smtClean="0">
                <a:solidFill>
                  <a:srgbClr val="FF0000"/>
                </a:solidFill>
              </a:rPr>
              <a:t>begin</a:t>
            </a:r>
            <a:r>
              <a:rPr lang="en-US" dirty="0" smtClean="0"/>
              <a:t> with a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(ii)</a:t>
            </a:r>
            <a:r>
              <a:rPr lang="en-US" b="1" dirty="0" smtClean="0"/>
              <a:t> </a:t>
            </a:r>
            <a:r>
              <a:rPr lang="en-US" dirty="0" smtClean="0"/>
              <a:t>If the </a:t>
            </a:r>
            <a:r>
              <a:rPr lang="en-US" dirty="0" smtClean="0">
                <a:solidFill>
                  <a:srgbClr val="FF0000"/>
                </a:solidFill>
              </a:rPr>
              <a:t>first</a:t>
            </a:r>
            <a:r>
              <a:rPr lang="en-US" dirty="0" smtClean="0"/>
              <a:t> and</a:t>
            </a:r>
            <a:r>
              <a:rPr lang="en-US" dirty="0" smtClean="0">
                <a:solidFill>
                  <a:srgbClr val="FF0000"/>
                </a:solidFill>
              </a:rPr>
              <a:t> last bit</a:t>
            </a:r>
            <a:r>
              <a:rPr lang="en-US" dirty="0" smtClean="0"/>
              <a:t> in an </a:t>
            </a:r>
            <a:r>
              <a:rPr lang="en-US" dirty="0" smtClean="0">
                <a:solidFill>
                  <a:srgbClr val="FF0000"/>
                </a:solidFill>
              </a:rPr>
              <a:t>8 bit</a:t>
            </a:r>
            <a:r>
              <a:rPr lang="en-US" dirty="0" smtClean="0"/>
              <a:t> string is a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then only the</a:t>
            </a:r>
            <a:r>
              <a:rPr lang="en-US" dirty="0" smtClean="0">
                <a:solidFill>
                  <a:srgbClr val="FF0000"/>
                </a:solidFill>
              </a:rPr>
              <a:t> intermediate six bits</a:t>
            </a:r>
            <a:r>
              <a:rPr lang="en-US" dirty="0" smtClean="0"/>
              <a:t> can be filled in </a:t>
            </a:r>
            <a:r>
              <a:rPr lang="en-US" dirty="0" smtClean="0">
                <a:solidFill>
                  <a:srgbClr val="FF0000"/>
                </a:solidFill>
              </a:rPr>
              <a:t>2 ways</a:t>
            </a:r>
            <a:r>
              <a:rPr lang="en-US" dirty="0" smtClean="0"/>
              <a:t>, i.e. by a 0 or 1.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Hence there are  </a:t>
            </a:r>
            <a:r>
              <a:rPr lang="en-US" dirty="0" smtClean="0">
                <a:solidFill>
                  <a:srgbClr val="FF0000"/>
                </a:solidFill>
              </a:rPr>
              <a:t>1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 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 </a:t>
            </a:r>
            <a:r>
              <a:rPr lang="en-US" dirty="0" smtClean="0">
                <a:solidFill>
                  <a:srgbClr val="FF0000"/>
                </a:solidFill>
              </a:rPr>
              <a:t>1 = 2</a:t>
            </a:r>
            <a:r>
              <a:rPr lang="en-US" baseline="30000" dirty="0" smtClean="0">
                <a:solidFill>
                  <a:srgbClr val="FF0000"/>
                </a:solidFill>
              </a:rPr>
              <a:t>6</a:t>
            </a:r>
            <a:r>
              <a:rPr lang="en-US" dirty="0" smtClean="0">
                <a:solidFill>
                  <a:srgbClr val="FF0000"/>
                </a:solidFill>
              </a:rPr>
              <a:t> = 64</a:t>
            </a:r>
          </a:p>
          <a:p>
            <a:pPr>
              <a:buNone/>
            </a:pPr>
            <a:r>
              <a:rPr lang="en-US" dirty="0" smtClean="0"/>
              <a:t>	different bit strings of </a:t>
            </a:r>
            <a:r>
              <a:rPr lang="en-US" dirty="0" smtClean="0">
                <a:solidFill>
                  <a:srgbClr val="FF0000"/>
                </a:solidFill>
              </a:rPr>
              <a:t>length 8</a:t>
            </a:r>
            <a:r>
              <a:rPr lang="en-US" dirty="0" smtClean="0"/>
              <a:t> that </a:t>
            </a:r>
            <a:r>
              <a:rPr lang="en-US" dirty="0" smtClean="0">
                <a:solidFill>
                  <a:srgbClr val="FF0000"/>
                </a:solidFill>
              </a:rPr>
              <a:t>begin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end</a:t>
            </a:r>
            <a:r>
              <a:rPr lang="en-US" dirty="0" smtClean="0"/>
              <a:t> with a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Suppose that an </a:t>
            </a:r>
            <a:r>
              <a:rPr lang="en-US" dirty="0" smtClean="0">
                <a:solidFill>
                  <a:srgbClr val="FF0000"/>
                </a:solidFill>
              </a:rPr>
              <a:t>automobile license plate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three letters</a:t>
            </a:r>
            <a:r>
              <a:rPr lang="en-US" dirty="0" smtClean="0"/>
              <a:t> followed by </a:t>
            </a:r>
            <a:r>
              <a:rPr lang="en-US" dirty="0" smtClean="0">
                <a:solidFill>
                  <a:srgbClr val="FF0000"/>
                </a:solidFill>
              </a:rPr>
              <a:t>three digits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FF0000"/>
                </a:solidFill>
              </a:rPr>
              <a:t>different license plates</a:t>
            </a:r>
            <a:r>
              <a:rPr lang="en-US" dirty="0" smtClean="0"/>
              <a:t> are possible?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Each of the </a:t>
            </a:r>
            <a:r>
              <a:rPr lang="en-US" dirty="0" smtClean="0">
                <a:solidFill>
                  <a:srgbClr val="FF0000"/>
                </a:solidFill>
              </a:rPr>
              <a:t>three letters</a:t>
            </a:r>
            <a:r>
              <a:rPr lang="en-US" dirty="0" smtClean="0"/>
              <a:t> can be written in </a:t>
            </a:r>
            <a:r>
              <a:rPr lang="en-US" dirty="0" smtClean="0">
                <a:solidFill>
                  <a:srgbClr val="FF0000"/>
                </a:solidFill>
              </a:rPr>
              <a:t>26 different ways</a:t>
            </a:r>
            <a:r>
              <a:rPr lang="en-US" dirty="0" smtClean="0"/>
              <a:t>, and each of the </a:t>
            </a:r>
            <a:r>
              <a:rPr lang="en-US" dirty="0" smtClean="0">
                <a:solidFill>
                  <a:srgbClr val="FF0000"/>
                </a:solidFill>
              </a:rPr>
              <a:t>three digits</a:t>
            </a:r>
            <a:r>
              <a:rPr lang="en-US" dirty="0" smtClean="0"/>
              <a:t> can be written in </a:t>
            </a:r>
            <a:r>
              <a:rPr lang="en-US" dirty="0" smtClean="0">
                <a:solidFill>
                  <a:srgbClr val="FF0000"/>
                </a:solidFill>
              </a:rPr>
              <a:t>10 different ways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Hence, by the product rule, there is a total of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26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26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26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10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10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10 = 17,576,000</a:t>
            </a:r>
          </a:p>
          <a:p>
            <a:pPr>
              <a:buNone/>
            </a:pPr>
            <a:r>
              <a:rPr lang="en-US" dirty="0" smtClean="0"/>
              <a:t>		different license plates possible.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69988" name="Group 4"/>
          <p:cNvGraphicFramePr>
            <a:graphicFrameLocks noGrp="1"/>
          </p:cNvGraphicFramePr>
          <p:nvPr/>
        </p:nvGraphicFramePr>
        <p:xfrm>
          <a:off x="1941972" y="3015694"/>
          <a:ext cx="5486400" cy="3810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0004" name="Line 20"/>
          <p:cNvSpPr>
            <a:spLocks noChangeShapeType="1"/>
          </p:cNvSpPr>
          <p:nvPr/>
        </p:nvSpPr>
        <p:spPr bwMode="auto">
          <a:xfrm>
            <a:off x="2018172" y="2887107"/>
            <a:ext cx="838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005" name="Line 21"/>
          <p:cNvSpPr>
            <a:spLocks noChangeShapeType="1"/>
          </p:cNvSpPr>
          <p:nvPr/>
        </p:nvSpPr>
        <p:spPr bwMode="auto">
          <a:xfrm>
            <a:off x="3770772" y="2887107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006" name="Line 22"/>
          <p:cNvSpPr>
            <a:spLocks noChangeShapeType="1"/>
          </p:cNvSpPr>
          <p:nvPr/>
        </p:nvSpPr>
        <p:spPr bwMode="auto">
          <a:xfrm>
            <a:off x="4685172" y="2877582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007" name="Line 23"/>
          <p:cNvSpPr>
            <a:spLocks noChangeShapeType="1"/>
          </p:cNvSpPr>
          <p:nvPr/>
        </p:nvSpPr>
        <p:spPr bwMode="auto">
          <a:xfrm>
            <a:off x="6513972" y="2887107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008" name="AutoShape 24"/>
          <p:cNvSpPr>
            <a:spLocks/>
          </p:cNvSpPr>
          <p:nvPr/>
        </p:nvSpPr>
        <p:spPr bwMode="auto">
          <a:xfrm rot="-5400000">
            <a:off x="3161172" y="2291794"/>
            <a:ext cx="228600" cy="2667000"/>
          </a:xfrm>
          <a:prstGeom prst="leftBrace">
            <a:avLst>
              <a:gd name="adj1" fmla="val 9722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009" name="AutoShape 25"/>
          <p:cNvSpPr>
            <a:spLocks/>
          </p:cNvSpPr>
          <p:nvPr/>
        </p:nvSpPr>
        <p:spPr bwMode="auto">
          <a:xfrm rot="-5400000">
            <a:off x="5942472" y="2329894"/>
            <a:ext cx="228600" cy="2590800"/>
          </a:xfrm>
          <a:prstGeom prst="leftBrace">
            <a:avLst>
              <a:gd name="adj1" fmla="val 9444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010" name="Text Box 26"/>
          <p:cNvSpPr txBox="1">
            <a:spLocks noChangeArrowheads="1"/>
          </p:cNvSpPr>
          <p:nvPr/>
        </p:nvSpPr>
        <p:spPr bwMode="auto">
          <a:xfrm>
            <a:off x="2751597" y="3739594"/>
            <a:ext cx="12096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26 ways each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0011" name="Text Box 27"/>
          <p:cNvSpPr txBox="1">
            <a:spLocks noChangeArrowheads="1"/>
          </p:cNvSpPr>
          <p:nvPr/>
        </p:nvSpPr>
        <p:spPr bwMode="auto">
          <a:xfrm>
            <a:off x="5624972" y="3739594"/>
            <a:ext cx="12319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10 ways each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0012" name="Text Box 28"/>
          <p:cNvSpPr txBox="1">
            <a:spLocks noChangeArrowheads="1"/>
          </p:cNvSpPr>
          <p:nvPr/>
        </p:nvSpPr>
        <p:spPr bwMode="auto">
          <a:xfrm>
            <a:off x="2980197" y="2710894"/>
            <a:ext cx="7524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letters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0013" name="Text Box 29"/>
          <p:cNvSpPr txBox="1">
            <a:spLocks noChangeArrowheads="1"/>
          </p:cNvSpPr>
          <p:nvPr/>
        </p:nvSpPr>
        <p:spPr bwMode="auto">
          <a:xfrm>
            <a:off x="5828172" y="2710894"/>
            <a:ext cx="6477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digits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(b) How many license plates could begin with A and end on  </a:t>
            </a:r>
          </a:p>
          <a:p>
            <a:pPr>
              <a:buNone/>
            </a:pPr>
            <a:r>
              <a:rPr lang="en-US" dirty="0" smtClean="0"/>
              <a:t>     0?</a:t>
            </a:r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FF0000"/>
                </a:solidFill>
              </a:rPr>
              <a:t>first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last place</a:t>
            </a:r>
            <a:r>
              <a:rPr lang="en-US" dirty="0" smtClean="0"/>
              <a:t> can be filled in 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way only, while each of </a:t>
            </a:r>
            <a:r>
              <a:rPr lang="en-US" dirty="0" smtClean="0">
                <a:solidFill>
                  <a:srgbClr val="FF0000"/>
                </a:solidFill>
              </a:rPr>
              <a:t>second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third place</a:t>
            </a:r>
            <a:r>
              <a:rPr lang="en-US" dirty="0" smtClean="0"/>
              <a:t> can be filled in </a:t>
            </a:r>
            <a:r>
              <a:rPr lang="en-US" dirty="0" smtClean="0">
                <a:solidFill>
                  <a:srgbClr val="FF0000"/>
                </a:solidFill>
              </a:rPr>
              <a:t>26 ways</a:t>
            </a:r>
            <a:r>
              <a:rPr lang="en-US" dirty="0" smtClean="0"/>
              <a:t> and each of </a:t>
            </a:r>
            <a:r>
              <a:rPr lang="en-US" dirty="0" smtClean="0">
                <a:solidFill>
                  <a:srgbClr val="FF0000"/>
                </a:solidFill>
              </a:rPr>
              <a:t>fourth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fifth place</a:t>
            </a:r>
            <a:r>
              <a:rPr lang="en-US" dirty="0" smtClean="0"/>
              <a:t> can be filled in </a:t>
            </a:r>
            <a:r>
              <a:rPr lang="en-US" dirty="0" smtClean="0">
                <a:solidFill>
                  <a:srgbClr val="FF0000"/>
                </a:solidFill>
              </a:rPr>
              <a:t>10 ways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Number of license plates that </a:t>
            </a:r>
            <a:r>
              <a:rPr lang="en-US" dirty="0" smtClean="0">
                <a:solidFill>
                  <a:srgbClr val="FF0000"/>
                </a:solidFill>
              </a:rPr>
              <a:t>begin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end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1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26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26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10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10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1 = 67600</a:t>
            </a:r>
          </a:p>
          <a:p>
            <a:endParaRPr lang="en-US" dirty="0"/>
          </a:p>
        </p:txBody>
      </p:sp>
      <p:sp>
        <p:nvSpPr>
          <p:cNvPr id="168963" name="Line 3"/>
          <p:cNvSpPr>
            <a:spLocks noChangeShapeType="1"/>
          </p:cNvSpPr>
          <p:nvPr/>
        </p:nvSpPr>
        <p:spPr bwMode="auto">
          <a:xfrm>
            <a:off x="1862138" y="4267200"/>
            <a:ext cx="5486400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64" name="Text Box 4"/>
          <p:cNvSpPr txBox="1">
            <a:spLocks noChangeArrowheads="1"/>
          </p:cNvSpPr>
          <p:nvPr/>
        </p:nvSpPr>
        <p:spPr bwMode="auto">
          <a:xfrm>
            <a:off x="2895600" y="3886200"/>
            <a:ext cx="838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letters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5773738" y="3880512"/>
            <a:ext cx="779462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digits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8966" name="Line 6"/>
          <p:cNvSpPr>
            <a:spLocks noChangeShapeType="1"/>
          </p:cNvSpPr>
          <p:nvPr/>
        </p:nvSpPr>
        <p:spPr bwMode="auto">
          <a:xfrm>
            <a:off x="1938338" y="4038600"/>
            <a:ext cx="838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67" name="Line 7"/>
          <p:cNvSpPr>
            <a:spLocks noChangeShapeType="1"/>
          </p:cNvSpPr>
          <p:nvPr/>
        </p:nvSpPr>
        <p:spPr bwMode="auto">
          <a:xfrm>
            <a:off x="3690938" y="4038600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68" name="Line 8"/>
          <p:cNvSpPr>
            <a:spLocks noChangeShapeType="1"/>
          </p:cNvSpPr>
          <p:nvPr/>
        </p:nvSpPr>
        <p:spPr bwMode="auto">
          <a:xfrm>
            <a:off x="4605338" y="40386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69" name="Line 9"/>
          <p:cNvSpPr>
            <a:spLocks noChangeShapeType="1"/>
          </p:cNvSpPr>
          <p:nvPr/>
        </p:nvSpPr>
        <p:spPr bwMode="auto">
          <a:xfrm>
            <a:off x="6434138" y="4038600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70" name="AutoShape 10"/>
          <p:cNvSpPr>
            <a:spLocks/>
          </p:cNvSpPr>
          <p:nvPr/>
        </p:nvSpPr>
        <p:spPr bwMode="auto">
          <a:xfrm rot="-5400000">
            <a:off x="3500438" y="4000500"/>
            <a:ext cx="304800" cy="1752600"/>
          </a:xfrm>
          <a:prstGeom prst="leftBrace">
            <a:avLst>
              <a:gd name="adj1" fmla="val 479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71" name="AutoShape 11"/>
          <p:cNvSpPr>
            <a:spLocks/>
          </p:cNvSpPr>
          <p:nvPr/>
        </p:nvSpPr>
        <p:spPr bwMode="auto">
          <a:xfrm rot="-5400000">
            <a:off x="5405438" y="3924300"/>
            <a:ext cx="304800" cy="1752600"/>
          </a:xfrm>
          <a:prstGeom prst="leftBrace">
            <a:avLst>
              <a:gd name="adj1" fmla="val 479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72" name="Text Box 12"/>
          <p:cNvSpPr txBox="1">
            <a:spLocks noChangeArrowheads="1"/>
          </p:cNvSpPr>
          <p:nvPr/>
        </p:nvSpPr>
        <p:spPr bwMode="auto">
          <a:xfrm>
            <a:off x="3102946" y="5105400"/>
            <a:ext cx="12620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26 ways each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8973" name="Text Box 13"/>
          <p:cNvSpPr txBox="1">
            <a:spLocks noChangeArrowheads="1"/>
          </p:cNvSpPr>
          <p:nvPr/>
        </p:nvSpPr>
        <p:spPr bwMode="auto">
          <a:xfrm>
            <a:off x="4987924" y="5067300"/>
            <a:ext cx="11842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10 ways each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8974" name="Text Box 14"/>
          <p:cNvSpPr txBox="1">
            <a:spLocks noChangeArrowheads="1"/>
          </p:cNvSpPr>
          <p:nvPr/>
        </p:nvSpPr>
        <p:spPr bwMode="auto">
          <a:xfrm>
            <a:off x="1752600" y="5067300"/>
            <a:ext cx="9144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one way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8975" name="Line 15"/>
          <p:cNvSpPr>
            <a:spLocks noChangeShapeType="1"/>
          </p:cNvSpPr>
          <p:nvPr/>
        </p:nvSpPr>
        <p:spPr bwMode="auto">
          <a:xfrm>
            <a:off x="2166938" y="4651044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76" name="Text Box 16"/>
          <p:cNvSpPr txBox="1">
            <a:spLocks noChangeArrowheads="1"/>
          </p:cNvSpPr>
          <p:nvPr/>
        </p:nvSpPr>
        <p:spPr bwMode="auto">
          <a:xfrm>
            <a:off x="6359856" y="5078104"/>
            <a:ext cx="9699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one way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8977" name="Line 17"/>
          <p:cNvSpPr>
            <a:spLocks noChangeShapeType="1"/>
          </p:cNvSpPr>
          <p:nvPr/>
        </p:nvSpPr>
        <p:spPr bwMode="auto">
          <a:xfrm>
            <a:off x="6815138" y="4651044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78" name="Line 18"/>
          <p:cNvSpPr>
            <a:spLocks noChangeShapeType="1"/>
          </p:cNvSpPr>
          <p:nvPr/>
        </p:nvSpPr>
        <p:spPr bwMode="auto">
          <a:xfrm>
            <a:off x="1864056" y="4643656"/>
            <a:ext cx="5486400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79" name="Rectangle 19"/>
          <p:cNvSpPr>
            <a:spLocks noChangeArrowheads="1"/>
          </p:cNvSpPr>
          <p:nvPr/>
        </p:nvSpPr>
        <p:spPr bwMode="auto">
          <a:xfrm>
            <a:off x="1828800" y="4253552"/>
            <a:ext cx="9144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cs typeface="Arial" pitchFamily="34" charset="0"/>
              </a:rPr>
              <a:t>A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8980" name="Line 20"/>
          <p:cNvSpPr>
            <a:spLocks noChangeShapeType="1"/>
          </p:cNvSpPr>
          <p:nvPr/>
        </p:nvSpPr>
        <p:spPr bwMode="auto">
          <a:xfrm>
            <a:off x="1890712" y="4640262"/>
            <a:ext cx="5486400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81" name="Line 21"/>
          <p:cNvSpPr>
            <a:spLocks noChangeShapeType="1"/>
          </p:cNvSpPr>
          <p:nvPr/>
        </p:nvSpPr>
        <p:spPr bwMode="auto">
          <a:xfrm>
            <a:off x="1862777" y="4297362"/>
            <a:ext cx="14287" cy="350838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82" name="Line 22"/>
          <p:cNvSpPr>
            <a:spLocks noChangeShapeType="1"/>
          </p:cNvSpPr>
          <p:nvPr/>
        </p:nvSpPr>
        <p:spPr bwMode="auto">
          <a:xfrm>
            <a:off x="2790825" y="4297362"/>
            <a:ext cx="14287" cy="3508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83" name="Line 23"/>
          <p:cNvSpPr>
            <a:spLocks noChangeShapeType="1"/>
          </p:cNvSpPr>
          <p:nvPr/>
        </p:nvSpPr>
        <p:spPr bwMode="auto">
          <a:xfrm>
            <a:off x="3705225" y="4297362"/>
            <a:ext cx="14287" cy="3508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84" name="Line 24"/>
          <p:cNvSpPr>
            <a:spLocks noChangeShapeType="1"/>
          </p:cNvSpPr>
          <p:nvPr/>
        </p:nvSpPr>
        <p:spPr bwMode="auto">
          <a:xfrm>
            <a:off x="4619625" y="4291012"/>
            <a:ext cx="14287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85" name="Line 25"/>
          <p:cNvSpPr>
            <a:spLocks noChangeShapeType="1"/>
          </p:cNvSpPr>
          <p:nvPr/>
        </p:nvSpPr>
        <p:spPr bwMode="auto">
          <a:xfrm>
            <a:off x="5534025" y="4297362"/>
            <a:ext cx="14287" cy="3508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86" name="Line 26"/>
          <p:cNvSpPr>
            <a:spLocks noChangeShapeType="1"/>
          </p:cNvSpPr>
          <p:nvPr/>
        </p:nvSpPr>
        <p:spPr bwMode="auto">
          <a:xfrm>
            <a:off x="6448425" y="4297362"/>
            <a:ext cx="14287" cy="3508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87" name="Line 27"/>
          <p:cNvSpPr>
            <a:spLocks noChangeShapeType="1"/>
          </p:cNvSpPr>
          <p:nvPr/>
        </p:nvSpPr>
        <p:spPr bwMode="auto">
          <a:xfrm>
            <a:off x="7363464" y="4283714"/>
            <a:ext cx="14288" cy="350838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997" name="Rectangle 37"/>
          <p:cNvSpPr>
            <a:spLocks noChangeArrowheads="1"/>
          </p:cNvSpPr>
          <p:nvPr/>
        </p:nvSpPr>
        <p:spPr bwMode="auto">
          <a:xfrm>
            <a:off x="6463352" y="4267200"/>
            <a:ext cx="9144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0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variable name</a:t>
            </a:r>
            <a:r>
              <a:rPr lang="en-US" dirty="0" smtClean="0"/>
              <a:t> in a programming language must be either a </a:t>
            </a:r>
            <a:r>
              <a:rPr lang="en-US" dirty="0" smtClean="0">
                <a:solidFill>
                  <a:srgbClr val="FF0000"/>
                </a:solidFill>
              </a:rPr>
              <a:t>letter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0000"/>
                </a:solidFill>
              </a:rPr>
              <a:t>letter</a:t>
            </a:r>
            <a:r>
              <a:rPr lang="en-US" dirty="0" smtClean="0"/>
              <a:t> followed by a </a:t>
            </a:r>
            <a:r>
              <a:rPr lang="en-US" dirty="0" smtClean="0">
                <a:solidFill>
                  <a:srgbClr val="FF0000"/>
                </a:solidFill>
              </a:rPr>
              <a:t>digit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FF0000"/>
                </a:solidFill>
              </a:rPr>
              <a:t>different variable names</a:t>
            </a:r>
            <a:r>
              <a:rPr lang="en-US" dirty="0" smtClean="0"/>
              <a:t> are possible?</a:t>
            </a:r>
            <a:endParaRPr 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First consider </a:t>
            </a:r>
            <a:r>
              <a:rPr lang="en-US" dirty="0" smtClean="0">
                <a:solidFill>
                  <a:srgbClr val="FF0000"/>
                </a:solidFill>
              </a:rPr>
              <a:t>variable</a:t>
            </a:r>
            <a:r>
              <a:rPr lang="en-US" dirty="0" smtClean="0"/>
              <a:t> names </a:t>
            </a:r>
            <a:r>
              <a:rPr lang="en-US" dirty="0" smtClean="0">
                <a:solidFill>
                  <a:srgbClr val="FF0000"/>
                </a:solidFill>
              </a:rPr>
              <a:t>one character</a:t>
            </a:r>
            <a:r>
              <a:rPr lang="en-US" dirty="0" smtClean="0"/>
              <a:t> in length.</a:t>
            </a:r>
          </a:p>
          <a:p>
            <a:r>
              <a:rPr lang="en-US" dirty="0" smtClean="0"/>
              <a:t>Since such names consist of a </a:t>
            </a:r>
            <a:r>
              <a:rPr lang="en-US" dirty="0" smtClean="0">
                <a:solidFill>
                  <a:srgbClr val="FF0000"/>
                </a:solidFill>
              </a:rPr>
              <a:t>single letter</a:t>
            </a:r>
            <a:r>
              <a:rPr lang="en-US" dirty="0" smtClean="0"/>
              <a:t>, there are </a:t>
            </a:r>
            <a:r>
              <a:rPr lang="en-US" dirty="0" smtClean="0">
                <a:solidFill>
                  <a:srgbClr val="FF0000"/>
                </a:solidFill>
              </a:rPr>
              <a:t>26 variable names</a:t>
            </a:r>
            <a:r>
              <a:rPr lang="en-US" dirty="0" smtClean="0"/>
              <a:t> of length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Next, consider </a:t>
            </a:r>
            <a:r>
              <a:rPr lang="en-US" dirty="0" smtClean="0">
                <a:solidFill>
                  <a:srgbClr val="FF0000"/>
                </a:solidFill>
              </a:rPr>
              <a:t>variable</a:t>
            </a:r>
            <a:r>
              <a:rPr lang="en-US" dirty="0" smtClean="0"/>
              <a:t> names </a:t>
            </a:r>
            <a:r>
              <a:rPr lang="en-US" dirty="0" smtClean="0">
                <a:solidFill>
                  <a:srgbClr val="FF0000"/>
                </a:solidFill>
              </a:rPr>
              <a:t>two characters</a:t>
            </a:r>
            <a:r>
              <a:rPr lang="en-US" dirty="0" smtClean="0"/>
              <a:t> in length. </a:t>
            </a:r>
          </a:p>
          <a:p>
            <a:pPr>
              <a:buNone/>
            </a:pPr>
            <a:r>
              <a:rPr lang="en-US" dirty="0" smtClean="0"/>
              <a:t>	Since the </a:t>
            </a:r>
            <a:r>
              <a:rPr lang="en-US" dirty="0" smtClean="0">
                <a:solidFill>
                  <a:srgbClr val="FF0000"/>
                </a:solidFill>
              </a:rPr>
              <a:t>first character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letter</a:t>
            </a:r>
            <a:r>
              <a:rPr lang="en-US" dirty="0" smtClean="0"/>
              <a:t>, there are </a:t>
            </a:r>
            <a:r>
              <a:rPr lang="en-US" dirty="0" smtClean="0">
                <a:solidFill>
                  <a:srgbClr val="FF0000"/>
                </a:solidFill>
              </a:rPr>
              <a:t>26</a:t>
            </a:r>
            <a:r>
              <a:rPr lang="en-US" dirty="0" smtClean="0"/>
              <a:t> ways to choose it. The </a:t>
            </a:r>
            <a:r>
              <a:rPr lang="en-US" dirty="0" smtClean="0">
                <a:solidFill>
                  <a:srgbClr val="FF0000"/>
                </a:solidFill>
              </a:rPr>
              <a:t>second character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digit</a:t>
            </a:r>
            <a:r>
              <a:rPr lang="en-US" dirty="0" smtClean="0"/>
              <a:t>, there are </a:t>
            </a:r>
            <a:r>
              <a:rPr lang="en-US" dirty="0" smtClean="0">
                <a:solidFill>
                  <a:srgbClr val="FF0000"/>
                </a:solidFill>
              </a:rPr>
              <a:t>10</a:t>
            </a:r>
            <a:r>
              <a:rPr lang="en-US" dirty="0" smtClean="0"/>
              <a:t> ways to choose it. </a:t>
            </a:r>
          </a:p>
          <a:p>
            <a:pPr>
              <a:buNone/>
            </a:pPr>
            <a:r>
              <a:rPr lang="en-US" dirty="0" smtClean="0"/>
              <a:t>	Hence, to construct </a:t>
            </a:r>
            <a:r>
              <a:rPr lang="en-US" dirty="0" smtClean="0">
                <a:solidFill>
                  <a:srgbClr val="FF0000"/>
                </a:solidFill>
              </a:rPr>
              <a:t>variable name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two characters</a:t>
            </a:r>
            <a:r>
              <a:rPr lang="en-US" dirty="0" smtClean="0"/>
              <a:t> in length, there are </a:t>
            </a:r>
            <a:r>
              <a:rPr lang="en-US" dirty="0" smtClean="0">
                <a:solidFill>
                  <a:srgbClr val="FF0000"/>
                </a:solidFill>
              </a:rPr>
              <a:t>26 </a:t>
            </a:r>
            <a:r>
              <a:rPr lang="en-US" dirty="0" smtClean="0">
                <a:solidFill>
                  <a:srgbClr val="FF0000"/>
                </a:solidFill>
                <a:sym typeface="Times New Roman"/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10 = 260 ways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Finally, by sum rule, there are </a:t>
            </a:r>
            <a:r>
              <a:rPr lang="en-US" dirty="0" smtClean="0">
                <a:solidFill>
                  <a:srgbClr val="FF0000"/>
                </a:solidFill>
              </a:rPr>
              <a:t>26 + 260 = 286</a:t>
            </a:r>
            <a:r>
              <a:rPr lang="en-US" dirty="0" smtClean="0"/>
              <a:t> possible </a:t>
            </a:r>
            <a:r>
              <a:rPr lang="en-US" dirty="0" smtClean="0">
                <a:solidFill>
                  <a:srgbClr val="FF0000"/>
                </a:solidFill>
              </a:rPr>
              <a:t>variable names</a:t>
            </a:r>
            <a:r>
              <a:rPr lang="en-US" dirty="0" smtClean="0"/>
              <a:t> in the programming language.</a:t>
            </a:r>
          </a:p>
          <a:p>
            <a:endParaRPr lang="pt-BR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 A computer </a:t>
            </a:r>
            <a:r>
              <a:rPr lang="en-US" dirty="0" smtClean="0">
                <a:solidFill>
                  <a:srgbClr val="FF0000"/>
                </a:solidFill>
              </a:rPr>
              <a:t>access code</a:t>
            </a:r>
            <a:r>
              <a:rPr lang="en-US" dirty="0" smtClean="0"/>
              <a:t> word consists of from 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three</a:t>
            </a:r>
            <a:r>
              <a:rPr lang="en-US" dirty="0" smtClean="0"/>
              <a:t> letters of </a:t>
            </a:r>
            <a:r>
              <a:rPr lang="en-US" dirty="0" smtClean="0">
                <a:solidFill>
                  <a:srgbClr val="FF0000"/>
                </a:solidFill>
              </a:rPr>
              <a:t>English</a:t>
            </a:r>
            <a:r>
              <a:rPr lang="en-US" dirty="0" smtClean="0"/>
              <a:t> alphabets with </a:t>
            </a:r>
            <a:r>
              <a:rPr lang="en-US" dirty="0" smtClean="0">
                <a:solidFill>
                  <a:srgbClr val="FF0000"/>
                </a:solidFill>
              </a:rPr>
              <a:t>repetitions</a:t>
            </a:r>
            <a:r>
              <a:rPr lang="en-US" dirty="0" smtClean="0"/>
              <a:t> allowed.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FF0000"/>
                </a:solidFill>
              </a:rPr>
              <a:t>different code</a:t>
            </a:r>
            <a:r>
              <a:rPr lang="en-US" dirty="0" smtClean="0"/>
              <a:t> words are possible.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Number of code</a:t>
            </a:r>
            <a:r>
              <a:rPr lang="en-US" dirty="0" smtClean="0"/>
              <a:t> words of length 1 = </a:t>
            </a:r>
            <a:r>
              <a:rPr lang="en-US" dirty="0" smtClean="0">
                <a:solidFill>
                  <a:srgbClr val="FF0000"/>
                </a:solidFill>
              </a:rPr>
              <a:t>26</a:t>
            </a:r>
            <a:r>
              <a:rPr lang="en-US" baseline="30000" dirty="0" smtClean="0">
                <a:solidFill>
                  <a:srgbClr val="FF0000"/>
                </a:solidFill>
              </a:rPr>
              <a:t>1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Number of code</a:t>
            </a:r>
            <a:r>
              <a:rPr lang="en-US" dirty="0" smtClean="0"/>
              <a:t> words of length 2 = </a:t>
            </a:r>
            <a:r>
              <a:rPr lang="en-US" dirty="0" smtClean="0">
                <a:solidFill>
                  <a:srgbClr val="FF0000"/>
                </a:solidFill>
              </a:rPr>
              <a:t>26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Number of code</a:t>
            </a:r>
            <a:r>
              <a:rPr lang="en-US" dirty="0" smtClean="0"/>
              <a:t> words of length 3 = </a:t>
            </a:r>
            <a:r>
              <a:rPr lang="en-US" dirty="0" smtClean="0">
                <a:solidFill>
                  <a:srgbClr val="FF0000"/>
                </a:solidFill>
              </a:rPr>
              <a:t>26</a:t>
            </a:r>
            <a:r>
              <a:rPr lang="en-US" baseline="30000" dirty="0" smtClean="0">
                <a:solidFill>
                  <a:srgbClr val="FF0000"/>
                </a:solidFill>
              </a:rPr>
              <a:t>3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Hence, the </a:t>
            </a:r>
            <a:r>
              <a:rPr lang="en-US" dirty="0" smtClean="0">
                <a:solidFill>
                  <a:srgbClr val="FF0000"/>
                </a:solidFill>
              </a:rPr>
              <a:t>total number of code</a:t>
            </a:r>
            <a:r>
              <a:rPr lang="en-US" dirty="0" smtClean="0"/>
              <a:t> words</a:t>
            </a:r>
          </a:p>
          <a:p>
            <a:pPr>
              <a:buNone/>
            </a:pPr>
            <a:r>
              <a:rPr lang="en-US" dirty="0" smtClean="0"/>
              <a:t>				 = 26</a:t>
            </a:r>
            <a:r>
              <a:rPr lang="en-US" baseline="30000" dirty="0" smtClean="0"/>
              <a:t>1</a:t>
            </a:r>
            <a:r>
              <a:rPr lang="en-US" dirty="0" smtClean="0"/>
              <a:t>  + 26</a:t>
            </a:r>
            <a:r>
              <a:rPr lang="en-US" baseline="30000" dirty="0" smtClean="0"/>
              <a:t>2</a:t>
            </a:r>
            <a:r>
              <a:rPr lang="en-US" dirty="0" smtClean="0"/>
              <a:t>  + 26</a:t>
            </a:r>
            <a:r>
              <a:rPr lang="en-US" baseline="30000" dirty="0" smtClean="0"/>
              <a:t>3</a:t>
            </a:r>
          </a:p>
          <a:p>
            <a:pPr>
              <a:buNone/>
            </a:pPr>
            <a:r>
              <a:rPr lang="en-US" baseline="30000" dirty="0" smtClean="0"/>
              <a:t>				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18,278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NUMBER OF ITERATIONS OF A NESTED LOOP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Determine how many times the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will be </a:t>
            </a:r>
            <a:r>
              <a:rPr lang="en-US" dirty="0" smtClean="0">
                <a:solidFill>
                  <a:srgbClr val="FF0000"/>
                </a:solidFill>
              </a:rPr>
              <a:t>iterated</a:t>
            </a:r>
            <a:r>
              <a:rPr lang="en-US" dirty="0" smtClean="0"/>
              <a:t> when the following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implemented</a:t>
            </a:r>
            <a:r>
              <a:rPr lang="en-US" dirty="0" smtClean="0"/>
              <a:t> and run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for	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: = 1 to 4</a:t>
            </a:r>
            <a:r>
              <a:rPr lang="en-US" dirty="0" smtClean="0"/>
              <a:t>					</a:t>
            </a:r>
          </a:p>
          <a:p>
            <a:pPr>
              <a:buNone/>
            </a:pPr>
            <a:r>
              <a:rPr lang="en-US" dirty="0" smtClean="0"/>
              <a:t>			for 	</a:t>
            </a:r>
            <a:r>
              <a:rPr lang="en-US" dirty="0" smtClean="0">
                <a:solidFill>
                  <a:srgbClr val="FF0000"/>
                </a:solidFill>
              </a:rPr>
              <a:t>j : = 1 to 3</a:t>
            </a:r>
            <a:r>
              <a:rPr lang="en-US" dirty="0" smtClean="0"/>
              <a:t>						[number of statements]			</a:t>
            </a:r>
          </a:p>
          <a:p>
            <a:pPr>
              <a:buNone/>
            </a:pPr>
            <a:r>
              <a:rPr lang="en-US" dirty="0" smtClean="0"/>
              <a:t>	       	next j							next </a:t>
            </a:r>
            <a:r>
              <a:rPr lang="en-US" dirty="0" err="1" smtClean="0"/>
              <a:t>i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outer loop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iterated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four times</a:t>
            </a:r>
            <a:r>
              <a:rPr lang="en-US" dirty="0" smtClean="0"/>
              <a:t>, and during each </a:t>
            </a:r>
            <a:r>
              <a:rPr lang="en-US" dirty="0" smtClean="0">
                <a:solidFill>
                  <a:srgbClr val="FF0000"/>
                </a:solidFill>
              </a:rPr>
              <a:t>iteration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outer loop</a:t>
            </a:r>
            <a:r>
              <a:rPr lang="en-US" dirty="0" smtClean="0"/>
              <a:t>, there are </a:t>
            </a:r>
            <a:r>
              <a:rPr lang="en-US" dirty="0" smtClean="0">
                <a:solidFill>
                  <a:srgbClr val="FF0000"/>
                </a:solidFill>
              </a:rPr>
              <a:t>three</a:t>
            </a:r>
            <a:r>
              <a:rPr lang="en-US" dirty="0" smtClean="0"/>
              <a:t> iterations of the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Hence, by product rules the </a:t>
            </a:r>
            <a:r>
              <a:rPr lang="en-US" dirty="0" smtClean="0">
                <a:solidFill>
                  <a:srgbClr val="FF0000"/>
                </a:solidFill>
              </a:rPr>
              <a:t>total 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iterations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b="1" dirty="0" smtClean="0">
                <a:solidFill>
                  <a:srgbClr val="FF0000"/>
                </a:solidFill>
              </a:rPr>
              <a:t>· </a:t>
            </a:r>
            <a:r>
              <a:rPr lang="en-US" dirty="0" smtClean="0">
                <a:solidFill>
                  <a:srgbClr val="FF0000"/>
                </a:solidFill>
              </a:rPr>
              <a:t>3 = 12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Determine how many times the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will be </a:t>
            </a:r>
            <a:r>
              <a:rPr lang="en-US" dirty="0" smtClean="0">
                <a:solidFill>
                  <a:srgbClr val="FF0000"/>
                </a:solidFill>
              </a:rPr>
              <a:t>iterated</a:t>
            </a:r>
            <a:r>
              <a:rPr lang="en-US" dirty="0" smtClean="0"/>
              <a:t> when the following algorithm is implemented and run.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for	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= 5 to 50</a:t>
            </a:r>
            <a:r>
              <a:rPr lang="en-US" dirty="0" smtClean="0"/>
              <a:t>							for 	</a:t>
            </a:r>
            <a:r>
              <a:rPr lang="en-US" dirty="0" smtClean="0">
                <a:solidFill>
                  <a:srgbClr val="FF0000"/>
                </a:solidFill>
              </a:rPr>
              <a:t>j: = 10 to 20</a:t>
            </a:r>
            <a:r>
              <a:rPr lang="en-US" dirty="0" smtClean="0"/>
              <a:t>							[number of statements]				next j							next </a:t>
            </a:r>
            <a:r>
              <a:rPr lang="en-US" dirty="0" err="1" smtClean="0"/>
              <a:t>i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outer loop</a:t>
            </a:r>
            <a:r>
              <a:rPr lang="en-US" dirty="0" smtClean="0"/>
              <a:t> is iterated 50 - 5 + 1 = </a:t>
            </a:r>
            <a:r>
              <a:rPr lang="en-US" dirty="0" smtClean="0">
                <a:solidFill>
                  <a:srgbClr val="FF0000"/>
                </a:solidFill>
              </a:rPr>
              <a:t>46</a:t>
            </a:r>
            <a:r>
              <a:rPr lang="en-US" dirty="0" smtClean="0"/>
              <a:t> times and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iterate for  20 - 10 + 1 = </a:t>
            </a:r>
            <a:r>
              <a:rPr lang="en-US" dirty="0" smtClean="0">
                <a:solidFill>
                  <a:srgbClr val="FF0000"/>
                </a:solidFill>
              </a:rPr>
              <a:t>11</a:t>
            </a:r>
            <a:r>
              <a:rPr lang="en-US" dirty="0" smtClean="0"/>
              <a:t> times. </a:t>
            </a:r>
          </a:p>
          <a:p>
            <a:endParaRPr lang="en-US" dirty="0" smtClean="0"/>
          </a:p>
          <a:p>
            <a:r>
              <a:rPr lang="en-US" dirty="0" smtClean="0"/>
              <a:t>Hence by product rule, the </a:t>
            </a:r>
            <a:r>
              <a:rPr lang="en-US" dirty="0" smtClean="0">
                <a:solidFill>
                  <a:srgbClr val="FF0000"/>
                </a:solidFill>
              </a:rPr>
              <a:t>total number of iterations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46.11 = 506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Determine how many times the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will be </a:t>
            </a:r>
            <a:r>
              <a:rPr lang="en-US" dirty="0" smtClean="0">
                <a:solidFill>
                  <a:srgbClr val="FF0000"/>
                </a:solidFill>
              </a:rPr>
              <a:t>iterated</a:t>
            </a:r>
            <a:r>
              <a:rPr lang="en-US" dirty="0" smtClean="0"/>
              <a:t> when the following algorithm is implemented and run.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for	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= 1 to 4</a:t>
            </a:r>
            <a:r>
              <a:rPr lang="en-US" dirty="0" smtClean="0"/>
              <a:t>							for 	</a:t>
            </a:r>
            <a:r>
              <a:rPr lang="en-US" dirty="0" smtClean="0">
                <a:solidFill>
                  <a:srgbClr val="FF0000"/>
                </a:solidFill>
              </a:rPr>
              <a:t>j: = 1 to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							[number of statements]				next j							next </a:t>
            </a:r>
            <a:r>
              <a:rPr lang="en-US" dirty="0" err="1" smtClean="0"/>
              <a:t>i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</a:t>
            </a:r>
            <a:r>
              <a:rPr lang="en-US" dirty="0" smtClean="0">
                <a:solidFill>
                  <a:srgbClr val="FF0000"/>
                </a:solidFill>
              </a:rPr>
              <a:t> outer loop</a:t>
            </a:r>
            <a:r>
              <a:rPr lang="en-US" dirty="0" smtClean="0"/>
              <a:t> is iterated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times, but during each iteration of the outer loop, the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iterates different number of times.</a:t>
            </a:r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 smtClean="0">
                <a:solidFill>
                  <a:srgbClr val="FF0000"/>
                </a:solidFill>
              </a:rPr>
              <a:t>first iteration</a:t>
            </a:r>
            <a:r>
              <a:rPr lang="en-US" dirty="0" smtClean="0"/>
              <a:t> of outer loop,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iterates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times.</a:t>
            </a:r>
          </a:p>
          <a:p>
            <a:r>
              <a:rPr lang="en-US" dirty="0" smtClean="0"/>
              <a:t>For </a:t>
            </a:r>
            <a:r>
              <a:rPr lang="en-US" dirty="0" smtClean="0">
                <a:solidFill>
                  <a:srgbClr val="FF0000"/>
                </a:solidFill>
              </a:rPr>
              <a:t>second iteration</a:t>
            </a:r>
            <a:r>
              <a:rPr lang="en-US" dirty="0" smtClean="0"/>
              <a:t> of outer loop, </a:t>
            </a:r>
            <a:r>
              <a:rPr lang="en-US" dirty="0" smtClean="0">
                <a:solidFill>
                  <a:srgbClr val="FF0000"/>
                </a:solidFill>
              </a:rPr>
              <a:t>inner loop</a:t>
            </a:r>
            <a:r>
              <a:rPr lang="en-US" dirty="0" smtClean="0"/>
              <a:t> iterates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times.</a:t>
            </a:r>
          </a:p>
          <a:p>
            <a:r>
              <a:rPr lang="en-US" dirty="0" smtClean="0"/>
              <a:t>For </a:t>
            </a:r>
            <a:r>
              <a:rPr lang="en-US" dirty="0" smtClean="0">
                <a:solidFill>
                  <a:srgbClr val="FF0000"/>
                </a:solidFill>
              </a:rPr>
              <a:t>third iteration</a:t>
            </a:r>
            <a:r>
              <a:rPr lang="en-US" dirty="0" smtClean="0"/>
              <a:t> of outer loop, inner loop iterates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times.</a:t>
            </a:r>
          </a:p>
          <a:p>
            <a:r>
              <a:rPr lang="en-US" dirty="0" smtClean="0"/>
              <a:t>For </a:t>
            </a:r>
            <a:r>
              <a:rPr lang="en-US" dirty="0" smtClean="0">
                <a:solidFill>
                  <a:srgbClr val="FF0000"/>
                </a:solidFill>
              </a:rPr>
              <a:t>fourth iteration</a:t>
            </a:r>
            <a:r>
              <a:rPr lang="en-US" dirty="0" smtClean="0"/>
              <a:t> of outer loop, inner loop iterates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times.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Hence, </a:t>
            </a:r>
            <a:r>
              <a:rPr lang="en-US" dirty="0" smtClean="0">
                <a:solidFill>
                  <a:srgbClr val="FF0000"/>
                </a:solidFill>
              </a:rPr>
              <a:t>total 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iterations</a:t>
            </a:r>
            <a:r>
              <a:rPr lang="en-US" dirty="0" smtClean="0"/>
              <a:t> of inner loop = 1 + 2 + 3 + 4 = </a:t>
            </a:r>
            <a:r>
              <a:rPr lang="en-US" dirty="0" smtClean="0">
                <a:solidFill>
                  <a:srgbClr val="FF0000"/>
                </a:solidFill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PIGEONHOLE PRINCIPLE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Its very </a:t>
            </a:r>
            <a:r>
              <a:rPr lang="en-US" dirty="0" smtClean="0">
                <a:solidFill>
                  <a:srgbClr val="FF0000"/>
                </a:solidFill>
              </a:rPr>
              <a:t>useful principle</a:t>
            </a:r>
            <a:r>
              <a:rPr lang="en-US" dirty="0" smtClean="0"/>
              <a:t> for many counting problems.</a:t>
            </a:r>
          </a:p>
          <a:p>
            <a:endParaRPr lang="en-US" dirty="0" smtClean="0"/>
          </a:p>
          <a:p>
            <a:r>
              <a:rPr lang="en-US" dirty="0" smtClean="0"/>
              <a:t>Suppose that a flock of </a:t>
            </a:r>
            <a:r>
              <a:rPr lang="en-US" dirty="0" smtClean="0">
                <a:solidFill>
                  <a:srgbClr val="FF0000"/>
                </a:solidFill>
              </a:rPr>
              <a:t>20 pigeons flies</a:t>
            </a:r>
            <a:r>
              <a:rPr lang="en-US" dirty="0" smtClean="0"/>
              <a:t> into a set of </a:t>
            </a:r>
            <a:r>
              <a:rPr lang="en-US" dirty="0" smtClean="0">
                <a:solidFill>
                  <a:srgbClr val="FF0000"/>
                </a:solidFill>
              </a:rPr>
              <a:t>19 pigeonholes</a:t>
            </a:r>
            <a:r>
              <a:rPr lang="en-US" dirty="0" smtClean="0"/>
              <a:t> to roost. Because there are 20 pigeons but only 19 pigeonholes, </a:t>
            </a:r>
            <a:r>
              <a:rPr lang="en-US" dirty="0" smtClean="0">
                <a:solidFill>
                  <a:srgbClr val="FF0000"/>
                </a:solidFill>
              </a:rPr>
              <a:t>at least one</a:t>
            </a:r>
            <a:r>
              <a:rPr lang="en-US" dirty="0" smtClean="0"/>
              <a:t> of these 19 pigeonholes must have </a:t>
            </a:r>
            <a:r>
              <a:rPr lang="en-US" dirty="0" smtClean="0">
                <a:solidFill>
                  <a:srgbClr val="FF0000"/>
                </a:solidFill>
              </a:rPr>
              <a:t>at least two</a:t>
            </a:r>
            <a:r>
              <a:rPr lang="en-US" dirty="0" smtClean="0"/>
              <a:t> pigeons in it.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illustrates a general principle called the </a:t>
            </a:r>
            <a:r>
              <a:rPr lang="en-US" b="1" dirty="0" smtClean="0">
                <a:solidFill>
                  <a:srgbClr val="FF0000"/>
                </a:solidFill>
              </a:rPr>
              <a:t>pigeonhole principle, which states that if there are more pigeons than pigeonholes</a:t>
            </a:r>
            <a:r>
              <a:rPr lang="en-US" b="1" dirty="0" smtClean="0"/>
              <a:t>, </a:t>
            </a:r>
            <a:r>
              <a:rPr lang="en-US" dirty="0" smtClean="0"/>
              <a:t>then there must be at least one pigeonhole with at least two pigeons in it.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42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80160"/>
            <a:ext cx="8400246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REVISION OF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Clearly the above </a:t>
            </a:r>
            <a:r>
              <a:rPr lang="en-US" dirty="0" smtClean="0">
                <a:solidFill>
                  <a:srgbClr val="FF0000"/>
                </a:solidFill>
              </a:rPr>
              <a:t>relation is not a function</a:t>
            </a:r>
            <a:r>
              <a:rPr lang="en-US" dirty="0" smtClean="0"/>
              <a:t> because 2 does not have any image under this relation. Note that if want to made it relation we have to must map the 2 into some element of B which is also the image of some element of A. Now</a:t>
            </a:r>
            <a:endParaRPr lang="en-US" b="1" u="sng" dirty="0" smtClean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143000"/>
            <a:ext cx="3733800" cy="297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above relation is a </a:t>
            </a:r>
            <a:r>
              <a:rPr lang="en-US" dirty="0" smtClean="0">
                <a:solidFill>
                  <a:srgbClr val="FF0000"/>
                </a:solidFill>
              </a:rPr>
              <a:t>function</a:t>
            </a:r>
            <a:r>
              <a:rPr lang="en-US" dirty="0" smtClean="0"/>
              <a:t> because it satisfy the </a:t>
            </a:r>
            <a:r>
              <a:rPr lang="en-US" dirty="0" smtClean="0">
                <a:solidFill>
                  <a:srgbClr val="FF0000"/>
                </a:solidFill>
              </a:rPr>
              <a:t>conditions of functions</a:t>
            </a:r>
            <a:r>
              <a:rPr lang="en-US" dirty="0" smtClean="0"/>
              <a:t>(as each element of 1</a:t>
            </a:r>
            <a:r>
              <a:rPr lang="en-US" baseline="30000" dirty="0" smtClean="0"/>
              <a:t>st</a:t>
            </a:r>
            <a:r>
              <a:rPr lang="en-US" dirty="0" smtClean="0"/>
              <a:t> set have the images in 2</a:t>
            </a:r>
            <a:r>
              <a:rPr lang="en-US" baseline="30000" dirty="0" smtClean="0"/>
              <a:t>nd</a:t>
            </a:r>
            <a:r>
              <a:rPr lang="en-US" dirty="0" smtClean="0"/>
              <a:t> set). 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219200"/>
            <a:ext cx="2971800" cy="266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PIGEONHOLE PRINCIPLE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define a </a:t>
            </a:r>
            <a:r>
              <a:rPr lang="en-US" dirty="0" smtClean="0">
                <a:solidFill>
                  <a:srgbClr val="FF0000"/>
                </a:solidFill>
              </a:rPr>
              <a:t>function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more</a:t>
            </a:r>
            <a:r>
              <a:rPr lang="en-US" dirty="0" smtClean="0"/>
              <a:t> elements then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FF0000"/>
                </a:solidFill>
              </a:rPr>
              <a:t>B </a:t>
            </a:r>
            <a:r>
              <a:rPr lang="en-US" dirty="0" smtClean="0"/>
              <a:t>must have element which is </a:t>
            </a:r>
            <a:r>
              <a:rPr lang="en-US" dirty="0" smtClean="0">
                <a:solidFill>
                  <a:srgbClr val="FF0000"/>
                </a:solidFill>
              </a:rPr>
              <a:t>image</a:t>
            </a:r>
            <a:r>
              <a:rPr lang="en-US" dirty="0" smtClean="0"/>
              <a:t> of more than  one element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following is a </a:t>
            </a:r>
            <a:r>
              <a:rPr lang="en-US" dirty="0" smtClean="0">
                <a:solidFill>
                  <a:srgbClr val="FF0000"/>
                </a:solidFill>
              </a:rPr>
              <a:t>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above relation is a function because it satisfy the conditions of functions(as each element of 1</a:t>
            </a:r>
            <a:r>
              <a:rPr lang="en-US" baseline="30000" dirty="0" smtClean="0"/>
              <a:t>st</a:t>
            </a:r>
            <a:r>
              <a:rPr lang="en-US" dirty="0" smtClean="0"/>
              <a:t> set have the images in 2</a:t>
            </a:r>
            <a:r>
              <a:rPr lang="en-US" baseline="30000" dirty="0" smtClean="0"/>
              <a:t>nd</a:t>
            </a:r>
            <a:r>
              <a:rPr lang="en-US" dirty="0" smtClean="0"/>
              <a:t> set). Therefore the above is also a function.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752600"/>
            <a:ext cx="2947988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PIGEONHOLE PRINCIPLE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function from a </a:t>
            </a:r>
            <a:r>
              <a:rPr lang="en-US" dirty="0" smtClean="0">
                <a:solidFill>
                  <a:srgbClr val="FF0000"/>
                </a:solidFill>
              </a:rPr>
              <a:t>set</a:t>
            </a:r>
            <a:r>
              <a:rPr lang="en-US" dirty="0" smtClean="0"/>
              <a:t> of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+ 1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more elements</a:t>
            </a:r>
            <a:r>
              <a:rPr lang="en-US" dirty="0" smtClean="0"/>
              <a:t> to a </a:t>
            </a:r>
            <a:r>
              <a:rPr lang="en-US" dirty="0" smtClean="0">
                <a:solidFill>
                  <a:srgbClr val="FF0000"/>
                </a:solidFill>
              </a:rPr>
              <a:t>set</a:t>
            </a:r>
            <a:r>
              <a:rPr lang="en-US" dirty="0" smtClean="0"/>
              <a:t> of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elements</a:t>
            </a:r>
            <a:r>
              <a:rPr lang="en-US" dirty="0" smtClean="0"/>
              <a:t> must have </a:t>
            </a:r>
            <a:r>
              <a:rPr lang="en-US" dirty="0" smtClean="0">
                <a:solidFill>
                  <a:srgbClr val="FF0000"/>
                </a:solidFill>
              </a:rPr>
              <a:t>at least two elements</a:t>
            </a:r>
            <a:r>
              <a:rPr lang="en-US" dirty="0" smtClean="0"/>
              <a:t> in the </a:t>
            </a:r>
            <a:r>
              <a:rPr lang="en-US" dirty="0" smtClean="0">
                <a:solidFill>
                  <a:srgbClr val="FF0000"/>
                </a:solidFill>
              </a:rPr>
              <a:t>domain</a:t>
            </a:r>
            <a:r>
              <a:rPr lang="en-US" dirty="0" smtClean="0"/>
              <a:t> that have the same </a:t>
            </a:r>
            <a:r>
              <a:rPr lang="en-US" dirty="0" smtClean="0">
                <a:solidFill>
                  <a:srgbClr val="FF0000"/>
                </a:solidFill>
              </a:rPr>
              <a:t>image</a:t>
            </a:r>
            <a:r>
              <a:rPr lang="en-US" dirty="0" smtClean="0"/>
              <a:t> in the </a:t>
            </a:r>
            <a:r>
              <a:rPr lang="en-US" dirty="0" smtClean="0">
                <a:solidFill>
                  <a:srgbClr val="FF0000"/>
                </a:solidFill>
              </a:rPr>
              <a:t>co-domain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If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+ 1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more pigeons</a:t>
            </a:r>
            <a:r>
              <a:rPr lang="en-US" dirty="0" smtClean="0"/>
              <a:t> fly into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pigeonholes</a:t>
            </a:r>
            <a:r>
              <a:rPr lang="en-US" dirty="0" smtClean="0"/>
              <a:t> then at least </a:t>
            </a:r>
            <a:r>
              <a:rPr lang="en-US" dirty="0" smtClean="0">
                <a:solidFill>
                  <a:srgbClr val="FF0000"/>
                </a:solidFill>
              </a:rPr>
              <a:t>one pigeonhole</a:t>
            </a:r>
            <a:r>
              <a:rPr lang="en-US" dirty="0" smtClean="0"/>
              <a:t> must contain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more pigeons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249C2F"/>
                </a:solidFill>
              </a:rPr>
              <a:t>1.</a:t>
            </a:r>
            <a:r>
              <a:rPr lang="en-US" dirty="0" smtClean="0"/>
              <a:t>  Among any group of </a:t>
            </a:r>
            <a:r>
              <a:rPr lang="en-US" dirty="0" smtClean="0">
                <a:solidFill>
                  <a:srgbClr val="FF0000"/>
                </a:solidFill>
              </a:rPr>
              <a:t>367 people</a:t>
            </a:r>
            <a:r>
              <a:rPr lang="en-US" dirty="0" smtClean="0"/>
              <a:t>, there must be </a:t>
            </a:r>
            <a:r>
              <a:rPr lang="en-US" dirty="0" smtClean="0">
                <a:solidFill>
                  <a:srgbClr val="FF0000"/>
                </a:solidFill>
              </a:rPr>
              <a:t>at least two</a:t>
            </a:r>
            <a:r>
              <a:rPr lang="en-US" dirty="0" smtClean="0"/>
              <a:t> with the </a:t>
            </a:r>
            <a:r>
              <a:rPr lang="en-US" dirty="0" smtClean="0">
                <a:solidFill>
                  <a:srgbClr val="FF0000"/>
                </a:solidFill>
              </a:rPr>
              <a:t>same birthday</a:t>
            </a:r>
            <a:r>
              <a:rPr lang="en-US" dirty="0" smtClean="0"/>
              <a:t>, because there are only </a:t>
            </a:r>
            <a:r>
              <a:rPr lang="en-US" dirty="0" smtClean="0">
                <a:solidFill>
                  <a:srgbClr val="FF0000"/>
                </a:solidFill>
              </a:rPr>
              <a:t>366 possible birthdays</a:t>
            </a:r>
            <a:r>
              <a:rPr lang="en-US" dirty="0" smtClean="0"/>
              <a:t>.  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249C2F"/>
                </a:solidFill>
              </a:rPr>
              <a:t>2.</a:t>
            </a:r>
            <a:r>
              <a:rPr lang="en-US" b="1" dirty="0" smtClean="0"/>
              <a:t>  </a:t>
            </a:r>
            <a:r>
              <a:rPr lang="en-US" dirty="0" smtClean="0"/>
              <a:t>In any set of </a:t>
            </a:r>
            <a:r>
              <a:rPr lang="en-US" dirty="0" smtClean="0">
                <a:solidFill>
                  <a:srgbClr val="FF0000"/>
                </a:solidFill>
              </a:rPr>
              <a:t>27 English words</a:t>
            </a:r>
            <a:r>
              <a:rPr lang="en-US" dirty="0" smtClean="0"/>
              <a:t>, there must be </a:t>
            </a:r>
            <a:r>
              <a:rPr lang="en-US" dirty="0" smtClean="0">
                <a:solidFill>
                  <a:srgbClr val="FF0000"/>
                </a:solidFill>
              </a:rPr>
              <a:t>at least two</a:t>
            </a:r>
            <a:r>
              <a:rPr lang="en-US" dirty="0" smtClean="0"/>
              <a:t> that </a:t>
            </a:r>
            <a:r>
              <a:rPr lang="en-US" dirty="0" smtClean="0">
                <a:solidFill>
                  <a:srgbClr val="FF0000"/>
                </a:solidFill>
              </a:rPr>
              <a:t>begin</a:t>
            </a:r>
            <a:r>
              <a:rPr lang="en-US" dirty="0" smtClean="0"/>
              <a:t> with the </a:t>
            </a:r>
            <a:r>
              <a:rPr lang="en-US" dirty="0" smtClean="0">
                <a:solidFill>
                  <a:srgbClr val="FF0000"/>
                </a:solidFill>
              </a:rPr>
              <a:t>same letter</a:t>
            </a:r>
            <a:r>
              <a:rPr lang="en-US" dirty="0" smtClean="0"/>
              <a:t>, since there are 26 letters in the English alphabet.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FF0000"/>
                </a:solidFill>
              </a:rPr>
              <a:t>minimum 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students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FF0000"/>
                </a:solidFill>
              </a:rPr>
              <a:t>class</a:t>
            </a:r>
            <a:r>
              <a:rPr lang="en-US" dirty="0" smtClean="0"/>
              <a:t> to be sure that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 of them are </a:t>
            </a:r>
            <a:r>
              <a:rPr lang="en-US" dirty="0" smtClean="0">
                <a:solidFill>
                  <a:srgbClr val="FF0000"/>
                </a:solidFill>
              </a:rPr>
              <a:t>born</a:t>
            </a:r>
            <a:r>
              <a:rPr lang="en-US" dirty="0" smtClean="0"/>
              <a:t> in the </a:t>
            </a:r>
            <a:r>
              <a:rPr lang="en-US" dirty="0" smtClean="0">
                <a:solidFill>
                  <a:srgbClr val="FF0000"/>
                </a:solidFill>
              </a:rPr>
              <a:t>same month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                  There are </a:t>
            </a:r>
            <a:r>
              <a:rPr lang="en-US" dirty="0" smtClean="0">
                <a:solidFill>
                  <a:srgbClr val="FF0000"/>
                </a:solidFill>
              </a:rPr>
              <a:t>12 (=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months in a year. </a:t>
            </a: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FF0000"/>
                </a:solidFill>
              </a:rPr>
              <a:t>pigeonhole principle</a:t>
            </a:r>
            <a:r>
              <a:rPr lang="en-US" dirty="0" smtClean="0"/>
              <a:t> shows that among</a:t>
            </a:r>
          </a:p>
          <a:p>
            <a:pPr>
              <a:buNone/>
            </a:pPr>
            <a:r>
              <a:rPr lang="en-US" dirty="0" smtClean="0"/>
              <a:t>	 any </a:t>
            </a:r>
            <a:r>
              <a:rPr lang="en-US" dirty="0" smtClean="0">
                <a:solidFill>
                  <a:srgbClr val="FF0000"/>
                </a:solidFill>
              </a:rPr>
              <a:t>13 (=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 + 1)</a:t>
            </a:r>
            <a:r>
              <a:rPr lang="en-US" dirty="0" smtClean="0"/>
              <a:t> or more students there must be</a:t>
            </a:r>
          </a:p>
          <a:p>
            <a:pPr>
              <a:buNone/>
            </a:pPr>
            <a:r>
              <a:rPr lang="en-US" dirty="0" smtClean="0"/>
              <a:t>	 at least </a:t>
            </a:r>
            <a:r>
              <a:rPr lang="en-US" dirty="0" smtClean="0">
                <a:solidFill>
                  <a:srgbClr val="FF0000"/>
                </a:solidFill>
              </a:rPr>
              <a:t>two students</a:t>
            </a:r>
            <a:r>
              <a:rPr lang="en-US" dirty="0" smtClean="0"/>
              <a:t> who are born in the same month.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Given any </a:t>
            </a:r>
            <a:r>
              <a:rPr lang="en-US" dirty="0" smtClean="0">
                <a:solidFill>
                  <a:srgbClr val="FF0000"/>
                </a:solidFill>
              </a:rPr>
              <a:t>set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seven integers</a:t>
            </a:r>
            <a:r>
              <a:rPr lang="en-US" dirty="0" smtClean="0"/>
              <a:t>, must there be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 that have the </a:t>
            </a:r>
            <a:r>
              <a:rPr lang="en-US" dirty="0" smtClean="0">
                <a:solidFill>
                  <a:srgbClr val="FF0000"/>
                </a:solidFill>
              </a:rPr>
              <a:t>same remainder</a:t>
            </a:r>
            <a:r>
              <a:rPr lang="en-US" dirty="0" smtClean="0"/>
              <a:t> when </a:t>
            </a:r>
            <a:r>
              <a:rPr lang="en-US" dirty="0" smtClean="0">
                <a:solidFill>
                  <a:srgbClr val="FF0000"/>
                </a:solidFill>
              </a:rPr>
              <a:t>divided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 The set of possible </a:t>
            </a:r>
            <a:r>
              <a:rPr lang="en-US" dirty="0" smtClean="0">
                <a:solidFill>
                  <a:srgbClr val="FF0000"/>
                </a:solidFill>
              </a:rPr>
              <a:t>remainders</a:t>
            </a:r>
            <a:r>
              <a:rPr lang="en-US" dirty="0" smtClean="0"/>
              <a:t> that can be obtained when an integer is </a:t>
            </a:r>
            <a:r>
              <a:rPr lang="en-US" dirty="0" smtClean="0">
                <a:solidFill>
                  <a:srgbClr val="FF0000"/>
                </a:solidFill>
              </a:rPr>
              <a:t>divided by six</a:t>
            </a:r>
            <a:r>
              <a:rPr lang="en-US" dirty="0" smtClean="0"/>
              <a:t> is {</a:t>
            </a:r>
            <a:r>
              <a:rPr lang="en-US" dirty="0" smtClean="0">
                <a:solidFill>
                  <a:srgbClr val="FF0000"/>
                </a:solidFill>
              </a:rPr>
              <a:t>0, 1, 2, 3, 4, 5</a:t>
            </a:r>
            <a:r>
              <a:rPr lang="en-US" dirty="0" smtClean="0"/>
              <a:t>}.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This set has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 elements.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Thus by the </a:t>
            </a:r>
            <a:r>
              <a:rPr lang="en-US" dirty="0" smtClean="0">
                <a:solidFill>
                  <a:srgbClr val="FF0000"/>
                </a:solidFill>
              </a:rPr>
              <a:t>pigeonhole principle</a:t>
            </a:r>
            <a:r>
              <a:rPr lang="en-US" dirty="0" smtClean="0"/>
              <a:t> if </a:t>
            </a:r>
            <a:r>
              <a:rPr lang="en-US" dirty="0" smtClean="0">
                <a:solidFill>
                  <a:srgbClr val="FF0000"/>
                </a:solidFill>
              </a:rPr>
              <a:t>7 = 6 + 1</a:t>
            </a:r>
            <a:r>
              <a:rPr lang="en-US" dirty="0" smtClean="0"/>
              <a:t> integers are each divided by </a:t>
            </a:r>
            <a:r>
              <a:rPr lang="en-US" dirty="0" smtClean="0">
                <a:solidFill>
                  <a:srgbClr val="FF0000"/>
                </a:solidFill>
              </a:rPr>
              <a:t>six</a:t>
            </a:r>
            <a:r>
              <a:rPr lang="en-US" dirty="0" smtClean="0"/>
              <a:t>, then at least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 of them must have the same </a:t>
            </a:r>
            <a:r>
              <a:rPr lang="en-US" dirty="0" smtClean="0">
                <a:solidFill>
                  <a:srgbClr val="FF0000"/>
                </a:solidFill>
              </a:rPr>
              <a:t>remainder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FF0000"/>
                </a:solidFill>
              </a:rPr>
              <a:t>integers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through </a:t>
            </a:r>
            <a:r>
              <a:rPr lang="en-US" dirty="0" smtClean="0">
                <a:solidFill>
                  <a:srgbClr val="FF0000"/>
                </a:solidFill>
              </a:rPr>
              <a:t>100</a:t>
            </a:r>
            <a:r>
              <a:rPr lang="en-US" dirty="0" smtClean="0"/>
              <a:t> must you </a:t>
            </a:r>
            <a:r>
              <a:rPr lang="en-US" dirty="0" smtClean="0">
                <a:solidFill>
                  <a:srgbClr val="FF0000"/>
                </a:solidFill>
              </a:rPr>
              <a:t>pick in order</a:t>
            </a:r>
            <a:r>
              <a:rPr lang="en-US" dirty="0" smtClean="0"/>
              <a:t> to be sure of </a:t>
            </a:r>
            <a:r>
              <a:rPr lang="en-US" dirty="0" smtClean="0">
                <a:solidFill>
                  <a:srgbClr val="FF0000"/>
                </a:solidFill>
              </a:rPr>
              <a:t>getting one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FF0000"/>
                </a:solidFill>
              </a:rPr>
              <a:t>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 There are </a:t>
            </a:r>
            <a:r>
              <a:rPr lang="en-US" dirty="0" smtClean="0">
                <a:solidFill>
                  <a:srgbClr val="FF0000"/>
                </a:solidFill>
              </a:rPr>
              <a:t>20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integers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through </a:t>
            </a:r>
            <a:r>
              <a:rPr lang="en-US" dirty="0" smtClean="0">
                <a:solidFill>
                  <a:srgbClr val="FF0000"/>
                </a:solidFill>
              </a:rPr>
              <a:t>100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Hence there are </a:t>
            </a:r>
            <a:r>
              <a:rPr lang="en-US" dirty="0" smtClean="0">
                <a:solidFill>
                  <a:srgbClr val="FF0000"/>
                </a:solidFill>
              </a:rPr>
              <a:t>80 integers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through </a:t>
            </a:r>
            <a:r>
              <a:rPr lang="en-US" dirty="0" smtClean="0">
                <a:solidFill>
                  <a:srgbClr val="FF0000"/>
                </a:solidFill>
              </a:rPr>
              <a:t>100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not 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Thus by the </a:t>
            </a:r>
            <a:r>
              <a:rPr lang="en-US" dirty="0" smtClean="0">
                <a:solidFill>
                  <a:srgbClr val="FF0000"/>
                </a:solidFill>
              </a:rPr>
              <a:t>pigeonhole principle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81 = 80 + 1</a:t>
            </a:r>
            <a:r>
              <a:rPr lang="en-US" dirty="0" smtClean="0"/>
              <a:t> integers from 1 though 100 must be picked in order to be sure of getting 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FF0000"/>
                </a:solidFill>
              </a:rPr>
              <a:t>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Let A = </a:t>
            </a:r>
            <a:r>
              <a:rPr lang="en-US" dirty="0" smtClean="0">
                <a:solidFill>
                  <a:srgbClr val="FF0000"/>
                </a:solidFill>
              </a:rPr>
              <a:t>{1, 2, 3, 4, 5, 6, 7, 8, 9, 10}</a:t>
            </a:r>
            <a:r>
              <a:rPr lang="en-US" dirty="0" smtClean="0"/>
              <a:t>. Suppose </a:t>
            </a:r>
            <a:r>
              <a:rPr lang="en-US" dirty="0" smtClean="0">
                <a:solidFill>
                  <a:srgbClr val="FF0000"/>
                </a:solidFill>
              </a:rPr>
              <a:t>six</a:t>
            </a:r>
            <a:r>
              <a:rPr lang="en-US" dirty="0" smtClean="0"/>
              <a:t> integers are </a:t>
            </a:r>
            <a:r>
              <a:rPr lang="en-US" dirty="0" smtClean="0">
                <a:solidFill>
                  <a:srgbClr val="FF0000"/>
                </a:solidFill>
              </a:rPr>
              <a:t>chosen</a:t>
            </a:r>
            <a:r>
              <a:rPr lang="en-US" dirty="0" smtClean="0"/>
              <a:t> from</a:t>
            </a:r>
            <a:r>
              <a:rPr lang="en-US" dirty="0" smtClean="0">
                <a:solidFill>
                  <a:srgbClr val="FF0000"/>
                </a:solidFill>
              </a:rPr>
              <a:t> A</a:t>
            </a:r>
            <a:r>
              <a:rPr lang="en-US" dirty="0" smtClean="0"/>
              <a:t>. Must there be </a:t>
            </a:r>
            <a:r>
              <a:rPr lang="en-US" dirty="0" smtClean="0">
                <a:solidFill>
                  <a:srgbClr val="FF0000"/>
                </a:solidFill>
              </a:rPr>
              <a:t>two integers</a:t>
            </a:r>
            <a:r>
              <a:rPr lang="en-US" dirty="0" smtClean="0"/>
              <a:t> whose </a:t>
            </a:r>
            <a:r>
              <a:rPr lang="en-US" dirty="0" smtClean="0">
                <a:solidFill>
                  <a:srgbClr val="FF0000"/>
                </a:solidFill>
              </a:rPr>
              <a:t>sum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11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The set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can be </a:t>
            </a:r>
            <a:r>
              <a:rPr lang="en-US" dirty="0" smtClean="0">
                <a:solidFill>
                  <a:srgbClr val="FF0000"/>
                </a:solidFill>
              </a:rPr>
              <a:t>partitioned</a:t>
            </a:r>
            <a:r>
              <a:rPr lang="en-US" dirty="0" smtClean="0"/>
              <a:t> into </a:t>
            </a:r>
            <a:r>
              <a:rPr lang="en-US" dirty="0" smtClean="0">
                <a:solidFill>
                  <a:srgbClr val="FF0000"/>
                </a:solidFill>
              </a:rPr>
              <a:t>five subsets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{1, 10}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{2, 9}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{3, 8}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{4, 7}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FF0000"/>
                </a:solidFill>
              </a:rPr>
              <a:t>{5, 6} </a:t>
            </a:r>
            <a:r>
              <a:rPr lang="en-US" dirty="0" smtClean="0"/>
              <a:t>each consisting of two integers whose </a:t>
            </a:r>
            <a:r>
              <a:rPr lang="en-US" dirty="0" smtClean="0">
                <a:solidFill>
                  <a:srgbClr val="FF0000"/>
                </a:solidFill>
              </a:rPr>
              <a:t>sum is 11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These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subsets</a:t>
            </a:r>
            <a:r>
              <a:rPr lang="en-US" dirty="0" smtClean="0"/>
              <a:t> can be considered as </a:t>
            </a:r>
            <a:r>
              <a:rPr lang="en-US" dirty="0" smtClean="0">
                <a:solidFill>
                  <a:srgbClr val="FF0000"/>
                </a:solidFill>
              </a:rPr>
              <a:t>5 pigeonholes</a:t>
            </a:r>
            <a:r>
              <a:rPr lang="en-US" dirty="0" smtClean="0"/>
              <a:t>. 	</a:t>
            </a:r>
          </a:p>
          <a:p>
            <a:pPr>
              <a:buNone/>
            </a:pPr>
            <a:r>
              <a:rPr lang="en-US" dirty="0" smtClean="0"/>
              <a:t>	If you pick six elements. Then you have to pick one set from above sets.</a:t>
            </a:r>
          </a:p>
          <a:p>
            <a:pPr>
              <a:buNone/>
            </a:pPr>
            <a:r>
              <a:rPr lang="en-US" dirty="0" smtClean="0"/>
              <a:t>         </a:t>
            </a:r>
          </a:p>
          <a:p>
            <a:pPr>
              <a:buNone/>
            </a:pPr>
            <a:r>
              <a:rPr lang="en-US" dirty="0" smtClean="0"/>
              <a:t>	If 6 = (5 + 1) integers are selected from A, then by the </a:t>
            </a:r>
            <a:r>
              <a:rPr lang="en-US" dirty="0" smtClean="0">
                <a:solidFill>
                  <a:srgbClr val="FF0000"/>
                </a:solidFill>
              </a:rPr>
              <a:t>pigeonhole principle</a:t>
            </a:r>
            <a:r>
              <a:rPr lang="en-US" dirty="0" smtClean="0"/>
              <a:t> at least </a:t>
            </a:r>
            <a:r>
              <a:rPr lang="en-US" dirty="0" smtClean="0">
                <a:solidFill>
                  <a:srgbClr val="FF0000"/>
                </a:solidFill>
              </a:rPr>
              <a:t>two must be from one of the five subsets.</a:t>
            </a:r>
            <a:r>
              <a:rPr lang="en-US" dirty="0" smtClean="0"/>
              <a:t> But then the sum of these two integers is 11.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GENERALIZED PIGEONHOLE PRINCIPLE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Imagine we have </a:t>
            </a:r>
            <a:r>
              <a:rPr lang="en-US" dirty="0" smtClean="0">
                <a:solidFill>
                  <a:srgbClr val="FF0000"/>
                </a:solidFill>
              </a:rPr>
              <a:t>10 pigeonholes</a:t>
            </a:r>
            <a:r>
              <a:rPr lang="en-US" dirty="0" smtClean="0"/>
              <a:t>, and we want to </a:t>
            </a:r>
            <a:r>
              <a:rPr lang="en-US" dirty="0" smtClean="0">
                <a:solidFill>
                  <a:srgbClr val="FF0000"/>
                </a:solidFill>
              </a:rPr>
              <a:t>ensure</a:t>
            </a:r>
            <a:r>
              <a:rPr lang="en-US" dirty="0" smtClean="0"/>
              <a:t> that at least </a:t>
            </a:r>
            <a:r>
              <a:rPr lang="en-US" dirty="0" smtClean="0">
                <a:solidFill>
                  <a:srgbClr val="FF0000"/>
                </a:solidFill>
              </a:rPr>
              <a:t>one pigeonhole</a:t>
            </a:r>
            <a:r>
              <a:rPr lang="en-US" dirty="0" smtClean="0"/>
              <a:t> have more than </a:t>
            </a:r>
            <a:r>
              <a:rPr lang="en-US" dirty="0" smtClean="0">
                <a:solidFill>
                  <a:srgbClr val="FF0000"/>
                </a:solidFill>
              </a:rPr>
              <a:t>2 pigeons</a:t>
            </a:r>
            <a:r>
              <a:rPr lang="en-US" dirty="0" smtClean="0"/>
              <a:t> in it.</a:t>
            </a:r>
          </a:p>
          <a:p>
            <a:endParaRPr lang="en-US" dirty="0" smtClean="0"/>
          </a:p>
          <a:p>
            <a:r>
              <a:rPr lang="en-US" dirty="0" smtClean="0"/>
              <a:t>If you have </a:t>
            </a:r>
            <a:r>
              <a:rPr lang="en-US" dirty="0" smtClean="0">
                <a:solidFill>
                  <a:srgbClr val="FF0000"/>
                </a:solidFill>
              </a:rPr>
              <a:t>20 pigeons</a:t>
            </a:r>
            <a:r>
              <a:rPr lang="en-US" dirty="0" smtClean="0"/>
              <a:t> then you can have </a:t>
            </a:r>
            <a:r>
              <a:rPr lang="en-US" dirty="0" smtClean="0">
                <a:solidFill>
                  <a:srgbClr val="FF0000"/>
                </a:solidFill>
              </a:rPr>
              <a:t>2 pigeons</a:t>
            </a:r>
            <a:r>
              <a:rPr lang="en-US" dirty="0" smtClean="0"/>
              <a:t> in each pigeonholes.</a:t>
            </a:r>
          </a:p>
          <a:p>
            <a:endParaRPr lang="en-US" dirty="0" smtClean="0"/>
          </a:p>
          <a:p>
            <a:r>
              <a:rPr lang="en-US" dirty="0" smtClean="0"/>
              <a:t>If you have </a:t>
            </a:r>
            <a:r>
              <a:rPr lang="en-US" dirty="0" smtClean="0">
                <a:solidFill>
                  <a:srgbClr val="FF0000"/>
                </a:solidFill>
              </a:rPr>
              <a:t>21 pigeons</a:t>
            </a:r>
            <a:r>
              <a:rPr lang="en-US" dirty="0" smtClean="0"/>
              <a:t> then you can have </a:t>
            </a:r>
            <a:r>
              <a:rPr lang="en-US" dirty="0" smtClean="0">
                <a:solidFill>
                  <a:srgbClr val="FF0000"/>
                </a:solidFill>
              </a:rPr>
              <a:t>2 pigeons</a:t>
            </a:r>
            <a:r>
              <a:rPr lang="en-US" dirty="0" smtClean="0"/>
              <a:t> in each pigeonholes and in </a:t>
            </a:r>
            <a:r>
              <a:rPr lang="en-US" dirty="0" smtClean="0">
                <a:solidFill>
                  <a:srgbClr val="FF0000"/>
                </a:solidFill>
              </a:rPr>
              <a:t>1 pigeonhole</a:t>
            </a:r>
            <a:r>
              <a:rPr lang="en-US" dirty="0" smtClean="0"/>
              <a:t> you have </a:t>
            </a:r>
            <a:r>
              <a:rPr lang="en-US" dirty="0" smtClean="0">
                <a:solidFill>
                  <a:srgbClr val="FF0000"/>
                </a:solidFill>
              </a:rPr>
              <a:t>more than 2 pigeons</a:t>
            </a:r>
            <a:r>
              <a:rPr lang="en-US" dirty="0" smtClean="0"/>
              <a:t> in it.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GENERALIZED PIGEONHOLE PRINCIPLE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function</a:t>
            </a:r>
            <a:r>
              <a:rPr lang="en-US" dirty="0" smtClean="0"/>
              <a:t> from a set of </a:t>
            </a:r>
            <a:r>
              <a:rPr lang="en-US" i="1" dirty="0" err="1" smtClean="0">
                <a:solidFill>
                  <a:srgbClr val="FF0000"/>
                </a:solidFill>
              </a:rPr>
              <a:t>n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</a:t>
            </a:r>
            <a:r>
              <a:rPr lang="en-US" i="1" dirty="0" err="1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+ 1</a:t>
            </a:r>
            <a:r>
              <a:rPr lang="en-US" dirty="0" smtClean="0"/>
              <a:t> or more elements to a </a:t>
            </a:r>
            <a:r>
              <a:rPr lang="en-US" dirty="0" smtClean="0">
                <a:solidFill>
                  <a:srgbClr val="FF0000"/>
                </a:solidFill>
              </a:rPr>
              <a:t>set</a:t>
            </a:r>
            <a:r>
              <a:rPr lang="en-US" dirty="0" smtClean="0"/>
              <a:t> of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elements must have at least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+ 1</a:t>
            </a:r>
            <a:r>
              <a:rPr lang="en-US" dirty="0" smtClean="0"/>
              <a:t> elements in the </a:t>
            </a:r>
            <a:r>
              <a:rPr lang="en-US" dirty="0" smtClean="0">
                <a:solidFill>
                  <a:srgbClr val="FF0000"/>
                </a:solidFill>
              </a:rPr>
              <a:t>domain</a:t>
            </a:r>
            <a:r>
              <a:rPr lang="en-US" dirty="0" smtClean="0"/>
              <a:t> that have the </a:t>
            </a:r>
            <a:r>
              <a:rPr lang="en-US" dirty="0" smtClean="0">
                <a:solidFill>
                  <a:srgbClr val="FF0000"/>
                </a:solidFill>
              </a:rPr>
              <a:t>same image</a:t>
            </a:r>
            <a:r>
              <a:rPr lang="en-US" dirty="0" smtClean="0"/>
              <a:t> in the </a:t>
            </a:r>
            <a:r>
              <a:rPr lang="en-US" dirty="0" smtClean="0">
                <a:solidFill>
                  <a:srgbClr val="FF0000"/>
                </a:solidFill>
              </a:rPr>
              <a:t>co-domain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i="1" dirty="0" smtClean="0">
                <a:solidFill>
                  <a:srgbClr val="FF0000"/>
                </a:solidFill>
              </a:rPr>
              <a:t>n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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+ 1</a:t>
            </a:r>
            <a:r>
              <a:rPr lang="en-US" dirty="0" smtClean="0"/>
              <a:t> or more </a:t>
            </a:r>
            <a:r>
              <a:rPr lang="en-US" dirty="0" smtClean="0">
                <a:solidFill>
                  <a:srgbClr val="FF0000"/>
                </a:solidFill>
              </a:rPr>
              <a:t>pigeons</a:t>
            </a:r>
            <a:r>
              <a:rPr lang="en-US" dirty="0" smtClean="0"/>
              <a:t> fly into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 pigeonholes</a:t>
            </a:r>
            <a:r>
              <a:rPr lang="en-US" dirty="0" smtClean="0"/>
              <a:t> then at least </a:t>
            </a:r>
            <a:r>
              <a:rPr lang="en-US" dirty="0" smtClean="0">
                <a:solidFill>
                  <a:srgbClr val="FF0000"/>
                </a:solidFill>
              </a:rPr>
              <a:t>one pigeonhole</a:t>
            </a:r>
            <a:r>
              <a:rPr lang="en-US" dirty="0" smtClean="0"/>
              <a:t> must contain </a:t>
            </a:r>
            <a:r>
              <a:rPr lang="en-US" i="1" dirty="0" smtClean="0">
                <a:solidFill>
                  <a:srgbClr val="FF0000"/>
                </a:solidFill>
              </a:rPr>
              <a:t>k +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more pigeons</a:t>
            </a:r>
            <a:r>
              <a:rPr lang="en-US" dirty="0" smtClean="0"/>
              <a:t>.  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a </a:t>
            </a:r>
            <a:r>
              <a:rPr lang="en-US" dirty="0" smtClean="0">
                <a:solidFill>
                  <a:srgbClr val="FF0000"/>
                </a:solidFill>
              </a:rPr>
              <a:t>laundry bag</a:t>
            </a:r>
            <a:r>
              <a:rPr lang="en-US" dirty="0" smtClean="0"/>
              <a:t> contains many </a:t>
            </a:r>
            <a:r>
              <a:rPr lang="en-US" dirty="0" smtClean="0">
                <a:solidFill>
                  <a:srgbClr val="FF0000"/>
                </a:solidFill>
              </a:rPr>
              <a:t>red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white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FF0000"/>
                </a:solidFill>
              </a:rPr>
              <a:t>blue socks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Find the minimum number of </a:t>
            </a:r>
            <a:r>
              <a:rPr lang="en-US" dirty="0" smtClean="0">
                <a:solidFill>
                  <a:srgbClr val="FF0000"/>
                </a:solidFill>
              </a:rPr>
              <a:t>socks</a:t>
            </a:r>
            <a:r>
              <a:rPr lang="en-US" dirty="0" smtClean="0"/>
              <a:t> that one needs to choose in order to get </a:t>
            </a:r>
            <a:r>
              <a:rPr lang="en-US" dirty="0" smtClean="0">
                <a:solidFill>
                  <a:srgbClr val="FF0000"/>
                </a:solidFill>
              </a:rPr>
              <a:t>two pairs</a:t>
            </a:r>
            <a:r>
              <a:rPr lang="en-US" dirty="0" smtClean="0"/>
              <a:t> (four socks) of the </a:t>
            </a:r>
            <a:r>
              <a:rPr lang="en-US" dirty="0" smtClean="0">
                <a:solidFill>
                  <a:srgbClr val="FF0000"/>
                </a:solidFill>
              </a:rPr>
              <a:t>same color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Here there are </a:t>
            </a:r>
            <a:r>
              <a:rPr lang="en-US" dirty="0" smtClean="0">
                <a:solidFill>
                  <a:srgbClr val="FF0000"/>
                </a:solidFill>
              </a:rPr>
              <a:t>n = 3</a:t>
            </a:r>
            <a:r>
              <a:rPr lang="en-US" dirty="0" smtClean="0"/>
              <a:t> colors (</a:t>
            </a:r>
            <a:r>
              <a:rPr lang="en-US" dirty="0" smtClean="0">
                <a:solidFill>
                  <a:srgbClr val="FF0000"/>
                </a:solidFill>
              </a:rPr>
              <a:t>pigeonholes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 and </a:t>
            </a:r>
            <a:r>
              <a:rPr lang="en-US" dirty="0" smtClean="0">
                <a:solidFill>
                  <a:srgbClr val="FF0000"/>
                </a:solidFill>
              </a:rPr>
              <a:t>k + 1 = 4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k = 3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Thus among any </a:t>
            </a:r>
            <a:r>
              <a:rPr lang="en-US" i="1" dirty="0" err="1" smtClean="0">
                <a:solidFill>
                  <a:srgbClr val="FF0000"/>
                </a:solidFill>
              </a:rPr>
              <a:t>n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</a:t>
            </a:r>
            <a:r>
              <a:rPr lang="en-US" i="1" dirty="0" err="1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+ 1 = 3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</a:t>
            </a:r>
            <a:r>
              <a:rPr lang="en-US" dirty="0" smtClean="0">
                <a:solidFill>
                  <a:srgbClr val="FF0000"/>
                </a:solidFill>
              </a:rPr>
              <a:t>3 + 1 = 10</a:t>
            </a:r>
            <a:r>
              <a:rPr lang="en-US" dirty="0" smtClean="0"/>
              <a:t> socks (</a:t>
            </a:r>
            <a:r>
              <a:rPr lang="en-US" dirty="0" smtClean="0">
                <a:solidFill>
                  <a:srgbClr val="FF0000"/>
                </a:solidFill>
              </a:rPr>
              <a:t>pigeons</a:t>
            </a:r>
            <a:r>
              <a:rPr lang="en-US" dirty="0" smtClean="0"/>
              <a:t>),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at least </a:t>
            </a:r>
            <a:r>
              <a:rPr lang="en-US" dirty="0" smtClean="0">
                <a:solidFill>
                  <a:srgbClr val="FF0000"/>
                </a:solidFill>
              </a:rPr>
              <a:t>four</a:t>
            </a:r>
            <a:r>
              <a:rPr lang="en-US" dirty="0" smtClean="0"/>
              <a:t> have the </a:t>
            </a:r>
            <a:r>
              <a:rPr lang="en-US" dirty="0" smtClean="0">
                <a:solidFill>
                  <a:srgbClr val="FF0000"/>
                </a:solidFill>
              </a:rPr>
              <a:t>same color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FLOOR &amp; CEILING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any </a:t>
            </a:r>
            <a:r>
              <a:rPr lang="en-US" dirty="0" smtClean="0">
                <a:solidFill>
                  <a:srgbClr val="FF0000"/>
                </a:solidFill>
              </a:rPr>
              <a:t>real number 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,</a:t>
            </a:r>
            <a:r>
              <a:rPr lang="en-US" dirty="0" smtClean="0"/>
              <a:t> the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floor</a:t>
            </a:r>
            <a:r>
              <a:rPr lang="en-US" b="1" dirty="0" smtClean="0"/>
              <a:t> </a:t>
            </a:r>
            <a:r>
              <a:rPr lang="en-US" dirty="0" smtClean="0"/>
              <a:t>of</a:t>
            </a:r>
            <a:r>
              <a:rPr lang="en-US" b="1" dirty="0" smtClean="0"/>
              <a:t> </a:t>
            </a:r>
            <a:r>
              <a:rPr lang="en-US" b="1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/>
              <a:t>, denoted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, is the </a:t>
            </a:r>
            <a:r>
              <a:rPr lang="en-US" dirty="0" smtClean="0">
                <a:solidFill>
                  <a:srgbClr val="FF0000"/>
                </a:solidFill>
              </a:rPr>
              <a:t>largest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integer</a:t>
            </a:r>
            <a:r>
              <a:rPr lang="en-US" dirty="0" smtClean="0"/>
              <a:t> smaller than or equal to 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i="1" dirty="0" smtClean="0">
                <a:solidFill>
                  <a:srgbClr val="FF0000"/>
                </a:solidFill>
                <a:sym typeface="Symbol"/>
              </a:rPr>
              <a:t>3.4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 = 3 </a:t>
            </a:r>
            <a:r>
              <a:rPr lang="en-US" dirty="0" smtClean="0">
                <a:sym typeface="Symbol"/>
              </a:rPr>
              <a:t>and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5 = 5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Given any</a:t>
            </a:r>
            <a:r>
              <a:rPr lang="en-US" dirty="0" smtClean="0">
                <a:solidFill>
                  <a:srgbClr val="FF0000"/>
                </a:solidFill>
              </a:rPr>
              <a:t> real number 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/>
              <a:t>, the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ceiling</a:t>
            </a:r>
            <a:r>
              <a:rPr lang="en-US" b="1" dirty="0" smtClean="0"/>
              <a:t> </a:t>
            </a:r>
            <a:r>
              <a:rPr lang="en-US" dirty="0" smtClean="0"/>
              <a:t>of</a:t>
            </a:r>
            <a:r>
              <a:rPr lang="en-US" b="1" dirty="0" smtClean="0"/>
              <a:t> </a:t>
            </a:r>
            <a:r>
              <a:rPr lang="en-US" b="1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/>
              <a:t>, denoted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, is the </a:t>
            </a:r>
            <a:r>
              <a:rPr lang="en-US" dirty="0" smtClean="0">
                <a:solidFill>
                  <a:srgbClr val="FF0000"/>
                </a:solidFill>
              </a:rPr>
              <a:t>smallest integer</a:t>
            </a:r>
            <a:r>
              <a:rPr lang="en-US" dirty="0" smtClean="0"/>
              <a:t> greater than or equal to 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i="1" dirty="0" smtClean="0">
                <a:solidFill>
                  <a:srgbClr val="FF0000"/>
                </a:solidFill>
                <a:sym typeface="Symbol"/>
              </a:rPr>
              <a:t>3.4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 = 4 </a:t>
            </a:r>
            <a:r>
              <a:rPr lang="en-US" dirty="0" smtClean="0">
                <a:sym typeface="Symbol"/>
              </a:rPr>
              <a:t>and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</a:t>
            </a:r>
            <a:r>
              <a:rPr lang="en-US" i="1" dirty="0" smtClean="0">
                <a:solidFill>
                  <a:srgbClr val="FF0000"/>
                </a:solidFill>
                <a:sym typeface="Symbol"/>
              </a:rPr>
              <a:t>5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 = 5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Compute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for each of the following values of 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/>
              <a:t>.	</a:t>
            </a:r>
          </a:p>
          <a:p>
            <a:pPr>
              <a:buNone/>
            </a:pPr>
            <a:r>
              <a:rPr lang="en-US" b="1" dirty="0" smtClean="0"/>
              <a:t>			a.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FF0000"/>
                </a:solidFill>
              </a:rPr>
              <a:t>25/4</a:t>
            </a:r>
            <a:r>
              <a:rPr lang="en-US" dirty="0" smtClean="0"/>
              <a:t>	</a:t>
            </a:r>
            <a:r>
              <a:rPr lang="en-US" b="1" dirty="0" smtClean="0"/>
              <a:t>b.  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0.999</a:t>
            </a:r>
            <a:r>
              <a:rPr lang="en-US" dirty="0" smtClean="0"/>
              <a:t>	</a:t>
            </a:r>
            <a:r>
              <a:rPr lang="en-US" b="1" dirty="0" smtClean="0"/>
              <a:t>c.</a:t>
            </a:r>
            <a:r>
              <a:rPr lang="en-US" dirty="0" smtClean="0"/>
              <a:t>   </a:t>
            </a:r>
            <a:r>
              <a:rPr lang="en-US" dirty="0" smtClean="0">
                <a:solidFill>
                  <a:srgbClr val="FF0000"/>
                </a:solidFill>
              </a:rPr>
              <a:t> –2.01</a:t>
            </a:r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b="1" dirty="0" smtClean="0"/>
              <a:t>	a.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dirty="0" smtClean="0"/>
              <a:t>25/4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	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dirty="0" smtClean="0"/>
              <a:t>6 + ¼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 = 6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25/4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6 + ¼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6 + 1 = 7</a:t>
            </a:r>
          </a:p>
          <a:p>
            <a:pPr>
              <a:buNone/>
            </a:pPr>
            <a:r>
              <a:rPr lang="en-US" dirty="0" smtClean="0"/>
              <a:t>	 </a:t>
            </a:r>
          </a:p>
          <a:p>
            <a:pPr>
              <a:buNone/>
            </a:pPr>
            <a:r>
              <a:rPr lang="en-US" b="1" dirty="0" smtClean="0"/>
              <a:t>	b.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dirty="0" smtClean="0"/>
              <a:t>0.999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dirty="0" smtClean="0"/>
              <a:t>0 + 0.999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 = 0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0.999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0 + 0.999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0 + 1 = 1</a:t>
            </a:r>
          </a:p>
          <a:p>
            <a:pPr>
              <a:buNone/>
            </a:pPr>
            <a:r>
              <a:rPr lang="en-US" dirty="0" smtClean="0"/>
              <a:t>	 </a:t>
            </a:r>
          </a:p>
          <a:p>
            <a:pPr>
              <a:buNone/>
            </a:pPr>
            <a:r>
              <a:rPr lang="en-US" b="1" dirty="0" smtClean="0"/>
              <a:t>	c.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dirty="0" smtClean="0"/>
              <a:t>–2.01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</a:t>
            </a:r>
            <a:r>
              <a:rPr lang="en-US" dirty="0" smtClean="0"/>
              <a:t>–3 + 0.99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</a:t>
            </a:r>
            <a:r>
              <a:rPr lang="en-US" dirty="0" smtClean="0"/>
              <a:t> = –3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–2.01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–3+ 0.999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–3 + 1 = –2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PIGEONHOLE PRINCIPLE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 pigeons</a:t>
            </a:r>
            <a:r>
              <a:rPr lang="en-US" dirty="0" smtClean="0"/>
              <a:t> fly into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pigeonholes</a:t>
            </a:r>
            <a:r>
              <a:rPr lang="en-US" dirty="0" smtClean="0"/>
              <a:t> then at least </a:t>
            </a:r>
            <a:r>
              <a:rPr lang="en-US" dirty="0" smtClean="0">
                <a:solidFill>
                  <a:srgbClr val="FF0000"/>
                </a:solidFill>
              </a:rPr>
              <a:t>one pigeonhole</a:t>
            </a:r>
            <a:r>
              <a:rPr lang="en-US" dirty="0" smtClean="0"/>
              <a:t> must contain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 /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more pigeons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</a:t>
            </a:r>
            <a:r>
              <a:rPr lang="en-US" dirty="0" smtClean="0">
                <a:solidFill>
                  <a:srgbClr val="FF0000"/>
                </a:solidFill>
              </a:rPr>
              <a:t>100 people</a:t>
            </a:r>
            <a:r>
              <a:rPr lang="en-US" dirty="0" smtClean="0"/>
              <a:t> and we want to know how many of them are born in same month?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n = 12 months</a:t>
            </a:r>
            <a:r>
              <a:rPr lang="en-US" dirty="0" smtClean="0"/>
              <a:t> (pigeonholes)</a:t>
            </a:r>
          </a:p>
          <a:p>
            <a:pPr>
              <a:buNone/>
            </a:pPr>
            <a:r>
              <a:rPr lang="en-US" dirty="0" smtClean="0"/>
              <a:t>	The required no. is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100/12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8 + 1/3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9</a:t>
            </a:r>
            <a:r>
              <a:rPr lang="en-US" dirty="0" smtClean="0"/>
              <a:t> who were born in the same month.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FF0000"/>
                </a:solidFill>
              </a:rPr>
              <a:t>minimum number</a:t>
            </a:r>
            <a:r>
              <a:rPr lang="en-US" dirty="0" smtClean="0"/>
              <a:t> of students required in a </a:t>
            </a:r>
            <a:r>
              <a:rPr lang="en-US" dirty="0" smtClean="0">
                <a:solidFill>
                  <a:srgbClr val="FF0000"/>
                </a:solidFill>
              </a:rPr>
              <a:t>Discrete Mathematics</a:t>
            </a:r>
            <a:r>
              <a:rPr lang="en-US" dirty="0" smtClean="0"/>
              <a:t> class to be sure that at least </a:t>
            </a:r>
            <a:r>
              <a:rPr lang="en-US" dirty="0" smtClean="0">
                <a:solidFill>
                  <a:srgbClr val="FF0000"/>
                </a:solidFill>
              </a:rPr>
              <a:t>six</a:t>
            </a:r>
            <a:r>
              <a:rPr lang="en-US" dirty="0" smtClean="0"/>
              <a:t> will receive the same </a:t>
            </a:r>
            <a:r>
              <a:rPr lang="en-US" dirty="0" smtClean="0">
                <a:solidFill>
                  <a:srgbClr val="FF0000"/>
                </a:solidFill>
              </a:rPr>
              <a:t>grade</a:t>
            </a:r>
            <a:r>
              <a:rPr lang="en-US" dirty="0" smtClean="0"/>
              <a:t>, if there are </a:t>
            </a:r>
            <a:r>
              <a:rPr lang="en-US" dirty="0" smtClean="0">
                <a:solidFill>
                  <a:srgbClr val="FF0000"/>
                </a:solidFill>
              </a:rPr>
              <a:t>five</a:t>
            </a:r>
            <a:r>
              <a:rPr lang="en-US" dirty="0" smtClean="0"/>
              <a:t> possible </a:t>
            </a:r>
            <a:r>
              <a:rPr lang="en-US" dirty="0" smtClean="0">
                <a:solidFill>
                  <a:srgbClr val="FF0000"/>
                </a:solidFill>
              </a:rPr>
              <a:t>grades</a:t>
            </a:r>
            <a:r>
              <a:rPr lang="en-US" dirty="0" smtClean="0"/>
              <a:t>, 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FF0000"/>
                </a:solidFill>
              </a:rPr>
              <a:t>F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want to ensure that there are </a:t>
            </a:r>
            <a:r>
              <a:rPr lang="en-US" dirty="0" smtClean="0">
                <a:solidFill>
                  <a:srgbClr val="FF0000"/>
                </a:solidFill>
              </a:rPr>
              <a:t>6 students</a:t>
            </a:r>
            <a:r>
              <a:rPr lang="en-US" dirty="0" smtClean="0"/>
              <a:t> who have the </a:t>
            </a:r>
            <a:r>
              <a:rPr lang="en-US" dirty="0" smtClean="0">
                <a:solidFill>
                  <a:srgbClr val="FF0000"/>
                </a:solidFill>
              </a:rPr>
              <a:t>same grade</a:t>
            </a:r>
            <a:r>
              <a:rPr lang="en-US" dirty="0" smtClean="0"/>
              <a:t> that is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</a:t>
            </a:r>
            <a:r>
              <a:rPr lang="en-US" dirty="0" smtClean="0"/>
              <a:t>N/5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</a:t>
            </a:r>
            <a:r>
              <a:rPr lang="en-US" dirty="0" smtClean="0"/>
              <a:t> = 6 (given)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The smallest such integer is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FF0000"/>
                </a:solidFill>
              </a:rPr>
              <a:t>N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5(6-1)+1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FF0000"/>
                </a:solidFill>
              </a:rPr>
              <a:t>5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</a:t>
            </a:r>
            <a:r>
              <a:rPr lang="en-US" dirty="0" smtClean="0">
                <a:solidFill>
                  <a:srgbClr val="FF0000"/>
                </a:solidFill>
              </a:rPr>
              <a:t> 5 + 1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26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Thus </a:t>
            </a:r>
            <a:r>
              <a:rPr lang="en-US" dirty="0" smtClean="0">
                <a:solidFill>
                  <a:srgbClr val="FF0000"/>
                </a:solidFill>
              </a:rPr>
              <a:t>26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minimum number</a:t>
            </a:r>
            <a:r>
              <a:rPr lang="en-US" dirty="0" smtClean="0"/>
              <a:t> of students needed to be sure that </a:t>
            </a:r>
            <a:r>
              <a:rPr lang="en-US" dirty="0" smtClean="0">
                <a:solidFill>
                  <a:srgbClr val="FF0000"/>
                </a:solidFill>
              </a:rPr>
              <a:t>at least 6 students</a:t>
            </a:r>
            <a:r>
              <a:rPr lang="en-US" dirty="0" smtClean="0"/>
              <a:t> will receive the </a:t>
            </a:r>
            <a:r>
              <a:rPr lang="en-US" dirty="0" smtClean="0">
                <a:solidFill>
                  <a:srgbClr val="FF0000"/>
                </a:solidFill>
              </a:rPr>
              <a:t>same grades</a:t>
            </a:r>
            <a:r>
              <a:rPr lang="en-US" dirty="0" smtClean="0"/>
              <a:t>. 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5151</TotalTime>
  <Words>2114</Words>
  <Application>Microsoft Office PowerPoint</Application>
  <PresentationFormat>On-screen Show (4:3)</PresentationFormat>
  <Paragraphs>479</Paragraphs>
  <Slides>59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Origin</vt:lpstr>
      <vt:lpstr>COUNTING Lecture # 21  </vt:lpstr>
      <vt:lpstr>COUNTING</vt:lpstr>
      <vt:lpstr>INTRODUCTION</vt:lpstr>
      <vt:lpstr>Slide 4</vt:lpstr>
      <vt:lpstr>BASIC COUNTING PRINCIPLES</vt:lpstr>
      <vt:lpstr>EXAMPLE</vt:lpstr>
      <vt:lpstr>THE SUM RULE</vt:lpstr>
      <vt:lpstr>EXAMPLE</vt:lpstr>
      <vt:lpstr>GENERALIZED SUM RULE</vt:lpstr>
      <vt:lpstr>SUM RULE IN TERMS OF SETS</vt:lpstr>
      <vt:lpstr>EXAMPLE</vt:lpstr>
      <vt:lpstr>THE PRODUCT RULE</vt:lpstr>
      <vt:lpstr>EXAMPLE</vt:lpstr>
      <vt:lpstr>SOLUTION</vt:lpstr>
      <vt:lpstr>GENERALIZED PRODUCT RULE</vt:lpstr>
      <vt:lpstr>PRODUCT RULE IN TERMS OF SETS</vt:lpstr>
      <vt:lpstr>EXERCISE</vt:lpstr>
      <vt:lpstr>EXERCISE</vt:lpstr>
      <vt:lpstr>SOLUTION</vt:lpstr>
      <vt:lpstr>Slide 20</vt:lpstr>
      <vt:lpstr>EXERCISE</vt:lpstr>
      <vt:lpstr>SOLUTION</vt:lpstr>
      <vt:lpstr>Slide 23</vt:lpstr>
      <vt:lpstr>EXERCISE</vt:lpstr>
      <vt:lpstr>SOLUTION</vt:lpstr>
      <vt:lpstr>Slide 26</vt:lpstr>
      <vt:lpstr>EXERCISE</vt:lpstr>
      <vt:lpstr>SOLUTION</vt:lpstr>
      <vt:lpstr>EXERCISE</vt:lpstr>
      <vt:lpstr>SOLUTION</vt:lpstr>
      <vt:lpstr>NUMBER OF ITERATIONS OF A NESTED LOOP</vt:lpstr>
      <vt:lpstr>SOLUTION</vt:lpstr>
      <vt:lpstr>EXERCISE</vt:lpstr>
      <vt:lpstr>SOLUTION</vt:lpstr>
      <vt:lpstr>EXERCISE</vt:lpstr>
      <vt:lpstr>Slide 36</vt:lpstr>
      <vt:lpstr>THE PIGEONHOLE PRINCIPLE</vt:lpstr>
      <vt:lpstr>Slide 38</vt:lpstr>
      <vt:lpstr>Slide 39</vt:lpstr>
      <vt:lpstr>REVISION OF FUNCTIONS</vt:lpstr>
      <vt:lpstr>Slide 41</vt:lpstr>
      <vt:lpstr>PIGEONHOLE PRINCIPLE</vt:lpstr>
      <vt:lpstr>Slide 43</vt:lpstr>
      <vt:lpstr>PIGEONHOLE PRINCIPLE</vt:lpstr>
      <vt:lpstr>EXAMPLES</vt:lpstr>
      <vt:lpstr>EXERCISE</vt:lpstr>
      <vt:lpstr>EXERCISE</vt:lpstr>
      <vt:lpstr>EXERCISE</vt:lpstr>
      <vt:lpstr>EXERCISE</vt:lpstr>
      <vt:lpstr>GENERALIZED PIGEONHOLE PRINCIPLE</vt:lpstr>
      <vt:lpstr>GENERALIZED PIGEONHOLE PRINCIPLE</vt:lpstr>
      <vt:lpstr>EXERCISE</vt:lpstr>
      <vt:lpstr>SOLUTION</vt:lpstr>
      <vt:lpstr>FLOOR &amp; CEILING FUNCTIONS</vt:lpstr>
      <vt:lpstr>EXAMPLE</vt:lpstr>
      <vt:lpstr>PIGEONHOLE PRINCIPLE</vt:lpstr>
      <vt:lpstr>EXAMPLE</vt:lpstr>
      <vt:lpstr>EXERCISE</vt:lpstr>
      <vt:lpstr>SOLUTION</vt:lpstr>
    </vt:vector>
  </TitlesOfParts>
  <Company>University of Virginia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Yasir</cp:lastModifiedBy>
  <cp:revision>412</cp:revision>
  <dcterms:created xsi:type="dcterms:W3CDTF">2004-09-16T16:06:30Z</dcterms:created>
  <dcterms:modified xsi:type="dcterms:W3CDTF">2014-01-06T16:58:49Z</dcterms:modified>
</cp:coreProperties>
</file>
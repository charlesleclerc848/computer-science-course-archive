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85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6" r:id="rId31"/>
    <p:sldId id="287" r:id="rId32"/>
    <p:sldId id="288" r:id="rId33"/>
    <p:sldId id="284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0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EC208-CBD2-4BB3-BC72-DCDC3D7B8183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421D0-6215-4261-B64C-7470A97F18E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421D0-6215-4261-B64C-7470A97F18E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C547385E-8BC5-4441-A857-FF4014F161FF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C547385E-8BC5-4441-A857-FF4014F161FF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547385E-8BC5-4441-A857-FF4014F161FF}" type="datetimeFigureOut">
              <a:rPr lang="en-US" smtClean="0"/>
              <a:pPr/>
              <a:t>10/9/2023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3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FUNCTIONS</a:t>
            </a:r>
            <a:br>
              <a:rPr lang="en-US" b="1" u="sng" dirty="0" smtClean="0">
                <a:solidFill>
                  <a:srgbClr val="C00000"/>
                </a:solidFill>
              </a:rPr>
            </a:br>
            <a:r>
              <a:rPr lang="en-US" sz="2900" b="1" dirty="0" smtClean="0">
                <a:solidFill>
                  <a:srgbClr val="0070C0"/>
                </a:solidFill>
              </a:rPr>
              <a:t>Lecture # 10</a:t>
            </a:r>
            <a:endParaRPr lang="en-US" sz="2900" b="1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FUNCTIONS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function </a:t>
            </a:r>
            <a:r>
              <a:rPr lang="en-US" b="1" i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from a set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to a set 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is a </a:t>
            </a:r>
            <a:r>
              <a:rPr lang="en-US" b="1" i="1" dirty="0" smtClean="0">
                <a:solidFill>
                  <a:srgbClr val="C00000"/>
                </a:solidFill>
              </a:rPr>
              <a:t>relationship</a:t>
            </a:r>
            <a:r>
              <a:rPr lang="en-US" dirty="0" smtClean="0"/>
              <a:t> between elements of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and elements of 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such that </a:t>
            </a:r>
            <a:r>
              <a:rPr lang="en-US" b="1" i="1" dirty="0" smtClean="0">
                <a:solidFill>
                  <a:srgbClr val="00B050"/>
                </a:solidFill>
              </a:rPr>
              <a:t>each</a:t>
            </a:r>
            <a:r>
              <a:rPr lang="en-US" dirty="0" smtClean="0"/>
              <a:t> element of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is related to a </a:t>
            </a:r>
            <a:r>
              <a:rPr lang="en-US" b="1" i="1" dirty="0" smtClean="0">
                <a:solidFill>
                  <a:srgbClr val="00B050"/>
                </a:solidFill>
              </a:rPr>
              <a:t>unique</a:t>
            </a:r>
            <a:r>
              <a:rPr lang="en-US" dirty="0" smtClean="0"/>
              <a:t> element of 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, and is denoted  </a:t>
            </a:r>
            <a:r>
              <a:rPr lang="en-US" i="1" dirty="0" smtClean="0">
                <a:solidFill>
                  <a:srgbClr val="C00000"/>
                </a:solidFill>
              </a:rPr>
              <a:t>f</a:t>
            </a:r>
            <a:r>
              <a:rPr lang="en-US" dirty="0" smtClean="0">
                <a:solidFill>
                  <a:srgbClr val="C00000"/>
                </a:solidFill>
              </a:rPr>
              <a:t> 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The set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is called the </a:t>
            </a:r>
            <a:r>
              <a:rPr lang="en-US" b="1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of </a:t>
            </a:r>
            <a:r>
              <a:rPr lang="en-US" b="1" i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is called the </a:t>
            </a:r>
            <a:r>
              <a:rPr lang="en-US" b="1" dirty="0" smtClean="0">
                <a:solidFill>
                  <a:srgbClr val="C00000"/>
                </a:solidFill>
              </a:rPr>
              <a:t>co-domain</a:t>
            </a:r>
            <a:r>
              <a:rPr lang="en-US" dirty="0" smtClean="0"/>
              <a:t> of </a:t>
            </a:r>
            <a:r>
              <a:rPr lang="en-US" b="1" i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Functions</a:t>
            </a:r>
            <a:r>
              <a:rPr lang="en-US" dirty="0" smtClean="0"/>
              <a:t> are sometimes also called </a:t>
            </a:r>
            <a:r>
              <a:rPr lang="en-US" b="1" dirty="0" smtClean="0">
                <a:solidFill>
                  <a:srgbClr val="C00000"/>
                </a:solidFill>
              </a:rPr>
              <a:t>mappings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transformations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REMARK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unique element y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that is related to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by </a:t>
            </a:r>
            <a:r>
              <a:rPr lang="en-US" i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denoted </a:t>
            </a:r>
            <a:r>
              <a:rPr lang="en-US" i="1" dirty="0" smtClean="0">
                <a:solidFill>
                  <a:srgbClr val="C00000"/>
                </a:solidFill>
              </a:rPr>
              <a:t>f</a:t>
            </a:r>
            <a:r>
              <a:rPr lang="en-US" dirty="0" smtClean="0">
                <a:solidFill>
                  <a:srgbClr val="C00000"/>
                </a:solidFill>
              </a:rPr>
              <a:t>(x)</a:t>
            </a:r>
            <a:r>
              <a:rPr lang="en-US" dirty="0" smtClean="0"/>
              <a:t> and is called                                                                                      	</a:t>
            </a:r>
          </a:p>
          <a:p>
            <a:pPr>
              <a:buNone/>
            </a:pPr>
            <a:r>
              <a:rPr lang="en-US" dirty="0" smtClean="0"/>
              <a:t>			 the value of </a:t>
            </a:r>
            <a:r>
              <a:rPr lang="en-US" i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at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, </a:t>
            </a:r>
          </a:p>
          <a:p>
            <a:pPr>
              <a:buNone/>
            </a:pPr>
            <a:r>
              <a:rPr lang="en-US" dirty="0" smtClean="0"/>
              <a:t>				or</a:t>
            </a:r>
          </a:p>
          <a:p>
            <a:pPr>
              <a:buNone/>
            </a:pPr>
            <a:r>
              <a:rPr lang="en-US" dirty="0" smtClean="0"/>
              <a:t>			 the image of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under </a:t>
            </a:r>
            <a:r>
              <a:rPr lang="en-US" i="1" dirty="0" smtClean="0">
                <a:solidFill>
                  <a:srgbClr val="C00000"/>
                </a:solidFill>
              </a:rPr>
              <a:t>f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ARROW DIAGRAM OF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58200" cy="4937760"/>
          </a:xfrm>
        </p:spPr>
        <p:txBody>
          <a:bodyPr/>
          <a:lstStyle/>
          <a:p>
            <a:r>
              <a:rPr lang="en-US" dirty="0" smtClean="0"/>
              <a:t>The definition of a function implies that the </a:t>
            </a:r>
            <a:r>
              <a:rPr lang="en-US" b="1" dirty="0" smtClean="0">
                <a:solidFill>
                  <a:srgbClr val="C00000"/>
                </a:solidFill>
              </a:rPr>
              <a:t>arrow diagram</a:t>
            </a:r>
            <a:r>
              <a:rPr lang="en-US" dirty="0" smtClean="0"/>
              <a:t> for a function f has the following </a:t>
            </a:r>
            <a:r>
              <a:rPr lang="en-US" b="1" dirty="0" smtClean="0">
                <a:solidFill>
                  <a:srgbClr val="C00000"/>
                </a:solidFill>
              </a:rPr>
              <a:t>two properties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	1.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C00000"/>
                </a:solidFill>
              </a:rPr>
              <a:t>Every element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has an arrow coming out of it		    	</a:t>
            </a:r>
          </a:p>
          <a:p>
            <a:pPr>
              <a:buNone/>
            </a:pPr>
            <a:r>
              <a:rPr lang="en-US" b="1" dirty="0" smtClean="0"/>
              <a:t>	2.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C00000"/>
                </a:solidFill>
              </a:rPr>
              <a:t>No two elements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C00000"/>
                </a:solidFill>
              </a:rPr>
              <a:t>two arrows</a:t>
            </a:r>
            <a:r>
              <a:rPr lang="en-US" dirty="0" smtClean="0"/>
              <a:t> coming out of it that point to two different elements of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r>
              <a:rPr lang="en-US" dirty="0" smtClean="0"/>
              <a:t>Let X = </a:t>
            </a:r>
            <a:r>
              <a:rPr lang="en-US" dirty="0" smtClean="0">
                <a:solidFill>
                  <a:srgbClr val="C00000"/>
                </a:solidFill>
              </a:rPr>
              <a:t>{a, b, c} </a:t>
            </a:r>
            <a:r>
              <a:rPr lang="en-US" dirty="0" smtClean="0"/>
              <a:t>and Y = </a:t>
            </a:r>
            <a:r>
              <a:rPr lang="en-US" dirty="0" smtClean="0">
                <a:solidFill>
                  <a:srgbClr val="C00000"/>
                </a:solidFill>
              </a:rPr>
              <a:t>{1, 2, 3, 4}.</a:t>
            </a:r>
          </a:p>
          <a:p>
            <a:r>
              <a:rPr lang="en-US" dirty="0" smtClean="0"/>
              <a:t>Define a function </a:t>
            </a:r>
            <a:r>
              <a:rPr lang="en-US" i="1" dirty="0" smtClean="0"/>
              <a:t>f</a:t>
            </a:r>
            <a:r>
              <a:rPr lang="en-US" dirty="0" smtClean="0"/>
              <a:t> from X to Y by the arrow diagram.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/>
              <a:t>	f(a) = 2, f(b) = 4,and f(c) = 2 OR</a:t>
            </a:r>
          </a:p>
          <a:p>
            <a:pPr algn="ctr">
              <a:buNone/>
            </a:pPr>
            <a:r>
              <a:rPr lang="en-US" dirty="0" smtClean="0"/>
              <a:t>	image of a = 2, image of b = 4, image of c = 2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2209800"/>
            <a:ext cx="41910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NONFUNCTIONS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X = </a:t>
            </a:r>
            <a:r>
              <a:rPr lang="en-US" dirty="0" smtClean="0">
                <a:solidFill>
                  <a:srgbClr val="C00000"/>
                </a:solidFill>
              </a:rPr>
              <a:t>{2, 4, 5} </a:t>
            </a:r>
            <a:r>
              <a:rPr lang="en-US" dirty="0" smtClean="0"/>
              <a:t>to Y = </a:t>
            </a:r>
            <a:r>
              <a:rPr lang="en-US" dirty="0" smtClean="0">
                <a:solidFill>
                  <a:srgbClr val="C00000"/>
                </a:solidFill>
              </a:rPr>
              <a:t>{1, 2, 4, 6}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905000"/>
            <a:ext cx="71628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NONFUNCTIONS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X = </a:t>
            </a:r>
            <a:r>
              <a:rPr lang="en-US" dirty="0" smtClean="0">
                <a:solidFill>
                  <a:srgbClr val="C00000"/>
                </a:solidFill>
              </a:rPr>
              <a:t>{2, 4, 5} </a:t>
            </a:r>
            <a:r>
              <a:rPr lang="en-US" dirty="0" smtClean="0"/>
              <a:t>to Y = </a:t>
            </a:r>
            <a:r>
              <a:rPr lang="en-US" dirty="0" smtClean="0">
                <a:solidFill>
                  <a:srgbClr val="C00000"/>
                </a:solidFill>
              </a:rPr>
              <a:t>{1, 2, 4, 6}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NOT A FUNCTION</a:t>
            </a:r>
            <a:r>
              <a:rPr lang="en-US" dirty="0" smtClean="0"/>
              <a:t> 	   </a:t>
            </a:r>
            <a:r>
              <a:rPr lang="en-US" b="1" dirty="0" smtClean="0">
                <a:solidFill>
                  <a:srgbClr val="C00000"/>
                </a:solidFill>
              </a:rPr>
              <a:t>NOT A FUNCTION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905000"/>
            <a:ext cx="71628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7518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RANGE OF A FUNCTION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f: X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. The range of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consists of those elements of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that are </a:t>
            </a:r>
            <a:r>
              <a:rPr lang="en-US" dirty="0" smtClean="0">
                <a:solidFill>
                  <a:srgbClr val="C00000"/>
                </a:solidFill>
              </a:rPr>
              <a:t>images</a:t>
            </a:r>
            <a:r>
              <a:rPr lang="en-US" dirty="0" smtClean="0"/>
              <a:t> of elements of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Symbolically: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	Range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C00000"/>
                </a:solidFill>
              </a:rPr>
              <a:t>f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= {y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Y | y = f(x),</a:t>
            </a:r>
            <a:r>
              <a:rPr lang="en-US" dirty="0" smtClean="0"/>
              <a:t>	for some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X}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REMARKS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58200" cy="4937760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range</a:t>
            </a:r>
            <a:r>
              <a:rPr lang="en-US" dirty="0" smtClean="0"/>
              <a:t> of a function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always a </a:t>
            </a:r>
            <a:r>
              <a:rPr lang="en-US" dirty="0" smtClean="0">
                <a:solidFill>
                  <a:srgbClr val="C00000"/>
                </a:solidFill>
              </a:rPr>
              <a:t>subset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co-domain</a:t>
            </a:r>
            <a:r>
              <a:rPr lang="en-US" dirty="0" smtClean="0"/>
              <a:t> of f.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range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f: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/>
              <a:t>is also called the </a:t>
            </a:r>
            <a:r>
              <a:rPr lang="en-US" dirty="0" smtClean="0">
                <a:solidFill>
                  <a:srgbClr val="C00000"/>
                </a:solidFill>
              </a:rPr>
              <a:t>image of X </a:t>
            </a:r>
            <a:r>
              <a:rPr lang="en-US" dirty="0" smtClean="0"/>
              <a:t>under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 smtClean="0">
                <a:solidFill>
                  <a:srgbClr val="C00000"/>
                </a:solidFill>
              </a:rPr>
              <a:t>y = f(x), </a:t>
            </a:r>
            <a:r>
              <a:rPr lang="en-US" dirty="0" smtClean="0"/>
              <a:t>then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is called the </a:t>
            </a:r>
            <a:r>
              <a:rPr lang="en-US" dirty="0" smtClean="0">
                <a:solidFill>
                  <a:srgbClr val="C00000"/>
                </a:solidFill>
              </a:rPr>
              <a:t>pre-image of y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set of all elements of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, that are related to some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  is called </a:t>
            </a:r>
            <a:r>
              <a:rPr lang="en-US" dirty="0" smtClean="0">
                <a:solidFill>
                  <a:srgbClr val="C00000"/>
                </a:solidFill>
              </a:rPr>
              <a:t>the inverse image of y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Determine the </a:t>
            </a:r>
            <a:r>
              <a:rPr lang="en-US" b="1" dirty="0" smtClean="0">
                <a:solidFill>
                  <a:srgbClr val="C00000"/>
                </a:solidFill>
              </a:rPr>
              <a:t>range</a:t>
            </a:r>
            <a:r>
              <a:rPr lang="en-US" dirty="0" smtClean="0"/>
              <a:t> of the functions </a:t>
            </a:r>
            <a:r>
              <a:rPr lang="en-US" b="1" dirty="0" smtClean="0">
                <a:solidFill>
                  <a:srgbClr val="C00000"/>
                </a:solidFill>
              </a:rPr>
              <a:t>f, g, h </a:t>
            </a:r>
            <a:r>
              <a:rPr lang="en-US" dirty="0" smtClean="0"/>
              <a:t>from </a:t>
            </a:r>
          </a:p>
          <a:p>
            <a:pPr>
              <a:buNone/>
            </a:pPr>
            <a:r>
              <a:rPr lang="en-US" dirty="0" smtClean="0"/>
              <a:t>	X = </a:t>
            </a:r>
            <a:r>
              <a:rPr lang="en-US" b="1" dirty="0" smtClean="0">
                <a:solidFill>
                  <a:srgbClr val="C00000"/>
                </a:solidFill>
              </a:rPr>
              <a:t>{2, 4, 5} </a:t>
            </a:r>
            <a:r>
              <a:rPr lang="en-US" dirty="0" smtClean="0"/>
              <a:t>to Y = </a:t>
            </a:r>
            <a:r>
              <a:rPr lang="en-US" b="1" dirty="0" smtClean="0">
                <a:solidFill>
                  <a:srgbClr val="C00000"/>
                </a:solidFill>
              </a:rPr>
              <a:t>{1, 2, 4, 6} </a:t>
            </a:r>
            <a:r>
              <a:rPr lang="en-US" dirty="0" smtClean="0"/>
              <a:t>defined as: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pt-BR" dirty="0" smtClean="0"/>
              <a:t>2.	g = </a:t>
            </a:r>
            <a:r>
              <a:rPr lang="pt-BR" dirty="0" smtClean="0">
                <a:solidFill>
                  <a:srgbClr val="C00000"/>
                </a:solidFill>
              </a:rPr>
              <a:t>{ (2, 6), (4, 2), (5,1) }</a:t>
            </a:r>
          </a:p>
          <a:p>
            <a:r>
              <a:rPr lang="pt-BR" dirty="0" smtClean="0"/>
              <a:t>3.	</a:t>
            </a:r>
            <a:r>
              <a:rPr lang="pt-BR" dirty="0" smtClean="0">
                <a:solidFill>
                  <a:srgbClr val="C00000"/>
                </a:solidFill>
              </a:rPr>
              <a:t>h(2) = 4,	h(4) = 4,	h(5) = 1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905000"/>
            <a:ext cx="54102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u="sng" dirty="0" smtClean="0">
                <a:solidFill>
                  <a:srgbClr val="0070C0"/>
                </a:solidFill>
              </a:rPr>
              <a:t>SOLUTION</a:t>
            </a:r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smtClean="0"/>
              <a:t>Range of </a:t>
            </a:r>
            <a:r>
              <a:rPr lang="en-US" dirty="0" smtClean="0">
                <a:solidFill>
                  <a:srgbClr val="C00000"/>
                </a:solidFill>
              </a:rPr>
              <a:t>f = {1, 6} </a:t>
            </a:r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/>
              <a:t>Range of </a:t>
            </a:r>
            <a:r>
              <a:rPr lang="en-US" dirty="0" smtClean="0">
                <a:solidFill>
                  <a:srgbClr val="C00000"/>
                </a:solidFill>
              </a:rPr>
              <a:t>g = {1, 2, 6}</a:t>
            </a:r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/>
              <a:t>Range of </a:t>
            </a:r>
            <a:r>
              <a:rPr lang="en-US" dirty="0" smtClean="0">
                <a:solidFill>
                  <a:srgbClr val="C00000"/>
                </a:solidFill>
              </a:rPr>
              <a:t>h = {1, 4}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GRAPH OF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be a real-valued function of a real variable. i.e.          </a:t>
            </a:r>
            <a:r>
              <a:rPr lang="en-US" b="1" dirty="0" smtClean="0">
                <a:solidFill>
                  <a:srgbClr val="C00000"/>
                </a:solidFill>
              </a:rPr>
              <a:t>f: R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R.</a:t>
            </a:r>
            <a:r>
              <a:rPr lang="en-US" dirty="0" smtClean="0"/>
              <a:t> The graph of f is the set of all points (x, y) in the Cartesian coordinate plane with the property that x is in the </a:t>
            </a:r>
            <a:r>
              <a:rPr lang="en-US" b="1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y = f(x).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We have the function </a:t>
            </a:r>
          </a:p>
          <a:p>
            <a:pPr>
              <a:buNone/>
            </a:pPr>
            <a:endParaRPr lang="en-US" sz="3200" dirty="0" smtClean="0"/>
          </a:p>
          <a:p>
            <a:pPr>
              <a:buNone/>
            </a:pPr>
            <a:r>
              <a:rPr lang="en-US" sz="3200" dirty="0" smtClean="0"/>
              <a:t>				</a:t>
            </a:r>
            <a:r>
              <a:rPr lang="en-US" sz="3200" b="1" dirty="0" smtClean="0">
                <a:solidFill>
                  <a:srgbClr val="C00000"/>
                </a:solidFill>
              </a:rPr>
              <a:t>y = x</a:t>
            </a:r>
            <a:r>
              <a:rPr lang="en-US" sz="32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3200" dirty="0" smtClean="0"/>
              <a:t> </a:t>
            </a:r>
          </a:p>
          <a:p>
            <a:pPr>
              <a:buNone/>
            </a:pPr>
            <a:endParaRPr lang="en-US" sz="3200" dirty="0" smtClean="0"/>
          </a:p>
          <a:p>
            <a:pPr>
              <a:buNone/>
            </a:pPr>
            <a:r>
              <a:rPr lang="en-US" sz="3200" dirty="0" smtClean="0"/>
              <a:t>	From set of real numbers to set of real numbers.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1" y="1143000"/>
            <a:ext cx="8229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686800" cy="990600"/>
          </a:xfrm>
        </p:spPr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VERTICAL LINE TEST FOR THE GRAPH OF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For a graph to be the graph of a function, any given vertical line in its domain intersects the graph in at most one point. 	</a:t>
            </a:r>
            <a:r>
              <a:rPr lang="en-US" smtClean="0"/>
              <a:t>	   </a:t>
            </a:r>
            <a:r>
              <a:rPr lang="en-US" b="1" smtClean="0">
                <a:solidFill>
                  <a:srgbClr val="C00000"/>
                </a:solidFill>
              </a:rPr>
              <a:t>For </a:t>
            </a:r>
            <a:r>
              <a:rPr lang="en-US" b="1" dirty="0" smtClean="0">
                <a:solidFill>
                  <a:srgbClr val="C00000"/>
                </a:solidFill>
              </a:rPr>
              <a:t>y = x</a:t>
            </a:r>
            <a:r>
              <a:rPr lang="en-US" b="1" baseline="30000" dirty="0" smtClean="0">
                <a:solidFill>
                  <a:srgbClr val="C00000"/>
                </a:solidFill>
              </a:rPr>
              <a:t>2     </a:t>
            </a:r>
            <a:r>
              <a:rPr lang="en-US" b="1" dirty="0" smtClean="0">
                <a:solidFill>
                  <a:srgbClr val="C00000"/>
                </a:solidFill>
              </a:rPr>
              <a:t>  </a:t>
            </a:r>
            <a:endParaRPr lang="en-US" b="1" baseline="300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So, it’s the </a:t>
            </a:r>
            <a:r>
              <a:rPr lang="en-US" b="1" dirty="0" smtClean="0">
                <a:solidFill>
                  <a:srgbClr val="C00000"/>
                </a:solidFill>
              </a:rPr>
              <a:t>graph of a function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2428572"/>
            <a:ext cx="4800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Define a binary relation </a:t>
            </a:r>
            <a:r>
              <a:rPr lang="en-US" b="1" dirty="0" smtClean="0">
                <a:solidFill>
                  <a:srgbClr val="C00000"/>
                </a:solidFill>
              </a:rPr>
              <a:t>P </a:t>
            </a:r>
            <a:r>
              <a:rPr lang="en-US" dirty="0" smtClean="0"/>
              <a:t>from 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to 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as follows: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for all </a:t>
            </a:r>
            <a:r>
              <a:rPr lang="en-US" dirty="0" smtClean="0"/>
              <a:t>real numbers x and </a:t>
            </a:r>
            <a:r>
              <a:rPr lang="en-US" b="1" dirty="0" smtClean="0">
                <a:solidFill>
                  <a:srgbClr val="C00000"/>
                </a:solidFill>
              </a:rPr>
              <a:t>y (x, y)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b="1" dirty="0" smtClean="0">
                <a:solidFill>
                  <a:srgbClr val="C00000"/>
                </a:solidFill>
              </a:rPr>
              <a:t> P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</a:t>
            </a:r>
            <a:r>
              <a:rPr lang="en-US" b="1" dirty="0" smtClean="0">
                <a:solidFill>
                  <a:srgbClr val="C00000"/>
                </a:solidFill>
              </a:rPr>
              <a:t> x = y</a:t>
            </a:r>
            <a:r>
              <a:rPr lang="en-US" b="1" baseline="30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                                       </a:t>
            </a:r>
          </a:p>
          <a:p>
            <a:pPr>
              <a:buNone/>
            </a:pPr>
            <a:r>
              <a:rPr lang="en-US" dirty="0" smtClean="0"/>
              <a:t>	Is 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a function?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This is not a </a:t>
            </a:r>
            <a:r>
              <a:rPr lang="en-US" b="1" dirty="0" smtClean="0">
                <a:solidFill>
                  <a:srgbClr val="C00000"/>
                </a:solidFill>
              </a:rPr>
              <a:t>graph of a function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143000"/>
            <a:ext cx="8077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Find </a:t>
            </a:r>
            <a:r>
              <a:rPr lang="en-US" b="1" dirty="0" smtClean="0">
                <a:solidFill>
                  <a:srgbClr val="C00000"/>
                </a:solidFill>
              </a:rPr>
              <a:t>all functions</a:t>
            </a:r>
            <a:r>
              <a:rPr lang="en-US" dirty="0" smtClean="0"/>
              <a:t> from X = </a:t>
            </a:r>
            <a:r>
              <a:rPr lang="en-US" dirty="0" smtClean="0">
                <a:solidFill>
                  <a:srgbClr val="C00000"/>
                </a:solidFill>
              </a:rPr>
              <a:t>{ a, b } </a:t>
            </a:r>
            <a:r>
              <a:rPr lang="en-US" dirty="0" smtClean="0"/>
              <a:t>to Y = </a:t>
            </a:r>
            <a:r>
              <a:rPr lang="en-US" dirty="0" smtClean="0">
                <a:solidFill>
                  <a:srgbClr val="C00000"/>
                </a:solidFill>
              </a:rPr>
              <a:t>{ u, v }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2286000"/>
            <a:ext cx="74676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600200"/>
            <a:ext cx="78486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Find four binary relations from X = { a, b }to Y = { u, v } that are not functions.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auto">
          <a:xfrm>
            <a:off x="2819400" y="2209800"/>
            <a:ext cx="57912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 anchor="t"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762000"/>
            <a:ext cx="8915400" cy="5638800"/>
          </a:xfrm>
        </p:spPr>
        <p:txBody>
          <a:bodyPr>
            <a:normAutofit/>
          </a:bodyPr>
          <a:lstStyle/>
          <a:p>
            <a:r>
              <a:rPr lang="en-US" dirty="0" smtClean="0"/>
              <a:t>How many functions are there from a set with three elements to a set with four elements?</a:t>
            </a:r>
          </a:p>
          <a:p>
            <a:endParaRPr lang="en-US" dirty="0" smtClean="0"/>
          </a:p>
          <a:p>
            <a:r>
              <a:rPr lang="es-ES" b="1" u="sng" dirty="0" smtClean="0">
                <a:solidFill>
                  <a:srgbClr val="C00000"/>
                </a:solidFill>
              </a:rPr>
              <a:t>SOLUTION</a:t>
            </a:r>
          </a:p>
          <a:p>
            <a:pPr>
              <a:buNone/>
            </a:pPr>
            <a:r>
              <a:rPr lang="es-ES" dirty="0" smtClean="0"/>
              <a:t>	</a:t>
            </a:r>
            <a:r>
              <a:rPr lang="es-ES" dirty="0" err="1" smtClean="0"/>
              <a:t>Let</a:t>
            </a:r>
            <a:r>
              <a:rPr lang="es-ES" dirty="0" smtClean="0"/>
              <a:t> 		X = </a:t>
            </a:r>
            <a:r>
              <a:rPr lang="es-ES" dirty="0" smtClean="0">
                <a:solidFill>
                  <a:srgbClr val="C00000"/>
                </a:solidFill>
              </a:rPr>
              <a:t>{x</a:t>
            </a:r>
            <a:r>
              <a:rPr lang="es-ES" baseline="-25000" dirty="0" smtClean="0">
                <a:solidFill>
                  <a:srgbClr val="C00000"/>
                </a:solidFill>
              </a:rPr>
              <a:t>1</a:t>
            </a:r>
            <a:r>
              <a:rPr lang="es-ES" dirty="0" smtClean="0">
                <a:solidFill>
                  <a:srgbClr val="C00000"/>
                </a:solidFill>
              </a:rPr>
              <a:t>, x</a:t>
            </a:r>
            <a:r>
              <a:rPr lang="es-ES" baseline="-25000" dirty="0" smtClean="0">
                <a:solidFill>
                  <a:srgbClr val="C00000"/>
                </a:solidFill>
              </a:rPr>
              <a:t>2</a:t>
            </a:r>
            <a:r>
              <a:rPr lang="es-ES" dirty="0" smtClean="0">
                <a:solidFill>
                  <a:srgbClr val="C00000"/>
                </a:solidFill>
              </a:rPr>
              <a:t>, x</a:t>
            </a:r>
            <a:r>
              <a:rPr lang="es-ES" baseline="-25000" dirty="0" smtClean="0">
                <a:solidFill>
                  <a:srgbClr val="C00000"/>
                </a:solidFill>
              </a:rPr>
              <a:t>3</a:t>
            </a:r>
            <a:r>
              <a:rPr lang="es-ES" dirty="0" smtClean="0">
                <a:solidFill>
                  <a:srgbClr val="C00000"/>
                </a:solidFill>
              </a:rPr>
              <a:t>} </a:t>
            </a:r>
            <a:r>
              <a:rPr lang="es-ES" dirty="0" smtClean="0"/>
              <a:t>and</a:t>
            </a:r>
          </a:p>
          <a:p>
            <a:pPr>
              <a:buNone/>
            </a:pPr>
            <a:r>
              <a:rPr lang="es-ES" dirty="0" smtClean="0"/>
              <a:t>	     		 Y = </a:t>
            </a:r>
            <a:r>
              <a:rPr lang="es-ES" dirty="0" smtClean="0">
                <a:solidFill>
                  <a:srgbClr val="C00000"/>
                </a:solidFill>
              </a:rPr>
              <a:t>{y</a:t>
            </a:r>
            <a:r>
              <a:rPr lang="es-ES" baseline="-25000" dirty="0" smtClean="0">
                <a:solidFill>
                  <a:srgbClr val="C00000"/>
                </a:solidFill>
              </a:rPr>
              <a:t>1</a:t>
            </a:r>
            <a:r>
              <a:rPr lang="es-ES" dirty="0" smtClean="0">
                <a:solidFill>
                  <a:srgbClr val="C00000"/>
                </a:solidFill>
              </a:rPr>
              <a:t>, y</a:t>
            </a:r>
            <a:r>
              <a:rPr lang="es-ES" baseline="-25000" dirty="0" smtClean="0">
                <a:solidFill>
                  <a:srgbClr val="C00000"/>
                </a:solidFill>
              </a:rPr>
              <a:t>2</a:t>
            </a:r>
            <a:r>
              <a:rPr lang="es-ES" dirty="0" smtClean="0">
                <a:solidFill>
                  <a:srgbClr val="C00000"/>
                </a:solidFill>
              </a:rPr>
              <a:t>, y</a:t>
            </a:r>
            <a:r>
              <a:rPr lang="es-ES" baseline="-25000" dirty="0" smtClean="0">
                <a:solidFill>
                  <a:srgbClr val="C00000"/>
                </a:solidFill>
              </a:rPr>
              <a:t>3</a:t>
            </a:r>
            <a:r>
              <a:rPr lang="es-ES" dirty="0" smtClean="0">
                <a:solidFill>
                  <a:srgbClr val="C00000"/>
                </a:solidFill>
              </a:rPr>
              <a:t>, y</a:t>
            </a:r>
            <a:r>
              <a:rPr lang="es-ES" baseline="-25000" dirty="0" smtClean="0">
                <a:solidFill>
                  <a:srgbClr val="C00000"/>
                </a:solidFill>
              </a:rPr>
              <a:t>4</a:t>
            </a:r>
            <a:r>
              <a:rPr lang="es-ES" dirty="0" smtClean="0">
                <a:solidFill>
                  <a:srgbClr val="C00000"/>
                </a:solidFill>
              </a:rPr>
              <a:t>}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may be related to any of the four elements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y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y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, y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of  Y.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C00000"/>
                </a:solidFill>
              </a:rPr>
              <a:t>four</a:t>
            </a:r>
            <a:r>
              <a:rPr lang="en-US" dirty="0" smtClean="0"/>
              <a:t> possibilities.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C00000"/>
                </a:solidFill>
              </a:rPr>
              <a:t>four</a:t>
            </a:r>
            <a:r>
              <a:rPr lang="en-US" dirty="0" smtClean="0"/>
              <a:t> possibilities.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/>
              <a:t> has </a:t>
            </a:r>
            <a:r>
              <a:rPr lang="en-US" dirty="0" smtClean="0">
                <a:solidFill>
                  <a:srgbClr val="C00000"/>
                </a:solidFill>
              </a:rPr>
              <a:t>four</a:t>
            </a:r>
            <a:r>
              <a:rPr lang="en-US" dirty="0" smtClean="0"/>
              <a:t> possibilities.</a:t>
            </a:r>
          </a:p>
          <a:p>
            <a:pPr algn="ctr">
              <a:buNone/>
            </a:pPr>
            <a:r>
              <a:rPr lang="en-US" dirty="0" smtClean="0"/>
              <a:t>Total number of function </a:t>
            </a:r>
            <a:r>
              <a:rPr lang="en-US" dirty="0" smtClean="0">
                <a:solidFill>
                  <a:srgbClr val="C00000"/>
                </a:solidFill>
              </a:rPr>
              <a:t>= 4 x 4 x 4 = 64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Suppose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is a set with </a:t>
            </a:r>
            <a:r>
              <a:rPr lang="en-US" b="1" dirty="0" smtClean="0">
                <a:solidFill>
                  <a:srgbClr val="C00000"/>
                </a:solidFill>
              </a:rPr>
              <a:t>m elements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B</a:t>
            </a:r>
            <a:r>
              <a:rPr lang="en-US" dirty="0" smtClean="0"/>
              <a:t> is a set with </a:t>
            </a:r>
            <a:r>
              <a:rPr lang="en-US" b="1" dirty="0" smtClean="0">
                <a:solidFill>
                  <a:srgbClr val="C00000"/>
                </a:solidFill>
              </a:rPr>
              <a:t>n elements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How many </a:t>
            </a:r>
            <a:r>
              <a:rPr lang="en-US" dirty="0" smtClean="0">
                <a:solidFill>
                  <a:srgbClr val="C00000"/>
                </a:solidFill>
              </a:rPr>
              <a:t>functions</a:t>
            </a:r>
            <a:r>
              <a:rPr lang="en-US" dirty="0" smtClean="0"/>
              <a:t> are there from </a:t>
            </a:r>
            <a:r>
              <a:rPr lang="en-US" dirty="0" smtClean="0">
                <a:solidFill>
                  <a:srgbClr val="C00000"/>
                </a:solidFill>
              </a:rPr>
              <a:t>A to B</a:t>
            </a:r>
            <a:r>
              <a:rPr lang="en-US" dirty="0" smtClean="0"/>
              <a:t>?</a:t>
            </a:r>
          </a:p>
          <a:p>
            <a:pPr lvl="1"/>
            <a:endParaRPr lang="en-US" dirty="0" smtClean="0"/>
          </a:p>
          <a:p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Number of functions from</a:t>
            </a:r>
          </a:p>
          <a:p>
            <a:pPr>
              <a:buNone/>
            </a:pPr>
            <a:r>
              <a:rPr lang="en-US" dirty="0" smtClean="0"/>
              <a:t>	 </a:t>
            </a:r>
            <a:r>
              <a:rPr lang="en-US" b="1" dirty="0" smtClean="0">
                <a:solidFill>
                  <a:srgbClr val="C00000"/>
                </a:solidFill>
              </a:rPr>
              <a:t>A to B = </a:t>
            </a:r>
            <a:r>
              <a:rPr lang="en-US" b="1" dirty="0" err="1" smtClean="0">
                <a:solidFill>
                  <a:srgbClr val="C00000"/>
                </a:solidFill>
              </a:rPr>
              <a:t>n.n.n</a:t>
            </a:r>
            <a:r>
              <a:rPr lang="en-US" b="1" dirty="0" smtClean="0">
                <a:solidFill>
                  <a:srgbClr val="C00000"/>
                </a:solidFill>
              </a:rPr>
              <a:t>. … .n       </a:t>
            </a:r>
            <a:r>
              <a:rPr lang="en-US" b="1" dirty="0" smtClean="0">
                <a:solidFill>
                  <a:srgbClr val="0070C0"/>
                </a:solidFill>
              </a:rPr>
              <a:t>(m times)</a:t>
            </a:r>
            <a:r>
              <a:rPr lang="en-US" dirty="0" smtClean="0"/>
              <a:t>			      </a:t>
            </a:r>
            <a:r>
              <a:rPr lang="en-US" b="1" dirty="0" smtClean="0">
                <a:solidFill>
                  <a:srgbClr val="C00000"/>
                </a:solidFill>
              </a:rPr>
              <a:t>= n</a:t>
            </a:r>
            <a:r>
              <a:rPr lang="en-US" b="1" baseline="30000" dirty="0" smtClean="0">
                <a:solidFill>
                  <a:srgbClr val="C00000"/>
                </a:solidFill>
              </a:rPr>
              <a:t> m</a:t>
            </a:r>
            <a:endParaRPr lang="en-US" b="1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FUNCTIONS NOT WELL DEFINED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Determine whether f is a function from Z to R if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169" name="Object 1"/>
          <p:cNvGraphicFramePr>
            <a:graphicFrameLocks noChangeAspect="1"/>
          </p:cNvGraphicFramePr>
          <p:nvPr/>
        </p:nvGraphicFramePr>
        <p:xfrm>
          <a:off x="1066800" y="1905000"/>
          <a:ext cx="6323798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r:id="rId3" imgW="2781300" imgH="901700" progId="">
                  <p:embed/>
                </p:oleObj>
              </mc:Choice>
              <mc:Fallback>
                <p:oleObj r:id="rId3" imgW="2781300" imgH="9017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905000"/>
                        <a:ext cx="6323798" cy="2590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C00000"/>
                </a:solidFill>
              </a:rPr>
              <a:t>NOT well defined </a:t>
            </a:r>
            <a:r>
              <a:rPr lang="en-US" dirty="0" smtClean="0"/>
              <a:t>since each </a:t>
            </a:r>
            <a:r>
              <a:rPr lang="en-US" b="1" dirty="0" smtClean="0">
                <a:solidFill>
                  <a:srgbClr val="C00000"/>
                </a:solidFill>
              </a:rPr>
              <a:t>integer n </a:t>
            </a:r>
            <a:r>
              <a:rPr lang="en-US" dirty="0" smtClean="0"/>
              <a:t>has two images </a:t>
            </a:r>
            <a:r>
              <a:rPr lang="en-US" b="1" dirty="0" smtClean="0">
                <a:solidFill>
                  <a:srgbClr val="C00000"/>
                </a:solidFill>
              </a:rPr>
              <a:t>+n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–n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lphaLcParenR"/>
            </a:pPr>
            <a:endParaRPr lang="en-US" dirty="0" smtClean="0"/>
          </a:p>
          <a:p>
            <a:pPr marL="514350" indent="-514350">
              <a:buFont typeface="+mj-lt"/>
              <a:buAutoNum type="alphaLcParenR"/>
            </a:pP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NOT well defined </a:t>
            </a:r>
            <a:r>
              <a:rPr lang="en-US" dirty="0" smtClean="0"/>
              <a:t>since </a:t>
            </a:r>
            <a:r>
              <a:rPr lang="en-US" b="1" dirty="0" smtClean="0">
                <a:solidFill>
                  <a:srgbClr val="C00000"/>
                </a:solidFill>
              </a:rPr>
              <a:t>f(2)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f(-2) </a:t>
            </a:r>
            <a:r>
              <a:rPr lang="en-US" dirty="0" smtClean="0"/>
              <a:t>are not defined.</a:t>
            </a:r>
          </a:p>
          <a:p>
            <a:pPr marL="514350" indent="-514350">
              <a:buFont typeface="+mj-lt"/>
              <a:buAutoNum type="alphaLcParenR"/>
            </a:pPr>
            <a:endParaRPr lang="en-US" dirty="0" smtClean="0"/>
          </a:p>
          <a:p>
            <a:pPr marL="514350" indent="-514350">
              <a:buFont typeface="+mj-lt"/>
              <a:buAutoNum type="alphaLcParenR"/>
            </a:pP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is NOT defined </a:t>
            </a:r>
            <a:r>
              <a:rPr lang="en-US" dirty="0" smtClean="0"/>
              <a:t>for </a:t>
            </a:r>
            <a:r>
              <a:rPr lang="en-US" b="1" dirty="0" smtClean="0">
                <a:solidFill>
                  <a:srgbClr val="C00000"/>
                </a:solidFill>
              </a:rPr>
              <a:t>n &lt; 0 </a:t>
            </a:r>
            <a:r>
              <a:rPr lang="en-US" dirty="0" smtClean="0"/>
              <a:t>since f then results in </a:t>
            </a:r>
            <a:r>
              <a:rPr lang="en-US" b="1" dirty="0" smtClean="0">
                <a:solidFill>
                  <a:srgbClr val="C00000"/>
                </a:solidFill>
              </a:rPr>
              <a:t>imaginary</a:t>
            </a:r>
            <a:r>
              <a:rPr lang="en-US" dirty="0" smtClean="0"/>
              <a:t> values (not real).</a:t>
            </a:r>
          </a:p>
          <a:p>
            <a:pPr marL="514350" indent="-514350">
              <a:buFont typeface="+mj-lt"/>
              <a:buAutoNum type="alphaLcParenR"/>
            </a:pPr>
            <a:endParaRPr lang="en-US" dirty="0" smtClean="0"/>
          </a:p>
          <a:p>
            <a:pPr marL="514350" indent="-514350">
              <a:buFont typeface="+mj-lt"/>
              <a:buAutoNum type="alphaLcParenR"/>
            </a:pPr>
            <a:r>
              <a:rPr lang="en-US" b="1" dirty="0" smtClean="0">
                <a:solidFill>
                  <a:srgbClr val="C00000"/>
                </a:solidFill>
              </a:rPr>
              <a:t>f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C00000"/>
                </a:solidFill>
              </a:rPr>
              <a:t>well defined </a:t>
            </a:r>
            <a:r>
              <a:rPr lang="en-US" dirty="0" smtClean="0"/>
              <a:t>because each integer has </a:t>
            </a:r>
            <a:r>
              <a:rPr lang="en-US" b="1" dirty="0" smtClean="0">
                <a:solidFill>
                  <a:srgbClr val="C00000"/>
                </a:solidFill>
              </a:rPr>
              <a:t>unique</a:t>
            </a:r>
            <a:r>
              <a:rPr lang="en-US" dirty="0" smtClean="0"/>
              <a:t> (one and only one) image in 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under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Student </a:t>
            </a:r>
            <a:r>
              <a:rPr lang="en-US" b="1" dirty="0" smtClean="0">
                <a:solidFill>
                  <a:srgbClr val="C00000"/>
                </a:solidFill>
              </a:rPr>
              <a:t>B</a:t>
            </a:r>
            <a:r>
              <a:rPr lang="en-US" dirty="0" smtClean="0"/>
              <a:t> tries to define a function </a:t>
            </a:r>
            <a:r>
              <a:rPr lang="en-US" b="1" dirty="0" smtClean="0">
                <a:solidFill>
                  <a:srgbClr val="C00000"/>
                </a:solidFill>
              </a:rPr>
              <a:t>h : Q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 Q </a:t>
            </a:r>
            <a:r>
              <a:rPr lang="en-US" dirty="0" smtClean="0"/>
              <a:t>by the rule.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for all integers </a:t>
            </a:r>
            <a:r>
              <a:rPr lang="en-US" b="1" dirty="0" smtClean="0">
                <a:solidFill>
                  <a:srgbClr val="C00000"/>
                </a:solidFill>
              </a:rPr>
              <a:t>m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with </a:t>
            </a:r>
            <a:r>
              <a:rPr lang="en-US" b="1" dirty="0" smtClean="0">
                <a:solidFill>
                  <a:srgbClr val="C00000"/>
                </a:solidFill>
              </a:rPr>
              <a:t>n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</a:t>
            </a:r>
            <a:r>
              <a:rPr lang="en-US" b="1" dirty="0" smtClean="0">
                <a:solidFill>
                  <a:srgbClr val="C00000"/>
                </a:solidFill>
              </a:rPr>
              <a:t> 0</a:t>
            </a:r>
          </a:p>
          <a:p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Students </a:t>
            </a:r>
            <a:r>
              <a:rPr lang="en-US" b="1" dirty="0" smtClean="0">
                <a:solidFill>
                  <a:srgbClr val="C00000"/>
                </a:solidFill>
              </a:rPr>
              <a:t>C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claims</a:t>
            </a:r>
            <a:r>
              <a:rPr lang="en-US" dirty="0" smtClean="0"/>
              <a:t> that h is not well defined. Justify Student </a:t>
            </a:r>
            <a:r>
              <a:rPr lang="en-US" b="1" dirty="0" smtClean="0">
                <a:solidFill>
                  <a:srgbClr val="C00000"/>
                </a:solidFill>
              </a:rPr>
              <a:t>C’s claim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3581400" y="1905000"/>
          <a:ext cx="1524000" cy="874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4" r:id="rId3" imgW="774360" imgH="444240" progId="">
                  <p:embed/>
                </p:oleObj>
              </mc:Choice>
              <mc:Fallback>
                <p:oleObj r:id="rId3" imgW="774360" imgH="4442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905000"/>
                        <a:ext cx="1524000" cy="8744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The function </a:t>
            </a:r>
            <a:r>
              <a:rPr lang="en-US" b="1" dirty="0" smtClean="0">
                <a:solidFill>
                  <a:srgbClr val="C00000"/>
                </a:solidFill>
              </a:rPr>
              <a:t>h</a:t>
            </a:r>
            <a:r>
              <a:rPr lang="en-US" dirty="0" smtClean="0"/>
              <a:t> is well defined if each </a:t>
            </a:r>
            <a:r>
              <a:rPr lang="en-US" b="1" dirty="0" smtClean="0">
                <a:solidFill>
                  <a:srgbClr val="C00000"/>
                </a:solidFill>
              </a:rPr>
              <a:t>rational number </a:t>
            </a:r>
            <a:r>
              <a:rPr lang="en-US" dirty="0" smtClean="0"/>
              <a:t>has a </a:t>
            </a:r>
            <a:r>
              <a:rPr lang="en-US" b="1" dirty="0" smtClean="0">
                <a:solidFill>
                  <a:srgbClr val="C00000"/>
                </a:solidFill>
              </a:rPr>
              <a:t>unique</a:t>
            </a:r>
            <a:r>
              <a:rPr lang="en-US" dirty="0" smtClean="0"/>
              <a:t> (one and only one) image.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Hence an element of 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has more than </a:t>
            </a:r>
            <a:r>
              <a:rPr lang="en-US" b="1" dirty="0" smtClean="0">
                <a:solidFill>
                  <a:srgbClr val="C00000"/>
                </a:solidFill>
              </a:rPr>
              <a:t>one images </a:t>
            </a:r>
            <a:r>
              <a:rPr lang="en-US" dirty="0" smtClean="0"/>
              <a:t>under h.  Accordingly </a:t>
            </a:r>
            <a:r>
              <a:rPr lang="en-US" b="1" dirty="0" smtClean="0">
                <a:solidFill>
                  <a:srgbClr val="C00000"/>
                </a:solidFill>
              </a:rPr>
              <a:t>h is not well defined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38914" name="Object 2"/>
          <p:cNvGraphicFramePr>
            <a:graphicFrameLocks noChangeAspect="1"/>
          </p:cNvGraphicFramePr>
          <p:nvPr/>
        </p:nvGraphicFramePr>
        <p:xfrm>
          <a:off x="3048000" y="1981200"/>
          <a:ext cx="2209800" cy="784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2" r:id="rId3" imgW="1091880" imgH="393480" progId="">
                  <p:embed/>
                </p:oleObj>
              </mc:Choice>
              <mc:Fallback>
                <p:oleObj r:id="rId3" imgW="109188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981200"/>
                        <a:ext cx="2209800" cy="7849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4028929"/>
              </p:ext>
            </p:extLst>
          </p:nvPr>
        </p:nvGraphicFramePr>
        <p:xfrm>
          <a:off x="2743200" y="2773396"/>
          <a:ext cx="3276600" cy="2540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3" r:id="rId5" imgW="1193760" imgH="1307880" progId="">
                  <p:embed/>
                </p:oleObj>
              </mc:Choice>
              <mc:Fallback>
                <p:oleObj r:id="rId5" imgW="1193760" imgH="130788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773396"/>
                        <a:ext cx="3276600" cy="25408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6477000" y="2895600"/>
            <a:ext cx="2286000" cy="1600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Hence, an element of ‘</a:t>
            </a:r>
            <a:r>
              <a:rPr lang="en-US" b="1" dirty="0" smtClean="0">
                <a:solidFill>
                  <a:srgbClr val="C00000"/>
                </a:solidFill>
              </a:rPr>
              <a:t>h</a:t>
            </a:r>
            <a:r>
              <a:rPr lang="en-US" dirty="0" smtClean="0">
                <a:solidFill>
                  <a:schemeClr val="tx1"/>
                </a:solidFill>
              </a:rPr>
              <a:t>’ has more than </a:t>
            </a:r>
            <a:r>
              <a:rPr lang="en-US" b="1" dirty="0" smtClean="0">
                <a:solidFill>
                  <a:srgbClr val="C00000"/>
                </a:solidFill>
              </a:rPr>
              <a:t>two images</a:t>
            </a:r>
            <a:r>
              <a:rPr lang="en-US" dirty="0" smtClean="0">
                <a:solidFill>
                  <a:schemeClr val="tx1"/>
                </a:solidFill>
              </a:rPr>
              <a:t> so </a:t>
            </a:r>
            <a:r>
              <a:rPr lang="en-US" b="1" dirty="0" smtClean="0">
                <a:solidFill>
                  <a:srgbClr val="C00000"/>
                </a:solidFill>
              </a:rPr>
              <a:t>not</a:t>
            </a:r>
            <a:r>
              <a:rPr lang="en-US" dirty="0" smtClean="0">
                <a:solidFill>
                  <a:schemeClr val="tx1"/>
                </a:solidFill>
              </a:rPr>
              <a:t> a function.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REMARK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u="sng" dirty="0" smtClean="0">
                <a:solidFill>
                  <a:srgbClr val="00B050"/>
                </a:solidFill>
              </a:rPr>
              <a:t>Mathematical Formulation of Function’s Properties:</a:t>
            </a:r>
          </a:p>
          <a:p>
            <a:pPr>
              <a:buNone/>
            </a:pPr>
            <a:endParaRPr lang="en-US" u="sng" dirty="0" smtClean="0">
              <a:solidFill>
                <a:srgbClr val="00B050"/>
              </a:solidFill>
            </a:endParaRPr>
          </a:p>
          <a:p>
            <a:r>
              <a:rPr lang="en-US" dirty="0" smtClean="0"/>
              <a:t>A function </a:t>
            </a:r>
            <a:r>
              <a:rPr lang="en-US" b="1" dirty="0" smtClean="0">
                <a:solidFill>
                  <a:srgbClr val="C00000"/>
                </a:solidFill>
              </a:rPr>
              <a:t>f: X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 Y </a:t>
            </a:r>
            <a:r>
              <a:rPr lang="en-US" dirty="0" smtClean="0"/>
              <a:t>is well defined </a:t>
            </a:r>
            <a:r>
              <a:rPr lang="en-US" dirty="0" err="1" smtClean="0"/>
              <a:t>iff</a:t>
            </a:r>
            <a:r>
              <a:rPr lang="en-US" dirty="0" smtClean="0"/>
              <a:t>  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</a:t>
            </a:r>
            <a:r>
              <a:rPr lang="en-US" b="1" dirty="0" smtClean="0">
                <a:sym typeface="Symbol"/>
              </a:rPr>
              <a:t></a:t>
            </a:r>
            <a:r>
              <a:rPr lang="en-US" b="1" dirty="0" smtClean="0">
                <a:solidFill>
                  <a:srgbClr val="C00000"/>
                </a:solidFill>
              </a:rPr>
              <a:t> x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, x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b="1" dirty="0" smtClean="0">
                <a:solidFill>
                  <a:srgbClr val="C00000"/>
                </a:solidFill>
              </a:rPr>
              <a:t>X,</a:t>
            </a:r>
            <a:r>
              <a:rPr lang="en-US" dirty="0" smtClean="0"/>
              <a:t>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if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= x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then </a:t>
            </a:r>
            <a:r>
              <a:rPr lang="en-US" b="1" dirty="0" smtClean="0">
                <a:solidFill>
                  <a:srgbClr val="C00000"/>
                </a:solidFill>
              </a:rPr>
              <a:t>f(x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) = f(x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Means an element can not have two images.  Rephrase the properties of function.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g: R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R+ </a:t>
            </a:r>
            <a:r>
              <a:rPr lang="en-US" dirty="0" smtClean="0"/>
              <a:t>be defined by </a:t>
            </a:r>
            <a:r>
              <a:rPr lang="en-US" b="1" dirty="0" smtClean="0">
                <a:solidFill>
                  <a:srgbClr val="C00000"/>
                </a:solidFill>
              </a:rPr>
              <a:t>g(x) = x</a:t>
            </a:r>
            <a:r>
              <a:rPr lang="en-US" b="1" baseline="30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+1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/>
              <a:t>1.  </a:t>
            </a:r>
            <a:r>
              <a:rPr lang="en-US" dirty="0" smtClean="0"/>
              <a:t>Determine </a:t>
            </a:r>
            <a:r>
              <a:rPr lang="en-US" b="1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well defined</a:t>
            </a:r>
            <a:r>
              <a:rPr lang="en-US" dirty="0" smtClean="0"/>
              <a:t>?</a:t>
            </a:r>
          </a:p>
          <a:p>
            <a:pPr>
              <a:buNone/>
            </a:pPr>
            <a:r>
              <a:rPr lang="en-US" b="1" dirty="0" smtClean="0"/>
              <a:t>	2.  </a:t>
            </a:r>
            <a:r>
              <a:rPr lang="en-US" dirty="0" smtClean="0"/>
              <a:t>Determine the </a:t>
            </a:r>
            <a:r>
              <a:rPr lang="en-US" b="1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co-domain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range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</a:p>
          <a:p>
            <a:pPr lvl="1">
              <a:buNone/>
            </a:pPr>
            <a:endParaRPr lang="en-US" b="1" dirty="0" smtClean="0"/>
          </a:p>
          <a:p>
            <a:pPr lvl="1">
              <a:buNone/>
            </a:pPr>
            <a:r>
              <a:rPr lang="en-US" sz="2600" dirty="0" smtClean="0">
                <a:solidFill>
                  <a:srgbClr val="C00000"/>
                </a:solidFill>
              </a:rPr>
              <a:t>Domain</a:t>
            </a:r>
            <a:r>
              <a:rPr lang="en-US" sz="2600" dirty="0" smtClean="0">
                <a:solidFill>
                  <a:schemeClr val="tx1"/>
                </a:solidFill>
              </a:rPr>
              <a:t> of </a:t>
            </a:r>
            <a:r>
              <a:rPr lang="en-US" sz="2600" dirty="0" smtClean="0">
                <a:solidFill>
                  <a:srgbClr val="C00000"/>
                </a:solidFill>
              </a:rPr>
              <a:t>g = R </a:t>
            </a:r>
            <a:r>
              <a:rPr lang="en-US" sz="2600" dirty="0" smtClean="0">
                <a:solidFill>
                  <a:schemeClr val="tx1"/>
                </a:solidFill>
              </a:rPr>
              <a:t>(set of real numbers)</a:t>
            </a:r>
          </a:p>
          <a:p>
            <a:pPr lvl="1">
              <a:buNone/>
            </a:pPr>
            <a:endParaRPr lang="en-US" sz="26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Co-domain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g = R</a:t>
            </a:r>
            <a:r>
              <a:rPr lang="en-US" baseline="30000" dirty="0" smtClean="0">
                <a:solidFill>
                  <a:srgbClr val="C00000"/>
                </a:solidFill>
              </a:rPr>
              <a:t>+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(set of positive real numbers)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The range </a:t>
            </a:r>
            <a:r>
              <a:rPr lang="en-US" dirty="0" smtClean="0"/>
              <a:t>of g consists of those elements of 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b="1" baseline="30000" dirty="0" smtClean="0">
                <a:solidFill>
                  <a:srgbClr val="C00000"/>
                </a:solidFill>
              </a:rPr>
              <a:t>+</a:t>
            </a:r>
            <a:r>
              <a:rPr lang="en-US" dirty="0" smtClean="0"/>
              <a:t> that appear as image points.</a:t>
            </a:r>
          </a:p>
          <a:p>
            <a:endParaRPr lang="en-US" dirty="0" smtClean="0"/>
          </a:p>
          <a:p>
            <a:pPr>
              <a:buNone/>
            </a:pPr>
            <a:r>
              <a:rPr lang="pt-BR" dirty="0" smtClean="0"/>
              <a:t>	Since	</a:t>
            </a:r>
            <a:r>
              <a:rPr lang="pt-BR" dirty="0" smtClean="0">
                <a:solidFill>
                  <a:srgbClr val="C00000"/>
                </a:solidFill>
              </a:rPr>
              <a:t>x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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pt-BR" dirty="0" smtClean="0">
                <a:solidFill>
                  <a:srgbClr val="C00000"/>
                </a:solidFill>
              </a:rPr>
              <a:t>0</a:t>
            </a:r>
            <a:r>
              <a:rPr lang="pt-BR" dirty="0" smtClean="0"/>
              <a:t>		</a:t>
            </a:r>
            <a:r>
              <a:rPr lang="en-US" dirty="0" smtClean="0">
                <a:sym typeface="Symbol"/>
              </a:rPr>
              <a:t>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pt-BR" dirty="0" smtClean="0">
                <a:solidFill>
                  <a:srgbClr val="C00000"/>
                </a:solidFill>
              </a:rPr>
              <a:t>R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 smtClean="0"/>
              <a:t>			</a:t>
            </a:r>
            <a:r>
              <a:rPr lang="pt-BR" dirty="0" smtClean="0">
                <a:solidFill>
                  <a:srgbClr val="C00000"/>
                </a:solidFill>
              </a:rPr>
              <a:t>x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+ 1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</a:t>
            </a:r>
            <a:r>
              <a:rPr lang="pt-BR" dirty="0" smtClean="0">
                <a:solidFill>
                  <a:srgbClr val="C00000"/>
                </a:solidFill>
              </a:rPr>
              <a:t> 1</a:t>
            </a:r>
            <a:r>
              <a:rPr lang="pt-BR" dirty="0" smtClean="0"/>
              <a:t>	</a:t>
            </a:r>
            <a:r>
              <a:rPr lang="en-US" dirty="0" smtClean="0">
                <a:sym typeface="Symbol"/>
              </a:rPr>
              <a:t>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pt-BR" dirty="0" smtClean="0">
                <a:solidFill>
                  <a:srgbClr val="C00000"/>
                </a:solidFill>
              </a:rPr>
              <a:t>R</a:t>
            </a:r>
          </a:p>
          <a:p>
            <a:pPr>
              <a:buNone/>
            </a:pPr>
            <a:r>
              <a:rPr lang="en-US" dirty="0" smtClean="0"/>
              <a:t>	i.e.	g(x) </a:t>
            </a:r>
            <a:r>
              <a:rPr lang="en-US" dirty="0" smtClean="0">
                <a:solidFill>
                  <a:srgbClr val="C00000"/>
                </a:solidFill>
              </a:rPr>
              <a:t>= 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+ 1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</a:t>
            </a:r>
            <a:r>
              <a:rPr lang="en-US" dirty="0" smtClean="0">
                <a:solidFill>
                  <a:srgbClr val="C00000"/>
                </a:solidFill>
              </a:rPr>
              <a:t> 1</a:t>
            </a: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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Hence the </a:t>
            </a:r>
            <a:r>
              <a:rPr lang="en-US" dirty="0" smtClean="0">
                <a:solidFill>
                  <a:srgbClr val="C00000"/>
                </a:solidFill>
              </a:rPr>
              <a:t>range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is all real number greater than or equal to 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 </a:t>
            </a:r>
            <a:r>
              <a:rPr lang="en-US" dirty="0" err="1" smtClean="0"/>
              <a:t>i.e</a:t>
            </a:r>
            <a:r>
              <a:rPr lang="en-US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 [1,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</a:t>
            </a:r>
            <a:r>
              <a:rPr lang="en-US" b="1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Find </a:t>
            </a:r>
            <a:r>
              <a:rPr lang="en-US" dirty="0"/>
              <a:t>the domain and range of a function </a:t>
            </a:r>
          </a:p>
          <a:p>
            <a:pPr marL="0" indent="0">
              <a:buNone/>
            </a:pPr>
            <a:r>
              <a:rPr lang="en-US" dirty="0" smtClean="0"/>
              <a:t>    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f(x</a:t>
            </a:r>
            <a:r>
              <a:rPr lang="en-US" dirty="0"/>
              <a:t>) = (2x – 1)/(x + 4).</a:t>
            </a:r>
          </a:p>
        </p:txBody>
      </p:sp>
    </p:spTree>
    <p:extLst>
      <p:ext uri="{BB962C8B-B14F-4D97-AF65-F5344CB8AC3E}">
        <p14:creationId xmlns:p14="http://schemas.microsoft.com/office/powerpoint/2010/main" val="37650376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f(x) = (2x – 1)/(x + 4</a:t>
            </a:r>
            <a:r>
              <a:rPr lang="en-US" dirty="0" smtClean="0"/>
              <a:t>)</a:t>
            </a:r>
          </a:p>
          <a:p>
            <a:r>
              <a:rPr lang="en-US" dirty="0"/>
              <a:t>We know that the domain of a function is the set of input values for f, in which the function is real and defined.</a:t>
            </a:r>
            <a:endParaRPr lang="en-US" dirty="0" smtClean="0"/>
          </a:p>
          <a:p>
            <a:r>
              <a:rPr lang="en-US" dirty="0"/>
              <a:t>The given function is not defined when x + 4 = 0, i.e. x = -</a:t>
            </a:r>
            <a:r>
              <a:rPr lang="en-US" dirty="0" smtClean="0"/>
              <a:t>4</a:t>
            </a:r>
          </a:p>
          <a:p>
            <a:endParaRPr lang="en-US" dirty="0"/>
          </a:p>
          <a:p>
            <a:r>
              <a:rPr lang="en-US" dirty="0"/>
              <a:t>So, the domain of given function is the set of all real number except -4.</a:t>
            </a:r>
          </a:p>
          <a:p>
            <a:r>
              <a:rPr lang="en-US" dirty="0"/>
              <a:t>i.e. Domain = (-∞, -4) U (-4, ∞)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8034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Range </a:t>
            </a:r>
            <a:r>
              <a:rPr lang="en-US" dirty="0"/>
              <a:t>of a function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y </a:t>
            </a:r>
            <a:r>
              <a:rPr lang="en-US" dirty="0"/>
              <a:t>= (2x – 1)/(x + 4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range of a function comprises the set of values of a dependent variable for which the given function is defined.</a:t>
            </a:r>
          </a:p>
          <a:p>
            <a:r>
              <a:rPr lang="en-US" dirty="0" err="1"/>
              <a:t>xy</a:t>
            </a:r>
            <a:r>
              <a:rPr lang="en-US" dirty="0"/>
              <a:t> + 4y = 2x – 1</a:t>
            </a:r>
          </a:p>
          <a:p>
            <a:r>
              <a:rPr lang="en-US" dirty="0"/>
              <a:t>2x – </a:t>
            </a:r>
            <a:r>
              <a:rPr lang="en-US" dirty="0" err="1"/>
              <a:t>xy</a:t>
            </a:r>
            <a:r>
              <a:rPr lang="en-US" dirty="0"/>
              <a:t> = 4y + 1</a:t>
            </a:r>
          </a:p>
          <a:p>
            <a:r>
              <a:rPr lang="en-US" dirty="0"/>
              <a:t>x(2 – y) = 4y + 1</a:t>
            </a:r>
          </a:p>
          <a:p>
            <a:r>
              <a:rPr lang="en-US" dirty="0"/>
              <a:t>x = (4y + 1)/(2 – y)</a:t>
            </a:r>
          </a:p>
          <a:p>
            <a:pPr marL="0" indent="0">
              <a:buNone/>
            </a:pPr>
            <a:r>
              <a:rPr lang="en-US" dirty="0"/>
              <a:t>This is defined only when y is not equal to 2.</a:t>
            </a:r>
          </a:p>
          <a:p>
            <a:pPr marL="0" indent="0">
              <a:buNone/>
            </a:pPr>
            <a:r>
              <a:rPr lang="en-US" dirty="0"/>
              <a:t>Hence, the range of the given function is (-∞, 2) U (2, ∞).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2938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SOLUTION: </a:t>
            </a:r>
            <a:r>
              <a:rPr lang="en-US" u="sng" dirty="0" smtClean="0"/>
              <a:t>(we take two elements of R, and suppose these two elements are equal, by the definition of function we will prove that their images are also equal.)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/>
              <a:t>			Let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R and suppose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	(squaring both sides)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 </a:t>
            </a:r>
            <a:r>
              <a:rPr lang="en-US" dirty="0" smtClean="0"/>
              <a:t>	   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+ 1 =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+ 1</a:t>
            </a:r>
            <a:r>
              <a:rPr lang="en-US" dirty="0" smtClean="0"/>
              <a:t>		(adding 1 on both sides)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 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     g(x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= g(x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  <a:r>
              <a:rPr lang="en-US" dirty="0" smtClean="0"/>
              <a:t>		(by definition of g)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Thus if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then </a:t>
            </a:r>
            <a:r>
              <a:rPr lang="en-US" dirty="0" smtClean="0">
                <a:solidFill>
                  <a:srgbClr val="C00000"/>
                </a:solidFill>
              </a:rPr>
              <a:t>g 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= g(x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Accordingly  g:R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 R+ is </a:t>
            </a:r>
            <a:r>
              <a:rPr lang="en-US" dirty="0" smtClean="0">
                <a:solidFill>
                  <a:srgbClr val="C00000"/>
                </a:solidFill>
              </a:rPr>
              <a:t>well defined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1205</TotalTime>
  <Words>1044</Words>
  <Application>Microsoft Office PowerPoint</Application>
  <PresentationFormat>On-screen Show (4:3)</PresentationFormat>
  <Paragraphs>243</Paragraphs>
  <Slides>33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Bookman Old Style</vt:lpstr>
      <vt:lpstr>Calibri</vt:lpstr>
      <vt:lpstr>Gill Sans MT</vt:lpstr>
      <vt:lpstr>Symbol</vt:lpstr>
      <vt:lpstr>Wingdings</vt:lpstr>
      <vt:lpstr>Wingdings 3</vt:lpstr>
      <vt:lpstr>Origin</vt:lpstr>
      <vt:lpstr>FUNCTIONS Lecture # 10</vt:lpstr>
      <vt:lpstr>FUNCTIONS </vt:lpstr>
      <vt:lpstr>REMARK</vt:lpstr>
      <vt:lpstr>ARROW DIAGRAM OF A FUNCTION</vt:lpstr>
      <vt:lpstr>EXAMPLE</vt:lpstr>
      <vt:lpstr>NONFUNCTIONS</vt:lpstr>
      <vt:lpstr>NONFUNCTIONS</vt:lpstr>
      <vt:lpstr>RANGE OF A FUNCTION</vt:lpstr>
      <vt:lpstr>REMARKS</vt:lpstr>
      <vt:lpstr>EXERCISE</vt:lpstr>
      <vt:lpstr>SOLUTION</vt:lpstr>
      <vt:lpstr>GRAPH OF A FUNCTION</vt:lpstr>
      <vt:lpstr>EXAMPLE</vt:lpstr>
      <vt:lpstr>PowerPoint Presentation</vt:lpstr>
      <vt:lpstr>VERTICAL LINE TEST FOR THE GRAPH OF A FUNCTION</vt:lpstr>
      <vt:lpstr>EXERCISE</vt:lpstr>
      <vt:lpstr>PowerPoint Presentation</vt:lpstr>
      <vt:lpstr>EXERCISE</vt:lpstr>
      <vt:lpstr>PowerPoint Presentation</vt:lpstr>
      <vt:lpstr>EXERCISE</vt:lpstr>
      <vt:lpstr>EXERCISE</vt:lpstr>
      <vt:lpstr>EXERCISE</vt:lpstr>
      <vt:lpstr>FUNCTIONS NOT WELL DEFINED</vt:lpstr>
      <vt:lpstr>SOLUTION</vt:lpstr>
      <vt:lpstr>EXERCISE</vt:lpstr>
      <vt:lpstr>SOLUTION</vt:lpstr>
      <vt:lpstr>REMARK</vt:lpstr>
      <vt:lpstr>EXERCISE</vt:lpstr>
      <vt:lpstr>Cont…</vt:lpstr>
      <vt:lpstr>PowerPoint Presentation</vt:lpstr>
      <vt:lpstr>PowerPoint Presentation</vt:lpstr>
      <vt:lpstr>Range of a function 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 Lecture # 10</dc:title>
  <dc:creator>Yasir S.</dc:creator>
  <cp:lastModifiedBy>Tehseen Fatima</cp:lastModifiedBy>
  <cp:revision>127</cp:revision>
  <dcterms:created xsi:type="dcterms:W3CDTF">2013-10-15T06:26:31Z</dcterms:created>
  <dcterms:modified xsi:type="dcterms:W3CDTF">2023-10-09T08:54:08Z</dcterms:modified>
</cp:coreProperties>
</file>
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258" r:id="rId4"/>
    <p:sldId id="320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65" r:id="rId15"/>
    <p:sldId id="331" r:id="rId16"/>
    <p:sldId id="366" r:id="rId17"/>
    <p:sldId id="332" r:id="rId18"/>
    <p:sldId id="408" r:id="rId19"/>
    <p:sldId id="409" r:id="rId20"/>
    <p:sldId id="410" r:id="rId21"/>
    <p:sldId id="333" r:id="rId22"/>
    <p:sldId id="412" r:id="rId23"/>
    <p:sldId id="367" r:id="rId24"/>
    <p:sldId id="335" r:id="rId25"/>
    <p:sldId id="413" r:id="rId26"/>
    <p:sldId id="414" r:id="rId27"/>
    <p:sldId id="415" r:id="rId28"/>
    <p:sldId id="416" r:id="rId29"/>
    <p:sldId id="417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411" r:id="rId38"/>
    <p:sldId id="379" r:id="rId39"/>
    <p:sldId id="378" r:id="rId40"/>
    <p:sldId id="380" r:id="rId41"/>
    <p:sldId id="381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418" r:id="rId50"/>
    <p:sldId id="425" r:id="rId51"/>
    <p:sldId id="428" r:id="rId52"/>
    <p:sldId id="390" r:id="rId53"/>
    <p:sldId id="393" r:id="rId54"/>
    <p:sldId id="421" r:id="rId55"/>
    <p:sldId id="426" r:id="rId56"/>
    <p:sldId id="429" r:id="rId57"/>
    <p:sldId id="394" r:id="rId58"/>
    <p:sldId id="419" r:id="rId59"/>
    <p:sldId id="422" r:id="rId60"/>
    <p:sldId id="427" r:id="rId61"/>
    <p:sldId id="430" r:id="rId62"/>
    <p:sldId id="420" r:id="rId63"/>
  </p:sldIdLst>
  <p:sldSz cx="9144000" cy="6858000" type="screen4x3"/>
  <p:notesSz cx="6858000" cy="9144000"/>
  <p:custDataLst>
    <p:tags r:id="rId6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28" autoAdjust="0"/>
    <p:restoredTop sz="94660"/>
  </p:normalViewPr>
  <p:slideViewPr>
    <p:cSldViewPr>
      <p:cViewPr>
        <p:scale>
          <a:sx n="70" d="100"/>
          <a:sy n="70" d="100"/>
        </p:scale>
        <p:origin x="-84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 smtClean="0">
                <a:solidFill>
                  <a:srgbClr val="C00000"/>
                </a:solidFill>
              </a:rPr>
              <a:t>TREES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23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APPLICATION AREAS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 are used to </a:t>
            </a:r>
            <a:r>
              <a:rPr lang="en-US" dirty="0" smtClean="0">
                <a:solidFill>
                  <a:srgbClr val="FF0000"/>
                </a:solidFill>
              </a:rPr>
              <a:t>solve problems</a:t>
            </a:r>
            <a:r>
              <a:rPr lang="en-US" dirty="0" smtClean="0"/>
              <a:t> in a wide variety of disciplines. In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trees are employed to: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efficient algorithms</a:t>
            </a:r>
            <a:r>
              <a:rPr lang="en-US" sz="2500" dirty="0" smtClean="0">
                <a:solidFill>
                  <a:srgbClr val="002060"/>
                </a:solidFill>
              </a:rPr>
              <a:t> for </a:t>
            </a:r>
            <a:r>
              <a:rPr lang="en-US" sz="2500" dirty="0" smtClean="0">
                <a:solidFill>
                  <a:srgbClr val="FF0000"/>
                </a:solidFill>
              </a:rPr>
              <a:t>locating items</a:t>
            </a:r>
            <a:r>
              <a:rPr lang="en-US" sz="2500" dirty="0" smtClean="0">
                <a:solidFill>
                  <a:srgbClr val="002060"/>
                </a:solidFill>
              </a:rPr>
              <a:t> in a </a:t>
            </a:r>
            <a:r>
              <a:rPr lang="en-US" sz="2500" dirty="0" smtClean="0">
                <a:solidFill>
                  <a:srgbClr val="FF0000"/>
                </a:solidFill>
              </a:rPr>
              <a:t>list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networks</a:t>
            </a:r>
            <a:r>
              <a:rPr lang="en-US" sz="2500" dirty="0" smtClean="0">
                <a:solidFill>
                  <a:srgbClr val="002060"/>
                </a:solidFill>
              </a:rPr>
              <a:t> with the </a:t>
            </a:r>
            <a:r>
              <a:rPr lang="en-US" sz="2500" dirty="0" smtClean="0">
                <a:solidFill>
                  <a:srgbClr val="FF0000"/>
                </a:solidFill>
              </a:rPr>
              <a:t>least expensive</a:t>
            </a:r>
            <a:r>
              <a:rPr lang="en-US" sz="2500" dirty="0" smtClean="0">
                <a:solidFill>
                  <a:srgbClr val="002060"/>
                </a:solidFill>
              </a:rPr>
              <a:t> </a:t>
            </a:r>
            <a:r>
              <a:rPr lang="en-US" sz="2500" dirty="0" smtClean="0">
                <a:solidFill>
                  <a:srgbClr val="FF0000"/>
                </a:solidFill>
              </a:rPr>
              <a:t>set </a:t>
            </a:r>
            <a:r>
              <a:rPr lang="en-US" sz="2500" dirty="0" smtClean="0">
                <a:solidFill>
                  <a:srgbClr val="002060"/>
                </a:solidFill>
              </a:rPr>
              <a:t>of</a:t>
            </a:r>
            <a:r>
              <a:rPr lang="en-US" sz="2500" dirty="0" smtClean="0">
                <a:solidFill>
                  <a:srgbClr val="FF0000"/>
                </a:solidFill>
              </a:rPr>
              <a:t> telephone lines</a:t>
            </a:r>
            <a:r>
              <a:rPr lang="en-US" sz="2500" dirty="0" smtClean="0">
                <a:solidFill>
                  <a:srgbClr val="002060"/>
                </a:solidFill>
              </a:rPr>
              <a:t> linking distributed computers.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Construct </a:t>
            </a:r>
            <a:r>
              <a:rPr lang="en-US" sz="2500" dirty="0" smtClean="0">
                <a:solidFill>
                  <a:srgbClr val="FF0000"/>
                </a:solidFill>
              </a:rPr>
              <a:t>efficient codes</a:t>
            </a:r>
            <a:r>
              <a:rPr lang="en-US" sz="2500" dirty="0" smtClean="0">
                <a:solidFill>
                  <a:srgbClr val="002060"/>
                </a:solidFill>
              </a:rPr>
              <a:t> for </a:t>
            </a:r>
            <a:r>
              <a:rPr lang="en-US" sz="2500" dirty="0" smtClean="0">
                <a:solidFill>
                  <a:srgbClr val="FF0000"/>
                </a:solidFill>
              </a:rPr>
              <a:t>sorting </a:t>
            </a:r>
            <a:r>
              <a:rPr lang="en-US" sz="2500" dirty="0" smtClean="0">
                <a:solidFill>
                  <a:srgbClr val="002060"/>
                </a:solidFill>
              </a:rPr>
              <a:t>and</a:t>
            </a:r>
            <a:r>
              <a:rPr lang="en-US" sz="2500" dirty="0" smtClean="0">
                <a:solidFill>
                  <a:srgbClr val="FF0000"/>
                </a:solidFill>
              </a:rPr>
              <a:t> transmitting data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Model procedures</a:t>
            </a:r>
            <a:r>
              <a:rPr lang="en-US" sz="2500" dirty="0" smtClean="0">
                <a:solidFill>
                  <a:srgbClr val="002060"/>
                </a:solidFill>
              </a:rPr>
              <a:t> that are carried out using a </a:t>
            </a:r>
            <a:r>
              <a:rPr lang="en-US" sz="2500" dirty="0" smtClean="0">
                <a:solidFill>
                  <a:srgbClr val="FF0000"/>
                </a:solidFill>
              </a:rPr>
              <a:t>sequence </a:t>
            </a:r>
            <a:r>
              <a:rPr lang="en-US" sz="2500" dirty="0" smtClean="0">
                <a:solidFill>
                  <a:srgbClr val="002060"/>
                </a:solidFill>
              </a:rPr>
              <a:t>of</a:t>
            </a:r>
            <a:r>
              <a:rPr lang="en-US" sz="2500" dirty="0" smtClean="0">
                <a:solidFill>
                  <a:srgbClr val="FF0000"/>
                </a:solidFill>
              </a:rPr>
              <a:t> decisions</a:t>
            </a:r>
            <a:r>
              <a:rPr lang="en-US" sz="2500" dirty="0" smtClean="0">
                <a:solidFill>
                  <a:srgbClr val="002060"/>
                </a:solidFill>
              </a:rPr>
              <a:t>, which are valuable in the study of </a:t>
            </a:r>
            <a:r>
              <a:rPr lang="en-US" sz="2500" dirty="0" smtClean="0">
                <a:solidFill>
                  <a:srgbClr val="FF0000"/>
                </a:solidFill>
              </a:rPr>
              <a:t>sorting algorithms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endParaRPr lang="en-US" sz="2600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TREE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 are special kind of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connected graph</a:t>
            </a:r>
            <a:r>
              <a:rPr lang="en-US" dirty="0" smtClean="0"/>
              <a:t> that does not contain any </a:t>
            </a:r>
            <a:r>
              <a:rPr lang="en-US" dirty="0" smtClean="0">
                <a:solidFill>
                  <a:srgbClr val="FF0000"/>
                </a:solidFill>
              </a:rPr>
              <a:t>non-trivial circuit</a:t>
            </a:r>
            <a:r>
              <a:rPr lang="en-US" dirty="0" smtClean="0"/>
              <a:t>. (i.e. it is </a:t>
            </a:r>
            <a:r>
              <a:rPr lang="en-US" dirty="0" smtClean="0">
                <a:solidFill>
                  <a:srgbClr val="FF0000"/>
                </a:solidFill>
              </a:rPr>
              <a:t>circuit-free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trivial circuit</a:t>
            </a:r>
            <a:r>
              <a:rPr lang="en-US" dirty="0" smtClean="0"/>
              <a:t> is one that consists of a </a:t>
            </a:r>
            <a:r>
              <a:rPr lang="en-US" dirty="0" smtClean="0">
                <a:solidFill>
                  <a:srgbClr val="FF0000"/>
                </a:solidFill>
              </a:rPr>
              <a:t>single vertex</a:t>
            </a:r>
            <a:r>
              <a:rPr lang="en-US" dirty="0" smtClean="0"/>
              <a:t>.</a:t>
            </a:r>
          </a:p>
          <a:p>
            <a:endParaRPr lang="en-US" sz="2500" dirty="0" smtClean="0">
              <a:solidFill>
                <a:srgbClr val="00206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371600"/>
            <a:ext cx="3200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1057" name="Text Box 1"/>
          <p:cNvSpPr txBox="1">
            <a:spLocks noChangeArrowheads="1"/>
          </p:cNvSpPr>
          <p:nvPr/>
        </p:nvSpPr>
        <p:spPr bwMode="auto">
          <a:xfrm>
            <a:off x="5638800" y="1905000"/>
            <a:ext cx="2349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.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1058" name="Text Box 2"/>
          <p:cNvSpPr txBox="1">
            <a:spLocks noChangeArrowheads="1"/>
          </p:cNvSpPr>
          <p:nvPr/>
        </p:nvSpPr>
        <p:spPr bwMode="auto">
          <a:xfrm>
            <a:off x="5296254" y="2500952"/>
            <a:ext cx="995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TREE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1880" y="4267200"/>
            <a:ext cx="461772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7" grpId="0"/>
      <p:bldP spid="3010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 OF NON-TREES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endParaRPr lang="en-US" baseline="-25000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(a)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(b)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FF0000"/>
                </a:solidFill>
              </a:rPr>
              <a:t>no connectedness</a:t>
            </a:r>
            <a:r>
              <a:rPr lang="en-US" dirty="0" smtClean="0"/>
              <a:t>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graph (c)</a:t>
            </a:r>
            <a:r>
              <a:rPr lang="en-US" dirty="0" smtClean="0"/>
              <a:t>, there exists a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 (also due to loop), so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 (because trees have to be a circuit free).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399" y="1371600"/>
            <a:ext cx="722376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1676400"/>
            <a:ext cx="219456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>
            <a:off x="1676400" y="1905000"/>
            <a:ext cx="10668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324100" y="1943100"/>
            <a:ext cx="533400" cy="457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600200" y="1905000"/>
            <a:ext cx="762000" cy="533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6200000" flipH="1">
            <a:off x="6286500" y="1741796"/>
            <a:ext cx="1600200" cy="1219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SOME SPECIAL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249C2F"/>
                </a:solidFill>
              </a:rPr>
              <a:t>TRIVIAL TREE:</a:t>
            </a:r>
            <a:endParaRPr lang="en-US" dirty="0" smtClean="0">
              <a:solidFill>
                <a:srgbClr val="249C2F"/>
              </a:solidFill>
            </a:endParaRP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that consists of a </a:t>
            </a:r>
            <a:r>
              <a:rPr lang="en-US" dirty="0" smtClean="0">
                <a:solidFill>
                  <a:srgbClr val="FF0000"/>
                </a:solidFill>
              </a:rPr>
              <a:t>single vertex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FF0000"/>
                </a:solidFill>
              </a:rPr>
              <a:t>trivial tree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degenerate tree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249C2F"/>
                </a:solidFill>
              </a:rPr>
              <a:t>EMPTY TREE:</a:t>
            </a:r>
            <a:endParaRPr lang="en-US" u="sng" dirty="0" smtClean="0">
              <a:solidFill>
                <a:srgbClr val="249C2F"/>
              </a:solidFill>
            </a:endParaRPr>
          </a:p>
          <a:p>
            <a:pPr>
              <a:buNone/>
            </a:pPr>
            <a:r>
              <a:rPr lang="en-US" dirty="0" smtClean="0"/>
              <a:t>	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that does not have any </a:t>
            </a:r>
            <a:r>
              <a:rPr lang="en-US" dirty="0" smtClean="0">
                <a:solidFill>
                  <a:srgbClr val="FF0000"/>
                </a:solidFill>
              </a:rPr>
              <a:t>vertices or edges</a:t>
            </a:r>
            <a:r>
              <a:rPr lang="en-US" dirty="0" smtClean="0"/>
              <a:t> is called an </a:t>
            </a:r>
            <a:r>
              <a:rPr lang="en-US" dirty="0" smtClean="0">
                <a:solidFill>
                  <a:srgbClr val="FF0000"/>
                </a:solidFill>
              </a:rPr>
              <a:t>empty 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b="1" u="sng" dirty="0" smtClean="0">
                <a:solidFill>
                  <a:srgbClr val="249C2F"/>
                </a:solidFill>
              </a:rPr>
              <a:t>FOREST:</a:t>
            </a:r>
            <a:endParaRPr lang="en-US" u="sng" dirty="0" smtClean="0">
              <a:solidFill>
                <a:srgbClr val="249C2F"/>
              </a:solidFill>
            </a:endParaRPr>
          </a:p>
          <a:p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if, and only if, it is </a:t>
            </a:r>
            <a:r>
              <a:rPr lang="en-US" dirty="0" smtClean="0">
                <a:solidFill>
                  <a:srgbClr val="FF0000"/>
                </a:solidFill>
              </a:rPr>
              <a:t>circuit-free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Hence, it clears that the </a:t>
            </a:r>
            <a:r>
              <a:rPr lang="en-US" dirty="0" smtClean="0">
                <a:solidFill>
                  <a:srgbClr val="FF0000"/>
                </a:solidFill>
              </a:rPr>
              <a:t>connected components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Forest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two trees</a:t>
            </a:r>
            <a:r>
              <a:rPr lang="en-US" dirty="0" smtClean="0"/>
              <a:t> in it.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5720" y="2590800"/>
            <a:ext cx="35661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PROPERTIES OF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n vertices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n - 1 edges.</a:t>
            </a:r>
            <a:r>
              <a:rPr lang="en-US" dirty="0" smtClean="0"/>
              <a:t> (where n ≥0). </a:t>
            </a:r>
            <a:r>
              <a:rPr lang="en-US" i="1" dirty="0" smtClean="0"/>
              <a:t>(Alternate definition of a tree)</a:t>
            </a:r>
          </a:p>
          <a:p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connected 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n vertices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n - 1 edges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has no </a:t>
            </a:r>
            <a:r>
              <a:rPr lang="en-US" dirty="0" smtClean="0">
                <a:solidFill>
                  <a:srgbClr val="FF0000"/>
                </a:solidFill>
              </a:rPr>
              <a:t>non-trivial circuit</a:t>
            </a:r>
            <a:r>
              <a:rPr lang="en-US" dirty="0" smtClean="0"/>
              <a:t>; but if </a:t>
            </a:r>
            <a:r>
              <a:rPr lang="en-US" dirty="0" smtClean="0">
                <a:solidFill>
                  <a:srgbClr val="FF0000"/>
                </a:solidFill>
              </a:rPr>
              <a:t>one new edge</a:t>
            </a:r>
            <a:r>
              <a:rPr lang="en-US" dirty="0" smtClean="0"/>
              <a:t> (but no new vertex) is </a:t>
            </a:r>
            <a:r>
              <a:rPr lang="en-US" dirty="0" smtClean="0">
                <a:solidFill>
                  <a:srgbClr val="FF0000"/>
                </a:solidFill>
              </a:rPr>
              <a:t>added</a:t>
            </a:r>
            <a:r>
              <a:rPr lang="en-US" dirty="0" smtClean="0"/>
              <a:t> to it, then the resulting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has exactly </a:t>
            </a:r>
            <a:r>
              <a:rPr lang="en-US" dirty="0" smtClean="0">
                <a:solidFill>
                  <a:srgbClr val="FF0000"/>
                </a:solidFill>
              </a:rPr>
              <a:t>one non-trivial circuit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connected graph, but if any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deleted</a:t>
            </a:r>
            <a:r>
              <a:rPr lang="en-US" dirty="0" smtClean="0"/>
              <a:t> from it, then the </a:t>
            </a:r>
            <a:r>
              <a:rPr lang="en-US" dirty="0" smtClean="0">
                <a:solidFill>
                  <a:srgbClr val="FF0000"/>
                </a:solidFill>
              </a:rPr>
              <a:t>resulting graph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not connected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that has more than one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has at least </a:t>
            </a:r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there is a </a:t>
            </a:r>
            <a:r>
              <a:rPr lang="en-US" dirty="0" smtClean="0">
                <a:solidFill>
                  <a:srgbClr val="FF0000"/>
                </a:solidFill>
              </a:rPr>
              <a:t>unique path</a:t>
            </a:r>
            <a:r>
              <a:rPr lang="en-US" dirty="0" smtClean="0"/>
              <a:t> between any two of its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. </a:t>
            </a:r>
            <a:r>
              <a:rPr lang="en-US" i="1" dirty="0" smtClean="0"/>
              <a:t>(Alternate definition of tree)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why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 with the given specification do not </a:t>
            </a:r>
            <a:r>
              <a:rPr lang="en-US" dirty="0" smtClean="0">
                <a:solidFill>
                  <a:srgbClr val="FF0000"/>
                </a:solidFill>
              </a:rPr>
              <a:t>exist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Tree with </a:t>
            </a:r>
            <a:r>
              <a:rPr lang="en-US" sz="2500" dirty="0" smtClean="0">
                <a:solidFill>
                  <a:srgbClr val="FF0000"/>
                </a:solidFill>
              </a:rPr>
              <a:t>twelve vertices</a:t>
            </a:r>
            <a:r>
              <a:rPr lang="en-US" sz="2500" dirty="0" smtClean="0">
                <a:solidFill>
                  <a:srgbClr val="002060"/>
                </a:solidFill>
              </a:rPr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fifteen edges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Tree with </a:t>
            </a:r>
            <a:r>
              <a:rPr lang="en-US" sz="2500" dirty="0" smtClean="0">
                <a:solidFill>
                  <a:srgbClr val="FF0000"/>
                </a:solidFill>
              </a:rPr>
              <a:t>five vertices</a:t>
            </a:r>
            <a:r>
              <a:rPr lang="en-US" sz="2500" dirty="0" smtClean="0">
                <a:solidFill>
                  <a:srgbClr val="002060"/>
                </a:solidFill>
              </a:rPr>
              <a:t> and total </a:t>
            </a:r>
            <a:r>
              <a:rPr lang="en-US" sz="2500" dirty="0" smtClean="0">
                <a:solidFill>
                  <a:srgbClr val="FF0000"/>
                </a:solidFill>
              </a:rPr>
              <a:t>degree 10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12 vertices</a:t>
            </a:r>
            <a:r>
              <a:rPr lang="en-US" dirty="0" smtClean="0"/>
              <a:t> will have 12 - 1 = </a:t>
            </a:r>
            <a:r>
              <a:rPr lang="en-US" dirty="0" smtClean="0">
                <a:solidFill>
                  <a:srgbClr val="FF0000"/>
                </a:solidFill>
              </a:rPr>
              <a:t>11 edges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not 15</a:t>
            </a:r>
            <a:r>
              <a:rPr lang="en-US" dirty="0" smtClean="0"/>
              <a:t>. Hence solution of this tree is not possible.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(ii)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will have 5 - 1 = </a:t>
            </a:r>
            <a:r>
              <a:rPr lang="en-US" dirty="0" smtClean="0">
                <a:solidFill>
                  <a:srgbClr val="FF0000"/>
                </a:solidFill>
              </a:rPr>
              <a:t>4 edges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Since,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graph = 2 (No. of edges)</a:t>
            </a:r>
          </a:p>
          <a:p>
            <a:pPr>
              <a:buNone/>
            </a:pPr>
            <a:r>
              <a:rPr lang="en-US" dirty="0" smtClean="0"/>
              <a:t>					     = 2(4) =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Hence,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would have a </a:t>
            </a:r>
            <a:r>
              <a:rPr lang="en-US" dirty="0" smtClean="0">
                <a:solidFill>
                  <a:srgbClr val="FF0000"/>
                </a:solidFill>
              </a:rPr>
              <a:t>total degree 8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not 10</a:t>
            </a:r>
            <a:r>
              <a:rPr lang="en-US" dirty="0" smtClean="0"/>
              <a:t>. that is why the solution of this tree is not possible.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600" dirty="0" smtClean="0">
                <a:solidFill>
                  <a:srgbClr val="FF0000"/>
                </a:solidFill>
              </a:rPr>
              <a:t>non-isomorphic trees</a:t>
            </a:r>
            <a:r>
              <a:rPr lang="en-US" sz="2600" dirty="0" smtClean="0">
                <a:solidFill>
                  <a:schemeClr val="tx1"/>
                </a:solidFill>
              </a:rPr>
              <a:t> with </a:t>
            </a:r>
            <a:r>
              <a:rPr lang="en-US" sz="2600" dirty="0" smtClean="0">
                <a:solidFill>
                  <a:srgbClr val="FF0000"/>
                </a:solidFill>
              </a:rPr>
              <a:t>four vertices</a:t>
            </a:r>
            <a:r>
              <a:rPr lang="en-US" sz="2600" dirty="0" smtClean="0">
                <a:solidFill>
                  <a:schemeClr val="tx1"/>
                </a:solidFill>
              </a:rPr>
              <a:t>.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has 4 -1 = </a:t>
            </a:r>
            <a:r>
              <a:rPr lang="en-US" dirty="0" smtClean="0">
                <a:solidFill>
                  <a:srgbClr val="FF0000"/>
                </a:solidFill>
              </a:rPr>
              <a:t>3 edges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Thus, 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4 vertices</a:t>
            </a:r>
            <a:r>
              <a:rPr lang="en-US" dirty="0" smtClean="0"/>
              <a:t> must be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.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more than one vertex</a:t>
            </a:r>
            <a:r>
              <a:rPr lang="en-US" dirty="0" smtClean="0"/>
              <a:t> has at least </a:t>
            </a:r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FF0000"/>
                </a:solidFill>
              </a:rPr>
              <a:t>1, 1, 1, 3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1, 1, 2, 2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corresponding </a:t>
            </a:r>
            <a:r>
              <a:rPr lang="en-US" dirty="0" smtClean="0">
                <a:solidFill>
                  <a:srgbClr val="FF0000"/>
                </a:solidFill>
              </a:rPr>
              <a:t>trees</a:t>
            </a:r>
            <a:r>
              <a:rPr lang="en-US" dirty="0" smtClean="0"/>
              <a:t>: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800600"/>
            <a:ext cx="7132320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non-isomorphic trees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vertices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vertices</a:t>
            </a:r>
            <a:r>
              <a:rPr lang="en-US" dirty="0" smtClean="0"/>
              <a:t> has 5-1 = </a:t>
            </a:r>
            <a:r>
              <a:rPr lang="en-US" dirty="0" smtClean="0">
                <a:solidFill>
                  <a:srgbClr val="FF0000"/>
                </a:solidFill>
              </a:rPr>
              <a:t>4 edges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Thus, 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5 vertices</a:t>
            </a:r>
            <a:r>
              <a:rPr lang="en-US" dirty="0" smtClean="0"/>
              <a:t> must be 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more than one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at least two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	   </a:t>
            </a:r>
            <a:r>
              <a:rPr lang="en-US" dirty="0" smtClean="0">
                <a:solidFill>
                  <a:srgbClr val="FF0000"/>
                </a:solidFill>
              </a:rPr>
              <a:t>1, 1, 2, 2, 2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1, 1, 1, 1, 4</a:t>
            </a:r>
          </a:p>
          <a:p>
            <a:pPr>
              <a:buNone/>
            </a:pPr>
            <a:endParaRPr lang="en-US" dirty="0" smtClean="0"/>
          </a:p>
          <a:p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828800"/>
            <a:ext cx="612648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Draw a graph with </a:t>
            </a:r>
            <a:r>
              <a:rPr lang="en-US" dirty="0" smtClean="0">
                <a:solidFill>
                  <a:srgbClr val="FF0000"/>
                </a:solidFill>
              </a:rPr>
              <a:t>six vertices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five edges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		Two such graphs are: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First graph is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; because it is </a:t>
            </a:r>
            <a:r>
              <a:rPr lang="en-US" dirty="0" smtClean="0">
                <a:solidFill>
                  <a:srgbClr val="FF0000"/>
                </a:solidFill>
              </a:rPr>
              <a:t>not connected</a:t>
            </a:r>
            <a:r>
              <a:rPr lang="en-US" dirty="0" smtClean="0"/>
              <a:t> also there exists a </a:t>
            </a:r>
            <a:r>
              <a:rPr lang="en-US" dirty="0" smtClean="0">
                <a:solidFill>
                  <a:srgbClr val="FF0000"/>
                </a:solidFill>
              </a:rPr>
              <a:t>circuit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Similarly, second graph </a:t>
            </a:r>
            <a:r>
              <a:rPr lang="en-US" dirty="0" smtClean="0">
                <a:solidFill>
                  <a:srgbClr val="FF0000"/>
                </a:solidFill>
              </a:rPr>
              <a:t>not a tree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8840" y="3048000"/>
            <a:ext cx="493776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INTERNAL VERTEX &amp; TERMINAL VERTEX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1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called a </a:t>
            </a:r>
            <a:r>
              <a:rPr lang="en-US" b="1" i="1" dirty="0" smtClean="0">
                <a:solidFill>
                  <a:srgbClr val="FF0000"/>
                </a:solidFill>
              </a:rPr>
              <a:t>terminal vertex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leaf</a:t>
            </a:r>
            <a:r>
              <a:rPr lang="en-US" dirty="0" smtClean="0"/>
              <a:t> and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 greater than 1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is called an </a:t>
            </a:r>
            <a:r>
              <a:rPr lang="en-US" b="1" i="1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branch</a:t>
            </a:r>
            <a:r>
              <a:rPr lang="en-US" dirty="0" smtClean="0"/>
              <a:t> vertex.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7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143000"/>
            <a:ext cx="320040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ROOTED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in which </a:t>
            </a:r>
            <a:r>
              <a:rPr lang="en-US" dirty="0" smtClean="0">
                <a:solidFill>
                  <a:srgbClr val="FF0000"/>
                </a:solidFill>
              </a:rPr>
              <a:t>one vertex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distinguished</a:t>
            </a:r>
            <a:r>
              <a:rPr lang="en-US" dirty="0" smtClean="0"/>
              <a:t> from the others and is called the </a:t>
            </a:r>
            <a:r>
              <a:rPr lang="en-US" b="1" i="1" dirty="0" smtClean="0">
                <a:solidFill>
                  <a:srgbClr val="FF0000"/>
                </a:solidFill>
              </a:rPr>
              <a:t>root</a:t>
            </a:r>
            <a:r>
              <a:rPr lang="en-US" b="1" i="1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level</a:t>
            </a:r>
            <a:r>
              <a:rPr lang="en-US" b="1" dirty="0" smtClean="0"/>
              <a:t>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is the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along the </a:t>
            </a:r>
            <a:r>
              <a:rPr lang="en-US" dirty="0" smtClean="0">
                <a:solidFill>
                  <a:srgbClr val="FF0000"/>
                </a:solidFill>
              </a:rPr>
              <a:t>unique path</a:t>
            </a:r>
            <a:r>
              <a:rPr lang="en-US" dirty="0" smtClean="0"/>
              <a:t> between it and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height</a:t>
            </a:r>
            <a:r>
              <a:rPr lang="en-US" b="1" i="1" dirty="0" smtClean="0"/>
              <a:t>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is the maximum level to any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children</a:t>
            </a:r>
            <a:r>
              <a:rPr lang="en-US" dirty="0" smtClean="0"/>
              <a:t> of any </a:t>
            </a:r>
            <a:r>
              <a:rPr lang="en-US" dirty="0" smtClean="0">
                <a:solidFill>
                  <a:srgbClr val="FF0000"/>
                </a:solidFill>
              </a:rPr>
              <a:t>internal vertex v</a:t>
            </a:r>
            <a:r>
              <a:rPr lang="en-US" dirty="0" smtClean="0"/>
              <a:t> are all those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adjacent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and are </a:t>
            </a:r>
            <a:r>
              <a:rPr lang="en-US" dirty="0" smtClean="0">
                <a:solidFill>
                  <a:srgbClr val="FF0000"/>
                </a:solidFill>
              </a:rPr>
              <a:t>one level</a:t>
            </a:r>
            <a:r>
              <a:rPr lang="en-US" dirty="0" smtClean="0"/>
              <a:t> further away from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than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If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FF0000"/>
                </a:solidFill>
              </a:rPr>
              <a:t>child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, then </a:t>
            </a:r>
            <a:r>
              <a:rPr lang="en-US" b="1" dirty="0" smtClean="0">
                <a:solidFill>
                  <a:srgbClr val="FF0000"/>
                </a:solidFill>
              </a:rPr>
              <a:t>v</a:t>
            </a:r>
            <a:r>
              <a:rPr lang="en-US" b="1" dirty="0" smtClean="0"/>
              <a:t> </a:t>
            </a:r>
            <a:r>
              <a:rPr lang="en-US" dirty="0" smtClean="0"/>
              <a:t>is called 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parent</a:t>
            </a:r>
            <a:r>
              <a:rPr lang="en-US" b="1" dirty="0" smtClean="0"/>
              <a:t> </a:t>
            </a:r>
            <a:r>
              <a:rPr lang="en-US" dirty="0" smtClean="0"/>
              <a:t>of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Two vertices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both children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same parent</a:t>
            </a:r>
            <a:r>
              <a:rPr lang="en-US" dirty="0" smtClean="0"/>
              <a:t> are called </a:t>
            </a:r>
            <a:r>
              <a:rPr lang="en-US" b="1" dirty="0" smtClean="0">
                <a:solidFill>
                  <a:srgbClr val="FF0000"/>
                </a:solidFill>
              </a:rPr>
              <a:t>siblings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Given </a:t>
            </a:r>
            <a:r>
              <a:rPr lang="en-US" dirty="0" smtClean="0">
                <a:solidFill>
                  <a:srgbClr val="FF0000"/>
                </a:solidFill>
              </a:rPr>
              <a:t>vertices v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lies on the unique path between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is an </a:t>
            </a:r>
            <a:r>
              <a:rPr lang="en-US" b="1" dirty="0" smtClean="0">
                <a:solidFill>
                  <a:srgbClr val="FF0000"/>
                </a:solidFill>
              </a:rPr>
              <a:t>ancestor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FF0000"/>
                </a:solidFill>
              </a:rPr>
              <a:t>descendant</a:t>
            </a:r>
            <a:r>
              <a:rPr lang="en-US" b="1" dirty="0" smtClean="0"/>
              <a:t>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>
                <a:solidFill>
                  <a:srgbClr val="FF0000"/>
                </a:solidFill>
              </a:rPr>
              <a:t>redraw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tree</a:t>
            </a:r>
            <a:r>
              <a:rPr lang="en-US" dirty="0" smtClean="0"/>
              <a:t> as and see what the relations are:</a:t>
            </a:r>
          </a:p>
          <a:p>
            <a:endParaRPr lang="en-US" dirty="0" smtClean="0"/>
          </a:p>
          <a:p>
            <a:r>
              <a:rPr lang="en-US" dirty="0" smtClean="0"/>
              <a:t>We choose </a:t>
            </a:r>
            <a:r>
              <a:rPr lang="en-US" dirty="0" smtClean="0">
                <a:solidFill>
                  <a:srgbClr val="FF0000"/>
                </a:solidFill>
              </a:rPr>
              <a:t>arbitrarily one vertex</a:t>
            </a:r>
            <a:r>
              <a:rPr lang="en-US" dirty="0" smtClean="0"/>
              <a:t> as a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393305"/>
            <a:ext cx="6151173" cy="1502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80467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Consider the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shown below with </a:t>
            </a:r>
            <a:r>
              <a:rPr lang="en-US" dirty="0" smtClean="0">
                <a:solidFill>
                  <a:srgbClr val="FF0000"/>
                </a:solidFill>
              </a:rPr>
              <a:t>root v</a:t>
            </a:r>
            <a:r>
              <a:rPr lang="en-US" baseline="-25000" dirty="0" smtClean="0">
                <a:solidFill>
                  <a:srgbClr val="FF0000"/>
                </a:solidFill>
              </a:rPr>
              <a:t>0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level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8</a:t>
            </a:r>
            <a:r>
              <a:rPr lang="en-US" sz="2500" dirty="0" smtClean="0">
                <a:solidFill>
                  <a:srgbClr val="002060"/>
                </a:solidFill>
              </a:rPr>
              <a:t>?	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level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0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is the </a:t>
            </a:r>
            <a:r>
              <a:rPr lang="en-US" sz="2500" dirty="0" smtClean="0">
                <a:solidFill>
                  <a:srgbClr val="FF0000"/>
                </a:solidFill>
              </a:rPr>
              <a:t>height of this tree</a:t>
            </a:r>
            <a:r>
              <a:rPr lang="en-US" sz="2500" dirty="0" smtClean="0">
                <a:solidFill>
                  <a:srgbClr val="002060"/>
                </a:solidFill>
              </a:rPr>
              <a:t>?  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children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10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siblings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What are the </a:t>
            </a:r>
            <a:r>
              <a:rPr lang="en-US" sz="2500" dirty="0" smtClean="0">
                <a:solidFill>
                  <a:srgbClr val="FF0000"/>
                </a:solidFill>
              </a:rPr>
              <a:t>descendants of v</a:t>
            </a:r>
            <a:r>
              <a:rPr lang="en-US" sz="2500" baseline="-25000" dirty="0" smtClean="0">
                <a:solidFill>
                  <a:srgbClr val="FF0000"/>
                </a:solidFill>
              </a:rPr>
              <a:t>12</a:t>
            </a:r>
            <a:r>
              <a:rPr lang="en-US" sz="2500" dirty="0" smtClean="0">
                <a:solidFill>
                  <a:srgbClr val="002060"/>
                </a:solidFill>
              </a:rPr>
              <a:t>?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level </a:t>
            </a:r>
            <a:r>
              <a:rPr lang="en-US" sz="2800" dirty="0" smtClean="0"/>
              <a:t>of</a:t>
            </a:r>
            <a:r>
              <a:rPr lang="en-US" sz="2800" dirty="0" smtClean="0">
                <a:solidFill>
                  <a:srgbClr val="FF0000"/>
                </a:solidFill>
              </a:rPr>
              <a:t> v</a:t>
            </a:r>
            <a:r>
              <a:rPr lang="en-US" sz="2800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level of is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33440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832" y="274434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6440" y="3223152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480" y="365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572904" y="3747448"/>
            <a:ext cx="228600" cy="304800"/>
          </a:xfrm>
          <a:prstGeom prst="ellipse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level </a:t>
            </a:r>
            <a:r>
              <a:rPr lang="en-US" sz="2800" dirty="0" smtClean="0"/>
              <a:t>of</a:t>
            </a:r>
            <a:r>
              <a:rPr lang="en-US" sz="2800" dirty="0" smtClean="0">
                <a:solidFill>
                  <a:srgbClr val="FF0000"/>
                </a:solidFill>
              </a:rPr>
              <a:t> v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level of is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4708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380096" y="2016456"/>
            <a:ext cx="228600" cy="304800"/>
          </a:xfrm>
          <a:prstGeom prst="ellipse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is the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height of this tree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height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FF0000"/>
                </a:solidFill>
              </a:rPr>
              <a:t>tree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.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63224" y="1933440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832" y="274434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6440" y="3223152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480" y="365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360" y="412844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8280" y="4531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 Level 5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children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10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children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10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15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16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siblings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siblings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 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What are the </a:t>
            </a:r>
            <a:r>
              <a:rPr lang="en-US" sz="2800" dirty="0" smtClean="0">
                <a:solidFill>
                  <a:srgbClr val="FF0000"/>
                </a:solidFill>
              </a:rPr>
              <a:t>descendent</a:t>
            </a:r>
            <a:r>
              <a:rPr lang="en-US" sz="2800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descendent</a:t>
            </a:r>
            <a:r>
              <a:rPr lang="en-US" dirty="0" smtClean="0"/>
              <a:t> of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17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18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19</a:t>
            </a: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344" y="1616584"/>
            <a:ext cx="704088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BINARY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in which every </a:t>
            </a:r>
            <a:r>
              <a:rPr lang="en-US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at most two children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 smtClean="0">
                <a:solidFill>
                  <a:srgbClr val="FF0000"/>
                </a:solidFill>
              </a:rPr>
              <a:t>child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is designated either a </a:t>
            </a:r>
            <a:r>
              <a:rPr lang="en-US" dirty="0" smtClean="0">
                <a:solidFill>
                  <a:srgbClr val="FF0000"/>
                </a:solidFill>
              </a:rPr>
              <a:t>left child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FF0000"/>
                </a:solidFill>
              </a:rPr>
              <a:t>right child</a:t>
            </a:r>
            <a:r>
              <a:rPr lang="en-US" dirty="0" smtClean="0"/>
              <a:t> (but not both).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in which each </a:t>
            </a:r>
            <a:r>
              <a:rPr lang="en-US" dirty="0" smtClean="0">
                <a:solidFill>
                  <a:srgbClr val="FF0000"/>
                </a:solidFill>
              </a:rPr>
              <a:t>internal vertex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exactly two children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43000"/>
            <a:ext cx="640080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371600" y="3505200"/>
            <a:ext cx="266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v is the left child of u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1828800" y="2819400"/>
            <a:ext cx="838200" cy="60960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k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positive integer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k internal vertices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has a total of </a:t>
            </a:r>
            <a:r>
              <a:rPr lang="en-US" dirty="0" smtClean="0">
                <a:solidFill>
                  <a:srgbClr val="FF0000"/>
                </a:solidFill>
              </a:rPr>
              <a:t>2k + 1 vertices</a:t>
            </a:r>
            <a:r>
              <a:rPr lang="en-US" dirty="0" smtClean="0"/>
              <a:t> and has </a:t>
            </a:r>
            <a:r>
              <a:rPr lang="en-US" dirty="0" smtClean="0">
                <a:solidFill>
                  <a:srgbClr val="FF0000"/>
                </a:solidFill>
              </a:rPr>
              <a:t>k + 1 terminal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that has </a:t>
            </a:r>
            <a:r>
              <a:rPr lang="en-US" dirty="0" smtClean="0">
                <a:solidFill>
                  <a:srgbClr val="FF0000"/>
                </a:solidFill>
              </a:rPr>
              <a:t>t terminal vertices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height h</a:t>
            </a:r>
            <a:r>
              <a:rPr lang="en-US" dirty="0" smtClean="0"/>
              <a:t>, then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dirty="0" smtClean="0">
                <a:solidFill>
                  <a:srgbClr val="FF0000"/>
                </a:solidFill>
              </a:rPr>
              <a:t>t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Equivalently,		</a:t>
            </a:r>
          </a:p>
          <a:p>
            <a:pPr>
              <a:buNone/>
            </a:pPr>
            <a:r>
              <a:rPr lang="en-US" dirty="0" smtClean="0"/>
              <a:t>				        </a:t>
            </a:r>
            <a:r>
              <a:rPr lang="en-US" dirty="0" smtClean="0">
                <a:solidFill>
                  <a:srgbClr val="FF0000"/>
                </a:solidFill>
              </a:rPr>
              <a:t>log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t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FF0000"/>
                </a:solidFill>
              </a:rPr>
              <a:t> h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maximum number of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height 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why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 with the given </a:t>
            </a:r>
            <a:r>
              <a:rPr lang="en-US" dirty="0" smtClean="0">
                <a:solidFill>
                  <a:srgbClr val="FF0000"/>
                </a:solidFill>
              </a:rPr>
              <a:t>specification</a:t>
            </a:r>
            <a:r>
              <a:rPr lang="en-US" dirty="0" smtClean="0"/>
              <a:t> do not exist.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Full binary tree</a:t>
            </a:r>
            <a:r>
              <a:rPr lang="en-US" sz="2500" dirty="0" smtClean="0"/>
              <a:t> with </a:t>
            </a:r>
            <a:r>
              <a:rPr lang="en-US" sz="2500" dirty="0" smtClean="0">
                <a:solidFill>
                  <a:srgbClr val="FF0000"/>
                </a:solidFill>
              </a:rPr>
              <a:t>nine vertices</a:t>
            </a:r>
            <a:r>
              <a:rPr lang="en-US" sz="2500" dirty="0" smtClean="0"/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five internal vertices</a:t>
            </a:r>
            <a:r>
              <a:rPr lang="en-US" sz="2500" dirty="0" smtClean="0"/>
              <a:t>. </a:t>
            </a:r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Binary tree </a:t>
            </a:r>
            <a:r>
              <a:rPr lang="en-US" sz="2500" dirty="0" smtClean="0"/>
              <a:t>with </a:t>
            </a:r>
            <a:r>
              <a:rPr lang="en-US" sz="2500" dirty="0" smtClean="0">
                <a:solidFill>
                  <a:srgbClr val="FF0000"/>
                </a:solidFill>
              </a:rPr>
              <a:t>height 4</a:t>
            </a:r>
            <a:r>
              <a:rPr lang="en-US" sz="2500" dirty="0" smtClean="0"/>
              <a:t> and </a:t>
            </a:r>
            <a:r>
              <a:rPr lang="en-US" sz="2500" dirty="0" smtClean="0">
                <a:solidFill>
                  <a:srgbClr val="FF0000"/>
                </a:solidFill>
              </a:rPr>
              <a:t>eighteen terminal vertices</a:t>
            </a:r>
            <a:r>
              <a:rPr lang="en-US" sz="2500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 </a:t>
            </a:r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five internal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six  terminal vertices</a:t>
            </a:r>
            <a:r>
              <a:rPr lang="en-US" dirty="0" smtClean="0"/>
              <a:t>, for a total of </a:t>
            </a:r>
            <a:r>
              <a:rPr lang="en-US" dirty="0" smtClean="0">
                <a:solidFill>
                  <a:srgbClr val="FF0000"/>
                </a:solidFill>
              </a:rPr>
              <a:t>eleven vertices</a:t>
            </a:r>
            <a:r>
              <a:rPr lang="en-US" dirty="0" smtClean="0"/>
              <a:t> (according to 2(5) +1=11), </a:t>
            </a:r>
            <a:r>
              <a:rPr lang="en-US" dirty="0" smtClean="0">
                <a:solidFill>
                  <a:srgbClr val="FF0000"/>
                </a:solidFill>
              </a:rPr>
              <a:t>not nine vertices </a:t>
            </a:r>
            <a:r>
              <a:rPr lang="en-US" dirty="0" smtClean="0"/>
              <a:t>in all. 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	OR</a:t>
            </a:r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As total vertices = </a:t>
            </a:r>
            <a:r>
              <a:rPr lang="en-US" dirty="0" smtClean="0">
                <a:solidFill>
                  <a:srgbClr val="FF0000"/>
                </a:solidFill>
              </a:rPr>
              <a:t>2k+1= 9</a:t>
            </a:r>
          </a:p>
          <a:p>
            <a:pPr>
              <a:buNone/>
            </a:pPr>
            <a:r>
              <a:rPr lang="en-US" dirty="0" smtClean="0"/>
              <a:t>			     k = 4(internal vertices)</a:t>
            </a:r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FF0000"/>
                </a:solidFill>
              </a:rPr>
              <a:t>given internal vertices = 5</a:t>
            </a:r>
            <a:r>
              <a:rPr lang="en-US" dirty="0" smtClean="0"/>
              <a:t> ,which is a contradiction.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 there is </a:t>
            </a:r>
            <a:r>
              <a:rPr lang="en-US" dirty="0" smtClean="0">
                <a:solidFill>
                  <a:srgbClr val="FF0000"/>
                </a:solidFill>
              </a:rPr>
              <a:t>no full binary tree</a:t>
            </a:r>
            <a:r>
              <a:rPr lang="en-US" dirty="0" smtClean="0"/>
              <a:t> with the given properties.</a:t>
            </a:r>
          </a:p>
          <a:p>
            <a:endParaRPr lang="en-US" dirty="0" smtClean="0"/>
          </a:p>
          <a:p>
            <a:pPr>
              <a:buNone/>
            </a:pPr>
            <a:endParaRPr lang="pt-BR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(ii) </a:t>
            </a:r>
            <a:r>
              <a:rPr lang="en-US" dirty="0" smtClean="0"/>
              <a:t>We have stated that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t is less than or equal to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h</a:t>
            </a:r>
            <a:r>
              <a:rPr lang="en-US" dirty="0" smtClean="0"/>
              <a:t> . Where h is height.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height 4</a:t>
            </a:r>
            <a:r>
              <a:rPr lang="en-US" dirty="0" smtClean="0"/>
              <a:t> has at most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= 16 terminal vertices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Hence, there is </a:t>
            </a:r>
            <a:r>
              <a:rPr lang="en-US" dirty="0" smtClean="0">
                <a:solidFill>
                  <a:srgbClr val="FF0000"/>
                </a:solidFill>
              </a:rPr>
              <a:t>no binary tree</a:t>
            </a:r>
            <a:r>
              <a:rPr lang="en-US" dirty="0" smtClean="0"/>
              <a:t> that has </a:t>
            </a:r>
            <a:r>
              <a:rPr lang="en-US" dirty="0" smtClean="0">
                <a:solidFill>
                  <a:srgbClr val="FF0000"/>
                </a:solidFill>
              </a:rPr>
              <a:t>height 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eighteen terminal vertices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seven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Total vertices = 2k + 1 = 7 (by using the above theorem)</a:t>
            </a:r>
          </a:p>
          <a:p>
            <a:pPr lvl="0"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FF0000"/>
                </a:solidFill>
              </a:rPr>
              <a:t>k = 3</a:t>
            </a:r>
            <a:r>
              <a:rPr lang="en-US" dirty="0" smtClean="0"/>
              <a:t> (internal vertices)</a:t>
            </a:r>
          </a:p>
          <a:p>
            <a:pPr lvl="0">
              <a:buNone/>
            </a:pPr>
            <a:endParaRPr lang="en-US" dirty="0" smtClean="0"/>
          </a:p>
          <a:p>
            <a:r>
              <a:rPr lang="en-US" dirty="0" smtClean="0"/>
              <a:t>Hence, </a:t>
            </a:r>
            <a:r>
              <a:rPr lang="en-US" dirty="0" smtClean="0">
                <a:solidFill>
                  <a:srgbClr val="FF0000"/>
                </a:solidFill>
              </a:rPr>
              <a:t>total</a:t>
            </a:r>
            <a:r>
              <a:rPr lang="en-US" dirty="0" smtClean="0"/>
              <a:t> number of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 (i.e. a vertex of degree greater than 1) = k =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Total</a:t>
            </a:r>
            <a:r>
              <a:rPr lang="en-US" dirty="0" smtClean="0"/>
              <a:t> number of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( i.e. a vertex of degree 1 in a tree) = k + 1 = 3 + 1 =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</a:p>
          <a:p>
            <a:pPr lvl="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Hence, a </a:t>
            </a:r>
            <a:r>
              <a:rPr lang="en-US" dirty="0" smtClean="0">
                <a:solidFill>
                  <a:srgbClr val="FF0000"/>
                </a:solidFill>
              </a:rPr>
              <a:t>full 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seven vertices</a:t>
            </a:r>
            <a:r>
              <a:rPr lang="en-US" dirty="0" smtClean="0"/>
              <a:t> is: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5560" y="1676400"/>
            <a:ext cx="4206240" cy="292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height 3</a:t>
            </a:r>
            <a:r>
              <a:rPr lang="en-US" dirty="0" smtClean="0"/>
              <a:t> and having </a:t>
            </a:r>
            <a:r>
              <a:rPr lang="en-US" dirty="0" smtClean="0">
                <a:solidFill>
                  <a:srgbClr val="FF0000"/>
                </a:solidFill>
              </a:rPr>
              <a:t>seven terminal vertices</a:t>
            </a:r>
            <a:r>
              <a:rPr lang="en-US" dirty="0" smtClean="0"/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Given </a:t>
            </a:r>
            <a:r>
              <a:rPr lang="en-US" dirty="0" smtClean="0">
                <a:solidFill>
                  <a:srgbClr val="FF0000"/>
                </a:solidFill>
              </a:rPr>
              <a:t>height = h = 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Any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with height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has </a:t>
            </a:r>
            <a:r>
              <a:rPr lang="en-US" dirty="0" err="1" smtClean="0"/>
              <a:t>atmost</a:t>
            </a:r>
            <a:r>
              <a:rPr lang="en-US" dirty="0" smtClean="0"/>
              <a:t> 2</a:t>
            </a:r>
            <a:r>
              <a:rPr lang="en-US" baseline="30000" dirty="0" smtClean="0"/>
              <a:t>3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FF0000"/>
                </a:solidFill>
              </a:rPr>
              <a:t>8 terminal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But here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7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We have stated that if there is </a:t>
            </a:r>
            <a:r>
              <a:rPr lang="en-US" dirty="0" smtClean="0">
                <a:solidFill>
                  <a:srgbClr val="FF0000"/>
                </a:solidFill>
              </a:rPr>
              <a:t>k + 1 terminal vertices</a:t>
            </a:r>
            <a:r>
              <a:rPr lang="en-US" dirty="0" smtClean="0"/>
              <a:t> then there must be </a:t>
            </a:r>
            <a:r>
              <a:rPr lang="en-US" dirty="0" smtClean="0">
                <a:solidFill>
                  <a:srgbClr val="FF0000"/>
                </a:solidFill>
              </a:rPr>
              <a:t>k internal vertices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have </a:t>
            </a:r>
            <a:r>
              <a:rPr lang="en-US" dirty="0" smtClean="0">
                <a:solidFill>
                  <a:srgbClr val="FF0000"/>
                </a:solidFill>
              </a:rPr>
              <a:t>7 terminal vertices</a:t>
            </a:r>
            <a:r>
              <a:rPr lang="en-US" dirty="0" smtClean="0"/>
              <a:t>, according to theorem we must have </a:t>
            </a:r>
            <a:r>
              <a:rPr lang="en-US" dirty="0" smtClean="0">
                <a:solidFill>
                  <a:srgbClr val="FF0000"/>
                </a:solidFill>
              </a:rPr>
              <a:t>k = 6 Internal vertices</a:t>
            </a:r>
            <a:r>
              <a:rPr lang="en-US" dirty="0" smtClean="0"/>
              <a:t>, so binary tree exists and is as fellows: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must have seven vertices at level 3.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097280"/>
            <a:ext cx="621792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863224" y="148305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3456" y="2540768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6672" y="3608696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4661864"/>
            <a:ext cx="7772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------------------------------------------------------------------------------------------ Level 3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/>
      <p:bldP spid="8" grpId="0"/>
      <p:bldP spid="9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REPRESENTATION OF ALGEBRAIC EXPRESSIONS BY BINARY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We can represent any </a:t>
            </a:r>
            <a:r>
              <a:rPr lang="en-US" dirty="0" smtClean="0">
                <a:solidFill>
                  <a:srgbClr val="FF0000"/>
                </a:solidFill>
              </a:rPr>
              <a:t>algebraic expression </a:t>
            </a:r>
            <a:r>
              <a:rPr lang="en-US" dirty="0" smtClean="0"/>
              <a:t>with the help of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Binary trees</a:t>
            </a:r>
            <a:r>
              <a:rPr lang="en-US" dirty="0" smtClean="0"/>
              <a:t> are specially used in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to represent </a:t>
            </a:r>
            <a:r>
              <a:rPr lang="en-US" dirty="0" smtClean="0">
                <a:solidFill>
                  <a:srgbClr val="FF0000"/>
                </a:solidFill>
              </a:rPr>
              <a:t>algebraic expression</a:t>
            </a:r>
            <a:r>
              <a:rPr lang="en-US" dirty="0" smtClean="0"/>
              <a:t> with arbitrary nesting of balanced parentheses. 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given an algebraic expression </a:t>
            </a:r>
            <a:r>
              <a:rPr lang="en-US" b="1" dirty="0" smtClean="0">
                <a:solidFill>
                  <a:srgbClr val="FF0000"/>
                </a:solidFill>
              </a:rPr>
              <a:t>a/b</a:t>
            </a:r>
            <a:r>
              <a:rPr lang="en-US" dirty="0" smtClean="0"/>
              <a:t>.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981200"/>
            <a:ext cx="365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given algebraic expression </a:t>
            </a:r>
            <a:r>
              <a:rPr lang="en-US" b="1" dirty="0" smtClean="0">
                <a:solidFill>
                  <a:srgbClr val="FF0000"/>
                </a:solidFill>
              </a:rPr>
              <a:t>a/(</a:t>
            </a:r>
            <a:r>
              <a:rPr lang="en-US" b="1" dirty="0" err="1" smtClean="0">
                <a:solidFill>
                  <a:srgbClr val="FF0000"/>
                </a:solidFill>
              </a:rPr>
              <a:t>c+d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828800"/>
            <a:ext cx="438912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binary tree</a:t>
            </a:r>
            <a:r>
              <a:rPr lang="en-US" dirty="0" smtClean="0"/>
              <a:t> to represent the following expression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>
                <a:solidFill>
                  <a:srgbClr val="FF0000"/>
                </a:solidFill>
              </a:rPr>
              <a:t>a/(b-</a:t>
            </a:r>
            <a:r>
              <a:rPr lang="en-US" b="1" dirty="0" err="1" smtClean="0">
                <a:solidFill>
                  <a:srgbClr val="FF0000"/>
                </a:solidFill>
              </a:rPr>
              <a:t>c.d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Note that the </a:t>
            </a:r>
            <a:r>
              <a:rPr lang="en-US" dirty="0" smtClean="0">
                <a:solidFill>
                  <a:srgbClr val="FF0000"/>
                </a:solidFill>
              </a:rPr>
              <a:t>internal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arithmetic operators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</a:rPr>
              <a:t>terminal vertices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variables</a:t>
            </a:r>
            <a:r>
              <a:rPr lang="en-US" dirty="0" smtClean="0"/>
              <a:t> and the operator at each vertex acts on its left and right sub trees in left-right order.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219200"/>
            <a:ext cx="438912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TRAVERSAL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Procedures</a:t>
            </a:r>
            <a:r>
              <a:rPr lang="en-US" dirty="0" smtClean="0"/>
              <a:t> for systematically visiting every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are called </a:t>
            </a:r>
            <a:r>
              <a:rPr lang="en-US" dirty="0" smtClean="0">
                <a:solidFill>
                  <a:srgbClr val="FF0000"/>
                </a:solidFill>
              </a:rPr>
              <a:t>traversal algorithms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There are three of the commonly used such algorithms.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Preorder traversal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In-order traversal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Post-order traversal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PRE-ORDER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 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 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 in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preorder traversal </a:t>
            </a:r>
            <a:r>
              <a:rPr lang="en-US" dirty="0" smtClean="0"/>
              <a:t>begins by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preorder,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preorder, and so on, until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is traversed in preorder.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PRE-ORDER TRAVERSAL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4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2917" y="1295399"/>
            <a:ext cx="5883283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PRE-ORDER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Visit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090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71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2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33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14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95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6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7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38384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preorder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6308" y="1569720"/>
            <a:ext cx="37266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9581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76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57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8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19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81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62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43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24736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4168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72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53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4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615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96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77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58752" y="549321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in-order</a:t>
            </a:r>
            <a:r>
              <a:rPr lang="en-US" dirty="0" smtClean="0"/>
              <a:t> traversal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in-order</a:t>
            </a:r>
            <a:r>
              <a:rPr lang="en-US" dirty="0" smtClean="0"/>
              <a:t> traversal begins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then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. . . , and finally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IN-ORDER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295399"/>
            <a:ext cx="647745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IN-ORDER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Visit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in-order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104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66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47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28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09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0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71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52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85032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in-order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rooted tree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3532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77955" y="1676400"/>
            <a:ext cx="3251645" cy="33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8739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2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73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54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35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16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97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78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59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40576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8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88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9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50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1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12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93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74592" y="542497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1" grpId="1"/>
      <p:bldP spid="22" grpId="0"/>
      <p:bldP spid="23" grpId="0"/>
      <p:bldP spid="24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POSTORDER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be an ordered </a:t>
            </a:r>
            <a:r>
              <a:rPr lang="en-US" dirty="0" smtClean="0">
                <a:solidFill>
                  <a:srgbClr val="FF0000"/>
                </a:solidFill>
              </a:rPr>
              <a:t>rooted tree</a:t>
            </a:r>
            <a:r>
              <a:rPr lang="en-US" dirty="0" smtClean="0"/>
              <a:t> with root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consists only of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post-order</a:t>
            </a:r>
            <a:r>
              <a:rPr lang="en-US" dirty="0" smtClean="0"/>
              <a:t> traversal of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Otherwise, suppose that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. . . ,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are the </a:t>
            </a:r>
            <a:r>
              <a:rPr lang="en-US" dirty="0" err="1" smtClean="0">
                <a:solidFill>
                  <a:srgbClr val="FF0000"/>
                </a:solidFill>
              </a:rPr>
              <a:t>subtrees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from left to right.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begins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then visiting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. It continues by traversing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. . . , and finally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95399"/>
            <a:ext cx="6208887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 POST-ORDER TRAVERSE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left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Traverse to </a:t>
            </a:r>
            <a:r>
              <a:rPr lang="en-US" dirty="0" smtClean="0">
                <a:solidFill>
                  <a:srgbClr val="FF0000"/>
                </a:solidFill>
              </a:rPr>
              <a:t>right sub-tree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Visit the </a:t>
            </a:r>
            <a:r>
              <a:rPr lang="en-US" dirty="0" smtClean="0">
                <a:solidFill>
                  <a:srgbClr val="FF0000"/>
                </a:solidFill>
              </a:rPr>
              <a:t>root</a:t>
            </a:r>
            <a:r>
              <a:rPr lang="en-US" dirty="0" smtClean="0"/>
              <a:t> node.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File:Sorted binary tree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133600"/>
            <a:ext cx="3906730" cy="310896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131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93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4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5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36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17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8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79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2328" y="545796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which order does a </a:t>
            </a:r>
            <a:r>
              <a:rPr lang="en-US" dirty="0" smtClean="0">
                <a:solidFill>
                  <a:srgbClr val="FF0000"/>
                </a:solidFill>
              </a:rPr>
              <a:t>post-order traversal</a:t>
            </a:r>
            <a:r>
              <a:rPr lang="en-US" dirty="0" smtClean="0"/>
              <a:t> visit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the ordered </a:t>
            </a:r>
            <a:r>
              <a:rPr lang="en-US" dirty="0" smtClean="0">
                <a:solidFill>
                  <a:srgbClr val="FF0000"/>
                </a:solidFill>
              </a:rPr>
              <a:t>rooted tree T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Output: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1515" y="2021586"/>
            <a:ext cx="3343085" cy="3312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9092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27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j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08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89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o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0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p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51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k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2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e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3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f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94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b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75832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5264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23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l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04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m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85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g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66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h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947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i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28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d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09848" y="5478440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solidFill>
                  <a:srgbClr val="002060"/>
                </a:solidFill>
              </a:rPr>
              <a:t>a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6455</TotalTime>
  <Words>2005</Words>
  <Application>Microsoft Office PowerPoint</Application>
  <PresentationFormat>On-screen Show (4:3)</PresentationFormat>
  <Paragraphs>597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Origin</vt:lpstr>
      <vt:lpstr>TREES Lecture # 23  </vt:lpstr>
      <vt:lpstr>APPLICATION AREAS</vt:lpstr>
      <vt:lpstr>TREE</vt:lpstr>
      <vt:lpstr>EXAMPLES</vt:lpstr>
      <vt:lpstr>EXAMPLES OF NON-TREES</vt:lpstr>
      <vt:lpstr>SOME SPECIAL TREES</vt:lpstr>
      <vt:lpstr>Slide 7</vt:lpstr>
      <vt:lpstr>PROPERTIES OF TREES</vt:lpstr>
      <vt:lpstr>Slide 9</vt:lpstr>
      <vt:lpstr>EXERCISE</vt:lpstr>
      <vt:lpstr>SOLUTION</vt:lpstr>
      <vt:lpstr>EXERCISE</vt:lpstr>
      <vt:lpstr>Slide 13</vt:lpstr>
      <vt:lpstr>EXERCISE</vt:lpstr>
      <vt:lpstr>Slide 15</vt:lpstr>
      <vt:lpstr>EXERCISE</vt:lpstr>
      <vt:lpstr>INTERNAL VERTEX &amp; TERMINAL VERTEX</vt:lpstr>
      <vt:lpstr>EXAMPLE</vt:lpstr>
      <vt:lpstr>ROOTED TREE</vt:lpstr>
      <vt:lpstr>Slide 20</vt:lpstr>
      <vt:lpstr>EXAMPLE</vt:lpstr>
      <vt:lpstr>Slide 22</vt:lpstr>
      <vt:lpstr>EXERCISE</vt:lpstr>
      <vt:lpstr>SOLUTION</vt:lpstr>
      <vt:lpstr>Slide 25</vt:lpstr>
      <vt:lpstr>Slide 26</vt:lpstr>
      <vt:lpstr>Slide 27</vt:lpstr>
      <vt:lpstr>Slide 28</vt:lpstr>
      <vt:lpstr>Slide 29</vt:lpstr>
      <vt:lpstr>BINARY TREE</vt:lpstr>
      <vt:lpstr>EXAMPLE</vt:lpstr>
      <vt:lpstr>THEOREM</vt:lpstr>
      <vt:lpstr>NOTE</vt:lpstr>
      <vt:lpstr>EXERCISE</vt:lpstr>
      <vt:lpstr>SOLUTION</vt:lpstr>
      <vt:lpstr>Slide 36</vt:lpstr>
      <vt:lpstr>EXERCISE</vt:lpstr>
      <vt:lpstr>Slide 38</vt:lpstr>
      <vt:lpstr>EXERCISE</vt:lpstr>
      <vt:lpstr>Slide 40</vt:lpstr>
      <vt:lpstr>Slide 41</vt:lpstr>
      <vt:lpstr>REPRESENTATION OF ALGEBRAIC EXPRESSIONS BY BINARY TREES</vt:lpstr>
      <vt:lpstr>EXAMPLE</vt:lpstr>
      <vt:lpstr>EXAMPLE</vt:lpstr>
      <vt:lpstr>EXERCISE</vt:lpstr>
      <vt:lpstr>Slide 46</vt:lpstr>
      <vt:lpstr>TRAVERSAL ALGORITHMS</vt:lpstr>
      <vt:lpstr>PRE-ORDER TRAVERSAL</vt:lpstr>
      <vt:lpstr>PRE-ORDER TRAVERSAL</vt:lpstr>
      <vt:lpstr>STEPS IN PRE-ORDER TRAVERSE</vt:lpstr>
      <vt:lpstr>EXAMPLE</vt:lpstr>
      <vt:lpstr>EXAMPLE</vt:lpstr>
      <vt:lpstr>INORDER TRAVERSAL</vt:lpstr>
      <vt:lpstr>IN-ORDER TRAVERSAL</vt:lpstr>
      <vt:lpstr>STEPS IN IN-ORDER TRAVERSE</vt:lpstr>
      <vt:lpstr>EXAMPLE</vt:lpstr>
      <vt:lpstr>EXAMPLE</vt:lpstr>
      <vt:lpstr>POSTORDER TRAVERSAL</vt:lpstr>
      <vt:lpstr>Slide 59</vt:lpstr>
      <vt:lpstr>STEPS IN POST-ORDER TRAVERSE</vt:lpstr>
      <vt:lpstr>EXAMPLE</vt:lpstr>
      <vt:lpstr>EXAMPLE</vt:lpstr>
    </vt:vector>
  </TitlesOfParts>
  <Company>University of Virginia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Yasir</cp:lastModifiedBy>
  <cp:revision>531</cp:revision>
  <dcterms:created xsi:type="dcterms:W3CDTF">2004-09-16T16:06:30Z</dcterms:created>
  <dcterms:modified xsi:type="dcterms:W3CDTF">2014-02-02T17:03:58Z</dcterms:modified>
</cp:coreProperties>
</file>
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320" r:id="rId5"/>
    <p:sldId id="431" r:id="rId6"/>
    <p:sldId id="411" r:id="rId7"/>
    <p:sldId id="412" r:id="rId8"/>
    <p:sldId id="418" r:id="rId9"/>
    <p:sldId id="419" r:id="rId10"/>
    <p:sldId id="432" r:id="rId11"/>
    <p:sldId id="433" r:id="rId12"/>
    <p:sldId id="434" r:id="rId13"/>
    <p:sldId id="420" r:id="rId14"/>
    <p:sldId id="421" r:id="rId15"/>
    <p:sldId id="422" r:id="rId16"/>
    <p:sldId id="423" r:id="rId17"/>
    <p:sldId id="425" r:id="rId18"/>
    <p:sldId id="435" r:id="rId19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9C2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3" autoAdjust="0"/>
    <p:restoredTop sz="94660"/>
  </p:normalViewPr>
  <p:slideViewPr>
    <p:cSldViewPr>
      <p:cViewPr varScale="1">
        <p:scale>
          <a:sx n="66" d="100"/>
          <a:sy n="66" d="100"/>
        </p:scale>
        <p:origin x="118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1F3D-4CCB-414F-9454-B7A9A7C50F2E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1F3D-4CCB-414F-9454-B7A9A7C50F2E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1F3D-4CCB-414F-9454-B7A9A7C50F2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20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dirty="0" smtClean="0">
                <a:solidFill>
                  <a:srgbClr val="C00000"/>
                </a:solidFill>
              </a:rPr>
              <a:t>NUMBER THEORY</a:t>
            </a:r>
            <a:r>
              <a:rPr lang="en-US" sz="3100" b="1" u="sng" dirty="0" smtClean="0">
                <a:solidFill>
                  <a:srgbClr val="C00000"/>
                </a:solidFill>
              </a:rPr>
              <a:t/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0070C0"/>
                </a:solidFill>
              </a:rPr>
              <a:t>Lecture # 25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DIVISION ALGORITHM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quotient remainder theorem</a:t>
            </a:r>
            <a:r>
              <a:rPr lang="en-US" dirty="0" smtClean="0"/>
              <a:t> states that when an </a:t>
            </a:r>
            <a:r>
              <a:rPr lang="en-US" dirty="0" smtClean="0">
                <a:solidFill>
                  <a:srgbClr val="FF0000"/>
                </a:solidFill>
              </a:rPr>
              <a:t>integer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divided</a:t>
            </a:r>
            <a:r>
              <a:rPr lang="en-US" dirty="0" smtClean="0"/>
              <a:t> by an </a:t>
            </a:r>
            <a:r>
              <a:rPr lang="en-US" dirty="0" smtClean="0">
                <a:solidFill>
                  <a:srgbClr val="FF0000"/>
                </a:solidFill>
              </a:rPr>
              <a:t>integer</a:t>
            </a:r>
            <a:r>
              <a:rPr lang="en-US" dirty="0" smtClean="0"/>
              <a:t> we get one </a:t>
            </a:r>
            <a:r>
              <a:rPr lang="en-US" dirty="0" smtClean="0">
                <a:solidFill>
                  <a:srgbClr val="FF0000"/>
                </a:solidFill>
              </a:rPr>
              <a:t>remainder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quotient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value of </a:t>
            </a:r>
            <a:r>
              <a:rPr lang="en-US" dirty="0" smtClean="0">
                <a:solidFill>
                  <a:srgbClr val="FF0000"/>
                </a:solidFill>
              </a:rPr>
              <a:t>remainder</a:t>
            </a:r>
            <a:r>
              <a:rPr lang="en-US" dirty="0" smtClean="0"/>
              <a:t> will either be 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less</a:t>
            </a:r>
            <a:r>
              <a:rPr lang="en-US" dirty="0" smtClean="0"/>
              <a:t> than to number we are divided with.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sz="2800" b="1" u="sng" dirty="0" smtClean="0">
                <a:solidFill>
                  <a:srgbClr val="0070C0"/>
                </a:solidFill>
              </a:rPr>
              <a:t>THEOREM (Quotient-Remainder Theorem)</a:t>
            </a:r>
            <a:endParaRPr lang="en-US" sz="2800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Given any integer </a:t>
            </a:r>
            <a:r>
              <a:rPr lang="en-US" i="1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and a positive integer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dirty="0" smtClean="0"/>
              <a:t>, there exist </a:t>
            </a:r>
            <a:r>
              <a:rPr lang="en-US" dirty="0" smtClean="0">
                <a:solidFill>
                  <a:srgbClr val="FF0000"/>
                </a:solidFill>
              </a:rPr>
              <a:t>unique integers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such that  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i="1" dirty="0" smtClean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·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>
                <a:solidFill>
                  <a:srgbClr val="FF0000"/>
                </a:solidFill>
              </a:rPr>
              <a:t> +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		     where </a:t>
            </a:r>
          </a:p>
          <a:p>
            <a:pPr>
              <a:buNone/>
            </a:pPr>
            <a:r>
              <a:rPr lang="en-US" dirty="0" smtClean="0"/>
              <a:t>				  </a:t>
            </a:r>
            <a:r>
              <a:rPr lang="en-US" dirty="0" smtClean="0">
                <a:solidFill>
                  <a:srgbClr val="FF0000"/>
                </a:solidFill>
              </a:rPr>
              <a:t> 0 ≤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r>
              <a:rPr lang="en-US" dirty="0" smtClean="0">
                <a:solidFill>
                  <a:srgbClr val="FF0000"/>
                </a:solidFill>
              </a:rPr>
              <a:t> &lt;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1219200"/>
            <a:ext cx="8153400" cy="5029200"/>
          </a:xfrm>
        </p:spPr>
        <p:txBody>
          <a:bodyPr>
            <a:normAutofit/>
          </a:bodyPr>
          <a:lstStyle/>
          <a:p>
            <a:pPr marL="514350" indent="-514350"/>
            <a:r>
              <a:rPr lang="pt-BR" dirty="0" smtClean="0"/>
              <a:t>What is the </a:t>
            </a:r>
            <a:r>
              <a:rPr lang="pt-BR" dirty="0" smtClean="0">
                <a:solidFill>
                  <a:srgbClr val="FF0000"/>
                </a:solidFill>
              </a:rPr>
              <a:t>quotient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</a:t>
            </a:r>
            <a:r>
              <a:rPr lang="pt-BR" dirty="0" smtClean="0"/>
              <a:t> when </a:t>
            </a:r>
            <a:r>
              <a:rPr lang="pt-BR" dirty="0" smtClean="0">
                <a:solidFill>
                  <a:srgbClr val="FF0000"/>
                </a:solidFill>
              </a:rPr>
              <a:t>54</a:t>
            </a:r>
            <a:r>
              <a:rPr lang="pt-BR" dirty="0" smtClean="0"/>
              <a:t> is divided by </a:t>
            </a:r>
            <a:r>
              <a:rPr lang="pt-BR" dirty="0" smtClean="0">
                <a:solidFill>
                  <a:srgbClr val="FF0000"/>
                </a:solidFill>
              </a:rPr>
              <a:t>4</a:t>
            </a:r>
            <a:r>
              <a:rPr lang="pt-BR" dirty="0" smtClean="0"/>
              <a:t>?</a:t>
            </a:r>
          </a:p>
          <a:p>
            <a:pPr marL="514350" indent="-514350"/>
            <a:endParaRPr lang="pt-BR" dirty="0" smtClean="0"/>
          </a:p>
          <a:p>
            <a:pPr marL="514350" indent="-514350"/>
            <a:r>
              <a:rPr lang="pt-BR" i="1" dirty="0" smtClean="0">
                <a:solidFill>
                  <a:srgbClr val="FF0000"/>
                </a:solidFill>
              </a:rPr>
              <a:t>n</a:t>
            </a:r>
            <a:r>
              <a:rPr lang="pt-BR" dirty="0" smtClean="0">
                <a:solidFill>
                  <a:srgbClr val="FF0000"/>
                </a:solidFill>
              </a:rPr>
              <a:t> =  54</a:t>
            </a:r>
            <a:r>
              <a:rPr lang="pt-BR" dirty="0" smtClean="0"/>
              <a:t> and we divide it with 4 i.e. </a:t>
            </a:r>
            <a:r>
              <a:rPr lang="pt-BR" i="1" dirty="0" smtClean="0">
                <a:solidFill>
                  <a:srgbClr val="FF0000"/>
                </a:solidFill>
              </a:rPr>
              <a:t>d</a:t>
            </a:r>
            <a:r>
              <a:rPr lang="pt-BR" dirty="0" smtClean="0">
                <a:solidFill>
                  <a:srgbClr val="FF0000"/>
                </a:solidFill>
              </a:rPr>
              <a:t> = 4</a:t>
            </a:r>
          </a:p>
          <a:p>
            <a:pPr marL="514350" indent="-514350"/>
            <a:endParaRPr lang="pt-BR" dirty="0" smtClean="0"/>
          </a:p>
          <a:p>
            <a:pPr marL="514350" indent="-514350">
              <a:buNone/>
            </a:pPr>
            <a:r>
              <a:rPr lang="en-US" i="1" dirty="0" smtClean="0">
                <a:solidFill>
                  <a:srgbClr val="FF0000"/>
                </a:solidFill>
              </a:rPr>
              <a:t>				    n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·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>
                <a:solidFill>
                  <a:srgbClr val="FF0000"/>
                </a:solidFill>
              </a:rPr>
              <a:t> +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			   54 = 4</a:t>
            </a:r>
            <a:r>
              <a:rPr lang="pt-BR" b="1" dirty="0" smtClean="0"/>
              <a:t>·</a:t>
            </a:r>
            <a:r>
              <a:rPr lang="pt-BR" dirty="0" smtClean="0"/>
              <a:t> 13 + 2; </a:t>
            </a:r>
          </a:p>
          <a:p>
            <a:pPr marL="514350" indent="-514350">
              <a:buNone/>
            </a:pP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Hence,</a:t>
            </a:r>
          </a:p>
          <a:p>
            <a:pPr marL="514350" indent="-514350">
              <a:buNone/>
            </a:pPr>
            <a:r>
              <a:rPr lang="pt-BR" dirty="0" smtClean="0"/>
              <a:t>			</a:t>
            </a:r>
            <a:r>
              <a:rPr lang="pt-BR" dirty="0" smtClean="0">
                <a:solidFill>
                  <a:srgbClr val="FF0000"/>
                </a:solidFill>
              </a:rPr>
              <a:t>Quotient </a:t>
            </a:r>
            <a:r>
              <a:rPr lang="pt-BR" dirty="0" smtClean="0"/>
              <a:t>=</a:t>
            </a:r>
            <a:r>
              <a:rPr lang="pt-BR" dirty="0" smtClean="0">
                <a:solidFill>
                  <a:srgbClr val="FF0000"/>
                </a:solidFill>
              </a:rPr>
              <a:t> 13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 </a:t>
            </a:r>
            <a:r>
              <a:rPr lang="pt-BR" dirty="0" smtClean="0"/>
              <a:t>=</a:t>
            </a:r>
            <a:r>
              <a:rPr lang="pt-BR" dirty="0" smtClean="0">
                <a:solidFill>
                  <a:srgbClr val="FF0000"/>
                </a:solidFill>
              </a:rPr>
              <a:t> 2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 smtClean="0">
              <a:sym typeface="Symbol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 marL="514350" indent="-514350"/>
            <a:r>
              <a:rPr lang="pt-BR" dirty="0" smtClean="0"/>
              <a:t>What is the </a:t>
            </a:r>
            <a:r>
              <a:rPr lang="pt-BR" dirty="0" smtClean="0">
                <a:solidFill>
                  <a:srgbClr val="FF0000"/>
                </a:solidFill>
              </a:rPr>
              <a:t>quotient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</a:t>
            </a:r>
            <a:r>
              <a:rPr lang="pt-BR" dirty="0" smtClean="0"/>
              <a:t> when </a:t>
            </a:r>
            <a:r>
              <a:rPr lang="pt-BR" dirty="0" smtClean="0">
                <a:solidFill>
                  <a:srgbClr val="FF0000"/>
                </a:solidFill>
              </a:rPr>
              <a:t>– 11</a:t>
            </a:r>
            <a:r>
              <a:rPr lang="pt-BR" dirty="0" smtClean="0"/>
              <a:t> is divided by </a:t>
            </a:r>
            <a:r>
              <a:rPr lang="pt-BR" dirty="0" smtClean="0">
                <a:solidFill>
                  <a:srgbClr val="FF0000"/>
                </a:solidFill>
              </a:rPr>
              <a:t>3</a:t>
            </a:r>
            <a:r>
              <a:rPr lang="pt-BR" dirty="0" smtClean="0"/>
              <a:t>?</a:t>
            </a:r>
          </a:p>
          <a:p>
            <a:pPr marL="514350" indent="-514350"/>
            <a:endParaRPr lang="pt-BR" i="1" dirty="0" smtClean="0"/>
          </a:p>
          <a:p>
            <a:pPr marL="514350" indent="-514350"/>
            <a:r>
              <a:rPr lang="pt-BR" i="1" dirty="0" smtClean="0">
                <a:solidFill>
                  <a:srgbClr val="FF0000"/>
                </a:solidFill>
              </a:rPr>
              <a:t>n</a:t>
            </a:r>
            <a:r>
              <a:rPr lang="pt-BR" dirty="0" smtClean="0">
                <a:solidFill>
                  <a:srgbClr val="FF0000"/>
                </a:solidFill>
              </a:rPr>
              <a:t> =  </a:t>
            </a:r>
            <a:r>
              <a:rPr lang="en-US" dirty="0" smtClean="0">
                <a:solidFill>
                  <a:srgbClr val="FF0000"/>
                </a:solidFill>
              </a:rPr>
              <a:t>– </a:t>
            </a:r>
            <a:r>
              <a:rPr lang="pt-BR" dirty="0" smtClean="0">
                <a:solidFill>
                  <a:srgbClr val="FF0000"/>
                </a:solidFill>
              </a:rPr>
              <a:t>11</a:t>
            </a:r>
            <a:r>
              <a:rPr lang="pt-BR" dirty="0" smtClean="0"/>
              <a:t>  and we divide it with 1 i.e. </a:t>
            </a:r>
            <a:r>
              <a:rPr lang="pt-BR" i="1" dirty="0" smtClean="0">
                <a:solidFill>
                  <a:srgbClr val="FF0000"/>
                </a:solidFill>
              </a:rPr>
              <a:t>d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smtClean="0">
                <a:solidFill>
                  <a:srgbClr val="FF0000"/>
                </a:solidFill>
              </a:rPr>
              <a:t>= 3</a:t>
            </a:r>
            <a:endParaRPr lang="pt-BR" dirty="0" smtClean="0">
              <a:solidFill>
                <a:srgbClr val="FF0000"/>
              </a:solidFill>
            </a:endParaRPr>
          </a:p>
          <a:p>
            <a:pPr marL="514350" indent="-514350"/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			</a:t>
            </a:r>
            <a:r>
              <a:rPr lang="en-US" i="1" dirty="0" smtClean="0">
                <a:solidFill>
                  <a:srgbClr val="FF0000"/>
                </a:solidFill>
              </a:rPr>
              <a:t>      n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·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>
                <a:solidFill>
                  <a:srgbClr val="FF0000"/>
                </a:solidFill>
              </a:rPr>
              <a:t> +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			 </a:t>
            </a:r>
            <a:r>
              <a:rPr lang="en-US" dirty="0" smtClean="0"/>
              <a:t>– </a:t>
            </a:r>
            <a:r>
              <a:rPr lang="pt-BR" dirty="0" smtClean="0"/>
              <a:t>11 = 3</a:t>
            </a:r>
            <a:r>
              <a:rPr lang="pt-BR" b="1" dirty="0" smtClean="0"/>
              <a:t>·</a:t>
            </a:r>
            <a:r>
              <a:rPr lang="pt-BR" dirty="0" smtClean="0"/>
              <a:t> (</a:t>
            </a:r>
            <a:r>
              <a:rPr lang="en-US" dirty="0" smtClean="0"/>
              <a:t>– </a:t>
            </a:r>
            <a:r>
              <a:rPr lang="pt-BR" dirty="0" smtClean="0"/>
              <a:t>4) + 1; </a:t>
            </a:r>
          </a:p>
          <a:p>
            <a:pPr marL="514350" indent="-514350">
              <a:buNone/>
            </a:pP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Hence,</a:t>
            </a:r>
          </a:p>
          <a:p>
            <a:pPr marL="514350" indent="-514350">
              <a:buNone/>
            </a:pPr>
            <a:r>
              <a:rPr lang="pt-BR" dirty="0" smtClean="0"/>
              <a:t>			</a:t>
            </a:r>
            <a:r>
              <a:rPr lang="pt-BR" dirty="0" smtClean="0">
                <a:solidFill>
                  <a:srgbClr val="FF0000"/>
                </a:solidFill>
              </a:rPr>
              <a:t>Quotient</a:t>
            </a:r>
            <a:r>
              <a:rPr lang="pt-BR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– </a:t>
            </a:r>
            <a:r>
              <a:rPr lang="pt-BR" dirty="0" smtClean="0">
                <a:solidFill>
                  <a:srgbClr val="FF0000"/>
                </a:solidFill>
              </a:rPr>
              <a:t>4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</a:t>
            </a:r>
            <a:r>
              <a:rPr lang="pt-BR" dirty="0" smtClean="0"/>
              <a:t> = </a:t>
            </a:r>
            <a:r>
              <a:rPr lang="pt-BR" dirty="0" smtClean="0">
                <a:solidFill>
                  <a:srgbClr val="FF0000"/>
                </a:solidFill>
              </a:rPr>
              <a:t>1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 smtClean="0">
              <a:sym typeface="Symbol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 marL="514350" indent="-514350"/>
            <a:r>
              <a:rPr lang="pt-BR" dirty="0" smtClean="0"/>
              <a:t>What is the </a:t>
            </a:r>
            <a:r>
              <a:rPr lang="pt-BR" dirty="0" smtClean="0">
                <a:solidFill>
                  <a:srgbClr val="FF0000"/>
                </a:solidFill>
              </a:rPr>
              <a:t>quotient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</a:t>
            </a:r>
            <a:r>
              <a:rPr lang="pt-BR" dirty="0" smtClean="0"/>
              <a:t> when </a:t>
            </a:r>
            <a:r>
              <a:rPr lang="pt-BR" dirty="0" smtClean="0">
                <a:solidFill>
                  <a:srgbClr val="FF0000"/>
                </a:solidFill>
              </a:rPr>
              <a:t>– 54</a:t>
            </a:r>
            <a:r>
              <a:rPr lang="pt-BR" dirty="0" smtClean="0"/>
              <a:t> is divided by </a:t>
            </a:r>
            <a:r>
              <a:rPr lang="pt-BR" dirty="0" smtClean="0">
                <a:solidFill>
                  <a:srgbClr val="FF0000"/>
                </a:solidFill>
              </a:rPr>
              <a:t>4</a:t>
            </a:r>
            <a:r>
              <a:rPr lang="pt-BR" dirty="0" smtClean="0"/>
              <a:t>?</a:t>
            </a:r>
          </a:p>
          <a:p>
            <a:pPr marL="514350" indent="-514350"/>
            <a:endParaRPr lang="pt-BR" i="1" dirty="0" smtClean="0"/>
          </a:p>
          <a:p>
            <a:pPr marL="514350" indent="-514350"/>
            <a:r>
              <a:rPr lang="pt-BR" i="1" dirty="0" smtClean="0">
                <a:solidFill>
                  <a:srgbClr val="FF0000"/>
                </a:solidFill>
              </a:rPr>
              <a:t>n</a:t>
            </a:r>
            <a:r>
              <a:rPr lang="pt-BR" dirty="0" smtClean="0">
                <a:solidFill>
                  <a:srgbClr val="FF0000"/>
                </a:solidFill>
              </a:rPr>
              <a:t> =  </a:t>
            </a:r>
            <a:r>
              <a:rPr lang="en-US" dirty="0" smtClean="0">
                <a:solidFill>
                  <a:srgbClr val="FF0000"/>
                </a:solidFill>
              </a:rPr>
              <a:t>– </a:t>
            </a:r>
            <a:r>
              <a:rPr lang="pt-BR" dirty="0" smtClean="0">
                <a:solidFill>
                  <a:srgbClr val="FF0000"/>
                </a:solidFill>
              </a:rPr>
              <a:t>54</a:t>
            </a:r>
            <a:r>
              <a:rPr lang="pt-BR" dirty="0" smtClean="0"/>
              <a:t>  and we divide it with </a:t>
            </a:r>
            <a:r>
              <a:rPr lang="pt-BR" dirty="0" smtClean="0">
                <a:solidFill>
                  <a:srgbClr val="FF0000"/>
                </a:solidFill>
              </a:rPr>
              <a:t>4</a:t>
            </a:r>
            <a:r>
              <a:rPr lang="pt-BR" dirty="0" smtClean="0"/>
              <a:t> i.e. </a:t>
            </a:r>
            <a:r>
              <a:rPr lang="pt-BR" i="1" dirty="0" smtClean="0">
                <a:solidFill>
                  <a:srgbClr val="FF0000"/>
                </a:solidFill>
              </a:rPr>
              <a:t>d</a:t>
            </a:r>
            <a:r>
              <a:rPr lang="pt-BR" dirty="0" smtClean="0">
                <a:solidFill>
                  <a:srgbClr val="FF0000"/>
                </a:solidFill>
              </a:rPr>
              <a:t> = 4</a:t>
            </a:r>
          </a:p>
          <a:p>
            <a:pPr marL="514350" indent="-514350"/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			</a:t>
            </a:r>
            <a:r>
              <a:rPr lang="en-US" i="1" dirty="0" smtClean="0">
                <a:solidFill>
                  <a:srgbClr val="FF0000"/>
                </a:solidFill>
              </a:rPr>
              <a:t>      n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·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>
                <a:solidFill>
                  <a:srgbClr val="FF0000"/>
                </a:solidFill>
              </a:rPr>
              <a:t> +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			 </a:t>
            </a:r>
            <a:r>
              <a:rPr lang="en-US" dirty="0" smtClean="0"/>
              <a:t>– </a:t>
            </a:r>
            <a:r>
              <a:rPr lang="pt-BR" dirty="0" smtClean="0"/>
              <a:t>54 = 4</a:t>
            </a:r>
            <a:r>
              <a:rPr lang="pt-BR" b="1" dirty="0" smtClean="0"/>
              <a:t>·</a:t>
            </a:r>
            <a:r>
              <a:rPr lang="pt-BR" dirty="0" smtClean="0"/>
              <a:t> (</a:t>
            </a:r>
            <a:r>
              <a:rPr lang="en-US" dirty="0" smtClean="0"/>
              <a:t>– 1</a:t>
            </a:r>
            <a:r>
              <a:rPr lang="pt-BR" dirty="0" smtClean="0"/>
              <a:t>4) + 2; </a:t>
            </a:r>
          </a:p>
          <a:p>
            <a:pPr marL="514350" indent="-514350">
              <a:buNone/>
            </a:pP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Hence,</a:t>
            </a:r>
          </a:p>
          <a:p>
            <a:pPr marL="514350" indent="-514350">
              <a:buNone/>
            </a:pPr>
            <a:r>
              <a:rPr lang="pt-BR" dirty="0" smtClean="0"/>
              <a:t>			</a:t>
            </a:r>
            <a:r>
              <a:rPr lang="pt-BR" dirty="0" smtClean="0">
                <a:solidFill>
                  <a:srgbClr val="FF0000"/>
                </a:solidFill>
              </a:rPr>
              <a:t>Quotient </a:t>
            </a:r>
            <a:r>
              <a:rPr lang="pt-BR" dirty="0" smtClean="0"/>
              <a:t>=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– </a:t>
            </a:r>
            <a:r>
              <a:rPr lang="pt-BR" dirty="0" smtClean="0">
                <a:solidFill>
                  <a:srgbClr val="FF0000"/>
                </a:solidFill>
              </a:rPr>
              <a:t>14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</a:t>
            </a:r>
            <a:r>
              <a:rPr lang="pt-BR" dirty="0" smtClean="0"/>
              <a:t> = </a:t>
            </a:r>
            <a:r>
              <a:rPr lang="pt-BR" dirty="0" smtClean="0">
                <a:solidFill>
                  <a:srgbClr val="FF0000"/>
                </a:solidFill>
              </a:rPr>
              <a:t>2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 smtClean="0">
              <a:sym typeface="Symbol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 lnSpcReduction="10000"/>
          </a:bodyPr>
          <a:lstStyle/>
          <a:p>
            <a:pPr marL="514350" indent="-514350"/>
            <a:r>
              <a:rPr lang="pt-BR" dirty="0" smtClean="0"/>
              <a:t>What is the </a:t>
            </a:r>
            <a:r>
              <a:rPr lang="pt-BR" dirty="0" smtClean="0">
                <a:solidFill>
                  <a:srgbClr val="FF0000"/>
                </a:solidFill>
              </a:rPr>
              <a:t>quotient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</a:t>
            </a:r>
            <a:r>
              <a:rPr lang="pt-BR" dirty="0" smtClean="0"/>
              <a:t> when </a:t>
            </a:r>
            <a:r>
              <a:rPr lang="pt-BR" dirty="0" smtClean="0">
                <a:solidFill>
                  <a:srgbClr val="FF0000"/>
                </a:solidFill>
              </a:rPr>
              <a:t>54</a:t>
            </a:r>
            <a:r>
              <a:rPr lang="pt-BR" dirty="0" smtClean="0"/>
              <a:t> is divided by </a:t>
            </a:r>
            <a:r>
              <a:rPr lang="pt-BR" dirty="0" smtClean="0">
                <a:solidFill>
                  <a:srgbClr val="FF0000"/>
                </a:solidFill>
              </a:rPr>
              <a:t>70</a:t>
            </a:r>
            <a:r>
              <a:rPr lang="pt-BR" dirty="0" smtClean="0"/>
              <a:t>?</a:t>
            </a:r>
          </a:p>
          <a:p>
            <a:pPr marL="514350" indent="-514350"/>
            <a:endParaRPr lang="pt-BR" dirty="0" smtClean="0"/>
          </a:p>
          <a:p>
            <a:pPr marL="514350" indent="-514350"/>
            <a:r>
              <a:rPr lang="pt-BR" dirty="0" smtClean="0"/>
              <a:t>If we take </a:t>
            </a:r>
            <a:r>
              <a:rPr lang="pt-BR" i="1" dirty="0" smtClean="0">
                <a:solidFill>
                  <a:srgbClr val="FF0000"/>
                </a:solidFill>
              </a:rPr>
              <a:t>n</a:t>
            </a:r>
            <a:r>
              <a:rPr lang="pt-BR" dirty="0" smtClean="0">
                <a:solidFill>
                  <a:srgbClr val="FF0000"/>
                </a:solidFill>
              </a:rPr>
              <a:t> =  54</a:t>
            </a:r>
            <a:r>
              <a:rPr lang="pt-BR" dirty="0" smtClean="0"/>
              <a:t>  and we divide it with 70 i.e. </a:t>
            </a:r>
            <a:r>
              <a:rPr lang="pt-BR" i="1" dirty="0" smtClean="0">
                <a:solidFill>
                  <a:srgbClr val="FF0000"/>
                </a:solidFill>
              </a:rPr>
              <a:t>d</a:t>
            </a:r>
            <a:r>
              <a:rPr lang="pt-BR" dirty="0" smtClean="0">
                <a:solidFill>
                  <a:srgbClr val="FF0000"/>
                </a:solidFill>
              </a:rPr>
              <a:t> = 70</a:t>
            </a:r>
          </a:p>
          <a:p>
            <a:pPr marL="514350" indent="-514350">
              <a:buNone/>
            </a:pPr>
            <a:r>
              <a:rPr lang="pt-BR" dirty="0" smtClean="0"/>
              <a:t>	Here,</a:t>
            </a:r>
          </a:p>
          <a:p>
            <a:pPr marL="514350" indent="-514350">
              <a:buNone/>
            </a:pPr>
            <a:r>
              <a:rPr lang="pt-BR" dirty="0" smtClean="0"/>
              <a:t>		 		</a:t>
            </a:r>
            <a:r>
              <a:rPr lang="pt-BR" dirty="0" smtClean="0">
                <a:solidFill>
                  <a:srgbClr val="FF0000"/>
                </a:solidFill>
              </a:rPr>
              <a:t>divisor &gt; number</a:t>
            </a:r>
          </a:p>
          <a:p>
            <a:pPr marL="514350" indent="-514350">
              <a:buNone/>
            </a:pPr>
            <a:r>
              <a:rPr lang="pt-BR" dirty="0" smtClean="0"/>
              <a:t>				  </a:t>
            </a:r>
            <a:r>
              <a:rPr lang="en-US" i="1" dirty="0" smtClean="0">
                <a:solidFill>
                  <a:srgbClr val="FF0000"/>
                </a:solidFill>
              </a:rPr>
              <a:t> n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·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>
                <a:solidFill>
                  <a:srgbClr val="FF0000"/>
                </a:solidFill>
              </a:rPr>
              <a:t> +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			 54 = 70</a:t>
            </a:r>
            <a:r>
              <a:rPr lang="pt-BR" b="1" dirty="0" smtClean="0"/>
              <a:t>·</a:t>
            </a:r>
            <a:r>
              <a:rPr lang="pt-BR" dirty="0" smtClean="0"/>
              <a:t> (</a:t>
            </a:r>
            <a:r>
              <a:rPr lang="en-US" dirty="0" smtClean="0"/>
              <a:t>0</a:t>
            </a:r>
            <a:r>
              <a:rPr lang="pt-BR" dirty="0" smtClean="0"/>
              <a:t>) + 54;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</a:p>
          <a:p>
            <a:pPr marL="514350" indent="-514350">
              <a:buNone/>
            </a:pP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Hence,</a:t>
            </a:r>
          </a:p>
          <a:p>
            <a:pPr marL="514350" indent="-514350">
              <a:buNone/>
            </a:pPr>
            <a:r>
              <a:rPr lang="pt-BR" dirty="0" smtClean="0"/>
              <a:t>			</a:t>
            </a:r>
            <a:r>
              <a:rPr lang="pt-BR" dirty="0" smtClean="0">
                <a:solidFill>
                  <a:srgbClr val="FF0000"/>
                </a:solidFill>
              </a:rPr>
              <a:t>Quotient </a:t>
            </a:r>
            <a:r>
              <a:rPr lang="pt-BR" dirty="0" smtClean="0"/>
              <a:t>=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0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 </a:t>
            </a:r>
            <a:r>
              <a:rPr lang="pt-BR" dirty="0" smtClean="0"/>
              <a:t>=</a:t>
            </a:r>
            <a:r>
              <a:rPr lang="pt-BR" dirty="0" smtClean="0">
                <a:solidFill>
                  <a:srgbClr val="FF0000"/>
                </a:solidFill>
              </a:rPr>
              <a:t> 54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 smtClean="0">
              <a:sym typeface="Symbol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GREATEST COMMON DIVISORS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be </a:t>
            </a:r>
            <a:r>
              <a:rPr lang="en-US" dirty="0" smtClean="0">
                <a:solidFill>
                  <a:srgbClr val="FF0000"/>
                </a:solidFill>
              </a:rPr>
              <a:t>integers</a:t>
            </a:r>
            <a:r>
              <a:rPr lang="en-US" dirty="0" smtClean="0"/>
              <a:t>, not both zero. The largest integer </a:t>
            </a:r>
            <a:r>
              <a:rPr lang="en-US" dirty="0" smtClean="0">
                <a:solidFill>
                  <a:srgbClr val="FF0000"/>
                </a:solidFill>
              </a:rPr>
              <a:t>d</a:t>
            </a:r>
            <a:r>
              <a:rPr lang="en-US" dirty="0" smtClean="0"/>
              <a:t> such that </a:t>
            </a:r>
            <a:r>
              <a:rPr lang="en-US" dirty="0" smtClean="0">
                <a:solidFill>
                  <a:srgbClr val="FF0000"/>
                </a:solidFill>
              </a:rPr>
              <a:t>d | 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d | b</a:t>
            </a:r>
            <a:r>
              <a:rPr lang="en-US" dirty="0" smtClean="0"/>
              <a:t> is called the </a:t>
            </a:r>
            <a:r>
              <a:rPr lang="en-US" dirty="0" smtClean="0">
                <a:solidFill>
                  <a:srgbClr val="FF0000"/>
                </a:solidFill>
              </a:rPr>
              <a:t>greatest common divisor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Notation:</a:t>
            </a:r>
          </a:p>
          <a:p>
            <a:pPr>
              <a:buNone/>
            </a:pPr>
            <a:r>
              <a:rPr lang="en-US" dirty="0" smtClean="0"/>
              <a:t>	The greatest common divisor of a and b is denoted by 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(a, b)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Find 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(330, 156)</a:t>
            </a: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r>
              <a:rPr lang="en-US" dirty="0" smtClean="0">
                <a:ea typeface="+mj-ea"/>
                <a:cs typeface="+mj-cs"/>
              </a:rPr>
              <a:t>Hence the </a:t>
            </a:r>
            <a:r>
              <a:rPr lang="en-US" dirty="0" err="1" smtClean="0">
                <a:solidFill>
                  <a:srgbClr val="FF0000"/>
                </a:solidFill>
                <a:ea typeface="+mj-ea"/>
                <a:cs typeface="+mj-cs"/>
              </a:rPr>
              <a:t>gcd</a:t>
            </a:r>
            <a:r>
              <a:rPr lang="en-US" dirty="0" smtClean="0">
                <a:solidFill>
                  <a:srgbClr val="FF0000"/>
                </a:solidFill>
                <a:ea typeface="+mj-ea"/>
                <a:cs typeface="+mj-cs"/>
              </a:rPr>
              <a:t>(330, 156)</a:t>
            </a:r>
            <a:r>
              <a:rPr lang="en-US" dirty="0" smtClean="0">
                <a:ea typeface="+mj-ea"/>
                <a:cs typeface="+mj-cs"/>
              </a:rPr>
              <a:t> = </a:t>
            </a:r>
            <a:r>
              <a:rPr lang="en-US" dirty="0" smtClean="0">
                <a:solidFill>
                  <a:srgbClr val="FF0000"/>
                </a:solidFill>
                <a:ea typeface="+mj-ea"/>
                <a:cs typeface="+mj-cs"/>
              </a:rPr>
              <a:t>6</a:t>
            </a: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209800"/>
            <a:ext cx="2209800" cy="3276600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05300" y="2160610"/>
            <a:ext cx="2552700" cy="340199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What is the </a:t>
            </a:r>
            <a:r>
              <a:rPr lang="en-US" dirty="0" smtClean="0">
                <a:solidFill>
                  <a:srgbClr val="FF0000"/>
                </a:solidFill>
              </a:rPr>
              <a:t>greatest common divisor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24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36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FF0000"/>
                </a:solidFill>
              </a:rPr>
              <a:t>24 :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1, 2, 3, 4, 6, 8, 12, 24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FF0000"/>
                </a:solidFill>
              </a:rPr>
              <a:t>36 : </a:t>
            </a:r>
            <a:r>
              <a:rPr lang="en-US" dirty="0" smtClean="0"/>
              <a:t>1, 2, 3, 4, 6, 9, 12, 18, 36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Common Divisors : </a:t>
            </a:r>
            <a:r>
              <a:rPr lang="en-US" dirty="0" smtClean="0"/>
              <a:t>1, 2, 3, 4, 6, 12</a:t>
            </a:r>
          </a:p>
          <a:p>
            <a:pPr>
              <a:buNone/>
            </a:pPr>
            <a:r>
              <a:rPr lang="en-US" dirty="0" smtClean="0"/>
              <a:t>		       </a:t>
            </a:r>
            <a:r>
              <a:rPr lang="en-US" dirty="0" smtClean="0">
                <a:solidFill>
                  <a:srgbClr val="FF0000"/>
                </a:solidFill>
              </a:rPr>
              <a:t>Greatest : </a:t>
            </a:r>
            <a:r>
              <a:rPr lang="en-US" dirty="0" smtClean="0"/>
              <a:t>12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(24, 36)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12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THE EUCLIDEAN ALGORITHM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Suppose that </a:t>
            </a:r>
            <a:r>
              <a:rPr lang="en-US" sz="2800" dirty="0" smtClean="0">
                <a:solidFill>
                  <a:srgbClr val="FF0000"/>
                </a:solidFill>
              </a:rPr>
              <a:t>a</a:t>
            </a:r>
            <a:r>
              <a:rPr lang="en-US" sz="2800" dirty="0" smtClean="0"/>
              <a:t> and </a:t>
            </a:r>
            <a:r>
              <a:rPr lang="en-US" sz="2800" dirty="0" smtClean="0">
                <a:solidFill>
                  <a:srgbClr val="FF0000"/>
                </a:solidFill>
              </a:rPr>
              <a:t>b</a:t>
            </a:r>
            <a:r>
              <a:rPr lang="en-US" sz="2800" dirty="0" smtClean="0"/>
              <a:t> are positive integers with </a:t>
            </a:r>
            <a:r>
              <a:rPr lang="en-US" sz="2800" dirty="0" smtClean="0">
                <a:solidFill>
                  <a:srgbClr val="FF0000"/>
                </a:solidFill>
              </a:rPr>
              <a:t>a ≥ b</a:t>
            </a:r>
            <a:r>
              <a:rPr lang="en-US" sz="2800" dirty="0" smtClean="0"/>
              <a:t>. </a:t>
            </a:r>
          </a:p>
          <a:p>
            <a:pPr>
              <a:buNone/>
            </a:pPr>
            <a:r>
              <a:rPr lang="en-US" sz="2800" dirty="0" smtClean="0"/>
              <a:t>	Let </a:t>
            </a:r>
            <a:r>
              <a:rPr lang="en-US" sz="2800" dirty="0" smtClean="0">
                <a:solidFill>
                  <a:srgbClr val="FF0000"/>
                </a:solidFill>
              </a:rPr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0</a:t>
            </a:r>
            <a:r>
              <a:rPr lang="en-US" sz="2800" dirty="0" smtClean="0"/>
              <a:t> = </a:t>
            </a:r>
            <a:r>
              <a:rPr lang="en-US" sz="2800" dirty="0" smtClean="0">
                <a:solidFill>
                  <a:srgbClr val="FF0000"/>
                </a:solidFill>
              </a:rPr>
              <a:t>a</a:t>
            </a:r>
            <a:r>
              <a:rPr lang="en-US" sz="2800" dirty="0" smtClean="0"/>
              <a:t> and </a:t>
            </a:r>
            <a:r>
              <a:rPr lang="en-US" sz="2800" dirty="0" smtClean="0">
                <a:solidFill>
                  <a:srgbClr val="FF0000"/>
                </a:solidFill>
              </a:rPr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1</a:t>
            </a:r>
            <a:r>
              <a:rPr lang="en-US" sz="2800" dirty="0" smtClean="0"/>
              <a:t> = </a:t>
            </a:r>
            <a:r>
              <a:rPr lang="en-US" sz="2800" dirty="0" smtClean="0">
                <a:solidFill>
                  <a:srgbClr val="FF0000"/>
                </a:solidFill>
              </a:rPr>
              <a:t>b</a:t>
            </a:r>
            <a:r>
              <a:rPr lang="en-US" sz="2800" dirty="0" smtClean="0"/>
              <a:t>. When we successively apply the </a:t>
            </a:r>
            <a:r>
              <a:rPr lang="en-US" sz="2800" dirty="0" smtClean="0">
                <a:solidFill>
                  <a:srgbClr val="FF0000"/>
                </a:solidFill>
              </a:rPr>
              <a:t>division algorithm</a:t>
            </a:r>
            <a:r>
              <a:rPr lang="en-US" sz="2800" dirty="0" smtClean="0"/>
              <a:t>, we obtain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pt-BR" sz="2800" dirty="0" smtClean="0"/>
              <a:t>		</a:t>
            </a:r>
            <a:r>
              <a:rPr lang="en-US" sz="2800" dirty="0" smtClean="0"/>
              <a:t> r</a:t>
            </a:r>
            <a:r>
              <a:rPr lang="en-US" sz="2800" baseline="-25000" dirty="0" smtClean="0">
                <a:solidFill>
                  <a:srgbClr val="FF0000"/>
                </a:solidFill>
              </a:rPr>
              <a:t>0</a:t>
            </a:r>
            <a:r>
              <a:rPr lang="pt-BR" sz="2800" dirty="0" smtClean="0"/>
              <a:t> =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1</a:t>
            </a:r>
            <a:r>
              <a:rPr lang="en-US" sz="2800" dirty="0" smtClean="0"/>
              <a:t>q</a:t>
            </a:r>
            <a:r>
              <a:rPr lang="en-US" sz="2800" baseline="-25000" dirty="0" smtClean="0">
                <a:solidFill>
                  <a:srgbClr val="FF0000"/>
                </a:solidFill>
              </a:rPr>
              <a:t>1</a:t>
            </a:r>
            <a:r>
              <a:rPr lang="pt-BR" sz="2800" dirty="0" smtClean="0"/>
              <a:t> +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2</a:t>
            </a:r>
            <a:r>
              <a:rPr lang="pt-BR" sz="2800" dirty="0" smtClean="0"/>
              <a:t> 		0 ≤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2</a:t>
            </a:r>
            <a:r>
              <a:rPr lang="pt-BR" sz="2800" dirty="0" smtClean="0"/>
              <a:t> &lt;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1</a:t>
            </a:r>
            <a:r>
              <a:rPr lang="pt-BR" sz="2800" dirty="0" smtClean="0"/>
              <a:t>,</a:t>
            </a:r>
          </a:p>
          <a:p>
            <a:pPr>
              <a:buNone/>
            </a:pPr>
            <a:r>
              <a:rPr lang="en-US" sz="2800" dirty="0" smtClean="0"/>
              <a:t>	 	 r</a:t>
            </a:r>
            <a:r>
              <a:rPr lang="en-US" sz="2800" baseline="-25000" dirty="0" smtClean="0">
                <a:solidFill>
                  <a:srgbClr val="FF0000"/>
                </a:solidFill>
              </a:rPr>
              <a:t>1</a:t>
            </a:r>
            <a:r>
              <a:rPr lang="pt-BR" sz="2800" dirty="0" smtClean="0"/>
              <a:t> =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2</a:t>
            </a:r>
            <a:r>
              <a:rPr lang="en-US" sz="2800" dirty="0" smtClean="0"/>
              <a:t>q</a:t>
            </a:r>
            <a:r>
              <a:rPr lang="en-US" sz="2800" baseline="-25000" dirty="0" smtClean="0">
                <a:solidFill>
                  <a:srgbClr val="FF0000"/>
                </a:solidFill>
              </a:rPr>
              <a:t>2</a:t>
            </a:r>
            <a:r>
              <a:rPr lang="pt-BR" sz="2800" dirty="0" smtClean="0"/>
              <a:t> +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3</a:t>
            </a:r>
            <a:r>
              <a:rPr lang="pt-BR" sz="2800" dirty="0" smtClean="0"/>
              <a:t> 		0 ≤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3</a:t>
            </a:r>
            <a:r>
              <a:rPr lang="pt-BR" sz="2800" dirty="0" smtClean="0"/>
              <a:t> &lt;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2</a:t>
            </a:r>
            <a:r>
              <a:rPr lang="pt-BR" sz="2800" dirty="0" smtClean="0"/>
              <a:t>,</a:t>
            </a:r>
          </a:p>
          <a:p>
            <a:pPr>
              <a:buNone/>
            </a:pPr>
            <a:r>
              <a:rPr lang="en-US" sz="2800" dirty="0" smtClean="0"/>
              <a:t>			・	</a:t>
            </a:r>
          </a:p>
          <a:p>
            <a:pPr>
              <a:buNone/>
            </a:pPr>
            <a:r>
              <a:rPr lang="en-US" sz="2800" dirty="0" smtClean="0"/>
              <a:t>			・</a:t>
            </a:r>
          </a:p>
          <a:p>
            <a:pPr>
              <a:buNone/>
            </a:pPr>
            <a:r>
              <a:rPr lang="en-US" sz="2800" dirty="0" smtClean="0"/>
              <a:t>			・</a:t>
            </a:r>
          </a:p>
          <a:p>
            <a:pPr>
              <a:buNone/>
            </a:pPr>
            <a:r>
              <a:rPr lang="en-US" sz="2800" dirty="0" smtClean="0"/>
              <a:t>		r</a:t>
            </a:r>
            <a:r>
              <a:rPr lang="en-US" sz="2800" baseline="-25000" dirty="0" smtClean="0">
                <a:solidFill>
                  <a:srgbClr val="FF0000"/>
                </a:solidFill>
              </a:rPr>
              <a:t>n-2  </a:t>
            </a:r>
            <a:r>
              <a:rPr lang="pt-BR" sz="2800" dirty="0" smtClean="0"/>
              <a:t>=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n-1</a:t>
            </a:r>
            <a:r>
              <a:rPr lang="en-US" sz="2800" dirty="0" smtClean="0"/>
              <a:t>q</a:t>
            </a:r>
            <a:r>
              <a:rPr lang="en-US" sz="2800" baseline="-25000" dirty="0" smtClean="0">
                <a:solidFill>
                  <a:srgbClr val="FF0000"/>
                </a:solidFill>
              </a:rPr>
              <a:t>n-1</a:t>
            </a:r>
            <a:r>
              <a:rPr lang="pt-BR" sz="2800" dirty="0" smtClean="0"/>
              <a:t> + </a:t>
            </a:r>
            <a:r>
              <a:rPr lang="en-US" sz="2800" dirty="0" err="1" smtClean="0"/>
              <a:t>r</a:t>
            </a:r>
            <a:r>
              <a:rPr lang="en-US" sz="2800" baseline="-25000" dirty="0" err="1" smtClean="0">
                <a:solidFill>
                  <a:srgbClr val="FF0000"/>
                </a:solidFill>
              </a:rPr>
              <a:t>n</a:t>
            </a:r>
            <a:r>
              <a:rPr lang="pt-BR" sz="2800" dirty="0" smtClean="0"/>
              <a:t> 		0 ≤ </a:t>
            </a:r>
            <a:r>
              <a:rPr lang="en-US" sz="2800" dirty="0" err="1" smtClean="0"/>
              <a:t>r</a:t>
            </a:r>
            <a:r>
              <a:rPr lang="en-US" sz="2800" baseline="-25000" dirty="0" err="1" smtClean="0">
                <a:solidFill>
                  <a:srgbClr val="FF0000"/>
                </a:solidFill>
              </a:rPr>
              <a:t>n</a:t>
            </a:r>
            <a:r>
              <a:rPr lang="pt-BR" sz="2800" dirty="0" smtClean="0"/>
              <a:t> &lt;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n-1</a:t>
            </a:r>
            <a:r>
              <a:rPr lang="pt-BR" sz="2800" dirty="0" smtClean="0"/>
              <a:t>,</a:t>
            </a:r>
          </a:p>
          <a:p>
            <a:pPr>
              <a:buNone/>
            </a:pPr>
            <a:r>
              <a:rPr lang="en-US" sz="2800" dirty="0" smtClean="0"/>
              <a:t>		r</a:t>
            </a:r>
            <a:r>
              <a:rPr lang="en-US" sz="2800" baseline="-25000" dirty="0" smtClean="0">
                <a:solidFill>
                  <a:srgbClr val="FF0000"/>
                </a:solidFill>
              </a:rPr>
              <a:t>n-1</a:t>
            </a:r>
            <a:r>
              <a:rPr lang="pt-BR" sz="2800" dirty="0" smtClean="0"/>
              <a:t> = </a:t>
            </a:r>
            <a:r>
              <a:rPr lang="en-US" sz="2800" dirty="0" err="1" smtClean="0"/>
              <a:t>r</a:t>
            </a:r>
            <a:r>
              <a:rPr lang="en-US" sz="2800" baseline="-25000" dirty="0" err="1" smtClean="0">
                <a:solidFill>
                  <a:srgbClr val="FF0000"/>
                </a:solidFill>
              </a:rPr>
              <a:t>n</a:t>
            </a:r>
            <a:r>
              <a:rPr lang="en-US" sz="2800" dirty="0" err="1" smtClean="0"/>
              <a:t>q</a:t>
            </a:r>
            <a:r>
              <a:rPr lang="en-US" sz="2800" baseline="-25000" dirty="0" err="1" smtClean="0">
                <a:solidFill>
                  <a:srgbClr val="FF0000"/>
                </a:solidFill>
              </a:rPr>
              <a:t>n</a:t>
            </a:r>
            <a:r>
              <a:rPr lang="pt-BR" sz="28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82000" cy="4937760"/>
          </a:xfrm>
        </p:spPr>
        <p:txBody>
          <a:bodyPr/>
          <a:lstStyle/>
          <a:p>
            <a:r>
              <a:rPr lang="en-US" dirty="0" smtClean="0"/>
              <a:t>Eventually a remainder of zero occurs in this sequence of successive divisions, because the sequence of remainders </a:t>
            </a:r>
            <a:r>
              <a:rPr lang="en-US" i="1" dirty="0" smtClean="0"/>
              <a:t>a = 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0 </a:t>
            </a:r>
            <a:r>
              <a:rPr lang="en-US" i="1" dirty="0" smtClean="0"/>
              <a:t>&gt; 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1</a:t>
            </a:r>
            <a:r>
              <a:rPr lang="en-US" i="1" dirty="0" smtClean="0"/>
              <a:t> &gt; 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2</a:t>
            </a:r>
            <a:r>
              <a:rPr lang="en-US" i="1" dirty="0" smtClean="0"/>
              <a:t> &gt; ・ ・ ・ ≥ 0 </a:t>
            </a:r>
            <a:r>
              <a:rPr lang="en-US" dirty="0" smtClean="0"/>
              <a:t>cannot contain more than a terms. </a:t>
            </a:r>
          </a:p>
          <a:p>
            <a:endParaRPr lang="en-US" dirty="0" smtClean="0"/>
          </a:p>
          <a:p>
            <a:r>
              <a:rPr lang="en-US" dirty="0" smtClean="0"/>
              <a:t>Furthermore, it follows from Lemma 1 that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(a, b)</a:t>
            </a:r>
            <a:r>
              <a:rPr lang="en-US" dirty="0" smtClean="0"/>
              <a:t> = </a:t>
            </a:r>
            <a:r>
              <a:rPr lang="en-US" dirty="0" err="1" smtClean="0"/>
              <a:t>gcd</a:t>
            </a:r>
            <a:r>
              <a:rPr lang="en-US" dirty="0" smtClean="0"/>
              <a:t>(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, 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) = </a:t>
            </a:r>
            <a:r>
              <a:rPr lang="en-US" dirty="0" err="1" smtClean="0"/>
              <a:t>gcd</a:t>
            </a:r>
            <a:r>
              <a:rPr lang="en-US" dirty="0" smtClean="0"/>
              <a:t>(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1 </a:t>
            </a:r>
            <a:r>
              <a:rPr lang="en-US" dirty="0" smtClean="0"/>
              <a:t>, 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) = ・ ・ ・ = </a:t>
            </a:r>
            <a:r>
              <a:rPr lang="en-US" dirty="0" err="1" smtClean="0"/>
              <a:t>gcd</a:t>
            </a:r>
            <a:r>
              <a:rPr lang="en-US" dirty="0" smtClean="0"/>
              <a:t>(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n-2</a:t>
            </a:r>
            <a:r>
              <a:rPr lang="en-US" dirty="0" smtClean="0"/>
              <a:t>, 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n-1</a:t>
            </a:r>
            <a:r>
              <a:rPr lang="en-US" dirty="0" smtClean="0"/>
              <a:t>) 	      = </a:t>
            </a:r>
            <a:r>
              <a:rPr lang="en-US" dirty="0" err="1" smtClean="0"/>
              <a:t>gcd</a:t>
            </a:r>
            <a:r>
              <a:rPr lang="en-US" dirty="0" smtClean="0"/>
              <a:t>(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n-1</a:t>
            </a:r>
            <a:r>
              <a:rPr lang="en-US" dirty="0" smtClean="0"/>
              <a:t>, </a:t>
            </a:r>
            <a:r>
              <a:rPr lang="en-US" sz="2400" dirty="0" err="1" smtClean="0"/>
              <a:t>r</a:t>
            </a:r>
            <a:r>
              <a:rPr lang="en-US" sz="2400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) = </a:t>
            </a:r>
            <a:r>
              <a:rPr lang="en-US" dirty="0" err="1" smtClean="0"/>
              <a:t>gcd</a:t>
            </a:r>
            <a:r>
              <a:rPr lang="en-US" dirty="0" smtClean="0"/>
              <a:t>(</a:t>
            </a:r>
            <a:r>
              <a:rPr lang="en-US" sz="2400" dirty="0" err="1" smtClean="0"/>
              <a:t>r</a:t>
            </a:r>
            <a:r>
              <a:rPr lang="en-US" sz="2400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, 0) = </a:t>
            </a:r>
            <a:r>
              <a:rPr lang="en-US" sz="2400" dirty="0" err="1" smtClean="0"/>
              <a:t>r</a:t>
            </a:r>
            <a:r>
              <a:rPr lang="en-US" sz="2400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EUCLIDEAN ALGORITHM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Use the </a:t>
            </a:r>
            <a:r>
              <a:rPr lang="en-US" dirty="0" smtClean="0">
                <a:solidFill>
                  <a:srgbClr val="FF0000"/>
                </a:solidFill>
              </a:rPr>
              <a:t>Euclidean algorithm</a:t>
            </a:r>
            <a:r>
              <a:rPr lang="en-US" dirty="0" smtClean="0"/>
              <a:t> to find 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(330, 156)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Divide </a:t>
            </a:r>
            <a:r>
              <a:rPr lang="en-US" dirty="0" smtClean="0">
                <a:solidFill>
                  <a:srgbClr val="FF0000"/>
                </a:solidFill>
              </a:rPr>
              <a:t>330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FF0000"/>
                </a:solidFill>
              </a:rPr>
              <a:t>156</a:t>
            </a:r>
            <a:r>
              <a:rPr lang="en-US" dirty="0" smtClean="0"/>
              <a:t>:  (By Quotient-Remainder Theorem)</a:t>
            </a:r>
          </a:p>
          <a:p>
            <a:pPr>
              <a:buNone/>
            </a:pPr>
            <a:r>
              <a:rPr lang="en-US" dirty="0" smtClean="0"/>
              <a:t>		                  This gives </a:t>
            </a:r>
            <a:r>
              <a:rPr lang="en-US" dirty="0" smtClean="0">
                <a:solidFill>
                  <a:srgbClr val="FF0000"/>
                </a:solidFill>
              </a:rPr>
              <a:t>330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156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2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18</a:t>
            </a:r>
          </a:p>
          <a:p>
            <a:r>
              <a:rPr lang="en-US" dirty="0" smtClean="0"/>
              <a:t>Divide </a:t>
            </a:r>
            <a:r>
              <a:rPr lang="en-US" dirty="0" smtClean="0">
                <a:solidFill>
                  <a:srgbClr val="FF0000"/>
                </a:solidFill>
              </a:rPr>
              <a:t>156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FF0000"/>
                </a:solidFill>
              </a:rPr>
              <a:t>18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	                  This gives </a:t>
            </a:r>
            <a:r>
              <a:rPr lang="en-US" dirty="0" smtClean="0">
                <a:solidFill>
                  <a:srgbClr val="FF0000"/>
                </a:solidFill>
              </a:rPr>
              <a:t>156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18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8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12</a:t>
            </a:r>
          </a:p>
          <a:p>
            <a:r>
              <a:rPr lang="en-US" dirty="0" smtClean="0"/>
              <a:t>Divide </a:t>
            </a:r>
            <a:r>
              <a:rPr lang="en-US" dirty="0" smtClean="0">
                <a:solidFill>
                  <a:srgbClr val="FF0000"/>
                </a:solidFill>
              </a:rPr>
              <a:t>18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FF0000"/>
                </a:solidFill>
              </a:rPr>
              <a:t>12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	                  This gives </a:t>
            </a:r>
            <a:r>
              <a:rPr lang="en-US" dirty="0" smtClean="0">
                <a:solidFill>
                  <a:srgbClr val="FF0000"/>
                </a:solidFill>
              </a:rPr>
              <a:t>18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12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6</a:t>
            </a:r>
          </a:p>
          <a:p>
            <a:r>
              <a:rPr lang="en-US" dirty="0" smtClean="0"/>
              <a:t>Divide </a:t>
            </a:r>
            <a:r>
              <a:rPr lang="en-US" dirty="0" smtClean="0">
                <a:solidFill>
                  <a:srgbClr val="FF0000"/>
                </a:solidFill>
              </a:rPr>
              <a:t>12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FF0000"/>
                </a:solidFill>
              </a:rPr>
              <a:t>6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	                  This gives </a:t>
            </a:r>
            <a:r>
              <a:rPr lang="en-US" dirty="0" smtClean="0">
                <a:solidFill>
                  <a:srgbClr val="FF0000"/>
                </a:solidFill>
              </a:rPr>
              <a:t>12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6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2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Hence 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(330, 156)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249C2F"/>
                </a:solidFill>
              </a:rPr>
              <a:t>6</a:t>
            </a:r>
            <a:r>
              <a:rPr lang="en-US" dirty="0" smtClean="0"/>
              <a:t> because 6 is last nonzero remainder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STEPS INVOLVING IN FINDING OUT </a:t>
            </a:r>
            <a:r>
              <a:rPr lang="en-US" b="1" u="sng" dirty="0" err="1" smtClean="0">
                <a:solidFill>
                  <a:srgbClr val="0070C0"/>
                </a:solidFill>
              </a:rPr>
              <a:t>gcd</a:t>
            </a:r>
            <a:r>
              <a:rPr lang="en-US" b="1" u="sng" dirty="0" smtClean="0">
                <a:solidFill>
                  <a:srgbClr val="0070C0"/>
                </a:solidFill>
              </a:rPr>
              <a:t>(330, 156)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Note that: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Step 1</a:t>
            </a:r>
            <a:r>
              <a:rPr lang="en-US" dirty="0" smtClean="0"/>
              <a:t>: we divide </a:t>
            </a:r>
            <a:r>
              <a:rPr lang="en-US" dirty="0" smtClean="0">
                <a:solidFill>
                  <a:srgbClr val="0000FF"/>
                </a:solidFill>
              </a:rPr>
              <a:t>330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0000FF"/>
                </a:solidFill>
              </a:rPr>
              <a:t>156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Step 2</a:t>
            </a:r>
            <a:r>
              <a:rPr lang="en-US" dirty="0" smtClean="0"/>
              <a:t>: we divide </a:t>
            </a:r>
            <a:r>
              <a:rPr lang="en-US" dirty="0" smtClean="0">
                <a:solidFill>
                  <a:srgbClr val="0000FF"/>
                </a:solidFill>
              </a:rPr>
              <a:t>156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0000FF"/>
                </a:solidFill>
              </a:rPr>
              <a:t>18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Step 3</a:t>
            </a:r>
            <a:r>
              <a:rPr lang="en-US" dirty="0" smtClean="0"/>
              <a:t>: we divide </a:t>
            </a:r>
            <a:r>
              <a:rPr lang="en-US" dirty="0" smtClean="0">
                <a:solidFill>
                  <a:srgbClr val="0000FF"/>
                </a:solidFill>
              </a:rPr>
              <a:t>18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0000FF"/>
                </a:solidFill>
              </a:rPr>
              <a:t>12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Step 4</a:t>
            </a:r>
            <a:r>
              <a:rPr lang="en-US" dirty="0" smtClean="0"/>
              <a:t>: we divide </a:t>
            </a:r>
            <a:r>
              <a:rPr lang="en-US" dirty="0" smtClean="0">
                <a:solidFill>
                  <a:srgbClr val="0000FF"/>
                </a:solidFill>
              </a:rPr>
              <a:t>12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0000FF"/>
                </a:solidFill>
              </a:rPr>
              <a:t>6</a:t>
            </a:r>
            <a:endParaRPr 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LEMMA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i="1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are any integers with </a:t>
            </a:r>
            <a:r>
              <a:rPr lang="en-US" i="1" dirty="0" smtClean="0">
                <a:solidFill>
                  <a:srgbClr val="FF0000"/>
                </a:solidFill>
              </a:rPr>
              <a:t>b ≠</a:t>
            </a:r>
            <a:r>
              <a:rPr lang="en-US" dirty="0" smtClean="0">
                <a:solidFill>
                  <a:srgbClr val="FF0000"/>
                </a:solidFill>
              </a:rPr>
              <a:t> 0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are nonnegative integers such that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i="1" dirty="0" smtClean="0"/>
              <a:t>	</a:t>
            </a:r>
            <a:r>
              <a:rPr lang="en-US" i="1" dirty="0" smtClean="0">
                <a:solidFill>
                  <a:srgbClr val="FF0000"/>
                </a:solidFill>
              </a:rPr>
              <a:t>a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>
                <a:solidFill>
                  <a:srgbClr val="FF0000"/>
                </a:solidFill>
              </a:rPr>
              <a:t> ·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dirty="0" smtClean="0">
                <a:solidFill>
                  <a:srgbClr val="FF0000"/>
                </a:solidFill>
              </a:rPr>
              <a:t> +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then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i="1" dirty="0" smtClean="0">
                <a:solidFill>
                  <a:srgbClr val="FF0000"/>
                </a:solidFill>
              </a:rPr>
              <a:t>a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i="1" dirty="0" smtClean="0">
                <a:solidFill>
                  <a:srgbClr val="FF0000"/>
                </a:solidFill>
              </a:rPr>
              <a:t>b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i="1" dirty="0" smtClean="0">
                <a:solidFill>
                  <a:srgbClr val="FF0000"/>
                </a:solidFill>
              </a:rPr>
              <a:t>b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FF0000"/>
                </a:solidFill>
              </a:rPr>
              <a:t>greatest common divisor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414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662</a:t>
            </a:r>
            <a:r>
              <a:rPr lang="en-US" dirty="0" smtClean="0"/>
              <a:t> using the </a:t>
            </a:r>
            <a:r>
              <a:rPr lang="en-US" dirty="0" smtClean="0">
                <a:solidFill>
                  <a:srgbClr val="FF0000"/>
                </a:solidFill>
              </a:rPr>
              <a:t>Euclidean algorithm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Successive uses of the </a:t>
            </a:r>
            <a:r>
              <a:rPr lang="en-US" dirty="0" smtClean="0">
                <a:solidFill>
                  <a:srgbClr val="FF0000"/>
                </a:solidFill>
              </a:rPr>
              <a:t>division algorithm</a:t>
            </a:r>
            <a:r>
              <a:rPr lang="en-US" dirty="0" smtClean="0"/>
              <a:t> give: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662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414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248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414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248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166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248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166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82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166</a:t>
            </a:r>
            <a:r>
              <a:rPr lang="en-US" dirty="0" smtClean="0"/>
              <a:t> =   </a:t>
            </a:r>
            <a:r>
              <a:rPr lang="en-US" dirty="0" smtClean="0">
                <a:solidFill>
                  <a:srgbClr val="FF0000"/>
                </a:solidFill>
              </a:rPr>
              <a:t>82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2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2</a:t>
            </a:r>
          </a:p>
          <a:p>
            <a:pPr>
              <a:buNone/>
            </a:pPr>
            <a:r>
              <a:rPr lang="en-US" dirty="0" smtClean="0"/>
              <a:t>	  		  </a:t>
            </a:r>
            <a:r>
              <a:rPr lang="en-US" dirty="0" smtClean="0">
                <a:solidFill>
                  <a:srgbClr val="FF0000"/>
                </a:solidFill>
              </a:rPr>
              <a:t>82</a:t>
            </a:r>
            <a:r>
              <a:rPr lang="en-US" dirty="0" smtClean="0"/>
              <a:t> =   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41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0</a:t>
            </a:r>
          </a:p>
          <a:p>
            <a:r>
              <a:rPr lang="en-US" dirty="0" smtClean="0"/>
              <a:t>Hence,  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(414, 662)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249C2F"/>
                </a:solidFill>
              </a:rPr>
              <a:t>2</a:t>
            </a:r>
            <a:r>
              <a:rPr lang="en-US" dirty="0" smtClean="0"/>
              <a:t>, because 2 is last nonzero remainder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FF0000"/>
                </a:solidFill>
              </a:rPr>
              <a:t>greatest common divisor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252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198</a:t>
            </a:r>
            <a:r>
              <a:rPr lang="en-US" dirty="0" smtClean="0"/>
              <a:t> using the </a:t>
            </a:r>
            <a:r>
              <a:rPr lang="en-US" dirty="0" smtClean="0">
                <a:solidFill>
                  <a:srgbClr val="FF0000"/>
                </a:solidFill>
              </a:rPr>
              <a:t>Euclidean 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FF0000"/>
                </a:solidFill>
              </a:rPr>
              <a:t>greatest common divisor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252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198</a:t>
            </a:r>
            <a:r>
              <a:rPr lang="en-US" dirty="0" smtClean="0"/>
              <a:t> using the </a:t>
            </a:r>
            <a:r>
              <a:rPr lang="en-US" dirty="0" smtClean="0">
                <a:solidFill>
                  <a:srgbClr val="FF0000"/>
                </a:solidFill>
              </a:rPr>
              <a:t>Euclidean 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Successive uses of the </a:t>
            </a:r>
            <a:r>
              <a:rPr lang="en-US" dirty="0" smtClean="0">
                <a:solidFill>
                  <a:srgbClr val="FF0000"/>
                </a:solidFill>
              </a:rPr>
              <a:t>division algorithm</a:t>
            </a:r>
            <a:r>
              <a:rPr lang="en-US" dirty="0" smtClean="0"/>
              <a:t> give: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252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198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54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198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54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3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36</a:t>
            </a:r>
          </a:p>
          <a:p>
            <a:pPr>
              <a:buNone/>
            </a:pPr>
            <a:r>
              <a:rPr lang="en-US" dirty="0" smtClean="0"/>
              <a:t>	  		  </a:t>
            </a:r>
            <a:r>
              <a:rPr lang="en-US" dirty="0" smtClean="0">
                <a:solidFill>
                  <a:srgbClr val="FF0000"/>
                </a:solidFill>
              </a:rPr>
              <a:t>54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36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18</a:t>
            </a:r>
          </a:p>
          <a:p>
            <a:pPr>
              <a:buNone/>
            </a:pPr>
            <a:r>
              <a:rPr lang="en-US" dirty="0" smtClean="0"/>
              <a:t>	 		  </a:t>
            </a:r>
            <a:r>
              <a:rPr lang="en-US" dirty="0" smtClean="0">
                <a:solidFill>
                  <a:srgbClr val="FF0000"/>
                </a:solidFill>
              </a:rPr>
              <a:t>36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18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2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0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r>
              <a:rPr lang="en-US" dirty="0" smtClean="0"/>
              <a:t>Hence, 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(252, 198)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249C2F"/>
                </a:solidFill>
              </a:rPr>
              <a:t>18</a:t>
            </a:r>
            <a:r>
              <a:rPr lang="en-US" dirty="0" smtClean="0"/>
              <a:t>, because 18 is last nonzero remainder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62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5244</TotalTime>
  <Words>440</Words>
  <Application>Microsoft Office PowerPoint</Application>
  <PresentationFormat>On-screen Show (4:3)</PresentationFormat>
  <Paragraphs>171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Bookman Old Style</vt:lpstr>
      <vt:lpstr>Gill Sans MT</vt:lpstr>
      <vt:lpstr>Symbol</vt:lpstr>
      <vt:lpstr>Wingdings</vt:lpstr>
      <vt:lpstr>Wingdings 3</vt:lpstr>
      <vt:lpstr>Origin</vt:lpstr>
      <vt:lpstr>NUMBER THEORY Lecture # 25  </vt:lpstr>
      <vt:lpstr>DIVISION ALGORITHM</vt:lpstr>
      <vt:lpstr>THEOREM (Quotient-Remainder Theorem)</vt:lpstr>
      <vt:lpstr>EXAMPLE</vt:lpstr>
      <vt:lpstr>EXAMPLE</vt:lpstr>
      <vt:lpstr>EXAMPLE</vt:lpstr>
      <vt:lpstr>EXAMPLE</vt:lpstr>
      <vt:lpstr>GREATEST COMMON DIVISORS</vt:lpstr>
      <vt:lpstr>EXAMPLE</vt:lpstr>
      <vt:lpstr>EXAMPLE</vt:lpstr>
      <vt:lpstr>THE EUCLIDEAN ALGORITHM</vt:lpstr>
      <vt:lpstr>PowerPoint Presentation</vt:lpstr>
      <vt:lpstr>EUCLIDEAN ALGORITHM</vt:lpstr>
      <vt:lpstr>STEPS INVOLVING IN FINDING OUT gcd(330, 156)</vt:lpstr>
      <vt:lpstr>LEMMA</vt:lpstr>
      <vt:lpstr>EXAMPLE</vt:lpstr>
      <vt:lpstr>EXAMPLE</vt:lpstr>
      <vt:lpstr>EXAMPLE</vt:lpstr>
    </vt:vector>
  </TitlesOfParts>
  <Company>University of Virginia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Tehseen Fatima</cp:lastModifiedBy>
  <cp:revision>404</cp:revision>
  <dcterms:created xsi:type="dcterms:W3CDTF">2004-09-16T16:06:30Z</dcterms:created>
  <dcterms:modified xsi:type="dcterms:W3CDTF">2023-11-25T05:19:17Z</dcterms:modified>
</cp:coreProperties>
</file>
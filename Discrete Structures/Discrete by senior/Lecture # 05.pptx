
<file path=[Content_Types].xml><?xml version="1.0" encoding="utf-8"?>
<Types xmlns="http://schemas.openxmlformats.org/package/2006/content-types">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7"/>
  </p:notesMasterIdLst>
  <p:sldIdLst>
    <p:sldId id="256" r:id="rId2"/>
    <p:sldId id="257" r:id="rId3"/>
    <p:sldId id="258" r:id="rId4"/>
    <p:sldId id="259" r:id="rId5"/>
    <p:sldId id="260" r:id="rId6"/>
    <p:sldId id="261" r:id="rId7"/>
    <p:sldId id="262" r:id="rId8"/>
    <p:sldId id="263" r:id="rId9"/>
    <p:sldId id="281" r:id="rId10"/>
    <p:sldId id="28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24" autoAdjust="0"/>
    <p:restoredTop sz="94660"/>
  </p:normalViewPr>
  <p:slideViewPr>
    <p:cSldViewPr>
      <p:cViewPr varScale="1">
        <p:scale>
          <a:sx n="66" d="100"/>
          <a:sy n="66" d="100"/>
        </p:scale>
        <p:origin x="1434" y="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34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F32FFEF-1113-4E60-88FE-EA47470A374B}" type="datetimeFigureOut">
              <a:rPr lang="en-US" smtClean="0"/>
              <a:pPr/>
              <a:t>7/20/2023</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9CEA7A-0DCF-4742-BD22-DF14B59E4523}"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73AE37AA-4ADA-4492-8893-14EEC95ADC5E}" type="datetimeFigureOut">
              <a:rPr lang="en-US" smtClean="0"/>
              <a:pPr/>
              <a:t>7/20/2023</a:t>
            </a:fld>
            <a:endParaRPr lang="en-US" dirty="0"/>
          </a:p>
        </p:txBody>
      </p:sp>
      <p:sp>
        <p:nvSpPr>
          <p:cNvPr id="17" name="Footer Placeholder 16"/>
          <p:cNvSpPr>
            <a:spLocks noGrp="1"/>
          </p:cNvSpPr>
          <p:nvPr>
            <p:ph type="ftr" sz="quarter" idx="11"/>
          </p:nvPr>
        </p:nvSpPr>
        <p:spPr>
          <a:xfrm>
            <a:off x="2898648" y="6355080"/>
            <a:ext cx="3474720" cy="365760"/>
          </a:xfrm>
        </p:spPr>
        <p:txBody>
          <a:bodyPr/>
          <a:lstStyle/>
          <a:p>
            <a:endParaRPr lang="en-US" dirty="0"/>
          </a:p>
        </p:txBody>
      </p:sp>
      <p:sp>
        <p:nvSpPr>
          <p:cNvPr id="29" name="Slide Number Placeholder 28"/>
          <p:cNvSpPr>
            <a:spLocks noGrp="1"/>
          </p:cNvSpPr>
          <p:nvPr>
            <p:ph type="sldNum" sz="quarter" idx="12"/>
          </p:nvPr>
        </p:nvSpPr>
        <p:spPr>
          <a:xfrm>
            <a:off x="1216152" y="6355080"/>
            <a:ext cx="1219200" cy="365760"/>
          </a:xfrm>
        </p:spPr>
        <p:txBody>
          <a:bodyPr/>
          <a:lstStyle/>
          <a:p>
            <a:fld id="{CB2CFDAD-2A26-4686-9CA8-B01433D3CFBE}" type="slidenum">
              <a:rPr lang="en-US" smtClean="0"/>
              <a:pPr/>
              <a:t>‹#›</a:t>
            </a:fld>
            <a:endParaRPr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73AE37AA-4ADA-4492-8893-14EEC95ADC5E}" type="datetimeFigureOut">
              <a:rPr lang="en-US" smtClean="0"/>
              <a:pPr/>
              <a:t>7/20/2023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B2CFDAD-2A26-4686-9CA8-B01433D3CFBE}" type="slidenum">
              <a:rPr lang="en-US" smtClean="0"/>
              <a:pPr/>
              <a:t>‹#›</a:t>
            </a:fld>
            <a:endParaRPr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73AE37AA-4ADA-4492-8893-14EEC95ADC5E}" type="datetimeFigureOut">
              <a:rPr lang="en-US" smtClean="0"/>
              <a:pPr/>
              <a:t>7/20/2023</a:t>
            </a:fld>
            <a:endParaRPr lang="en-US" dirty="0"/>
          </a:p>
        </p:txBody>
      </p:sp>
      <p:sp>
        <p:nvSpPr>
          <p:cNvPr id="5" name="Footer Placeholder 4"/>
          <p:cNvSpPr>
            <a:spLocks noGrp="1"/>
          </p:cNvSpPr>
          <p:nvPr>
            <p:ph type="ftr" sz="quarter" idx="11"/>
          </p:nvPr>
        </p:nvSpPr>
        <p:spPr>
          <a:xfrm>
            <a:off x="2898648" y="6355080"/>
            <a:ext cx="3474720" cy="365760"/>
          </a:xfrm>
        </p:spPr>
        <p:txBody>
          <a:bodyPr/>
          <a:lstStyle/>
          <a:p>
            <a:endParaRPr lang="en-US" dirty="0"/>
          </a:p>
        </p:txBody>
      </p:sp>
      <p:sp>
        <p:nvSpPr>
          <p:cNvPr id="6" name="Slide Number Placeholder 5"/>
          <p:cNvSpPr>
            <a:spLocks noGrp="1"/>
          </p:cNvSpPr>
          <p:nvPr>
            <p:ph type="sldNum" sz="quarter" idx="12"/>
          </p:nvPr>
        </p:nvSpPr>
        <p:spPr>
          <a:xfrm>
            <a:off x="1069848" y="6355080"/>
            <a:ext cx="1520952" cy="365760"/>
          </a:xfrm>
        </p:spPr>
        <p:txBody>
          <a:bodyPr/>
          <a:lstStyle/>
          <a:p>
            <a:fld id="{CB2CFDAD-2A26-4686-9CA8-B01433D3CFBE}" type="slidenum">
              <a:rPr lang="en-US" smtClean="0"/>
              <a:pPr/>
              <a:t>‹#›</a:t>
            </a:fld>
            <a:endParaRPr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73AE37AA-4ADA-4492-8893-14EEC95ADC5E}" type="datetimeFigureOut">
              <a:rPr lang="en-US" smtClean="0"/>
              <a:pPr/>
              <a:t>7/20/2023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B2CFDAD-2A26-4686-9CA8-B01433D3CFBE}" type="slidenum">
              <a:rPr lang="en-US" smtClean="0"/>
              <a:pPr/>
              <a:t>‹#›</a:t>
            </a:fld>
            <a:endParaRPr lang="en-US" dirty="0"/>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73AE37AA-4ADA-4492-8893-14EEC95ADC5E}" type="datetimeFigureOut">
              <a:rPr lang="en-US" smtClean="0"/>
              <a:pPr/>
              <a:t>7/20/2023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B2CFDAD-2A26-4686-9CA8-B01433D3CFBE}" type="slidenum">
              <a:rPr lang="en-US" smtClean="0"/>
              <a:pPr/>
              <a:t>‹#›</a:t>
            </a:fld>
            <a:endParaRPr lang="en-US" dirty="0"/>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73AE37AA-4ADA-4492-8893-14EEC95ADC5E}" type="datetimeFigureOut">
              <a:rPr lang="en-US" smtClean="0"/>
              <a:pPr/>
              <a:t>7/20/2023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B2CFDAD-2A26-4686-9CA8-B01433D3CFBE}" type="slidenum">
              <a:rPr lang="en-US" smtClean="0"/>
              <a:pPr/>
              <a:t>‹#›</a:t>
            </a:fld>
            <a:endParaRPr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AE37AA-4ADA-4492-8893-14EEC95ADC5E}" type="datetimeFigureOut">
              <a:rPr lang="en-US" smtClean="0"/>
              <a:pPr/>
              <a:t>7/20/2023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B2CFDAD-2A26-4686-9CA8-B01433D3CFBE}" type="slidenum">
              <a:rPr lang="en-US" smtClean="0"/>
              <a:pPr/>
              <a:t>‹#›</a:t>
            </a:fld>
            <a:endParaRPr lang="en-US" dirty="0"/>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73AE37AA-4ADA-4492-8893-14EEC95ADC5E}" type="datetimeFigureOut">
              <a:rPr lang="en-US" smtClean="0"/>
              <a:pPr/>
              <a:t>7/20/2023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B2CFDAD-2A26-4686-9CA8-B01433D3CFBE}"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73AE37AA-4ADA-4492-8893-14EEC95ADC5E}" type="datetimeFigureOut">
              <a:rPr lang="en-US" smtClean="0"/>
              <a:pPr/>
              <a:t>7/20/2023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B2CFDAD-2A26-4686-9CA8-B01433D3CFBE}"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3AE37AA-4ADA-4492-8893-14EEC95ADC5E}" type="datetimeFigureOut">
              <a:rPr lang="en-US" smtClean="0"/>
              <a:pPr/>
              <a:t>7/20/2023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B2CFDAD-2A26-4686-9CA8-B01433D3CFBE}"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3AE37AA-4ADA-4492-8893-14EEC95ADC5E}" type="datetimeFigureOut">
              <a:rPr lang="en-US" smtClean="0"/>
              <a:pPr/>
              <a:t>7/20/2023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B2CFDAD-2A26-4686-9CA8-B01433D3CFBE}" type="slidenum">
              <a:rPr lang="en-US" smtClean="0"/>
              <a:pPr/>
              <a:t>‹#›</a:t>
            </a:fld>
            <a:endParaRPr lang="en-US" dirty="0"/>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245225"/>
            <a:ext cx="2133600" cy="476250"/>
          </a:xfrm>
        </p:spPr>
        <p:txBody>
          <a:bodyPr/>
          <a:lstStyle>
            <a:lvl1pPr>
              <a:defRPr/>
            </a:lvl1pPr>
          </a:lstStyle>
          <a:p>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B6D8E66E-9F63-44B4-A1AD-0A85D9072691}"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73AE37AA-4ADA-4492-8893-14EEC95ADC5E}" type="datetimeFigureOut">
              <a:rPr lang="en-US" smtClean="0"/>
              <a:pPr/>
              <a:t>7/20/2023</a:t>
            </a:fld>
            <a:endParaRPr lang="en-US" dirty="0"/>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dirty="0"/>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CB2CFDAD-2A26-4686-9CA8-B01433D3CFBE}" type="slidenum">
              <a:rPr lang="en-US" smtClean="0"/>
              <a:pPr/>
              <a:t>‹#›</a:t>
            </a:fld>
            <a:endParaRPr lang="en-US" dirty="0"/>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3.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3.w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4.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4.w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4.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4.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gn="ctr"/>
            <a:r>
              <a:rPr lang="en-US" b="1" u="sng" dirty="0" smtClean="0">
                <a:solidFill>
                  <a:srgbClr val="C00000"/>
                </a:solidFill>
              </a:rPr>
              <a:t>ARGUMENTS</a:t>
            </a:r>
            <a:br>
              <a:rPr lang="en-US" b="1" u="sng" dirty="0" smtClean="0">
                <a:solidFill>
                  <a:srgbClr val="C00000"/>
                </a:solidFill>
              </a:rPr>
            </a:br>
            <a:r>
              <a:rPr lang="en-US" b="1" dirty="0" smtClean="0">
                <a:solidFill>
                  <a:schemeClr val="tx1">
                    <a:lumMod val="95000"/>
                    <a:lumOff val="5000"/>
                  </a:schemeClr>
                </a:solidFill>
              </a:rPr>
              <a:t>Lecture # 05</a:t>
            </a:r>
            <a:br>
              <a:rPr lang="en-US" b="1" dirty="0" smtClean="0">
                <a:solidFill>
                  <a:schemeClr val="tx1">
                    <a:lumMod val="95000"/>
                    <a:lumOff val="5000"/>
                  </a:schemeClr>
                </a:solidFill>
              </a:rPr>
            </a:br>
            <a:r>
              <a:rPr lang="en-US" b="1" dirty="0" smtClean="0">
                <a:solidFill>
                  <a:schemeClr val="tx1">
                    <a:lumMod val="95000"/>
                    <a:lumOff val="5000"/>
                  </a:schemeClr>
                </a:solidFill>
              </a:rPr>
              <a:t/>
            </a:r>
            <a:br>
              <a:rPr lang="en-US" b="1" dirty="0" smtClean="0">
                <a:solidFill>
                  <a:schemeClr val="tx1">
                    <a:lumMod val="95000"/>
                    <a:lumOff val="5000"/>
                  </a:schemeClr>
                </a:solidFill>
              </a:rPr>
            </a:br>
            <a:endParaRPr lang="en-US" b="1" u="sng" dirty="0">
              <a:solidFill>
                <a:srgbClr val="C00000"/>
              </a:solidFill>
            </a:endParaRPr>
          </a:p>
        </p:txBody>
      </p:sp>
      <p:sp>
        <p:nvSpPr>
          <p:cNvPr id="3" name="Subtitle 2"/>
          <p:cNvSpPr>
            <a:spLocks noGrp="1"/>
          </p:cNvSpPr>
          <p:nvPr>
            <p:ph type="subTitle" idx="1"/>
          </p:nvPr>
        </p:nvSpPr>
        <p:spPr/>
        <p:txBody>
          <a:bodyPr/>
          <a:lstStyle/>
          <a:p>
            <a:pPr algn="ctr"/>
            <a:endParaRPr lang="en-US" b="1" dirty="0">
              <a:solidFill>
                <a:schemeClr val="tx1">
                  <a:lumMod val="95000"/>
                  <a:lumOff val="5000"/>
                </a:schemeClr>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 Today’s Lecture</a:t>
            </a:r>
            <a:endParaRPr lang="en-US" b="1" dirty="0"/>
          </a:p>
        </p:txBody>
      </p:sp>
      <p:sp>
        <p:nvSpPr>
          <p:cNvPr id="3" name="Content Placeholder 2"/>
          <p:cNvSpPr>
            <a:spLocks noGrp="1"/>
          </p:cNvSpPr>
          <p:nvPr>
            <p:ph sz="quarter" idx="1"/>
          </p:nvPr>
        </p:nvSpPr>
        <p:spPr/>
        <p:txBody>
          <a:bodyPr>
            <a:normAutofit lnSpcReduction="10000"/>
          </a:bodyPr>
          <a:lstStyle/>
          <a:p>
            <a:r>
              <a:rPr lang="en-US" b="1" u="sng" dirty="0" smtClean="0">
                <a:solidFill>
                  <a:srgbClr val="C00000"/>
                </a:solidFill>
              </a:rPr>
              <a:t>Logic:</a:t>
            </a:r>
          </a:p>
          <a:p>
            <a:pPr>
              <a:buNone/>
            </a:pPr>
            <a:r>
              <a:rPr lang="en-US" dirty="0" smtClean="0"/>
              <a:t>	Logic rules and principles is to distinguish an argument is valid or invalid.</a:t>
            </a:r>
          </a:p>
          <a:p>
            <a:endParaRPr lang="en-US" dirty="0" smtClean="0"/>
          </a:p>
          <a:p>
            <a:r>
              <a:rPr lang="en-US" b="1" u="sng" dirty="0" smtClean="0"/>
              <a:t>Examples of Arguments:</a:t>
            </a:r>
          </a:p>
          <a:p>
            <a:pPr lvl="1"/>
            <a:r>
              <a:rPr lang="en-US" dirty="0" smtClean="0"/>
              <a:t>You have a intuitive idea about argument.  When you are talking with </a:t>
            </a:r>
            <a:r>
              <a:rPr lang="en-US" dirty="0" smtClean="0"/>
              <a:t>your </a:t>
            </a:r>
            <a:r>
              <a:rPr lang="en-US" dirty="0" smtClean="0"/>
              <a:t>friend you give argument.</a:t>
            </a:r>
          </a:p>
          <a:p>
            <a:pPr lvl="1"/>
            <a:r>
              <a:rPr lang="en-US" dirty="0" smtClean="0"/>
              <a:t>Sometimes you say to your friend “what are you saying has no logic” it means you are saying that your argument is not valid.</a:t>
            </a:r>
          </a:p>
          <a:p>
            <a:pPr lvl="1"/>
            <a:r>
              <a:rPr lang="en-US" dirty="0" smtClean="0"/>
              <a:t>Lawyer in court during the trail to defend client, give argument. Judge decision is also based on lawyer argument if its argument is valid then decision will be in his favor.</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smtClean="0"/>
              <a:t>Example:</a:t>
            </a:r>
            <a:endParaRPr lang="en-US" b="1" u="sng" dirty="0"/>
          </a:p>
        </p:txBody>
      </p:sp>
      <p:sp>
        <p:nvSpPr>
          <p:cNvPr id="3" name="Content Placeholder 2"/>
          <p:cNvSpPr>
            <a:spLocks noGrp="1"/>
          </p:cNvSpPr>
          <p:nvPr>
            <p:ph sz="quarter" idx="1"/>
          </p:nvPr>
        </p:nvSpPr>
        <p:spPr/>
        <p:txBody>
          <a:bodyPr/>
          <a:lstStyle/>
          <a:p>
            <a:pPr>
              <a:buNone/>
            </a:pPr>
            <a:r>
              <a:rPr lang="en-US" dirty="0" smtClean="0"/>
              <a:t>	</a:t>
            </a:r>
            <a:r>
              <a:rPr lang="en-US" dirty="0" smtClean="0">
                <a:solidFill>
                  <a:srgbClr val="C00000"/>
                </a:solidFill>
              </a:rPr>
              <a:t>A strict teacher keeps me awake.</a:t>
            </a:r>
          </a:p>
          <a:p>
            <a:pPr>
              <a:buNone/>
            </a:pPr>
            <a:r>
              <a:rPr lang="en-US" dirty="0" smtClean="0"/>
              <a:t>	</a:t>
            </a:r>
            <a:r>
              <a:rPr lang="en-US" dirty="0" smtClean="0">
                <a:solidFill>
                  <a:srgbClr val="C00000"/>
                </a:solidFill>
              </a:rPr>
              <a:t>I stay awake in discrete structure class.</a:t>
            </a:r>
          </a:p>
          <a:p>
            <a:pPr>
              <a:buNone/>
            </a:pPr>
            <a:r>
              <a:rPr lang="en-US" dirty="0" smtClean="0"/>
              <a:t>	Therefore, </a:t>
            </a:r>
            <a:r>
              <a:rPr lang="en-US" dirty="0" smtClean="0">
                <a:solidFill>
                  <a:srgbClr val="0070C0"/>
                </a:solidFill>
              </a:rPr>
              <a:t>my discrete structure teacher is strict.</a:t>
            </a:r>
          </a:p>
          <a:p>
            <a:endParaRPr lang="en-US" dirty="0" smtClean="0">
              <a:solidFill>
                <a:srgbClr val="0070C0"/>
              </a:solidFill>
            </a:endParaRPr>
          </a:p>
          <a:p>
            <a:r>
              <a:rPr lang="en-US" dirty="0" smtClean="0"/>
              <a:t>1</a:t>
            </a:r>
            <a:r>
              <a:rPr lang="en-US" baseline="30000" dirty="0" smtClean="0"/>
              <a:t>st</a:t>
            </a:r>
            <a:r>
              <a:rPr lang="en-US" dirty="0" smtClean="0"/>
              <a:t> two statements we are declaring(</a:t>
            </a:r>
            <a:r>
              <a:rPr lang="en-US" b="1" i="1" dirty="0" smtClean="0">
                <a:solidFill>
                  <a:srgbClr val="7030A0"/>
                </a:solidFill>
              </a:rPr>
              <a:t>premises</a:t>
            </a:r>
            <a:r>
              <a:rPr lang="en-US" dirty="0" smtClean="0"/>
              <a:t>) on this basis 3</a:t>
            </a:r>
            <a:r>
              <a:rPr lang="en-US" baseline="30000" dirty="0" smtClean="0"/>
              <a:t>rd</a:t>
            </a:r>
            <a:r>
              <a:rPr lang="en-US" dirty="0" smtClean="0"/>
              <a:t> line is giving </a:t>
            </a:r>
            <a:r>
              <a:rPr lang="en-US" b="1" i="1" dirty="0" smtClean="0">
                <a:solidFill>
                  <a:srgbClr val="7030A0"/>
                </a:solidFill>
              </a:rPr>
              <a:t>conclusion</a:t>
            </a:r>
            <a:r>
              <a:rPr lang="en-US" dirty="0" smtClean="0"/>
              <a:t>.</a:t>
            </a:r>
          </a:p>
          <a:p>
            <a:endParaRPr lang="en-US" dirty="0" smtClean="0"/>
          </a:p>
          <a:p>
            <a:r>
              <a:rPr lang="en-US" dirty="0" smtClean="0"/>
              <a:t>The argument presenting is, its </a:t>
            </a:r>
            <a:r>
              <a:rPr lang="en-US" dirty="0" smtClean="0">
                <a:solidFill>
                  <a:srgbClr val="FF0000"/>
                </a:solidFill>
              </a:rPr>
              <a:t>valid or not</a:t>
            </a:r>
            <a:r>
              <a:rPr lang="en-US" dirty="0" smtClean="0"/>
              <a:t>?</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smtClean="0"/>
              <a:t>ARGUMENT:</a:t>
            </a:r>
            <a:endParaRPr lang="en-US" dirty="0"/>
          </a:p>
        </p:txBody>
      </p:sp>
      <p:sp>
        <p:nvSpPr>
          <p:cNvPr id="3" name="Content Placeholder 2"/>
          <p:cNvSpPr>
            <a:spLocks noGrp="1"/>
          </p:cNvSpPr>
          <p:nvPr>
            <p:ph sz="quarter" idx="1"/>
          </p:nvPr>
        </p:nvSpPr>
        <p:spPr/>
        <p:txBody>
          <a:bodyPr>
            <a:normAutofit fontScale="85000" lnSpcReduction="20000"/>
          </a:bodyPr>
          <a:lstStyle/>
          <a:p>
            <a:r>
              <a:rPr lang="en-US" dirty="0" smtClean="0"/>
              <a:t>An </a:t>
            </a:r>
            <a:r>
              <a:rPr lang="en-US" b="1" dirty="0" smtClean="0">
                <a:solidFill>
                  <a:srgbClr val="C00000"/>
                </a:solidFill>
              </a:rPr>
              <a:t>argument</a:t>
            </a:r>
            <a:r>
              <a:rPr lang="en-US" b="1" dirty="0" smtClean="0"/>
              <a:t> </a:t>
            </a:r>
            <a:r>
              <a:rPr lang="en-US" dirty="0" smtClean="0"/>
              <a:t>is a list of statements called </a:t>
            </a:r>
            <a:r>
              <a:rPr lang="en-US" b="1" dirty="0" smtClean="0">
                <a:solidFill>
                  <a:srgbClr val="C00000"/>
                </a:solidFill>
              </a:rPr>
              <a:t>premises</a:t>
            </a:r>
            <a:r>
              <a:rPr lang="en-US" dirty="0" smtClean="0"/>
              <a:t> (or </a:t>
            </a:r>
            <a:r>
              <a:rPr lang="en-US" b="1" dirty="0" smtClean="0"/>
              <a:t>assumptions</a:t>
            </a:r>
            <a:r>
              <a:rPr lang="en-US" dirty="0" smtClean="0"/>
              <a:t> or </a:t>
            </a:r>
            <a:r>
              <a:rPr lang="en-US" b="1" dirty="0" smtClean="0"/>
              <a:t>hypotheses</a:t>
            </a:r>
            <a:r>
              <a:rPr lang="en-US" dirty="0" smtClean="0"/>
              <a:t>)</a:t>
            </a:r>
            <a:r>
              <a:rPr lang="en-US" b="1" dirty="0" smtClean="0"/>
              <a:t> </a:t>
            </a:r>
            <a:r>
              <a:rPr lang="en-US" dirty="0" smtClean="0"/>
              <a:t>followed by a statement called the </a:t>
            </a:r>
            <a:r>
              <a:rPr lang="en-US" b="1" dirty="0" smtClean="0">
                <a:solidFill>
                  <a:srgbClr val="C00000"/>
                </a:solidFill>
              </a:rPr>
              <a:t>conclusion</a:t>
            </a:r>
            <a:r>
              <a:rPr lang="en-US" b="1" dirty="0" smtClean="0"/>
              <a:t>.</a:t>
            </a:r>
            <a:r>
              <a:rPr lang="en-US" dirty="0" smtClean="0"/>
              <a:t> </a:t>
            </a:r>
          </a:p>
          <a:p>
            <a:pPr>
              <a:buNone/>
            </a:pPr>
            <a:r>
              <a:rPr lang="en-US" dirty="0" smtClean="0"/>
              <a:t>				P1    </a:t>
            </a:r>
            <a:r>
              <a:rPr lang="en-US" dirty="0" smtClean="0">
                <a:solidFill>
                  <a:srgbClr val="00B0F0"/>
                </a:solidFill>
              </a:rPr>
              <a:t>Premise</a:t>
            </a:r>
            <a:r>
              <a:rPr lang="en-US" dirty="0" smtClean="0"/>
              <a:t> </a:t>
            </a:r>
          </a:p>
          <a:p>
            <a:pPr>
              <a:buNone/>
            </a:pPr>
            <a:r>
              <a:rPr lang="en-US" dirty="0" smtClean="0"/>
              <a:t>				P2   </a:t>
            </a:r>
            <a:r>
              <a:rPr lang="en-US" dirty="0" smtClean="0">
                <a:solidFill>
                  <a:srgbClr val="00B0F0"/>
                </a:solidFill>
              </a:rPr>
              <a:t>Premise</a:t>
            </a:r>
            <a:r>
              <a:rPr lang="en-US" dirty="0" smtClean="0"/>
              <a:t> 	</a:t>
            </a:r>
          </a:p>
          <a:p>
            <a:pPr>
              <a:buNone/>
            </a:pPr>
            <a:r>
              <a:rPr lang="en-US" dirty="0" smtClean="0"/>
              <a:t>				P3    </a:t>
            </a:r>
            <a:r>
              <a:rPr lang="en-US" dirty="0" smtClean="0">
                <a:solidFill>
                  <a:srgbClr val="00B0F0"/>
                </a:solidFill>
              </a:rPr>
              <a:t>Premise</a:t>
            </a:r>
          </a:p>
          <a:p>
            <a:pPr>
              <a:buNone/>
            </a:pPr>
            <a:r>
              <a:rPr lang="en-US" dirty="0" smtClean="0"/>
              <a:t>				 . . . . .. . . . . </a:t>
            </a:r>
          </a:p>
          <a:p>
            <a:pPr>
              <a:buNone/>
            </a:pPr>
            <a:r>
              <a:rPr lang="en-US" dirty="0" smtClean="0"/>
              <a:t>				</a:t>
            </a:r>
            <a:r>
              <a:rPr lang="en-US" dirty="0" err="1" smtClean="0"/>
              <a:t>Pn</a:t>
            </a:r>
            <a:r>
              <a:rPr lang="en-US" dirty="0" smtClean="0"/>
              <a:t>     </a:t>
            </a:r>
            <a:r>
              <a:rPr lang="en-US" dirty="0" smtClean="0">
                <a:solidFill>
                  <a:srgbClr val="00B0F0"/>
                </a:solidFill>
              </a:rPr>
              <a:t>Premise</a:t>
            </a:r>
            <a:r>
              <a:rPr lang="en-US" dirty="0" smtClean="0"/>
              <a:t> </a:t>
            </a:r>
          </a:p>
          <a:p>
            <a:pPr>
              <a:buNone/>
            </a:pPr>
            <a:r>
              <a:rPr lang="en-US" dirty="0" smtClean="0"/>
              <a:t>                                ______________</a:t>
            </a:r>
          </a:p>
          <a:p>
            <a:pPr>
              <a:buNone/>
            </a:pPr>
            <a:r>
              <a:rPr lang="en-US" dirty="0" smtClean="0">
                <a:sym typeface="Symbol"/>
              </a:rPr>
              <a:t>				</a:t>
            </a:r>
            <a:r>
              <a:rPr lang="en-US" b="1" dirty="0" smtClean="0">
                <a:sym typeface="Symbol"/>
              </a:rPr>
              <a:t></a:t>
            </a:r>
            <a:r>
              <a:rPr lang="en-US" dirty="0" smtClean="0"/>
              <a:t>C    </a:t>
            </a:r>
            <a:r>
              <a:rPr lang="en-US" dirty="0" smtClean="0">
                <a:solidFill>
                  <a:srgbClr val="00B050"/>
                </a:solidFill>
              </a:rPr>
              <a:t>Conclusion</a:t>
            </a:r>
          </a:p>
          <a:p>
            <a:pPr>
              <a:buNone/>
            </a:pPr>
            <a:endParaRPr lang="en-US" dirty="0" smtClean="0"/>
          </a:p>
          <a:p>
            <a:r>
              <a:rPr lang="en-US" b="1" u="sng" dirty="0" smtClean="0">
                <a:solidFill>
                  <a:srgbClr val="C00000"/>
                </a:solidFill>
              </a:rPr>
              <a:t>NOTE</a:t>
            </a:r>
            <a:r>
              <a:rPr lang="en-US" dirty="0" smtClean="0">
                <a:solidFill>
                  <a:srgbClr val="C00000"/>
                </a:solidFill>
              </a:rPr>
              <a:t> :</a:t>
            </a:r>
          </a:p>
          <a:p>
            <a:r>
              <a:rPr lang="en-US" dirty="0" smtClean="0"/>
              <a:t>The symbol </a:t>
            </a:r>
            <a:r>
              <a:rPr lang="en-US" b="1" dirty="0" smtClean="0">
                <a:sym typeface="Symbol"/>
              </a:rPr>
              <a:t></a:t>
            </a:r>
            <a:r>
              <a:rPr lang="en-US" dirty="0" smtClean="0"/>
              <a:t> read “therefore,” is normally placed just before the conclusion.</a:t>
            </a:r>
          </a:p>
          <a:p>
            <a:endParaRPr lang="en-US" dirty="0" smtClean="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20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20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t>VALID ARGUMENT</a:t>
            </a:r>
            <a:endParaRPr lang="en-US" dirty="0"/>
          </a:p>
        </p:txBody>
      </p:sp>
      <p:sp>
        <p:nvSpPr>
          <p:cNvPr id="3" name="Content Placeholder 2"/>
          <p:cNvSpPr>
            <a:spLocks noGrp="1"/>
          </p:cNvSpPr>
          <p:nvPr>
            <p:ph sz="quarter" idx="1"/>
          </p:nvPr>
        </p:nvSpPr>
        <p:spPr/>
        <p:txBody>
          <a:bodyPr/>
          <a:lstStyle/>
          <a:p>
            <a:r>
              <a:rPr lang="en-US" dirty="0" smtClean="0"/>
              <a:t>An argument is </a:t>
            </a:r>
            <a:r>
              <a:rPr lang="en-US" b="1" dirty="0" smtClean="0">
                <a:solidFill>
                  <a:srgbClr val="00B050"/>
                </a:solidFill>
              </a:rPr>
              <a:t>valid</a:t>
            </a:r>
            <a:r>
              <a:rPr lang="en-US" b="1" dirty="0" smtClean="0"/>
              <a:t> </a:t>
            </a:r>
            <a:r>
              <a:rPr lang="en-US" dirty="0" smtClean="0"/>
              <a:t>if the conclusion is true when all the premises are true.</a:t>
            </a:r>
          </a:p>
          <a:p>
            <a:endParaRPr lang="en-US" dirty="0" smtClean="0"/>
          </a:p>
          <a:p>
            <a:r>
              <a:rPr lang="en-US" dirty="0" smtClean="0"/>
              <a:t>Alternatively, an argument is </a:t>
            </a:r>
            <a:r>
              <a:rPr lang="en-US" dirty="0" smtClean="0">
                <a:solidFill>
                  <a:srgbClr val="00B050"/>
                </a:solidFill>
              </a:rPr>
              <a:t>valid</a:t>
            </a:r>
            <a:r>
              <a:rPr lang="en-US" dirty="0" smtClean="0"/>
              <a:t> if conjunction of its premises imply conclusion. </a:t>
            </a:r>
          </a:p>
          <a:p>
            <a:endParaRPr lang="en-US" dirty="0" smtClean="0"/>
          </a:p>
          <a:p>
            <a:pPr>
              <a:buNone/>
            </a:pPr>
            <a:r>
              <a:rPr lang="en-US" dirty="0" smtClean="0"/>
              <a:t>	That is  </a:t>
            </a:r>
            <a:r>
              <a:rPr lang="en-US" dirty="0" smtClean="0">
                <a:solidFill>
                  <a:srgbClr val="C00000"/>
                </a:solidFill>
              </a:rPr>
              <a:t>(P1</a:t>
            </a:r>
            <a:r>
              <a:rPr lang="en-US" dirty="0" smtClean="0">
                <a:solidFill>
                  <a:srgbClr val="C00000"/>
                </a:solidFill>
                <a:sym typeface="Symbol"/>
              </a:rPr>
              <a:t></a:t>
            </a:r>
            <a:r>
              <a:rPr lang="en-US" dirty="0" smtClean="0">
                <a:solidFill>
                  <a:srgbClr val="C00000"/>
                </a:solidFill>
              </a:rPr>
              <a:t> P2 </a:t>
            </a:r>
            <a:r>
              <a:rPr lang="en-US" dirty="0" smtClean="0">
                <a:solidFill>
                  <a:srgbClr val="C00000"/>
                </a:solidFill>
                <a:sym typeface="Symbol"/>
              </a:rPr>
              <a:t></a:t>
            </a:r>
            <a:r>
              <a:rPr lang="en-US" dirty="0" smtClean="0">
                <a:solidFill>
                  <a:srgbClr val="C00000"/>
                </a:solidFill>
              </a:rPr>
              <a:t> P3 </a:t>
            </a:r>
            <a:r>
              <a:rPr lang="en-US" dirty="0" smtClean="0">
                <a:solidFill>
                  <a:srgbClr val="C00000"/>
                </a:solidFill>
                <a:sym typeface="Symbol"/>
              </a:rPr>
              <a:t></a:t>
            </a:r>
            <a:r>
              <a:rPr lang="en-US" dirty="0" smtClean="0">
                <a:solidFill>
                  <a:srgbClr val="C00000"/>
                </a:solidFill>
              </a:rPr>
              <a:t> . . . </a:t>
            </a:r>
            <a:r>
              <a:rPr lang="en-US" dirty="0" smtClean="0">
                <a:solidFill>
                  <a:srgbClr val="C00000"/>
                </a:solidFill>
                <a:sym typeface="Symbol"/>
              </a:rPr>
              <a:t></a:t>
            </a:r>
            <a:r>
              <a:rPr lang="en-US" dirty="0" smtClean="0">
                <a:solidFill>
                  <a:srgbClr val="C00000"/>
                </a:solidFill>
              </a:rPr>
              <a:t> </a:t>
            </a:r>
            <a:r>
              <a:rPr lang="en-US" dirty="0" err="1" smtClean="0">
                <a:solidFill>
                  <a:srgbClr val="C00000"/>
                </a:solidFill>
              </a:rPr>
              <a:t>Pn</a:t>
            </a:r>
            <a:r>
              <a:rPr lang="en-US" dirty="0" smtClean="0">
                <a:solidFill>
                  <a:srgbClr val="C00000"/>
                </a:solidFill>
              </a:rPr>
              <a:t>) </a:t>
            </a:r>
            <a:r>
              <a:rPr lang="en-US" dirty="0" smtClean="0">
                <a:solidFill>
                  <a:srgbClr val="C00000"/>
                </a:solidFill>
                <a:sym typeface="Symbol"/>
              </a:rPr>
              <a:t></a:t>
            </a:r>
            <a:r>
              <a:rPr lang="en-US" dirty="0" smtClean="0">
                <a:solidFill>
                  <a:srgbClr val="C00000"/>
                </a:solidFill>
              </a:rPr>
              <a:t> C</a:t>
            </a:r>
            <a:r>
              <a:rPr lang="en-US" dirty="0" smtClean="0"/>
              <a:t> is a tautology.</a:t>
            </a:r>
          </a:p>
          <a:p>
            <a:pPr>
              <a:buNone/>
            </a:pPr>
            <a:endParaRPr lang="en-US" dirty="0" smtClean="0"/>
          </a:p>
          <a:p>
            <a:r>
              <a:rPr lang="en-US" dirty="0" smtClean="0"/>
              <a:t>In that case if argument becomes </a:t>
            </a:r>
            <a:r>
              <a:rPr lang="en-US" dirty="0" smtClean="0">
                <a:solidFill>
                  <a:srgbClr val="FF0000"/>
                </a:solidFill>
              </a:rPr>
              <a:t>tautology</a:t>
            </a:r>
            <a:r>
              <a:rPr lang="en-US" dirty="0" smtClean="0"/>
              <a:t> then we say the argument is </a:t>
            </a:r>
            <a:r>
              <a:rPr lang="en-US" dirty="0" smtClean="0">
                <a:solidFill>
                  <a:srgbClr val="00B050"/>
                </a:solidFill>
              </a:rPr>
              <a:t>valid</a:t>
            </a:r>
            <a:r>
              <a:rPr lang="en-US" dirty="0" smtClean="0"/>
              <a:t>.</a:t>
            </a:r>
          </a:p>
          <a:p>
            <a:endParaRPr lang="en-US" dirty="0" smtClean="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20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pPr>
              <a:buNone/>
            </a:pPr>
            <a:r>
              <a:rPr lang="en-US" dirty="0" smtClean="0"/>
              <a:t>			p </a:t>
            </a:r>
            <a:r>
              <a:rPr lang="en-US" dirty="0" smtClean="0">
                <a:solidFill>
                  <a:srgbClr val="C00000"/>
                </a:solidFill>
              </a:rPr>
              <a:t>implies</a:t>
            </a:r>
            <a:r>
              <a:rPr lang="en-US" dirty="0" smtClean="0"/>
              <a:t> q is mostly true.</a:t>
            </a:r>
          </a:p>
          <a:p>
            <a:endParaRPr lang="en-US" dirty="0" smtClean="0"/>
          </a:p>
          <a:p>
            <a:pPr>
              <a:buNone/>
            </a:pPr>
            <a:r>
              <a:rPr lang="en-US" dirty="0" smtClean="0"/>
              <a:t>			p </a:t>
            </a:r>
            <a:r>
              <a:rPr lang="en-US" dirty="0" smtClean="0">
                <a:solidFill>
                  <a:srgbClr val="C00000"/>
                </a:solidFill>
              </a:rPr>
              <a:t>implies</a:t>
            </a:r>
            <a:r>
              <a:rPr lang="en-US" dirty="0" smtClean="0"/>
              <a:t> q is false whenever</a:t>
            </a:r>
          </a:p>
          <a:p>
            <a:pPr>
              <a:buNone/>
            </a:pPr>
            <a:r>
              <a:rPr lang="en-US" dirty="0" smtClean="0"/>
              <a:t>			p is true and q is false </a:t>
            </a:r>
          </a:p>
          <a:p>
            <a:pPr>
              <a:buNone/>
            </a:pPr>
            <a:endParaRPr lang="en-US" dirty="0" smtClean="0"/>
          </a:p>
          <a:p>
            <a:pPr>
              <a:buNone/>
            </a:pPr>
            <a:r>
              <a:rPr lang="en-US" dirty="0" smtClean="0"/>
              <a:t>			That is</a:t>
            </a:r>
          </a:p>
          <a:p>
            <a:endParaRPr lang="en-US" dirty="0" smtClean="0"/>
          </a:p>
          <a:p>
            <a:pPr>
              <a:buNone/>
            </a:pPr>
            <a:r>
              <a:rPr lang="en-US" dirty="0" smtClean="0"/>
              <a:t>			P true, q false then</a:t>
            </a:r>
            <a:r>
              <a:rPr lang="en-US" dirty="0" smtClean="0">
                <a:solidFill>
                  <a:srgbClr val="C00000"/>
                </a:solidFill>
              </a:rPr>
              <a:t> p</a:t>
            </a:r>
            <a:r>
              <a:rPr lang="en-US" sz="2800" b="1" dirty="0" smtClean="0">
                <a:solidFill>
                  <a:srgbClr val="C00000"/>
                </a:solidFill>
                <a:latin typeface="Bell MT" pitchFamily="18" charset="0"/>
                <a:cs typeface="Times New Roman" pitchFamily="18" charset="0"/>
                <a:sym typeface="Symbol" pitchFamily="18" charset="2"/>
              </a:rPr>
              <a:t>  </a:t>
            </a:r>
            <a:r>
              <a:rPr lang="en-US" dirty="0" smtClean="0">
                <a:solidFill>
                  <a:srgbClr val="C00000"/>
                </a:solidFill>
                <a:sym typeface="Symbol" pitchFamily="18" charset="2"/>
              </a:rPr>
              <a:t>q</a:t>
            </a:r>
            <a:r>
              <a:rPr lang="en-US" dirty="0" smtClean="0">
                <a:sym typeface="Symbol" pitchFamily="18" charset="2"/>
              </a:rPr>
              <a:t> is false</a:t>
            </a:r>
            <a:endParaRPr 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2000"/>
                                        <p:tgtEl>
                                          <p:spTgt spid="3">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2000"/>
                                        <p:tgtEl>
                                          <p:spTgt spid="3">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fade">
                                      <p:cBhvr>
                                        <p:cTn id="16" dur="2000"/>
                                        <p:tgtEl>
                                          <p:spTgt spid="3">
                                            <p:txEl>
                                              <p:pRg st="5" end="5"/>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Effect transition="in" filter="fade">
                                      <p:cBhvr>
                                        <p:cTn id="19"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Note:</a:t>
            </a:r>
            <a:endParaRPr lang="en-US" b="1" dirty="0">
              <a:solidFill>
                <a:srgbClr val="C00000"/>
              </a:solidFill>
            </a:endParaRPr>
          </a:p>
        </p:txBody>
      </p:sp>
      <p:sp>
        <p:nvSpPr>
          <p:cNvPr id="3" name="Content Placeholder 2"/>
          <p:cNvSpPr>
            <a:spLocks noGrp="1"/>
          </p:cNvSpPr>
          <p:nvPr>
            <p:ph sz="quarter" idx="1"/>
          </p:nvPr>
        </p:nvSpPr>
        <p:spPr/>
        <p:txBody>
          <a:bodyPr/>
          <a:lstStyle/>
          <a:p>
            <a:pPr marL="0" indent="0">
              <a:buNone/>
            </a:pPr>
            <a:endParaRPr lang="en-US" dirty="0" smtClean="0"/>
          </a:p>
          <a:p>
            <a:r>
              <a:rPr lang="en-US" dirty="0" smtClean="0"/>
              <a:t>If all the premise is true then the conjunction of all the premise is also true.  And if the conclusion becomes also true, then the whole implication becomes true.</a:t>
            </a:r>
          </a:p>
          <a:p>
            <a:endParaRPr lang="en-US" dirty="0" smtClean="0"/>
          </a:p>
          <a:p>
            <a:pPr>
              <a:buNone/>
            </a:pPr>
            <a:r>
              <a:rPr lang="en-US" dirty="0" smtClean="0"/>
              <a:t>			Therefore = thus = so that</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20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C00000"/>
                </a:solidFill>
              </a:rPr>
              <a:t>INVALID ARGUMENT</a:t>
            </a:r>
          </a:p>
        </p:txBody>
      </p:sp>
      <p:sp>
        <p:nvSpPr>
          <p:cNvPr id="3" name="Content Placeholder 2"/>
          <p:cNvSpPr>
            <a:spLocks noGrp="1"/>
          </p:cNvSpPr>
          <p:nvPr>
            <p:ph sz="quarter" idx="1"/>
          </p:nvPr>
        </p:nvSpPr>
        <p:spPr/>
        <p:txBody>
          <a:bodyPr/>
          <a:lstStyle/>
          <a:p>
            <a:r>
              <a:rPr lang="en-US" dirty="0" smtClean="0"/>
              <a:t>An argument is </a:t>
            </a:r>
            <a:r>
              <a:rPr lang="en-US" b="1" dirty="0" smtClean="0">
                <a:solidFill>
                  <a:srgbClr val="C00000"/>
                </a:solidFill>
              </a:rPr>
              <a:t>invalid</a:t>
            </a:r>
            <a:r>
              <a:rPr lang="en-US" b="1" dirty="0" smtClean="0"/>
              <a:t> </a:t>
            </a:r>
            <a:r>
              <a:rPr lang="en-US" dirty="0" smtClean="0"/>
              <a:t>if the </a:t>
            </a:r>
            <a:r>
              <a:rPr lang="en-US" dirty="0" smtClean="0">
                <a:solidFill>
                  <a:srgbClr val="C00000"/>
                </a:solidFill>
              </a:rPr>
              <a:t>conclusion</a:t>
            </a:r>
            <a:r>
              <a:rPr lang="en-US" dirty="0" smtClean="0"/>
              <a:t> is </a:t>
            </a:r>
            <a:r>
              <a:rPr lang="en-US" dirty="0" smtClean="0">
                <a:solidFill>
                  <a:srgbClr val="C00000"/>
                </a:solidFill>
              </a:rPr>
              <a:t>false</a:t>
            </a:r>
            <a:r>
              <a:rPr lang="en-US" dirty="0" smtClean="0"/>
              <a:t> when all the </a:t>
            </a:r>
            <a:r>
              <a:rPr lang="en-US" dirty="0" smtClean="0">
                <a:solidFill>
                  <a:srgbClr val="C00000"/>
                </a:solidFill>
              </a:rPr>
              <a:t>premises</a:t>
            </a:r>
            <a:r>
              <a:rPr lang="en-US" dirty="0" smtClean="0"/>
              <a:t> are </a:t>
            </a:r>
            <a:r>
              <a:rPr lang="en-US" dirty="0" smtClean="0">
                <a:solidFill>
                  <a:srgbClr val="C00000"/>
                </a:solidFill>
              </a:rPr>
              <a:t>true</a:t>
            </a:r>
            <a:r>
              <a:rPr lang="en-US" dirty="0" smtClean="0"/>
              <a:t>.</a:t>
            </a:r>
          </a:p>
          <a:p>
            <a:endParaRPr lang="en-US" dirty="0" smtClean="0"/>
          </a:p>
          <a:p>
            <a:r>
              <a:rPr lang="en-US" dirty="0" smtClean="0">
                <a:solidFill>
                  <a:srgbClr val="C00000"/>
                </a:solidFill>
              </a:rPr>
              <a:t>Alternatively</a:t>
            </a:r>
            <a:r>
              <a:rPr lang="en-US" dirty="0" smtClean="0"/>
              <a:t>, an argument is invalid if conjunction of its premises does not imply conclusion.</a:t>
            </a:r>
          </a:p>
          <a:p>
            <a:endParaRPr lang="en-US" dirty="0" smtClean="0"/>
          </a:p>
          <a:p>
            <a:r>
              <a:rPr lang="en-US" b="1" u="sng" dirty="0" smtClean="0">
                <a:solidFill>
                  <a:srgbClr val="C00000"/>
                </a:solidFill>
              </a:rPr>
              <a:t>Validity of argument:</a:t>
            </a:r>
          </a:p>
          <a:p>
            <a:r>
              <a:rPr lang="en-US" dirty="0" smtClean="0"/>
              <a:t>When our premises conjunction is false, and conclusion is whatever true or false, the argument is valid</a:t>
            </a:r>
          </a:p>
          <a:p>
            <a:r>
              <a:rPr lang="en-US" dirty="0" smtClean="0"/>
              <a:t>When our premises conjunction is true, and conclusion is false, then we say argument is invalid.</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20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20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6"/>
          <p:cNvSpPr>
            <a:spLocks noGrp="1"/>
          </p:cNvSpPr>
          <p:nvPr>
            <p:ph type="sldNum" sz="quarter" idx="12"/>
          </p:nvPr>
        </p:nvSpPr>
        <p:spPr/>
        <p:txBody>
          <a:bodyPr/>
          <a:lstStyle/>
          <a:p>
            <a:fld id="{03F800B7-A47F-4680-8B39-A2C1342B5EB8}" type="slidenum">
              <a:rPr lang="en-US"/>
              <a:pPr/>
              <a:t>9</a:t>
            </a:fld>
            <a:endParaRPr lang="en-US"/>
          </a:p>
        </p:txBody>
      </p:sp>
      <p:sp>
        <p:nvSpPr>
          <p:cNvPr id="6146" name="Rectangle 2"/>
          <p:cNvSpPr>
            <a:spLocks noGrp="1" noChangeArrowheads="1"/>
          </p:cNvSpPr>
          <p:nvPr>
            <p:ph type="title"/>
          </p:nvPr>
        </p:nvSpPr>
        <p:spPr>
          <a:xfrm>
            <a:off x="381000" y="0"/>
            <a:ext cx="8229600" cy="1143000"/>
          </a:xfrm>
        </p:spPr>
        <p:txBody>
          <a:bodyPr/>
          <a:lstStyle/>
          <a:p>
            <a:r>
              <a:rPr lang="en-US" dirty="0">
                <a:solidFill>
                  <a:srgbClr val="663300"/>
                </a:solidFill>
                <a:effectLst>
                  <a:outerShdw blurRad="38100" dist="38100" dir="2700000" algn="tl">
                    <a:srgbClr val="C0C0C0"/>
                  </a:outerShdw>
                </a:effectLst>
                <a:latin typeface="Comic Sans MS" pitchFamily="66" charset="0"/>
              </a:rPr>
              <a:t>Argument Form</a:t>
            </a:r>
          </a:p>
        </p:txBody>
      </p:sp>
      <p:sp>
        <p:nvSpPr>
          <p:cNvPr id="6147" name="Rectangle 3"/>
          <p:cNvSpPr>
            <a:spLocks noGrp="1" noChangeArrowheads="1"/>
          </p:cNvSpPr>
          <p:nvPr>
            <p:ph type="body" sz="half" idx="1"/>
          </p:nvPr>
        </p:nvSpPr>
        <p:spPr>
          <a:xfrm>
            <a:off x="457200" y="1600200"/>
            <a:ext cx="8229600" cy="4525963"/>
          </a:xfrm>
        </p:spPr>
        <p:txBody>
          <a:bodyPr/>
          <a:lstStyle/>
          <a:p>
            <a:r>
              <a:rPr lang="en-US" sz="2800" dirty="0">
                <a:solidFill>
                  <a:srgbClr val="C00000"/>
                </a:solidFill>
              </a:rPr>
              <a:t>If</a:t>
            </a:r>
            <a:r>
              <a:rPr lang="en-US" sz="2800" dirty="0"/>
              <a:t> the premises and the conclusion</a:t>
            </a:r>
          </a:p>
          <a:p>
            <a:pPr>
              <a:buFontTx/>
              <a:buNone/>
            </a:pPr>
            <a:r>
              <a:rPr lang="en-US" sz="2800" dirty="0"/>
              <a:t>		are </a:t>
            </a:r>
            <a:r>
              <a:rPr lang="en-US" sz="2800" dirty="0">
                <a:solidFill>
                  <a:schemeClr val="accent2"/>
                </a:solidFill>
              </a:rPr>
              <a:t>statement forms</a:t>
            </a:r>
            <a:r>
              <a:rPr lang="en-US" sz="2800" dirty="0"/>
              <a:t> </a:t>
            </a:r>
          </a:p>
          <a:p>
            <a:pPr>
              <a:buFontTx/>
              <a:buNone/>
            </a:pPr>
            <a:r>
              <a:rPr lang="en-US" sz="2800" dirty="0"/>
              <a:t>			instead of statements,</a:t>
            </a:r>
          </a:p>
          <a:p>
            <a:pPr>
              <a:buFontTx/>
              <a:buNone/>
            </a:pPr>
            <a:r>
              <a:rPr lang="en-US" sz="2800" dirty="0"/>
              <a:t>   </a:t>
            </a:r>
            <a:r>
              <a:rPr lang="en-US" sz="2800" dirty="0">
                <a:solidFill>
                  <a:srgbClr val="C00000"/>
                </a:solidFill>
              </a:rPr>
              <a:t>then</a:t>
            </a:r>
            <a:r>
              <a:rPr lang="en-US" sz="2800" dirty="0"/>
              <a:t> the resulting form is called</a:t>
            </a:r>
          </a:p>
          <a:p>
            <a:pPr>
              <a:buFontTx/>
              <a:buNone/>
            </a:pPr>
            <a:r>
              <a:rPr lang="en-US" sz="2800" dirty="0"/>
              <a:t>					  </a:t>
            </a:r>
            <a:r>
              <a:rPr lang="en-US" sz="2800" dirty="0">
                <a:solidFill>
                  <a:srgbClr val="FF0066"/>
                </a:solidFill>
              </a:rPr>
              <a:t>argument form</a:t>
            </a:r>
            <a:r>
              <a:rPr lang="en-US" sz="2800" dirty="0"/>
              <a:t>.</a:t>
            </a:r>
          </a:p>
          <a:p>
            <a:r>
              <a:rPr lang="en-US" sz="2800" i="1" dirty="0"/>
              <a:t>Ex</a:t>
            </a:r>
            <a:r>
              <a:rPr lang="en-US" sz="2800" dirty="0"/>
              <a:t>:   If </a:t>
            </a:r>
            <a:r>
              <a:rPr lang="en-US" sz="2800" i="1" dirty="0"/>
              <a:t>p</a:t>
            </a:r>
            <a:r>
              <a:rPr lang="en-US" sz="2800" dirty="0"/>
              <a:t> then </a:t>
            </a:r>
            <a:r>
              <a:rPr lang="en-US" sz="2800" i="1" dirty="0"/>
              <a:t>q</a:t>
            </a:r>
            <a:r>
              <a:rPr lang="en-US" sz="2800" dirty="0"/>
              <a:t>;</a:t>
            </a:r>
          </a:p>
          <a:p>
            <a:pPr>
              <a:buFontTx/>
              <a:buNone/>
            </a:pPr>
            <a:r>
              <a:rPr lang="en-US" sz="2800" dirty="0"/>
              <a:t>		   </a:t>
            </a:r>
            <a:r>
              <a:rPr lang="en-US" sz="2800" i="1" dirty="0"/>
              <a:t>p</a:t>
            </a:r>
            <a:r>
              <a:rPr lang="en-US" sz="2800" dirty="0"/>
              <a:t>;</a:t>
            </a:r>
          </a:p>
          <a:p>
            <a:pPr>
              <a:buFontTx/>
              <a:buNone/>
            </a:pPr>
            <a:r>
              <a:rPr lang="en-US" sz="2800" dirty="0"/>
              <a:t>		   </a:t>
            </a:r>
            <a:r>
              <a:rPr lang="en-US" sz="2800" i="1" dirty="0"/>
              <a:t>q</a:t>
            </a:r>
            <a:r>
              <a:rPr lang="en-US" sz="2800" dirty="0"/>
              <a:t>.</a:t>
            </a:r>
          </a:p>
        </p:txBody>
      </p:sp>
      <p:graphicFrame>
        <p:nvGraphicFramePr>
          <p:cNvPr id="6148" name="Object 4"/>
          <p:cNvGraphicFramePr>
            <a:graphicFrameLocks noGrp="1" noChangeAspect="1"/>
          </p:cNvGraphicFramePr>
          <p:nvPr>
            <p:ph sz="half" idx="2"/>
          </p:nvPr>
        </p:nvGraphicFramePr>
        <p:xfrm>
          <a:off x="1219200" y="5257800"/>
          <a:ext cx="533400" cy="484188"/>
        </p:xfrm>
        <a:graphic>
          <a:graphicData uri="http://schemas.openxmlformats.org/presentationml/2006/ole">
            <mc:AlternateContent xmlns:mc="http://schemas.openxmlformats.org/markup-compatibility/2006">
              <mc:Choice xmlns:v="urn:schemas-microsoft-com:vml" Requires="v">
                <p:oleObj spid="_x0000_s38919" name="Equation" r:id="rId3" imgW="139680" imgH="126720" progId="Equation.3">
                  <p:embed/>
                </p:oleObj>
              </mc:Choice>
              <mc:Fallback>
                <p:oleObj name="Equation" r:id="rId3" imgW="139680" imgH="12672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5257800"/>
                        <a:ext cx="533400" cy="484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fade">
                                      <p:cBhvr>
                                        <p:cTn id="7" dur="2000"/>
                                        <p:tgtEl>
                                          <p:spTgt spid="61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147">
                                            <p:txEl>
                                              <p:pRg st="1" end="1"/>
                                            </p:txEl>
                                          </p:spTgt>
                                        </p:tgtEl>
                                        <p:attrNameLst>
                                          <p:attrName>style.visibility</p:attrName>
                                        </p:attrNameLst>
                                      </p:cBhvr>
                                      <p:to>
                                        <p:strVal val="visible"/>
                                      </p:to>
                                    </p:set>
                                    <p:animEffect transition="in" filter="fade">
                                      <p:cBhvr>
                                        <p:cTn id="12" dur="2000"/>
                                        <p:tgtEl>
                                          <p:spTgt spid="61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147">
                                            <p:txEl>
                                              <p:pRg st="2" end="2"/>
                                            </p:txEl>
                                          </p:spTgt>
                                        </p:tgtEl>
                                        <p:attrNameLst>
                                          <p:attrName>style.visibility</p:attrName>
                                        </p:attrNameLst>
                                      </p:cBhvr>
                                      <p:to>
                                        <p:strVal val="visible"/>
                                      </p:to>
                                    </p:set>
                                    <p:animEffect transition="in" filter="fade">
                                      <p:cBhvr>
                                        <p:cTn id="17" dur="2000"/>
                                        <p:tgtEl>
                                          <p:spTgt spid="614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147">
                                            <p:txEl>
                                              <p:pRg st="3" end="3"/>
                                            </p:txEl>
                                          </p:spTgt>
                                        </p:tgtEl>
                                        <p:attrNameLst>
                                          <p:attrName>style.visibility</p:attrName>
                                        </p:attrNameLst>
                                      </p:cBhvr>
                                      <p:to>
                                        <p:strVal val="visible"/>
                                      </p:to>
                                    </p:set>
                                    <p:animEffect transition="in" filter="fade">
                                      <p:cBhvr>
                                        <p:cTn id="22" dur="2000"/>
                                        <p:tgtEl>
                                          <p:spTgt spid="614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147">
                                            <p:txEl>
                                              <p:pRg st="4" end="4"/>
                                            </p:txEl>
                                          </p:spTgt>
                                        </p:tgtEl>
                                        <p:attrNameLst>
                                          <p:attrName>style.visibility</p:attrName>
                                        </p:attrNameLst>
                                      </p:cBhvr>
                                      <p:to>
                                        <p:strVal val="visible"/>
                                      </p:to>
                                    </p:set>
                                    <p:animEffect transition="in" filter="fade">
                                      <p:cBhvr>
                                        <p:cTn id="27" dur="2000"/>
                                        <p:tgtEl>
                                          <p:spTgt spid="614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147">
                                            <p:txEl>
                                              <p:pRg st="5" end="5"/>
                                            </p:txEl>
                                          </p:spTgt>
                                        </p:tgtEl>
                                        <p:attrNameLst>
                                          <p:attrName>style.visibility</p:attrName>
                                        </p:attrNameLst>
                                      </p:cBhvr>
                                      <p:to>
                                        <p:strVal val="visible"/>
                                      </p:to>
                                    </p:set>
                                    <p:animEffect transition="in" filter="fade">
                                      <p:cBhvr>
                                        <p:cTn id="32" dur="2000"/>
                                        <p:tgtEl>
                                          <p:spTgt spid="614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147">
                                            <p:txEl>
                                              <p:pRg st="6" end="6"/>
                                            </p:txEl>
                                          </p:spTgt>
                                        </p:tgtEl>
                                        <p:attrNameLst>
                                          <p:attrName>style.visibility</p:attrName>
                                        </p:attrNameLst>
                                      </p:cBhvr>
                                      <p:to>
                                        <p:strVal val="visible"/>
                                      </p:to>
                                    </p:set>
                                    <p:animEffect transition="in" filter="fade">
                                      <p:cBhvr>
                                        <p:cTn id="37" dur="2000"/>
                                        <p:tgtEl>
                                          <p:spTgt spid="614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6147">
                                            <p:txEl>
                                              <p:pRg st="7" end="7"/>
                                            </p:txEl>
                                          </p:spTgt>
                                        </p:tgtEl>
                                        <p:attrNameLst>
                                          <p:attrName>style.visibility</p:attrName>
                                        </p:attrNameLst>
                                      </p:cBhvr>
                                      <p:to>
                                        <p:strVal val="visible"/>
                                      </p:to>
                                    </p:set>
                                    <p:animEffect transition="in" filter="fade">
                                      <p:cBhvr>
                                        <p:cTn id="42" dur="2000"/>
                                        <p:tgtEl>
                                          <p:spTgt spid="614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55A04DA1-7F6C-443E-9F6A-07410197839C}" type="slidenum">
              <a:rPr lang="en-US"/>
              <a:pPr/>
              <a:t>10</a:t>
            </a:fld>
            <a:endParaRPr lang="en-US"/>
          </a:p>
        </p:txBody>
      </p:sp>
      <p:sp>
        <p:nvSpPr>
          <p:cNvPr id="8194" name="Rectangle 2"/>
          <p:cNvSpPr>
            <a:spLocks noGrp="1" noChangeArrowheads="1"/>
          </p:cNvSpPr>
          <p:nvPr>
            <p:ph type="title"/>
          </p:nvPr>
        </p:nvSpPr>
        <p:spPr/>
        <p:txBody>
          <a:bodyPr>
            <a:noAutofit/>
          </a:bodyPr>
          <a:lstStyle/>
          <a:p>
            <a:pPr algn="ctr"/>
            <a:r>
              <a:rPr lang="en-US" b="1" u="sng" dirty="0" smtClean="0"/>
              <a:t>Checking the validity of an argument form</a:t>
            </a:r>
          </a:p>
        </p:txBody>
      </p:sp>
      <p:sp>
        <p:nvSpPr>
          <p:cNvPr id="8195" name="Rectangle 3"/>
          <p:cNvSpPr>
            <a:spLocks noGrp="1" noChangeArrowheads="1"/>
          </p:cNvSpPr>
          <p:nvPr>
            <p:ph type="body" idx="1"/>
          </p:nvPr>
        </p:nvSpPr>
        <p:spPr/>
        <p:txBody>
          <a:bodyPr/>
          <a:lstStyle/>
          <a:p>
            <a:pPr marL="609600" indent="-609600">
              <a:lnSpc>
                <a:spcPct val="90000"/>
              </a:lnSpc>
              <a:buClr>
                <a:schemeClr val="tx1"/>
              </a:buClr>
              <a:buFontTx/>
              <a:buAutoNum type="arabicParenR"/>
            </a:pPr>
            <a:r>
              <a:rPr lang="en-US" sz="2800" dirty="0"/>
              <a:t>Construct </a:t>
            </a:r>
            <a:r>
              <a:rPr lang="en-US" sz="2800" dirty="0">
                <a:solidFill>
                  <a:srgbClr val="C00000"/>
                </a:solidFill>
              </a:rPr>
              <a:t>truth table</a:t>
            </a:r>
            <a:r>
              <a:rPr lang="en-US" sz="2800" dirty="0"/>
              <a:t> for the premises and the conclusion;</a:t>
            </a:r>
          </a:p>
          <a:p>
            <a:pPr marL="609600" indent="-609600">
              <a:lnSpc>
                <a:spcPct val="90000"/>
              </a:lnSpc>
              <a:buClr>
                <a:schemeClr val="tx1"/>
              </a:buClr>
              <a:buFontTx/>
              <a:buAutoNum type="arabicParenR"/>
            </a:pPr>
            <a:r>
              <a:rPr lang="en-US" sz="2800" dirty="0"/>
              <a:t>Find the rows in which all the premises are true (</a:t>
            </a:r>
            <a:r>
              <a:rPr lang="en-US" sz="2800" i="1" dirty="0">
                <a:solidFill>
                  <a:schemeClr val="accent2"/>
                </a:solidFill>
              </a:rPr>
              <a:t>critical rows</a:t>
            </a:r>
            <a:r>
              <a:rPr lang="en-US" sz="2800" dirty="0"/>
              <a:t>);</a:t>
            </a:r>
          </a:p>
          <a:p>
            <a:pPr marL="609600" indent="-609600">
              <a:lnSpc>
                <a:spcPct val="90000"/>
              </a:lnSpc>
              <a:buClr>
                <a:schemeClr val="tx1"/>
              </a:buClr>
              <a:buFontTx/>
              <a:buAutoNum type="arabicParenR"/>
            </a:pPr>
            <a:r>
              <a:rPr lang="en-US" sz="2800" dirty="0">
                <a:solidFill>
                  <a:schemeClr val="accent2"/>
                </a:solidFill>
              </a:rPr>
              <a:t>a.</a:t>
            </a:r>
            <a:r>
              <a:rPr lang="en-US" sz="2800" dirty="0"/>
              <a:t> </a:t>
            </a:r>
            <a:r>
              <a:rPr lang="en-US" sz="2800" i="1" dirty="0">
                <a:solidFill>
                  <a:srgbClr val="C00000"/>
                </a:solidFill>
              </a:rPr>
              <a:t>If</a:t>
            </a:r>
            <a:r>
              <a:rPr lang="en-US" sz="2800" dirty="0"/>
              <a:t> in each critical row the conclusion</a:t>
            </a:r>
          </a:p>
          <a:p>
            <a:pPr marL="609600" indent="-609600">
              <a:lnSpc>
                <a:spcPct val="90000"/>
              </a:lnSpc>
              <a:buFontTx/>
              <a:buNone/>
            </a:pPr>
            <a:r>
              <a:rPr lang="en-US" sz="2800" dirty="0"/>
              <a:t>			 					is true </a:t>
            </a:r>
          </a:p>
          <a:p>
            <a:pPr marL="609600" indent="-609600">
              <a:lnSpc>
                <a:spcPct val="90000"/>
              </a:lnSpc>
              <a:buFontTx/>
              <a:buNone/>
            </a:pPr>
            <a:r>
              <a:rPr lang="en-US" sz="2800" i="1" dirty="0">
                <a:solidFill>
                  <a:schemeClr val="bg2"/>
                </a:solidFill>
              </a:rPr>
              <a:t>	    </a:t>
            </a:r>
            <a:r>
              <a:rPr lang="en-US" sz="2800" i="1" dirty="0">
                <a:solidFill>
                  <a:srgbClr val="C00000"/>
                </a:solidFill>
              </a:rPr>
              <a:t>then</a:t>
            </a:r>
            <a:r>
              <a:rPr lang="en-US" sz="2800" dirty="0"/>
              <a:t> the argument form is </a:t>
            </a:r>
            <a:r>
              <a:rPr lang="en-US" sz="2800" dirty="0">
                <a:solidFill>
                  <a:schemeClr val="accent2"/>
                </a:solidFill>
              </a:rPr>
              <a:t>valid</a:t>
            </a:r>
            <a:r>
              <a:rPr lang="en-US" sz="2800" dirty="0"/>
              <a:t>;</a:t>
            </a:r>
          </a:p>
          <a:p>
            <a:pPr marL="609600" indent="-609600">
              <a:lnSpc>
                <a:spcPct val="90000"/>
              </a:lnSpc>
              <a:buFontTx/>
              <a:buNone/>
            </a:pPr>
            <a:r>
              <a:rPr lang="en-US" sz="2800" dirty="0"/>
              <a:t>	</a:t>
            </a:r>
            <a:r>
              <a:rPr lang="en-US" sz="2800" dirty="0">
                <a:solidFill>
                  <a:schemeClr val="accent2"/>
                </a:solidFill>
              </a:rPr>
              <a:t>b.</a:t>
            </a:r>
            <a:r>
              <a:rPr lang="en-US" sz="2800" dirty="0"/>
              <a:t> </a:t>
            </a:r>
            <a:r>
              <a:rPr lang="en-US" sz="2800" i="1" dirty="0">
                <a:solidFill>
                  <a:srgbClr val="C00000"/>
                </a:solidFill>
              </a:rPr>
              <a:t>If</a:t>
            </a:r>
            <a:r>
              <a:rPr lang="en-US" sz="2800" dirty="0">
                <a:solidFill>
                  <a:srgbClr val="C00000"/>
                </a:solidFill>
              </a:rPr>
              <a:t>  </a:t>
            </a:r>
            <a:r>
              <a:rPr lang="en-US" sz="2800" dirty="0" smtClean="0"/>
              <a:t>there </a:t>
            </a:r>
            <a:r>
              <a:rPr lang="en-US" sz="2800" dirty="0"/>
              <a:t>is a row in which conclusion 								is false </a:t>
            </a:r>
          </a:p>
          <a:p>
            <a:pPr marL="609600" indent="-609600">
              <a:lnSpc>
                <a:spcPct val="90000"/>
              </a:lnSpc>
              <a:buFontTx/>
              <a:buNone/>
            </a:pPr>
            <a:r>
              <a:rPr lang="en-US" sz="2800" i="1" dirty="0">
                <a:solidFill>
                  <a:schemeClr val="bg2"/>
                </a:solidFill>
              </a:rPr>
              <a:t>	   </a:t>
            </a:r>
            <a:r>
              <a:rPr lang="en-US" sz="2800" i="1" dirty="0">
                <a:solidFill>
                  <a:srgbClr val="C00000"/>
                </a:solidFill>
              </a:rPr>
              <a:t>then</a:t>
            </a:r>
            <a:r>
              <a:rPr lang="en-US" sz="2800" dirty="0"/>
              <a:t> the argument form is </a:t>
            </a:r>
            <a:r>
              <a:rPr lang="en-US" sz="2800" dirty="0">
                <a:solidFill>
                  <a:schemeClr val="accent2"/>
                </a:solidFill>
              </a:rPr>
              <a:t>invalid</a:t>
            </a:r>
            <a:r>
              <a:rPr lang="en-US" sz="2800"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fade">
                                      <p:cBhvr>
                                        <p:cTn id="7" dur="20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fade">
                                      <p:cBhvr>
                                        <p:cTn id="12" dur="2000"/>
                                        <p:tgtEl>
                                          <p:spTgt spid="81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Effect transition="in" filter="fade">
                                      <p:cBhvr>
                                        <p:cTn id="17" dur="2000"/>
                                        <p:tgtEl>
                                          <p:spTgt spid="81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195">
                                            <p:txEl>
                                              <p:pRg st="3" end="3"/>
                                            </p:txEl>
                                          </p:spTgt>
                                        </p:tgtEl>
                                        <p:attrNameLst>
                                          <p:attrName>style.visibility</p:attrName>
                                        </p:attrNameLst>
                                      </p:cBhvr>
                                      <p:to>
                                        <p:strVal val="visible"/>
                                      </p:to>
                                    </p:set>
                                    <p:animEffect transition="in" filter="fade">
                                      <p:cBhvr>
                                        <p:cTn id="22" dur="2000"/>
                                        <p:tgtEl>
                                          <p:spTgt spid="819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195">
                                            <p:txEl>
                                              <p:pRg st="4" end="4"/>
                                            </p:txEl>
                                          </p:spTgt>
                                        </p:tgtEl>
                                        <p:attrNameLst>
                                          <p:attrName>style.visibility</p:attrName>
                                        </p:attrNameLst>
                                      </p:cBhvr>
                                      <p:to>
                                        <p:strVal val="visible"/>
                                      </p:to>
                                    </p:set>
                                    <p:animEffect transition="in" filter="fade">
                                      <p:cBhvr>
                                        <p:cTn id="27" dur="2000"/>
                                        <p:tgtEl>
                                          <p:spTgt spid="819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195">
                                            <p:txEl>
                                              <p:pRg st="5" end="5"/>
                                            </p:txEl>
                                          </p:spTgt>
                                        </p:tgtEl>
                                        <p:attrNameLst>
                                          <p:attrName>style.visibility</p:attrName>
                                        </p:attrNameLst>
                                      </p:cBhvr>
                                      <p:to>
                                        <p:strVal val="visible"/>
                                      </p:to>
                                    </p:set>
                                    <p:animEffect transition="in" filter="fade">
                                      <p:cBhvr>
                                        <p:cTn id="32" dur="2000"/>
                                        <p:tgtEl>
                                          <p:spTgt spid="819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195">
                                            <p:txEl>
                                              <p:pRg st="6" end="6"/>
                                            </p:txEl>
                                          </p:spTgt>
                                        </p:tgtEl>
                                        <p:attrNameLst>
                                          <p:attrName>style.visibility</p:attrName>
                                        </p:attrNameLst>
                                      </p:cBhvr>
                                      <p:to>
                                        <p:strVal val="visible"/>
                                      </p:to>
                                    </p:set>
                                    <p:animEffect transition="in" filter="fade">
                                      <p:cBhvr>
                                        <p:cTn id="37" dur="2000"/>
                                        <p:tgtEl>
                                          <p:spTgt spid="819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smtClean="0"/>
              <a:t>EXAMPLE:</a:t>
            </a:r>
            <a:endParaRPr lang="en-US" dirty="0"/>
          </a:p>
        </p:txBody>
      </p:sp>
      <p:sp>
        <p:nvSpPr>
          <p:cNvPr id="3" name="Content Placeholder 2"/>
          <p:cNvSpPr>
            <a:spLocks noGrp="1"/>
          </p:cNvSpPr>
          <p:nvPr>
            <p:ph sz="quarter" idx="1"/>
          </p:nvPr>
        </p:nvSpPr>
        <p:spPr/>
        <p:txBody>
          <a:bodyPr/>
          <a:lstStyle/>
          <a:p>
            <a:r>
              <a:rPr lang="en-US" dirty="0" smtClean="0"/>
              <a:t>Show that the following argument form is valid:</a:t>
            </a:r>
          </a:p>
          <a:p>
            <a:endParaRPr lang="en-US" dirty="0" smtClean="0"/>
          </a:p>
          <a:p>
            <a:pPr>
              <a:buNone/>
            </a:pPr>
            <a:r>
              <a:rPr lang="en-US" dirty="0" smtClean="0"/>
              <a:t>				p </a:t>
            </a:r>
            <a:r>
              <a:rPr lang="en-US" dirty="0" smtClean="0">
                <a:sym typeface="Symbol"/>
              </a:rPr>
              <a:t> </a:t>
            </a:r>
            <a:r>
              <a:rPr lang="en-US" dirty="0" smtClean="0"/>
              <a:t>q		</a:t>
            </a:r>
            <a:r>
              <a:rPr lang="en-US" b="1" dirty="0" smtClean="0">
                <a:solidFill>
                  <a:srgbClr val="C00000"/>
                </a:solidFill>
              </a:rPr>
              <a:t>premise</a:t>
            </a:r>
          </a:p>
          <a:p>
            <a:endParaRPr lang="en-US" dirty="0" smtClean="0"/>
          </a:p>
          <a:p>
            <a:pPr>
              <a:buNone/>
            </a:pPr>
            <a:r>
              <a:rPr lang="en-US" dirty="0" smtClean="0"/>
              <a:t>				p		</a:t>
            </a:r>
            <a:r>
              <a:rPr lang="en-US" b="1" dirty="0" smtClean="0">
                <a:solidFill>
                  <a:srgbClr val="C00000"/>
                </a:solidFill>
              </a:rPr>
              <a:t>premise</a:t>
            </a:r>
          </a:p>
          <a:p>
            <a:endParaRPr lang="en-US" dirty="0" smtClean="0"/>
          </a:p>
          <a:p>
            <a:pPr>
              <a:buNone/>
            </a:pPr>
            <a:r>
              <a:rPr lang="en-US" dirty="0" smtClean="0"/>
              <a:t>			          q		</a:t>
            </a:r>
            <a:r>
              <a:rPr lang="en-US" b="1" dirty="0" smtClean="0">
                <a:solidFill>
                  <a:srgbClr val="C00000"/>
                </a:solidFill>
              </a:rPr>
              <a:t>conclusion</a:t>
            </a:r>
          </a:p>
          <a:p>
            <a:endParaRPr lang="en-US" dirty="0" smtClean="0"/>
          </a:p>
          <a:p>
            <a:endParaRPr lang="en-US" dirty="0"/>
          </a:p>
        </p:txBody>
      </p:sp>
      <p:graphicFrame>
        <p:nvGraphicFramePr>
          <p:cNvPr id="1028" name="Object 4"/>
          <p:cNvGraphicFramePr>
            <a:graphicFrameLocks noChangeAspect="1"/>
          </p:cNvGraphicFramePr>
          <p:nvPr/>
        </p:nvGraphicFramePr>
        <p:xfrm>
          <a:off x="2743200" y="4114800"/>
          <a:ext cx="457200" cy="381000"/>
        </p:xfrm>
        <a:graphic>
          <a:graphicData uri="http://schemas.openxmlformats.org/presentationml/2006/ole">
            <mc:AlternateContent xmlns:mc="http://schemas.openxmlformats.org/markup-compatibility/2006">
              <mc:Choice xmlns:v="urn:schemas-microsoft-com:vml" Requires="v">
                <p:oleObj spid="_x0000_s1033" name="Equation" r:id="rId3" imgW="139680" imgH="126720" progId="Equation.3">
                  <p:embed/>
                </p:oleObj>
              </mc:Choice>
              <mc:Fallback>
                <p:oleObj name="Equation" r:id="rId3" imgW="139680" imgH="126720"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4114800"/>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20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graphicFrame>
        <p:nvGraphicFramePr>
          <p:cNvPr id="2050" name="Group 2"/>
          <p:cNvGraphicFramePr>
            <a:graphicFrameLocks noGrp="1"/>
          </p:cNvGraphicFramePr>
          <p:nvPr/>
        </p:nvGraphicFramePr>
        <p:xfrm>
          <a:off x="2286000" y="2514600"/>
          <a:ext cx="3276600" cy="2448912"/>
        </p:xfrm>
        <a:graphic>
          <a:graphicData uri="http://schemas.openxmlformats.org/drawingml/2006/table">
            <a:tbl>
              <a:tblPr/>
              <a:tblGrid>
                <a:gridCol w="436880">
                  <a:extLst>
                    <a:ext uri="{9D8B030D-6E8A-4147-A177-3AD203B41FA5}">
                      <a16:colId xmlns:a16="http://schemas.microsoft.com/office/drawing/2014/main" val="20000"/>
                    </a:ext>
                  </a:extLst>
                </a:gridCol>
                <a:gridCol w="436880">
                  <a:extLst>
                    <a:ext uri="{9D8B030D-6E8A-4147-A177-3AD203B41FA5}">
                      <a16:colId xmlns:a16="http://schemas.microsoft.com/office/drawing/2014/main" val="20001"/>
                    </a:ext>
                  </a:extLst>
                </a:gridCol>
                <a:gridCol w="1092200">
                  <a:extLst>
                    <a:ext uri="{9D8B030D-6E8A-4147-A177-3AD203B41FA5}">
                      <a16:colId xmlns:a16="http://schemas.microsoft.com/office/drawing/2014/main" val="20002"/>
                    </a:ext>
                  </a:extLst>
                </a:gridCol>
                <a:gridCol w="655320">
                  <a:extLst>
                    <a:ext uri="{9D8B030D-6E8A-4147-A177-3AD203B41FA5}">
                      <a16:colId xmlns:a16="http://schemas.microsoft.com/office/drawing/2014/main" val="20003"/>
                    </a:ext>
                  </a:extLst>
                </a:gridCol>
                <a:gridCol w="655320">
                  <a:extLst>
                    <a:ext uri="{9D8B030D-6E8A-4147-A177-3AD203B41FA5}">
                      <a16:colId xmlns:a16="http://schemas.microsoft.com/office/drawing/2014/main" val="20004"/>
                    </a:ext>
                  </a:extLst>
                </a:gridCol>
              </a:tblGrid>
              <a:tr h="60960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p</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p  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p</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q</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459828">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extLst>
                  <a:ext uri="{0D108BD9-81ED-4DB2-BD59-A6C34878D82A}">
                    <a16:rowId xmlns:a16="http://schemas.microsoft.com/office/drawing/2014/main" val="10001"/>
                  </a:ext>
                </a:extLst>
              </a:tr>
              <a:tr h="459828">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9828">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9828">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46" name="Rectangle 45"/>
          <p:cNvSpPr/>
          <p:nvPr/>
        </p:nvSpPr>
        <p:spPr>
          <a:xfrm>
            <a:off x="2895600" y="1143000"/>
            <a:ext cx="1013611" cy="369332"/>
          </a:xfrm>
          <a:prstGeom prst="rect">
            <a:avLst/>
          </a:prstGeom>
        </p:spPr>
        <p:txBody>
          <a:bodyPr wrap="square">
            <a:spAutoFit/>
          </a:bodyPr>
          <a:lstStyle/>
          <a:p>
            <a:r>
              <a:rPr lang="en-US" dirty="0" smtClean="0"/>
              <a:t>premises</a:t>
            </a:r>
            <a:endParaRPr lang="en-US" dirty="0"/>
          </a:p>
        </p:txBody>
      </p:sp>
      <p:cxnSp>
        <p:nvCxnSpPr>
          <p:cNvPr id="48" name="Straight Arrow Connector 47"/>
          <p:cNvCxnSpPr/>
          <p:nvPr/>
        </p:nvCxnSpPr>
        <p:spPr>
          <a:xfrm rot="5400000">
            <a:off x="3391694" y="2018506"/>
            <a:ext cx="990600" cy="1588"/>
          </a:xfrm>
          <a:prstGeom prst="straightConnector1">
            <a:avLst/>
          </a:prstGeom>
          <a:ln w="9525">
            <a:tailEnd type="arrow"/>
          </a:ln>
        </p:spPr>
        <p:style>
          <a:lnRef idx="2">
            <a:schemeClr val="dk1"/>
          </a:lnRef>
          <a:fillRef idx="0">
            <a:schemeClr val="dk1"/>
          </a:fillRef>
          <a:effectRef idx="1">
            <a:schemeClr val="dk1"/>
          </a:effectRef>
          <a:fontRef idx="minor">
            <a:schemeClr val="tx1"/>
          </a:fontRef>
        </p:style>
      </p:cxnSp>
      <p:cxnSp>
        <p:nvCxnSpPr>
          <p:cNvPr id="50" name="Straight Connector 49"/>
          <p:cNvCxnSpPr/>
          <p:nvPr/>
        </p:nvCxnSpPr>
        <p:spPr>
          <a:xfrm>
            <a:off x="4038600" y="1371600"/>
            <a:ext cx="533400" cy="1588"/>
          </a:xfrm>
          <a:prstGeom prst="line">
            <a:avLst/>
          </a:prstGeom>
          <a:ln w="9525"/>
        </p:spPr>
        <p:style>
          <a:lnRef idx="2">
            <a:schemeClr val="dk1"/>
          </a:lnRef>
          <a:fillRef idx="0">
            <a:schemeClr val="dk1"/>
          </a:fillRef>
          <a:effectRef idx="1">
            <a:schemeClr val="dk1"/>
          </a:effectRef>
          <a:fontRef idx="minor">
            <a:schemeClr val="tx1"/>
          </a:fontRef>
        </p:style>
      </p:cxnSp>
      <p:cxnSp>
        <p:nvCxnSpPr>
          <p:cNvPr id="52" name="Straight Arrow Connector 51"/>
          <p:cNvCxnSpPr/>
          <p:nvPr/>
        </p:nvCxnSpPr>
        <p:spPr>
          <a:xfrm rot="5400000">
            <a:off x="4039394" y="1904206"/>
            <a:ext cx="1066800" cy="1588"/>
          </a:xfrm>
          <a:prstGeom prst="straightConnector1">
            <a:avLst/>
          </a:prstGeom>
          <a:ln w="9525">
            <a:tailEnd type="arrow"/>
          </a:ln>
        </p:spPr>
        <p:style>
          <a:lnRef idx="2">
            <a:schemeClr val="dk1"/>
          </a:lnRef>
          <a:fillRef idx="0">
            <a:schemeClr val="dk1"/>
          </a:fillRef>
          <a:effectRef idx="1">
            <a:schemeClr val="dk1"/>
          </a:effectRef>
          <a:fontRef idx="minor">
            <a:schemeClr val="tx1"/>
          </a:fontRef>
        </p:style>
      </p:cxnSp>
      <p:sp>
        <p:nvSpPr>
          <p:cNvPr id="54" name="Rectangle 53"/>
          <p:cNvSpPr/>
          <p:nvPr/>
        </p:nvSpPr>
        <p:spPr>
          <a:xfrm>
            <a:off x="4724400" y="1066800"/>
            <a:ext cx="1176925" cy="369332"/>
          </a:xfrm>
          <a:prstGeom prst="rect">
            <a:avLst/>
          </a:prstGeom>
        </p:spPr>
        <p:txBody>
          <a:bodyPr wrap="none">
            <a:spAutoFit/>
          </a:bodyPr>
          <a:lstStyle/>
          <a:p>
            <a:r>
              <a:rPr lang="en-US" dirty="0" smtClean="0"/>
              <a:t>conclusion</a:t>
            </a:r>
            <a:endParaRPr lang="en-US" dirty="0"/>
          </a:p>
        </p:txBody>
      </p:sp>
      <p:cxnSp>
        <p:nvCxnSpPr>
          <p:cNvPr id="56" name="Straight Arrow Connector 55"/>
          <p:cNvCxnSpPr/>
          <p:nvPr/>
        </p:nvCxnSpPr>
        <p:spPr>
          <a:xfrm rot="5400000">
            <a:off x="4801394" y="1980406"/>
            <a:ext cx="10668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57" name="Rectangle 56"/>
          <p:cNvSpPr/>
          <p:nvPr/>
        </p:nvSpPr>
        <p:spPr>
          <a:xfrm>
            <a:off x="1143000" y="5029200"/>
            <a:ext cx="6248400" cy="1371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Font typeface="Arial" pitchFamily="34" charset="0"/>
              <a:buChar char="•"/>
            </a:pPr>
            <a:r>
              <a:rPr lang="en-US" dirty="0" smtClean="0">
                <a:solidFill>
                  <a:schemeClr val="tx1"/>
                </a:solidFill>
              </a:rPr>
              <a:t> To validity we will not analyze the whole table.</a:t>
            </a:r>
          </a:p>
          <a:p>
            <a:pPr>
              <a:buFont typeface="Arial" pitchFamily="34" charset="0"/>
              <a:buChar char="•"/>
            </a:pPr>
            <a:r>
              <a:rPr lang="en-US" dirty="0" smtClean="0">
                <a:solidFill>
                  <a:schemeClr val="tx1"/>
                </a:solidFill>
              </a:rPr>
              <a:t> We will analyze those rows where in premise we have T</a:t>
            </a:r>
          </a:p>
          <a:p>
            <a:r>
              <a:rPr lang="en-US" dirty="0" smtClean="0">
                <a:solidFill>
                  <a:schemeClr val="tx1"/>
                </a:solidFill>
              </a:rPr>
              <a:t>  value, and if corresponding conclusion also have T value,  </a:t>
            </a:r>
          </a:p>
          <a:p>
            <a:r>
              <a:rPr lang="en-US" dirty="0" smtClean="0">
                <a:solidFill>
                  <a:schemeClr val="tx1"/>
                </a:solidFill>
              </a:rPr>
              <a:t>  then we say it’s a valid argument.</a:t>
            </a:r>
          </a:p>
          <a:p>
            <a:pPr algn="ctr"/>
            <a:endParaRPr lang="en-US" dirty="0"/>
          </a:p>
        </p:txBody>
      </p:sp>
      <p:sp>
        <p:nvSpPr>
          <p:cNvPr id="61" name="Rectangle 60"/>
          <p:cNvSpPr/>
          <p:nvPr/>
        </p:nvSpPr>
        <p:spPr>
          <a:xfrm>
            <a:off x="6781800" y="3182256"/>
            <a:ext cx="1247457" cy="369332"/>
          </a:xfrm>
          <a:prstGeom prst="rect">
            <a:avLst/>
          </a:prstGeom>
        </p:spPr>
        <p:txBody>
          <a:bodyPr wrap="none">
            <a:spAutoFit/>
          </a:bodyPr>
          <a:lstStyle/>
          <a:p>
            <a:r>
              <a:rPr lang="en-US" dirty="0" smtClean="0"/>
              <a:t>critical row</a:t>
            </a:r>
            <a:endParaRPr lang="en-US" dirty="0"/>
          </a:p>
        </p:txBody>
      </p:sp>
      <p:cxnSp>
        <p:nvCxnSpPr>
          <p:cNvPr id="63" name="Straight Arrow Connector 62"/>
          <p:cNvCxnSpPr/>
          <p:nvPr/>
        </p:nvCxnSpPr>
        <p:spPr>
          <a:xfrm rot="10800000">
            <a:off x="5562600" y="3352800"/>
            <a:ext cx="1143000" cy="1588"/>
          </a:xfrm>
          <a:prstGeom prst="straightConnector1">
            <a:avLst/>
          </a:prstGeom>
          <a:ln w="9525">
            <a:tailEnd type="arrow"/>
          </a:ln>
        </p:spPr>
        <p:style>
          <a:lnRef idx="2">
            <a:schemeClr val="dk1"/>
          </a:lnRef>
          <a:fillRef idx="0">
            <a:schemeClr val="dk1"/>
          </a:fillRef>
          <a:effectRef idx="1">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2000"/>
                                        <p:tgtEl>
                                          <p:spTgt spid="5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fade">
                                      <p:cBhvr>
                                        <p:cTn id="10" dur="2000"/>
                                        <p:tgtEl>
                                          <p:spTgt spid="46"/>
                                        </p:tgtEl>
                                      </p:cBhvr>
                                    </p:animEffect>
                                  </p:childTnLst>
                                </p:cTn>
                              </p:par>
                              <p:par>
                                <p:cTn id="11" presetID="10" presetClass="entr" presetSubtype="0" fill="hold" nodeType="withEffect">
                                  <p:stCondLst>
                                    <p:cond delay="0"/>
                                  </p:stCondLst>
                                  <p:childTnLst>
                                    <p:set>
                                      <p:cBhvr>
                                        <p:cTn id="12" dur="1" fill="hold">
                                          <p:stCondLst>
                                            <p:cond delay="0"/>
                                          </p:stCondLst>
                                        </p:cTn>
                                        <p:tgtEl>
                                          <p:spTgt spid="48"/>
                                        </p:tgtEl>
                                        <p:attrNameLst>
                                          <p:attrName>style.visibility</p:attrName>
                                        </p:attrNameLst>
                                      </p:cBhvr>
                                      <p:to>
                                        <p:strVal val="visible"/>
                                      </p:to>
                                    </p:set>
                                    <p:animEffect transition="in" filter="fade">
                                      <p:cBhvr>
                                        <p:cTn id="13" dur="2000"/>
                                        <p:tgtEl>
                                          <p:spTgt spid="48"/>
                                        </p:tgtEl>
                                      </p:cBhvr>
                                    </p:animEffect>
                                  </p:childTnLst>
                                </p:cTn>
                              </p:par>
                              <p:par>
                                <p:cTn id="14" presetID="10" presetClass="entr" presetSubtype="0" fill="hold" nodeType="withEffect">
                                  <p:stCondLst>
                                    <p:cond delay="0"/>
                                  </p:stCondLst>
                                  <p:childTnLst>
                                    <p:set>
                                      <p:cBhvr>
                                        <p:cTn id="15" dur="1" fill="hold">
                                          <p:stCondLst>
                                            <p:cond delay="0"/>
                                          </p:stCondLst>
                                        </p:cTn>
                                        <p:tgtEl>
                                          <p:spTgt spid="52"/>
                                        </p:tgtEl>
                                        <p:attrNameLst>
                                          <p:attrName>style.visibility</p:attrName>
                                        </p:attrNameLst>
                                      </p:cBhvr>
                                      <p:to>
                                        <p:strVal val="visible"/>
                                      </p:to>
                                    </p:set>
                                    <p:animEffect transition="in" filter="fade">
                                      <p:cBhvr>
                                        <p:cTn id="16" dur="2000"/>
                                        <p:tgtEl>
                                          <p:spTgt spid="5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4"/>
                                        </p:tgtEl>
                                        <p:attrNameLst>
                                          <p:attrName>style.visibility</p:attrName>
                                        </p:attrNameLst>
                                      </p:cBhvr>
                                      <p:to>
                                        <p:strVal val="visible"/>
                                      </p:to>
                                    </p:set>
                                    <p:animEffect transition="in" filter="fade">
                                      <p:cBhvr>
                                        <p:cTn id="19" dur="2000"/>
                                        <p:tgtEl>
                                          <p:spTgt spid="54"/>
                                        </p:tgtEl>
                                      </p:cBhvr>
                                    </p:animEffect>
                                  </p:childTnLst>
                                </p:cTn>
                              </p:par>
                              <p:par>
                                <p:cTn id="20" presetID="10" presetClass="entr" presetSubtype="0" fill="hold" nodeType="withEffect">
                                  <p:stCondLst>
                                    <p:cond delay="0"/>
                                  </p:stCondLst>
                                  <p:childTnLst>
                                    <p:set>
                                      <p:cBhvr>
                                        <p:cTn id="21" dur="1" fill="hold">
                                          <p:stCondLst>
                                            <p:cond delay="0"/>
                                          </p:stCondLst>
                                        </p:cTn>
                                        <p:tgtEl>
                                          <p:spTgt spid="56"/>
                                        </p:tgtEl>
                                        <p:attrNameLst>
                                          <p:attrName>style.visibility</p:attrName>
                                        </p:attrNameLst>
                                      </p:cBhvr>
                                      <p:to>
                                        <p:strVal val="visible"/>
                                      </p:to>
                                    </p:set>
                                    <p:animEffect transition="in" filter="fade">
                                      <p:cBhvr>
                                        <p:cTn id="22" dur="2000"/>
                                        <p:tgtEl>
                                          <p:spTgt spid="56"/>
                                        </p:tgtEl>
                                      </p:cBhvr>
                                    </p:animEffect>
                                  </p:childTnLst>
                                </p:cTn>
                              </p:par>
                              <p:par>
                                <p:cTn id="23" presetID="10" presetClass="entr" presetSubtype="0" fill="hold" nodeType="withEffect">
                                  <p:stCondLst>
                                    <p:cond delay="0"/>
                                  </p:stCondLst>
                                  <p:childTnLst>
                                    <p:set>
                                      <p:cBhvr>
                                        <p:cTn id="24" dur="1" fill="hold">
                                          <p:stCondLst>
                                            <p:cond delay="0"/>
                                          </p:stCondLst>
                                        </p:cTn>
                                        <p:tgtEl>
                                          <p:spTgt spid="63"/>
                                        </p:tgtEl>
                                        <p:attrNameLst>
                                          <p:attrName>style.visibility</p:attrName>
                                        </p:attrNameLst>
                                      </p:cBhvr>
                                      <p:to>
                                        <p:strVal val="visible"/>
                                      </p:to>
                                    </p:set>
                                    <p:animEffect transition="in" filter="fade">
                                      <p:cBhvr>
                                        <p:cTn id="25" dur="2000"/>
                                        <p:tgtEl>
                                          <p:spTgt spid="6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1"/>
                                        </p:tgtEl>
                                        <p:attrNameLst>
                                          <p:attrName>style.visibility</p:attrName>
                                        </p:attrNameLst>
                                      </p:cBhvr>
                                      <p:to>
                                        <p:strVal val="visible"/>
                                      </p:to>
                                    </p:set>
                                    <p:animEffect transition="in" filter="fade">
                                      <p:cBhvr>
                                        <p:cTn id="28" dur="2000"/>
                                        <p:tgtEl>
                                          <p:spTgt spid="6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57"/>
                                        </p:tgtEl>
                                        <p:attrNameLst>
                                          <p:attrName>style.visibility</p:attrName>
                                        </p:attrNameLst>
                                      </p:cBhvr>
                                      <p:to>
                                        <p:strVal val="visible"/>
                                      </p:to>
                                    </p:set>
                                    <p:animEffect transition="in" filter="fade">
                                      <p:cBhvr>
                                        <p:cTn id="31" dur="20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54" grpId="0"/>
      <p:bldP spid="57" grpId="0"/>
      <p:bldP spid="6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EXAMPLE OF INVALID ARGUMENT</a:t>
            </a:r>
            <a:endParaRPr lang="en-US" dirty="0"/>
          </a:p>
        </p:txBody>
      </p:sp>
      <p:sp>
        <p:nvSpPr>
          <p:cNvPr id="3" name="Content Placeholder 2"/>
          <p:cNvSpPr>
            <a:spLocks noGrp="1"/>
          </p:cNvSpPr>
          <p:nvPr>
            <p:ph sz="quarter" idx="1"/>
          </p:nvPr>
        </p:nvSpPr>
        <p:spPr/>
        <p:txBody>
          <a:bodyPr/>
          <a:lstStyle/>
          <a:p>
            <a:r>
              <a:rPr lang="en-US" dirty="0" smtClean="0"/>
              <a:t>Show that the following argument form is invalid:</a:t>
            </a:r>
          </a:p>
          <a:p>
            <a:endParaRPr lang="en-US" dirty="0" smtClean="0"/>
          </a:p>
          <a:p>
            <a:pPr>
              <a:buNone/>
            </a:pPr>
            <a:r>
              <a:rPr lang="en-US" dirty="0" smtClean="0"/>
              <a:t>				p </a:t>
            </a:r>
            <a:r>
              <a:rPr lang="en-US" dirty="0" smtClean="0">
                <a:sym typeface="Symbol"/>
              </a:rPr>
              <a:t> </a:t>
            </a:r>
            <a:r>
              <a:rPr lang="en-US" dirty="0" smtClean="0"/>
              <a:t>q		</a:t>
            </a:r>
            <a:r>
              <a:rPr lang="en-US" dirty="0" smtClean="0">
                <a:solidFill>
                  <a:srgbClr val="C00000"/>
                </a:solidFill>
              </a:rPr>
              <a:t>premise</a:t>
            </a:r>
          </a:p>
          <a:p>
            <a:endParaRPr lang="en-US" dirty="0" smtClean="0"/>
          </a:p>
          <a:p>
            <a:pPr>
              <a:buNone/>
            </a:pPr>
            <a:r>
              <a:rPr lang="en-US" dirty="0" smtClean="0"/>
              <a:t>				q		</a:t>
            </a:r>
            <a:r>
              <a:rPr lang="en-US" dirty="0" smtClean="0">
                <a:solidFill>
                  <a:srgbClr val="C00000"/>
                </a:solidFill>
              </a:rPr>
              <a:t>premise</a:t>
            </a:r>
          </a:p>
          <a:p>
            <a:endParaRPr lang="en-US" dirty="0" smtClean="0"/>
          </a:p>
          <a:p>
            <a:pPr>
              <a:buNone/>
            </a:pPr>
            <a:r>
              <a:rPr lang="en-US" dirty="0" smtClean="0"/>
              <a:t>				 p		</a:t>
            </a:r>
            <a:r>
              <a:rPr lang="en-US" dirty="0" smtClean="0">
                <a:solidFill>
                  <a:srgbClr val="C00000"/>
                </a:solidFill>
              </a:rPr>
              <a:t>conclusion</a:t>
            </a:r>
            <a:endParaRPr lang="en-US" dirty="0">
              <a:solidFill>
                <a:srgbClr val="C00000"/>
              </a:solidFill>
            </a:endParaRPr>
          </a:p>
        </p:txBody>
      </p:sp>
      <p:graphicFrame>
        <p:nvGraphicFramePr>
          <p:cNvPr id="24580" name="Object 4"/>
          <p:cNvGraphicFramePr>
            <a:graphicFrameLocks noChangeAspect="1"/>
          </p:cNvGraphicFramePr>
          <p:nvPr/>
        </p:nvGraphicFramePr>
        <p:xfrm>
          <a:off x="2667000" y="4114800"/>
          <a:ext cx="457200" cy="381000"/>
        </p:xfrm>
        <a:graphic>
          <a:graphicData uri="http://schemas.openxmlformats.org/presentationml/2006/ole">
            <mc:AlternateContent xmlns:mc="http://schemas.openxmlformats.org/markup-compatibility/2006">
              <mc:Choice xmlns:v="urn:schemas-microsoft-com:vml" Requires="v">
                <p:oleObj spid="_x0000_s24585" name="Equation" r:id="rId3" imgW="139680" imgH="126720" progId="Equation.3">
                  <p:embed/>
                </p:oleObj>
              </mc:Choice>
              <mc:Fallback>
                <p:oleObj name="Equation" r:id="rId3" imgW="139680" imgH="126720" progId="Equation.3">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0" y="4114800"/>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2000"/>
                                        <p:tgtEl>
                                          <p:spTgt spid="3">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2000"/>
                                        <p:tgtEl>
                                          <p:spTgt spid="3">
                                            <p:txEl>
                                              <p:pRg st="4" end="4"/>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fade">
                                      <p:cBhvr>
                                        <p:cTn id="16"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graphicFrame>
        <p:nvGraphicFramePr>
          <p:cNvPr id="25602" name="Group 2"/>
          <p:cNvGraphicFramePr>
            <a:graphicFrameLocks noGrp="1"/>
          </p:cNvGraphicFramePr>
          <p:nvPr/>
        </p:nvGraphicFramePr>
        <p:xfrm>
          <a:off x="2285999" y="2590800"/>
          <a:ext cx="3505201" cy="2438400"/>
        </p:xfrm>
        <a:graphic>
          <a:graphicData uri="http://schemas.openxmlformats.org/drawingml/2006/table">
            <a:tbl>
              <a:tblPr/>
              <a:tblGrid>
                <a:gridCol w="678426">
                  <a:extLst>
                    <a:ext uri="{9D8B030D-6E8A-4147-A177-3AD203B41FA5}">
                      <a16:colId xmlns:a16="http://schemas.microsoft.com/office/drawing/2014/main" val="20000"/>
                    </a:ext>
                  </a:extLst>
                </a:gridCol>
                <a:gridCol w="452284">
                  <a:extLst>
                    <a:ext uri="{9D8B030D-6E8A-4147-A177-3AD203B41FA5}">
                      <a16:colId xmlns:a16="http://schemas.microsoft.com/office/drawing/2014/main" val="20001"/>
                    </a:ext>
                  </a:extLst>
                </a:gridCol>
                <a:gridCol w="1017639">
                  <a:extLst>
                    <a:ext uri="{9D8B030D-6E8A-4147-A177-3AD203B41FA5}">
                      <a16:colId xmlns:a16="http://schemas.microsoft.com/office/drawing/2014/main" val="20002"/>
                    </a:ext>
                  </a:extLst>
                </a:gridCol>
                <a:gridCol w="791497">
                  <a:extLst>
                    <a:ext uri="{9D8B030D-6E8A-4147-A177-3AD203B41FA5}">
                      <a16:colId xmlns:a16="http://schemas.microsoft.com/office/drawing/2014/main" val="20003"/>
                    </a:ext>
                  </a:extLst>
                </a:gridCol>
                <a:gridCol w="565355">
                  <a:extLst>
                    <a:ext uri="{9D8B030D-6E8A-4147-A177-3AD203B41FA5}">
                      <a16:colId xmlns:a16="http://schemas.microsoft.com/office/drawing/2014/main" val="20004"/>
                    </a:ext>
                  </a:extLst>
                </a:gridCol>
              </a:tblGrid>
              <a:tr h="60960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p</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p  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p</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433552">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extLst>
                  <a:ext uri="{0D108BD9-81ED-4DB2-BD59-A6C34878D82A}">
                    <a16:rowId xmlns:a16="http://schemas.microsoft.com/office/drawing/2014/main" val="10001"/>
                  </a:ext>
                </a:extLst>
              </a:tr>
              <a:tr h="433552">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3552">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extLst>
                  <a:ext uri="{0D108BD9-81ED-4DB2-BD59-A6C34878D82A}">
                    <a16:rowId xmlns:a16="http://schemas.microsoft.com/office/drawing/2014/main" val="10003"/>
                  </a:ext>
                </a:extLst>
              </a:tr>
              <a:tr h="433552">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43" name="Rectangle 42"/>
          <p:cNvSpPr/>
          <p:nvPr/>
        </p:nvSpPr>
        <p:spPr>
          <a:xfrm>
            <a:off x="3962400" y="1219200"/>
            <a:ext cx="1013611" cy="369332"/>
          </a:xfrm>
          <a:prstGeom prst="rect">
            <a:avLst/>
          </a:prstGeom>
        </p:spPr>
        <p:txBody>
          <a:bodyPr wrap="square">
            <a:spAutoFit/>
          </a:bodyPr>
          <a:lstStyle/>
          <a:p>
            <a:r>
              <a:rPr lang="en-US" dirty="0" smtClean="0"/>
              <a:t>premises</a:t>
            </a:r>
            <a:endParaRPr lang="en-US" dirty="0"/>
          </a:p>
        </p:txBody>
      </p:sp>
      <p:sp>
        <p:nvSpPr>
          <p:cNvPr id="44" name="Rectangle 43"/>
          <p:cNvSpPr/>
          <p:nvPr/>
        </p:nvSpPr>
        <p:spPr>
          <a:xfrm>
            <a:off x="5181600" y="1219200"/>
            <a:ext cx="1176925" cy="369332"/>
          </a:xfrm>
          <a:prstGeom prst="rect">
            <a:avLst/>
          </a:prstGeom>
        </p:spPr>
        <p:txBody>
          <a:bodyPr wrap="none">
            <a:spAutoFit/>
          </a:bodyPr>
          <a:lstStyle/>
          <a:p>
            <a:r>
              <a:rPr lang="en-US" dirty="0" smtClean="0"/>
              <a:t>conclusion</a:t>
            </a:r>
            <a:endParaRPr lang="en-US" dirty="0"/>
          </a:p>
        </p:txBody>
      </p:sp>
      <p:cxnSp>
        <p:nvCxnSpPr>
          <p:cNvPr id="46" name="Straight Arrow Connector 45"/>
          <p:cNvCxnSpPr>
            <a:stCxn id="43" idx="2"/>
          </p:cNvCxnSpPr>
          <p:nvPr/>
        </p:nvCxnSpPr>
        <p:spPr>
          <a:xfrm rot="5400000">
            <a:off x="3790869" y="1836263"/>
            <a:ext cx="926068" cy="43060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43" idx="2"/>
          </p:cNvCxnSpPr>
          <p:nvPr/>
        </p:nvCxnSpPr>
        <p:spPr>
          <a:xfrm rot="16200000" flipH="1">
            <a:off x="4209969" y="1847769"/>
            <a:ext cx="926068" cy="4075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rot="5400000">
            <a:off x="5219700" y="2019300"/>
            <a:ext cx="838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2" name="Rectangle 51"/>
          <p:cNvSpPr/>
          <p:nvPr/>
        </p:nvSpPr>
        <p:spPr>
          <a:xfrm>
            <a:off x="7162800" y="3581400"/>
            <a:ext cx="1247457" cy="369332"/>
          </a:xfrm>
          <a:prstGeom prst="rect">
            <a:avLst/>
          </a:prstGeom>
        </p:spPr>
        <p:txBody>
          <a:bodyPr wrap="none">
            <a:spAutoFit/>
          </a:bodyPr>
          <a:lstStyle/>
          <a:p>
            <a:r>
              <a:rPr lang="en-US" dirty="0" smtClean="0"/>
              <a:t>critical row</a:t>
            </a:r>
            <a:endParaRPr lang="en-US" dirty="0"/>
          </a:p>
        </p:txBody>
      </p:sp>
      <p:cxnSp>
        <p:nvCxnSpPr>
          <p:cNvPr id="54" name="Straight Arrow Connector 53"/>
          <p:cNvCxnSpPr>
            <a:stCxn id="52" idx="1"/>
          </p:cNvCxnSpPr>
          <p:nvPr/>
        </p:nvCxnSpPr>
        <p:spPr>
          <a:xfrm rot="10800000">
            <a:off x="5791200" y="3352800"/>
            <a:ext cx="1371600" cy="4132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52" idx="1"/>
          </p:cNvCxnSpPr>
          <p:nvPr/>
        </p:nvCxnSpPr>
        <p:spPr>
          <a:xfrm rot="10800000" flipV="1">
            <a:off x="5791200" y="3766066"/>
            <a:ext cx="1371600" cy="5773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7" name="Rectangle 56"/>
          <p:cNvSpPr/>
          <p:nvPr/>
        </p:nvSpPr>
        <p:spPr>
          <a:xfrm>
            <a:off x="1447800" y="4804236"/>
            <a:ext cx="5562600" cy="990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This argument is not valid.</a:t>
            </a:r>
            <a:endParaRPr lang="en-US"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602"/>
                                        </p:tgtEl>
                                        <p:attrNameLst>
                                          <p:attrName>style.visibility</p:attrName>
                                        </p:attrNameLst>
                                      </p:cBhvr>
                                      <p:to>
                                        <p:strVal val="visible"/>
                                      </p:to>
                                    </p:set>
                                    <p:animEffect transition="in" filter="fade">
                                      <p:cBhvr>
                                        <p:cTn id="7" dur="2000"/>
                                        <p:tgtEl>
                                          <p:spTgt spid="256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fade">
                                      <p:cBhvr>
                                        <p:cTn id="12" dur="2000"/>
                                        <p:tgtEl>
                                          <p:spTgt spid="46"/>
                                        </p:tgtEl>
                                      </p:cBhvr>
                                    </p:animEffect>
                                  </p:childTnLst>
                                </p:cTn>
                              </p:par>
                              <p:par>
                                <p:cTn id="13" presetID="10" presetClass="entr" presetSubtype="0" fill="hold" nodeType="withEffect">
                                  <p:stCondLst>
                                    <p:cond delay="0"/>
                                  </p:stCondLst>
                                  <p:childTnLst>
                                    <p:set>
                                      <p:cBhvr>
                                        <p:cTn id="14" dur="1" fill="hold">
                                          <p:stCondLst>
                                            <p:cond delay="0"/>
                                          </p:stCondLst>
                                        </p:cTn>
                                        <p:tgtEl>
                                          <p:spTgt spid="48"/>
                                        </p:tgtEl>
                                        <p:attrNameLst>
                                          <p:attrName>style.visibility</p:attrName>
                                        </p:attrNameLst>
                                      </p:cBhvr>
                                      <p:to>
                                        <p:strVal val="visible"/>
                                      </p:to>
                                    </p:set>
                                    <p:animEffect transition="in" filter="fade">
                                      <p:cBhvr>
                                        <p:cTn id="15" dur="2000"/>
                                        <p:tgtEl>
                                          <p:spTgt spid="4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3"/>
                                        </p:tgtEl>
                                        <p:attrNameLst>
                                          <p:attrName>style.visibility</p:attrName>
                                        </p:attrNameLst>
                                      </p:cBhvr>
                                      <p:to>
                                        <p:strVal val="visible"/>
                                      </p:to>
                                    </p:set>
                                    <p:animEffect transition="in" filter="fade">
                                      <p:cBhvr>
                                        <p:cTn id="18" dur="2000"/>
                                        <p:tgtEl>
                                          <p:spTgt spid="4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4"/>
                                        </p:tgtEl>
                                        <p:attrNameLst>
                                          <p:attrName>style.visibility</p:attrName>
                                        </p:attrNameLst>
                                      </p:cBhvr>
                                      <p:to>
                                        <p:strVal val="visible"/>
                                      </p:to>
                                    </p:set>
                                    <p:animEffect transition="in" filter="fade">
                                      <p:cBhvr>
                                        <p:cTn id="21" dur="2000"/>
                                        <p:tgtEl>
                                          <p:spTgt spid="44"/>
                                        </p:tgtEl>
                                      </p:cBhvr>
                                    </p:animEffect>
                                  </p:childTnLst>
                                </p:cTn>
                              </p:par>
                              <p:par>
                                <p:cTn id="22" presetID="10" presetClass="entr" presetSubtype="0" fill="hold" nodeType="withEffect">
                                  <p:stCondLst>
                                    <p:cond delay="0"/>
                                  </p:stCondLst>
                                  <p:childTnLst>
                                    <p:set>
                                      <p:cBhvr>
                                        <p:cTn id="23" dur="1" fill="hold">
                                          <p:stCondLst>
                                            <p:cond delay="0"/>
                                          </p:stCondLst>
                                        </p:cTn>
                                        <p:tgtEl>
                                          <p:spTgt spid="50"/>
                                        </p:tgtEl>
                                        <p:attrNameLst>
                                          <p:attrName>style.visibility</p:attrName>
                                        </p:attrNameLst>
                                      </p:cBhvr>
                                      <p:to>
                                        <p:strVal val="visible"/>
                                      </p:to>
                                    </p:set>
                                    <p:animEffect transition="in" filter="fade">
                                      <p:cBhvr>
                                        <p:cTn id="24" dur="2000"/>
                                        <p:tgtEl>
                                          <p:spTgt spid="50"/>
                                        </p:tgtEl>
                                      </p:cBhvr>
                                    </p:animEffect>
                                  </p:childTnLst>
                                </p:cTn>
                              </p:par>
                              <p:par>
                                <p:cTn id="25" presetID="10" presetClass="entr" presetSubtype="0" fill="hold" nodeType="withEffect">
                                  <p:stCondLst>
                                    <p:cond delay="0"/>
                                  </p:stCondLst>
                                  <p:childTnLst>
                                    <p:set>
                                      <p:cBhvr>
                                        <p:cTn id="26" dur="1" fill="hold">
                                          <p:stCondLst>
                                            <p:cond delay="0"/>
                                          </p:stCondLst>
                                        </p:cTn>
                                        <p:tgtEl>
                                          <p:spTgt spid="54"/>
                                        </p:tgtEl>
                                        <p:attrNameLst>
                                          <p:attrName>style.visibility</p:attrName>
                                        </p:attrNameLst>
                                      </p:cBhvr>
                                      <p:to>
                                        <p:strVal val="visible"/>
                                      </p:to>
                                    </p:set>
                                    <p:animEffect transition="in" filter="fade">
                                      <p:cBhvr>
                                        <p:cTn id="27" dur="2000"/>
                                        <p:tgtEl>
                                          <p:spTgt spid="54"/>
                                        </p:tgtEl>
                                      </p:cBhvr>
                                    </p:animEffect>
                                  </p:childTnLst>
                                </p:cTn>
                              </p:par>
                              <p:par>
                                <p:cTn id="28" presetID="10" presetClass="entr" presetSubtype="0" fill="hold" nodeType="withEffect">
                                  <p:stCondLst>
                                    <p:cond delay="0"/>
                                  </p:stCondLst>
                                  <p:childTnLst>
                                    <p:set>
                                      <p:cBhvr>
                                        <p:cTn id="29" dur="1" fill="hold">
                                          <p:stCondLst>
                                            <p:cond delay="0"/>
                                          </p:stCondLst>
                                        </p:cTn>
                                        <p:tgtEl>
                                          <p:spTgt spid="56"/>
                                        </p:tgtEl>
                                        <p:attrNameLst>
                                          <p:attrName>style.visibility</p:attrName>
                                        </p:attrNameLst>
                                      </p:cBhvr>
                                      <p:to>
                                        <p:strVal val="visible"/>
                                      </p:to>
                                    </p:set>
                                    <p:animEffect transition="in" filter="fade">
                                      <p:cBhvr>
                                        <p:cTn id="30" dur="2000"/>
                                        <p:tgtEl>
                                          <p:spTgt spid="5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52"/>
                                        </p:tgtEl>
                                        <p:attrNameLst>
                                          <p:attrName>style.visibility</p:attrName>
                                        </p:attrNameLst>
                                      </p:cBhvr>
                                      <p:to>
                                        <p:strVal val="visible"/>
                                      </p:to>
                                    </p:set>
                                    <p:animEffect transition="in" filter="fade">
                                      <p:cBhvr>
                                        <p:cTn id="33" dur="2000"/>
                                        <p:tgtEl>
                                          <p:spTgt spid="5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57"/>
                                        </p:tgtEl>
                                        <p:attrNameLst>
                                          <p:attrName>style.visibility</p:attrName>
                                        </p:attrNameLst>
                                      </p:cBhvr>
                                      <p:to>
                                        <p:strVal val="visible"/>
                                      </p:to>
                                    </p:set>
                                    <p:animEffect transition="in" filter="fade">
                                      <p:cBhvr>
                                        <p:cTn id="36" dur="20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52" grpId="0"/>
      <p:bldP spid="5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C00000"/>
                </a:solidFill>
              </a:rPr>
              <a:t>EXERCISE</a:t>
            </a:r>
            <a:endParaRPr lang="en-US" dirty="0">
              <a:solidFill>
                <a:srgbClr val="C00000"/>
              </a:solidFill>
            </a:endParaRPr>
          </a:p>
        </p:txBody>
      </p:sp>
      <p:sp>
        <p:nvSpPr>
          <p:cNvPr id="3" name="Content Placeholder 2"/>
          <p:cNvSpPr>
            <a:spLocks noGrp="1"/>
          </p:cNvSpPr>
          <p:nvPr>
            <p:ph sz="quarter" idx="1"/>
          </p:nvPr>
        </p:nvSpPr>
        <p:spPr/>
        <p:txBody>
          <a:bodyPr/>
          <a:lstStyle/>
          <a:p>
            <a:r>
              <a:rPr lang="en-US" dirty="0" smtClean="0"/>
              <a:t>Use truth table to determine the argument form </a:t>
            </a:r>
          </a:p>
          <a:p>
            <a:endParaRPr lang="en-US" dirty="0" smtClean="0"/>
          </a:p>
          <a:p>
            <a:pPr>
              <a:buNone/>
            </a:pPr>
            <a:r>
              <a:rPr lang="en-US" b="1" dirty="0" smtClean="0"/>
              <a:t>	                 p </a:t>
            </a:r>
            <a:r>
              <a:rPr lang="en-US" b="1" dirty="0" smtClean="0">
                <a:sym typeface="Symbol"/>
              </a:rPr>
              <a:t></a:t>
            </a:r>
            <a:r>
              <a:rPr lang="en-US" b="1" dirty="0" smtClean="0"/>
              <a:t> q		</a:t>
            </a:r>
            <a:r>
              <a:rPr lang="en-US" dirty="0" smtClean="0">
                <a:solidFill>
                  <a:srgbClr val="C00000"/>
                </a:solidFill>
              </a:rPr>
              <a:t>premise</a:t>
            </a:r>
          </a:p>
          <a:p>
            <a:pPr>
              <a:buNone/>
            </a:pPr>
            <a:r>
              <a:rPr lang="en-US" b="1" dirty="0" smtClean="0"/>
              <a:t>			p </a:t>
            </a:r>
            <a:r>
              <a:rPr lang="en-US" b="1" dirty="0" smtClean="0">
                <a:sym typeface="Symbol"/>
              </a:rPr>
              <a:t></a:t>
            </a:r>
            <a:r>
              <a:rPr lang="en-US" b="1" dirty="0" smtClean="0"/>
              <a:t> ~q	</a:t>
            </a:r>
            <a:r>
              <a:rPr lang="en-US" dirty="0" smtClean="0">
                <a:solidFill>
                  <a:srgbClr val="C00000"/>
                </a:solidFill>
              </a:rPr>
              <a:t>premise</a:t>
            </a:r>
          </a:p>
          <a:p>
            <a:pPr>
              <a:buNone/>
            </a:pPr>
            <a:r>
              <a:rPr lang="en-US" b="1" dirty="0" smtClean="0"/>
              <a:t>			p </a:t>
            </a:r>
            <a:r>
              <a:rPr lang="en-US" b="1" dirty="0" smtClean="0">
                <a:sym typeface="Symbol"/>
              </a:rPr>
              <a:t></a:t>
            </a:r>
            <a:r>
              <a:rPr lang="en-US" b="1" dirty="0" smtClean="0"/>
              <a:t> r		</a:t>
            </a:r>
            <a:r>
              <a:rPr lang="en-US" dirty="0" smtClean="0">
                <a:solidFill>
                  <a:srgbClr val="C00000"/>
                </a:solidFill>
              </a:rPr>
              <a:t>premise</a:t>
            </a:r>
          </a:p>
          <a:p>
            <a:pPr>
              <a:buNone/>
            </a:pPr>
            <a:r>
              <a:rPr lang="en-US" b="1" dirty="0" smtClean="0"/>
              <a:t>	                        r		</a:t>
            </a:r>
            <a:r>
              <a:rPr lang="en-US" dirty="0" smtClean="0">
                <a:solidFill>
                  <a:srgbClr val="C00000"/>
                </a:solidFill>
              </a:rPr>
              <a:t>conclusion</a:t>
            </a:r>
            <a:r>
              <a:rPr lang="en-US" b="1" dirty="0" smtClean="0">
                <a:solidFill>
                  <a:srgbClr val="C00000"/>
                </a:solidFill>
              </a:rPr>
              <a:t> </a:t>
            </a:r>
          </a:p>
          <a:p>
            <a:endParaRPr lang="en-US" b="1" dirty="0" smtClean="0"/>
          </a:p>
          <a:p>
            <a:r>
              <a:rPr lang="en-US" dirty="0" smtClean="0"/>
              <a:t>Is valid or invalid?</a:t>
            </a:r>
          </a:p>
          <a:p>
            <a:endParaRPr lang="en-US" dirty="0"/>
          </a:p>
        </p:txBody>
      </p:sp>
      <p:graphicFrame>
        <p:nvGraphicFramePr>
          <p:cNvPr id="26627" name="Object 3"/>
          <p:cNvGraphicFramePr>
            <a:graphicFrameLocks noChangeAspect="1"/>
          </p:cNvGraphicFramePr>
          <p:nvPr/>
        </p:nvGraphicFramePr>
        <p:xfrm>
          <a:off x="2286000" y="3657600"/>
          <a:ext cx="457200" cy="381000"/>
        </p:xfrm>
        <a:graphic>
          <a:graphicData uri="http://schemas.openxmlformats.org/presentationml/2006/ole">
            <mc:AlternateContent xmlns:mc="http://schemas.openxmlformats.org/markup-compatibility/2006">
              <mc:Choice xmlns:v="urn:schemas-microsoft-com:vml" Requires="v">
                <p:oleObj spid="_x0000_s26632" name="Equation" r:id="rId3" imgW="139680" imgH="126720" progId="Equation.3">
                  <p:embed/>
                </p:oleObj>
              </mc:Choice>
              <mc:Fallback>
                <p:oleObj name="Equation" r:id="rId3" imgW="139680" imgH="126720" progId="Equation.3">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3657600"/>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graphicFrame>
        <p:nvGraphicFramePr>
          <p:cNvPr id="27650" name="Group 2"/>
          <p:cNvGraphicFramePr>
            <a:graphicFrameLocks noGrp="1"/>
          </p:cNvGraphicFramePr>
          <p:nvPr/>
        </p:nvGraphicFramePr>
        <p:xfrm>
          <a:off x="838200" y="1828800"/>
          <a:ext cx="5352142" cy="4210730"/>
        </p:xfrm>
        <a:graphic>
          <a:graphicData uri="http://schemas.openxmlformats.org/drawingml/2006/table">
            <a:tbl>
              <a:tblPr/>
              <a:tblGrid>
                <a:gridCol w="486558">
                  <a:extLst>
                    <a:ext uri="{9D8B030D-6E8A-4147-A177-3AD203B41FA5}">
                      <a16:colId xmlns:a16="http://schemas.microsoft.com/office/drawing/2014/main" val="20000"/>
                    </a:ext>
                  </a:extLst>
                </a:gridCol>
                <a:gridCol w="486558">
                  <a:extLst>
                    <a:ext uri="{9D8B030D-6E8A-4147-A177-3AD203B41FA5}">
                      <a16:colId xmlns:a16="http://schemas.microsoft.com/office/drawing/2014/main" val="20001"/>
                    </a:ext>
                  </a:extLst>
                </a:gridCol>
                <a:gridCol w="583870">
                  <a:extLst>
                    <a:ext uri="{9D8B030D-6E8A-4147-A177-3AD203B41FA5}">
                      <a16:colId xmlns:a16="http://schemas.microsoft.com/office/drawing/2014/main" val="20002"/>
                    </a:ext>
                  </a:extLst>
                </a:gridCol>
                <a:gridCol w="881413">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551543">
                  <a:extLst>
                    <a:ext uri="{9D8B030D-6E8A-4147-A177-3AD203B41FA5}">
                      <a16:colId xmlns:a16="http://schemas.microsoft.com/office/drawing/2014/main" val="20006"/>
                    </a:ext>
                  </a:extLst>
                </a:gridCol>
              </a:tblGrid>
              <a:tr h="55313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p</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r</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p  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p ~q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p  r</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r</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30598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598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598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extLst>
                  <a:ext uri="{0D108BD9-81ED-4DB2-BD59-A6C34878D82A}">
                    <a16:rowId xmlns:a16="http://schemas.microsoft.com/office/drawing/2014/main" val="10003"/>
                  </a:ext>
                </a:extLst>
              </a:tr>
              <a:tr h="328294">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598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extLst>
                  <a:ext uri="{0D108BD9-81ED-4DB2-BD59-A6C34878D82A}">
                    <a16:rowId xmlns:a16="http://schemas.microsoft.com/office/drawing/2014/main" val="10005"/>
                  </a:ext>
                </a:extLst>
              </a:tr>
              <a:tr h="30598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extLst>
                  <a:ext uri="{0D108BD9-81ED-4DB2-BD59-A6C34878D82A}">
                    <a16:rowId xmlns:a16="http://schemas.microsoft.com/office/drawing/2014/main" val="10006"/>
                  </a:ext>
                </a:extLst>
              </a:tr>
              <a:tr h="30598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0598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87" name="Rectangle 86"/>
          <p:cNvSpPr/>
          <p:nvPr/>
        </p:nvSpPr>
        <p:spPr>
          <a:xfrm>
            <a:off x="3429000" y="381000"/>
            <a:ext cx="1107996" cy="369332"/>
          </a:xfrm>
          <a:prstGeom prst="rect">
            <a:avLst/>
          </a:prstGeom>
        </p:spPr>
        <p:txBody>
          <a:bodyPr wrap="none">
            <a:spAutoFit/>
          </a:bodyPr>
          <a:lstStyle/>
          <a:p>
            <a:r>
              <a:rPr lang="en-US" dirty="0" smtClean="0"/>
              <a:t>premises	</a:t>
            </a:r>
            <a:endParaRPr lang="en-US" dirty="0"/>
          </a:p>
        </p:txBody>
      </p:sp>
      <p:cxnSp>
        <p:nvCxnSpPr>
          <p:cNvPr id="89" name="Straight Arrow Connector 88"/>
          <p:cNvCxnSpPr/>
          <p:nvPr/>
        </p:nvCxnSpPr>
        <p:spPr>
          <a:xfrm rot="5400000">
            <a:off x="2857500" y="876300"/>
            <a:ext cx="990600" cy="914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1" name="Straight Arrow Connector 90"/>
          <p:cNvCxnSpPr/>
          <p:nvPr/>
        </p:nvCxnSpPr>
        <p:spPr>
          <a:xfrm rot="5400000">
            <a:off x="3467894" y="1332706"/>
            <a:ext cx="990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3" name="Straight Arrow Connector 92"/>
          <p:cNvCxnSpPr/>
          <p:nvPr/>
        </p:nvCxnSpPr>
        <p:spPr>
          <a:xfrm rot="16200000" flipH="1">
            <a:off x="4136767" y="816233"/>
            <a:ext cx="1002268" cy="104620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4" name="Rectangle 93"/>
          <p:cNvSpPr/>
          <p:nvPr/>
        </p:nvSpPr>
        <p:spPr>
          <a:xfrm>
            <a:off x="5334000" y="685800"/>
            <a:ext cx="1176925" cy="369332"/>
          </a:xfrm>
          <a:prstGeom prst="rect">
            <a:avLst/>
          </a:prstGeom>
        </p:spPr>
        <p:txBody>
          <a:bodyPr wrap="square">
            <a:spAutoFit/>
          </a:bodyPr>
          <a:lstStyle/>
          <a:p>
            <a:r>
              <a:rPr lang="en-US" dirty="0" smtClean="0"/>
              <a:t>conclusion</a:t>
            </a:r>
            <a:endParaRPr lang="en-US" dirty="0"/>
          </a:p>
        </p:txBody>
      </p:sp>
      <p:cxnSp>
        <p:nvCxnSpPr>
          <p:cNvPr id="96" name="Straight Arrow Connector 95"/>
          <p:cNvCxnSpPr/>
          <p:nvPr/>
        </p:nvCxnSpPr>
        <p:spPr>
          <a:xfrm rot="5400000">
            <a:off x="5568836" y="1437934"/>
            <a:ext cx="685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7" name="Rectangle 96"/>
          <p:cNvSpPr/>
          <p:nvPr/>
        </p:nvSpPr>
        <p:spPr>
          <a:xfrm>
            <a:off x="7543800" y="3886200"/>
            <a:ext cx="1405525" cy="369332"/>
          </a:xfrm>
          <a:prstGeom prst="rect">
            <a:avLst/>
          </a:prstGeom>
        </p:spPr>
        <p:txBody>
          <a:bodyPr wrap="square">
            <a:spAutoFit/>
          </a:bodyPr>
          <a:lstStyle/>
          <a:p>
            <a:r>
              <a:rPr lang="en-US" dirty="0" smtClean="0"/>
              <a:t>critical rows</a:t>
            </a:r>
            <a:endParaRPr lang="en-US" dirty="0"/>
          </a:p>
        </p:txBody>
      </p:sp>
      <p:cxnSp>
        <p:nvCxnSpPr>
          <p:cNvPr id="99" name="Straight Arrow Connector 98"/>
          <p:cNvCxnSpPr>
            <a:stCxn id="97" idx="1"/>
          </p:cNvCxnSpPr>
          <p:nvPr/>
        </p:nvCxnSpPr>
        <p:spPr>
          <a:xfrm rot="10800000">
            <a:off x="6248400" y="3505200"/>
            <a:ext cx="1295400" cy="5656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p:nvPr/>
        </p:nvCxnSpPr>
        <p:spPr>
          <a:xfrm rot="10800000" flipV="1">
            <a:off x="6248400" y="4114800"/>
            <a:ext cx="1295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p:nvPr/>
        </p:nvCxnSpPr>
        <p:spPr>
          <a:xfrm rot="10800000" flipV="1">
            <a:off x="6248400" y="4114800"/>
            <a:ext cx="1295400" cy="7297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4" name="Rectangle 103"/>
          <p:cNvSpPr/>
          <p:nvPr/>
        </p:nvSpPr>
        <p:spPr>
          <a:xfrm>
            <a:off x="6400800" y="5029200"/>
            <a:ext cx="24384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rPr>
              <a:t>The argument is not valid because all corresponding values in conclusion are not T</a:t>
            </a:r>
            <a:endParaRPr lang="en-US"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9"/>
                                        </p:tgtEl>
                                        <p:attrNameLst>
                                          <p:attrName>style.visibility</p:attrName>
                                        </p:attrNameLst>
                                      </p:cBhvr>
                                      <p:to>
                                        <p:strVal val="visible"/>
                                      </p:to>
                                    </p:set>
                                    <p:animEffect transition="in" filter="fade">
                                      <p:cBhvr>
                                        <p:cTn id="7" dur="2000"/>
                                        <p:tgtEl>
                                          <p:spTgt spid="89"/>
                                        </p:tgtEl>
                                      </p:cBhvr>
                                    </p:animEffect>
                                  </p:childTnLst>
                                </p:cTn>
                              </p:par>
                              <p:par>
                                <p:cTn id="8" presetID="10" presetClass="entr" presetSubtype="0" fill="hold" nodeType="withEffect">
                                  <p:stCondLst>
                                    <p:cond delay="0"/>
                                  </p:stCondLst>
                                  <p:childTnLst>
                                    <p:set>
                                      <p:cBhvr>
                                        <p:cTn id="9" dur="1" fill="hold">
                                          <p:stCondLst>
                                            <p:cond delay="0"/>
                                          </p:stCondLst>
                                        </p:cTn>
                                        <p:tgtEl>
                                          <p:spTgt spid="91"/>
                                        </p:tgtEl>
                                        <p:attrNameLst>
                                          <p:attrName>style.visibility</p:attrName>
                                        </p:attrNameLst>
                                      </p:cBhvr>
                                      <p:to>
                                        <p:strVal val="visible"/>
                                      </p:to>
                                    </p:set>
                                    <p:animEffect transition="in" filter="fade">
                                      <p:cBhvr>
                                        <p:cTn id="10" dur="2000"/>
                                        <p:tgtEl>
                                          <p:spTgt spid="91"/>
                                        </p:tgtEl>
                                      </p:cBhvr>
                                    </p:animEffect>
                                  </p:childTnLst>
                                </p:cTn>
                              </p:par>
                              <p:par>
                                <p:cTn id="11" presetID="10" presetClass="entr" presetSubtype="0" fill="hold" nodeType="withEffect">
                                  <p:stCondLst>
                                    <p:cond delay="0"/>
                                  </p:stCondLst>
                                  <p:childTnLst>
                                    <p:set>
                                      <p:cBhvr>
                                        <p:cTn id="12" dur="1" fill="hold">
                                          <p:stCondLst>
                                            <p:cond delay="0"/>
                                          </p:stCondLst>
                                        </p:cTn>
                                        <p:tgtEl>
                                          <p:spTgt spid="93"/>
                                        </p:tgtEl>
                                        <p:attrNameLst>
                                          <p:attrName>style.visibility</p:attrName>
                                        </p:attrNameLst>
                                      </p:cBhvr>
                                      <p:to>
                                        <p:strVal val="visible"/>
                                      </p:to>
                                    </p:set>
                                    <p:animEffect transition="in" filter="fade">
                                      <p:cBhvr>
                                        <p:cTn id="13" dur="2000"/>
                                        <p:tgtEl>
                                          <p:spTgt spid="9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7"/>
                                        </p:tgtEl>
                                        <p:attrNameLst>
                                          <p:attrName>style.visibility</p:attrName>
                                        </p:attrNameLst>
                                      </p:cBhvr>
                                      <p:to>
                                        <p:strVal val="visible"/>
                                      </p:to>
                                    </p:set>
                                    <p:animEffect transition="in" filter="fade">
                                      <p:cBhvr>
                                        <p:cTn id="16" dur="2000"/>
                                        <p:tgtEl>
                                          <p:spTgt spid="8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4"/>
                                        </p:tgtEl>
                                        <p:attrNameLst>
                                          <p:attrName>style.visibility</p:attrName>
                                        </p:attrNameLst>
                                      </p:cBhvr>
                                      <p:to>
                                        <p:strVal val="visible"/>
                                      </p:to>
                                    </p:set>
                                    <p:animEffect transition="in" filter="fade">
                                      <p:cBhvr>
                                        <p:cTn id="19" dur="2000"/>
                                        <p:tgtEl>
                                          <p:spTgt spid="94"/>
                                        </p:tgtEl>
                                      </p:cBhvr>
                                    </p:animEffect>
                                  </p:childTnLst>
                                </p:cTn>
                              </p:par>
                              <p:par>
                                <p:cTn id="20" presetID="10" presetClass="entr" presetSubtype="0" fill="hold" nodeType="withEffect">
                                  <p:stCondLst>
                                    <p:cond delay="0"/>
                                  </p:stCondLst>
                                  <p:childTnLst>
                                    <p:set>
                                      <p:cBhvr>
                                        <p:cTn id="21" dur="1" fill="hold">
                                          <p:stCondLst>
                                            <p:cond delay="0"/>
                                          </p:stCondLst>
                                        </p:cTn>
                                        <p:tgtEl>
                                          <p:spTgt spid="96"/>
                                        </p:tgtEl>
                                        <p:attrNameLst>
                                          <p:attrName>style.visibility</p:attrName>
                                        </p:attrNameLst>
                                      </p:cBhvr>
                                      <p:to>
                                        <p:strVal val="visible"/>
                                      </p:to>
                                    </p:set>
                                    <p:animEffect transition="in" filter="fade">
                                      <p:cBhvr>
                                        <p:cTn id="22" dur="2000"/>
                                        <p:tgtEl>
                                          <p:spTgt spid="96"/>
                                        </p:tgtEl>
                                      </p:cBhvr>
                                    </p:animEffect>
                                  </p:childTnLst>
                                </p:cTn>
                              </p:par>
                              <p:par>
                                <p:cTn id="23" presetID="10" presetClass="entr" presetSubtype="0" fill="hold" nodeType="withEffect">
                                  <p:stCondLst>
                                    <p:cond delay="0"/>
                                  </p:stCondLst>
                                  <p:childTnLst>
                                    <p:set>
                                      <p:cBhvr>
                                        <p:cTn id="24" dur="1" fill="hold">
                                          <p:stCondLst>
                                            <p:cond delay="0"/>
                                          </p:stCondLst>
                                        </p:cTn>
                                        <p:tgtEl>
                                          <p:spTgt spid="99"/>
                                        </p:tgtEl>
                                        <p:attrNameLst>
                                          <p:attrName>style.visibility</p:attrName>
                                        </p:attrNameLst>
                                      </p:cBhvr>
                                      <p:to>
                                        <p:strVal val="visible"/>
                                      </p:to>
                                    </p:set>
                                    <p:animEffect transition="in" filter="fade">
                                      <p:cBhvr>
                                        <p:cTn id="25" dur="2000"/>
                                        <p:tgtEl>
                                          <p:spTgt spid="99"/>
                                        </p:tgtEl>
                                      </p:cBhvr>
                                    </p:animEffect>
                                  </p:childTnLst>
                                </p:cTn>
                              </p:par>
                              <p:par>
                                <p:cTn id="26" presetID="10" presetClass="entr" presetSubtype="0" fill="hold" nodeType="withEffect">
                                  <p:stCondLst>
                                    <p:cond delay="0"/>
                                  </p:stCondLst>
                                  <p:childTnLst>
                                    <p:set>
                                      <p:cBhvr>
                                        <p:cTn id="27" dur="1" fill="hold">
                                          <p:stCondLst>
                                            <p:cond delay="0"/>
                                          </p:stCondLst>
                                        </p:cTn>
                                        <p:tgtEl>
                                          <p:spTgt spid="101"/>
                                        </p:tgtEl>
                                        <p:attrNameLst>
                                          <p:attrName>style.visibility</p:attrName>
                                        </p:attrNameLst>
                                      </p:cBhvr>
                                      <p:to>
                                        <p:strVal val="visible"/>
                                      </p:to>
                                    </p:set>
                                    <p:animEffect transition="in" filter="fade">
                                      <p:cBhvr>
                                        <p:cTn id="28" dur="2000"/>
                                        <p:tgtEl>
                                          <p:spTgt spid="101"/>
                                        </p:tgtEl>
                                      </p:cBhvr>
                                    </p:animEffect>
                                  </p:childTnLst>
                                </p:cTn>
                              </p:par>
                              <p:par>
                                <p:cTn id="29" presetID="10" presetClass="entr" presetSubtype="0" fill="hold" nodeType="withEffect">
                                  <p:stCondLst>
                                    <p:cond delay="0"/>
                                  </p:stCondLst>
                                  <p:childTnLst>
                                    <p:set>
                                      <p:cBhvr>
                                        <p:cTn id="30" dur="1" fill="hold">
                                          <p:stCondLst>
                                            <p:cond delay="0"/>
                                          </p:stCondLst>
                                        </p:cTn>
                                        <p:tgtEl>
                                          <p:spTgt spid="103"/>
                                        </p:tgtEl>
                                        <p:attrNameLst>
                                          <p:attrName>style.visibility</p:attrName>
                                        </p:attrNameLst>
                                      </p:cBhvr>
                                      <p:to>
                                        <p:strVal val="visible"/>
                                      </p:to>
                                    </p:set>
                                    <p:animEffect transition="in" filter="fade">
                                      <p:cBhvr>
                                        <p:cTn id="31" dur="2000"/>
                                        <p:tgtEl>
                                          <p:spTgt spid="10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97"/>
                                        </p:tgtEl>
                                        <p:attrNameLst>
                                          <p:attrName>style.visibility</p:attrName>
                                        </p:attrNameLst>
                                      </p:cBhvr>
                                      <p:to>
                                        <p:strVal val="visible"/>
                                      </p:to>
                                    </p:set>
                                    <p:animEffect transition="in" filter="fade">
                                      <p:cBhvr>
                                        <p:cTn id="34" dur="2000"/>
                                        <p:tgtEl>
                                          <p:spTgt spid="9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04"/>
                                        </p:tgtEl>
                                        <p:attrNameLst>
                                          <p:attrName>style.visibility</p:attrName>
                                        </p:attrNameLst>
                                      </p:cBhvr>
                                      <p:to>
                                        <p:strVal val="visible"/>
                                      </p:to>
                                    </p:set>
                                    <p:animEffect transition="in" filter="fade">
                                      <p:cBhvr>
                                        <p:cTn id="37" dur="20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p:bldP spid="94" grpId="0"/>
      <p:bldP spid="97" grpId="0"/>
      <p:bldP spid="10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C00000"/>
                </a:solidFill>
              </a:rPr>
              <a:t>WORD PROBLEM</a:t>
            </a:r>
            <a:endParaRPr lang="en-US" u="sng" dirty="0">
              <a:solidFill>
                <a:srgbClr val="C00000"/>
              </a:solidFill>
            </a:endParaRPr>
          </a:p>
        </p:txBody>
      </p:sp>
      <p:sp>
        <p:nvSpPr>
          <p:cNvPr id="3" name="Content Placeholder 2"/>
          <p:cNvSpPr>
            <a:spLocks noGrp="1"/>
          </p:cNvSpPr>
          <p:nvPr>
            <p:ph sz="quarter" idx="1"/>
          </p:nvPr>
        </p:nvSpPr>
        <p:spPr/>
        <p:txBody>
          <a:bodyPr>
            <a:normAutofit fontScale="92500" lnSpcReduction="10000"/>
          </a:bodyPr>
          <a:lstStyle/>
          <a:p>
            <a:r>
              <a:rPr lang="en-US" dirty="0" smtClean="0"/>
              <a:t>If Tariq is not on team A, then </a:t>
            </a:r>
            <a:r>
              <a:rPr lang="en-US" dirty="0" err="1" smtClean="0"/>
              <a:t>Hameed</a:t>
            </a:r>
            <a:r>
              <a:rPr lang="en-US" dirty="0" smtClean="0"/>
              <a:t> is on team B. </a:t>
            </a:r>
          </a:p>
          <a:p>
            <a:pPr>
              <a:buNone/>
            </a:pPr>
            <a:r>
              <a:rPr lang="en-US" dirty="0" smtClean="0"/>
              <a:t>	If </a:t>
            </a:r>
            <a:r>
              <a:rPr lang="en-US" dirty="0" err="1" smtClean="0"/>
              <a:t>Hameed</a:t>
            </a:r>
            <a:r>
              <a:rPr lang="en-US" dirty="0" smtClean="0"/>
              <a:t> is not on team B, then Tariq is on team A.</a:t>
            </a:r>
          </a:p>
          <a:p>
            <a:pPr>
              <a:buNone/>
            </a:pPr>
            <a:r>
              <a:rPr lang="en-US" dirty="0" smtClean="0"/>
              <a:t>	     Tariq is not on team A or </a:t>
            </a:r>
            <a:r>
              <a:rPr lang="en-US" dirty="0" err="1" smtClean="0"/>
              <a:t>Hameed</a:t>
            </a:r>
            <a:r>
              <a:rPr lang="en-US" dirty="0" smtClean="0"/>
              <a:t> is not on team B.</a:t>
            </a:r>
          </a:p>
          <a:p>
            <a:pPr lvl="2">
              <a:buNone/>
            </a:pPr>
            <a:endParaRPr lang="en-US" dirty="0" smtClean="0"/>
          </a:p>
          <a:p>
            <a:r>
              <a:rPr lang="en-US" sz="2800" b="1" u="sng" dirty="0" smtClean="0">
                <a:solidFill>
                  <a:srgbClr val="C00000"/>
                </a:solidFill>
              </a:rPr>
              <a:t>SOLUTION:</a:t>
            </a:r>
            <a:endParaRPr lang="en-US" sz="2800" dirty="0" smtClean="0">
              <a:solidFill>
                <a:srgbClr val="C00000"/>
              </a:solidFill>
            </a:endParaRPr>
          </a:p>
          <a:p>
            <a:pPr>
              <a:buNone/>
            </a:pPr>
            <a:r>
              <a:rPr lang="en-US" dirty="0" smtClean="0"/>
              <a:t>	Let 	</a:t>
            </a:r>
          </a:p>
          <a:p>
            <a:pPr>
              <a:buNone/>
            </a:pPr>
            <a:r>
              <a:rPr lang="en-US" dirty="0" smtClean="0"/>
              <a:t>			</a:t>
            </a:r>
            <a:r>
              <a:rPr lang="en-US" b="1" dirty="0" smtClean="0">
                <a:solidFill>
                  <a:srgbClr val="C00000"/>
                </a:solidFill>
              </a:rPr>
              <a:t>t</a:t>
            </a:r>
            <a:r>
              <a:rPr lang="en-US" dirty="0" smtClean="0"/>
              <a:t> = Tariq is on team A</a:t>
            </a:r>
          </a:p>
          <a:p>
            <a:pPr>
              <a:buNone/>
            </a:pPr>
            <a:r>
              <a:rPr lang="en-US" dirty="0" smtClean="0"/>
              <a:t>			</a:t>
            </a:r>
            <a:r>
              <a:rPr lang="en-US" b="1" dirty="0" smtClean="0">
                <a:solidFill>
                  <a:srgbClr val="C00000"/>
                </a:solidFill>
              </a:rPr>
              <a:t>h</a:t>
            </a:r>
            <a:r>
              <a:rPr lang="en-US" dirty="0" smtClean="0"/>
              <a:t> = </a:t>
            </a:r>
            <a:r>
              <a:rPr lang="en-US" dirty="0" err="1" smtClean="0"/>
              <a:t>Hameed</a:t>
            </a:r>
            <a:r>
              <a:rPr lang="en-US" dirty="0" smtClean="0"/>
              <a:t> is on team B</a:t>
            </a:r>
          </a:p>
          <a:p>
            <a:pPr>
              <a:buNone/>
            </a:pPr>
            <a:r>
              <a:rPr lang="en-US" dirty="0" smtClean="0"/>
              <a:t>	Then the argument is</a:t>
            </a:r>
          </a:p>
          <a:p>
            <a:pPr>
              <a:buNone/>
            </a:pPr>
            <a:r>
              <a:rPr lang="en-US" sz="2800" dirty="0" smtClean="0"/>
              <a:t>	                        ~ t </a:t>
            </a:r>
            <a:r>
              <a:rPr lang="en-US" sz="2800" dirty="0" smtClean="0">
                <a:sym typeface="Symbol"/>
              </a:rPr>
              <a:t></a:t>
            </a:r>
            <a:r>
              <a:rPr lang="en-US" sz="2800" dirty="0" smtClean="0"/>
              <a:t> h</a:t>
            </a:r>
          </a:p>
          <a:p>
            <a:pPr>
              <a:buNone/>
            </a:pPr>
            <a:r>
              <a:rPr lang="en-US" sz="2800" dirty="0" smtClean="0"/>
              <a:t>		                 ~ h </a:t>
            </a:r>
            <a:r>
              <a:rPr lang="en-US" sz="2800" dirty="0" smtClean="0">
                <a:sym typeface="Symbol"/>
              </a:rPr>
              <a:t></a:t>
            </a:r>
            <a:r>
              <a:rPr lang="en-US" sz="2800" dirty="0" smtClean="0"/>
              <a:t> t</a:t>
            </a:r>
          </a:p>
          <a:p>
            <a:pPr>
              <a:buNone/>
            </a:pPr>
            <a:r>
              <a:rPr lang="en-US" sz="2800" dirty="0" smtClean="0"/>
              <a:t>	                 	</a:t>
            </a:r>
            <a:r>
              <a:rPr lang="en-US" sz="2800" dirty="0" smtClean="0">
                <a:sym typeface="Symbol"/>
              </a:rPr>
              <a:t></a:t>
            </a:r>
            <a:r>
              <a:rPr lang="en-US" sz="2800" dirty="0" smtClean="0"/>
              <a:t> ~ t </a:t>
            </a:r>
            <a:r>
              <a:rPr lang="en-US" sz="2800" dirty="0" smtClean="0">
                <a:sym typeface="Symbol"/>
              </a:rPr>
              <a:t></a:t>
            </a:r>
            <a:r>
              <a:rPr lang="en-US" sz="2800" dirty="0" smtClean="0"/>
              <a:t> ~ h</a:t>
            </a:r>
          </a:p>
          <a:p>
            <a:pPr lvl="2"/>
            <a:endParaRPr lang="en-US" dirty="0" smtClean="0"/>
          </a:p>
          <a:p>
            <a:endParaRPr lang="en-US" dirty="0" smtClean="0"/>
          </a:p>
          <a:p>
            <a:endParaRPr lang="en-US" dirty="0"/>
          </a:p>
        </p:txBody>
      </p:sp>
      <p:graphicFrame>
        <p:nvGraphicFramePr>
          <p:cNvPr id="28675" name="Object 3"/>
          <p:cNvGraphicFramePr>
            <a:graphicFrameLocks noChangeAspect="1"/>
          </p:cNvGraphicFramePr>
          <p:nvPr/>
        </p:nvGraphicFramePr>
        <p:xfrm>
          <a:off x="823686" y="2035626"/>
          <a:ext cx="457200" cy="381000"/>
        </p:xfrm>
        <a:graphic>
          <a:graphicData uri="http://schemas.openxmlformats.org/presentationml/2006/ole">
            <mc:AlternateContent xmlns:mc="http://schemas.openxmlformats.org/markup-compatibility/2006">
              <mc:Choice xmlns:v="urn:schemas-microsoft-com:vml" Requires="v">
                <p:oleObj spid="_x0000_s28680" name="Equation" r:id="rId3" imgW="139680" imgH="126720" progId="Equation.3">
                  <p:embed/>
                </p:oleObj>
              </mc:Choice>
              <mc:Fallback>
                <p:oleObj name="Equation" r:id="rId3" imgW="139680" imgH="126720" progId="Equation.3">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3686" y="2035626"/>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20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20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20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20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2000"/>
                                        <p:tgtEl>
                                          <p:spTgt spid="3">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animEffect transition="in" filter="fade">
                                      <p:cBhvr>
                                        <p:cTn id="57" dur="20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sz="quarter" idx="1"/>
          </p:nvPr>
        </p:nvGraphicFramePr>
        <p:xfrm>
          <a:off x="2057400" y="1828800"/>
          <a:ext cx="4572000" cy="1828800"/>
        </p:xfrm>
        <a:graphic>
          <a:graphicData uri="http://schemas.openxmlformats.org/drawingml/2006/table">
            <a:tbl>
              <a:tblPr/>
              <a:tblGrid>
                <a:gridCol w="475451">
                  <a:extLst>
                    <a:ext uri="{9D8B030D-6E8A-4147-A177-3AD203B41FA5}">
                      <a16:colId xmlns:a16="http://schemas.microsoft.com/office/drawing/2014/main" val="20000"/>
                    </a:ext>
                  </a:extLst>
                </a:gridCol>
                <a:gridCol w="570376">
                  <a:extLst>
                    <a:ext uri="{9D8B030D-6E8A-4147-A177-3AD203B41FA5}">
                      <a16:colId xmlns:a16="http://schemas.microsoft.com/office/drawing/2014/main" val="20001"/>
                    </a:ext>
                  </a:extLst>
                </a:gridCol>
                <a:gridCol w="1087773">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295400">
                  <a:extLst>
                    <a:ext uri="{9D8B030D-6E8A-4147-A177-3AD203B41FA5}">
                      <a16:colId xmlns:a16="http://schemas.microsoft.com/office/drawing/2014/main" val="20004"/>
                    </a:ext>
                  </a:extLst>
                </a:gridCol>
              </a:tblGrid>
              <a:tr h="200025">
                <a:tc>
                  <a:txBody>
                    <a:bodyPr/>
                    <a:lstStyle/>
                    <a:p>
                      <a:pPr marL="0" marR="0" algn="ctr">
                        <a:spcBef>
                          <a:spcPts val="0"/>
                        </a:spcBef>
                        <a:spcAft>
                          <a:spcPts val="0"/>
                        </a:spcAf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t</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marL="0" marR="0" algn="ctr">
                        <a:spcBef>
                          <a:spcPts val="0"/>
                        </a:spcBef>
                        <a:spcAft>
                          <a:spcPts val="0"/>
                        </a:spcAf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 h</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marL="0" marR="0" algn="ctr">
                        <a:spcBef>
                          <a:spcPts val="0"/>
                        </a:spcBef>
                        <a:spcAft>
                          <a:spcPts val="0"/>
                        </a:spcAf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~t </a:t>
                      </a: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a:rPr>
                        <a:t></a:t>
                      </a: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 h</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marL="0" marR="0" algn="ctr">
                        <a:spcBef>
                          <a:spcPts val="0"/>
                        </a:spcBef>
                        <a:spcAft>
                          <a:spcPts val="0"/>
                        </a:spcAf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~h </a:t>
                      </a: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a:rPr>
                        <a:t></a:t>
                      </a: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 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marL="0" marR="0" algn="ctr">
                        <a:spcBef>
                          <a:spcPts val="0"/>
                        </a:spcBef>
                        <a:spcAft>
                          <a:spcPts val="0"/>
                        </a:spcAf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~t </a:t>
                      </a: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a:rPr>
                        <a:t></a:t>
                      </a: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~h</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extLst>
                  <a:ext uri="{0D108BD9-81ED-4DB2-BD59-A6C34878D82A}">
                    <a16:rowId xmlns:a16="http://schemas.microsoft.com/office/drawing/2014/main" val="10000"/>
                  </a:ext>
                </a:extLst>
              </a:tr>
              <a:tr h="200025">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extLst>
                  <a:ext uri="{0D108BD9-81ED-4DB2-BD59-A6C34878D82A}">
                    <a16:rowId xmlns:a16="http://schemas.microsoft.com/office/drawing/2014/main" val="10001"/>
                  </a:ext>
                </a:extLst>
              </a:tr>
              <a:tr h="200025">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extLst>
                  <a:ext uri="{0D108BD9-81ED-4DB2-BD59-A6C34878D82A}">
                    <a16:rowId xmlns:a16="http://schemas.microsoft.com/office/drawing/2014/main" val="10002"/>
                  </a:ext>
                </a:extLst>
              </a:tr>
              <a:tr h="200025">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extLst>
                  <a:ext uri="{0D108BD9-81ED-4DB2-BD59-A6C34878D82A}">
                    <a16:rowId xmlns:a16="http://schemas.microsoft.com/office/drawing/2014/main" val="10003"/>
                  </a:ext>
                </a:extLst>
              </a:tr>
              <a:tr h="268605">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Rectangle 4"/>
          <p:cNvSpPr/>
          <p:nvPr/>
        </p:nvSpPr>
        <p:spPr>
          <a:xfrm>
            <a:off x="1371600" y="3886200"/>
            <a:ext cx="6781800" cy="2057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rPr>
              <a:t>Argument is invalid. Because there are three critical rows ( Remember  that the critical rows are those rows where the premises have truth value T) and in the first critical row conclusion has truth value F.  (Also remember that we say an argument is valid if in all critical rows conclusion has truth value T)</a:t>
            </a:r>
          </a:p>
          <a:p>
            <a:endParaRPr lang="en-US"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C00000"/>
                </a:solidFill>
              </a:rPr>
              <a:t>EXERCISE</a:t>
            </a:r>
            <a:endParaRPr lang="en-US" u="sng" dirty="0">
              <a:solidFill>
                <a:srgbClr val="C00000"/>
              </a:solidFill>
            </a:endParaRPr>
          </a:p>
        </p:txBody>
      </p:sp>
      <p:sp>
        <p:nvSpPr>
          <p:cNvPr id="3" name="Content Placeholder 2"/>
          <p:cNvSpPr>
            <a:spLocks noGrp="1"/>
          </p:cNvSpPr>
          <p:nvPr>
            <p:ph sz="quarter" idx="1"/>
          </p:nvPr>
        </p:nvSpPr>
        <p:spPr/>
        <p:txBody>
          <a:bodyPr>
            <a:normAutofit fontScale="92500" lnSpcReduction="20000"/>
          </a:bodyPr>
          <a:lstStyle/>
          <a:p>
            <a:r>
              <a:rPr lang="en-US" sz="2800" dirty="0" smtClean="0"/>
              <a:t>If at least one of these two numbers is divisible by 6, then the product of these two numbers is divisible by 6.</a:t>
            </a:r>
          </a:p>
          <a:p>
            <a:pPr>
              <a:buNone/>
            </a:pPr>
            <a:r>
              <a:rPr lang="en-US" sz="2800" dirty="0" smtClean="0"/>
              <a:t>	Neither of these two numbers is divisible by 6.</a:t>
            </a:r>
          </a:p>
          <a:p>
            <a:pPr>
              <a:buNone/>
            </a:pPr>
            <a:r>
              <a:rPr lang="en-US" sz="2800" dirty="0" smtClean="0"/>
              <a:t>	        The product of these two numbers is not divisible by 6.</a:t>
            </a:r>
          </a:p>
          <a:p>
            <a:r>
              <a:rPr lang="en-US" sz="2800" b="1" u="sng" dirty="0" smtClean="0">
                <a:solidFill>
                  <a:srgbClr val="C00000"/>
                </a:solidFill>
              </a:rPr>
              <a:t>SOLUTION:</a:t>
            </a:r>
            <a:endParaRPr lang="en-US" sz="2800" dirty="0" smtClean="0">
              <a:solidFill>
                <a:srgbClr val="C00000"/>
              </a:solidFill>
            </a:endParaRPr>
          </a:p>
          <a:p>
            <a:pPr>
              <a:buNone/>
            </a:pPr>
            <a:r>
              <a:rPr lang="en-US" sz="2800" dirty="0" smtClean="0"/>
              <a:t>	Let 	p = at least one of these two numbers is divisible by 6.</a:t>
            </a:r>
          </a:p>
          <a:p>
            <a:pPr>
              <a:buNone/>
            </a:pPr>
            <a:r>
              <a:rPr lang="en-US" sz="2800" dirty="0" smtClean="0"/>
              <a:t>		q =product of these two numbers is divisible by 6.</a:t>
            </a:r>
          </a:p>
          <a:p>
            <a:pPr>
              <a:buNone/>
            </a:pPr>
            <a:r>
              <a:rPr lang="en-US" sz="2800" dirty="0" smtClean="0"/>
              <a:t>	Then the argument become in these symbols</a:t>
            </a:r>
          </a:p>
          <a:p>
            <a:pPr>
              <a:buNone/>
            </a:pPr>
            <a:r>
              <a:rPr lang="en-US" sz="2800" dirty="0" smtClean="0"/>
              <a:t>			p </a:t>
            </a:r>
            <a:r>
              <a:rPr lang="en-US" sz="2800" dirty="0" smtClean="0">
                <a:sym typeface="Symbol"/>
              </a:rPr>
              <a:t></a:t>
            </a:r>
            <a:r>
              <a:rPr lang="en-US" sz="2800" dirty="0" smtClean="0"/>
              <a:t> q</a:t>
            </a:r>
          </a:p>
          <a:p>
            <a:pPr>
              <a:buNone/>
            </a:pPr>
            <a:r>
              <a:rPr lang="en-US" sz="2800" dirty="0" smtClean="0"/>
              <a:t>			~ p</a:t>
            </a:r>
          </a:p>
          <a:p>
            <a:pPr>
              <a:buNone/>
            </a:pPr>
            <a:r>
              <a:rPr lang="en-US" sz="2800" dirty="0" smtClean="0"/>
              <a:t>			</a:t>
            </a:r>
            <a:r>
              <a:rPr lang="en-US" sz="2800" dirty="0" smtClean="0">
                <a:sym typeface="Symbol"/>
              </a:rPr>
              <a:t></a:t>
            </a:r>
            <a:r>
              <a:rPr lang="en-US" sz="2800" dirty="0" smtClean="0"/>
              <a:t>   ~ q</a:t>
            </a:r>
          </a:p>
          <a:p>
            <a:endParaRPr lang="en-US" sz="2800" dirty="0" smtClean="0"/>
          </a:p>
          <a:p>
            <a:endParaRPr lang="en-US" sz="2800" dirty="0" smtClean="0"/>
          </a:p>
          <a:p>
            <a:endParaRPr lang="en-US" dirty="0"/>
          </a:p>
        </p:txBody>
      </p:sp>
      <p:graphicFrame>
        <p:nvGraphicFramePr>
          <p:cNvPr id="30723" name="Object 3"/>
          <p:cNvGraphicFramePr>
            <a:graphicFrameLocks noChangeAspect="1"/>
          </p:cNvGraphicFramePr>
          <p:nvPr/>
        </p:nvGraphicFramePr>
        <p:xfrm>
          <a:off x="957942" y="2267874"/>
          <a:ext cx="457200" cy="381000"/>
        </p:xfrm>
        <a:graphic>
          <a:graphicData uri="http://schemas.openxmlformats.org/presentationml/2006/ole">
            <mc:AlternateContent xmlns:mc="http://schemas.openxmlformats.org/markup-compatibility/2006">
              <mc:Choice xmlns:v="urn:schemas-microsoft-com:vml" Requires="v">
                <p:oleObj spid="_x0000_s30728" name="Equation" r:id="rId3" imgW="139680" imgH="126720" progId="Equation.3">
                  <p:embed/>
                </p:oleObj>
              </mc:Choice>
              <mc:Fallback>
                <p:oleObj name="Equation" r:id="rId3" imgW="139680" imgH="126720" progId="Equation.3">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7942" y="2267874"/>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20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sz="quarter" idx="1"/>
          </p:nvPr>
        </p:nvSpPr>
        <p:spPr/>
        <p:txBody>
          <a:bodyPr/>
          <a:lstStyle/>
          <a:p>
            <a:r>
              <a:rPr lang="en-US" dirty="0" smtClean="0"/>
              <a:t>We will made the truth table for premises and conclusion as given below:</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b="1" dirty="0" smtClean="0"/>
              <a:t>The Argument is invalid.</a:t>
            </a:r>
            <a:endParaRPr lang="en-US" dirty="0" smtClean="0"/>
          </a:p>
          <a:p>
            <a:endParaRPr lang="en-US" dirty="0" smtClean="0"/>
          </a:p>
          <a:p>
            <a:endParaRPr lang="en-US" dirty="0"/>
          </a:p>
        </p:txBody>
      </p:sp>
      <p:graphicFrame>
        <p:nvGraphicFramePr>
          <p:cNvPr id="7" name="Table 6"/>
          <p:cNvGraphicFramePr>
            <a:graphicFrameLocks noGrp="1"/>
          </p:cNvGraphicFramePr>
          <p:nvPr/>
        </p:nvGraphicFramePr>
        <p:xfrm>
          <a:off x="2590800" y="2590800"/>
          <a:ext cx="3581398" cy="2116138"/>
        </p:xfrm>
        <a:graphic>
          <a:graphicData uri="http://schemas.openxmlformats.org/drawingml/2006/table">
            <a:tbl>
              <a:tblPr/>
              <a:tblGrid>
                <a:gridCol w="661033">
                  <a:extLst>
                    <a:ext uri="{9D8B030D-6E8A-4147-A177-3AD203B41FA5}">
                      <a16:colId xmlns:a16="http://schemas.microsoft.com/office/drawing/2014/main" val="20000"/>
                    </a:ext>
                  </a:extLst>
                </a:gridCol>
                <a:gridCol w="649234">
                  <a:extLst>
                    <a:ext uri="{9D8B030D-6E8A-4147-A177-3AD203B41FA5}">
                      <a16:colId xmlns:a16="http://schemas.microsoft.com/office/drawing/2014/main" val="20001"/>
                    </a:ext>
                  </a:extLst>
                </a:gridCol>
                <a:gridCol w="1060852">
                  <a:extLst>
                    <a:ext uri="{9D8B030D-6E8A-4147-A177-3AD203B41FA5}">
                      <a16:colId xmlns:a16="http://schemas.microsoft.com/office/drawing/2014/main" val="20002"/>
                    </a:ext>
                  </a:extLst>
                </a:gridCol>
                <a:gridCol w="633085">
                  <a:extLst>
                    <a:ext uri="{9D8B030D-6E8A-4147-A177-3AD203B41FA5}">
                      <a16:colId xmlns:a16="http://schemas.microsoft.com/office/drawing/2014/main" val="20003"/>
                    </a:ext>
                  </a:extLst>
                </a:gridCol>
                <a:gridCol w="577194">
                  <a:extLst>
                    <a:ext uri="{9D8B030D-6E8A-4147-A177-3AD203B41FA5}">
                      <a16:colId xmlns:a16="http://schemas.microsoft.com/office/drawing/2014/main" val="20004"/>
                    </a:ext>
                  </a:extLst>
                </a:gridCol>
              </a:tblGrid>
              <a:tr h="451734">
                <a:tc>
                  <a:txBody>
                    <a:bodyPr/>
                    <a:lstStyle/>
                    <a:p>
                      <a:pPr marL="0" marR="0" algn="ctr">
                        <a:spcBef>
                          <a:spcPts val="0"/>
                        </a:spcBef>
                        <a:spcAft>
                          <a:spcPts val="0"/>
                        </a:spcAf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p</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marL="0" marR="0" algn="ctr">
                        <a:spcBef>
                          <a:spcPts val="0"/>
                        </a:spcBef>
                        <a:spcAft>
                          <a:spcPts val="0"/>
                        </a:spcAf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q</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marL="0" marR="0" algn="ctr">
                        <a:spcBef>
                          <a:spcPts val="0"/>
                        </a:spcBef>
                        <a:spcAft>
                          <a:spcPts val="0"/>
                        </a:spcAf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p </a:t>
                      </a: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a:rPr>
                        <a:t></a:t>
                      </a: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 q</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marL="0" marR="0" algn="ctr">
                        <a:spcBef>
                          <a:spcPts val="0"/>
                        </a:spcBef>
                        <a:spcAft>
                          <a:spcPts val="0"/>
                        </a:spcAf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~p</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marL="0" marR="0" algn="ctr">
                        <a:spcBef>
                          <a:spcPts val="0"/>
                        </a:spcBef>
                        <a:spcAft>
                          <a:spcPts val="0"/>
                        </a:spcAf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~q</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extLst>
                  <a:ext uri="{0D108BD9-81ED-4DB2-BD59-A6C34878D82A}">
                    <a16:rowId xmlns:a16="http://schemas.microsoft.com/office/drawing/2014/main" val="10000"/>
                  </a:ext>
                </a:extLst>
              </a:tr>
              <a:tr h="375739">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75739">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75739">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extLst>
                  <a:ext uri="{0D108BD9-81ED-4DB2-BD59-A6C34878D82A}">
                    <a16:rowId xmlns:a16="http://schemas.microsoft.com/office/drawing/2014/main" val="10003"/>
                  </a:ext>
                </a:extLst>
              </a:tr>
              <a:tr h="537187">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CCFF99"/>
                    </a:solidFill>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animEffect transition="in" filter="fade">
                                      <p:cBhvr>
                                        <p:cTn id="17"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solidFill>
                  <a:srgbClr val="C00000"/>
                </a:solidFill>
              </a:rPr>
              <a:t>EXERCISE</a:t>
            </a:r>
            <a:endParaRPr lang="en-US" dirty="0">
              <a:solidFill>
                <a:srgbClr val="C00000"/>
              </a:solidFill>
            </a:endParaRPr>
          </a:p>
        </p:txBody>
      </p:sp>
      <p:sp>
        <p:nvSpPr>
          <p:cNvPr id="3" name="Content Placeholder 2"/>
          <p:cNvSpPr>
            <a:spLocks noGrp="1"/>
          </p:cNvSpPr>
          <p:nvPr>
            <p:ph sz="quarter" idx="1"/>
          </p:nvPr>
        </p:nvSpPr>
        <p:spPr/>
        <p:txBody>
          <a:bodyPr/>
          <a:lstStyle/>
          <a:p>
            <a:r>
              <a:rPr lang="en-US" sz="2800" dirty="0" smtClean="0"/>
              <a:t>If  I got an </a:t>
            </a:r>
            <a:r>
              <a:rPr lang="en-US" sz="2800" dirty="0" err="1" smtClean="0"/>
              <a:t>Eid</a:t>
            </a:r>
            <a:r>
              <a:rPr lang="en-US" sz="2800" dirty="0" smtClean="0"/>
              <a:t> bonus, I’ll buy a stereo.</a:t>
            </a:r>
          </a:p>
          <a:p>
            <a:pPr>
              <a:buNone/>
            </a:pPr>
            <a:r>
              <a:rPr lang="en-US" sz="2800" dirty="0" smtClean="0"/>
              <a:t>	If  I sell my motorcycle, I’ll buy a stereo.</a:t>
            </a:r>
          </a:p>
          <a:p>
            <a:pPr>
              <a:buNone/>
            </a:pPr>
            <a:r>
              <a:rPr lang="en-US" sz="2800" dirty="0" smtClean="0"/>
              <a:t>	        If I get an </a:t>
            </a:r>
            <a:r>
              <a:rPr lang="en-US" sz="2800" dirty="0" err="1" smtClean="0"/>
              <a:t>Eid</a:t>
            </a:r>
            <a:r>
              <a:rPr lang="en-US" sz="2800" dirty="0" smtClean="0"/>
              <a:t> bonus or I sell my motorcycle, then I’ll buy a stereo.</a:t>
            </a:r>
          </a:p>
          <a:p>
            <a:pPr>
              <a:buNone/>
            </a:pPr>
            <a:r>
              <a:rPr lang="en-US" b="1" u="sng" dirty="0" smtClean="0">
                <a:solidFill>
                  <a:srgbClr val="C00000"/>
                </a:solidFill>
              </a:rPr>
              <a:t>SOLUTION</a:t>
            </a:r>
            <a:r>
              <a:rPr lang="en-US" b="1" dirty="0" smtClean="0">
                <a:solidFill>
                  <a:srgbClr val="C00000"/>
                </a:solidFill>
              </a:rPr>
              <a:t>:</a:t>
            </a:r>
            <a:endParaRPr lang="en-US" dirty="0" smtClean="0">
              <a:solidFill>
                <a:srgbClr val="C00000"/>
              </a:solidFill>
            </a:endParaRPr>
          </a:p>
          <a:p>
            <a:pPr>
              <a:buNone/>
            </a:pPr>
            <a:r>
              <a:rPr lang="en-US" dirty="0" smtClean="0"/>
              <a:t>		Let	</a:t>
            </a:r>
          </a:p>
          <a:p>
            <a:pPr>
              <a:buNone/>
            </a:pPr>
            <a:r>
              <a:rPr lang="en-US" dirty="0" smtClean="0"/>
              <a:t>				</a:t>
            </a:r>
            <a:r>
              <a:rPr lang="en-US" b="1" dirty="0" smtClean="0">
                <a:solidFill>
                  <a:srgbClr val="C00000"/>
                </a:solidFill>
              </a:rPr>
              <a:t>e</a:t>
            </a:r>
            <a:r>
              <a:rPr lang="en-US" dirty="0" smtClean="0"/>
              <a:t> = I got an </a:t>
            </a:r>
            <a:r>
              <a:rPr lang="en-US" dirty="0" err="1" smtClean="0"/>
              <a:t>Eid</a:t>
            </a:r>
            <a:r>
              <a:rPr lang="en-US" dirty="0" smtClean="0"/>
              <a:t> bonus</a:t>
            </a:r>
          </a:p>
          <a:p>
            <a:pPr>
              <a:buNone/>
            </a:pPr>
            <a:r>
              <a:rPr lang="en-US" dirty="0" smtClean="0"/>
              <a:t>				</a:t>
            </a:r>
            <a:r>
              <a:rPr lang="en-US" b="1" dirty="0" smtClean="0">
                <a:solidFill>
                  <a:srgbClr val="C00000"/>
                </a:solidFill>
              </a:rPr>
              <a:t>s</a:t>
            </a:r>
            <a:r>
              <a:rPr lang="en-US" dirty="0" smtClean="0"/>
              <a:t> = I’ll buy a stereo</a:t>
            </a:r>
          </a:p>
          <a:p>
            <a:pPr>
              <a:buNone/>
            </a:pPr>
            <a:r>
              <a:rPr lang="en-US" dirty="0" smtClean="0"/>
              <a:t>				</a:t>
            </a:r>
            <a:r>
              <a:rPr lang="en-US" b="1" dirty="0" smtClean="0">
                <a:solidFill>
                  <a:srgbClr val="C00000"/>
                </a:solidFill>
              </a:rPr>
              <a:t>m</a:t>
            </a:r>
            <a:r>
              <a:rPr lang="en-US" dirty="0" smtClean="0"/>
              <a:t> = I sell my motorcycle</a:t>
            </a:r>
          </a:p>
          <a:p>
            <a:endParaRPr lang="en-US" dirty="0"/>
          </a:p>
        </p:txBody>
      </p:sp>
      <p:graphicFrame>
        <p:nvGraphicFramePr>
          <p:cNvPr id="33795" name="Object 3"/>
          <p:cNvGraphicFramePr>
            <a:graphicFrameLocks noChangeAspect="1"/>
          </p:cNvGraphicFramePr>
          <p:nvPr/>
        </p:nvGraphicFramePr>
        <p:xfrm>
          <a:off x="1034142" y="2297566"/>
          <a:ext cx="457200" cy="381000"/>
        </p:xfrm>
        <a:graphic>
          <a:graphicData uri="http://schemas.openxmlformats.org/presentationml/2006/ole">
            <mc:AlternateContent xmlns:mc="http://schemas.openxmlformats.org/markup-compatibility/2006">
              <mc:Choice xmlns:v="urn:schemas-microsoft-com:vml" Requires="v">
                <p:oleObj spid="_x0000_s33800" name="Equation" r:id="rId3" imgW="139680" imgH="126720" progId="Equation.3">
                  <p:embed/>
                </p:oleObj>
              </mc:Choice>
              <mc:Fallback>
                <p:oleObj name="Equation" r:id="rId3" imgW="139680" imgH="126720" progId="Equation.3">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4142" y="2297566"/>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81000" y="304800"/>
            <a:ext cx="8229600" cy="6553200"/>
          </a:xfrm>
        </p:spPr>
        <p:txBody>
          <a:bodyPr/>
          <a:lstStyle/>
          <a:p>
            <a:r>
              <a:rPr lang="en-US" dirty="0" smtClean="0"/>
              <a:t>The argument is</a:t>
            </a:r>
          </a:p>
          <a:p>
            <a:pPr>
              <a:buNone/>
            </a:pPr>
            <a:r>
              <a:rPr lang="en-US" dirty="0" smtClean="0"/>
              <a:t>                    e </a:t>
            </a:r>
            <a:r>
              <a:rPr lang="en-US" dirty="0" smtClean="0">
                <a:sym typeface="Symbol"/>
              </a:rPr>
              <a:t></a:t>
            </a:r>
            <a:r>
              <a:rPr lang="en-US" dirty="0" smtClean="0"/>
              <a:t> s</a:t>
            </a:r>
          </a:p>
          <a:p>
            <a:pPr>
              <a:buNone/>
            </a:pPr>
            <a:r>
              <a:rPr lang="en-US" dirty="0" smtClean="0"/>
              <a:t>			m </a:t>
            </a:r>
            <a:r>
              <a:rPr lang="en-US" dirty="0" smtClean="0">
                <a:sym typeface="Symbol"/>
              </a:rPr>
              <a:t></a:t>
            </a:r>
            <a:r>
              <a:rPr lang="en-US" dirty="0" smtClean="0"/>
              <a:t> s</a:t>
            </a:r>
          </a:p>
          <a:p>
            <a:pPr>
              <a:buNone/>
            </a:pPr>
            <a:r>
              <a:rPr lang="en-US" dirty="0" smtClean="0"/>
              <a:t>		         </a:t>
            </a:r>
            <a:r>
              <a:rPr lang="en-US" dirty="0" smtClean="0">
                <a:sym typeface="Symbol"/>
              </a:rPr>
              <a:t>  </a:t>
            </a:r>
            <a:r>
              <a:rPr lang="en-US" dirty="0" smtClean="0"/>
              <a:t>e </a:t>
            </a:r>
            <a:r>
              <a:rPr lang="en-US" dirty="0" smtClean="0">
                <a:sym typeface="Symbol"/>
              </a:rPr>
              <a:t></a:t>
            </a:r>
            <a:r>
              <a:rPr lang="en-US" dirty="0" smtClean="0"/>
              <a:t> m </a:t>
            </a:r>
            <a:r>
              <a:rPr lang="en-US" dirty="0" smtClean="0">
                <a:sym typeface="Symbol"/>
              </a:rPr>
              <a:t></a:t>
            </a:r>
            <a:r>
              <a:rPr lang="en-US" dirty="0" smtClean="0"/>
              <a:t> s</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pPr>
              <a:buNone/>
            </a:pPr>
            <a:r>
              <a:rPr lang="en-US" b="1" dirty="0" smtClean="0">
                <a:solidFill>
                  <a:srgbClr val="C00000"/>
                </a:solidFill>
              </a:rPr>
              <a:t>	The argument is valid</a:t>
            </a:r>
            <a:r>
              <a:rPr lang="en-US" dirty="0" smtClean="0"/>
              <a:t>. Because there are five critical rows</a:t>
            </a:r>
          </a:p>
          <a:p>
            <a:endParaRPr lang="en-US" dirty="0" smtClean="0"/>
          </a:p>
          <a:p>
            <a:endParaRPr lang="en-US" dirty="0"/>
          </a:p>
        </p:txBody>
      </p:sp>
      <p:graphicFrame>
        <p:nvGraphicFramePr>
          <p:cNvPr id="4" name="Table 3"/>
          <p:cNvGraphicFramePr>
            <a:graphicFrameLocks noGrp="1"/>
          </p:cNvGraphicFramePr>
          <p:nvPr/>
        </p:nvGraphicFramePr>
        <p:xfrm>
          <a:off x="1066800" y="2286000"/>
          <a:ext cx="7086598" cy="3566160"/>
        </p:xfrm>
        <a:graphic>
          <a:graphicData uri="http://schemas.openxmlformats.org/drawingml/2006/table">
            <a:tbl>
              <a:tblPr/>
              <a:tblGrid>
                <a:gridCol w="614861">
                  <a:extLst>
                    <a:ext uri="{9D8B030D-6E8A-4147-A177-3AD203B41FA5}">
                      <a16:colId xmlns:a16="http://schemas.microsoft.com/office/drawing/2014/main" val="20000"/>
                    </a:ext>
                  </a:extLst>
                </a:gridCol>
                <a:gridCol w="671112">
                  <a:extLst>
                    <a:ext uri="{9D8B030D-6E8A-4147-A177-3AD203B41FA5}">
                      <a16:colId xmlns:a16="http://schemas.microsoft.com/office/drawing/2014/main" val="20001"/>
                    </a:ext>
                  </a:extLst>
                </a:gridCol>
                <a:gridCol w="749606">
                  <a:extLst>
                    <a:ext uri="{9D8B030D-6E8A-4147-A177-3AD203B41FA5}">
                      <a16:colId xmlns:a16="http://schemas.microsoft.com/office/drawing/2014/main" val="20002"/>
                    </a:ext>
                  </a:extLst>
                </a:gridCol>
                <a:gridCol w="760074">
                  <a:extLst>
                    <a:ext uri="{9D8B030D-6E8A-4147-A177-3AD203B41FA5}">
                      <a16:colId xmlns:a16="http://schemas.microsoft.com/office/drawing/2014/main" val="20003"/>
                    </a:ext>
                  </a:extLst>
                </a:gridCol>
                <a:gridCol w="52329">
                  <a:extLst>
                    <a:ext uri="{9D8B030D-6E8A-4147-A177-3AD203B41FA5}">
                      <a16:colId xmlns:a16="http://schemas.microsoft.com/office/drawing/2014/main" val="20004"/>
                    </a:ext>
                  </a:extLst>
                </a:gridCol>
                <a:gridCol w="1412872">
                  <a:extLst>
                    <a:ext uri="{9D8B030D-6E8A-4147-A177-3AD203B41FA5}">
                      <a16:colId xmlns:a16="http://schemas.microsoft.com/office/drawing/2014/main" val="20005"/>
                    </a:ext>
                  </a:extLst>
                </a:gridCol>
                <a:gridCol w="941913">
                  <a:extLst>
                    <a:ext uri="{9D8B030D-6E8A-4147-A177-3AD203B41FA5}">
                      <a16:colId xmlns:a16="http://schemas.microsoft.com/office/drawing/2014/main" val="20006"/>
                    </a:ext>
                  </a:extLst>
                </a:gridCol>
                <a:gridCol w="1883831">
                  <a:extLst>
                    <a:ext uri="{9D8B030D-6E8A-4147-A177-3AD203B41FA5}">
                      <a16:colId xmlns:a16="http://schemas.microsoft.com/office/drawing/2014/main" val="20007"/>
                    </a:ext>
                  </a:extLst>
                </a:gridCol>
              </a:tblGrid>
              <a:tr h="457200">
                <a:tc>
                  <a:txBody>
                    <a:bodyPr/>
                    <a:lstStyle/>
                    <a:p>
                      <a:pPr marL="0" marR="0" algn="ctr">
                        <a:spcBef>
                          <a:spcPts val="0"/>
                        </a:spcBef>
                        <a:spcAft>
                          <a:spcPts val="0"/>
                        </a:spcAf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e</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marL="0" marR="0" algn="ctr">
                        <a:spcBef>
                          <a:spcPts val="0"/>
                        </a:spcBef>
                        <a:spcAft>
                          <a:spcPts val="0"/>
                        </a:spcAf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 s</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marL="0" marR="0" algn="ctr">
                        <a:spcBef>
                          <a:spcPts val="0"/>
                        </a:spcBef>
                        <a:spcAft>
                          <a:spcPts val="0"/>
                        </a:spcAf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 m</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gridSpan="2">
                  <a:txBody>
                    <a:bodyPr/>
                    <a:lstStyle/>
                    <a:p>
                      <a:pPr marL="0" marR="0" algn="ctr">
                        <a:spcBef>
                          <a:spcPts val="0"/>
                        </a:spcBef>
                        <a:spcAft>
                          <a:spcPts val="0"/>
                        </a:spcAf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e </a:t>
                      </a: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a:rPr>
                        <a:t></a:t>
                      </a: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s</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hMerge="1">
                  <a:txBody>
                    <a:bodyPr/>
                    <a:lstStyle/>
                    <a:p>
                      <a:endParaRPr lang="en-US"/>
                    </a:p>
                  </a:txBody>
                  <a:tcPr/>
                </a:tc>
                <a:tc>
                  <a:txBody>
                    <a:bodyPr/>
                    <a:lstStyle/>
                    <a:p>
                      <a:pPr marL="0" marR="0" algn="ctr">
                        <a:spcBef>
                          <a:spcPts val="0"/>
                        </a:spcBef>
                        <a:spcAft>
                          <a:spcPts val="0"/>
                        </a:spcAf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m </a:t>
                      </a: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a:rPr>
                        <a:t></a:t>
                      </a: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s</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marL="0" marR="0" algn="ctr">
                        <a:spcBef>
                          <a:spcPts val="0"/>
                        </a:spcBef>
                        <a:spcAft>
                          <a:spcPts val="0"/>
                        </a:spcAf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 e </a:t>
                      </a: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a:rPr>
                        <a:t> </a:t>
                      </a: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m</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marL="0" marR="0" algn="ctr">
                        <a:spcBef>
                          <a:spcPts val="0"/>
                        </a:spcBef>
                        <a:spcAft>
                          <a:spcPts val="0"/>
                        </a:spcAf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e </a:t>
                      </a: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a:rPr>
                        <a:t> </a:t>
                      </a: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m </a:t>
                      </a: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a:rPr>
                        <a:t></a:t>
                      </a: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s</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extLst>
                  <a:ext uri="{0D108BD9-81ED-4DB2-BD59-A6C34878D82A}">
                    <a16:rowId xmlns:a16="http://schemas.microsoft.com/office/drawing/2014/main" val="10000"/>
                  </a:ext>
                </a:extLst>
              </a:tr>
              <a:tr h="38862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gridSpan="2">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extLst>
                  <a:ext uri="{0D108BD9-81ED-4DB2-BD59-A6C34878D82A}">
                    <a16:rowId xmlns:a16="http://schemas.microsoft.com/office/drawing/2014/main" val="10001"/>
                  </a:ext>
                </a:extLst>
              </a:tr>
              <a:tr h="38862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gridSpan="2">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extLst>
                  <a:ext uri="{0D108BD9-81ED-4DB2-BD59-A6C34878D82A}">
                    <a16:rowId xmlns:a16="http://schemas.microsoft.com/office/drawing/2014/main" val="10002"/>
                  </a:ext>
                </a:extLst>
              </a:tr>
              <a:tr h="38862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8862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8862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gridSpan="2">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extLst>
                  <a:ext uri="{0D108BD9-81ED-4DB2-BD59-A6C34878D82A}">
                    <a16:rowId xmlns:a16="http://schemas.microsoft.com/office/drawing/2014/main" val="10005"/>
                  </a:ext>
                </a:extLst>
              </a:tr>
              <a:tr h="38862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gridSpan="2">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extLst>
                  <a:ext uri="{0D108BD9-81ED-4DB2-BD59-A6C34878D82A}">
                    <a16:rowId xmlns:a16="http://schemas.microsoft.com/office/drawing/2014/main" val="10006"/>
                  </a:ext>
                </a:extLst>
              </a:tr>
              <a:tr h="38862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8862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CCFF99"/>
                    </a:solidFill>
                  </a:tcPr>
                </a:tc>
                <a:tc gridSpan="2">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CCFF99"/>
                    </a:solidFill>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CCFF99"/>
                    </a:solidFill>
                  </a:tcPr>
                </a:tc>
                <a:extLst>
                  <a:ext uri="{0D108BD9-81ED-4DB2-BD59-A6C34878D82A}">
                    <a16:rowId xmlns:a16="http://schemas.microsoft.com/office/drawing/2014/main" val="10008"/>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2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20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20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20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12" end="12"/>
                                            </p:txEl>
                                          </p:spTgt>
                                        </p:tgtEl>
                                        <p:attrNameLst>
                                          <p:attrName>style.visibility</p:attrName>
                                        </p:attrNameLst>
                                      </p:cBhvr>
                                      <p:to>
                                        <p:strVal val="visible"/>
                                      </p:to>
                                    </p:set>
                                    <p:animEffect transition="in" filter="fade">
                                      <p:cBhvr>
                                        <p:cTn id="30" dur="20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solidFill>
                  <a:srgbClr val="C00000"/>
                </a:solidFill>
              </a:rPr>
              <a:t>REMEMBER:</a:t>
            </a:r>
          </a:p>
        </p:txBody>
      </p:sp>
      <p:sp>
        <p:nvSpPr>
          <p:cNvPr id="3" name="Content Placeholder 2"/>
          <p:cNvSpPr>
            <a:spLocks noGrp="1"/>
          </p:cNvSpPr>
          <p:nvPr>
            <p:ph sz="quarter" idx="1"/>
          </p:nvPr>
        </p:nvSpPr>
        <p:spPr/>
        <p:txBody>
          <a:bodyPr/>
          <a:lstStyle/>
          <a:p>
            <a:r>
              <a:rPr lang="en-US" dirty="0" smtClean="0"/>
              <a:t>( Remember  that the critical rows are those rows where the premises have truth value T) and in all critical row conclusion has truth value T. (Also remember that we say an argument is valid if in all critical rows conclusion has truth value T)</a:t>
            </a:r>
          </a:p>
          <a:p>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smtClean="0">
                <a:solidFill>
                  <a:srgbClr val="C00000"/>
                </a:solidFill>
              </a:rPr>
              <a:t>EXERCISE</a:t>
            </a:r>
            <a:endParaRPr lang="en-US" u="sng" dirty="0">
              <a:solidFill>
                <a:srgbClr val="C00000"/>
              </a:solidFill>
            </a:endParaRPr>
          </a:p>
        </p:txBody>
      </p:sp>
      <p:sp>
        <p:nvSpPr>
          <p:cNvPr id="3" name="Content Placeholder 2"/>
          <p:cNvSpPr>
            <a:spLocks noGrp="1"/>
          </p:cNvSpPr>
          <p:nvPr>
            <p:ph sz="quarter" idx="1"/>
          </p:nvPr>
        </p:nvSpPr>
        <p:spPr/>
        <p:txBody>
          <a:bodyPr>
            <a:normAutofit lnSpcReduction="10000"/>
          </a:bodyPr>
          <a:lstStyle/>
          <a:p>
            <a:r>
              <a:rPr lang="en-US" dirty="0" smtClean="0"/>
              <a:t>A strict teacher keeps me awake. I stay awake in Discrete Mathematics class. Therefore, my Discrete Mathematics teacher is strict.</a:t>
            </a:r>
          </a:p>
          <a:p>
            <a:pPr>
              <a:buNone/>
            </a:pPr>
            <a:r>
              <a:rPr lang="en-US" b="1" dirty="0" smtClean="0">
                <a:solidFill>
                  <a:srgbClr val="C00000"/>
                </a:solidFill>
              </a:rPr>
              <a:t>	</a:t>
            </a:r>
            <a:r>
              <a:rPr lang="en-US" b="1" u="sng" dirty="0" smtClean="0">
                <a:solidFill>
                  <a:srgbClr val="C00000"/>
                </a:solidFill>
              </a:rPr>
              <a:t>Solution:</a:t>
            </a:r>
          </a:p>
          <a:p>
            <a:pPr>
              <a:buNone/>
            </a:pPr>
            <a:r>
              <a:rPr lang="en-US" dirty="0" smtClean="0"/>
              <a:t>			</a:t>
            </a:r>
            <a:r>
              <a:rPr lang="en-US" b="1" dirty="0" smtClean="0">
                <a:solidFill>
                  <a:srgbClr val="C00000"/>
                </a:solidFill>
              </a:rPr>
              <a:t>t</a:t>
            </a:r>
            <a:r>
              <a:rPr lang="en-US" dirty="0" smtClean="0"/>
              <a:t>: my teacher </a:t>
            </a:r>
            <a:r>
              <a:rPr lang="en-US" smtClean="0"/>
              <a:t>is strict</a:t>
            </a:r>
            <a:endParaRPr lang="en-US" dirty="0" smtClean="0"/>
          </a:p>
          <a:p>
            <a:pPr>
              <a:buNone/>
            </a:pPr>
            <a:r>
              <a:rPr lang="en-US" dirty="0" smtClean="0"/>
              <a:t>			</a:t>
            </a:r>
            <a:r>
              <a:rPr lang="en-US" b="1" dirty="0" smtClean="0">
                <a:solidFill>
                  <a:srgbClr val="C00000"/>
                </a:solidFill>
              </a:rPr>
              <a:t>a</a:t>
            </a:r>
            <a:r>
              <a:rPr lang="en-US" dirty="0" smtClean="0"/>
              <a:t>: I stay awake</a:t>
            </a:r>
          </a:p>
          <a:p>
            <a:pPr>
              <a:buNone/>
            </a:pPr>
            <a:r>
              <a:rPr lang="en-US" dirty="0" smtClean="0"/>
              <a:t>			</a:t>
            </a:r>
            <a:r>
              <a:rPr lang="en-US" b="1" dirty="0" smtClean="0">
                <a:solidFill>
                  <a:srgbClr val="C00000"/>
                </a:solidFill>
              </a:rPr>
              <a:t>m</a:t>
            </a:r>
            <a:r>
              <a:rPr lang="en-US" dirty="0" smtClean="0"/>
              <a:t>: I am in Discrete Mathematics class </a:t>
            </a:r>
          </a:p>
          <a:p>
            <a:r>
              <a:rPr lang="en-US" dirty="0" smtClean="0"/>
              <a:t>The argument to be tested is</a:t>
            </a:r>
          </a:p>
          <a:p>
            <a:pPr>
              <a:buNone/>
            </a:pPr>
            <a:r>
              <a:rPr lang="en-US" dirty="0" smtClean="0"/>
              <a:t>				t </a:t>
            </a:r>
            <a:r>
              <a:rPr lang="en-US" dirty="0" smtClean="0">
                <a:sym typeface="Symbol"/>
              </a:rPr>
              <a:t></a:t>
            </a:r>
            <a:r>
              <a:rPr lang="en-US" dirty="0" smtClean="0"/>
              <a:t> a,</a:t>
            </a:r>
          </a:p>
          <a:p>
            <a:pPr>
              <a:buNone/>
            </a:pPr>
            <a:r>
              <a:rPr lang="en-US" dirty="0" smtClean="0"/>
              <a:t>				a </a:t>
            </a:r>
            <a:r>
              <a:rPr lang="en-US" dirty="0" smtClean="0">
                <a:sym typeface="Symbol"/>
              </a:rPr>
              <a:t></a:t>
            </a:r>
            <a:r>
              <a:rPr lang="en-US" dirty="0" smtClean="0"/>
              <a:t> m </a:t>
            </a:r>
          </a:p>
          <a:p>
            <a:pPr>
              <a:buNone/>
            </a:pPr>
            <a:r>
              <a:rPr lang="en-US" dirty="0" smtClean="0"/>
              <a:t>	Therefore			m </a:t>
            </a:r>
            <a:r>
              <a:rPr lang="en-US" dirty="0" smtClean="0">
                <a:sym typeface="Symbol"/>
              </a:rPr>
              <a:t></a:t>
            </a:r>
            <a:r>
              <a:rPr lang="en-US" dirty="0" smtClean="0"/>
              <a:t> t</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graphicFrame>
        <p:nvGraphicFramePr>
          <p:cNvPr id="4" name="Content Placeholder 3"/>
          <p:cNvGraphicFramePr>
            <a:graphicFrameLocks noGrp="1"/>
          </p:cNvGraphicFramePr>
          <p:nvPr>
            <p:ph sz="quarter" idx="1"/>
          </p:nvPr>
        </p:nvGraphicFramePr>
        <p:xfrm>
          <a:off x="2286000" y="1600200"/>
          <a:ext cx="4953000" cy="3396342"/>
        </p:xfrm>
        <a:graphic>
          <a:graphicData uri="http://schemas.openxmlformats.org/drawingml/2006/table">
            <a:tbl>
              <a:tblPr/>
              <a:tblGrid>
                <a:gridCol w="559228">
                  <a:extLst>
                    <a:ext uri="{9D8B030D-6E8A-4147-A177-3AD203B41FA5}">
                      <a16:colId xmlns:a16="http://schemas.microsoft.com/office/drawing/2014/main" val="20000"/>
                    </a:ext>
                  </a:extLst>
                </a:gridCol>
                <a:gridCol w="623711">
                  <a:extLst>
                    <a:ext uri="{9D8B030D-6E8A-4147-A177-3AD203B41FA5}">
                      <a16:colId xmlns:a16="http://schemas.microsoft.com/office/drawing/2014/main" val="20001"/>
                    </a:ext>
                  </a:extLst>
                </a:gridCol>
                <a:gridCol w="852739">
                  <a:extLst>
                    <a:ext uri="{9D8B030D-6E8A-4147-A177-3AD203B41FA5}">
                      <a16:colId xmlns:a16="http://schemas.microsoft.com/office/drawing/2014/main" val="20002"/>
                    </a:ext>
                  </a:extLst>
                </a:gridCol>
                <a:gridCol w="1000606">
                  <a:extLst>
                    <a:ext uri="{9D8B030D-6E8A-4147-A177-3AD203B41FA5}">
                      <a16:colId xmlns:a16="http://schemas.microsoft.com/office/drawing/2014/main" val="20003"/>
                    </a:ext>
                  </a:extLst>
                </a:gridCol>
                <a:gridCol w="917222">
                  <a:extLst>
                    <a:ext uri="{9D8B030D-6E8A-4147-A177-3AD203B41FA5}">
                      <a16:colId xmlns:a16="http://schemas.microsoft.com/office/drawing/2014/main" val="20004"/>
                    </a:ext>
                  </a:extLst>
                </a:gridCol>
                <a:gridCol w="999494">
                  <a:extLst>
                    <a:ext uri="{9D8B030D-6E8A-4147-A177-3AD203B41FA5}">
                      <a16:colId xmlns:a16="http://schemas.microsoft.com/office/drawing/2014/main" val="20005"/>
                    </a:ext>
                  </a:extLst>
                </a:gridCol>
              </a:tblGrid>
              <a:tr h="412750">
                <a:tc>
                  <a:txBody>
                    <a:bodyPr/>
                    <a:lstStyle/>
                    <a:p>
                      <a:pPr marL="0" marR="0" algn="ctr">
                        <a:spcBef>
                          <a:spcPts val="0"/>
                        </a:spcBef>
                        <a:spcAft>
                          <a:spcPts val="0"/>
                        </a:spcAf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t</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 a</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 m</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t </a:t>
                      </a: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a:rPr>
                        <a:t></a:t>
                      </a: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 a</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a </a:t>
                      </a: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a:rPr>
                        <a:t></a:t>
                      </a: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 m</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m </a:t>
                      </a: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a:rPr>
                        <a:t></a:t>
                      </a:r>
                      <a:r>
                        <a:rPr kumimoji="0" lang="en-US" sz="2400" b="1" i="0" u="none" strike="noStrike" kern="1200" cap="none" normalizeH="0" baseline="0" dirty="0" smtClean="0">
                          <a:ln>
                            <a:noFill/>
                          </a:ln>
                          <a:solidFill>
                            <a:srgbClr val="000000"/>
                          </a:solidFill>
                          <a:effectLst/>
                          <a:latin typeface="Bell MT" pitchFamily="18" charset="0"/>
                          <a:ea typeface="+mn-ea"/>
                          <a:cs typeface="Times New Roman" pitchFamily="18" charset="0"/>
                          <a:sym typeface="Symbol" pitchFamily="18" charset="2"/>
                        </a:rPr>
                        <a:t> t</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72949">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extLst>
                  <a:ext uri="{0D108BD9-81ED-4DB2-BD59-A6C34878D82A}">
                    <a16:rowId xmlns:a16="http://schemas.microsoft.com/office/drawing/2014/main" val="10001"/>
                  </a:ext>
                </a:extLst>
              </a:tr>
              <a:tr h="372949">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72949">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72949">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72949">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extLst>
                  <a:ext uri="{0D108BD9-81ED-4DB2-BD59-A6C34878D82A}">
                    <a16:rowId xmlns:a16="http://schemas.microsoft.com/office/drawing/2014/main" val="10005"/>
                  </a:ext>
                </a:extLst>
              </a:tr>
              <a:tr h="372949">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72949">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72949">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smtClean="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7" name="Rectangle 6"/>
          <p:cNvSpPr/>
          <p:nvPr/>
        </p:nvSpPr>
        <p:spPr>
          <a:xfrm>
            <a:off x="3505200" y="5105400"/>
            <a:ext cx="51816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rPr>
              <a:t> Argument is not valid.</a:t>
            </a:r>
          </a:p>
          <a:p>
            <a:r>
              <a:rPr lang="en-US" b="1" dirty="0" smtClean="0"/>
              <a:t/>
            </a:r>
            <a:br>
              <a:rPr lang="en-US" b="1" dirty="0" smtClean="0"/>
            </a:br>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Trek</Template>
  <TotalTime>1767</TotalTime>
  <Words>885</Words>
  <Application>Microsoft Office PowerPoint</Application>
  <PresentationFormat>On-screen Show (4:3)</PresentationFormat>
  <Paragraphs>469</Paragraphs>
  <Slides>25</Slides>
  <Notes>0</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37" baseType="lpstr">
      <vt:lpstr>Arial</vt:lpstr>
      <vt:lpstr>Bell MT</vt:lpstr>
      <vt:lpstr>Bookman Old Style</vt:lpstr>
      <vt:lpstr>Calibri</vt:lpstr>
      <vt:lpstr>Comic Sans MS</vt:lpstr>
      <vt:lpstr>Gill Sans MT</vt:lpstr>
      <vt:lpstr>Symbol</vt:lpstr>
      <vt:lpstr>Times New Roman</vt:lpstr>
      <vt:lpstr>Wingdings</vt:lpstr>
      <vt:lpstr>Wingdings 3</vt:lpstr>
      <vt:lpstr>Origin</vt:lpstr>
      <vt:lpstr>Equation</vt:lpstr>
      <vt:lpstr>ARGUMENTS Lecture # 05  </vt:lpstr>
      <vt:lpstr>In Today’s Lecture</vt:lpstr>
      <vt:lpstr>Example:</vt:lpstr>
      <vt:lpstr>ARGUMENT:</vt:lpstr>
      <vt:lpstr>VALID ARGUMENT</vt:lpstr>
      <vt:lpstr>PowerPoint Presentation</vt:lpstr>
      <vt:lpstr>Note:</vt:lpstr>
      <vt:lpstr>INVALID ARGUMENT</vt:lpstr>
      <vt:lpstr>Argument Form</vt:lpstr>
      <vt:lpstr>Checking the validity of an argument form</vt:lpstr>
      <vt:lpstr>EXAMPLE:</vt:lpstr>
      <vt:lpstr>PowerPoint Presentation</vt:lpstr>
      <vt:lpstr>EXAMPLE OF INVALID ARGUMENT</vt:lpstr>
      <vt:lpstr>PowerPoint Presentation</vt:lpstr>
      <vt:lpstr>EXERCISE</vt:lpstr>
      <vt:lpstr>PowerPoint Presentation</vt:lpstr>
      <vt:lpstr>WORD PROBLEM</vt:lpstr>
      <vt:lpstr>PowerPoint Presentation</vt:lpstr>
      <vt:lpstr>EXERCISE</vt:lpstr>
      <vt:lpstr>PowerPoint Presentation</vt:lpstr>
      <vt:lpstr>EXERCISE</vt:lpstr>
      <vt:lpstr>PowerPoint Presentation</vt:lpstr>
      <vt:lpstr>REMEMBER:</vt:lpstr>
      <vt:lpstr>EXERCISE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Discrete Structures </dc:title>
  <dc:creator>C &amp; M</dc:creator>
  <cp:lastModifiedBy>Tehseen Fatima</cp:lastModifiedBy>
  <cp:revision>188</cp:revision>
  <dcterms:created xsi:type="dcterms:W3CDTF">2013-09-11T16:39:38Z</dcterms:created>
  <dcterms:modified xsi:type="dcterms:W3CDTF">2023-07-20T05:44:16Z</dcterms:modified>
</cp:coreProperties>
</file>
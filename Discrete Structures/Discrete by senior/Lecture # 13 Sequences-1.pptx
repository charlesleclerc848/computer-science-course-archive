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0"/>
  </p:notesMasterIdLst>
  <p:sldIdLst>
    <p:sldId id="256" r:id="rId2"/>
    <p:sldId id="288" r:id="rId3"/>
    <p:sldId id="289" r:id="rId4"/>
    <p:sldId id="290" r:id="rId5"/>
    <p:sldId id="291" r:id="rId6"/>
    <p:sldId id="293" r:id="rId7"/>
    <p:sldId id="292" r:id="rId8"/>
    <p:sldId id="334" r:id="rId9"/>
    <p:sldId id="294" r:id="rId10"/>
    <p:sldId id="335" r:id="rId11"/>
    <p:sldId id="295" r:id="rId12"/>
    <p:sldId id="326" r:id="rId13"/>
    <p:sldId id="296" r:id="rId14"/>
    <p:sldId id="327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29" r:id="rId24"/>
    <p:sldId id="328" r:id="rId25"/>
    <p:sldId id="330" r:id="rId26"/>
    <p:sldId id="306" r:id="rId27"/>
    <p:sldId id="331" r:id="rId28"/>
    <p:sldId id="307" r:id="rId29"/>
    <p:sldId id="308" r:id="rId30"/>
    <p:sldId id="309" r:id="rId31"/>
    <p:sldId id="332" r:id="rId32"/>
    <p:sldId id="310" r:id="rId33"/>
    <p:sldId id="311" r:id="rId34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33" r:id="rId43"/>
    <p:sldId id="320" r:id="rId44"/>
    <p:sldId id="321" r:id="rId45"/>
    <p:sldId id="322" r:id="rId46"/>
    <p:sldId id="323" r:id="rId47"/>
    <p:sldId id="324" r:id="rId48"/>
    <p:sldId id="325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03" autoAdjust="0"/>
    <p:restoredTop sz="94660"/>
  </p:normalViewPr>
  <p:slideViewPr>
    <p:cSldViewPr>
      <p:cViewPr varScale="1">
        <p:scale>
          <a:sx n="66" d="100"/>
          <a:sy n="66" d="100"/>
        </p:scale>
        <p:origin x="117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EC208-CBD2-4BB3-BC72-DCDC3D7B8183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421D0-6215-4261-B64C-7470A97F18E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C547385E-8BC5-4441-A857-FF4014F161FF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C547385E-8BC5-4441-A857-FF4014F161FF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547385E-8BC5-4441-A857-FF4014F161FF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6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3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4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4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5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16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17.w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SEQUENCES</a:t>
            </a:r>
            <a:br>
              <a:rPr lang="en-US" b="1" u="sng" dirty="0" smtClean="0">
                <a:solidFill>
                  <a:srgbClr val="C00000"/>
                </a:solidFill>
              </a:rPr>
            </a:br>
            <a:r>
              <a:rPr lang="en-US" sz="2900" b="1" dirty="0" smtClean="0">
                <a:solidFill>
                  <a:srgbClr val="0070C0"/>
                </a:solidFill>
              </a:rPr>
              <a:t>Lecture </a:t>
            </a:r>
            <a:r>
              <a:rPr lang="en-US" sz="2900" b="1" smtClean="0">
                <a:solidFill>
                  <a:srgbClr val="0070C0"/>
                </a:solidFill>
              </a:rPr>
              <a:t># 13</a:t>
            </a:r>
            <a:endParaRPr lang="en-US" sz="2900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INTRODUCTION</a:t>
            </a:r>
            <a:endParaRPr lang="en-US" b="1" dirty="0" smtClean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r>
              <a:rPr lang="en-US" b="1" u="sng" dirty="0" smtClean="0">
                <a:solidFill>
                  <a:srgbClr val="C00000"/>
                </a:solidFill>
              </a:rPr>
              <a:t>SEQUENCE: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A sequence is just a list of elements usually written in a row.</a:t>
            </a:r>
          </a:p>
          <a:p>
            <a:r>
              <a:rPr lang="en-US" b="1" u="sng" dirty="0" smtClean="0"/>
              <a:t>EXAMPLES: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1).	</a:t>
            </a:r>
            <a:r>
              <a:rPr lang="en-US" dirty="0" smtClean="0">
                <a:solidFill>
                  <a:srgbClr val="C00000"/>
                </a:solidFill>
              </a:rPr>
              <a:t>1, 2, 3, 4, 5, …</a:t>
            </a:r>
          </a:p>
          <a:p>
            <a:pPr>
              <a:buNone/>
            </a:pPr>
            <a:r>
              <a:rPr lang="en-US" dirty="0" smtClean="0"/>
              <a:t>	2).	</a:t>
            </a:r>
            <a:r>
              <a:rPr lang="en-US" dirty="0" smtClean="0">
                <a:solidFill>
                  <a:srgbClr val="C00000"/>
                </a:solidFill>
              </a:rPr>
              <a:t>4, 8, 12, 16, 20,…</a:t>
            </a:r>
          </a:p>
          <a:p>
            <a:pPr>
              <a:buNone/>
            </a:pPr>
            <a:r>
              <a:rPr lang="en-US" dirty="0" smtClean="0"/>
              <a:t>	3).	</a:t>
            </a:r>
            <a:r>
              <a:rPr lang="en-US" dirty="0" smtClean="0">
                <a:solidFill>
                  <a:srgbClr val="C00000"/>
                </a:solidFill>
              </a:rPr>
              <a:t>2, 4, 8, 16, 32, …</a:t>
            </a:r>
          </a:p>
          <a:p>
            <a:pPr>
              <a:buNone/>
            </a:pPr>
            <a:r>
              <a:rPr lang="en-US" dirty="0" smtClean="0"/>
              <a:t>	4).	</a:t>
            </a:r>
            <a:r>
              <a:rPr lang="en-US" dirty="0" smtClean="0">
                <a:solidFill>
                  <a:srgbClr val="C00000"/>
                </a:solidFill>
              </a:rPr>
              <a:t>1, 1/2, 1/3, 1/4, 1/5, …</a:t>
            </a:r>
          </a:p>
          <a:p>
            <a:pPr>
              <a:buNone/>
            </a:pPr>
            <a:r>
              <a:rPr lang="en-US" dirty="0" smtClean="0"/>
              <a:t>	5).	</a:t>
            </a:r>
            <a:r>
              <a:rPr lang="en-US" dirty="0" smtClean="0">
                <a:solidFill>
                  <a:srgbClr val="C00000"/>
                </a:solidFill>
              </a:rPr>
              <a:t>1, 4, 9, 16, 25, …</a:t>
            </a:r>
          </a:p>
          <a:p>
            <a:pPr>
              <a:buNone/>
            </a:pPr>
            <a:r>
              <a:rPr lang="en-US" dirty="0" smtClean="0"/>
              <a:t>	6).	</a:t>
            </a:r>
            <a:r>
              <a:rPr lang="en-US" dirty="0" smtClean="0">
                <a:solidFill>
                  <a:srgbClr val="C00000"/>
                </a:solidFill>
              </a:rPr>
              <a:t>1, -1, 1, -1, 1, -1, …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10200" y="4648200"/>
            <a:ext cx="2895600" cy="114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smtClean="0">
                <a:solidFill>
                  <a:srgbClr val="C00000"/>
                </a:solidFill>
              </a:rPr>
              <a:t>Note: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The symbol </a:t>
            </a:r>
            <a:r>
              <a:rPr lang="en-US" dirty="0" smtClean="0">
                <a:solidFill>
                  <a:srgbClr val="C00000"/>
                </a:solidFill>
              </a:rPr>
              <a:t>“</a:t>
            </a:r>
            <a:r>
              <a:rPr lang="en-US" b="1" dirty="0" smtClean="0">
                <a:solidFill>
                  <a:srgbClr val="C00000"/>
                </a:solidFill>
              </a:rPr>
              <a:t>…</a:t>
            </a:r>
            <a:r>
              <a:rPr lang="en-US" dirty="0" smtClean="0">
                <a:solidFill>
                  <a:srgbClr val="C00000"/>
                </a:solidFill>
              </a:rPr>
              <a:t>”</a:t>
            </a:r>
            <a:r>
              <a:rPr lang="en-US" dirty="0" smtClean="0">
                <a:solidFill>
                  <a:schemeClr val="tx1"/>
                </a:solidFill>
              </a:rPr>
              <a:t> is called ellipsis, and reads “so forth”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Sequences</a:t>
            </a:r>
            <a:r>
              <a:rPr lang="en-US" dirty="0" smtClean="0"/>
              <a:t> are kind of </a:t>
            </a:r>
            <a:r>
              <a:rPr lang="en-US" b="1" dirty="0" smtClean="0">
                <a:solidFill>
                  <a:srgbClr val="C00000"/>
                </a:solidFill>
              </a:rPr>
              <a:t>functions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Second Sequence is 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b="1" dirty="0" smtClean="0">
                <a:solidFill>
                  <a:srgbClr val="C00000"/>
                </a:solidFill>
              </a:rPr>
              <a:t>4, 8, 12, 16, 20, …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(1) = </a:t>
            </a:r>
            <a:r>
              <a:rPr lang="en-US" dirty="0" smtClean="0">
                <a:solidFill>
                  <a:srgbClr val="C00000"/>
                </a:solidFill>
              </a:rPr>
              <a:t>4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(2) = </a:t>
            </a:r>
            <a:r>
              <a:rPr lang="en-US" dirty="0" smtClean="0">
                <a:solidFill>
                  <a:srgbClr val="C00000"/>
                </a:solidFill>
              </a:rPr>
              <a:t>8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(3) = </a:t>
            </a:r>
            <a:r>
              <a:rPr lang="en-US" dirty="0" smtClean="0">
                <a:solidFill>
                  <a:srgbClr val="C00000"/>
                </a:solidFill>
              </a:rPr>
              <a:t>12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(4) = </a:t>
            </a:r>
            <a:r>
              <a:rPr lang="en-US" dirty="0" smtClean="0">
                <a:solidFill>
                  <a:srgbClr val="C00000"/>
                </a:solidFill>
              </a:rPr>
              <a:t>16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(5) = </a:t>
            </a:r>
            <a:r>
              <a:rPr lang="en-US" dirty="0" smtClean="0">
                <a:solidFill>
                  <a:srgbClr val="C00000"/>
                </a:solidFill>
              </a:rPr>
              <a:t>20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FORMAL DEFINITION OF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is a function whose 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is the set of </a:t>
            </a:r>
            <a:r>
              <a:rPr lang="en-US" dirty="0" smtClean="0">
                <a:solidFill>
                  <a:srgbClr val="C00000"/>
                </a:solidFill>
              </a:rPr>
              <a:t>integers</a:t>
            </a:r>
            <a:r>
              <a:rPr lang="en-US" dirty="0" smtClean="0"/>
              <a:t> greater than or equal to a particular </a:t>
            </a:r>
            <a:r>
              <a:rPr lang="en-US" dirty="0" smtClean="0">
                <a:solidFill>
                  <a:srgbClr val="C00000"/>
                </a:solidFill>
              </a:rPr>
              <a:t>integer n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Usually this set is the set of </a:t>
            </a:r>
            <a:r>
              <a:rPr lang="en-US" dirty="0" smtClean="0">
                <a:solidFill>
                  <a:srgbClr val="C00000"/>
                </a:solidFill>
              </a:rPr>
              <a:t>Natural numbers {1, 2, 3, …} </a:t>
            </a:r>
            <a:r>
              <a:rPr lang="en-US" dirty="0" smtClean="0"/>
              <a:t>or the set of </a:t>
            </a:r>
            <a:r>
              <a:rPr lang="en-US" dirty="0" smtClean="0">
                <a:solidFill>
                  <a:srgbClr val="C00000"/>
                </a:solidFill>
              </a:rPr>
              <a:t>whole numbers {0, 1, 2, 3, …}</a:t>
            </a:r>
            <a:r>
              <a:rPr lang="en-US" dirty="0" smtClean="0"/>
              <a:t>.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NOTATION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We use the notation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to denote the </a:t>
            </a:r>
            <a:r>
              <a:rPr lang="en-US" b="1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integer n</a:t>
            </a:r>
            <a:r>
              <a:rPr lang="en-US" dirty="0" smtClean="0"/>
              <a:t>, and call it a </a:t>
            </a:r>
            <a:r>
              <a:rPr lang="en-US" b="1" dirty="0" smtClean="0">
                <a:solidFill>
                  <a:srgbClr val="C00000"/>
                </a:solidFill>
              </a:rPr>
              <a:t>term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. Thus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4</a:t>
            </a:r>
            <a:r>
              <a:rPr lang="en-US" b="1" dirty="0" smtClean="0">
                <a:solidFill>
                  <a:srgbClr val="C00000"/>
                </a:solidFill>
              </a:rPr>
              <a:t> …, 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, …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represent  the </a:t>
            </a:r>
            <a:r>
              <a:rPr lang="en-US" b="1" dirty="0" smtClean="0">
                <a:solidFill>
                  <a:srgbClr val="C00000"/>
                </a:solidFill>
              </a:rPr>
              <a:t>terms</a:t>
            </a:r>
            <a:r>
              <a:rPr lang="en-US" dirty="0" smtClean="0"/>
              <a:t> of a </a:t>
            </a:r>
            <a:r>
              <a:rPr lang="en-US" b="1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defined on the set of </a:t>
            </a:r>
            <a:r>
              <a:rPr lang="en-US" b="1" dirty="0" smtClean="0">
                <a:solidFill>
                  <a:srgbClr val="C00000"/>
                </a:solidFill>
              </a:rPr>
              <a:t>natural numbers N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Note:</a:t>
            </a:r>
          </a:p>
          <a:p>
            <a:pPr>
              <a:buNone/>
            </a:pPr>
            <a:r>
              <a:rPr lang="en-US" dirty="0" smtClean="0"/>
              <a:t>	That a sequence is described by listing the terms of the sequence in order of increasing subscripts.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FINDING TERMS OF A SEQUENCE GIVEN BY AN EXPLICIT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An </a:t>
            </a:r>
            <a:r>
              <a:rPr lang="en-US" b="1" dirty="0" smtClean="0">
                <a:solidFill>
                  <a:srgbClr val="C00000"/>
                </a:solidFill>
              </a:rPr>
              <a:t>explicit formula </a:t>
            </a:r>
            <a:r>
              <a:rPr lang="en-US" dirty="0" smtClean="0"/>
              <a:t>or general formula for a </a:t>
            </a:r>
            <a:r>
              <a:rPr lang="en-US" b="1" dirty="0" smtClean="0">
                <a:solidFill>
                  <a:srgbClr val="C00000"/>
                </a:solidFill>
              </a:rPr>
              <a:t>sequence </a:t>
            </a:r>
            <a:r>
              <a:rPr lang="en-US" dirty="0" smtClean="0"/>
              <a:t>is a </a:t>
            </a:r>
            <a:r>
              <a:rPr lang="en-US" b="1" dirty="0" smtClean="0">
                <a:solidFill>
                  <a:srgbClr val="C00000"/>
                </a:solidFill>
              </a:rPr>
              <a:t>rule</a:t>
            </a:r>
            <a:r>
              <a:rPr lang="en-US" dirty="0" smtClean="0"/>
              <a:t> that shows how the values of </a:t>
            </a:r>
            <a:r>
              <a:rPr lang="en-US" b="1" dirty="0" err="1" smtClean="0">
                <a:solidFill>
                  <a:srgbClr val="C00000"/>
                </a:solidFill>
              </a:rPr>
              <a:t>a</a:t>
            </a:r>
            <a:r>
              <a:rPr lang="en-US" b="1" baseline="-25000" dirty="0" err="1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depends on </a:t>
            </a:r>
            <a:r>
              <a:rPr lang="en-US" b="1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05800" cy="5029200"/>
          </a:xfrm>
        </p:spPr>
        <p:txBody>
          <a:bodyPr/>
          <a:lstStyle/>
          <a:p>
            <a:r>
              <a:rPr lang="en-US" dirty="0" smtClean="0"/>
              <a:t>Define a </a:t>
            </a:r>
            <a:r>
              <a:rPr lang="en-US" b="1" dirty="0" smtClean="0">
                <a:solidFill>
                  <a:srgbClr val="C00000"/>
                </a:solidFill>
              </a:rPr>
              <a:t>sequence a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b="1" dirty="0" smtClean="0">
                <a:solidFill>
                  <a:srgbClr val="C00000"/>
                </a:solidFill>
              </a:rPr>
              <a:t>, … </a:t>
            </a:r>
            <a:r>
              <a:rPr lang="en-US" dirty="0" smtClean="0"/>
              <a:t>by the explicit formula, find the </a:t>
            </a:r>
            <a:r>
              <a:rPr lang="en-US" b="1" dirty="0" smtClean="0">
                <a:solidFill>
                  <a:srgbClr val="C00000"/>
                </a:solidFill>
              </a:rPr>
              <a:t>first 4</a:t>
            </a:r>
            <a:r>
              <a:rPr lang="en-US" b="1" baseline="30000" dirty="0" smtClean="0">
                <a:solidFill>
                  <a:srgbClr val="C00000"/>
                </a:solidFill>
              </a:rPr>
              <a:t>th</a:t>
            </a:r>
            <a:r>
              <a:rPr lang="en-US" b="1" dirty="0" smtClean="0">
                <a:solidFill>
                  <a:srgbClr val="C00000"/>
                </a:solidFill>
              </a:rPr>
              <a:t> term</a:t>
            </a:r>
            <a:r>
              <a:rPr lang="en-US" dirty="0" smtClean="0"/>
              <a:t> of the sequence: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71682" name="Object 2"/>
          <p:cNvGraphicFramePr>
            <a:graphicFrameLocks noChangeAspect="1"/>
          </p:cNvGraphicFramePr>
          <p:nvPr/>
        </p:nvGraphicFramePr>
        <p:xfrm>
          <a:off x="2618111" y="2133600"/>
          <a:ext cx="474133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1" r:id="rId3" imgW="2171520" imgH="393480" progId="">
                  <p:embed/>
                </p:oleObj>
              </mc:Choice>
              <mc:Fallback>
                <p:oleObj r:id="rId3" imgW="217152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11" y="2133600"/>
                        <a:ext cx="474133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05800" cy="5029200"/>
          </a:xfrm>
        </p:spPr>
        <p:txBody>
          <a:bodyPr/>
          <a:lstStyle/>
          <a:p>
            <a:r>
              <a:rPr lang="en-US" dirty="0" smtClean="0"/>
              <a:t>Define a </a:t>
            </a:r>
            <a:r>
              <a:rPr lang="en-US" b="1" dirty="0" smtClean="0">
                <a:solidFill>
                  <a:srgbClr val="C00000"/>
                </a:solidFill>
              </a:rPr>
              <a:t>sequence a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b="1" dirty="0" smtClean="0">
                <a:solidFill>
                  <a:srgbClr val="C00000"/>
                </a:solidFill>
              </a:rPr>
              <a:t>, … </a:t>
            </a:r>
            <a:r>
              <a:rPr lang="en-US" dirty="0" smtClean="0"/>
              <a:t>by the explicit formula, find the </a:t>
            </a:r>
            <a:r>
              <a:rPr lang="en-US" b="1" dirty="0" smtClean="0">
                <a:solidFill>
                  <a:srgbClr val="C00000"/>
                </a:solidFill>
              </a:rPr>
              <a:t>first 4</a:t>
            </a:r>
            <a:r>
              <a:rPr lang="en-US" b="1" baseline="30000" dirty="0" smtClean="0">
                <a:solidFill>
                  <a:srgbClr val="C00000"/>
                </a:solidFill>
              </a:rPr>
              <a:t>th</a:t>
            </a:r>
            <a:r>
              <a:rPr lang="en-US" b="1" dirty="0" smtClean="0">
                <a:solidFill>
                  <a:srgbClr val="C00000"/>
                </a:solidFill>
              </a:rPr>
              <a:t> term</a:t>
            </a:r>
            <a:r>
              <a:rPr lang="en-US" dirty="0" smtClean="0"/>
              <a:t> of the sequence: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To find the </a:t>
            </a:r>
            <a:r>
              <a:rPr lang="en-US" b="1" dirty="0" smtClean="0">
                <a:solidFill>
                  <a:srgbClr val="C00000"/>
                </a:solidFill>
              </a:rPr>
              <a:t>1</a:t>
            </a:r>
            <a:r>
              <a:rPr lang="en-US" b="1" baseline="30000" dirty="0" smtClean="0">
                <a:solidFill>
                  <a:srgbClr val="C00000"/>
                </a:solidFill>
              </a:rPr>
              <a:t>st</a:t>
            </a:r>
            <a:r>
              <a:rPr lang="en-US" b="1" dirty="0" smtClean="0">
                <a:solidFill>
                  <a:srgbClr val="C00000"/>
                </a:solidFill>
              </a:rPr>
              <a:t> term </a:t>
            </a:r>
            <a:r>
              <a:rPr lang="en-US" dirty="0" smtClean="0"/>
              <a:t>just replace </a:t>
            </a:r>
            <a:r>
              <a:rPr lang="en-US" b="1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with </a:t>
            </a:r>
            <a:r>
              <a:rPr lang="en-US" b="1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and so on…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71682" name="Object 2"/>
          <p:cNvGraphicFramePr>
            <a:graphicFrameLocks noChangeAspect="1"/>
          </p:cNvGraphicFramePr>
          <p:nvPr/>
        </p:nvGraphicFramePr>
        <p:xfrm>
          <a:off x="2618111" y="2133600"/>
          <a:ext cx="474133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4" r:id="rId3" imgW="2171520" imgH="393480" progId="">
                  <p:embed/>
                </p:oleObj>
              </mc:Choice>
              <mc:Fallback>
                <p:oleObj r:id="rId3" imgW="2171520" imgH="393480" progId="">
                  <p:embed/>
                  <p:pic>
                    <p:nvPicPr>
                      <p:cNvPr id="716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11" y="2133600"/>
                        <a:ext cx="474133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3" name="Object 3"/>
          <p:cNvGraphicFramePr>
            <a:graphicFrameLocks noChangeAspect="1"/>
          </p:cNvGraphicFramePr>
          <p:nvPr/>
        </p:nvGraphicFramePr>
        <p:xfrm>
          <a:off x="1644444" y="3662508"/>
          <a:ext cx="5943601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5" r:id="rId5" imgW="2603160" imgH="812520" progId="">
                  <p:embed/>
                </p:oleObj>
              </mc:Choice>
              <mc:Fallback>
                <p:oleObj r:id="rId5" imgW="2603160" imgH="812520" progId="">
                  <p:embed/>
                  <p:pic>
                    <p:nvPicPr>
                      <p:cNvPr id="716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444" y="3662508"/>
                        <a:ext cx="5943601" cy="152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3193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Write the </a:t>
            </a:r>
            <a:r>
              <a:rPr lang="en-US" dirty="0" smtClean="0">
                <a:solidFill>
                  <a:srgbClr val="FF0000"/>
                </a:solidFill>
              </a:rPr>
              <a:t>first four terms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defined by the formula </a:t>
            </a:r>
            <a:r>
              <a:rPr lang="en-US" dirty="0" err="1" smtClean="0">
                <a:solidFill>
                  <a:srgbClr val="C00000"/>
                </a:solidFill>
              </a:rPr>
              <a:t>b</a:t>
            </a:r>
            <a:r>
              <a:rPr lang="en-US" baseline="-25000" dirty="0" err="1" smtClean="0">
                <a:solidFill>
                  <a:srgbClr val="C00000"/>
                </a:solidFill>
              </a:rPr>
              <a:t>j</a:t>
            </a:r>
            <a:r>
              <a:rPr lang="en-US" dirty="0" smtClean="0">
                <a:solidFill>
                  <a:srgbClr val="C00000"/>
                </a:solidFill>
              </a:rPr>
              <a:t> = 1 + 2</a:t>
            </a:r>
            <a:r>
              <a:rPr lang="en-US" baseline="30000" dirty="0" smtClean="0">
                <a:solidFill>
                  <a:srgbClr val="C00000"/>
                </a:solidFill>
              </a:rPr>
              <a:t>j</a:t>
            </a:r>
            <a:r>
              <a:rPr lang="en-US" dirty="0" smtClean="0"/>
              <a:t>, for all integers </a:t>
            </a:r>
            <a:r>
              <a:rPr lang="en-US" dirty="0" smtClean="0">
                <a:solidFill>
                  <a:srgbClr val="C00000"/>
                </a:solidFill>
              </a:rPr>
              <a:t>j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en-US" dirty="0" smtClean="0">
                <a:solidFill>
                  <a:srgbClr val="C00000"/>
                </a:solidFill>
              </a:rPr>
              <a:t> 0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		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05800" cy="5029200"/>
          </a:xfrm>
        </p:spPr>
        <p:txBody>
          <a:bodyPr/>
          <a:lstStyle/>
          <a:p>
            <a:r>
              <a:rPr lang="en-US" dirty="0" smtClean="0"/>
              <a:t>Define a </a:t>
            </a:r>
            <a:r>
              <a:rPr lang="en-US" b="1" dirty="0" smtClean="0">
                <a:solidFill>
                  <a:srgbClr val="C00000"/>
                </a:solidFill>
              </a:rPr>
              <a:t>sequence a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b="1" dirty="0" smtClean="0">
                <a:solidFill>
                  <a:srgbClr val="C00000"/>
                </a:solidFill>
              </a:rPr>
              <a:t>, … </a:t>
            </a:r>
            <a:r>
              <a:rPr lang="en-US" dirty="0" smtClean="0"/>
              <a:t>by the explicit formula, find the </a:t>
            </a:r>
            <a:r>
              <a:rPr lang="en-US" b="1" dirty="0" smtClean="0">
                <a:solidFill>
                  <a:srgbClr val="C00000"/>
                </a:solidFill>
              </a:rPr>
              <a:t>first 4</a:t>
            </a:r>
            <a:r>
              <a:rPr lang="en-US" b="1" baseline="30000" dirty="0" smtClean="0">
                <a:solidFill>
                  <a:srgbClr val="C00000"/>
                </a:solidFill>
              </a:rPr>
              <a:t>th</a:t>
            </a:r>
            <a:r>
              <a:rPr lang="en-US" b="1" dirty="0" smtClean="0">
                <a:solidFill>
                  <a:srgbClr val="C00000"/>
                </a:solidFill>
              </a:rPr>
              <a:t> term</a:t>
            </a:r>
            <a:r>
              <a:rPr lang="en-US" dirty="0" smtClean="0"/>
              <a:t> of the sequence: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To find the </a:t>
            </a:r>
            <a:r>
              <a:rPr lang="en-US" b="1" dirty="0" smtClean="0">
                <a:solidFill>
                  <a:srgbClr val="C00000"/>
                </a:solidFill>
              </a:rPr>
              <a:t>1</a:t>
            </a:r>
            <a:r>
              <a:rPr lang="en-US" b="1" baseline="30000" dirty="0" smtClean="0">
                <a:solidFill>
                  <a:srgbClr val="C00000"/>
                </a:solidFill>
              </a:rPr>
              <a:t>st</a:t>
            </a:r>
            <a:r>
              <a:rPr lang="en-US" b="1" dirty="0" smtClean="0">
                <a:solidFill>
                  <a:srgbClr val="C00000"/>
                </a:solidFill>
              </a:rPr>
              <a:t> term </a:t>
            </a:r>
            <a:r>
              <a:rPr lang="en-US" dirty="0" smtClean="0"/>
              <a:t>just replace </a:t>
            </a:r>
            <a:r>
              <a:rPr lang="en-US" b="1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with </a:t>
            </a:r>
            <a:r>
              <a:rPr lang="en-US" b="1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and so on…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71682" name="Object 2"/>
          <p:cNvGraphicFramePr>
            <a:graphicFrameLocks noChangeAspect="1"/>
          </p:cNvGraphicFramePr>
          <p:nvPr/>
        </p:nvGraphicFramePr>
        <p:xfrm>
          <a:off x="2618111" y="2133600"/>
          <a:ext cx="474133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28" r:id="rId3" imgW="2171520" imgH="393480" progId="">
                  <p:embed/>
                </p:oleObj>
              </mc:Choice>
              <mc:Fallback>
                <p:oleObj r:id="rId3" imgW="2171520" imgH="393480" progId="">
                  <p:embed/>
                  <p:pic>
                    <p:nvPicPr>
                      <p:cNvPr id="716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11" y="2133600"/>
                        <a:ext cx="474133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3" name="Object 3"/>
          <p:cNvGraphicFramePr>
            <a:graphicFrameLocks noChangeAspect="1"/>
          </p:cNvGraphicFramePr>
          <p:nvPr/>
        </p:nvGraphicFramePr>
        <p:xfrm>
          <a:off x="1644444" y="3662508"/>
          <a:ext cx="5943601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29" r:id="rId5" imgW="2603160" imgH="812520" progId="">
                  <p:embed/>
                </p:oleObj>
              </mc:Choice>
              <mc:Fallback>
                <p:oleObj r:id="rId5" imgW="2603160" imgH="812520" progId="">
                  <p:embed/>
                  <p:pic>
                    <p:nvPicPr>
                      <p:cNvPr id="716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444" y="3662508"/>
                        <a:ext cx="5943601" cy="152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069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Compute the </a:t>
            </a:r>
            <a:r>
              <a:rPr lang="en-US" dirty="0" smtClean="0">
                <a:solidFill>
                  <a:srgbClr val="C00000"/>
                </a:solidFill>
              </a:rPr>
              <a:t>first six terms </a:t>
            </a:r>
            <a:r>
              <a:rPr lang="en-US" dirty="0" smtClean="0"/>
              <a:t>of the </a:t>
            </a:r>
            <a:r>
              <a:rPr lang="en-US" dirty="0" smtClean="0">
                <a:solidFill>
                  <a:srgbClr val="C00000"/>
                </a:solidFill>
              </a:rPr>
              <a:t>sequence </a:t>
            </a:r>
            <a:r>
              <a:rPr lang="en-US" dirty="0" smtClean="0"/>
              <a:t>defined by the formula </a:t>
            </a:r>
            <a:r>
              <a:rPr lang="en-US" dirty="0" err="1" smtClean="0">
                <a:solidFill>
                  <a:srgbClr val="C00000"/>
                </a:solidFill>
              </a:rPr>
              <a:t>C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1+ (-1)</a:t>
            </a:r>
            <a:r>
              <a:rPr lang="en-US" baseline="30000" dirty="0" smtClean="0">
                <a:solidFill>
                  <a:srgbClr val="C00000"/>
                </a:solidFill>
              </a:rPr>
              <a:t> 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all integers </a:t>
            </a:r>
            <a:r>
              <a:rPr lang="en-US" dirty="0" smtClean="0">
                <a:solidFill>
                  <a:srgbClr val="C00000"/>
                </a:solidFill>
              </a:rPr>
              <a:t>n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en-US" dirty="0" smtClean="0">
                <a:solidFill>
                  <a:srgbClr val="C00000"/>
                </a:solidFill>
              </a:rPr>
              <a:t> 0</a:t>
            </a:r>
          </a:p>
          <a:p>
            <a:endParaRPr lang="en-US" dirty="0" smtClean="0"/>
          </a:p>
          <a:p>
            <a:r>
              <a:rPr lang="fr-FR" b="1" u="sng" dirty="0" smtClean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fr-FR" dirty="0" smtClean="0"/>
              <a:t>				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Compute the </a:t>
            </a:r>
            <a:r>
              <a:rPr lang="en-US" dirty="0" smtClean="0">
                <a:solidFill>
                  <a:srgbClr val="C00000"/>
                </a:solidFill>
              </a:rPr>
              <a:t>first six terms </a:t>
            </a:r>
            <a:r>
              <a:rPr lang="en-US" dirty="0" smtClean="0"/>
              <a:t>of the </a:t>
            </a:r>
            <a:r>
              <a:rPr lang="en-US" dirty="0" smtClean="0">
                <a:solidFill>
                  <a:srgbClr val="C00000"/>
                </a:solidFill>
              </a:rPr>
              <a:t>sequence </a:t>
            </a:r>
            <a:r>
              <a:rPr lang="en-US" dirty="0" smtClean="0"/>
              <a:t>defined by the formula </a:t>
            </a:r>
            <a:r>
              <a:rPr lang="en-US" dirty="0" err="1" smtClean="0">
                <a:solidFill>
                  <a:srgbClr val="C00000"/>
                </a:solidFill>
              </a:rPr>
              <a:t>C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1+ (-1)</a:t>
            </a:r>
            <a:r>
              <a:rPr lang="en-US" baseline="30000" dirty="0" smtClean="0">
                <a:solidFill>
                  <a:srgbClr val="C00000"/>
                </a:solidFill>
              </a:rPr>
              <a:t> 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all integers </a:t>
            </a:r>
            <a:r>
              <a:rPr lang="en-US" dirty="0" smtClean="0">
                <a:solidFill>
                  <a:srgbClr val="C00000"/>
                </a:solidFill>
              </a:rPr>
              <a:t>n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en-US" dirty="0" smtClean="0">
                <a:solidFill>
                  <a:srgbClr val="C00000"/>
                </a:solidFill>
              </a:rPr>
              <a:t> 0</a:t>
            </a:r>
          </a:p>
          <a:p>
            <a:endParaRPr lang="en-US" dirty="0" smtClean="0"/>
          </a:p>
          <a:p>
            <a:r>
              <a:rPr lang="fr-FR" b="1" u="sng" dirty="0" smtClean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fr-FR" dirty="0" smtClean="0"/>
              <a:t>				C</a:t>
            </a:r>
            <a:r>
              <a:rPr lang="fr-FR" baseline="-25000" dirty="0" smtClean="0"/>
              <a:t>0</a:t>
            </a:r>
            <a:r>
              <a:rPr lang="fr-FR" dirty="0" smtClean="0"/>
              <a:t> = </a:t>
            </a:r>
            <a:r>
              <a:rPr lang="fr-FR" dirty="0" smtClean="0">
                <a:solidFill>
                  <a:srgbClr val="C00000"/>
                </a:solidFill>
              </a:rPr>
              <a:t>1 + (-1)</a:t>
            </a:r>
            <a:r>
              <a:rPr lang="fr-FR" baseline="30000" dirty="0" smtClean="0">
                <a:solidFill>
                  <a:srgbClr val="C00000"/>
                </a:solidFill>
              </a:rPr>
              <a:t>0  </a:t>
            </a:r>
            <a:r>
              <a:rPr lang="fr-FR" dirty="0" smtClean="0">
                <a:solidFill>
                  <a:srgbClr val="C00000"/>
                </a:solidFill>
              </a:rPr>
              <a:t>= 1 + 1 = 2	</a:t>
            </a:r>
          </a:p>
          <a:p>
            <a:pPr>
              <a:buNone/>
            </a:pPr>
            <a:r>
              <a:rPr lang="fr-FR" dirty="0" smtClean="0"/>
              <a:t>				C</a:t>
            </a:r>
            <a:r>
              <a:rPr lang="fr-FR" baseline="-25000" dirty="0" smtClean="0"/>
              <a:t>1</a:t>
            </a:r>
            <a:r>
              <a:rPr lang="fr-FR" dirty="0" smtClean="0"/>
              <a:t> = </a:t>
            </a:r>
            <a:r>
              <a:rPr lang="fr-FR" dirty="0" smtClean="0">
                <a:solidFill>
                  <a:srgbClr val="C00000"/>
                </a:solidFill>
              </a:rPr>
              <a:t>1 + (-1)</a:t>
            </a:r>
            <a:r>
              <a:rPr lang="en-US" baseline="30000" dirty="0" smtClean="0">
                <a:solidFill>
                  <a:srgbClr val="C00000"/>
                </a:solidFill>
              </a:rPr>
              <a:t>1</a:t>
            </a:r>
            <a:r>
              <a:rPr lang="fr-FR" dirty="0" smtClean="0">
                <a:solidFill>
                  <a:srgbClr val="C00000"/>
                </a:solidFill>
              </a:rPr>
              <a:t> = 1 + (-1) = 0</a:t>
            </a:r>
          </a:p>
          <a:p>
            <a:pPr>
              <a:buNone/>
            </a:pPr>
            <a:r>
              <a:rPr lang="fr-FR" dirty="0" smtClean="0"/>
              <a:t>				C</a:t>
            </a:r>
            <a:r>
              <a:rPr lang="fr-FR" baseline="-25000" dirty="0" smtClean="0"/>
              <a:t>2</a:t>
            </a:r>
            <a:r>
              <a:rPr lang="fr-FR" dirty="0" smtClean="0"/>
              <a:t> = </a:t>
            </a:r>
            <a:r>
              <a:rPr lang="fr-FR" dirty="0" smtClean="0">
                <a:solidFill>
                  <a:srgbClr val="C00000"/>
                </a:solidFill>
              </a:rPr>
              <a:t>1 + (-1)</a:t>
            </a:r>
            <a:r>
              <a:rPr lang="fr-FR" baseline="30000" dirty="0" smtClean="0">
                <a:solidFill>
                  <a:srgbClr val="C00000"/>
                </a:solidFill>
              </a:rPr>
              <a:t>2</a:t>
            </a:r>
            <a:r>
              <a:rPr lang="fr-FR" dirty="0" smtClean="0">
                <a:solidFill>
                  <a:srgbClr val="C00000"/>
                </a:solidFill>
              </a:rPr>
              <a:t> = 1 + 1 = 2</a:t>
            </a:r>
          </a:p>
          <a:p>
            <a:pPr>
              <a:buNone/>
            </a:pPr>
            <a:r>
              <a:rPr lang="fr-FR" dirty="0" smtClean="0"/>
              <a:t>				C</a:t>
            </a:r>
            <a:r>
              <a:rPr lang="fr-FR" baseline="-25000" dirty="0" smtClean="0"/>
              <a:t>3</a:t>
            </a:r>
            <a:r>
              <a:rPr lang="fr-FR" dirty="0" smtClean="0"/>
              <a:t> = </a:t>
            </a:r>
            <a:r>
              <a:rPr lang="fr-FR" dirty="0" smtClean="0">
                <a:solidFill>
                  <a:srgbClr val="C00000"/>
                </a:solidFill>
              </a:rPr>
              <a:t>1 + (-1)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fr-FR" dirty="0" smtClean="0">
                <a:solidFill>
                  <a:srgbClr val="C00000"/>
                </a:solidFill>
              </a:rPr>
              <a:t> = 1 + (-1) = 0</a:t>
            </a:r>
          </a:p>
          <a:p>
            <a:pPr>
              <a:buNone/>
            </a:pPr>
            <a:r>
              <a:rPr lang="en-US" dirty="0" smtClean="0"/>
              <a:t>				C</a:t>
            </a:r>
            <a:r>
              <a:rPr lang="en-US" baseline="-25000" dirty="0" smtClean="0"/>
              <a:t>4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1 + (-1)</a:t>
            </a:r>
            <a:r>
              <a:rPr lang="en-US" baseline="30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1 + 1 = 2</a:t>
            </a:r>
          </a:p>
          <a:p>
            <a:pPr>
              <a:buNone/>
            </a:pPr>
            <a:r>
              <a:rPr lang="en-US" dirty="0" smtClean="0"/>
              <a:t>				C</a:t>
            </a:r>
            <a:r>
              <a:rPr lang="en-US" baseline="-25000" dirty="0" smtClean="0"/>
              <a:t>5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1 + (-1)</a:t>
            </a:r>
            <a:r>
              <a:rPr lang="en-US" baseline="30000" dirty="0" smtClean="0">
                <a:solidFill>
                  <a:srgbClr val="C00000"/>
                </a:solidFill>
              </a:rPr>
              <a:t>5</a:t>
            </a:r>
            <a:r>
              <a:rPr lang="en-US" dirty="0" smtClean="0">
                <a:solidFill>
                  <a:srgbClr val="C00000"/>
                </a:solidFill>
              </a:rPr>
              <a:t> = 1 + (-1) = 0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876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Write the first four terms of the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defined by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REMARK: </a:t>
            </a:r>
            <a:r>
              <a:rPr lang="en-US" dirty="0" smtClean="0"/>
              <a:t>A sequence whose terms alternate in sign is called an </a:t>
            </a:r>
            <a:r>
              <a:rPr lang="en-US" b="1" dirty="0" smtClean="0">
                <a:solidFill>
                  <a:srgbClr val="C00000"/>
                </a:solidFill>
              </a:rPr>
              <a:t>alternating sequence</a:t>
            </a:r>
            <a:r>
              <a:rPr lang="en-US" dirty="0" smtClean="0"/>
              <a:t>.</a:t>
            </a:r>
          </a:p>
          <a:p>
            <a:endParaRPr lang="en-US" b="1" u="sng" dirty="0" smtClean="0"/>
          </a:p>
          <a:p>
            <a:endParaRPr lang="en-US" dirty="0"/>
          </a:p>
        </p:txBody>
      </p:sp>
      <p:graphicFrame>
        <p:nvGraphicFramePr>
          <p:cNvPr id="92162" name="Object 2"/>
          <p:cNvGraphicFramePr>
            <a:graphicFrameLocks noChangeAspect="1"/>
          </p:cNvGraphicFramePr>
          <p:nvPr/>
        </p:nvGraphicFramePr>
        <p:xfrm>
          <a:off x="2286000" y="1752600"/>
          <a:ext cx="434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69" r:id="rId3" imgW="2171520" imgH="419040" progId="">
                  <p:embed/>
                </p:oleObj>
              </mc:Choice>
              <mc:Fallback>
                <p:oleObj r:id="rId3" imgW="2171520" imgH="4190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752600"/>
                        <a:ext cx="43434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Write the first four terms of the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defined by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REMARK: </a:t>
            </a:r>
            <a:r>
              <a:rPr lang="en-US" dirty="0" smtClean="0"/>
              <a:t>A sequence whose terms alternate in sign is called an </a:t>
            </a:r>
            <a:r>
              <a:rPr lang="en-US" b="1" dirty="0" smtClean="0">
                <a:solidFill>
                  <a:srgbClr val="C00000"/>
                </a:solidFill>
              </a:rPr>
              <a:t>alternating sequence</a:t>
            </a:r>
            <a:r>
              <a:rPr lang="en-US" dirty="0" smtClean="0"/>
              <a:t>.</a:t>
            </a:r>
          </a:p>
          <a:p>
            <a:endParaRPr lang="en-US" b="1" u="sng" dirty="0" smtClean="0"/>
          </a:p>
          <a:p>
            <a:endParaRPr lang="en-US" dirty="0"/>
          </a:p>
        </p:txBody>
      </p:sp>
      <p:graphicFrame>
        <p:nvGraphicFramePr>
          <p:cNvPr id="92162" name="Object 2"/>
          <p:cNvGraphicFramePr>
            <a:graphicFrameLocks noChangeAspect="1"/>
          </p:cNvGraphicFramePr>
          <p:nvPr/>
        </p:nvGraphicFramePr>
        <p:xfrm>
          <a:off x="2286000" y="1752600"/>
          <a:ext cx="434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2" r:id="rId3" imgW="2171520" imgH="419040" progId="">
                  <p:embed/>
                </p:oleObj>
              </mc:Choice>
              <mc:Fallback>
                <p:oleObj r:id="rId3" imgW="2171520" imgH="419040" progId="">
                  <p:embed/>
                  <p:pic>
                    <p:nvPicPr>
                      <p:cNvPr id="921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752600"/>
                        <a:ext cx="43434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1143000" y="3298728"/>
          <a:ext cx="6715996" cy="1600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3" r:id="rId5" imgW="3517560" imgH="838080" progId="">
                  <p:embed/>
                </p:oleObj>
              </mc:Choice>
              <mc:Fallback>
                <p:oleObj r:id="rId5" imgW="3517560" imgH="838080" progId="">
                  <p:embed/>
                  <p:pic>
                    <p:nvPicPr>
                      <p:cNvPr id="921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298728"/>
                        <a:ext cx="6715996" cy="1600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731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Find explicit formulas for sequences with the initial terms given: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1).	</a:t>
            </a:r>
            <a:r>
              <a:rPr lang="en-US" b="1" dirty="0" smtClean="0">
                <a:solidFill>
                  <a:srgbClr val="C00000"/>
                </a:solidFill>
              </a:rPr>
              <a:t>0, 1, -2, 3, -4, 5, …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2).	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3).	</a:t>
            </a:r>
            <a:r>
              <a:rPr lang="en-US" b="1" dirty="0" smtClean="0">
                <a:solidFill>
                  <a:srgbClr val="C00000"/>
                </a:solidFill>
              </a:rPr>
              <a:t>2, 6, 12, 20, 30, 42, 56, …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4).	</a:t>
            </a:r>
            <a:r>
              <a:rPr lang="en-US" b="1" dirty="0" smtClean="0">
                <a:solidFill>
                  <a:srgbClr val="C00000"/>
                </a:solidFill>
              </a:rPr>
              <a:t>1/4, 2/9, 3/16, 4/25, 5/36, 6/49, …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93186" name="Object 2"/>
          <p:cNvGraphicFramePr>
            <a:graphicFrameLocks noChangeAspect="1"/>
          </p:cNvGraphicFramePr>
          <p:nvPr/>
        </p:nvGraphicFramePr>
        <p:xfrm>
          <a:off x="1504332" y="3370008"/>
          <a:ext cx="3733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2" r:id="rId3" imgW="1714320" imgH="393480" progId="">
                  <p:embed/>
                </p:oleObj>
              </mc:Choice>
              <mc:Fallback>
                <p:oleObj r:id="rId3" imgW="171432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332" y="3370008"/>
                        <a:ext cx="3733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	1).	</a:t>
            </a:r>
            <a:r>
              <a:rPr lang="en-US" b="1" dirty="0" smtClean="0">
                <a:solidFill>
                  <a:srgbClr val="C00000"/>
                </a:solidFill>
              </a:rPr>
              <a:t>0, 1, -2, 3, -4, 5, …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b="1" u="sng" dirty="0" smtClean="0"/>
              <a:t>SOLUTION: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Its an alternating sequence. In alternating sequence always take the power of (-1)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(-1)</a:t>
            </a:r>
            <a:r>
              <a:rPr lang="en-US" baseline="30000" dirty="0" smtClean="0">
                <a:solidFill>
                  <a:srgbClr val="C00000"/>
                </a:solidFill>
              </a:rPr>
              <a:t> n+1</a:t>
            </a:r>
            <a:r>
              <a:rPr lang="en-US" dirty="0" smtClean="0">
                <a:solidFill>
                  <a:srgbClr val="C00000"/>
                </a:solidFill>
              </a:rPr>
              <a:t>n </a:t>
            </a:r>
            <a:r>
              <a:rPr lang="en-US" dirty="0" smtClean="0"/>
              <a:t>		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0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when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is odd the term will become positive.</a:t>
            </a:r>
          </a:p>
          <a:p>
            <a:pPr>
              <a:buNone/>
            </a:pPr>
            <a:r>
              <a:rPr lang="en-US" dirty="0" smtClean="0"/>
              <a:t>	Check: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 = (-1)</a:t>
            </a:r>
            <a:r>
              <a:rPr lang="en-US" baseline="30000" dirty="0" smtClean="0">
                <a:solidFill>
                  <a:srgbClr val="C00000"/>
                </a:solidFill>
              </a:rPr>
              <a:t> 0+1.</a:t>
            </a:r>
            <a:r>
              <a:rPr lang="en-US" dirty="0" smtClean="0">
                <a:solidFill>
                  <a:srgbClr val="C00000"/>
                </a:solidFill>
              </a:rPr>
              <a:t>0  = 0,	          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(-1)</a:t>
            </a:r>
            <a:r>
              <a:rPr lang="en-US" baseline="30000" dirty="0" smtClean="0">
                <a:solidFill>
                  <a:srgbClr val="C00000"/>
                </a:solidFill>
              </a:rPr>
              <a:t> 1+1</a:t>
            </a:r>
            <a:r>
              <a:rPr lang="en-US" dirty="0" smtClean="0">
                <a:solidFill>
                  <a:srgbClr val="C00000"/>
                </a:solidFill>
              </a:rPr>
              <a:t>1  = 1, 	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 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(-1)</a:t>
            </a:r>
            <a:r>
              <a:rPr lang="en-US" baseline="30000" dirty="0" smtClean="0">
                <a:solidFill>
                  <a:srgbClr val="C00000"/>
                </a:solidFill>
              </a:rPr>
              <a:t> 2+1.</a:t>
            </a:r>
            <a:r>
              <a:rPr lang="en-US" dirty="0" smtClean="0">
                <a:solidFill>
                  <a:srgbClr val="C00000"/>
                </a:solidFill>
              </a:rPr>
              <a:t>2  = -2,	          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(-1)</a:t>
            </a:r>
            <a:r>
              <a:rPr lang="en-US" baseline="30000" dirty="0" smtClean="0">
                <a:solidFill>
                  <a:srgbClr val="C00000"/>
                </a:solidFill>
              </a:rPr>
              <a:t> 3+1.</a:t>
            </a:r>
            <a:r>
              <a:rPr lang="en-US" dirty="0" smtClean="0">
                <a:solidFill>
                  <a:srgbClr val="C00000"/>
                </a:solidFill>
              </a:rPr>
              <a:t>3  = 3,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 	</a:t>
            </a:r>
            <a:r>
              <a:rPr lang="en-US" dirty="0" smtClean="0">
                <a:solidFill>
                  <a:srgbClr val="C00000"/>
                </a:solidFill>
              </a:rPr>
              <a:t> 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(-1)</a:t>
            </a:r>
            <a:r>
              <a:rPr lang="en-US" baseline="30000" dirty="0" smtClean="0">
                <a:solidFill>
                  <a:srgbClr val="C00000"/>
                </a:solidFill>
              </a:rPr>
              <a:t> 4+1.</a:t>
            </a:r>
            <a:r>
              <a:rPr lang="en-US" dirty="0" smtClean="0">
                <a:solidFill>
                  <a:srgbClr val="C00000"/>
                </a:solidFill>
              </a:rPr>
              <a:t>4  = -4,	          a</a:t>
            </a:r>
            <a:r>
              <a:rPr lang="en-US" baseline="-25000" dirty="0" smtClean="0">
                <a:solidFill>
                  <a:srgbClr val="C00000"/>
                </a:solidFill>
              </a:rPr>
              <a:t>5</a:t>
            </a:r>
            <a:r>
              <a:rPr lang="en-US" dirty="0" smtClean="0">
                <a:solidFill>
                  <a:srgbClr val="C00000"/>
                </a:solidFill>
              </a:rPr>
              <a:t> = (-1)</a:t>
            </a:r>
            <a:r>
              <a:rPr lang="en-US" baseline="30000" dirty="0" smtClean="0">
                <a:solidFill>
                  <a:srgbClr val="C00000"/>
                </a:solidFill>
              </a:rPr>
              <a:t> 5+1.</a:t>
            </a:r>
            <a:r>
              <a:rPr lang="en-US" dirty="0" smtClean="0">
                <a:solidFill>
                  <a:srgbClr val="C00000"/>
                </a:solidFill>
              </a:rPr>
              <a:t>5  = 5,</a:t>
            </a: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2).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endParaRPr lang="en-US" b="1" u="sng" dirty="0" smtClean="0"/>
          </a:p>
          <a:p>
            <a:pPr>
              <a:buNone/>
            </a:pPr>
            <a:r>
              <a:rPr lang="en-US" dirty="0" smtClean="0"/>
              <a:t>	Every term has two parts: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 b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              </a:t>
            </a: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 b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 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                    b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General term is: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graphicFrame>
        <p:nvGraphicFramePr>
          <p:cNvPr id="94210" name="Object 2"/>
          <p:cNvGraphicFramePr>
            <a:graphicFrameLocks noChangeAspect="1"/>
          </p:cNvGraphicFramePr>
          <p:nvPr/>
        </p:nvGraphicFramePr>
        <p:xfrm>
          <a:off x="1600200" y="1066800"/>
          <a:ext cx="3733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41" r:id="rId3" imgW="1714320" imgH="393480" progId="">
                  <p:embed/>
                </p:oleObj>
              </mc:Choice>
              <mc:Fallback>
                <p:oleObj r:id="rId3" imgW="171432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066800"/>
                        <a:ext cx="3733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209800" y="3508375"/>
          <a:ext cx="8382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42" name="Equation" r:id="rId5" imgW="368280" imgH="393480" progId="Equation.3">
                  <p:embed/>
                </p:oleObj>
              </mc:Choice>
              <mc:Fallback>
                <p:oleObj name="Equation" r:id="rId5" imgW="36828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508375"/>
                        <a:ext cx="838200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5903035" y="3502534"/>
          <a:ext cx="88613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43" name="Equation" r:id="rId7" imgW="380880" imgH="393480" progId="Equation.3">
                  <p:embed/>
                </p:oleObj>
              </mc:Choice>
              <mc:Fallback>
                <p:oleObj name="Equation" r:id="rId7" imgW="38088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3035" y="3502534"/>
                        <a:ext cx="886133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000500" y="3959940"/>
          <a:ext cx="876300" cy="669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44" name="Equation" r:id="rId9" imgW="380880" imgH="393480" progId="Equation.3">
                  <p:embed/>
                </p:oleObj>
              </mc:Choice>
              <mc:Fallback>
                <p:oleObj name="Equation" r:id="rId9" imgW="38088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3959940"/>
                        <a:ext cx="876300" cy="6692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5" name="Object 7"/>
          <p:cNvGraphicFramePr>
            <a:graphicFrameLocks noChangeAspect="1"/>
          </p:cNvGraphicFramePr>
          <p:nvPr/>
        </p:nvGraphicFramePr>
        <p:xfrm>
          <a:off x="3352800" y="5105400"/>
          <a:ext cx="5029200" cy="685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45" r:id="rId11" imgW="2171520" imgH="393480" progId="">
                  <p:embed/>
                </p:oleObj>
              </mc:Choice>
              <mc:Fallback>
                <p:oleObj r:id="rId11" imgW="2171520" imgH="39348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105400"/>
                        <a:ext cx="5029200" cy="6858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3).	</a:t>
            </a:r>
            <a:r>
              <a:rPr lang="en-US" b="1" dirty="0" smtClean="0">
                <a:solidFill>
                  <a:srgbClr val="C00000"/>
                </a:solidFill>
              </a:rPr>
              <a:t>2, 6, 12, 20, 30, 42, 56, …</a:t>
            </a:r>
          </a:p>
          <a:p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pPr>
              <a:buNone/>
            </a:pPr>
            <a:r>
              <a:rPr lang="en-US" dirty="0" smtClean="0"/>
              <a:t> 	Note that we can write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	C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1.2 = 2		 C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2.3 = 6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C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3.4 = 12	 C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4.5 = 20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In general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th</a:t>
            </a:r>
            <a:r>
              <a:rPr lang="en-US" dirty="0" smtClean="0">
                <a:solidFill>
                  <a:srgbClr val="C00000"/>
                </a:solidFill>
              </a:rPr>
              <a:t> term </a:t>
            </a:r>
            <a:r>
              <a:rPr lang="en-US" dirty="0" smtClean="0"/>
              <a:t>is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 			</a:t>
            </a:r>
            <a:r>
              <a:rPr lang="en-US" dirty="0" err="1" smtClean="0">
                <a:solidFill>
                  <a:srgbClr val="C00000"/>
                </a:solidFill>
              </a:rPr>
              <a:t>C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n.(n+1) </a:t>
            </a:r>
            <a:r>
              <a:rPr lang="en-US" dirty="0" smtClean="0"/>
              <a:t>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58240"/>
            <a:ext cx="8229600" cy="547116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4).	</a:t>
            </a:r>
            <a:r>
              <a:rPr lang="en-US" b="1" dirty="0" smtClean="0">
                <a:solidFill>
                  <a:srgbClr val="C00000"/>
                </a:solidFill>
              </a:rPr>
              <a:t>1/4, 2/9, 3/16, 4/25, 5/36, 6/49, …</a:t>
            </a:r>
          </a:p>
          <a:p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pPr>
              <a:buNone/>
            </a:pPr>
            <a:r>
              <a:rPr lang="en-US" dirty="0" smtClean="0"/>
              <a:t>	Every term has two parts </a:t>
            </a:r>
            <a:r>
              <a:rPr lang="en-US" dirty="0" smtClean="0">
                <a:solidFill>
                  <a:srgbClr val="C00000"/>
                </a:solidFill>
              </a:rPr>
              <a:t>numerator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denominator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	OR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Both defined the same </a:t>
            </a:r>
            <a:r>
              <a:rPr lang="en-US" dirty="0" smtClean="0">
                <a:solidFill>
                  <a:srgbClr val="C00000"/>
                </a:solidFill>
              </a:rPr>
              <a:t>sequences</a:t>
            </a:r>
            <a:r>
              <a:rPr lang="en-US" dirty="0" smtClean="0"/>
              <a:t>.	 </a:t>
            </a:r>
            <a:endParaRPr lang="en-US" dirty="0"/>
          </a:p>
        </p:txBody>
      </p:sp>
      <p:graphicFrame>
        <p:nvGraphicFramePr>
          <p:cNvPr id="95234" name="Object 2"/>
          <p:cNvGraphicFramePr>
            <a:graphicFrameLocks noChangeAspect="1"/>
          </p:cNvGraphicFramePr>
          <p:nvPr/>
        </p:nvGraphicFramePr>
        <p:xfrm>
          <a:off x="1371598" y="3200400"/>
          <a:ext cx="472440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6" r:id="rId3" imgW="2209680" imgH="419040" progId="">
                  <p:embed/>
                </p:oleObj>
              </mc:Choice>
              <mc:Fallback>
                <p:oleObj r:id="rId3" imgW="2209680" imgH="4190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598" y="3200400"/>
                        <a:ext cx="4724402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5" name="Object 3"/>
          <p:cNvGraphicFramePr>
            <a:graphicFrameLocks noChangeAspect="1"/>
          </p:cNvGraphicFramePr>
          <p:nvPr/>
        </p:nvGraphicFramePr>
        <p:xfrm>
          <a:off x="1428132" y="4572000"/>
          <a:ext cx="4876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7" r:id="rId5" imgW="2234880" imgH="419040" progId="">
                  <p:embed/>
                </p:oleObj>
              </mc:Choice>
              <mc:Fallback>
                <p:oleObj r:id="rId5" imgW="2234880" imgH="4190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132" y="4572000"/>
                        <a:ext cx="4876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ARITHMETIC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sequence </a:t>
            </a:r>
            <a:r>
              <a:rPr lang="en-US" dirty="0" smtClean="0"/>
              <a:t>in which </a:t>
            </a:r>
            <a:r>
              <a:rPr lang="en-US" dirty="0" smtClean="0">
                <a:solidFill>
                  <a:srgbClr val="C00000"/>
                </a:solidFill>
              </a:rPr>
              <a:t>every term </a:t>
            </a:r>
            <a:r>
              <a:rPr lang="en-US" dirty="0" smtClean="0"/>
              <a:t>after the first is obtained from the </a:t>
            </a:r>
            <a:r>
              <a:rPr lang="en-US" dirty="0" smtClean="0">
                <a:solidFill>
                  <a:srgbClr val="C00000"/>
                </a:solidFill>
              </a:rPr>
              <a:t>preceding term </a:t>
            </a:r>
            <a:r>
              <a:rPr lang="en-US" dirty="0" smtClean="0"/>
              <a:t>by </a:t>
            </a:r>
            <a:r>
              <a:rPr lang="en-US" dirty="0" smtClean="0">
                <a:solidFill>
                  <a:srgbClr val="C00000"/>
                </a:solidFill>
              </a:rPr>
              <a:t>adding a constant number </a:t>
            </a:r>
            <a:r>
              <a:rPr lang="en-US" dirty="0" smtClean="0"/>
              <a:t>is called an </a:t>
            </a:r>
            <a:r>
              <a:rPr lang="en-US" dirty="0" smtClean="0">
                <a:solidFill>
                  <a:srgbClr val="C00000"/>
                </a:solidFill>
              </a:rPr>
              <a:t>arithmetic sequence </a:t>
            </a:r>
            <a:r>
              <a:rPr lang="en-US" dirty="0" smtClean="0"/>
              <a:t>or </a:t>
            </a:r>
            <a:r>
              <a:rPr lang="en-US" dirty="0" smtClean="0">
                <a:solidFill>
                  <a:srgbClr val="C00000"/>
                </a:solidFill>
              </a:rPr>
              <a:t>arithmetic progression (A.P.)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constant number</a:t>
            </a:r>
            <a:r>
              <a:rPr lang="en-US" dirty="0" smtClean="0"/>
              <a:t>, being the difference of any two </a:t>
            </a:r>
            <a:r>
              <a:rPr lang="en-US" dirty="0" smtClean="0">
                <a:solidFill>
                  <a:srgbClr val="C00000"/>
                </a:solidFill>
              </a:rPr>
              <a:t>consecutive terms </a:t>
            </a:r>
            <a:r>
              <a:rPr lang="en-US" dirty="0" smtClean="0"/>
              <a:t>is called the </a:t>
            </a:r>
            <a:r>
              <a:rPr lang="en-US" dirty="0" smtClean="0">
                <a:solidFill>
                  <a:srgbClr val="C00000"/>
                </a:solidFill>
              </a:rPr>
              <a:t>common difference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A.P</a:t>
            </a:r>
            <a:r>
              <a:rPr lang="en-US" dirty="0" smtClean="0"/>
              <a:t>., commonly denoted by </a:t>
            </a:r>
            <a:r>
              <a:rPr lang="en-US" dirty="0" smtClean="0">
                <a:solidFill>
                  <a:srgbClr val="C00000"/>
                </a:solidFill>
              </a:rPr>
              <a:t>“d”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1).	</a:t>
            </a:r>
            <a:r>
              <a:rPr lang="en-US" b="1" dirty="0" smtClean="0">
                <a:solidFill>
                  <a:srgbClr val="C00000"/>
                </a:solidFill>
              </a:rPr>
              <a:t>5, 9, 13, 17, …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We need two things to define the sequence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First Term </a:t>
            </a:r>
            <a:r>
              <a:rPr lang="en-US" dirty="0" smtClean="0"/>
              <a:t>= 5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Common Difference </a:t>
            </a:r>
            <a:r>
              <a:rPr lang="en-US" dirty="0" smtClean="0"/>
              <a:t>= 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2).	</a:t>
            </a:r>
            <a:r>
              <a:rPr lang="en-US" b="1" dirty="0" smtClean="0">
                <a:solidFill>
                  <a:srgbClr val="C00000"/>
                </a:solidFill>
              </a:rPr>
              <a:t>0, -5, -10, -15, …</a:t>
            </a:r>
            <a:r>
              <a:rPr lang="en-US" dirty="0" smtClean="0"/>
              <a:t>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We need two things to define the sequence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First Term </a:t>
            </a:r>
            <a:r>
              <a:rPr lang="en-US" dirty="0" smtClean="0"/>
              <a:t>=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Common Difference </a:t>
            </a:r>
            <a:r>
              <a:rPr lang="en-US" dirty="0" smtClean="0"/>
              <a:t>= 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2).	</a:t>
            </a:r>
            <a:r>
              <a:rPr lang="en-US" b="1" dirty="0" smtClean="0">
                <a:solidFill>
                  <a:srgbClr val="C00000"/>
                </a:solidFill>
              </a:rPr>
              <a:t>0, -5, -10, -15, …</a:t>
            </a:r>
            <a:r>
              <a:rPr lang="en-US" dirty="0" smtClean="0"/>
              <a:t>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We need two things to define the sequence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First Term </a:t>
            </a:r>
            <a:r>
              <a:rPr lang="en-US" dirty="0" smtClean="0"/>
              <a:t>= 0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Common Difference </a:t>
            </a:r>
            <a:r>
              <a:rPr lang="en-US" dirty="0" smtClean="0"/>
              <a:t>= -5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83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Write the first four terms of the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defined by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REMARK: </a:t>
            </a:r>
            <a:r>
              <a:rPr lang="en-US" dirty="0" smtClean="0"/>
              <a:t>A sequence whose terms alternate in sign is called an </a:t>
            </a:r>
            <a:r>
              <a:rPr lang="en-US" b="1" dirty="0" smtClean="0">
                <a:solidFill>
                  <a:srgbClr val="C00000"/>
                </a:solidFill>
              </a:rPr>
              <a:t>alternating sequence</a:t>
            </a:r>
            <a:r>
              <a:rPr lang="en-US" dirty="0" smtClean="0"/>
              <a:t>.</a:t>
            </a:r>
          </a:p>
          <a:p>
            <a:endParaRPr lang="en-US" b="1" u="sng" dirty="0" smtClean="0"/>
          </a:p>
          <a:p>
            <a:endParaRPr lang="en-US" dirty="0"/>
          </a:p>
        </p:txBody>
      </p:sp>
      <p:graphicFrame>
        <p:nvGraphicFramePr>
          <p:cNvPr id="92162" name="Object 2"/>
          <p:cNvGraphicFramePr>
            <a:graphicFrameLocks noChangeAspect="1"/>
          </p:cNvGraphicFramePr>
          <p:nvPr/>
        </p:nvGraphicFramePr>
        <p:xfrm>
          <a:off x="2286000" y="1752600"/>
          <a:ext cx="434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31" r:id="rId3" imgW="2171520" imgH="419040" progId="">
                  <p:embed/>
                </p:oleObj>
              </mc:Choice>
              <mc:Fallback>
                <p:oleObj r:id="rId3" imgW="2171520" imgH="419040" progId="">
                  <p:embed/>
                  <p:pic>
                    <p:nvPicPr>
                      <p:cNvPr id="921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752600"/>
                        <a:ext cx="43434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547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Write the first four terms of the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defined by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REMARK: </a:t>
            </a:r>
            <a:r>
              <a:rPr lang="en-US" dirty="0" smtClean="0"/>
              <a:t>A sequence whose terms alternate in sign is called an </a:t>
            </a:r>
            <a:r>
              <a:rPr lang="en-US" b="1" dirty="0" smtClean="0">
                <a:solidFill>
                  <a:srgbClr val="C00000"/>
                </a:solidFill>
              </a:rPr>
              <a:t>alternating sequence</a:t>
            </a:r>
            <a:r>
              <a:rPr lang="en-US" dirty="0" smtClean="0"/>
              <a:t>.</a:t>
            </a:r>
          </a:p>
          <a:p>
            <a:endParaRPr lang="en-US" b="1" u="sng" dirty="0" smtClean="0"/>
          </a:p>
          <a:p>
            <a:endParaRPr lang="en-US" dirty="0"/>
          </a:p>
        </p:txBody>
      </p:sp>
      <p:graphicFrame>
        <p:nvGraphicFramePr>
          <p:cNvPr id="92162" name="Object 2"/>
          <p:cNvGraphicFramePr>
            <a:graphicFrameLocks noChangeAspect="1"/>
          </p:cNvGraphicFramePr>
          <p:nvPr/>
        </p:nvGraphicFramePr>
        <p:xfrm>
          <a:off x="2286000" y="1752600"/>
          <a:ext cx="434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60" r:id="rId3" imgW="2171520" imgH="419040" progId="">
                  <p:embed/>
                </p:oleObj>
              </mc:Choice>
              <mc:Fallback>
                <p:oleObj r:id="rId3" imgW="2171520" imgH="419040" progId="">
                  <p:embed/>
                  <p:pic>
                    <p:nvPicPr>
                      <p:cNvPr id="921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752600"/>
                        <a:ext cx="43434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1143000" y="3298728"/>
          <a:ext cx="6715996" cy="1600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61" r:id="rId5" imgW="3517560" imgH="838080" progId="">
                  <p:embed/>
                </p:oleObj>
              </mc:Choice>
              <mc:Fallback>
                <p:oleObj r:id="rId5" imgW="3517560" imgH="838080" progId="">
                  <p:embed/>
                  <p:pic>
                    <p:nvPicPr>
                      <p:cNvPr id="921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298728"/>
                        <a:ext cx="6715996" cy="1600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019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3).	</a:t>
            </a:r>
            <a:r>
              <a:rPr lang="en-US" b="1" dirty="0" smtClean="0">
                <a:solidFill>
                  <a:srgbClr val="C00000"/>
                </a:solidFill>
              </a:rPr>
              <a:t>   x + a , x + 3a , x + 5a , … 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We need two things to define the sequence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First Term </a:t>
            </a:r>
            <a:r>
              <a:rPr lang="en-US" dirty="0" smtClean="0"/>
              <a:t>=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Common Difference </a:t>
            </a:r>
            <a:r>
              <a:rPr lang="en-US" dirty="0" smtClean="0"/>
              <a:t>=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We need to add </a:t>
            </a:r>
            <a:r>
              <a:rPr lang="en-US" dirty="0" smtClean="0">
                <a:solidFill>
                  <a:srgbClr val="C00000"/>
                </a:solidFill>
              </a:rPr>
              <a:t>2a</a:t>
            </a:r>
            <a:r>
              <a:rPr lang="en-US" dirty="0" smtClean="0"/>
              <a:t> every time to get the next term in the preceding term.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3).	</a:t>
            </a:r>
            <a:r>
              <a:rPr lang="en-US" b="1" dirty="0" smtClean="0">
                <a:solidFill>
                  <a:srgbClr val="C00000"/>
                </a:solidFill>
              </a:rPr>
              <a:t>   x + a , x + 3a , x + 5a , … 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We need two things to define the sequence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First Term </a:t>
            </a:r>
            <a:r>
              <a:rPr lang="en-US" dirty="0" smtClean="0"/>
              <a:t>= x + a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Common Difference </a:t>
            </a:r>
            <a:r>
              <a:rPr lang="en-US" dirty="0" smtClean="0"/>
              <a:t>= 2a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We need to add </a:t>
            </a:r>
            <a:r>
              <a:rPr lang="en-US" dirty="0" smtClean="0">
                <a:solidFill>
                  <a:srgbClr val="C00000"/>
                </a:solidFill>
              </a:rPr>
              <a:t>2a</a:t>
            </a:r>
            <a:r>
              <a:rPr lang="en-US" dirty="0" smtClean="0"/>
              <a:t> every time to get the next term in the preceding term.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65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GENERAL TERM OF AN ARITHMETIC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first term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d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be the common difference of an </a:t>
            </a:r>
            <a:r>
              <a:rPr lang="en-US" dirty="0" smtClean="0">
                <a:solidFill>
                  <a:srgbClr val="C00000"/>
                </a:solidFill>
              </a:rPr>
              <a:t>arithmetic sequence</a:t>
            </a:r>
            <a:r>
              <a:rPr lang="en-US" dirty="0" smtClean="0"/>
              <a:t>. Then the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is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</a:t>
            </a:r>
            <a:r>
              <a:rPr lang="en-US" baseline="-25000" dirty="0" smtClean="0"/>
              <a:t>1</a:t>
            </a:r>
            <a:r>
              <a:rPr lang="en-US" dirty="0" smtClean="0"/>
              <a:t> = a 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</a:t>
            </a:r>
            <a:r>
              <a:rPr lang="en-US" baseline="-25000" dirty="0" smtClean="0"/>
              <a:t>2</a:t>
            </a:r>
            <a:r>
              <a:rPr lang="en-US" dirty="0" smtClean="0"/>
              <a:t> = </a:t>
            </a:r>
            <a:r>
              <a:rPr lang="en-US" dirty="0" err="1" smtClean="0"/>
              <a:t>a+d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</a:t>
            </a:r>
            <a:r>
              <a:rPr lang="en-US" baseline="-25000" dirty="0" smtClean="0"/>
              <a:t>3</a:t>
            </a:r>
            <a:r>
              <a:rPr lang="en-US" dirty="0" smtClean="0"/>
              <a:t> = a+2d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</a:t>
            </a:r>
            <a:r>
              <a:rPr lang="en-US" baseline="-25000" dirty="0" smtClean="0"/>
              <a:t>4</a:t>
            </a:r>
            <a:r>
              <a:rPr lang="en-US" dirty="0" smtClean="0"/>
              <a:t> = a+3d …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= 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a + (1-1) d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  </a:t>
            </a:r>
            <a:r>
              <a:rPr lang="en-US" dirty="0" smtClean="0">
                <a:solidFill>
                  <a:srgbClr val="C00000"/>
                </a:solidFill>
              </a:rPr>
              <a:t>a + d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a + (2-1) d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/>
              <a:t> =  </a:t>
            </a:r>
            <a:r>
              <a:rPr lang="en-US" dirty="0" smtClean="0">
                <a:solidFill>
                  <a:srgbClr val="C00000"/>
                </a:solidFill>
              </a:rPr>
              <a:t>a + 2d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a + (3 -1) d</a:t>
            </a:r>
          </a:p>
          <a:p>
            <a:pPr>
              <a:buNone/>
            </a:pPr>
            <a:r>
              <a:rPr lang="en-US" dirty="0" smtClean="0"/>
              <a:t>	By symmetry</a:t>
            </a:r>
          </a:p>
          <a:p>
            <a:pPr>
              <a:buNone/>
            </a:pPr>
            <a:r>
              <a:rPr lang="en-US" dirty="0" smtClean="0"/>
              <a:t>	 	</a:t>
            </a:r>
            <a:r>
              <a:rPr lang="en-US" b="1" dirty="0" smtClean="0">
                <a:solidFill>
                  <a:srgbClr val="FF0000"/>
                </a:solidFill>
              </a:rPr>
              <a:t>a</a:t>
            </a:r>
            <a:r>
              <a:rPr lang="en-US" b="1" baseline="-25000" dirty="0" smtClean="0">
                <a:solidFill>
                  <a:srgbClr val="FF0000"/>
                </a:solidFill>
              </a:rPr>
              <a:t>n</a:t>
            </a:r>
            <a:r>
              <a:rPr lang="en-US" b="1" dirty="0" smtClean="0">
                <a:solidFill>
                  <a:srgbClr val="FF0000"/>
                </a:solidFill>
              </a:rPr>
              <a:t> = n</a:t>
            </a:r>
            <a:r>
              <a:rPr lang="en-US" b="1" baseline="30000" dirty="0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 term = a + (n - 1)d </a:t>
            </a:r>
            <a:r>
              <a:rPr lang="en-US" dirty="0" smtClean="0"/>
              <a:t>for all integers </a:t>
            </a:r>
            <a:r>
              <a:rPr lang="en-US" dirty="0" smtClean="0">
                <a:solidFill>
                  <a:srgbClr val="C00000"/>
                </a:solidFill>
              </a:rPr>
              <a:t>n 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Find the 20th term of the arithmetic sequence</a:t>
            </a:r>
          </a:p>
          <a:p>
            <a:pPr algn="ctr">
              <a:buNone/>
            </a:pPr>
            <a:r>
              <a:rPr lang="en-US" dirty="0" smtClean="0"/>
              <a:t>	3, 9, 15, 21, …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Here 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= first term = </a:t>
            </a:r>
            <a:r>
              <a:rPr lang="en-US" dirty="0" smtClean="0">
                <a:solidFill>
                  <a:srgbClr val="C00000"/>
                </a:solidFill>
              </a:rPr>
              <a:t>3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</a:t>
            </a:r>
            <a:r>
              <a:rPr lang="en-US" dirty="0" smtClean="0"/>
              <a:t> = common difference = </a:t>
            </a:r>
            <a:r>
              <a:rPr lang="en-US" dirty="0" smtClean="0">
                <a:solidFill>
                  <a:srgbClr val="C00000"/>
                </a:solidFill>
              </a:rPr>
              <a:t>9 - 3 = 6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= term number = </a:t>
            </a:r>
            <a:r>
              <a:rPr lang="en-US" dirty="0" smtClean="0">
                <a:solidFill>
                  <a:srgbClr val="C00000"/>
                </a:solidFill>
              </a:rPr>
              <a:t>20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20</a:t>
            </a:r>
            <a:r>
              <a:rPr lang="en-US" b="1" dirty="0" smtClean="0">
                <a:solidFill>
                  <a:srgbClr val="C00000"/>
                </a:solidFill>
              </a:rPr>
              <a:t> = value of 20th term = ?</a:t>
            </a:r>
          </a:p>
          <a:p>
            <a:r>
              <a:rPr lang="en-US" dirty="0" smtClean="0"/>
              <a:t>Since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a + (n - 1) d</a:t>
            </a:r>
            <a:r>
              <a:rPr lang="en-US" dirty="0" smtClean="0"/>
              <a:t>		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b="1" dirty="0" smtClean="0">
                <a:sym typeface="Symbol"/>
              </a:rPr>
              <a:t></a:t>
            </a:r>
            <a:r>
              <a:rPr lang="en-US" dirty="0" smtClean="0"/>
              <a:t>      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20</a:t>
            </a:r>
            <a:r>
              <a:rPr lang="en-US" dirty="0" smtClean="0"/>
              <a:t> = 3 + (20 - 1) 6</a:t>
            </a:r>
          </a:p>
          <a:p>
            <a:pPr>
              <a:buNone/>
            </a:pPr>
            <a:r>
              <a:rPr lang="en-US" dirty="0" smtClean="0"/>
              <a:t>			     = 3 + 114</a:t>
            </a:r>
          </a:p>
          <a:p>
            <a:pPr>
              <a:buNone/>
            </a:pPr>
            <a:r>
              <a:rPr lang="en-US" dirty="0" smtClean="0"/>
              <a:t>			     = </a:t>
            </a:r>
            <a:r>
              <a:rPr lang="en-US" dirty="0" smtClean="0">
                <a:solidFill>
                  <a:srgbClr val="C00000"/>
                </a:solidFill>
              </a:rPr>
              <a:t>117</a:t>
            </a:r>
            <a:r>
              <a:rPr lang="en-US" dirty="0" smtClean="0"/>
              <a:t>	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Which term of the </a:t>
            </a:r>
            <a:r>
              <a:rPr lang="en-US" dirty="0" smtClean="0">
                <a:solidFill>
                  <a:srgbClr val="C00000"/>
                </a:solidFill>
              </a:rPr>
              <a:t>arithmetic sequence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4, 1, -2</a:t>
            </a:r>
            <a:r>
              <a:rPr lang="en-US" dirty="0" smtClean="0"/>
              <a:t>, …,	is </a:t>
            </a:r>
            <a:r>
              <a:rPr lang="en-US" dirty="0" smtClean="0">
                <a:solidFill>
                  <a:srgbClr val="C00000"/>
                </a:solidFill>
              </a:rPr>
              <a:t>-77</a:t>
            </a:r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Here 	</a:t>
            </a:r>
            <a:r>
              <a:rPr lang="en-US" dirty="0" smtClean="0">
                <a:solidFill>
                  <a:srgbClr val="C00000"/>
                </a:solidFill>
              </a:rPr>
              <a:t>a </a:t>
            </a:r>
            <a:r>
              <a:rPr lang="en-US" dirty="0" smtClean="0"/>
              <a:t>= first term = </a:t>
            </a:r>
            <a:r>
              <a:rPr lang="en-US" dirty="0" smtClean="0">
                <a:solidFill>
                  <a:srgbClr val="C00000"/>
                </a:solidFill>
              </a:rPr>
              <a:t>4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 </a:t>
            </a:r>
            <a:r>
              <a:rPr lang="en-US" dirty="0" smtClean="0"/>
              <a:t>= common difference = </a:t>
            </a:r>
            <a:r>
              <a:rPr lang="en-US" dirty="0" smtClean="0">
                <a:solidFill>
                  <a:srgbClr val="C00000"/>
                </a:solidFill>
              </a:rPr>
              <a:t>1 - 4 = -3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= value of nth term = </a:t>
            </a:r>
            <a:r>
              <a:rPr lang="en-US" dirty="0" smtClean="0">
                <a:solidFill>
                  <a:srgbClr val="C00000"/>
                </a:solidFill>
              </a:rPr>
              <a:t>-77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pt-BR" dirty="0" smtClean="0">
                <a:solidFill>
                  <a:srgbClr val="C00000"/>
                </a:solidFill>
              </a:rPr>
              <a:t>n = term number = ?</a:t>
            </a:r>
          </a:p>
          <a:p>
            <a:pPr>
              <a:buNone/>
            </a:pPr>
            <a:endParaRPr lang="pt-BR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 smtClean="0"/>
              <a:t>	Since 	</a:t>
            </a: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Which term of the </a:t>
            </a:r>
            <a:r>
              <a:rPr lang="en-US" dirty="0" smtClean="0">
                <a:solidFill>
                  <a:srgbClr val="C00000"/>
                </a:solidFill>
              </a:rPr>
              <a:t>arithmetic sequence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4, 1, -2</a:t>
            </a:r>
            <a:r>
              <a:rPr lang="en-US" dirty="0" smtClean="0"/>
              <a:t>, …,	is </a:t>
            </a:r>
            <a:r>
              <a:rPr lang="en-US" dirty="0" smtClean="0">
                <a:solidFill>
                  <a:srgbClr val="C00000"/>
                </a:solidFill>
              </a:rPr>
              <a:t>-77</a:t>
            </a:r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Here 	</a:t>
            </a:r>
            <a:r>
              <a:rPr lang="en-US" dirty="0" smtClean="0">
                <a:solidFill>
                  <a:srgbClr val="C00000"/>
                </a:solidFill>
              </a:rPr>
              <a:t>a </a:t>
            </a:r>
            <a:r>
              <a:rPr lang="en-US" dirty="0" smtClean="0"/>
              <a:t>= first term = </a:t>
            </a:r>
            <a:r>
              <a:rPr lang="en-US" dirty="0" smtClean="0">
                <a:solidFill>
                  <a:srgbClr val="C00000"/>
                </a:solidFill>
              </a:rPr>
              <a:t>4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 </a:t>
            </a:r>
            <a:r>
              <a:rPr lang="en-US" dirty="0" smtClean="0"/>
              <a:t>= common difference = </a:t>
            </a:r>
            <a:r>
              <a:rPr lang="en-US" dirty="0" smtClean="0">
                <a:solidFill>
                  <a:srgbClr val="C00000"/>
                </a:solidFill>
              </a:rPr>
              <a:t>1 - 4 = -3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= value of nth term = </a:t>
            </a:r>
            <a:r>
              <a:rPr lang="en-US" dirty="0" smtClean="0">
                <a:solidFill>
                  <a:srgbClr val="C00000"/>
                </a:solidFill>
              </a:rPr>
              <a:t>-77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pt-BR" dirty="0" smtClean="0">
                <a:solidFill>
                  <a:srgbClr val="C00000"/>
                </a:solidFill>
              </a:rPr>
              <a:t>n = term number = ?</a:t>
            </a:r>
          </a:p>
          <a:p>
            <a:pPr>
              <a:buNone/>
            </a:pPr>
            <a:endParaRPr lang="pt-BR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 smtClean="0"/>
              <a:t>	Since 	</a:t>
            </a:r>
            <a:r>
              <a:rPr lang="en-US" b="1" dirty="0" smtClean="0">
                <a:solidFill>
                  <a:srgbClr val="C00000"/>
                </a:solidFill>
              </a:rPr>
              <a:t> 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/>
              <a:t> = </a:t>
            </a:r>
            <a:r>
              <a:rPr lang="en-US" b="1" dirty="0" smtClean="0">
                <a:solidFill>
                  <a:srgbClr val="C00000"/>
                </a:solidFill>
              </a:rPr>
              <a:t>a + (n - 1) d		</a:t>
            </a:r>
            <a:r>
              <a:rPr lang="pt-BR" dirty="0" smtClean="0"/>
              <a:t> n </a:t>
            </a:r>
            <a:r>
              <a:rPr lang="en-US" dirty="0" smtClean="0">
                <a:sym typeface="Symbol"/>
              </a:rPr>
              <a:t></a:t>
            </a:r>
            <a:r>
              <a:rPr lang="pt-BR" dirty="0" smtClean="0"/>
              <a:t>1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/>
              </a:rPr>
              <a:t>		</a:t>
            </a:r>
            <a:r>
              <a:rPr lang="pt-BR" dirty="0" smtClean="0"/>
              <a:t>      </a:t>
            </a:r>
            <a:r>
              <a:rPr lang="pt-BR" dirty="0" smtClean="0">
                <a:solidFill>
                  <a:srgbClr val="C00000"/>
                </a:solidFill>
              </a:rPr>
              <a:t>-77 </a:t>
            </a:r>
            <a:r>
              <a:rPr lang="pt-BR" dirty="0" smtClean="0"/>
              <a:t>= </a:t>
            </a:r>
            <a:r>
              <a:rPr lang="pt-BR" dirty="0" smtClean="0">
                <a:solidFill>
                  <a:srgbClr val="C00000"/>
                </a:solidFill>
              </a:rPr>
              <a:t>4 + (n - 1) (-3)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   	</a:t>
            </a:r>
            <a:r>
              <a:rPr lang="pt-BR" dirty="0" smtClean="0">
                <a:solidFill>
                  <a:srgbClr val="C00000"/>
                </a:solidFill>
              </a:rPr>
              <a:t>-77 - 4 </a:t>
            </a:r>
            <a:r>
              <a:rPr lang="pt-BR" dirty="0" smtClean="0"/>
              <a:t>= </a:t>
            </a:r>
            <a:r>
              <a:rPr lang="pt-BR" dirty="0" smtClean="0">
                <a:solidFill>
                  <a:srgbClr val="C00000"/>
                </a:solidFill>
              </a:rPr>
              <a:t>(n - 1) (-3)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24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OR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OR</a:t>
            </a:r>
          </a:p>
          <a:p>
            <a:pPr>
              <a:buNone/>
            </a:pPr>
            <a:r>
              <a:rPr lang="en-US" sz="2800" dirty="0" smtClean="0"/>
              <a:t>		</a:t>
            </a:r>
            <a:r>
              <a:rPr lang="en-US" dirty="0" smtClean="0"/>
              <a:t>27 = n – 1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b="1" dirty="0" smtClean="0">
                <a:solidFill>
                  <a:srgbClr val="C00000"/>
                </a:solidFill>
              </a:rPr>
              <a:t>n = 28</a:t>
            </a:r>
          </a:p>
          <a:p>
            <a:pPr lvl="3"/>
            <a:endParaRPr lang="en-US" dirty="0" smtClean="0"/>
          </a:p>
          <a:p>
            <a:pPr>
              <a:buNone/>
            </a:pPr>
            <a:r>
              <a:rPr lang="en-US" dirty="0" smtClean="0"/>
              <a:t>	Hence </a:t>
            </a:r>
            <a:r>
              <a:rPr lang="en-US" b="1" dirty="0" smtClean="0">
                <a:solidFill>
                  <a:srgbClr val="C00000"/>
                </a:solidFill>
              </a:rPr>
              <a:t>–77 </a:t>
            </a:r>
            <a:r>
              <a:rPr lang="en-US" dirty="0" smtClean="0"/>
              <a:t>is the </a:t>
            </a:r>
            <a:r>
              <a:rPr lang="en-US" dirty="0" smtClean="0">
                <a:solidFill>
                  <a:srgbClr val="C00000"/>
                </a:solidFill>
              </a:rPr>
              <a:t>28th term </a:t>
            </a:r>
            <a:r>
              <a:rPr lang="en-US" dirty="0" smtClean="0"/>
              <a:t>of the given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96258" name="Object 2"/>
          <p:cNvGraphicFramePr>
            <a:graphicFrameLocks noChangeAspect="1"/>
          </p:cNvGraphicFramePr>
          <p:nvPr/>
        </p:nvGraphicFramePr>
        <p:xfrm>
          <a:off x="1676399" y="1676400"/>
          <a:ext cx="1828801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64" r:id="rId3" imgW="711000" imgH="393480" progId="">
                  <p:embed/>
                </p:oleObj>
              </mc:Choice>
              <mc:Fallback>
                <p:oleObj r:id="rId3" imgW="71100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399" y="1676400"/>
                        <a:ext cx="1828801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Find the </a:t>
            </a:r>
            <a:r>
              <a:rPr lang="en-US" b="1" dirty="0" smtClean="0">
                <a:solidFill>
                  <a:srgbClr val="C00000"/>
                </a:solidFill>
              </a:rPr>
              <a:t>36th</a:t>
            </a:r>
            <a:r>
              <a:rPr lang="en-US" dirty="0" smtClean="0"/>
              <a:t> term of the </a:t>
            </a:r>
            <a:r>
              <a:rPr lang="en-US" dirty="0" smtClean="0">
                <a:solidFill>
                  <a:srgbClr val="C00000"/>
                </a:solidFill>
              </a:rPr>
              <a:t>arithmetic sequence </a:t>
            </a:r>
            <a:r>
              <a:rPr lang="en-US" dirty="0" smtClean="0"/>
              <a:t>whose </a:t>
            </a:r>
            <a:r>
              <a:rPr lang="en-US" b="1" dirty="0" smtClean="0">
                <a:solidFill>
                  <a:srgbClr val="C00000"/>
                </a:solidFill>
              </a:rPr>
              <a:t>3rd</a:t>
            </a:r>
            <a:r>
              <a:rPr lang="en-US" dirty="0" smtClean="0"/>
              <a:t> term is </a:t>
            </a:r>
            <a:r>
              <a:rPr lang="en-US" b="1" dirty="0" smtClean="0">
                <a:solidFill>
                  <a:srgbClr val="C00000"/>
                </a:solidFill>
              </a:rPr>
              <a:t>7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8th</a:t>
            </a:r>
            <a:r>
              <a:rPr lang="en-US" dirty="0" smtClean="0"/>
              <a:t> term is </a:t>
            </a:r>
            <a:r>
              <a:rPr lang="en-US" b="1" dirty="0" smtClean="0">
                <a:solidFill>
                  <a:srgbClr val="C00000"/>
                </a:solidFill>
              </a:rPr>
              <a:t>17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first term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d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common difference </a:t>
            </a:r>
            <a:r>
              <a:rPr lang="en-US" dirty="0" smtClean="0"/>
              <a:t>of the </a:t>
            </a:r>
            <a:r>
              <a:rPr lang="en-US" dirty="0" smtClean="0">
                <a:solidFill>
                  <a:srgbClr val="C00000"/>
                </a:solidFill>
              </a:rPr>
              <a:t>arithmetic sequence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Then	</a:t>
            </a:r>
          </a:p>
          <a:p>
            <a:pPr>
              <a:buNone/>
            </a:pPr>
            <a:r>
              <a:rPr lang="en-US" dirty="0" smtClean="0"/>
              <a:t>	           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rgbClr val="C00000"/>
                </a:solidFill>
              </a:rPr>
              <a:t>a + (n - 1)d </a:t>
            </a:r>
            <a:r>
              <a:rPr lang="en-US" dirty="0" smtClean="0"/>
              <a:t>		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      a</a:t>
            </a:r>
            <a:r>
              <a:rPr lang="en-US" baseline="-25000" dirty="0" smtClean="0"/>
              <a:t>3</a:t>
            </a:r>
            <a:r>
              <a:rPr lang="en-US" dirty="0" smtClean="0"/>
              <a:t> = a + (3 - 1) d</a:t>
            </a:r>
          </a:p>
          <a:p>
            <a:pPr>
              <a:buNone/>
            </a:pPr>
            <a:r>
              <a:rPr lang="en-US" dirty="0" smtClean="0"/>
              <a:t>	 and	      a</a:t>
            </a:r>
            <a:r>
              <a:rPr lang="en-US" baseline="-25000" dirty="0" smtClean="0"/>
              <a:t>8</a:t>
            </a:r>
            <a:r>
              <a:rPr lang="en-US" dirty="0" smtClean="0"/>
              <a:t> = a + (8 - 1) d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Given that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7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8</a:t>
            </a:r>
            <a:r>
              <a:rPr lang="en-US" dirty="0" smtClean="0">
                <a:solidFill>
                  <a:srgbClr val="C00000"/>
                </a:solidFill>
              </a:rPr>
              <a:t> = 17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Therefore,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 7 = a + 2d</a:t>
            </a:r>
            <a:r>
              <a:rPr lang="en-US" dirty="0" smtClean="0"/>
              <a:t>……………………(1)</a:t>
            </a:r>
          </a:p>
          <a:p>
            <a:pPr>
              <a:buNone/>
            </a:pPr>
            <a:r>
              <a:rPr lang="en-US" dirty="0" smtClean="0"/>
              <a:t>	and           </a:t>
            </a:r>
            <a:r>
              <a:rPr lang="en-US" dirty="0" smtClean="0">
                <a:solidFill>
                  <a:srgbClr val="C00000"/>
                </a:solidFill>
              </a:rPr>
              <a:t>17 = a + 7d</a:t>
            </a:r>
            <a:r>
              <a:rPr lang="en-US" dirty="0" smtClean="0"/>
              <a:t>………….………..(2)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Subtracting (1) from (2), we get,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10 = 5d</a:t>
            </a:r>
            <a:r>
              <a:rPr lang="en-US" dirty="0" smtClean="0"/>
              <a:t>		 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</a:t>
            </a:r>
            <a:r>
              <a:rPr lang="en-US" dirty="0" smtClean="0"/>
              <a:t>	  </a:t>
            </a:r>
            <a:r>
              <a:rPr lang="en-US" dirty="0" smtClean="0">
                <a:solidFill>
                  <a:srgbClr val="C00000"/>
                </a:solidFill>
              </a:rPr>
              <a:t>d = 2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 Substituting </a:t>
            </a:r>
            <a:r>
              <a:rPr lang="en-US" dirty="0" smtClean="0">
                <a:solidFill>
                  <a:srgbClr val="C00000"/>
                </a:solidFill>
              </a:rPr>
              <a:t>d = 2 </a:t>
            </a:r>
            <a:r>
              <a:rPr lang="en-US" dirty="0" smtClean="0"/>
              <a:t>in (1) we have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 7 = a + 2(2)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 which gives </a:t>
            </a:r>
            <a:r>
              <a:rPr lang="en-US" dirty="0" smtClean="0">
                <a:solidFill>
                  <a:srgbClr val="C00000"/>
                </a:solidFill>
              </a:rPr>
              <a:t>a = 3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3100" dirty="0" smtClean="0"/>
              <a:t>	</a:t>
            </a:r>
          </a:p>
          <a:p>
            <a:pPr>
              <a:buNone/>
            </a:pPr>
            <a:r>
              <a:rPr lang="en-US" sz="3100" dirty="0" smtClean="0"/>
              <a:t>Thus,		</a:t>
            </a:r>
            <a:r>
              <a:rPr lang="en-US" sz="3100" dirty="0" smtClean="0">
                <a:solidFill>
                  <a:srgbClr val="C00000"/>
                </a:solidFill>
              </a:rPr>
              <a:t>a</a:t>
            </a:r>
            <a:r>
              <a:rPr lang="en-US" sz="3100" baseline="-25000" dirty="0" smtClean="0">
                <a:solidFill>
                  <a:srgbClr val="C00000"/>
                </a:solidFill>
              </a:rPr>
              <a:t>n</a:t>
            </a:r>
            <a:r>
              <a:rPr lang="en-US" sz="3100" dirty="0" smtClean="0">
                <a:solidFill>
                  <a:srgbClr val="C00000"/>
                </a:solidFill>
              </a:rPr>
              <a:t> = a + (n - 1) d</a:t>
            </a:r>
          </a:p>
          <a:p>
            <a:pPr>
              <a:buNone/>
            </a:pPr>
            <a:r>
              <a:rPr lang="en-US" sz="3100" dirty="0" smtClean="0"/>
              <a:t>			</a:t>
            </a:r>
            <a:r>
              <a:rPr lang="en-US" sz="3100" dirty="0" smtClean="0">
                <a:solidFill>
                  <a:srgbClr val="C00000"/>
                </a:solidFill>
              </a:rPr>
              <a:t>a</a:t>
            </a:r>
            <a:r>
              <a:rPr lang="en-US" sz="3100" baseline="-25000" dirty="0" smtClean="0">
                <a:solidFill>
                  <a:srgbClr val="C00000"/>
                </a:solidFill>
              </a:rPr>
              <a:t>n</a:t>
            </a:r>
            <a:r>
              <a:rPr lang="en-US" sz="3100" dirty="0" smtClean="0">
                <a:solidFill>
                  <a:srgbClr val="C00000"/>
                </a:solidFill>
              </a:rPr>
              <a:t> = 3 + (n - 1) 2</a:t>
            </a:r>
            <a:r>
              <a:rPr lang="en-US" sz="3100" dirty="0" smtClean="0"/>
              <a:t>	(using values of a and d)</a:t>
            </a:r>
          </a:p>
          <a:p>
            <a:pPr>
              <a:buNone/>
            </a:pPr>
            <a:r>
              <a:rPr lang="en-US" sz="3100" dirty="0" smtClean="0"/>
              <a:t>	</a:t>
            </a:r>
          </a:p>
          <a:p>
            <a:pPr>
              <a:buNone/>
            </a:pPr>
            <a:r>
              <a:rPr lang="en-US" sz="3100" dirty="0" smtClean="0"/>
              <a:t>	Hence the value of </a:t>
            </a:r>
            <a:r>
              <a:rPr lang="en-US" sz="3100" dirty="0" smtClean="0">
                <a:solidFill>
                  <a:srgbClr val="C00000"/>
                </a:solidFill>
              </a:rPr>
              <a:t>36th</a:t>
            </a:r>
            <a:r>
              <a:rPr lang="en-US" sz="3100" dirty="0" smtClean="0"/>
              <a:t> term is</a:t>
            </a:r>
          </a:p>
          <a:p>
            <a:pPr>
              <a:buNone/>
            </a:pPr>
            <a:endParaRPr lang="en-US" sz="3100" dirty="0" smtClean="0"/>
          </a:p>
          <a:p>
            <a:pPr>
              <a:buNone/>
            </a:pPr>
            <a:r>
              <a:rPr lang="en-US" sz="3100" dirty="0" smtClean="0"/>
              <a:t>	 		</a:t>
            </a:r>
            <a:r>
              <a:rPr lang="en-US" sz="3100" dirty="0" smtClean="0">
                <a:solidFill>
                  <a:srgbClr val="C00000"/>
                </a:solidFill>
              </a:rPr>
              <a:t>a</a:t>
            </a:r>
            <a:r>
              <a:rPr lang="en-US" sz="3100" baseline="-25000" dirty="0" smtClean="0">
                <a:solidFill>
                  <a:srgbClr val="C00000"/>
                </a:solidFill>
              </a:rPr>
              <a:t>36</a:t>
            </a:r>
            <a:r>
              <a:rPr lang="en-US" sz="3100" dirty="0" smtClean="0">
                <a:solidFill>
                  <a:srgbClr val="C00000"/>
                </a:solidFill>
              </a:rPr>
              <a:t> </a:t>
            </a:r>
            <a:r>
              <a:rPr lang="en-US" sz="3100" dirty="0" smtClean="0"/>
              <a:t>=</a:t>
            </a:r>
            <a:r>
              <a:rPr lang="en-US" sz="3100" dirty="0" smtClean="0">
                <a:solidFill>
                  <a:srgbClr val="C00000"/>
                </a:solidFill>
              </a:rPr>
              <a:t> 3 + (36 - 1) 2</a:t>
            </a:r>
          </a:p>
          <a:p>
            <a:pPr>
              <a:buNone/>
            </a:pPr>
            <a:r>
              <a:rPr lang="en-US" sz="3100" dirty="0" smtClean="0"/>
              <a:t>			     = </a:t>
            </a:r>
            <a:r>
              <a:rPr lang="en-US" sz="3100" dirty="0" smtClean="0">
                <a:solidFill>
                  <a:srgbClr val="C00000"/>
                </a:solidFill>
              </a:rPr>
              <a:t>3 + 70</a:t>
            </a:r>
          </a:p>
          <a:p>
            <a:pPr>
              <a:buNone/>
            </a:pPr>
            <a:r>
              <a:rPr lang="en-US" sz="3100" dirty="0" smtClean="0"/>
              <a:t>			     = </a:t>
            </a:r>
            <a:r>
              <a:rPr lang="en-US" sz="3100" dirty="0" smtClean="0">
                <a:solidFill>
                  <a:srgbClr val="C00000"/>
                </a:solidFill>
              </a:rPr>
              <a:t>73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GEOMETRIC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in which </a:t>
            </a:r>
            <a:r>
              <a:rPr lang="en-US" dirty="0" smtClean="0">
                <a:solidFill>
                  <a:srgbClr val="C00000"/>
                </a:solidFill>
              </a:rPr>
              <a:t>every term </a:t>
            </a:r>
            <a:r>
              <a:rPr lang="en-US" dirty="0" smtClean="0"/>
              <a:t>after the first is obtained from the </a:t>
            </a:r>
            <a:r>
              <a:rPr lang="en-US" dirty="0" smtClean="0">
                <a:solidFill>
                  <a:srgbClr val="C00000"/>
                </a:solidFill>
              </a:rPr>
              <a:t>preceding</a:t>
            </a:r>
            <a:r>
              <a:rPr lang="en-US" dirty="0" smtClean="0"/>
              <a:t> term by </a:t>
            </a:r>
            <a:r>
              <a:rPr lang="en-US" dirty="0" smtClean="0">
                <a:solidFill>
                  <a:srgbClr val="C00000"/>
                </a:solidFill>
              </a:rPr>
              <a:t>multiplying</a:t>
            </a:r>
            <a:r>
              <a:rPr lang="en-US" dirty="0" smtClean="0"/>
              <a:t> it with a </a:t>
            </a:r>
            <a:r>
              <a:rPr lang="en-US" dirty="0" smtClean="0">
                <a:solidFill>
                  <a:srgbClr val="C00000"/>
                </a:solidFill>
              </a:rPr>
              <a:t>constant number</a:t>
            </a:r>
            <a:r>
              <a:rPr lang="en-US" dirty="0" smtClean="0"/>
              <a:t> is called a </a:t>
            </a:r>
            <a:r>
              <a:rPr lang="en-US" dirty="0" smtClean="0">
                <a:solidFill>
                  <a:srgbClr val="C00000"/>
                </a:solidFill>
              </a:rPr>
              <a:t>geometric sequence </a:t>
            </a:r>
            <a:r>
              <a:rPr lang="en-US" dirty="0" smtClean="0"/>
              <a:t>or </a:t>
            </a:r>
            <a:r>
              <a:rPr lang="en-US" dirty="0" smtClean="0">
                <a:solidFill>
                  <a:srgbClr val="C00000"/>
                </a:solidFill>
              </a:rPr>
              <a:t>geometric progression (G.P.)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constant number</a:t>
            </a:r>
            <a:r>
              <a:rPr lang="en-US" dirty="0" smtClean="0"/>
              <a:t>, being the ratio of any two </a:t>
            </a:r>
            <a:r>
              <a:rPr lang="en-US" dirty="0" smtClean="0">
                <a:solidFill>
                  <a:srgbClr val="C00000"/>
                </a:solidFill>
              </a:rPr>
              <a:t>consecutive terms </a:t>
            </a:r>
            <a:r>
              <a:rPr lang="en-US" dirty="0" smtClean="0"/>
              <a:t>is called the </a:t>
            </a:r>
            <a:r>
              <a:rPr lang="en-US" dirty="0" smtClean="0">
                <a:solidFill>
                  <a:srgbClr val="C00000"/>
                </a:solidFill>
              </a:rPr>
              <a:t>common ratio </a:t>
            </a:r>
            <a:r>
              <a:rPr lang="en-US" dirty="0" smtClean="0"/>
              <a:t>of the </a:t>
            </a:r>
            <a:r>
              <a:rPr lang="en-US" dirty="0" smtClean="0">
                <a:solidFill>
                  <a:srgbClr val="C00000"/>
                </a:solidFill>
              </a:rPr>
              <a:t>G.P.</a:t>
            </a:r>
            <a:r>
              <a:rPr lang="en-US" dirty="0" smtClean="0"/>
              <a:t> commonly denoted by “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”.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1).		</a:t>
            </a:r>
            <a:r>
              <a:rPr lang="en-US" b="1" dirty="0" smtClean="0">
                <a:solidFill>
                  <a:srgbClr val="C00000"/>
                </a:solidFill>
              </a:rPr>
              <a:t>1, 2, 4, 8, 16, …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sz="2800" dirty="0" smtClean="0">
                <a:solidFill>
                  <a:srgbClr val="C00000"/>
                </a:solidFill>
              </a:rPr>
              <a:t>		a</a:t>
            </a:r>
            <a:r>
              <a:rPr lang="en-US" sz="2800" baseline="-25000" dirty="0" smtClean="0">
                <a:solidFill>
                  <a:srgbClr val="C00000"/>
                </a:solidFill>
              </a:rPr>
              <a:t>1</a:t>
            </a:r>
            <a:r>
              <a:rPr lang="en-US" sz="2800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/>
              <a:t>=</a:t>
            </a:r>
            <a:r>
              <a:rPr lang="en-US" sz="2800" dirty="0" smtClean="0">
                <a:solidFill>
                  <a:srgbClr val="C00000"/>
                </a:solidFill>
              </a:rPr>
              <a:t> 1, 	</a:t>
            </a:r>
            <a:r>
              <a:rPr lang="en-US" sz="2400" dirty="0" smtClean="0">
                <a:solidFill>
                  <a:srgbClr val="C00000"/>
                </a:solidFill>
              </a:rPr>
              <a:t>a</a:t>
            </a:r>
            <a:r>
              <a:rPr lang="en-US" sz="2400" baseline="-25000" dirty="0" smtClean="0">
                <a:solidFill>
                  <a:srgbClr val="C00000"/>
                </a:solidFill>
              </a:rPr>
              <a:t>2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=</a:t>
            </a:r>
            <a:r>
              <a:rPr lang="en-US" sz="2400" dirty="0" smtClean="0">
                <a:solidFill>
                  <a:srgbClr val="C00000"/>
                </a:solidFill>
              </a:rPr>
              <a:t> (1)(2) </a:t>
            </a:r>
            <a:r>
              <a:rPr lang="en-US" sz="2400" dirty="0" smtClean="0"/>
              <a:t>=</a:t>
            </a:r>
            <a:r>
              <a:rPr lang="en-US" sz="2400" dirty="0" smtClean="0">
                <a:solidFill>
                  <a:srgbClr val="C00000"/>
                </a:solidFill>
              </a:rPr>
              <a:t> 2, 	a</a:t>
            </a:r>
            <a:r>
              <a:rPr lang="en-US" sz="2400" baseline="-25000" dirty="0" smtClean="0">
                <a:solidFill>
                  <a:srgbClr val="C00000"/>
                </a:solidFill>
              </a:rPr>
              <a:t>3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=</a:t>
            </a:r>
            <a:r>
              <a:rPr lang="en-US" sz="2400" dirty="0" smtClean="0">
                <a:solidFill>
                  <a:srgbClr val="C00000"/>
                </a:solidFill>
              </a:rPr>
              <a:t> (2)(2) </a:t>
            </a:r>
            <a:r>
              <a:rPr lang="en-US" sz="2400" dirty="0" smtClean="0"/>
              <a:t>=</a:t>
            </a:r>
            <a:r>
              <a:rPr lang="en-US" sz="2400" dirty="0" smtClean="0">
                <a:solidFill>
                  <a:srgbClr val="C00000"/>
                </a:solidFill>
              </a:rPr>
              <a:t> 4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(4)(2)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8, 	a</a:t>
            </a:r>
            <a:r>
              <a:rPr lang="en-US" baseline="-25000" dirty="0" smtClean="0">
                <a:solidFill>
                  <a:srgbClr val="C00000"/>
                </a:solidFill>
              </a:rPr>
              <a:t>5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(8)(2)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16</a:t>
            </a:r>
          </a:p>
          <a:p>
            <a:pPr>
              <a:buNone/>
            </a:pPr>
            <a:endParaRPr lang="en-US" b="1" u="sng" dirty="0" smtClean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	</a:t>
            </a:r>
            <a:r>
              <a:rPr lang="en-US" dirty="0" smtClean="0"/>
              <a:t>First Term = </a:t>
            </a:r>
            <a:r>
              <a:rPr lang="en-US" b="1" dirty="0" smtClean="0">
                <a:solidFill>
                  <a:srgbClr val="C00000"/>
                </a:solidFill>
              </a:rPr>
              <a:t>1</a:t>
            </a:r>
          </a:p>
          <a:p>
            <a:pPr>
              <a:buNone/>
            </a:pPr>
            <a:r>
              <a:rPr lang="en-US" dirty="0" smtClean="0"/>
              <a:t>	Common Ration = </a:t>
            </a:r>
            <a:r>
              <a:rPr lang="en-US" b="1" dirty="0" smtClean="0">
                <a:solidFill>
                  <a:srgbClr val="C00000"/>
                </a:solidFill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2).		 </a:t>
            </a:r>
            <a:r>
              <a:rPr lang="en-US" b="1" dirty="0" smtClean="0">
                <a:solidFill>
                  <a:srgbClr val="C00000"/>
                </a:solidFill>
              </a:rPr>
              <a:t>3, -3/2, 3/4, -3/8, …	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3,        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(1)(-1/2)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-3/2,      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(-3/2)(-1/2)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3/4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(3/4)(-1/2)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-3/8,   </a:t>
            </a:r>
          </a:p>
          <a:p>
            <a:pPr>
              <a:buNone/>
            </a:pPr>
            <a:endParaRPr lang="en-US" b="1" u="sng" dirty="0" smtClean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	</a:t>
            </a:r>
            <a:r>
              <a:rPr lang="en-US" dirty="0" smtClean="0"/>
              <a:t>First Term = </a:t>
            </a:r>
            <a:r>
              <a:rPr lang="en-US" b="1" dirty="0" smtClean="0">
                <a:solidFill>
                  <a:srgbClr val="C00000"/>
                </a:solidFill>
              </a:rPr>
              <a:t>3</a:t>
            </a:r>
          </a:p>
          <a:p>
            <a:pPr>
              <a:buNone/>
            </a:pPr>
            <a:r>
              <a:rPr lang="en-US" dirty="0" smtClean="0"/>
              <a:t>	Common Ration = </a:t>
            </a:r>
            <a:r>
              <a:rPr lang="en-US" b="1" dirty="0" smtClean="0">
                <a:solidFill>
                  <a:srgbClr val="C00000"/>
                </a:solidFill>
              </a:rPr>
              <a:t>-1/2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3).		 </a:t>
            </a:r>
            <a:r>
              <a:rPr lang="en-US" b="1" dirty="0" smtClean="0">
                <a:solidFill>
                  <a:srgbClr val="C00000"/>
                </a:solidFill>
              </a:rPr>
              <a:t>0.1, 0.01, 0.001, 0.0001, …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sz="2800" dirty="0" smtClean="0">
                <a:solidFill>
                  <a:srgbClr val="C00000"/>
                </a:solidFill>
              </a:rPr>
              <a:t>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0.1, 	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(0.1)(0.1)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0.01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(0.01)(0.1)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0.001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(0.001)(0.1)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0.0001</a:t>
            </a:r>
          </a:p>
          <a:p>
            <a:pPr>
              <a:buNone/>
            </a:pPr>
            <a:endParaRPr lang="en-US" b="1" u="sng" dirty="0" smtClean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	</a:t>
            </a:r>
            <a:r>
              <a:rPr lang="en-US" dirty="0" smtClean="0"/>
              <a:t>First Term = </a:t>
            </a:r>
            <a:r>
              <a:rPr lang="en-US" b="1" dirty="0" smtClean="0">
                <a:solidFill>
                  <a:srgbClr val="C00000"/>
                </a:solidFill>
              </a:rPr>
              <a:t>0.1</a:t>
            </a:r>
          </a:p>
          <a:p>
            <a:pPr>
              <a:buNone/>
            </a:pPr>
            <a:r>
              <a:rPr lang="en-US" dirty="0" smtClean="0"/>
              <a:t>	Common Ration = </a:t>
            </a:r>
            <a:r>
              <a:rPr lang="en-US" b="1" dirty="0" smtClean="0">
                <a:solidFill>
                  <a:srgbClr val="C00000"/>
                </a:solidFill>
              </a:rPr>
              <a:t>0.1 = 1/10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GENERAL TERM OF A GEOMETRIC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first tem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be the common ratio of a </a:t>
            </a:r>
            <a:r>
              <a:rPr lang="en-US" dirty="0" smtClean="0">
                <a:solidFill>
                  <a:srgbClr val="C00000"/>
                </a:solidFill>
              </a:rPr>
              <a:t>geometric sequence</a:t>
            </a:r>
            <a:r>
              <a:rPr lang="en-US" dirty="0" smtClean="0"/>
              <a:t>. Then the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is 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, </a:t>
            </a:r>
            <a:r>
              <a:rPr lang="en-US" dirty="0" err="1" smtClean="0">
                <a:solidFill>
                  <a:srgbClr val="C00000"/>
                </a:solidFill>
              </a:rPr>
              <a:t>ar</a:t>
            </a:r>
            <a:r>
              <a:rPr lang="en-US" dirty="0" smtClean="0"/>
              <a:t> , </a:t>
            </a:r>
            <a:r>
              <a:rPr lang="en-US" dirty="0" smtClean="0">
                <a:solidFill>
                  <a:srgbClr val="C00000"/>
                </a:solidFill>
              </a:rPr>
              <a:t>ar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ar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/>
              <a:t>, …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= first term </a:t>
            </a:r>
            <a:r>
              <a:rPr lang="en-US" dirty="0" smtClean="0">
                <a:solidFill>
                  <a:srgbClr val="C00000"/>
                </a:solidFill>
              </a:rPr>
              <a:t>= a = ar</a:t>
            </a:r>
            <a:r>
              <a:rPr lang="en-US" baseline="30000" dirty="0" smtClean="0">
                <a:solidFill>
                  <a:srgbClr val="C00000"/>
                </a:solidFill>
              </a:rPr>
              <a:t>1-1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= second term </a:t>
            </a:r>
            <a:r>
              <a:rPr lang="en-US" dirty="0" smtClean="0">
                <a:solidFill>
                  <a:srgbClr val="C00000"/>
                </a:solidFill>
              </a:rPr>
              <a:t>= </a:t>
            </a:r>
            <a:r>
              <a:rPr lang="en-US" dirty="0" err="1" smtClean="0">
                <a:solidFill>
                  <a:srgbClr val="C00000"/>
                </a:solidFill>
              </a:rPr>
              <a:t>ar</a:t>
            </a:r>
            <a:r>
              <a:rPr lang="en-US" dirty="0" smtClean="0">
                <a:solidFill>
                  <a:srgbClr val="C00000"/>
                </a:solidFill>
              </a:rPr>
              <a:t> = ar</a:t>
            </a:r>
            <a:r>
              <a:rPr lang="en-US" baseline="30000" dirty="0" smtClean="0">
                <a:solidFill>
                  <a:srgbClr val="C00000"/>
                </a:solidFill>
              </a:rPr>
              <a:t>2-1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/>
              <a:t> = third term </a:t>
            </a:r>
            <a:r>
              <a:rPr lang="en-US" dirty="0" smtClean="0">
                <a:solidFill>
                  <a:srgbClr val="C00000"/>
                </a:solidFill>
              </a:rPr>
              <a:t>= ar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ar</a:t>
            </a:r>
            <a:r>
              <a:rPr lang="en-US" baseline="30000" dirty="0" smtClean="0">
                <a:solidFill>
                  <a:srgbClr val="C00000"/>
                </a:solidFill>
              </a:rPr>
              <a:t>3-1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	………………</a:t>
            </a:r>
          </a:p>
          <a:p>
            <a:pPr>
              <a:buNone/>
            </a:pPr>
            <a:r>
              <a:rPr lang="en-US" dirty="0" smtClean="0"/>
              <a:t>			………………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nth term = ar</a:t>
            </a:r>
            <a:r>
              <a:rPr lang="en-US" baseline="30000" dirty="0" smtClean="0">
                <a:solidFill>
                  <a:srgbClr val="C00000"/>
                </a:solidFill>
              </a:rPr>
              <a:t>n-1</a:t>
            </a:r>
            <a:r>
              <a:rPr lang="en-US" dirty="0" smtClean="0">
                <a:solidFill>
                  <a:srgbClr val="C00000"/>
                </a:solidFill>
              </a:rPr>
              <a:t>;</a:t>
            </a:r>
            <a:r>
              <a:rPr lang="en-US" dirty="0" smtClean="0"/>
              <a:t>	for all integers </a:t>
            </a:r>
            <a:r>
              <a:rPr lang="en-US" dirty="0" smtClean="0">
                <a:solidFill>
                  <a:srgbClr val="C00000"/>
                </a:solidFill>
              </a:rPr>
              <a:t>n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en-US" dirty="0" smtClean="0">
                <a:solidFill>
                  <a:srgbClr val="C00000"/>
                </a:solidFill>
              </a:rPr>
              <a:t> 1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r>
              <a:rPr lang="en-US" dirty="0" smtClean="0"/>
              <a:t>Find the </a:t>
            </a:r>
            <a:r>
              <a:rPr lang="en-US" dirty="0" smtClean="0">
                <a:solidFill>
                  <a:srgbClr val="C00000"/>
                </a:solidFill>
              </a:rPr>
              <a:t>8th</a:t>
            </a:r>
            <a:r>
              <a:rPr lang="en-US" dirty="0" smtClean="0"/>
              <a:t> term of the following </a:t>
            </a:r>
            <a:r>
              <a:rPr lang="en-US" dirty="0" smtClean="0">
                <a:solidFill>
                  <a:srgbClr val="C00000"/>
                </a:solidFill>
              </a:rPr>
              <a:t>geometric sequence 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4, 12, 36, 108, …</a:t>
            </a:r>
          </a:p>
          <a:p>
            <a:r>
              <a:rPr lang="en-US" b="1" u="sng" dirty="0" smtClean="0"/>
              <a:t>SOLUTION:</a:t>
            </a:r>
          </a:p>
          <a:p>
            <a:pPr>
              <a:buNone/>
            </a:pPr>
            <a:r>
              <a:rPr lang="en-US" dirty="0" smtClean="0"/>
              <a:t>	Here 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= first term = </a:t>
            </a:r>
            <a:r>
              <a:rPr lang="en-US" dirty="0" smtClean="0">
                <a:solidFill>
                  <a:srgbClr val="C00000"/>
                </a:solidFill>
              </a:rPr>
              <a:t>4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r </a:t>
            </a:r>
            <a:r>
              <a:rPr lang="en-US" dirty="0" smtClean="0"/>
              <a:t>= common ratio =      = </a:t>
            </a:r>
            <a:r>
              <a:rPr lang="en-US" dirty="0" smtClean="0">
                <a:solidFill>
                  <a:srgbClr val="C00000"/>
                </a:solidFill>
              </a:rPr>
              <a:t>3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n </a:t>
            </a:r>
            <a:r>
              <a:rPr lang="en-US" dirty="0" smtClean="0"/>
              <a:t>= term number = </a:t>
            </a:r>
            <a:r>
              <a:rPr lang="en-US" dirty="0" smtClean="0">
                <a:solidFill>
                  <a:srgbClr val="C00000"/>
                </a:solidFill>
              </a:rPr>
              <a:t>8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8</a:t>
            </a:r>
            <a:r>
              <a:rPr lang="en-US" dirty="0" smtClean="0">
                <a:solidFill>
                  <a:srgbClr val="C00000"/>
                </a:solidFill>
              </a:rPr>
              <a:t> = value of 8th term = ?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Since		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b="1" u="sng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97282" name="Object 2"/>
          <p:cNvGraphicFramePr>
            <a:graphicFrameLocks noChangeAspect="1"/>
          </p:cNvGraphicFramePr>
          <p:nvPr/>
        </p:nvGraphicFramePr>
        <p:xfrm>
          <a:off x="6096000" y="3048000"/>
          <a:ext cx="355600" cy="619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88" r:id="rId3" imgW="203040" imgH="393480" progId="">
                  <p:embed/>
                </p:oleObj>
              </mc:Choice>
              <mc:Fallback>
                <p:oleObj r:id="rId3" imgW="20304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048000"/>
                        <a:ext cx="355600" cy="6191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r>
              <a:rPr lang="en-US" dirty="0" smtClean="0"/>
              <a:t>Find the </a:t>
            </a:r>
            <a:r>
              <a:rPr lang="en-US" dirty="0" smtClean="0">
                <a:solidFill>
                  <a:srgbClr val="C00000"/>
                </a:solidFill>
              </a:rPr>
              <a:t>8th</a:t>
            </a:r>
            <a:r>
              <a:rPr lang="en-US" dirty="0" smtClean="0"/>
              <a:t> term of the following </a:t>
            </a:r>
            <a:r>
              <a:rPr lang="en-US" dirty="0" smtClean="0">
                <a:solidFill>
                  <a:srgbClr val="C00000"/>
                </a:solidFill>
              </a:rPr>
              <a:t>geometric sequence 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4, 12, 36, 108, …</a:t>
            </a:r>
          </a:p>
          <a:p>
            <a:r>
              <a:rPr lang="en-US" b="1" u="sng" dirty="0" smtClean="0"/>
              <a:t>SOLUTION:</a:t>
            </a:r>
          </a:p>
          <a:p>
            <a:pPr>
              <a:buNone/>
            </a:pPr>
            <a:r>
              <a:rPr lang="en-US" dirty="0" smtClean="0"/>
              <a:t>	Here 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= first term = </a:t>
            </a:r>
            <a:r>
              <a:rPr lang="en-US" dirty="0" smtClean="0">
                <a:solidFill>
                  <a:srgbClr val="C00000"/>
                </a:solidFill>
              </a:rPr>
              <a:t>4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r </a:t>
            </a:r>
            <a:r>
              <a:rPr lang="en-US" dirty="0" smtClean="0"/>
              <a:t>= common ratio =      = </a:t>
            </a:r>
            <a:r>
              <a:rPr lang="en-US" dirty="0" smtClean="0">
                <a:solidFill>
                  <a:srgbClr val="C00000"/>
                </a:solidFill>
              </a:rPr>
              <a:t>3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n </a:t>
            </a:r>
            <a:r>
              <a:rPr lang="en-US" dirty="0" smtClean="0"/>
              <a:t>= term number = </a:t>
            </a:r>
            <a:r>
              <a:rPr lang="en-US" dirty="0" smtClean="0">
                <a:solidFill>
                  <a:srgbClr val="C00000"/>
                </a:solidFill>
              </a:rPr>
              <a:t>8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8</a:t>
            </a:r>
            <a:r>
              <a:rPr lang="en-US" dirty="0" smtClean="0">
                <a:solidFill>
                  <a:srgbClr val="C00000"/>
                </a:solidFill>
              </a:rPr>
              <a:t> = value of 8th term = ?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Since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ar</a:t>
            </a:r>
            <a:r>
              <a:rPr lang="en-US" b="1" baseline="30000" dirty="0" smtClean="0">
                <a:solidFill>
                  <a:srgbClr val="C00000"/>
                </a:solidFill>
              </a:rPr>
              <a:t>n-1</a:t>
            </a:r>
            <a:r>
              <a:rPr lang="en-US" dirty="0" smtClean="0"/>
              <a:t>		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/>
              </a:rPr>
              <a:t>			</a:t>
            </a:r>
            <a:r>
              <a:rPr lang="en-US" dirty="0" smtClean="0">
                <a:sym typeface="Symbol"/>
              </a:rPr>
              <a:t>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8</a:t>
            </a:r>
            <a:r>
              <a:rPr lang="en-US" dirty="0" smtClean="0"/>
              <a:t> = (4)(3)</a:t>
            </a:r>
            <a:r>
              <a:rPr lang="en-US" baseline="30000" dirty="0" smtClean="0"/>
              <a:t>8-1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    = 4 .(2187)</a:t>
            </a:r>
          </a:p>
          <a:p>
            <a:pPr>
              <a:buNone/>
            </a:pPr>
            <a:r>
              <a:rPr lang="en-US" dirty="0" smtClean="0"/>
              <a:t>			              =</a:t>
            </a:r>
            <a:r>
              <a:rPr lang="en-US" dirty="0" smtClean="0">
                <a:solidFill>
                  <a:srgbClr val="C00000"/>
                </a:solidFill>
              </a:rPr>
              <a:t> 8748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endParaRPr lang="en-US" b="1" u="sng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97282" name="Object 2"/>
          <p:cNvGraphicFramePr>
            <a:graphicFrameLocks noChangeAspect="1"/>
          </p:cNvGraphicFramePr>
          <p:nvPr/>
        </p:nvGraphicFramePr>
        <p:xfrm>
          <a:off x="6096000" y="3048000"/>
          <a:ext cx="355600" cy="619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9" r:id="rId3" imgW="203040" imgH="393480" progId="">
                  <p:embed/>
                </p:oleObj>
              </mc:Choice>
              <mc:Fallback>
                <p:oleObj r:id="rId3" imgW="203040" imgH="393480" progId="">
                  <p:embed/>
                  <p:pic>
                    <p:nvPicPr>
                      <p:cNvPr id="972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048000"/>
                        <a:ext cx="355600" cy="6191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278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 anchor="b"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5181600"/>
          </a:xfrm>
        </p:spPr>
        <p:txBody>
          <a:bodyPr/>
          <a:lstStyle/>
          <a:p>
            <a:r>
              <a:rPr lang="en-US" dirty="0" smtClean="0"/>
              <a:t>Which term of the </a:t>
            </a:r>
            <a:r>
              <a:rPr lang="en-US" dirty="0" smtClean="0">
                <a:solidFill>
                  <a:srgbClr val="C00000"/>
                </a:solidFill>
              </a:rPr>
              <a:t>geometric sequence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C00000"/>
                </a:solidFill>
              </a:rPr>
              <a:t>1/8</a:t>
            </a:r>
            <a:r>
              <a:rPr lang="en-US" dirty="0" smtClean="0"/>
              <a:t> if the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4</a:t>
            </a:r>
            <a:r>
              <a:rPr lang="en-US" dirty="0" smtClean="0"/>
              <a:t> and common ratio </a:t>
            </a:r>
            <a:r>
              <a:rPr lang="en-US" dirty="0" smtClean="0">
                <a:solidFill>
                  <a:srgbClr val="C00000"/>
                </a:solidFill>
              </a:rPr>
              <a:t>½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Given	</a:t>
            </a:r>
            <a:r>
              <a:rPr lang="en-US" dirty="0" smtClean="0">
                <a:solidFill>
                  <a:srgbClr val="C00000"/>
                </a:solidFill>
              </a:rPr>
              <a:t>a </a:t>
            </a:r>
            <a:r>
              <a:rPr lang="en-US" dirty="0" smtClean="0"/>
              <a:t>= first term = </a:t>
            </a:r>
            <a:r>
              <a:rPr lang="en-US" dirty="0" smtClean="0">
                <a:solidFill>
                  <a:srgbClr val="C00000"/>
                </a:solidFill>
              </a:rPr>
              <a:t>4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= common ratio = </a:t>
            </a:r>
            <a:r>
              <a:rPr lang="en-US" dirty="0" smtClean="0">
                <a:solidFill>
                  <a:srgbClr val="C00000"/>
                </a:solidFill>
              </a:rPr>
              <a:t>½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= value of the nth term = </a:t>
            </a:r>
            <a:r>
              <a:rPr lang="en-US" dirty="0" smtClean="0">
                <a:solidFill>
                  <a:srgbClr val="C00000"/>
                </a:solidFill>
              </a:rPr>
              <a:t>1/8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n = term number = ?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Since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ar</a:t>
            </a:r>
            <a:r>
              <a:rPr lang="en-US" b="1" baseline="30000" dirty="0" smtClean="0">
                <a:solidFill>
                  <a:srgbClr val="C00000"/>
                </a:solidFill>
              </a:rPr>
              <a:t>n-1</a:t>
            </a:r>
            <a:r>
              <a:rPr lang="en-US" dirty="0" smtClean="0"/>
              <a:t>		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Since bases are same so powers must be equal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      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n – 1 = 5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      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n = 6</a:t>
            </a:r>
          </a:p>
          <a:p>
            <a:pPr>
              <a:buNone/>
            </a:pPr>
            <a:r>
              <a:rPr lang="en-US" dirty="0" smtClean="0"/>
              <a:t>	Hence </a:t>
            </a:r>
            <a:r>
              <a:rPr lang="en-US" b="1" dirty="0" smtClean="0">
                <a:solidFill>
                  <a:srgbClr val="C00000"/>
                </a:solidFill>
              </a:rPr>
              <a:t>1/8 </a:t>
            </a:r>
            <a:r>
              <a:rPr lang="en-US" dirty="0" smtClean="0"/>
              <a:t>is the </a:t>
            </a:r>
            <a:r>
              <a:rPr lang="en-US" b="1" dirty="0" smtClean="0">
                <a:solidFill>
                  <a:srgbClr val="C00000"/>
                </a:solidFill>
              </a:rPr>
              <a:t>6th</a:t>
            </a:r>
            <a:r>
              <a:rPr lang="en-US" dirty="0" smtClean="0"/>
              <a:t> term of the given </a:t>
            </a:r>
            <a:r>
              <a:rPr lang="en-US" b="1" dirty="0" smtClean="0">
                <a:solidFill>
                  <a:srgbClr val="C00000"/>
                </a:solidFill>
              </a:rPr>
              <a:t>G.P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99330" name="Object 2"/>
          <p:cNvGraphicFramePr>
            <a:graphicFrameLocks noChangeAspect="1"/>
          </p:cNvGraphicFramePr>
          <p:nvPr/>
        </p:nvGraphicFramePr>
        <p:xfrm>
          <a:off x="2649792" y="1610040"/>
          <a:ext cx="3417094" cy="2667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6" r:id="rId3" imgW="1917360" imgH="1625400" progId="">
                  <p:embed/>
                </p:oleObj>
              </mc:Choice>
              <mc:Fallback>
                <p:oleObj r:id="rId3" imgW="1917360" imgH="16254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792" y="1610040"/>
                        <a:ext cx="3417094" cy="26670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9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r>
              <a:rPr lang="en-US" dirty="0" smtClean="0"/>
              <a:t>Write the </a:t>
            </a:r>
            <a:r>
              <a:rPr lang="en-US" dirty="0" smtClean="0">
                <a:solidFill>
                  <a:srgbClr val="C00000"/>
                </a:solidFill>
              </a:rPr>
              <a:t>geometric sequence 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positive terms </a:t>
            </a:r>
            <a:r>
              <a:rPr lang="en-US" dirty="0" smtClean="0"/>
              <a:t>whose </a:t>
            </a:r>
            <a:r>
              <a:rPr lang="en-US" dirty="0" smtClean="0">
                <a:solidFill>
                  <a:srgbClr val="C00000"/>
                </a:solidFill>
              </a:rPr>
              <a:t>second term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C00000"/>
                </a:solidFill>
              </a:rPr>
              <a:t>9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C00000"/>
                </a:solidFill>
              </a:rPr>
              <a:t>fourth term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.</a:t>
            </a:r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General Formula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pt-BR" dirty="0" smtClean="0"/>
              <a:t> </a:t>
            </a:r>
            <a:r>
              <a:rPr lang="pt-BR" b="1" dirty="0" smtClean="0">
                <a:solidFill>
                  <a:srgbClr val="C00000"/>
                </a:solidFill>
              </a:rPr>
              <a:t>a</a:t>
            </a:r>
            <a:r>
              <a:rPr lang="pt-BR" b="1" baseline="-25000" dirty="0" smtClean="0">
                <a:solidFill>
                  <a:srgbClr val="C00000"/>
                </a:solidFill>
              </a:rPr>
              <a:t>n</a:t>
            </a:r>
            <a:r>
              <a:rPr lang="pt-BR" b="1" dirty="0" smtClean="0">
                <a:solidFill>
                  <a:srgbClr val="C00000"/>
                </a:solidFill>
              </a:rPr>
              <a:t> = ar</a:t>
            </a:r>
            <a:r>
              <a:rPr lang="pt-BR" b="1" baseline="30000" dirty="0" smtClean="0">
                <a:solidFill>
                  <a:srgbClr val="C00000"/>
                </a:solidFill>
              </a:rPr>
              <a:t> n-1</a:t>
            </a:r>
            <a:r>
              <a:rPr lang="pt-BR" dirty="0" smtClean="0"/>
              <a:t>		n </a:t>
            </a:r>
            <a:r>
              <a:rPr lang="en-US" dirty="0" smtClean="0">
                <a:sym typeface="Symbol"/>
              </a:rPr>
              <a:t></a:t>
            </a:r>
            <a:r>
              <a:rPr lang="pt-BR" dirty="0" smtClean="0"/>
              <a:t>1</a:t>
            </a:r>
            <a:endParaRPr lang="en-US" dirty="0" smtClean="0"/>
          </a:p>
          <a:p>
            <a:pPr>
              <a:buNone/>
            </a:pPr>
            <a:r>
              <a:rPr lang="pt-BR" dirty="0" smtClean="0"/>
              <a:t>	Now	</a:t>
            </a:r>
          </a:p>
          <a:p>
            <a:pPr>
              <a:buNone/>
            </a:pPr>
            <a:r>
              <a:rPr lang="pt-BR" dirty="0" smtClean="0"/>
              <a:t>   	          	 </a:t>
            </a:r>
            <a:r>
              <a:rPr lang="pt-BR" b="1" dirty="0" smtClean="0"/>
              <a:t>a</a:t>
            </a:r>
            <a:r>
              <a:rPr lang="pt-BR" b="1" baseline="-25000" dirty="0" smtClean="0"/>
              <a:t>2</a:t>
            </a:r>
            <a:r>
              <a:rPr lang="pt-BR" b="1" dirty="0" smtClean="0"/>
              <a:t> = ar</a:t>
            </a:r>
            <a:r>
              <a:rPr lang="pt-BR" b="1" baseline="30000" dirty="0" smtClean="0"/>
              <a:t> 2-1</a:t>
            </a:r>
          </a:p>
          <a:p>
            <a:pPr>
              <a:buNone/>
            </a:pPr>
            <a:r>
              <a:rPr lang="pt-BR" baseline="30000" dirty="0" smtClean="0"/>
              <a:t>			</a:t>
            </a:r>
            <a:r>
              <a:rPr lang="en-US" dirty="0" smtClean="0">
                <a:sym typeface="Symbol"/>
              </a:rPr>
              <a:t> </a:t>
            </a:r>
            <a:r>
              <a:rPr lang="pt-BR" dirty="0" smtClean="0"/>
              <a:t>	 </a:t>
            </a:r>
            <a:r>
              <a:rPr lang="pt-BR" dirty="0" smtClean="0">
                <a:solidFill>
                  <a:srgbClr val="C00000"/>
                </a:solidFill>
              </a:rPr>
              <a:t>9  = ar     </a:t>
            </a:r>
            <a:r>
              <a:rPr lang="pt-BR" dirty="0" smtClean="0"/>
              <a:t>……………….(1)</a:t>
            </a:r>
          </a:p>
          <a:p>
            <a:pPr>
              <a:buNone/>
            </a:pPr>
            <a:r>
              <a:rPr lang="pt-BR" dirty="0" smtClean="0"/>
              <a:t>	 Also		 </a:t>
            </a:r>
            <a:r>
              <a:rPr lang="pt-BR" b="1" dirty="0" smtClean="0"/>
              <a:t>a</a:t>
            </a:r>
            <a:r>
              <a:rPr lang="pt-BR" b="1" baseline="-25000" dirty="0" smtClean="0"/>
              <a:t>4</a:t>
            </a:r>
            <a:r>
              <a:rPr lang="pt-BR" b="1" dirty="0" smtClean="0"/>
              <a:t> = ar</a:t>
            </a:r>
            <a:r>
              <a:rPr lang="pt-BR" b="1" baseline="30000" dirty="0" smtClean="0"/>
              <a:t>4-1</a:t>
            </a:r>
          </a:p>
          <a:p>
            <a:pPr>
              <a:buNone/>
            </a:pPr>
            <a:r>
              <a:rPr lang="pt-BR" baseline="30000" dirty="0" smtClean="0"/>
              <a:t>	</a:t>
            </a:r>
            <a:r>
              <a:rPr lang="en-US" dirty="0" smtClean="0"/>
              <a:t> 	</a:t>
            </a:r>
            <a:r>
              <a:rPr lang="en-US" dirty="0" smtClean="0">
                <a:sym typeface="Symbol"/>
              </a:rPr>
              <a:t> 	 </a:t>
            </a:r>
            <a:r>
              <a:rPr lang="en-US" dirty="0" smtClean="0"/>
              <a:t>	 </a:t>
            </a:r>
            <a:r>
              <a:rPr lang="en-US" dirty="0" smtClean="0">
                <a:solidFill>
                  <a:srgbClr val="C00000"/>
                </a:solidFill>
              </a:rPr>
              <a:t>1  = </a:t>
            </a:r>
            <a:r>
              <a:rPr lang="en-US" dirty="0" err="1" smtClean="0">
                <a:solidFill>
                  <a:srgbClr val="C00000"/>
                </a:solidFill>
              </a:rPr>
              <a:t>ar</a:t>
            </a:r>
            <a:r>
              <a:rPr lang="en-US" baseline="30000" dirty="0" smtClean="0">
                <a:solidFill>
                  <a:srgbClr val="C00000"/>
                </a:solidFill>
              </a:rPr>
              <a:t> 3</a:t>
            </a:r>
            <a:r>
              <a:rPr lang="en-US" dirty="0" smtClean="0">
                <a:solidFill>
                  <a:srgbClr val="C00000"/>
                </a:solidFill>
              </a:rPr>
              <a:t>    </a:t>
            </a:r>
            <a:r>
              <a:rPr lang="en-US" dirty="0" smtClean="0"/>
              <a:t>………………(2)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Dividing (2) by (1), </a:t>
            </a:r>
            <a:r>
              <a:rPr lang="en-US" dirty="0" smtClean="0"/>
              <a:t>we get,</a:t>
            </a:r>
          </a:p>
          <a:p>
            <a:endParaRPr lang="en-US" dirty="0"/>
          </a:p>
        </p:txBody>
      </p:sp>
      <p:graphicFrame>
        <p:nvGraphicFramePr>
          <p:cNvPr id="100354" name="Object 2"/>
          <p:cNvGraphicFramePr>
            <a:graphicFrameLocks noChangeAspect="1"/>
          </p:cNvGraphicFramePr>
          <p:nvPr/>
        </p:nvGraphicFramePr>
        <p:xfrm>
          <a:off x="1905000" y="2096724"/>
          <a:ext cx="55626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60" r:id="rId3" imgW="3022560" imgH="1269720" progId="">
                  <p:embed/>
                </p:oleObj>
              </mc:Choice>
              <mc:Fallback>
                <p:oleObj r:id="rId3" imgW="3022560" imgH="126972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096724"/>
                        <a:ext cx="5562600" cy="251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Substituting </a:t>
            </a:r>
            <a:r>
              <a:rPr lang="en-US" b="1" dirty="0" smtClean="0">
                <a:solidFill>
                  <a:srgbClr val="C00000"/>
                </a:solidFill>
              </a:rPr>
              <a:t>r = 1/3 </a:t>
            </a:r>
            <a:r>
              <a:rPr lang="en-US" dirty="0" smtClean="0"/>
              <a:t>in (1), we get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Hence the </a:t>
            </a:r>
            <a:r>
              <a:rPr lang="en-US" b="1" dirty="0" smtClean="0">
                <a:solidFill>
                  <a:srgbClr val="C00000"/>
                </a:solidFill>
              </a:rPr>
              <a:t>geometric sequence </a:t>
            </a:r>
            <a:r>
              <a:rPr lang="en-US" dirty="0" smtClean="0"/>
              <a:t>is</a:t>
            </a:r>
          </a:p>
          <a:p>
            <a:pPr>
              <a:buNone/>
            </a:pPr>
            <a:r>
              <a:rPr lang="en-US" dirty="0" smtClean="0"/>
              <a:t>	 		</a:t>
            </a:r>
            <a:r>
              <a:rPr lang="en-US" b="1" dirty="0" smtClean="0">
                <a:solidFill>
                  <a:srgbClr val="C00000"/>
                </a:solidFill>
              </a:rPr>
              <a:t>27, 9, 3, 1, 1/3, 1/9, …	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101378" name="Object 2"/>
          <p:cNvGraphicFramePr>
            <a:graphicFrameLocks noChangeAspect="1"/>
          </p:cNvGraphicFramePr>
          <p:nvPr/>
        </p:nvGraphicFramePr>
        <p:xfrm>
          <a:off x="1143000" y="1905000"/>
          <a:ext cx="31242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4" r:id="rId3" imgW="1765080" imgH="634680" progId="">
                  <p:embed/>
                </p:oleObj>
              </mc:Choice>
              <mc:Fallback>
                <p:oleObj r:id="rId3" imgW="1765080" imgH="6346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905000"/>
                        <a:ext cx="3124200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SEQUENCES IN COMPUTER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An important </a:t>
            </a:r>
            <a:r>
              <a:rPr lang="en-US" dirty="0" smtClean="0">
                <a:solidFill>
                  <a:srgbClr val="C00000"/>
                </a:solidFill>
              </a:rPr>
              <a:t>data type </a:t>
            </a:r>
            <a:r>
              <a:rPr lang="en-US" dirty="0" smtClean="0"/>
              <a:t>in </a:t>
            </a:r>
            <a:r>
              <a:rPr lang="en-US" dirty="0" smtClean="0">
                <a:solidFill>
                  <a:srgbClr val="C00000"/>
                </a:solidFill>
              </a:rPr>
              <a:t>computer programming </a:t>
            </a:r>
            <a:r>
              <a:rPr lang="en-US" dirty="0" smtClean="0"/>
              <a:t>consists of </a:t>
            </a:r>
            <a:r>
              <a:rPr lang="en-US" dirty="0" smtClean="0">
                <a:solidFill>
                  <a:srgbClr val="C00000"/>
                </a:solidFill>
              </a:rPr>
              <a:t>finite sequences </a:t>
            </a:r>
            <a:r>
              <a:rPr lang="en-US" dirty="0" smtClean="0"/>
              <a:t>known as </a:t>
            </a:r>
            <a:r>
              <a:rPr lang="en-US" dirty="0" smtClean="0">
                <a:solidFill>
                  <a:srgbClr val="C00000"/>
                </a:solidFill>
              </a:rPr>
              <a:t>one-dimensional arrays</a:t>
            </a:r>
            <a:r>
              <a:rPr lang="en-US" dirty="0" smtClean="0"/>
              <a:t>; a single variable in which a sequence of variables may be stored.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2613</TotalTime>
  <Words>797</Words>
  <Application>Microsoft Office PowerPoint</Application>
  <PresentationFormat>On-screen Show (4:3)</PresentationFormat>
  <Paragraphs>429</Paragraphs>
  <Slides>48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Bookman Old Style</vt:lpstr>
      <vt:lpstr>Calibri</vt:lpstr>
      <vt:lpstr>Gill Sans MT</vt:lpstr>
      <vt:lpstr>Symbol</vt:lpstr>
      <vt:lpstr>Wingdings</vt:lpstr>
      <vt:lpstr>Wingdings 3</vt:lpstr>
      <vt:lpstr>Origin</vt:lpstr>
      <vt:lpstr>Equation</vt:lpstr>
      <vt:lpstr>SEQUENCES Lecture # 13</vt:lpstr>
      <vt:lpstr>INTRODUCTION</vt:lpstr>
      <vt:lpstr>PowerPoint Presentation</vt:lpstr>
      <vt:lpstr>FORMAL DEFINITION OF SEQUENCE</vt:lpstr>
      <vt:lpstr>NOTATION</vt:lpstr>
      <vt:lpstr>FINDING TERMS OF A SEQUENCE GIVEN BY AN EXPLICIT FORMULA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EXERCISE</vt:lpstr>
      <vt:lpstr>PowerPoint Presentation</vt:lpstr>
      <vt:lpstr>PowerPoint Presentation</vt:lpstr>
      <vt:lpstr>PowerPoint Presentation</vt:lpstr>
      <vt:lpstr>PowerPoint Presentation</vt:lpstr>
      <vt:lpstr>ARITHMETIC SEQUENCE</vt:lpstr>
      <vt:lpstr>EXAMPLES</vt:lpstr>
      <vt:lpstr>PowerPoint Presentation</vt:lpstr>
      <vt:lpstr>PowerPoint Presentation</vt:lpstr>
      <vt:lpstr>EXAMPLE</vt:lpstr>
      <vt:lpstr>EXAMPLE</vt:lpstr>
      <vt:lpstr>PowerPoint Presentation</vt:lpstr>
      <vt:lpstr>PowerPoint Presentation</vt:lpstr>
      <vt:lpstr>GENERAL TERM OF AN ARITHMETIC SEQUENCE</vt:lpstr>
      <vt:lpstr>EXAMPLE</vt:lpstr>
      <vt:lpstr>EXAMPLE</vt:lpstr>
      <vt:lpstr>EXAMPLE</vt:lpstr>
      <vt:lpstr>PowerPoint Presentation</vt:lpstr>
      <vt:lpstr>EXERCISE</vt:lpstr>
      <vt:lpstr>PowerPoint Presentation</vt:lpstr>
      <vt:lpstr>PowerPoint Presentation</vt:lpstr>
      <vt:lpstr>GEOMETRIC SEQUENCE</vt:lpstr>
      <vt:lpstr>EXAMPLE</vt:lpstr>
      <vt:lpstr>EXAMPLE</vt:lpstr>
      <vt:lpstr>EXAMPLE</vt:lpstr>
      <vt:lpstr>GENERAL TERM OF A GEOMETRIC SEQUENCE</vt:lpstr>
      <vt:lpstr>EXAMPLE</vt:lpstr>
      <vt:lpstr>EXAMPLE</vt:lpstr>
      <vt:lpstr>EXAMPLE</vt:lpstr>
      <vt:lpstr>PowerPoint Presentation</vt:lpstr>
      <vt:lpstr>EXERCISE</vt:lpstr>
      <vt:lpstr>PowerPoint Presentation</vt:lpstr>
      <vt:lpstr>PowerPoint Presentation</vt:lpstr>
      <vt:lpstr>SEQUENCES IN COMPUTER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RULES OF INFERENCE Lecture # 08</dc:title>
  <dc:creator>C &amp; M</dc:creator>
  <cp:lastModifiedBy>Tehseen Fatima</cp:lastModifiedBy>
  <cp:revision>241</cp:revision>
  <dcterms:created xsi:type="dcterms:W3CDTF">2013-10-15T06:26:31Z</dcterms:created>
  <dcterms:modified xsi:type="dcterms:W3CDTF">2024-04-15T11:51:50Z</dcterms:modified>
</cp:coreProperties>
</file>
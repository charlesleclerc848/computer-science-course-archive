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70"/>
  </p:notesMasterIdLst>
  <p:handoutMasterIdLst>
    <p:handoutMasterId r:id="rId71"/>
  </p:handoutMasterIdLst>
  <p:sldIdLst>
    <p:sldId id="256" r:id="rId2"/>
    <p:sldId id="380" r:id="rId3"/>
    <p:sldId id="416" r:id="rId4"/>
    <p:sldId id="417" r:id="rId5"/>
    <p:sldId id="257" r:id="rId6"/>
    <p:sldId id="258" r:id="rId7"/>
    <p:sldId id="320" r:id="rId8"/>
    <p:sldId id="322" r:id="rId9"/>
    <p:sldId id="323" r:id="rId10"/>
    <p:sldId id="324" r:id="rId11"/>
    <p:sldId id="325" r:id="rId12"/>
    <p:sldId id="326" r:id="rId13"/>
    <p:sldId id="367" r:id="rId14"/>
    <p:sldId id="327" r:id="rId15"/>
    <p:sldId id="368" r:id="rId16"/>
    <p:sldId id="369" r:id="rId17"/>
    <p:sldId id="328" r:id="rId18"/>
    <p:sldId id="370" r:id="rId19"/>
    <p:sldId id="371" r:id="rId20"/>
    <p:sldId id="372" r:id="rId21"/>
    <p:sldId id="329" r:id="rId22"/>
    <p:sldId id="373" r:id="rId23"/>
    <p:sldId id="374" r:id="rId24"/>
    <p:sldId id="375" r:id="rId25"/>
    <p:sldId id="330" r:id="rId26"/>
    <p:sldId id="365" r:id="rId27"/>
    <p:sldId id="376" r:id="rId28"/>
    <p:sldId id="331" r:id="rId29"/>
    <p:sldId id="366" r:id="rId30"/>
    <p:sldId id="377" r:id="rId31"/>
    <p:sldId id="332" r:id="rId32"/>
    <p:sldId id="333" r:id="rId33"/>
    <p:sldId id="378" r:id="rId34"/>
    <p:sldId id="383" r:id="rId35"/>
    <p:sldId id="385" r:id="rId36"/>
    <p:sldId id="384" r:id="rId37"/>
    <p:sldId id="418" r:id="rId38"/>
    <p:sldId id="419" r:id="rId39"/>
    <p:sldId id="420" r:id="rId40"/>
    <p:sldId id="421" r:id="rId41"/>
    <p:sldId id="422" r:id="rId42"/>
    <p:sldId id="423" r:id="rId43"/>
    <p:sldId id="424" r:id="rId44"/>
    <p:sldId id="425" r:id="rId45"/>
    <p:sldId id="426" r:id="rId46"/>
    <p:sldId id="386" r:id="rId47"/>
    <p:sldId id="387" r:id="rId48"/>
    <p:sldId id="388" r:id="rId49"/>
    <p:sldId id="389" r:id="rId50"/>
    <p:sldId id="390" r:id="rId51"/>
    <p:sldId id="391" r:id="rId52"/>
    <p:sldId id="392" r:id="rId53"/>
    <p:sldId id="393" r:id="rId54"/>
    <p:sldId id="394" r:id="rId55"/>
    <p:sldId id="395" r:id="rId56"/>
    <p:sldId id="396" r:id="rId57"/>
    <p:sldId id="397" r:id="rId58"/>
    <p:sldId id="398" r:id="rId59"/>
    <p:sldId id="399" r:id="rId60"/>
    <p:sldId id="400" r:id="rId61"/>
    <p:sldId id="401" r:id="rId62"/>
    <p:sldId id="402" r:id="rId63"/>
    <p:sldId id="403" r:id="rId64"/>
    <p:sldId id="404" r:id="rId65"/>
    <p:sldId id="405" r:id="rId66"/>
    <p:sldId id="406" r:id="rId67"/>
    <p:sldId id="407" r:id="rId68"/>
    <p:sldId id="409" r:id="rId69"/>
  </p:sldIdLst>
  <p:sldSz cx="9144000" cy="6858000" type="screen4x3"/>
  <p:notesSz cx="6858000" cy="9144000"/>
  <p:custDataLst>
    <p:tags r:id="rId72"/>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9C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28" autoAdjust="0"/>
    <p:restoredTop sz="94660"/>
  </p:normalViewPr>
  <p:slideViewPr>
    <p:cSldViewPr>
      <p:cViewPr varScale="1">
        <p:scale>
          <a:sx n="66" d="100"/>
          <a:sy n="66" d="100"/>
        </p:scale>
        <p:origin x="1224" y="60"/>
      </p:cViewPr>
      <p:guideLst>
        <p:guide orient="horz" pos="2160"/>
        <p:guide pos="2880"/>
      </p:guideLst>
    </p:cSldViewPr>
  </p:slideViewPr>
  <p:notesTextViewPr>
    <p:cViewPr>
      <p:scale>
        <a:sx n="100" d="100"/>
        <a:sy n="100" d="100"/>
      </p:scale>
      <p:origin x="0" y="0"/>
    </p:cViewPr>
  </p:notesTextViewPr>
  <p:sorterViewPr>
    <p:cViewPr>
      <p:scale>
        <a:sx n="50" d="100"/>
        <a:sy n="50" d="100"/>
      </p:scale>
      <p:origin x="0" y="186"/>
    </p:cViewPr>
  </p:sorterViewPr>
  <p:notesViewPr>
    <p:cSldViewPr>
      <p:cViewPr varScale="1">
        <p:scale>
          <a:sx n="83" d="100"/>
          <a:sy n="83" d="100"/>
        </p:scale>
        <p:origin x="-1422"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1331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1331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1331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D5959C94-BE30-4F86-B0FD-A3A1B0C4789D}" type="slidenum">
              <a:rPr lang="en-US"/>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3686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3686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687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3687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8E971F3D-4CCB-414F-9454-B7A9A7C50F2E}"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t>
            </a:r>
            <a:endParaRPr lang="en-US" dirty="0"/>
          </a:p>
        </p:txBody>
      </p:sp>
      <p:sp>
        <p:nvSpPr>
          <p:cNvPr id="4" name="Slide Number Placeholder 3"/>
          <p:cNvSpPr>
            <a:spLocks noGrp="1"/>
          </p:cNvSpPr>
          <p:nvPr>
            <p:ph type="sldNum" sz="quarter" idx="10"/>
          </p:nvPr>
        </p:nvSpPr>
        <p:spPr/>
        <p:txBody>
          <a:bodyPr/>
          <a:lstStyle/>
          <a:p>
            <a:fld id="{8E971F3D-4CCB-414F-9454-B7A9A7C50F2E}" type="slidenum">
              <a:rPr lang="en-US" smtClean="0"/>
              <a:pPr/>
              <a:t>59</a:t>
            </a:fld>
            <a:endParaRPr lang="en-US"/>
          </a:p>
        </p:txBody>
      </p:sp>
    </p:spTree>
    <p:extLst>
      <p:ext uri="{BB962C8B-B14F-4D97-AF65-F5344CB8AC3E}">
        <p14:creationId xmlns:p14="http://schemas.microsoft.com/office/powerpoint/2010/main" val="3175562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p>
            <a:fld id="{95046609-F674-44B6-8FCB-CC08E7B10C7D}" type="slidenum">
              <a:rPr lang="en-US" smtClean="0"/>
              <a:pPr/>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E19944-04AC-4CD8-BA69-63C2A678C21A}"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E6843562-6A8D-4508-B433-375FE97B4E10}" type="slidenum">
              <a:rPr lang="en-US" smtClean="0"/>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74772-4651-4709-B5B8-851202ACB60E}"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0A212F-0F62-46B2-BBCF-A4267B9585F7}"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BAF5EE-3D59-4A2D-B384-C9549A05CAE2}"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830E3FE-F966-4958-A76A-B25FC80995AF}"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D392CC-0ABD-4EAD-8464-CAFE0E96F699}"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8E1282-669A-4C75-B4DC-B452198C5AF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1697B-FB9C-4DE7-84A0-1309B4BE144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847E7-2302-4993-835F-A2750329BEB7}"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E2D1B8C6-6188-4C48-BCDE-6213A1D72AE7}"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cuemath.com/algebra/difference-between-permutation-and-combination/"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219200" y="3886200"/>
            <a:ext cx="6858000" cy="685800"/>
          </a:xfrm>
        </p:spPr>
        <p:txBody>
          <a:bodyPr>
            <a:normAutofit fontScale="90000"/>
          </a:bodyPr>
          <a:lstStyle/>
          <a:p>
            <a:pPr algn="ctr"/>
            <a:r>
              <a:rPr lang="en-US" sz="3100" b="1" dirty="0" smtClean="0">
                <a:solidFill>
                  <a:srgbClr val="C00000"/>
                </a:solidFill>
              </a:rPr>
              <a:t>COUNTING</a:t>
            </a:r>
            <a:r>
              <a:rPr lang="en-US" sz="3100" b="1" u="sng" dirty="0" smtClean="0">
                <a:solidFill>
                  <a:srgbClr val="C00000"/>
                </a:solidFill>
              </a:rPr>
              <a:t/>
            </a:r>
            <a:br>
              <a:rPr lang="en-US" sz="3100" b="1" u="sng" dirty="0" smtClean="0">
                <a:solidFill>
                  <a:srgbClr val="C00000"/>
                </a:solidFill>
              </a:rPr>
            </a:br>
            <a:r>
              <a:rPr lang="en-US" sz="2400" b="1" dirty="0" smtClean="0">
                <a:solidFill>
                  <a:srgbClr val="0070C0"/>
                </a:solidFill>
              </a:rPr>
              <a:t>Lecture # 21</a:t>
            </a:r>
            <a:r>
              <a:rPr lang="en-US" sz="2800" dirty="0" smtClean="0"/>
              <a:t/>
            </a:r>
            <a:br>
              <a:rPr lang="en-US" sz="2800" dirty="0" smtClean="0"/>
            </a:br>
            <a:r>
              <a:rPr lang="en-US" sz="2800" dirty="0" smtClean="0"/>
              <a:t/>
            </a:r>
            <a:br>
              <a:rPr lang="en-US" sz="2800" dirty="0" smtClean="0"/>
            </a:br>
            <a:endParaRPr lang="en-US" sz="2900" b="1" u="sng" dirty="0">
              <a:solidFill>
                <a:srgbClr val="C00000"/>
              </a:solidFill>
            </a:endParaRPr>
          </a:p>
        </p:txBody>
      </p:sp>
      <p:sp>
        <p:nvSpPr>
          <p:cNvPr id="2051" name="Rectangle 3"/>
          <p:cNvSpPr>
            <a:spLocks noGrp="1" noChangeArrowheads="1"/>
          </p:cNvSpPr>
          <p:nvPr>
            <p:ph type="subTitle" idx="1"/>
          </p:nvPr>
        </p:nvSpPr>
        <p:spPr/>
        <p:txBody>
          <a:bodyPr>
            <a:noAutofit/>
          </a:bodyPr>
          <a:lstStyle/>
          <a:p>
            <a:pPr algn="ctr"/>
            <a:endParaRPr lang="en-US" sz="2400" dirty="0"/>
          </a:p>
        </p:txBody>
      </p:sp>
      <p:sp>
        <p:nvSpPr>
          <p:cNvPr id="5" name="Slide Number Placeholder 5"/>
          <p:cNvSpPr>
            <a:spLocks noGrp="1"/>
          </p:cNvSpPr>
          <p:nvPr>
            <p:ph type="sldNum" sz="quarter" idx="12"/>
          </p:nvPr>
        </p:nvSpPr>
        <p:spPr/>
        <p:txBody>
          <a:bodyPr/>
          <a:lstStyle/>
          <a:p>
            <a:fld id="{581A3B3F-4222-45C1-91A8-A367DD2FCE91}" type="slidenum">
              <a:rPr lang="en-US"/>
              <a:pPr/>
              <a:t>1</a:t>
            </a:fld>
            <a:endParaRPr lang="en-US"/>
          </a:p>
        </p:txBody>
      </p:sp>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COUNTING</a:t>
            </a:r>
            <a:endParaRPr lang="en-US" b="1" u="sng"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2</a:t>
            </a:fld>
            <a:endParaRPr lang="en-US"/>
          </a:p>
        </p:txBody>
      </p:sp>
      <p:sp>
        <p:nvSpPr>
          <p:cNvPr id="4" name="Content Placeholder 3"/>
          <p:cNvSpPr>
            <a:spLocks noGrp="1"/>
          </p:cNvSpPr>
          <p:nvPr>
            <p:ph sz="quarter" idx="1"/>
          </p:nvPr>
        </p:nvSpPr>
        <p:spPr/>
        <p:txBody>
          <a:bodyPr/>
          <a:lstStyle/>
          <a:p>
            <a:r>
              <a:rPr lang="en-US" dirty="0" smtClean="0"/>
              <a:t>In </a:t>
            </a:r>
            <a:r>
              <a:rPr lang="en-US" dirty="0" err="1" smtClean="0">
                <a:solidFill>
                  <a:srgbClr val="FF0000"/>
                </a:solidFill>
              </a:rPr>
              <a:t>combinatorics</a:t>
            </a:r>
            <a:r>
              <a:rPr lang="en-US" dirty="0" smtClean="0"/>
              <a:t> we generally solved </a:t>
            </a:r>
            <a:r>
              <a:rPr lang="en-US" dirty="0" smtClean="0">
                <a:solidFill>
                  <a:srgbClr val="FF0000"/>
                </a:solidFill>
              </a:rPr>
              <a:t>counting</a:t>
            </a:r>
            <a:r>
              <a:rPr lang="en-US" dirty="0" smtClean="0"/>
              <a:t> problems.</a:t>
            </a:r>
          </a:p>
          <a:p>
            <a:endParaRPr lang="en-US" dirty="0" smtClean="0"/>
          </a:p>
          <a:p>
            <a:r>
              <a:rPr lang="en-US" b="1" dirty="0" smtClean="0">
                <a:solidFill>
                  <a:srgbClr val="0070C0"/>
                </a:solidFill>
              </a:rPr>
              <a:t>Example:  </a:t>
            </a:r>
            <a:r>
              <a:rPr lang="en-US" dirty="0" smtClean="0"/>
              <a:t>How many books you have you can easily count them.</a:t>
            </a:r>
          </a:p>
          <a:p>
            <a:endParaRPr lang="en-US" dirty="0" smtClean="0"/>
          </a:p>
          <a:p>
            <a:r>
              <a:rPr lang="en-US" dirty="0" smtClean="0"/>
              <a:t>Sometimes counting problems become complex and it is difficult to solve it.</a:t>
            </a:r>
          </a:p>
          <a:p>
            <a:endParaRPr lang="en-US" dirty="0" smtClean="0"/>
          </a:p>
          <a:p>
            <a:r>
              <a:rPr lang="en-US" dirty="0" smtClean="0"/>
              <a:t>In </a:t>
            </a:r>
            <a:r>
              <a:rPr lang="en-US" dirty="0" smtClean="0">
                <a:solidFill>
                  <a:srgbClr val="FF0000"/>
                </a:solidFill>
              </a:rPr>
              <a:t>counting problem</a:t>
            </a:r>
            <a:r>
              <a:rPr lang="en-US" dirty="0" smtClean="0"/>
              <a:t> the </a:t>
            </a:r>
            <a:r>
              <a:rPr lang="en-US" dirty="0" smtClean="0">
                <a:solidFill>
                  <a:srgbClr val="FF0000"/>
                </a:solidFill>
              </a:rPr>
              <a:t>important step</a:t>
            </a:r>
            <a:r>
              <a:rPr lang="en-US" dirty="0" smtClean="0"/>
              <a:t> is we must realized that which thing we are </a:t>
            </a:r>
            <a:r>
              <a:rPr lang="en-US" dirty="0" smtClean="0">
                <a:solidFill>
                  <a:srgbClr val="FF0000"/>
                </a:solidFill>
              </a:rPr>
              <a:t>counting</a:t>
            </a:r>
            <a:r>
              <a:rPr lang="en-US" dirty="0" smtClean="0"/>
              <a:t>, if you do that step then to solve the actual problem is not a big deal.</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INTRODUCTION</a:t>
            </a:r>
            <a:endParaRPr lang="en-US" b="1" u="sng"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3</a:t>
            </a:fld>
            <a:endParaRPr lang="en-US"/>
          </a:p>
        </p:txBody>
      </p:sp>
      <p:sp>
        <p:nvSpPr>
          <p:cNvPr id="4" name="Content Placeholder 3"/>
          <p:cNvSpPr>
            <a:spLocks noGrp="1"/>
          </p:cNvSpPr>
          <p:nvPr>
            <p:ph sz="quarter" idx="1"/>
          </p:nvPr>
        </p:nvSpPr>
        <p:spPr>
          <a:xfrm>
            <a:off x="457200" y="1219200"/>
            <a:ext cx="8229600" cy="5105400"/>
          </a:xfrm>
        </p:spPr>
        <p:txBody>
          <a:bodyPr>
            <a:normAutofit/>
          </a:bodyPr>
          <a:lstStyle/>
          <a:p>
            <a:r>
              <a:rPr lang="en-US" sz="2400" dirty="0" err="1" smtClean="0">
                <a:solidFill>
                  <a:srgbClr val="FF0000"/>
                </a:solidFill>
              </a:rPr>
              <a:t>Combinatorics</a:t>
            </a:r>
            <a:r>
              <a:rPr lang="en-US" sz="2400" dirty="0" smtClean="0"/>
              <a:t> is the </a:t>
            </a:r>
            <a:r>
              <a:rPr lang="en-US" sz="2400" dirty="0" smtClean="0">
                <a:solidFill>
                  <a:srgbClr val="FF0000"/>
                </a:solidFill>
              </a:rPr>
              <a:t>mathematics of counting</a:t>
            </a:r>
            <a:r>
              <a:rPr lang="en-US" sz="2400" dirty="0" smtClean="0"/>
              <a:t> and </a:t>
            </a:r>
            <a:r>
              <a:rPr lang="en-US" sz="2400" dirty="0" smtClean="0">
                <a:solidFill>
                  <a:srgbClr val="FF0000"/>
                </a:solidFill>
              </a:rPr>
              <a:t>arranging objects</a:t>
            </a:r>
            <a:r>
              <a:rPr lang="en-US" sz="2400" dirty="0" smtClean="0"/>
              <a:t>. </a:t>
            </a:r>
          </a:p>
          <a:p>
            <a:endParaRPr lang="en-US" sz="2400" dirty="0" smtClean="0"/>
          </a:p>
          <a:p>
            <a:r>
              <a:rPr lang="en-US" sz="2400" dirty="0" smtClean="0"/>
              <a:t>Counting of objects with certain properties (enumeration) is required to solve many different types of problem. </a:t>
            </a:r>
          </a:p>
          <a:p>
            <a:endParaRPr lang="en-US" sz="2400" dirty="0" smtClean="0"/>
          </a:p>
          <a:p>
            <a:r>
              <a:rPr lang="en-US" sz="2400" b="1" dirty="0" smtClean="0">
                <a:solidFill>
                  <a:srgbClr val="0070C0"/>
                </a:solidFill>
              </a:rPr>
              <a:t>For example:</a:t>
            </a:r>
            <a:r>
              <a:rPr lang="en-US" sz="2400" dirty="0" smtClean="0"/>
              <a:t> Counting is used to:</a:t>
            </a:r>
          </a:p>
          <a:p>
            <a:r>
              <a:rPr lang="en-US" sz="2400" dirty="0" smtClean="0"/>
              <a:t>Determine number of </a:t>
            </a:r>
            <a:r>
              <a:rPr lang="en-US" sz="2400" dirty="0" smtClean="0">
                <a:solidFill>
                  <a:srgbClr val="FF0000"/>
                </a:solidFill>
              </a:rPr>
              <a:t>ordered or unordered</a:t>
            </a:r>
            <a:r>
              <a:rPr lang="en-US" sz="2400" dirty="0" smtClean="0"/>
              <a:t> arrangement of objects.</a:t>
            </a:r>
          </a:p>
          <a:p>
            <a:endParaRPr lang="en-US" sz="2400" dirty="0" smtClean="0"/>
          </a:p>
          <a:p>
            <a:r>
              <a:rPr lang="en-US" sz="2400" dirty="0" smtClean="0"/>
              <a:t>Generate all the </a:t>
            </a:r>
            <a:r>
              <a:rPr lang="en-US" sz="2400" dirty="0" smtClean="0">
                <a:solidFill>
                  <a:srgbClr val="FF0000"/>
                </a:solidFill>
              </a:rPr>
              <a:t>arrangements</a:t>
            </a:r>
            <a:r>
              <a:rPr lang="en-US" sz="2400" dirty="0" smtClean="0"/>
              <a:t> of a specified kind which is important in </a:t>
            </a:r>
            <a:r>
              <a:rPr lang="en-US" sz="2400" dirty="0" smtClean="0">
                <a:solidFill>
                  <a:srgbClr val="FF0000"/>
                </a:solidFill>
              </a:rPr>
              <a:t>computer simulations</a:t>
            </a:r>
            <a:r>
              <a:rPr lang="en-US" sz="2400" dirty="0" smtClean="0"/>
              <a:t>.</a:t>
            </a:r>
          </a:p>
          <a:p>
            <a:pPr>
              <a:buNone/>
            </a:pPr>
            <a:endParaRPr lang="en-US" sz="2400" dirty="0" smtClean="0"/>
          </a:p>
          <a:p>
            <a:endParaRPr lang="en-US" sz="2400" dirty="0" smtClean="0"/>
          </a:p>
          <a:p>
            <a:endParaRPr lang="en-US" sz="2500" dirty="0" smtClean="0"/>
          </a:p>
          <a:p>
            <a:endParaRPr lang="en-US" dirty="0" smtClean="0"/>
          </a:p>
        </p:txBody>
      </p:sp>
    </p:spTree>
    <p:extLst>
      <p:ext uri="{BB962C8B-B14F-4D97-AF65-F5344CB8AC3E}">
        <p14:creationId xmlns:p14="http://schemas.microsoft.com/office/powerpoint/2010/main" val="64876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4</a:t>
            </a:fld>
            <a:endParaRPr lang="en-US"/>
          </a:p>
        </p:txBody>
      </p:sp>
      <p:sp>
        <p:nvSpPr>
          <p:cNvPr id="4" name="Content Placeholder 3"/>
          <p:cNvSpPr>
            <a:spLocks noGrp="1"/>
          </p:cNvSpPr>
          <p:nvPr>
            <p:ph sz="quarter" idx="1"/>
          </p:nvPr>
        </p:nvSpPr>
        <p:spPr/>
        <p:txBody>
          <a:bodyPr>
            <a:normAutofit/>
          </a:bodyPr>
          <a:lstStyle/>
          <a:p>
            <a:r>
              <a:rPr lang="en-US" dirty="0" smtClean="0"/>
              <a:t>How many such </a:t>
            </a:r>
            <a:r>
              <a:rPr lang="en-US" dirty="0" smtClean="0">
                <a:solidFill>
                  <a:srgbClr val="FF0000"/>
                </a:solidFill>
              </a:rPr>
              <a:t>passwords</a:t>
            </a:r>
            <a:r>
              <a:rPr lang="en-US" dirty="0" smtClean="0"/>
              <a:t> are there.</a:t>
            </a:r>
          </a:p>
          <a:p>
            <a:endParaRPr lang="en-US" dirty="0" smtClean="0"/>
          </a:p>
          <a:p>
            <a:r>
              <a:rPr lang="en-US" dirty="0" smtClean="0"/>
              <a:t>Analyze the chance of </a:t>
            </a:r>
            <a:r>
              <a:rPr lang="en-US" dirty="0" smtClean="0">
                <a:solidFill>
                  <a:srgbClr val="FF0000"/>
                </a:solidFill>
              </a:rPr>
              <a:t>winning games, lotteries</a:t>
            </a:r>
            <a:r>
              <a:rPr lang="en-US" dirty="0" smtClean="0"/>
              <a:t> etc.</a:t>
            </a:r>
          </a:p>
          <a:p>
            <a:endParaRPr lang="en-US" dirty="0" smtClean="0"/>
          </a:p>
          <a:p>
            <a:r>
              <a:rPr lang="en-US" dirty="0" smtClean="0"/>
              <a:t>Determine the </a:t>
            </a:r>
            <a:r>
              <a:rPr lang="en-US" dirty="0" smtClean="0">
                <a:solidFill>
                  <a:srgbClr val="FF0000"/>
                </a:solidFill>
              </a:rPr>
              <a:t>complexity of algorithms</a:t>
            </a:r>
            <a:r>
              <a:rPr lang="en-US" dirty="0" smtClean="0"/>
              <a:t>.</a:t>
            </a:r>
            <a:endParaRPr lang="en-US" dirty="0"/>
          </a:p>
        </p:txBody>
      </p:sp>
    </p:spTree>
    <p:extLst>
      <p:ext uri="{BB962C8B-B14F-4D97-AF65-F5344CB8AC3E}">
        <p14:creationId xmlns:p14="http://schemas.microsoft.com/office/powerpoint/2010/main" val="15630573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a:bodyPr>
          <a:lstStyle/>
          <a:p>
            <a:pPr algn="ctr"/>
            <a:r>
              <a:rPr lang="en-US" b="1" u="sng" dirty="0" smtClean="0">
                <a:solidFill>
                  <a:srgbClr val="0070C0"/>
                </a:solidFill>
              </a:rPr>
              <a:t>BASIC COUNTING PRINCIPLES</a:t>
            </a:r>
            <a:endParaRPr lang="en-US" b="1" u="sng" dirty="0">
              <a:solidFill>
                <a:srgbClr val="0070C0"/>
              </a:solidFill>
            </a:endParaRPr>
          </a:p>
        </p:txBody>
      </p:sp>
      <p:sp>
        <p:nvSpPr>
          <p:cNvPr id="5" name="Slide Number Placeholder 5"/>
          <p:cNvSpPr>
            <a:spLocks noGrp="1"/>
          </p:cNvSpPr>
          <p:nvPr>
            <p:ph type="sldNum" sz="quarter" idx="12"/>
          </p:nvPr>
        </p:nvSpPr>
        <p:spPr/>
        <p:txBody>
          <a:bodyPr/>
          <a:lstStyle/>
          <a:p>
            <a:fld id="{51C95044-D182-4BAE-9152-421F005E817B}" type="slidenum">
              <a:rPr lang="en-US"/>
              <a:pPr/>
              <a:t>5</a:t>
            </a:fld>
            <a:endParaRPr lang="en-US"/>
          </a:p>
        </p:txBody>
      </p:sp>
      <p:sp>
        <p:nvSpPr>
          <p:cNvPr id="7171" name="Rectangle 3"/>
          <p:cNvSpPr>
            <a:spLocks noGrp="1" noChangeArrowheads="1"/>
          </p:cNvSpPr>
          <p:nvPr>
            <p:ph sz="quarter" idx="1"/>
          </p:nvPr>
        </p:nvSpPr>
        <p:spPr/>
        <p:txBody>
          <a:bodyPr>
            <a:normAutofit/>
          </a:bodyPr>
          <a:lstStyle/>
          <a:p>
            <a:r>
              <a:rPr lang="en-US" dirty="0" smtClean="0"/>
              <a:t>The two basic</a:t>
            </a:r>
            <a:r>
              <a:rPr lang="en-US" dirty="0" smtClean="0">
                <a:solidFill>
                  <a:srgbClr val="C00000"/>
                </a:solidFill>
              </a:rPr>
              <a:t> counting principles </a:t>
            </a:r>
            <a:r>
              <a:rPr lang="en-US" dirty="0" smtClean="0"/>
              <a:t>are:</a:t>
            </a:r>
          </a:p>
          <a:p>
            <a:endParaRPr lang="en-US" dirty="0" smtClean="0">
              <a:solidFill>
                <a:srgbClr val="C00000"/>
              </a:solidFill>
            </a:endParaRPr>
          </a:p>
          <a:p>
            <a:r>
              <a:rPr lang="en-US" dirty="0" smtClean="0">
                <a:solidFill>
                  <a:srgbClr val="C00000"/>
                </a:solidFill>
              </a:rPr>
              <a:t>Product Rule</a:t>
            </a:r>
          </a:p>
          <a:p>
            <a:r>
              <a:rPr lang="en-US" dirty="0" smtClean="0">
                <a:solidFill>
                  <a:srgbClr val="C00000"/>
                </a:solidFill>
              </a:rPr>
              <a:t>Sum Rule</a:t>
            </a:r>
          </a:p>
          <a:p>
            <a:endParaRPr lang="en-US" dirty="0" smtClean="0">
              <a:solidFill>
                <a:srgbClr val="C00000"/>
              </a:solidFill>
            </a:endParaRPr>
          </a:p>
          <a:p>
            <a:r>
              <a:rPr lang="en-US" dirty="0" smtClean="0"/>
              <a:t>They can be used to solve many different</a:t>
            </a:r>
            <a:r>
              <a:rPr lang="en-US" dirty="0" smtClean="0">
                <a:solidFill>
                  <a:srgbClr val="C00000"/>
                </a:solidFill>
              </a:rPr>
              <a:t> counting problems</a:t>
            </a:r>
            <a:r>
              <a:rPr lang="en-US" dirty="0" smtClean="0"/>
              <a:t>.</a:t>
            </a:r>
          </a:p>
          <a:p>
            <a:endParaRPr lang="en-US" dirty="0" smtClean="0">
              <a:solidFill>
                <a:srgbClr val="C00000"/>
              </a:solidFill>
            </a:endParaRPr>
          </a:p>
          <a:p>
            <a:endParaRPr lang="en-US" dirty="0" smtClean="0"/>
          </a:p>
          <a:p>
            <a:pPr>
              <a:buNone/>
            </a:pPr>
            <a:endParaRPr lang="en-US" dirty="0" smtClean="0"/>
          </a:p>
          <a:p>
            <a:endParaRPr lang="en-US" dirty="0" smtClean="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fade">
                                      <p:cBhvr>
                                        <p:cTn id="7" dur="2000"/>
                                        <p:tgtEl>
                                          <p:spTgt spid="7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171">
                                            <p:txEl>
                                              <p:pRg st="2" end="2"/>
                                            </p:txEl>
                                          </p:spTgt>
                                        </p:tgtEl>
                                        <p:attrNameLst>
                                          <p:attrName>style.visibility</p:attrName>
                                        </p:attrNameLst>
                                      </p:cBhvr>
                                      <p:to>
                                        <p:strVal val="visible"/>
                                      </p:to>
                                    </p:set>
                                    <p:animEffect transition="in" filter="fade">
                                      <p:cBhvr>
                                        <p:cTn id="12" dur="2000"/>
                                        <p:tgtEl>
                                          <p:spTgt spid="717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171">
                                            <p:txEl>
                                              <p:pRg st="3" end="3"/>
                                            </p:txEl>
                                          </p:spTgt>
                                        </p:tgtEl>
                                        <p:attrNameLst>
                                          <p:attrName>style.visibility</p:attrName>
                                        </p:attrNameLst>
                                      </p:cBhvr>
                                      <p:to>
                                        <p:strVal val="visible"/>
                                      </p:to>
                                    </p:set>
                                    <p:animEffect transition="in" filter="fade">
                                      <p:cBhvr>
                                        <p:cTn id="17" dur="2000"/>
                                        <p:tgtEl>
                                          <p:spTgt spid="717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171">
                                            <p:txEl>
                                              <p:pRg st="5" end="5"/>
                                            </p:txEl>
                                          </p:spTgt>
                                        </p:tgtEl>
                                        <p:attrNameLst>
                                          <p:attrName>style.visibility</p:attrName>
                                        </p:attrNameLst>
                                      </p:cBhvr>
                                      <p:to>
                                        <p:strVal val="visible"/>
                                      </p:to>
                                    </p:set>
                                    <p:animEffect transition="in" filter="fade">
                                      <p:cBhvr>
                                        <p:cTn id="22" dur="2000"/>
                                        <p:tgtEl>
                                          <p:spTgt spid="71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a:bodyPr>
          <a:lstStyle/>
          <a:p>
            <a:pPr algn="ctr"/>
            <a:r>
              <a:rPr lang="en-US" b="1" u="sng" dirty="0" smtClean="0">
                <a:solidFill>
                  <a:srgbClr val="0070C0"/>
                </a:solidFill>
              </a:rPr>
              <a:t>EXAMPLE</a:t>
            </a:r>
            <a:endParaRPr lang="en-US" b="1" u="sng" dirty="0">
              <a:solidFill>
                <a:srgbClr val="0070C0"/>
              </a:solidFill>
            </a:endParaRPr>
          </a:p>
        </p:txBody>
      </p:sp>
      <p:sp>
        <p:nvSpPr>
          <p:cNvPr id="5" name="Slide Number Placeholder 5"/>
          <p:cNvSpPr>
            <a:spLocks noGrp="1"/>
          </p:cNvSpPr>
          <p:nvPr>
            <p:ph type="sldNum" sz="quarter" idx="12"/>
          </p:nvPr>
        </p:nvSpPr>
        <p:spPr/>
        <p:txBody>
          <a:bodyPr/>
          <a:lstStyle/>
          <a:p>
            <a:fld id="{CF4F35CA-D4F4-41A4-954A-F0C2B8818BFD}" type="slidenum">
              <a:rPr lang="en-US"/>
              <a:pPr/>
              <a:t>6</a:t>
            </a:fld>
            <a:endParaRPr lang="en-US"/>
          </a:p>
        </p:txBody>
      </p:sp>
      <p:sp>
        <p:nvSpPr>
          <p:cNvPr id="8195" name="Rectangle 3"/>
          <p:cNvSpPr>
            <a:spLocks noGrp="1" noChangeArrowheads="1"/>
          </p:cNvSpPr>
          <p:nvPr>
            <p:ph sz="quarter" idx="1"/>
          </p:nvPr>
        </p:nvSpPr>
        <p:spPr>
          <a:xfrm>
            <a:off x="457200" y="1219200"/>
            <a:ext cx="8229600" cy="5029200"/>
          </a:xfrm>
        </p:spPr>
        <p:txBody>
          <a:bodyPr>
            <a:normAutofit/>
          </a:bodyPr>
          <a:lstStyle/>
          <a:p>
            <a:r>
              <a:rPr lang="en-US" dirty="0" smtClean="0"/>
              <a:t>Your </a:t>
            </a:r>
            <a:r>
              <a:rPr lang="en-US" dirty="0" smtClean="0">
                <a:solidFill>
                  <a:srgbClr val="FF0000"/>
                </a:solidFill>
              </a:rPr>
              <a:t>institute</a:t>
            </a:r>
            <a:r>
              <a:rPr lang="en-US" dirty="0" smtClean="0"/>
              <a:t> is offering </a:t>
            </a:r>
            <a:r>
              <a:rPr lang="en-US" dirty="0" smtClean="0">
                <a:solidFill>
                  <a:srgbClr val="FF0000"/>
                </a:solidFill>
              </a:rPr>
              <a:t>7</a:t>
            </a:r>
            <a:r>
              <a:rPr lang="en-US" dirty="0" smtClean="0"/>
              <a:t> courses in </a:t>
            </a:r>
            <a:r>
              <a:rPr lang="en-US" dirty="0" smtClean="0">
                <a:solidFill>
                  <a:srgbClr val="FF0000"/>
                </a:solidFill>
              </a:rPr>
              <a:t>computer science</a:t>
            </a:r>
            <a:r>
              <a:rPr lang="en-US" dirty="0" smtClean="0"/>
              <a:t> and </a:t>
            </a:r>
            <a:r>
              <a:rPr lang="en-US" dirty="0" smtClean="0">
                <a:solidFill>
                  <a:srgbClr val="FF0000"/>
                </a:solidFill>
              </a:rPr>
              <a:t>3</a:t>
            </a:r>
            <a:r>
              <a:rPr lang="en-US" dirty="0" smtClean="0"/>
              <a:t> courses in </a:t>
            </a:r>
            <a:r>
              <a:rPr lang="en-US" dirty="0" smtClean="0">
                <a:solidFill>
                  <a:srgbClr val="FF0000"/>
                </a:solidFill>
              </a:rPr>
              <a:t>mathematics</a:t>
            </a:r>
            <a:r>
              <a:rPr lang="en-US" dirty="0" smtClean="0"/>
              <a:t>. You are asked to </a:t>
            </a:r>
            <a:r>
              <a:rPr lang="en-US" dirty="0" smtClean="0">
                <a:solidFill>
                  <a:srgbClr val="FF0000"/>
                </a:solidFill>
              </a:rPr>
              <a:t>choose</a:t>
            </a:r>
            <a:r>
              <a:rPr lang="en-US" dirty="0" smtClean="0"/>
              <a:t> only </a:t>
            </a:r>
            <a:r>
              <a:rPr lang="en-US" dirty="0" smtClean="0">
                <a:solidFill>
                  <a:srgbClr val="FF0000"/>
                </a:solidFill>
              </a:rPr>
              <a:t>one</a:t>
            </a:r>
            <a:r>
              <a:rPr lang="en-US" dirty="0" smtClean="0"/>
              <a:t> course.</a:t>
            </a:r>
          </a:p>
          <a:p>
            <a:r>
              <a:rPr lang="en-US" dirty="0" smtClean="0"/>
              <a:t>How </a:t>
            </a:r>
            <a:r>
              <a:rPr lang="en-US" dirty="0" smtClean="0">
                <a:solidFill>
                  <a:srgbClr val="FF0000"/>
                </a:solidFill>
              </a:rPr>
              <a:t>many choices</a:t>
            </a:r>
            <a:r>
              <a:rPr lang="en-US" dirty="0" smtClean="0"/>
              <a:t> you have? </a:t>
            </a:r>
          </a:p>
          <a:p>
            <a:endParaRPr lang="en-US" dirty="0" smtClean="0"/>
          </a:p>
          <a:p>
            <a:r>
              <a:rPr lang="en-US" dirty="0" smtClean="0"/>
              <a:t>You can select either </a:t>
            </a:r>
            <a:r>
              <a:rPr lang="en-US" dirty="0" smtClean="0">
                <a:solidFill>
                  <a:srgbClr val="FF0000"/>
                </a:solidFill>
              </a:rPr>
              <a:t>one</a:t>
            </a:r>
            <a:r>
              <a:rPr lang="en-US" dirty="0" smtClean="0"/>
              <a:t> computer science course or mathematics.</a:t>
            </a:r>
          </a:p>
          <a:p>
            <a:pPr>
              <a:buNone/>
            </a:pPr>
            <a:r>
              <a:rPr lang="en-US" dirty="0" smtClean="0"/>
              <a:t>			7 </a:t>
            </a:r>
            <a:r>
              <a:rPr lang="en-US" dirty="0" err="1" smtClean="0"/>
              <a:t>cs</a:t>
            </a:r>
            <a:r>
              <a:rPr lang="en-US" dirty="0" smtClean="0"/>
              <a:t> courses = </a:t>
            </a:r>
            <a:r>
              <a:rPr lang="en-US" dirty="0" smtClean="0">
                <a:solidFill>
                  <a:srgbClr val="FF0000"/>
                </a:solidFill>
              </a:rPr>
              <a:t>7 choices</a:t>
            </a:r>
          </a:p>
          <a:p>
            <a:pPr>
              <a:buNone/>
            </a:pPr>
            <a:r>
              <a:rPr lang="en-US" dirty="0" smtClean="0"/>
              <a:t>			3 math courses = </a:t>
            </a:r>
            <a:r>
              <a:rPr lang="en-US" dirty="0" smtClean="0">
                <a:solidFill>
                  <a:srgbClr val="FF0000"/>
                </a:solidFill>
              </a:rPr>
              <a:t>3 choices</a:t>
            </a:r>
          </a:p>
          <a:p>
            <a:pPr>
              <a:buNone/>
            </a:pPr>
            <a:r>
              <a:rPr lang="en-US" dirty="0" smtClean="0"/>
              <a:t>	</a:t>
            </a:r>
            <a:r>
              <a:rPr lang="en-US" dirty="0" smtClean="0">
                <a:solidFill>
                  <a:srgbClr val="FF0000"/>
                </a:solidFill>
              </a:rPr>
              <a:t>Total</a:t>
            </a:r>
            <a:r>
              <a:rPr lang="en-US" dirty="0" smtClean="0"/>
              <a:t> number of </a:t>
            </a:r>
            <a:r>
              <a:rPr lang="en-US" dirty="0" smtClean="0">
                <a:solidFill>
                  <a:srgbClr val="FF0000"/>
                </a:solidFill>
              </a:rPr>
              <a:t>choices</a:t>
            </a:r>
            <a:r>
              <a:rPr lang="en-US" dirty="0" smtClean="0"/>
              <a:t> = </a:t>
            </a:r>
            <a:r>
              <a:rPr lang="en-US" dirty="0" smtClean="0">
                <a:solidFill>
                  <a:srgbClr val="FF0000"/>
                </a:solidFill>
              </a:rPr>
              <a:t>7 + 3</a:t>
            </a:r>
            <a:r>
              <a:rPr lang="en-US" dirty="0" smtClean="0"/>
              <a:t> (basically by applying sum rule)</a:t>
            </a:r>
          </a:p>
          <a:p>
            <a:endParaRPr lang="en-US" dirty="0" smtClean="0"/>
          </a:p>
          <a:p>
            <a:pPr>
              <a:buNone/>
            </a:pPr>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fade">
                                      <p:cBhvr>
                                        <p:cTn id="7" dur="20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fade">
                                      <p:cBhvr>
                                        <p:cTn id="12" dur="20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195">
                                            <p:txEl>
                                              <p:pRg st="3" end="3"/>
                                            </p:txEl>
                                          </p:spTgt>
                                        </p:tgtEl>
                                        <p:attrNameLst>
                                          <p:attrName>style.visibility</p:attrName>
                                        </p:attrNameLst>
                                      </p:cBhvr>
                                      <p:to>
                                        <p:strVal val="visible"/>
                                      </p:to>
                                    </p:set>
                                    <p:animEffect transition="in" filter="fade">
                                      <p:cBhvr>
                                        <p:cTn id="17" dur="2000"/>
                                        <p:tgtEl>
                                          <p:spTgt spid="819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195">
                                            <p:txEl>
                                              <p:pRg st="4" end="4"/>
                                            </p:txEl>
                                          </p:spTgt>
                                        </p:tgtEl>
                                        <p:attrNameLst>
                                          <p:attrName>style.visibility</p:attrName>
                                        </p:attrNameLst>
                                      </p:cBhvr>
                                      <p:to>
                                        <p:strVal val="visible"/>
                                      </p:to>
                                    </p:set>
                                    <p:animEffect transition="in" filter="fade">
                                      <p:cBhvr>
                                        <p:cTn id="22" dur="2000"/>
                                        <p:tgtEl>
                                          <p:spTgt spid="819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195">
                                            <p:txEl>
                                              <p:pRg st="5" end="5"/>
                                            </p:txEl>
                                          </p:spTgt>
                                        </p:tgtEl>
                                        <p:attrNameLst>
                                          <p:attrName>style.visibility</p:attrName>
                                        </p:attrNameLst>
                                      </p:cBhvr>
                                      <p:to>
                                        <p:strVal val="visible"/>
                                      </p:to>
                                    </p:set>
                                    <p:animEffect transition="in" filter="fade">
                                      <p:cBhvr>
                                        <p:cTn id="27" dur="2000"/>
                                        <p:tgtEl>
                                          <p:spTgt spid="819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195">
                                            <p:txEl>
                                              <p:pRg st="6" end="6"/>
                                            </p:txEl>
                                          </p:spTgt>
                                        </p:tgtEl>
                                        <p:attrNameLst>
                                          <p:attrName>style.visibility</p:attrName>
                                        </p:attrNameLst>
                                      </p:cBhvr>
                                      <p:to>
                                        <p:strVal val="visible"/>
                                      </p:to>
                                    </p:set>
                                    <p:animEffect transition="in" filter="fade">
                                      <p:cBhvr>
                                        <p:cTn id="32" dur="2000"/>
                                        <p:tgtEl>
                                          <p:spTgt spid="81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u="sng" dirty="0" smtClean="0">
                <a:solidFill>
                  <a:srgbClr val="0070C0"/>
                </a:solidFill>
              </a:rPr>
              <a:t>THE SUM RULE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7</a:t>
            </a:fld>
            <a:endParaRPr lang="en-US"/>
          </a:p>
        </p:txBody>
      </p:sp>
      <p:sp>
        <p:nvSpPr>
          <p:cNvPr id="4" name="Content Placeholder 3"/>
          <p:cNvSpPr>
            <a:spLocks noGrp="1"/>
          </p:cNvSpPr>
          <p:nvPr>
            <p:ph sz="quarter" idx="1"/>
          </p:nvPr>
        </p:nvSpPr>
        <p:spPr/>
        <p:txBody>
          <a:bodyPr>
            <a:normAutofit/>
          </a:bodyPr>
          <a:lstStyle/>
          <a:p>
            <a:r>
              <a:rPr lang="en-US" dirty="0" smtClean="0"/>
              <a:t>If </a:t>
            </a:r>
            <a:r>
              <a:rPr lang="en-US" dirty="0" smtClean="0">
                <a:solidFill>
                  <a:srgbClr val="FF0000"/>
                </a:solidFill>
              </a:rPr>
              <a:t>one event</a:t>
            </a:r>
            <a:r>
              <a:rPr lang="en-US" dirty="0" smtClean="0"/>
              <a:t> can occur in </a:t>
            </a:r>
            <a:r>
              <a:rPr lang="en-US" dirty="0" smtClean="0">
                <a:solidFill>
                  <a:srgbClr val="FF0000"/>
                </a:solidFill>
              </a:rPr>
              <a:t>n</a:t>
            </a:r>
            <a:r>
              <a:rPr lang="en-US" baseline="-25000" dirty="0" smtClean="0">
                <a:solidFill>
                  <a:srgbClr val="FF0000"/>
                </a:solidFill>
              </a:rPr>
              <a:t>1</a:t>
            </a:r>
            <a:r>
              <a:rPr lang="en-US" dirty="0" smtClean="0"/>
              <a:t> ways.</a:t>
            </a:r>
          </a:p>
          <a:p>
            <a:r>
              <a:rPr lang="en-US" dirty="0" smtClean="0"/>
              <a:t>A </a:t>
            </a:r>
            <a:r>
              <a:rPr lang="en-US" dirty="0" smtClean="0">
                <a:solidFill>
                  <a:srgbClr val="FF0000"/>
                </a:solidFill>
              </a:rPr>
              <a:t>second event</a:t>
            </a:r>
            <a:r>
              <a:rPr lang="en-US" dirty="0" smtClean="0"/>
              <a:t> can occur in </a:t>
            </a:r>
            <a:r>
              <a:rPr lang="en-US" dirty="0" smtClean="0">
                <a:solidFill>
                  <a:srgbClr val="FF0000"/>
                </a:solidFill>
              </a:rPr>
              <a:t>n</a:t>
            </a:r>
            <a:r>
              <a:rPr lang="en-US" baseline="-25000" dirty="0" smtClean="0">
                <a:solidFill>
                  <a:srgbClr val="FF0000"/>
                </a:solidFill>
              </a:rPr>
              <a:t>2</a:t>
            </a:r>
            <a:r>
              <a:rPr lang="en-US" dirty="0" smtClean="0"/>
              <a:t> (different) ways.</a:t>
            </a:r>
          </a:p>
          <a:p>
            <a:endParaRPr lang="en-US" dirty="0" smtClean="0"/>
          </a:p>
          <a:p>
            <a:r>
              <a:rPr lang="en-US" dirty="0" smtClean="0"/>
              <a:t>Then the total number of ways in which </a:t>
            </a:r>
            <a:r>
              <a:rPr lang="en-US" dirty="0" smtClean="0">
                <a:solidFill>
                  <a:srgbClr val="FF0000"/>
                </a:solidFill>
              </a:rPr>
              <a:t>exactly one</a:t>
            </a:r>
            <a:r>
              <a:rPr lang="en-US" dirty="0" smtClean="0"/>
              <a:t> of the events (i.e., first or second) can occur is</a:t>
            </a:r>
          </a:p>
          <a:p>
            <a:endParaRPr lang="en-US" dirty="0" smtClean="0"/>
          </a:p>
          <a:p>
            <a:pPr algn="ctr">
              <a:buNone/>
            </a:pPr>
            <a:r>
              <a:rPr lang="en-US" dirty="0" smtClean="0"/>
              <a:t>	</a:t>
            </a:r>
            <a:r>
              <a:rPr lang="en-US" dirty="0" smtClean="0">
                <a:solidFill>
                  <a:srgbClr val="FF0000"/>
                </a:solidFill>
              </a:rPr>
              <a:t>n</a:t>
            </a:r>
            <a:r>
              <a:rPr lang="en-US" baseline="-25000" dirty="0" smtClean="0">
                <a:solidFill>
                  <a:srgbClr val="FF0000"/>
                </a:solidFill>
              </a:rPr>
              <a:t>1</a:t>
            </a:r>
            <a:r>
              <a:rPr lang="en-US" dirty="0" smtClean="0">
                <a:solidFill>
                  <a:srgbClr val="FF0000"/>
                </a:solidFill>
              </a:rPr>
              <a:t> + n</a:t>
            </a:r>
            <a:r>
              <a:rPr lang="en-US" baseline="-25000" dirty="0" smtClean="0">
                <a:solidFill>
                  <a:srgbClr val="FF0000"/>
                </a:solidFill>
              </a:rPr>
              <a:t>2</a:t>
            </a:r>
            <a:r>
              <a:rPr lang="en-US" dirty="0" smtClean="0"/>
              <a:t>.</a:t>
            </a:r>
          </a:p>
          <a:p>
            <a:endParaRPr lang="en-US" dirty="0" smtClean="0">
              <a:solidFill>
                <a:srgbClr val="C00000"/>
              </a:solidFill>
            </a:endParaRPr>
          </a:p>
          <a:p>
            <a:endParaRPr lang="en-US" dirty="0" smtClean="0">
              <a:sym typeface="Symbol"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8</a:t>
            </a:fld>
            <a:endParaRPr lang="en-US"/>
          </a:p>
        </p:txBody>
      </p:sp>
      <p:sp>
        <p:nvSpPr>
          <p:cNvPr id="4" name="Content Placeholder 3"/>
          <p:cNvSpPr>
            <a:spLocks noGrp="1"/>
          </p:cNvSpPr>
          <p:nvPr>
            <p:ph sz="quarter" idx="1"/>
          </p:nvPr>
        </p:nvSpPr>
        <p:spPr>
          <a:xfrm>
            <a:off x="457200" y="1219200"/>
            <a:ext cx="8229600" cy="5105400"/>
          </a:xfrm>
        </p:spPr>
        <p:txBody>
          <a:bodyPr>
            <a:normAutofit/>
          </a:bodyPr>
          <a:lstStyle/>
          <a:p>
            <a:r>
              <a:rPr lang="en-US" dirty="0" smtClean="0"/>
              <a:t>A student can choose a </a:t>
            </a:r>
            <a:r>
              <a:rPr lang="en-US" dirty="0" smtClean="0">
                <a:solidFill>
                  <a:srgbClr val="FF0000"/>
                </a:solidFill>
              </a:rPr>
              <a:t>computer project</a:t>
            </a:r>
            <a:r>
              <a:rPr lang="en-US" dirty="0" smtClean="0"/>
              <a:t> from one of the </a:t>
            </a:r>
            <a:r>
              <a:rPr lang="en-US" dirty="0" smtClean="0">
                <a:solidFill>
                  <a:srgbClr val="FF0000"/>
                </a:solidFill>
              </a:rPr>
              <a:t>three lists</a:t>
            </a:r>
            <a:r>
              <a:rPr lang="en-US" dirty="0" smtClean="0"/>
              <a:t>. The three lists contain </a:t>
            </a:r>
            <a:r>
              <a:rPr lang="en-US" dirty="0" smtClean="0">
                <a:solidFill>
                  <a:srgbClr val="FF0000"/>
                </a:solidFill>
              </a:rPr>
              <a:t>23</a:t>
            </a:r>
            <a:r>
              <a:rPr lang="en-US" dirty="0" smtClean="0"/>
              <a:t>, </a:t>
            </a:r>
            <a:r>
              <a:rPr lang="en-US" dirty="0" smtClean="0">
                <a:solidFill>
                  <a:srgbClr val="FF0000"/>
                </a:solidFill>
              </a:rPr>
              <a:t>15</a:t>
            </a:r>
            <a:r>
              <a:rPr lang="en-US" dirty="0" smtClean="0"/>
              <a:t> and </a:t>
            </a:r>
            <a:r>
              <a:rPr lang="en-US" dirty="0" smtClean="0">
                <a:solidFill>
                  <a:srgbClr val="FF0000"/>
                </a:solidFill>
              </a:rPr>
              <a:t>19</a:t>
            </a:r>
            <a:r>
              <a:rPr lang="en-US" dirty="0" smtClean="0"/>
              <a:t> </a:t>
            </a:r>
            <a:r>
              <a:rPr lang="en-US" dirty="0" smtClean="0">
                <a:solidFill>
                  <a:srgbClr val="FF0000"/>
                </a:solidFill>
              </a:rPr>
              <a:t>possible projects</a:t>
            </a:r>
            <a:r>
              <a:rPr lang="en-US" dirty="0" smtClean="0"/>
              <a:t>, respectively. </a:t>
            </a:r>
          </a:p>
          <a:p>
            <a:endParaRPr lang="en-US" dirty="0" smtClean="0"/>
          </a:p>
          <a:p>
            <a:r>
              <a:rPr lang="en-US" dirty="0" smtClean="0"/>
              <a:t>How many </a:t>
            </a:r>
            <a:r>
              <a:rPr lang="en-US" dirty="0" smtClean="0">
                <a:solidFill>
                  <a:srgbClr val="FF0000"/>
                </a:solidFill>
              </a:rPr>
              <a:t>possible projects</a:t>
            </a:r>
            <a:r>
              <a:rPr lang="en-US" dirty="0" smtClean="0"/>
              <a:t> are there to choose from?</a:t>
            </a:r>
          </a:p>
          <a:p>
            <a:r>
              <a:rPr lang="en-US" b="1" u="sng" dirty="0" smtClean="0">
                <a:solidFill>
                  <a:srgbClr val="0070C0"/>
                </a:solidFill>
                <a:latin typeface="+mj-lt"/>
                <a:ea typeface="+mj-ea"/>
                <a:cs typeface="+mj-cs"/>
              </a:rPr>
              <a:t>SOLUTION:</a:t>
            </a:r>
          </a:p>
          <a:p>
            <a:pPr>
              <a:buNone/>
            </a:pPr>
            <a:r>
              <a:rPr lang="en-US" dirty="0" smtClean="0">
                <a:solidFill>
                  <a:srgbClr val="FF0000"/>
                </a:solidFill>
              </a:rPr>
              <a:t>	23</a:t>
            </a:r>
            <a:r>
              <a:rPr lang="en-US" dirty="0" smtClean="0"/>
              <a:t> choices are in </a:t>
            </a:r>
            <a:r>
              <a:rPr lang="en-US" dirty="0" smtClean="0">
                <a:solidFill>
                  <a:srgbClr val="FF0000"/>
                </a:solidFill>
              </a:rPr>
              <a:t>first list</a:t>
            </a:r>
            <a:r>
              <a:rPr lang="en-US" dirty="0" smtClean="0"/>
              <a:t>, </a:t>
            </a:r>
          </a:p>
          <a:p>
            <a:pPr>
              <a:buNone/>
            </a:pPr>
            <a:r>
              <a:rPr lang="en-US" dirty="0" smtClean="0"/>
              <a:t>	</a:t>
            </a:r>
            <a:r>
              <a:rPr lang="en-US" dirty="0" smtClean="0">
                <a:solidFill>
                  <a:srgbClr val="FF0000"/>
                </a:solidFill>
              </a:rPr>
              <a:t>15</a:t>
            </a:r>
            <a:r>
              <a:rPr lang="en-US" dirty="0" smtClean="0"/>
              <a:t> choices are in </a:t>
            </a:r>
            <a:r>
              <a:rPr lang="en-US" dirty="0" smtClean="0">
                <a:solidFill>
                  <a:srgbClr val="FF0000"/>
                </a:solidFill>
              </a:rPr>
              <a:t>second list</a:t>
            </a:r>
            <a:r>
              <a:rPr lang="en-US" dirty="0" smtClean="0"/>
              <a:t>, </a:t>
            </a:r>
          </a:p>
          <a:p>
            <a:pPr>
              <a:buNone/>
            </a:pPr>
            <a:r>
              <a:rPr lang="en-US" dirty="0" smtClean="0"/>
              <a:t>	</a:t>
            </a:r>
            <a:r>
              <a:rPr lang="en-US" dirty="0" smtClean="0">
                <a:solidFill>
                  <a:srgbClr val="FF0000"/>
                </a:solidFill>
              </a:rPr>
              <a:t>19</a:t>
            </a:r>
            <a:r>
              <a:rPr lang="en-US" dirty="0" smtClean="0"/>
              <a:t> choices are in </a:t>
            </a:r>
            <a:r>
              <a:rPr lang="en-US" dirty="0" smtClean="0">
                <a:solidFill>
                  <a:srgbClr val="FF0000"/>
                </a:solidFill>
              </a:rPr>
              <a:t>third list</a:t>
            </a:r>
            <a:r>
              <a:rPr lang="en-US" dirty="0" smtClean="0"/>
              <a:t>. Hence, there are </a:t>
            </a:r>
          </a:p>
          <a:p>
            <a:pPr>
              <a:buNone/>
            </a:pPr>
            <a:r>
              <a:rPr lang="en-US" dirty="0" smtClean="0"/>
              <a:t>	So, we have total number of choices </a:t>
            </a:r>
          </a:p>
          <a:p>
            <a:pPr>
              <a:buNone/>
            </a:pPr>
            <a:r>
              <a:rPr lang="en-US" dirty="0" smtClean="0"/>
              <a:t>		= </a:t>
            </a:r>
            <a:r>
              <a:rPr lang="en-US" dirty="0" smtClean="0">
                <a:solidFill>
                  <a:srgbClr val="FF0000"/>
                </a:solidFill>
              </a:rPr>
              <a:t>23 + 15 + 19 = </a:t>
            </a:r>
            <a:r>
              <a:rPr lang="en-US" dirty="0" smtClean="0">
                <a:solidFill>
                  <a:srgbClr val="0070C0"/>
                </a:solidFill>
              </a:rPr>
              <a:t>57</a:t>
            </a:r>
            <a:r>
              <a:rPr lang="en-US" dirty="0" smtClean="0"/>
              <a:t>  projects to choose from.</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20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2000"/>
                                        <p:tgtEl>
                                          <p:spTgt spid="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fade">
                                      <p:cBhvr>
                                        <p:cTn id="42"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GENERALIZED SUM RULE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9</a:t>
            </a:fld>
            <a:endParaRPr lang="en-US" dirty="0"/>
          </a:p>
        </p:txBody>
      </p:sp>
      <p:sp>
        <p:nvSpPr>
          <p:cNvPr id="4" name="Content Placeholder 3"/>
          <p:cNvSpPr>
            <a:spLocks noGrp="1"/>
          </p:cNvSpPr>
          <p:nvPr>
            <p:ph sz="quarter" idx="1"/>
          </p:nvPr>
        </p:nvSpPr>
        <p:spPr>
          <a:xfrm>
            <a:off x="457200" y="1219200"/>
            <a:ext cx="8229600" cy="5029200"/>
          </a:xfrm>
        </p:spPr>
        <p:txBody>
          <a:bodyPr>
            <a:normAutofit/>
          </a:bodyPr>
          <a:lstStyle/>
          <a:p>
            <a:r>
              <a:rPr lang="en-US" dirty="0" smtClean="0"/>
              <a:t>If </a:t>
            </a:r>
            <a:r>
              <a:rPr lang="en-US" dirty="0" smtClean="0">
                <a:solidFill>
                  <a:srgbClr val="FF0000"/>
                </a:solidFill>
              </a:rPr>
              <a:t>one event</a:t>
            </a:r>
            <a:r>
              <a:rPr lang="en-US" dirty="0" smtClean="0"/>
              <a:t> can occur in </a:t>
            </a:r>
            <a:r>
              <a:rPr lang="en-US" dirty="0" smtClean="0">
                <a:solidFill>
                  <a:srgbClr val="FF0000"/>
                </a:solidFill>
              </a:rPr>
              <a:t>n</a:t>
            </a:r>
            <a:r>
              <a:rPr lang="en-US" baseline="-25000" dirty="0" smtClean="0">
                <a:solidFill>
                  <a:srgbClr val="FF0000"/>
                </a:solidFill>
              </a:rPr>
              <a:t>1</a:t>
            </a:r>
            <a:r>
              <a:rPr lang="en-US" dirty="0" smtClean="0"/>
              <a:t> ways,</a:t>
            </a:r>
          </a:p>
          <a:p>
            <a:pPr>
              <a:buNone/>
            </a:pPr>
            <a:r>
              <a:rPr lang="en-US" dirty="0" smtClean="0"/>
              <a:t>	a </a:t>
            </a:r>
            <a:r>
              <a:rPr lang="en-US" dirty="0" smtClean="0">
                <a:solidFill>
                  <a:srgbClr val="FF0000"/>
                </a:solidFill>
              </a:rPr>
              <a:t>second event</a:t>
            </a:r>
            <a:r>
              <a:rPr lang="en-US" dirty="0" smtClean="0"/>
              <a:t> can occur in </a:t>
            </a:r>
            <a:r>
              <a:rPr lang="en-US" dirty="0" smtClean="0">
                <a:solidFill>
                  <a:srgbClr val="FF0000"/>
                </a:solidFill>
              </a:rPr>
              <a:t>n</a:t>
            </a:r>
            <a:r>
              <a:rPr lang="en-US" baseline="-25000" dirty="0" smtClean="0">
                <a:solidFill>
                  <a:srgbClr val="FF0000"/>
                </a:solidFill>
              </a:rPr>
              <a:t>2</a:t>
            </a:r>
            <a:r>
              <a:rPr lang="en-US" dirty="0" smtClean="0"/>
              <a:t> ways,</a:t>
            </a:r>
          </a:p>
          <a:p>
            <a:pPr>
              <a:buNone/>
            </a:pPr>
            <a:r>
              <a:rPr lang="en-US" dirty="0" smtClean="0"/>
              <a:t>	a </a:t>
            </a:r>
            <a:r>
              <a:rPr lang="en-US" dirty="0" smtClean="0">
                <a:solidFill>
                  <a:srgbClr val="FF0000"/>
                </a:solidFill>
              </a:rPr>
              <a:t>third event</a:t>
            </a:r>
            <a:r>
              <a:rPr lang="en-US" dirty="0" smtClean="0"/>
              <a:t> can occur in </a:t>
            </a:r>
            <a:r>
              <a:rPr lang="en-US" dirty="0" smtClean="0">
                <a:solidFill>
                  <a:srgbClr val="FF0000"/>
                </a:solidFill>
              </a:rPr>
              <a:t>n</a:t>
            </a:r>
            <a:r>
              <a:rPr lang="en-US" baseline="-25000" dirty="0" smtClean="0">
                <a:solidFill>
                  <a:srgbClr val="FF0000"/>
                </a:solidFill>
              </a:rPr>
              <a:t>3</a:t>
            </a:r>
            <a:r>
              <a:rPr lang="en-US" dirty="0" smtClean="0"/>
              <a:t> ways,</a:t>
            </a:r>
          </a:p>
          <a:p>
            <a:pPr>
              <a:buNone/>
            </a:pPr>
            <a:r>
              <a:rPr lang="en-US" dirty="0" smtClean="0"/>
              <a:t>	……………………………………..</a:t>
            </a:r>
          </a:p>
          <a:p>
            <a:pPr>
              <a:buNone/>
            </a:pPr>
            <a:r>
              <a:rPr lang="en-US" dirty="0" smtClean="0"/>
              <a:t>	 then there are</a:t>
            </a:r>
          </a:p>
          <a:p>
            <a:pPr>
              <a:buNone/>
            </a:pPr>
            <a:r>
              <a:rPr lang="en-US" dirty="0" smtClean="0"/>
              <a:t>				 </a:t>
            </a:r>
            <a:r>
              <a:rPr lang="en-US" dirty="0" smtClean="0">
                <a:solidFill>
                  <a:srgbClr val="FF0000"/>
                </a:solidFill>
              </a:rPr>
              <a:t>n</a:t>
            </a:r>
            <a:r>
              <a:rPr lang="en-US" baseline="-25000" dirty="0" smtClean="0">
                <a:solidFill>
                  <a:srgbClr val="FF0000"/>
                </a:solidFill>
              </a:rPr>
              <a:t>1</a:t>
            </a:r>
            <a:r>
              <a:rPr lang="en-US" dirty="0" smtClean="0">
                <a:solidFill>
                  <a:srgbClr val="FF0000"/>
                </a:solidFill>
              </a:rPr>
              <a:t> + n</a:t>
            </a:r>
            <a:r>
              <a:rPr lang="en-US" baseline="-25000" dirty="0" smtClean="0">
                <a:solidFill>
                  <a:srgbClr val="FF0000"/>
                </a:solidFill>
              </a:rPr>
              <a:t>2</a:t>
            </a:r>
            <a:r>
              <a:rPr lang="en-US" dirty="0" smtClean="0">
                <a:solidFill>
                  <a:srgbClr val="FF0000"/>
                </a:solidFill>
              </a:rPr>
              <a:t> + n</a:t>
            </a:r>
            <a:r>
              <a:rPr lang="en-US" baseline="-25000" dirty="0" smtClean="0">
                <a:solidFill>
                  <a:srgbClr val="FF0000"/>
                </a:solidFill>
              </a:rPr>
              <a:t>3</a:t>
            </a:r>
            <a:r>
              <a:rPr lang="en-US" dirty="0" smtClean="0">
                <a:solidFill>
                  <a:srgbClr val="FF0000"/>
                </a:solidFill>
              </a:rPr>
              <a:t> + …</a:t>
            </a:r>
          </a:p>
          <a:p>
            <a:pPr>
              <a:buNone/>
            </a:pPr>
            <a:endParaRPr lang="en-US" dirty="0" smtClean="0">
              <a:solidFill>
                <a:srgbClr val="FF0000"/>
              </a:solidFill>
            </a:endParaRPr>
          </a:p>
          <a:p>
            <a:pPr>
              <a:buNone/>
            </a:pPr>
            <a:r>
              <a:rPr lang="en-US" dirty="0" smtClean="0"/>
              <a:t>	ways in which </a:t>
            </a:r>
            <a:r>
              <a:rPr lang="en-US" dirty="0" smtClean="0">
                <a:solidFill>
                  <a:srgbClr val="FF0000"/>
                </a:solidFill>
              </a:rPr>
              <a:t>exactly one</a:t>
            </a:r>
            <a:r>
              <a:rPr lang="en-US" dirty="0" smtClean="0"/>
              <a:t> of the events can occur.</a:t>
            </a:r>
          </a:p>
          <a:p>
            <a:endParaRPr lang="en-US" dirty="0" smtClean="0"/>
          </a:p>
          <a:p>
            <a:pPr>
              <a:buNone/>
            </a:pPr>
            <a:r>
              <a:rPr lang="en-US" dirty="0" smtClean="0"/>
              <a:t>	 </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20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2000"/>
                                        <p:tgtEl>
                                          <p:spTgt spid="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9" end="9"/>
                                            </p:txEl>
                                          </p:spTgt>
                                        </p:tgtEl>
                                        <p:attrNameLst>
                                          <p:attrName>style.visibility</p:attrName>
                                        </p:attrNameLst>
                                      </p:cBhvr>
                                      <p:to>
                                        <p:strVal val="visible"/>
                                      </p:to>
                                    </p:set>
                                    <p:animEffect transition="in" filter="fade">
                                      <p:cBhvr>
                                        <p:cTn id="42" dur="20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SUM RULE IN TERMS OF SETS</a:t>
            </a:r>
            <a:endParaRPr lang="en-US" b="1" u="sng"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10</a:t>
            </a:fld>
            <a:endParaRPr lang="en-US"/>
          </a:p>
        </p:txBody>
      </p:sp>
      <p:sp>
        <p:nvSpPr>
          <p:cNvPr id="4" name="Content Placeholder 3"/>
          <p:cNvSpPr>
            <a:spLocks noGrp="1"/>
          </p:cNvSpPr>
          <p:nvPr>
            <p:ph sz="quarter" idx="1"/>
          </p:nvPr>
        </p:nvSpPr>
        <p:spPr>
          <a:xfrm>
            <a:off x="457200" y="1219200"/>
            <a:ext cx="8229600" cy="5105400"/>
          </a:xfrm>
        </p:spPr>
        <p:txBody>
          <a:bodyPr>
            <a:normAutofit/>
          </a:bodyPr>
          <a:lstStyle/>
          <a:p>
            <a:r>
              <a:rPr lang="en-US" dirty="0" smtClean="0"/>
              <a:t>If </a:t>
            </a:r>
            <a:r>
              <a:rPr lang="en-US" dirty="0" smtClean="0">
                <a:solidFill>
                  <a:srgbClr val="FF0000"/>
                </a:solidFill>
              </a:rPr>
              <a:t>A</a:t>
            </a:r>
            <a:r>
              <a:rPr lang="en-US" baseline="-25000" dirty="0" smtClean="0">
                <a:solidFill>
                  <a:srgbClr val="FF0000"/>
                </a:solidFill>
              </a:rPr>
              <a:t>1</a:t>
            </a:r>
            <a:r>
              <a:rPr lang="en-US" dirty="0" smtClean="0">
                <a:solidFill>
                  <a:srgbClr val="FF0000"/>
                </a:solidFill>
              </a:rPr>
              <a:t>, A</a:t>
            </a:r>
            <a:r>
              <a:rPr lang="en-US" baseline="-25000" dirty="0" smtClean="0">
                <a:solidFill>
                  <a:srgbClr val="FF0000"/>
                </a:solidFill>
              </a:rPr>
              <a:t>2</a:t>
            </a:r>
            <a:r>
              <a:rPr lang="en-US" dirty="0" smtClean="0">
                <a:solidFill>
                  <a:srgbClr val="FF0000"/>
                </a:solidFill>
              </a:rPr>
              <a:t>, …, A</a:t>
            </a:r>
            <a:r>
              <a:rPr lang="en-US" baseline="-25000" dirty="0" smtClean="0">
                <a:solidFill>
                  <a:srgbClr val="FF0000"/>
                </a:solidFill>
              </a:rPr>
              <a:t>m</a:t>
            </a:r>
            <a:r>
              <a:rPr lang="en-US" baseline="-25000" dirty="0" smtClean="0"/>
              <a:t>  </a:t>
            </a:r>
            <a:r>
              <a:rPr lang="en-US" dirty="0" smtClean="0"/>
              <a:t>are </a:t>
            </a:r>
            <a:r>
              <a:rPr lang="en-US" dirty="0" smtClean="0">
                <a:solidFill>
                  <a:srgbClr val="FF0000"/>
                </a:solidFill>
              </a:rPr>
              <a:t>finite disjoint sets</a:t>
            </a:r>
            <a:r>
              <a:rPr lang="en-US" dirty="0" smtClean="0"/>
              <a:t>, then the number of </a:t>
            </a:r>
            <a:r>
              <a:rPr lang="en-US" dirty="0" smtClean="0">
                <a:solidFill>
                  <a:srgbClr val="FF0000"/>
                </a:solidFill>
              </a:rPr>
              <a:t>elements</a:t>
            </a:r>
            <a:r>
              <a:rPr lang="en-US" dirty="0" smtClean="0"/>
              <a:t> in the </a:t>
            </a:r>
            <a:r>
              <a:rPr lang="en-US" dirty="0" smtClean="0">
                <a:solidFill>
                  <a:srgbClr val="FF0000"/>
                </a:solidFill>
              </a:rPr>
              <a:t>union</a:t>
            </a:r>
            <a:r>
              <a:rPr lang="en-US" dirty="0" smtClean="0"/>
              <a:t> of these sets is the </a:t>
            </a:r>
            <a:r>
              <a:rPr lang="en-US" dirty="0" smtClean="0">
                <a:solidFill>
                  <a:srgbClr val="FF0000"/>
                </a:solidFill>
              </a:rPr>
              <a:t>sum</a:t>
            </a:r>
            <a:r>
              <a:rPr lang="en-US" dirty="0" smtClean="0"/>
              <a:t> of the number of elements in them.</a:t>
            </a:r>
          </a:p>
          <a:p>
            <a:endParaRPr lang="en-US" dirty="0" smtClean="0"/>
          </a:p>
          <a:p>
            <a:r>
              <a:rPr lang="en-US" dirty="0" smtClean="0"/>
              <a:t>If </a:t>
            </a:r>
            <a:r>
              <a:rPr lang="en-US" dirty="0" smtClean="0">
                <a:solidFill>
                  <a:srgbClr val="FF0000"/>
                </a:solidFill>
              </a:rPr>
              <a:t>n(A</a:t>
            </a:r>
            <a:r>
              <a:rPr lang="en-US" baseline="-25000" dirty="0" smtClean="0">
                <a:solidFill>
                  <a:srgbClr val="FF0000"/>
                </a:solidFill>
              </a:rPr>
              <a:t>i</a:t>
            </a:r>
            <a:r>
              <a:rPr lang="en-US" dirty="0" smtClean="0">
                <a:solidFill>
                  <a:srgbClr val="FF0000"/>
                </a:solidFill>
              </a:rPr>
              <a:t>)</a:t>
            </a:r>
            <a:r>
              <a:rPr lang="en-US" dirty="0" smtClean="0"/>
              <a:t> denotes the </a:t>
            </a:r>
            <a:r>
              <a:rPr lang="en-US" dirty="0" smtClean="0">
                <a:solidFill>
                  <a:srgbClr val="FF0000"/>
                </a:solidFill>
              </a:rPr>
              <a:t>number of elements</a:t>
            </a:r>
            <a:r>
              <a:rPr lang="en-US" dirty="0" smtClean="0"/>
              <a:t> in set </a:t>
            </a:r>
            <a:r>
              <a:rPr lang="en-US" dirty="0" smtClean="0">
                <a:solidFill>
                  <a:srgbClr val="FF0000"/>
                </a:solidFill>
              </a:rPr>
              <a:t>A</a:t>
            </a:r>
            <a:r>
              <a:rPr lang="en-US" baseline="-25000" dirty="0" smtClean="0">
                <a:solidFill>
                  <a:srgbClr val="FF0000"/>
                </a:solidFill>
              </a:rPr>
              <a:t>i</a:t>
            </a:r>
            <a:r>
              <a:rPr lang="en-US" dirty="0" smtClean="0"/>
              <a:t>, then</a:t>
            </a:r>
          </a:p>
          <a:p>
            <a:pPr>
              <a:buNone/>
            </a:pPr>
            <a:endParaRPr lang="en-US" dirty="0" smtClean="0"/>
          </a:p>
          <a:p>
            <a:r>
              <a:rPr lang="pt-BR" dirty="0" smtClean="0">
                <a:solidFill>
                  <a:srgbClr val="FF0000"/>
                </a:solidFill>
              </a:rPr>
              <a:t>n(A</a:t>
            </a:r>
            <a:r>
              <a:rPr lang="pt-BR" baseline="-25000" dirty="0" smtClean="0">
                <a:solidFill>
                  <a:srgbClr val="FF0000"/>
                </a:solidFill>
              </a:rPr>
              <a:t>1</a:t>
            </a:r>
            <a:r>
              <a:rPr lang="en-US" dirty="0" smtClean="0">
                <a:solidFill>
                  <a:srgbClr val="FF0000"/>
                </a:solidFill>
                <a:sym typeface="Symbol"/>
              </a:rPr>
              <a:t></a:t>
            </a:r>
            <a:r>
              <a:rPr lang="pt-BR" dirty="0" smtClean="0">
                <a:solidFill>
                  <a:srgbClr val="FF0000"/>
                </a:solidFill>
              </a:rPr>
              <a:t>A</a:t>
            </a:r>
            <a:r>
              <a:rPr lang="pt-BR" baseline="-25000" dirty="0" smtClean="0">
                <a:solidFill>
                  <a:srgbClr val="FF0000"/>
                </a:solidFill>
              </a:rPr>
              <a:t>2</a:t>
            </a:r>
            <a:r>
              <a:rPr lang="en-US" dirty="0" smtClean="0">
                <a:solidFill>
                  <a:srgbClr val="FF0000"/>
                </a:solidFill>
                <a:sym typeface="Symbol"/>
              </a:rPr>
              <a:t></a:t>
            </a:r>
            <a:r>
              <a:rPr lang="pt-BR" dirty="0" smtClean="0">
                <a:solidFill>
                  <a:srgbClr val="FF0000"/>
                </a:solidFill>
              </a:rPr>
              <a:t> … </a:t>
            </a:r>
            <a:r>
              <a:rPr lang="en-US" dirty="0" smtClean="0">
                <a:solidFill>
                  <a:srgbClr val="FF0000"/>
                </a:solidFill>
                <a:sym typeface="Symbol"/>
              </a:rPr>
              <a:t></a:t>
            </a:r>
            <a:r>
              <a:rPr lang="pt-BR" dirty="0" smtClean="0">
                <a:solidFill>
                  <a:srgbClr val="FF0000"/>
                </a:solidFill>
              </a:rPr>
              <a:t>A</a:t>
            </a:r>
            <a:r>
              <a:rPr lang="pt-BR" baseline="-25000" dirty="0" smtClean="0">
                <a:solidFill>
                  <a:srgbClr val="FF0000"/>
                </a:solidFill>
              </a:rPr>
              <a:t>m</a:t>
            </a:r>
            <a:r>
              <a:rPr lang="pt-BR" dirty="0" smtClean="0">
                <a:solidFill>
                  <a:srgbClr val="FF0000"/>
                </a:solidFill>
              </a:rPr>
              <a:t>) = n(A</a:t>
            </a:r>
            <a:r>
              <a:rPr lang="pt-BR" baseline="-25000" dirty="0" smtClean="0">
                <a:solidFill>
                  <a:srgbClr val="FF0000"/>
                </a:solidFill>
              </a:rPr>
              <a:t>1</a:t>
            </a:r>
            <a:r>
              <a:rPr lang="pt-BR" dirty="0" smtClean="0">
                <a:solidFill>
                  <a:srgbClr val="FF0000"/>
                </a:solidFill>
              </a:rPr>
              <a:t>) + n(A</a:t>
            </a:r>
            <a:r>
              <a:rPr lang="pt-BR" baseline="-25000" dirty="0" smtClean="0">
                <a:solidFill>
                  <a:srgbClr val="FF0000"/>
                </a:solidFill>
              </a:rPr>
              <a:t>2</a:t>
            </a:r>
            <a:r>
              <a:rPr lang="pt-BR" dirty="0" smtClean="0">
                <a:solidFill>
                  <a:srgbClr val="FF0000"/>
                </a:solidFill>
              </a:rPr>
              <a:t>) + … + n(A</a:t>
            </a:r>
            <a:r>
              <a:rPr lang="pt-BR" baseline="-25000" dirty="0" smtClean="0">
                <a:solidFill>
                  <a:srgbClr val="FF0000"/>
                </a:solidFill>
              </a:rPr>
              <a:t>m</a:t>
            </a:r>
            <a:r>
              <a:rPr lang="pt-BR" dirty="0" smtClean="0">
                <a:solidFill>
                  <a:srgbClr val="FF0000"/>
                </a:solidFill>
              </a:rPr>
              <a:t>)</a:t>
            </a:r>
            <a:r>
              <a:rPr lang="pt-BR" dirty="0" smtClean="0"/>
              <a:t> </a:t>
            </a:r>
            <a:endParaRPr lang="en-US" dirty="0" smtClean="0"/>
          </a:p>
          <a:p>
            <a:pPr>
              <a:buNone/>
            </a:pPr>
            <a:r>
              <a:rPr lang="en-US" dirty="0" smtClean="0"/>
              <a:t>	where</a:t>
            </a:r>
          </a:p>
          <a:p>
            <a:pPr>
              <a:buNone/>
            </a:pPr>
            <a:r>
              <a:rPr lang="en-US" dirty="0" smtClean="0"/>
              <a:t>			 </a:t>
            </a:r>
            <a:r>
              <a:rPr lang="en-US" dirty="0" err="1" smtClean="0">
                <a:solidFill>
                  <a:srgbClr val="FF0000"/>
                </a:solidFill>
              </a:rPr>
              <a:t>A</a:t>
            </a:r>
            <a:r>
              <a:rPr lang="en-US" baseline="-25000" dirty="0" err="1" smtClean="0">
                <a:solidFill>
                  <a:srgbClr val="FF0000"/>
                </a:solidFill>
              </a:rPr>
              <a:t>i</a:t>
            </a:r>
            <a:r>
              <a:rPr lang="en-US" dirty="0" err="1" smtClean="0">
                <a:solidFill>
                  <a:srgbClr val="FF0000"/>
                </a:solidFill>
                <a:sym typeface="Symbol"/>
              </a:rPr>
              <a:t></a:t>
            </a:r>
            <a:r>
              <a:rPr lang="en-US" dirty="0" err="1" smtClean="0">
                <a:solidFill>
                  <a:srgbClr val="FF0000"/>
                </a:solidFill>
              </a:rPr>
              <a:t>A</a:t>
            </a:r>
            <a:r>
              <a:rPr lang="en-US" baseline="-25000" dirty="0" err="1" smtClean="0">
                <a:solidFill>
                  <a:srgbClr val="FF0000"/>
                </a:solidFill>
              </a:rPr>
              <a:t>j</a:t>
            </a:r>
            <a:r>
              <a:rPr lang="en-US" dirty="0" smtClean="0">
                <a:solidFill>
                  <a:srgbClr val="FF0000"/>
                </a:solidFill>
              </a:rPr>
              <a:t> = </a:t>
            </a:r>
            <a:r>
              <a:rPr lang="en-US" dirty="0" smtClean="0">
                <a:solidFill>
                  <a:srgbClr val="FF0000"/>
                </a:solidFill>
                <a:sym typeface="Symbol"/>
              </a:rPr>
              <a:t></a:t>
            </a:r>
            <a:r>
              <a:rPr lang="en-US" dirty="0" smtClean="0"/>
              <a:t>    if   </a:t>
            </a:r>
            <a:r>
              <a:rPr lang="en-US" dirty="0" err="1" smtClean="0"/>
              <a:t>i</a:t>
            </a:r>
            <a:r>
              <a:rPr lang="en-US" dirty="0" smtClean="0"/>
              <a:t> </a:t>
            </a:r>
            <a:r>
              <a:rPr lang="en-US" dirty="0" smtClean="0">
                <a:sym typeface="Symbol"/>
              </a:rPr>
              <a:t></a:t>
            </a:r>
            <a:r>
              <a:rPr lang="en-US" dirty="0" smtClean="0"/>
              <a:t> j</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pPr>
              <a:buNone/>
            </a:pPr>
            <a:endParaRPr lang="en-US" dirty="0" smtClean="0"/>
          </a:p>
          <a:p>
            <a:endParaRPr lang="en-US" dirty="0" smtClean="0"/>
          </a:p>
          <a:p>
            <a:endParaRPr lang="en-US" dirty="0"/>
          </a:p>
        </p:txBody>
      </p:sp>
      <p:sp>
        <p:nvSpPr>
          <p:cNvPr id="14643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2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11</a:t>
            </a:fld>
            <a:endParaRPr lang="en-US"/>
          </a:p>
        </p:txBody>
      </p:sp>
      <p:sp>
        <p:nvSpPr>
          <p:cNvPr id="4" name="Content Placeholder 3"/>
          <p:cNvSpPr>
            <a:spLocks noGrp="1"/>
          </p:cNvSpPr>
          <p:nvPr>
            <p:ph sz="quarter" idx="1"/>
          </p:nvPr>
        </p:nvSpPr>
        <p:spPr/>
        <p:txBody>
          <a:bodyPr>
            <a:normAutofit/>
          </a:bodyPr>
          <a:lstStyle/>
          <a:p>
            <a:r>
              <a:rPr lang="en-US" dirty="0" smtClean="0"/>
              <a:t>Suppose</a:t>
            </a:r>
          </a:p>
          <a:p>
            <a:pPr>
              <a:buNone/>
            </a:pPr>
            <a:r>
              <a:rPr lang="en-US" dirty="0" smtClean="0"/>
              <a:t>	There are </a:t>
            </a:r>
            <a:r>
              <a:rPr lang="en-US" dirty="0" smtClean="0">
                <a:solidFill>
                  <a:srgbClr val="FF0000"/>
                </a:solidFill>
              </a:rPr>
              <a:t>7</a:t>
            </a:r>
            <a:r>
              <a:rPr lang="en-US" dirty="0" smtClean="0"/>
              <a:t> different optional courses in</a:t>
            </a:r>
            <a:r>
              <a:rPr lang="en-US" dirty="0" smtClean="0">
                <a:solidFill>
                  <a:srgbClr val="FF0000"/>
                </a:solidFill>
              </a:rPr>
              <a:t> Computer Science</a:t>
            </a:r>
            <a:r>
              <a:rPr lang="en-US" dirty="0" smtClean="0"/>
              <a:t> and</a:t>
            </a:r>
          </a:p>
          <a:p>
            <a:pPr>
              <a:buNone/>
            </a:pPr>
            <a:r>
              <a:rPr lang="en-US" dirty="0" smtClean="0"/>
              <a:t>	</a:t>
            </a:r>
            <a:r>
              <a:rPr lang="en-US" dirty="0" smtClean="0">
                <a:solidFill>
                  <a:srgbClr val="FF0000"/>
                </a:solidFill>
              </a:rPr>
              <a:t>3</a:t>
            </a:r>
            <a:r>
              <a:rPr lang="en-US" dirty="0" smtClean="0"/>
              <a:t> different optional courses in </a:t>
            </a:r>
            <a:r>
              <a:rPr lang="en-US" dirty="0" smtClean="0">
                <a:solidFill>
                  <a:srgbClr val="FF0000"/>
                </a:solidFill>
              </a:rPr>
              <a:t>Mathematics</a:t>
            </a:r>
            <a:r>
              <a:rPr lang="en-US" dirty="0" smtClean="0"/>
              <a:t>. </a:t>
            </a:r>
          </a:p>
          <a:p>
            <a:pPr>
              <a:buNone/>
            </a:pPr>
            <a:r>
              <a:rPr lang="en-US" dirty="0" smtClean="0"/>
              <a:t>	</a:t>
            </a:r>
          </a:p>
          <a:p>
            <a:pPr>
              <a:buNone/>
            </a:pPr>
            <a:r>
              <a:rPr lang="en-US" dirty="0" smtClean="0"/>
              <a:t>	A student who wants to take one optional course of each subject, there are:</a:t>
            </a:r>
          </a:p>
          <a:p>
            <a:pPr>
              <a:buNone/>
            </a:pPr>
            <a:endParaRPr lang="en-US" dirty="0" smtClean="0"/>
          </a:p>
          <a:p>
            <a:pPr>
              <a:buNone/>
            </a:pPr>
            <a:r>
              <a:rPr lang="en-US" dirty="0" smtClean="0"/>
              <a:t>				</a:t>
            </a:r>
            <a:r>
              <a:rPr lang="en-US" dirty="0" smtClean="0">
                <a:solidFill>
                  <a:srgbClr val="FF0000"/>
                </a:solidFill>
              </a:rPr>
              <a:t>7 </a:t>
            </a:r>
            <a:r>
              <a:rPr lang="en-US" dirty="0" smtClean="0">
                <a:solidFill>
                  <a:srgbClr val="FF0000"/>
                </a:solidFill>
                <a:sym typeface="Symbol"/>
              </a:rPr>
              <a:t></a:t>
            </a:r>
            <a:r>
              <a:rPr lang="en-US" dirty="0" smtClean="0">
                <a:solidFill>
                  <a:srgbClr val="FF0000"/>
                </a:solidFill>
              </a:rPr>
              <a:t> 3 = 21 </a:t>
            </a:r>
            <a:r>
              <a:rPr lang="en-US" dirty="0" smtClean="0"/>
              <a:t>        choices.</a:t>
            </a:r>
          </a:p>
          <a:p>
            <a:pPr>
              <a:buNone/>
            </a:pPr>
            <a:r>
              <a:rPr lang="en-US" b="1" dirty="0" smtClean="0"/>
              <a:t> </a:t>
            </a:r>
            <a:endParaRPr lang="en-US" dirty="0" smtClean="0"/>
          </a:p>
          <a:p>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20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THE PRODUCT RULE</a:t>
            </a:r>
            <a:endParaRPr lang="en-US" b="1" u="sng"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12</a:t>
            </a:fld>
            <a:endParaRPr lang="en-US"/>
          </a:p>
        </p:txBody>
      </p:sp>
      <p:sp>
        <p:nvSpPr>
          <p:cNvPr id="4" name="Content Placeholder 3"/>
          <p:cNvSpPr>
            <a:spLocks noGrp="1"/>
          </p:cNvSpPr>
          <p:nvPr>
            <p:ph sz="quarter" idx="1"/>
          </p:nvPr>
        </p:nvSpPr>
        <p:spPr/>
        <p:txBody>
          <a:bodyPr/>
          <a:lstStyle/>
          <a:p>
            <a:r>
              <a:rPr lang="en-US" dirty="0" smtClean="0"/>
              <a:t>If </a:t>
            </a:r>
            <a:r>
              <a:rPr lang="en-US" dirty="0" smtClean="0">
                <a:solidFill>
                  <a:srgbClr val="FF0000"/>
                </a:solidFill>
              </a:rPr>
              <a:t>one event</a:t>
            </a:r>
            <a:r>
              <a:rPr lang="en-US" dirty="0" smtClean="0"/>
              <a:t> can occur in </a:t>
            </a:r>
            <a:r>
              <a:rPr lang="en-US" dirty="0" smtClean="0">
                <a:solidFill>
                  <a:srgbClr val="FF0000"/>
                </a:solidFill>
              </a:rPr>
              <a:t>n</a:t>
            </a:r>
            <a:r>
              <a:rPr lang="en-US" baseline="-25000" dirty="0" smtClean="0">
                <a:solidFill>
                  <a:srgbClr val="FF0000"/>
                </a:solidFill>
              </a:rPr>
              <a:t>1</a:t>
            </a:r>
            <a:r>
              <a:rPr lang="en-US" dirty="0" smtClean="0"/>
              <a:t> ways and if for each of these </a:t>
            </a:r>
            <a:r>
              <a:rPr lang="en-US" dirty="0" smtClean="0">
                <a:solidFill>
                  <a:srgbClr val="FF0000"/>
                </a:solidFill>
              </a:rPr>
              <a:t>n</a:t>
            </a:r>
            <a:r>
              <a:rPr lang="en-US" baseline="-25000" dirty="0" smtClean="0">
                <a:solidFill>
                  <a:srgbClr val="FF0000"/>
                </a:solidFill>
              </a:rPr>
              <a:t>1</a:t>
            </a:r>
            <a:r>
              <a:rPr lang="en-US" dirty="0" smtClean="0"/>
              <a:t> ways, a </a:t>
            </a:r>
            <a:r>
              <a:rPr lang="en-US" dirty="0" smtClean="0">
                <a:solidFill>
                  <a:srgbClr val="FF0000"/>
                </a:solidFill>
              </a:rPr>
              <a:t>second event</a:t>
            </a:r>
            <a:r>
              <a:rPr lang="en-US" dirty="0" smtClean="0"/>
              <a:t> can occur in </a:t>
            </a:r>
            <a:r>
              <a:rPr lang="en-US" dirty="0" smtClean="0">
                <a:solidFill>
                  <a:srgbClr val="FF0000"/>
                </a:solidFill>
              </a:rPr>
              <a:t>n</a:t>
            </a:r>
            <a:r>
              <a:rPr lang="en-US" baseline="-25000" dirty="0" smtClean="0">
                <a:solidFill>
                  <a:srgbClr val="FF0000"/>
                </a:solidFill>
              </a:rPr>
              <a:t>2</a:t>
            </a:r>
            <a:r>
              <a:rPr lang="en-US" dirty="0" smtClean="0"/>
              <a:t> ways.</a:t>
            </a:r>
          </a:p>
          <a:p>
            <a:endParaRPr lang="en-US" dirty="0" smtClean="0"/>
          </a:p>
          <a:p>
            <a:r>
              <a:rPr lang="en-US" dirty="0" smtClean="0"/>
              <a:t>Then the total number of ways in which both events occur is </a:t>
            </a:r>
            <a:r>
              <a:rPr lang="en-US" dirty="0" smtClean="0">
                <a:solidFill>
                  <a:srgbClr val="FF0000"/>
                </a:solidFill>
              </a:rPr>
              <a:t>n</a:t>
            </a:r>
            <a:r>
              <a:rPr lang="en-US" baseline="-25000" dirty="0" smtClean="0">
                <a:solidFill>
                  <a:srgbClr val="FF0000"/>
                </a:solidFill>
              </a:rPr>
              <a:t>1</a:t>
            </a:r>
            <a:r>
              <a:rPr lang="en-US" b="1" dirty="0" smtClean="0">
                <a:solidFill>
                  <a:srgbClr val="FF0000"/>
                </a:solidFill>
              </a:rPr>
              <a:t>· </a:t>
            </a:r>
            <a:r>
              <a:rPr lang="en-US" dirty="0" smtClean="0">
                <a:solidFill>
                  <a:srgbClr val="FF0000"/>
                </a:solidFill>
              </a:rPr>
              <a:t>n</a:t>
            </a:r>
            <a:r>
              <a:rPr lang="en-US" baseline="-25000" dirty="0" smtClean="0">
                <a:solidFill>
                  <a:srgbClr val="FF0000"/>
                </a:solidFill>
              </a:rPr>
              <a:t>2</a:t>
            </a:r>
            <a:endParaRPr lang="en-US" dirty="0" smtClean="0"/>
          </a:p>
          <a:p>
            <a:endParaRPr lang="en-US" dirty="0" smtClean="0"/>
          </a:p>
          <a:p>
            <a:pPr>
              <a:buNone/>
            </a:pPr>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endParaRPr lang="en-US" b="1" u="sng"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13</a:t>
            </a:fld>
            <a:endParaRPr lang="en-US"/>
          </a:p>
        </p:txBody>
      </p:sp>
      <p:sp>
        <p:nvSpPr>
          <p:cNvPr id="4" name="Content Placeholder 3"/>
          <p:cNvSpPr>
            <a:spLocks noGrp="1"/>
          </p:cNvSpPr>
          <p:nvPr>
            <p:ph sz="quarter" idx="1"/>
          </p:nvPr>
        </p:nvSpPr>
        <p:spPr/>
        <p:txBody>
          <a:bodyPr>
            <a:normAutofit/>
          </a:bodyPr>
          <a:lstStyle/>
          <a:p>
            <a:r>
              <a:rPr lang="en-US" dirty="0" smtClean="0"/>
              <a:t>The </a:t>
            </a:r>
            <a:r>
              <a:rPr lang="en-US" dirty="0" smtClean="0">
                <a:solidFill>
                  <a:srgbClr val="FF0000"/>
                </a:solidFill>
              </a:rPr>
              <a:t>chairs</a:t>
            </a:r>
            <a:r>
              <a:rPr lang="en-US" dirty="0" smtClean="0"/>
              <a:t> of an </a:t>
            </a:r>
            <a:r>
              <a:rPr lang="en-US" dirty="0" smtClean="0">
                <a:solidFill>
                  <a:srgbClr val="FF0000"/>
                </a:solidFill>
              </a:rPr>
              <a:t>auditorium</a:t>
            </a:r>
            <a:r>
              <a:rPr lang="en-US" dirty="0" smtClean="0"/>
              <a:t> are to be labeled with </a:t>
            </a:r>
            <a:r>
              <a:rPr lang="en-US" dirty="0" smtClean="0">
                <a:solidFill>
                  <a:srgbClr val="FF0000"/>
                </a:solidFill>
              </a:rPr>
              <a:t>two characters</a:t>
            </a:r>
            <a:r>
              <a:rPr lang="en-US" dirty="0" smtClean="0"/>
              <a:t>, a </a:t>
            </a:r>
            <a:r>
              <a:rPr lang="en-US" dirty="0" smtClean="0">
                <a:solidFill>
                  <a:srgbClr val="FF0000"/>
                </a:solidFill>
              </a:rPr>
              <a:t>letter</a:t>
            </a:r>
            <a:r>
              <a:rPr lang="en-US" dirty="0" smtClean="0"/>
              <a:t> followed by a </a:t>
            </a:r>
            <a:r>
              <a:rPr lang="en-US" dirty="0" smtClean="0">
                <a:solidFill>
                  <a:srgbClr val="FF0000"/>
                </a:solidFill>
              </a:rPr>
              <a:t>digit</a:t>
            </a:r>
            <a:r>
              <a:rPr lang="en-US" dirty="0" smtClean="0"/>
              <a:t>.</a:t>
            </a:r>
          </a:p>
          <a:p>
            <a:endParaRPr lang="en-US" dirty="0" smtClean="0"/>
          </a:p>
          <a:p>
            <a:r>
              <a:rPr lang="en-US" dirty="0" smtClean="0"/>
              <a:t>What is the </a:t>
            </a:r>
            <a:r>
              <a:rPr lang="en-US" dirty="0" smtClean="0">
                <a:solidFill>
                  <a:srgbClr val="FF0000"/>
                </a:solidFill>
              </a:rPr>
              <a:t>largest number</a:t>
            </a:r>
            <a:r>
              <a:rPr lang="en-US" dirty="0" smtClean="0"/>
              <a:t> of </a:t>
            </a:r>
            <a:r>
              <a:rPr lang="en-US" dirty="0" smtClean="0">
                <a:solidFill>
                  <a:srgbClr val="FF0000"/>
                </a:solidFill>
              </a:rPr>
              <a:t>chairs</a:t>
            </a:r>
            <a:r>
              <a:rPr lang="en-US" dirty="0" smtClean="0"/>
              <a:t> that can be labeled differently?</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SOLUTION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14</a:t>
            </a:fld>
            <a:endParaRPr lang="en-US"/>
          </a:p>
        </p:txBody>
      </p:sp>
      <p:sp>
        <p:nvSpPr>
          <p:cNvPr id="4" name="Content Placeholder 3"/>
          <p:cNvSpPr>
            <a:spLocks noGrp="1"/>
          </p:cNvSpPr>
          <p:nvPr>
            <p:ph sz="quarter" idx="1"/>
          </p:nvPr>
        </p:nvSpPr>
        <p:spPr>
          <a:xfrm>
            <a:off x="457200" y="1219200"/>
            <a:ext cx="8229600" cy="5029200"/>
          </a:xfrm>
        </p:spPr>
        <p:txBody>
          <a:bodyPr>
            <a:normAutofit/>
          </a:bodyPr>
          <a:lstStyle/>
          <a:p>
            <a:r>
              <a:rPr lang="en-US" dirty="0" smtClean="0"/>
              <a:t>The </a:t>
            </a:r>
            <a:r>
              <a:rPr lang="en-US" dirty="0" smtClean="0">
                <a:solidFill>
                  <a:srgbClr val="FF0000"/>
                </a:solidFill>
              </a:rPr>
              <a:t>procedure</a:t>
            </a:r>
            <a:r>
              <a:rPr lang="en-US" dirty="0" smtClean="0"/>
              <a:t> of </a:t>
            </a:r>
            <a:r>
              <a:rPr lang="en-US" dirty="0" smtClean="0">
                <a:solidFill>
                  <a:srgbClr val="FF0000"/>
                </a:solidFill>
              </a:rPr>
              <a:t>labeling</a:t>
            </a:r>
            <a:r>
              <a:rPr lang="en-US" dirty="0" smtClean="0"/>
              <a:t> a chair consists of </a:t>
            </a:r>
            <a:r>
              <a:rPr lang="en-US" dirty="0" smtClean="0">
                <a:solidFill>
                  <a:srgbClr val="FF0000"/>
                </a:solidFill>
              </a:rPr>
              <a:t>two events</a:t>
            </a:r>
            <a:r>
              <a:rPr lang="en-US" dirty="0" smtClean="0"/>
              <a:t>, namely,</a:t>
            </a:r>
          </a:p>
          <a:p>
            <a:pPr>
              <a:buNone/>
            </a:pPr>
            <a:endParaRPr lang="en-US" dirty="0" smtClean="0"/>
          </a:p>
          <a:p>
            <a:pPr>
              <a:buNone/>
            </a:pPr>
            <a:r>
              <a:rPr lang="en-US" dirty="0" smtClean="0"/>
              <a:t>	Assigning one of the </a:t>
            </a:r>
            <a:r>
              <a:rPr lang="en-US" dirty="0" smtClean="0">
                <a:solidFill>
                  <a:srgbClr val="FF0000"/>
                </a:solidFill>
              </a:rPr>
              <a:t>26 letters</a:t>
            </a:r>
            <a:r>
              <a:rPr lang="en-US" dirty="0" smtClean="0"/>
              <a:t>:  A, B, C, …, Z and</a:t>
            </a:r>
          </a:p>
          <a:p>
            <a:pPr>
              <a:buNone/>
            </a:pPr>
            <a:r>
              <a:rPr lang="en-US" dirty="0" smtClean="0"/>
              <a:t>	Assigning one of the </a:t>
            </a:r>
            <a:r>
              <a:rPr lang="en-US" dirty="0" smtClean="0">
                <a:solidFill>
                  <a:srgbClr val="FF0000"/>
                </a:solidFill>
              </a:rPr>
              <a:t>10 digits</a:t>
            </a:r>
            <a:r>
              <a:rPr lang="en-US" dirty="0" smtClean="0"/>
              <a:t>:  0, 1, 2, …, 9</a:t>
            </a:r>
          </a:p>
          <a:p>
            <a:pPr>
              <a:buNone/>
            </a:pPr>
            <a:endParaRPr lang="en-US" dirty="0" smtClean="0"/>
          </a:p>
          <a:p>
            <a:pPr>
              <a:buNone/>
            </a:pPr>
            <a:r>
              <a:rPr lang="en-US" dirty="0" smtClean="0"/>
              <a:t>	By </a:t>
            </a:r>
            <a:r>
              <a:rPr lang="en-US" dirty="0" smtClean="0">
                <a:solidFill>
                  <a:srgbClr val="FF0000"/>
                </a:solidFill>
              </a:rPr>
              <a:t>product rule</a:t>
            </a:r>
            <a:r>
              <a:rPr lang="en-US" dirty="0" smtClean="0"/>
              <a:t>, there are   26 </a:t>
            </a:r>
            <a:r>
              <a:rPr lang="en-US" dirty="0" smtClean="0">
                <a:sym typeface="Symbol"/>
              </a:rPr>
              <a:t></a:t>
            </a:r>
            <a:r>
              <a:rPr lang="en-US" dirty="0" smtClean="0"/>
              <a:t> 10 = </a:t>
            </a:r>
            <a:r>
              <a:rPr lang="en-US" dirty="0" smtClean="0">
                <a:solidFill>
                  <a:srgbClr val="FF0000"/>
                </a:solidFill>
              </a:rPr>
              <a:t>260</a:t>
            </a:r>
            <a:r>
              <a:rPr lang="en-US" dirty="0" smtClean="0"/>
              <a:t> different ways that a </a:t>
            </a:r>
            <a:r>
              <a:rPr lang="en-US" dirty="0" smtClean="0">
                <a:solidFill>
                  <a:srgbClr val="FF0000"/>
                </a:solidFill>
              </a:rPr>
              <a:t>chair</a:t>
            </a:r>
            <a:r>
              <a:rPr lang="en-US" dirty="0" smtClean="0"/>
              <a:t> can be </a:t>
            </a:r>
            <a:r>
              <a:rPr lang="en-US" dirty="0" smtClean="0">
                <a:solidFill>
                  <a:srgbClr val="FF0000"/>
                </a:solidFill>
              </a:rPr>
              <a:t>labeled</a:t>
            </a:r>
            <a:r>
              <a:rPr lang="en-US" dirty="0" smtClean="0"/>
              <a:t> by both a </a:t>
            </a:r>
            <a:r>
              <a:rPr lang="en-US" dirty="0" smtClean="0">
                <a:solidFill>
                  <a:srgbClr val="FF0000"/>
                </a:solidFill>
              </a:rPr>
              <a:t>letter</a:t>
            </a:r>
            <a:r>
              <a:rPr lang="en-US" dirty="0" smtClean="0"/>
              <a:t> and a </a:t>
            </a:r>
            <a:r>
              <a:rPr lang="en-US" dirty="0" smtClean="0">
                <a:solidFill>
                  <a:srgbClr val="FF0000"/>
                </a:solidFill>
              </a:rPr>
              <a:t>digit</a:t>
            </a:r>
            <a:r>
              <a:rPr lang="en-US" dirty="0"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GENERALIZED PRODUCT RULE</a:t>
            </a:r>
            <a:endParaRPr lang="en-US" b="1" u="sng"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15</a:t>
            </a:fld>
            <a:endParaRPr lang="en-US"/>
          </a:p>
        </p:txBody>
      </p:sp>
      <p:sp>
        <p:nvSpPr>
          <p:cNvPr id="4" name="Content Placeholder 3"/>
          <p:cNvSpPr>
            <a:spLocks noGrp="1"/>
          </p:cNvSpPr>
          <p:nvPr>
            <p:ph sz="quarter" idx="1"/>
          </p:nvPr>
        </p:nvSpPr>
        <p:spPr>
          <a:xfrm>
            <a:off x="457200" y="1219200"/>
            <a:ext cx="8229600" cy="5181600"/>
          </a:xfrm>
        </p:spPr>
        <p:txBody>
          <a:bodyPr>
            <a:normAutofit/>
          </a:bodyPr>
          <a:lstStyle/>
          <a:p>
            <a:r>
              <a:rPr lang="en-US" dirty="0" smtClean="0"/>
              <a:t>If </a:t>
            </a:r>
            <a:r>
              <a:rPr lang="en-US" dirty="0" smtClean="0">
                <a:solidFill>
                  <a:srgbClr val="FF0000"/>
                </a:solidFill>
              </a:rPr>
              <a:t>some event</a:t>
            </a:r>
            <a:r>
              <a:rPr lang="en-US" dirty="0" smtClean="0"/>
              <a:t> can occur in </a:t>
            </a:r>
            <a:r>
              <a:rPr lang="en-US" dirty="0" smtClean="0">
                <a:solidFill>
                  <a:srgbClr val="FF0000"/>
                </a:solidFill>
              </a:rPr>
              <a:t>n</a:t>
            </a:r>
            <a:r>
              <a:rPr lang="en-US" baseline="-25000" dirty="0" smtClean="0">
                <a:solidFill>
                  <a:srgbClr val="FF0000"/>
                </a:solidFill>
              </a:rPr>
              <a:t>1</a:t>
            </a:r>
            <a:r>
              <a:rPr lang="en-US" dirty="0" smtClean="0"/>
              <a:t> different ways, and if, following this event, a </a:t>
            </a:r>
            <a:r>
              <a:rPr lang="en-US" dirty="0" smtClean="0">
                <a:solidFill>
                  <a:srgbClr val="FF0000"/>
                </a:solidFill>
              </a:rPr>
              <a:t>second event</a:t>
            </a:r>
            <a:r>
              <a:rPr lang="en-US" dirty="0" smtClean="0"/>
              <a:t> can occur in </a:t>
            </a:r>
            <a:r>
              <a:rPr lang="en-US" dirty="0" smtClean="0">
                <a:solidFill>
                  <a:srgbClr val="FF0000"/>
                </a:solidFill>
              </a:rPr>
              <a:t>n</a:t>
            </a:r>
            <a:r>
              <a:rPr lang="en-US" baseline="-25000" dirty="0" smtClean="0">
                <a:solidFill>
                  <a:srgbClr val="FF0000"/>
                </a:solidFill>
              </a:rPr>
              <a:t>2</a:t>
            </a:r>
            <a:r>
              <a:rPr lang="en-US" dirty="0" smtClean="0"/>
              <a:t> different ways, and following this </a:t>
            </a:r>
            <a:r>
              <a:rPr lang="en-US" dirty="0" smtClean="0">
                <a:solidFill>
                  <a:srgbClr val="FF0000"/>
                </a:solidFill>
              </a:rPr>
              <a:t>second event</a:t>
            </a:r>
            <a:r>
              <a:rPr lang="en-US" dirty="0" smtClean="0"/>
              <a:t>, a </a:t>
            </a:r>
            <a:r>
              <a:rPr lang="en-US" dirty="0" smtClean="0">
                <a:solidFill>
                  <a:srgbClr val="FF0000"/>
                </a:solidFill>
              </a:rPr>
              <a:t>third event</a:t>
            </a:r>
            <a:r>
              <a:rPr lang="en-US" dirty="0" smtClean="0"/>
              <a:t> can occur in </a:t>
            </a:r>
            <a:r>
              <a:rPr lang="en-US" dirty="0" smtClean="0">
                <a:solidFill>
                  <a:srgbClr val="FF0000"/>
                </a:solidFill>
              </a:rPr>
              <a:t>n</a:t>
            </a:r>
            <a:r>
              <a:rPr lang="en-US" baseline="-25000" dirty="0" smtClean="0">
                <a:solidFill>
                  <a:srgbClr val="FF0000"/>
                </a:solidFill>
              </a:rPr>
              <a:t>3</a:t>
            </a:r>
            <a:r>
              <a:rPr lang="en-US" dirty="0" smtClean="0"/>
              <a:t> different ways, …, then the number of ways all the </a:t>
            </a:r>
            <a:r>
              <a:rPr lang="en-US" dirty="0" smtClean="0">
                <a:solidFill>
                  <a:srgbClr val="FF0000"/>
                </a:solidFill>
              </a:rPr>
              <a:t>events</a:t>
            </a:r>
            <a:r>
              <a:rPr lang="en-US" dirty="0" smtClean="0"/>
              <a:t> can occur in the order indicated is</a:t>
            </a:r>
          </a:p>
          <a:p>
            <a:pPr>
              <a:buNone/>
            </a:pPr>
            <a:endParaRPr lang="en-US" dirty="0" smtClean="0"/>
          </a:p>
          <a:p>
            <a:pPr algn="ctr">
              <a:buNone/>
            </a:pPr>
            <a:r>
              <a:rPr lang="en-US" dirty="0" smtClean="0"/>
              <a:t>	</a:t>
            </a:r>
            <a:r>
              <a:rPr lang="en-US" dirty="0" smtClean="0">
                <a:solidFill>
                  <a:srgbClr val="FF0000"/>
                </a:solidFill>
              </a:rPr>
              <a:t>n</a:t>
            </a:r>
            <a:r>
              <a:rPr lang="en-US" baseline="-25000" dirty="0" smtClean="0">
                <a:solidFill>
                  <a:srgbClr val="FF0000"/>
                </a:solidFill>
              </a:rPr>
              <a:t>1</a:t>
            </a:r>
            <a:r>
              <a:rPr lang="en-US" b="1" dirty="0" smtClean="0">
                <a:solidFill>
                  <a:srgbClr val="FF0000"/>
                </a:solidFill>
              </a:rPr>
              <a:t>·  </a:t>
            </a:r>
            <a:r>
              <a:rPr lang="en-US" dirty="0" smtClean="0">
                <a:solidFill>
                  <a:srgbClr val="FF0000"/>
                </a:solidFill>
              </a:rPr>
              <a:t>n</a:t>
            </a:r>
            <a:r>
              <a:rPr lang="en-US" baseline="-25000" dirty="0" smtClean="0">
                <a:solidFill>
                  <a:srgbClr val="FF0000"/>
                </a:solidFill>
              </a:rPr>
              <a:t>2</a:t>
            </a:r>
            <a:r>
              <a:rPr lang="en-US" b="1" dirty="0" smtClean="0">
                <a:solidFill>
                  <a:srgbClr val="FF0000"/>
                </a:solidFill>
              </a:rPr>
              <a:t>·  </a:t>
            </a:r>
            <a:r>
              <a:rPr lang="en-US" dirty="0" smtClean="0">
                <a:solidFill>
                  <a:srgbClr val="FF0000"/>
                </a:solidFill>
              </a:rPr>
              <a:t>n</a:t>
            </a:r>
            <a:r>
              <a:rPr lang="en-US" baseline="-25000" dirty="0" smtClean="0">
                <a:solidFill>
                  <a:srgbClr val="FF0000"/>
                </a:solidFill>
              </a:rPr>
              <a:t>3</a:t>
            </a:r>
            <a:r>
              <a:rPr lang="en-US" b="1" dirty="0" smtClean="0">
                <a:solidFill>
                  <a:srgbClr val="FF0000"/>
                </a:solidFill>
              </a:rPr>
              <a:t>· </a:t>
            </a:r>
            <a:r>
              <a:rPr lang="en-US" dirty="0" smtClean="0">
                <a:solidFill>
                  <a:srgbClr val="FF0000"/>
                </a:solidFill>
              </a:rPr>
              <a:t>…</a:t>
            </a:r>
          </a:p>
          <a:p>
            <a:endParaRPr lang="en-US" dirty="0" smtClean="0"/>
          </a:p>
          <a:p>
            <a:pPr>
              <a:buNone/>
            </a:pPr>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solidFill>
                  <a:srgbClr val="0070C0"/>
                </a:solidFill>
              </a:rPr>
              <a:t>PRODUCT RULE IN TERMS OF SETS</a:t>
            </a:r>
            <a:endParaRPr lang="en-US" b="1" u="sng"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16</a:t>
            </a:fld>
            <a:endParaRPr lang="en-US"/>
          </a:p>
        </p:txBody>
      </p:sp>
      <p:sp>
        <p:nvSpPr>
          <p:cNvPr id="4" name="Content Placeholder 3"/>
          <p:cNvSpPr>
            <a:spLocks noGrp="1"/>
          </p:cNvSpPr>
          <p:nvPr>
            <p:ph sz="quarter" idx="1"/>
          </p:nvPr>
        </p:nvSpPr>
        <p:spPr/>
        <p:txBody>
          <a:bodyPr>
            <a:normAutofit/>
          </a:bodyPr>
          <a:lstStyle/>
          <a:p>
            <a:r>
              <a:rPr lang="en-US" dirty="0" smtClean="0"/>
              <a:t>If </a:t>
            </a:r>
            <a:r>
              <a:rPr lang="en-US" dirty="0" smtClean="0">
                <a:solidFill>
                  <a:srgbClr val="FF0000"/>
                </a:solidFill>
              </a:rPr>
              <a:t>A</a:t>
            </a:r>
            <a:r>
              <a:rPr lang="en-US" baseline="-25000" dirty="0" smtClean="0">
                <a:solidFill>
                  <a:srgbClr val="FF0000"/>
                </a:solidFill>
              </a:rPr>
              <a:t>1</a:t>
            </a:r>
            <a:r>
              <a:rPr lang="en-US" dirty="0" smtClean="0">
                <a:solidFill>
                  <a:srgbClr val="FF0000"/>
                </a:solidFill>
              </a:rPr>
              <a:t>, A</a:t>
            </a:r>
            <a:r>
              <a:rPr lang="en-US" baseline="-25000" dirty="0" smtClean="0">
                <a:solidFill>
                  <a:srgbClr val="FF0000"/>
                </a:solidFill>
              </a:rPr>
              <a:t>2</a:t>
            </a:r>
            <a:r>
              <a:rPr lang="en-US" dirty="0" smtClean="0">
                <a:solidFill>
                  <a:srgbClr val="FF0000"/>
                </a:solidFill>
              </a:rPr>
              <a:t>, …, A</a:t>
            </a:r>
            <a:r>
              <a:rPr lang="en-US" baseline="-25000" dirty="0" smtClean="0">
                <a:solidFill>
                  <a:srgbClr val="FF0000"/>
                </a:solidFill>
              </a:rPr>
              <a:t>m</a:t>
            </a:r>
            <a:r>
              <a:rPr lang="en-US" dirty="0" smtClean="0"/>
              <a:t> are </a:t>
            </a:r>
            <a:r>
              <a:rPr lang="en-US" dirty="0" smtClean="0">
                <a:solidFill>
                  <a:srgbClr val="FF0000"/>
                </a:solidFill>
              </a:rPr>
              <a:t>finite sets</a:t>
            </a:r>
            <a:r>
              <a:rPr lang="en-US" dirty="0" smtClean="0"/>
              <a:t>, then the </a:t>
            </a:r>
            <a:r>
              <a:rPr lang="en-US" dirty="0" smtClean="0">
                <a:solidFill>
                  <a:srgbClr val="FF0000"/>
                </a:solidFill>
              </a:rPr>
              <a:t>number</a:t>
            </a:r>
            <a:r>
              <a:rPr lang="en-US" dirty="0" smtClean="0"/>
              <a:t> of elements in the </a:t>
            </a:r>
            <a:r>
              <a:rPr lang="en-US" dirty="0" smtClean="0">
                <a:solidFill>
                  <a:srgbClr val="FF0000"/>
                </a:solidFill>
              </a:rPr>
              <a:t>Cartesian product</a:t>
            </a:r>
            <a:r>
              <a:rPr lang="en-US" dirty="0" smtClean="0"/>
              <a:t> of these sets is the </a:t>
            </a:r>
            <a:r>
              <a:rPr lang="en-US" dirty="0" smtClean="0">
                <a:solidFill>
                  <a:srgbClr val="FF0000"/>
                </a:solidFill>
              </a:rPr>
              <a:t>product</a:t>
            </a:r>
            <a:r>
              <a:rPr lang="en-US" dirty="0" smtClean="0"/>
              <a:t> of the </a:t>
            </a:r>
            <a:r>
              <a:rPr lang="en-US" dirty="0" smtClean="0">
                <a:solidFill>
                  <a:srgbClr val="FF0000"/>
                </a:solidFill>
              </a:rPr>
              <a:t>number</a:t>
            </a:r>
            <a:r>
              <a:rPr lang="en-US" dirty="0" smtClean="0"/>
              <a:t> of elements in each set. </a:t>
            </a:r>
          </a:p>
          <a:p>
            <a:endParaRPr lang="en-US" dirty="0" smtClean="0"/>
          </a:p>
          <a:p>
            <a:r>
              <a:rPr lang="en-US" dirty="0" smtClean="0"/>
              <a:t>If </a:t>
            </a:r>
            <a:r>
              <a:rPr lang="en-US" dirty="0" smtClean="0">
                <a:solidFill>
                  <a:srgbClr val="FF0000"/>
                </a:solidFill>
              </a:rPr>
              <a:t>n(A</a:t>
            </a:r>
            <a:r>
              <a:rPr lang="en-US" baseline="-25000" dirty="0" smtClean="0">
                <a:solidFill>
                  <a:srgbClr val="FF0000"/>
                </a:solidFill>
              </a:rPr>
              <a:t>i</a:t>
            </a:r>
            <a:r>
              <a:rPr lang="en-US" dirty="0" smtClean="0">
                <a:solidFill>
                  <a:srgbClr val="FF0000"/>
                </a:solidFill>
              </a:rPr>
              <a:t>)</a:t>
            </a:r>
            <a:r>
              <a:rPr lang="en-US" dirty="0" smtClean="0"/>
              <a:t> denotes the </a:t>
            </a:r>
            <a:r>
              <a:rPr lang="en-US" dirty="0" smtClean="0">
                <a:solidFill>
                  <a:srgbClr val="FF0000"/>
                </a:solidFill>
              </a:rPr>
              <a:t>number of elements</a:t>
            </a:r>
            <a:r>
              <a:rPr lang="en-US" dirty="0" smtClean="0"/>
              <a:t> in </a:t>
            </a:r>
            <a:r>
              <a:rPr lang="en-US" dirty="0" smtClean="0">
                <a:solidFill>
                  <a:srgbClr val="FF0000"/>
                </a:solidFill>
              </a:rPr>
              <a:t>set A</a:t>
            </a:r>
            <a:r>
              <a:rPr lang="en-US" baseline="-25000" dirty="0" smtClean="0">
                <a:solidFill>
                  <a:srgbClr val="FF0000"/>
                </a:solidFill>
              </a:rPr>
              <a:t>i</a:t>
            </a:r>
            <a:r>
              <a:rPr lang="en-US" dirty="0" smtClean="0"/>
              <a:t>, then</a:t>
            </a:r>
          </a:p>
          <a:p>
            <a:pPr>
              <a:buNone/>
            </a:pPr>
            <a:endParaRPr lang="en-US" dirty="0" smtClean="0"/>
          </a:p>
          <a:p>
            <a:pPr>
              <a:buNone/>
            </a:pPr>
            <a:r>
              <a:rPr lang="pt-BR" dirty="0" smtClean="0"/>
              <a:t>		</a:t>
            </a:r>
            <a:r>
              <a:rPr lang="pt-BR" dirty="0" smtClean="0">
                <a:solidFill>
                  <a:srgbClr val="FF0000"/>
                </a:solidFill>
              </a:rPr>
              <a:t>n(A</a:t>
            </a:r>
            <a:r>
              <a:rPr lang="pt-BR" baseline="-25000" dirty="0" smtClean="0">
                <a:solidFill>
                  <a:srgbClr val="FF0000"/>
                </a:solidFill>
              </a:rPr>
              <a:t>1</a:t>
            </a:r>
            <a:r>
              <a:rPr lang="pt-BR" dirty="0" smtClean="0">
                <a:solidFill>
                  <a:srgbClr val="FF0000"/>
                </a:solidFill>
              </a:rPr>
              <a:t> </a:t>
            </a:r>
            <a:r>
              <a:rPr lang="en-US" dirty="0" smtClean="0">
                <a:solidFill>
                  <a:srgbClr val="FF0000"/>
                </a:solidFill>
                <a:sym typeface="Symbol"/>
              </a:rPr>
              <a:t></a:t>
            </a:r>
            <a:r>
              <a:rPr lang="pt-BR" dirty="0" smtClean="0">
                <a:solidFill>
                  <a:srgbClr val="FF0000"/>
                </a:solidFill>
              </a:rPr>
              <a:t> A</a:t>
            </a:r>
            <a:r>
              <a:rPr lang="pt-BR" baseline="-25000" dirty="0" smtClean="0">
                <a:solidFill>
                  <a:srgbClr val="FF0000"/>
                </a:solidFill>
              </a:rPr>
              <a:t>2</a:t>
            </a:r>
            <a:r>
              <a:rPr lang="en-US" dirty="0" smtClean="0">
                <a:solidFill>
                  <a:srgbClr val="FF0000"/>
                </a:solidFill>
                <a:sym typeface="Symbol"/>
              </a:rPr>
              <a:t></a:t>
            </a:r>
            <a:r>
              <a:rPr lang="pt-BR" dirty="0" smtClean="0">
                <a:solidFill>
                  <a:srgbClr val="FF0000"/>
                </a:solidFill>
              </a:rPr>
              <a:t> … </a:t>
            </a:r>
            <a:r>
              <a:rPr lang="en-US" dirty="0" smtClean="0">
                <a:solidFill>
                  <a:srgbClr val="FF0000"/>
                </a:solidFill>
                <a:sym typeface="Symbol"/>
              </a:rPr>
              <a:t></a:t>
            </a:r>
            <a:r>
              <a:rPr lang="pt-BR" dirty="0" smtClean="0">
                <a:solidFill>
                  <a:srgbClr val="FF0000"/>
                </a:solidFill>
              </a:rPr>
              <a:t>A</a:t>
            </a:r>
            <a:r>
              <a:rPr lang="pt-BR" baseline="-25000" dirty="0" smtClean="0">
                <a:solidFill>
                  <a:srgbClr val="FF0000"/>
                </a:solidFill>
              </a:rPr>
              <a:t>m</a:t>
            </a:r>
            <a:r>
              <a:rPr lang="pt-BR" dirty="0" smtClean="0">
                <a:solidFill>
                  <a:srgbClr val="FF0000"/>
                </a:solidFill>
              </a:rPr>
              <a:t>) =  n(A</a:t>
            </a:r>
            <a:r>
              <a:rPr lang="pt-BR" baseline="-25000" dirty="0" smtClean="0">
                <a:solidFill>
                  <a:srgbClr val="FF0000"/>
                </a:solidFill>
              </a:rPr>
              <a:t>1</a:t>
            </a:r>
            <a:r>
              <a:rPr lang="pt-BR" dirty="0" smtClean="0">
                <a:solidFill>
                  <a:srgbClr val="FF0000"/>
                </a:solidFill>
              </a:rPr>
              <a:t>)</a:t>
            </a:r>
            <a:r>
              <a:rPr lang="pt-BR" b="1" dirty="0" smtClean="0">
                <a:solidFill>
                  <a:srgbClr val="FF0000"/>
                </a:solidFill>
              </a:rPr>
              <a:t>· </a:t>
            </a:r>
            <a:r>
              <a:rPr lang="pt-BR" dirty="0" smtClean="0">
                <a:solidFill>
                  <a:srgbClr val="FF0000"/>
                </a:solidFill>
              </a:rPr>
              <a:t>n(A</a:t>
            </a:r>
            <a:r>
              <a:rPr lang="pt-BR" baseline="-25000" dirty="0" smtClean="0">
                <a:solidFill>
                  <a:srgbClr val="FF0000"/>
                </a:solidFill>
              </a:rPr>
              <a:t>2</a:t>
            </a:r>
            <a:r>
              <a:rPr lang="pt-BR" dirty="0" smtClean="0">
                <a:solidFill>
                  <a:srgbClr val="FF0000"/>
                </a:solidFill>
              </a:rPr>
              <a:t>)</a:t>
            </a:r>
            <a:r>
              <a:rPr lang="pt-BR" b="1" dirty="0" smtClean="0">
                <a:solidFill>
                  <a:srgbClr val="FF0000"/>
                </a:solidFill>
              </a:rPr>
              <a:t>· </a:t>
            </a:r>
            <a:r>
              <a:rPr lang="pt-BR" dirty="0" smtClean="0">
                <a:solidFill>
                  <a:srgbClr val="FF0000"/>
                </a:solidFill>
              </a:rPr>
              <a:t>…</a:t>
            </a:r>
            <a:r>
              <a:rPr lang="pt-BR" b="1" dirty="0" smtClean="0">
                <a:solidFill>
                  <a:srgbClr val="FF0000"/>
                </a:solidFill>
              </a:rPr>
              <a:t>· </a:t>
            </a:r>
            <a:r>
              <a:rPr lang="pt-BR" dirty="0" smtClean="0">
                <a:solidFill>
                  <a:srgbClr val="FF0000"/>
                </a:solidFill>
              </a:rPr>
              <a:t>n(A</a:t>
            </a:r>
            <a:r>
              <a:rPr lang="pt-BR" baseline="-25000" dirty="0" smtClean="0">
                <a:solidFill>
                  <a:srgbClr val="FF0000"/>
                </a:solidFill>
              </a:rPr>
              <a:t>m</a:t>
            </a:r>
            <a:r>
              <a:rPr lang="pt-BR" dirty="0" smtClean="0">
                <a:solidFill>
                  <a:srgbClr val="FF0000"/>
                </a:solidFill>
              </a:rPr>
              <a:t>)</a:t>
            </a:r>
            <a:endParaRPr lang="en-US" dirty="0" smtClean="0">
              <a:solidFill>
                <a:srgbClr val="FF0000"/>
              </a:solidFill>
            </a:endParaRPr>
          </a:p>
          <a:p>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17</a:t>
            </a:fld>
            <a:endParaRPr lang="en-US"/>
          </a:p>
        </p:txBody>
      </p:sp>
      <p:sp>
        <p:nvSpPr>
          <p:cNvPr id="4" name="Content Placeholder 3"/>
          <p:cNvSpPr>
            <a:spLocks noGrp="1"/>
          </p:cNvSpPr>
          <p:nvPr>
            <p:ph sz="quarter" idx="1"/>
          </p:nvPr>
        </p:nvSpPr>
        <p:spPr>
          <a:xfrm>
            <a:off x="457200" y="1219200"/>
            <a:ext cx="8229600" cy="5105400"/>
          </a:xfrm>
        </p:spPr>
        <p:txBody>
          <a:bodyPr>
            <a:normAutofit fontScale="92500"/>
          </a:bodyPr>
          <a:lstStyle/>
          <a:p>
            <a:r>
              <a:rPr lang="en-US" dirty="0" smtClean="0"/>
              <a:t>Find the </a:t>
            </a:r>
            <a:r>
              <a:rPr lang="en-US" dirty="0" smtClean="0">
                <a:solidFill>
                  <a:srgbClr val="FF0000"/>
                </a:solidFill>
              </a:rPr>
              <a:t>number n</a:t>
            </a:r>
            <a:r>
              <a:rPr lang="en-US" dirty="0" smtClean="0"/>
              <a:t> of ways that an organization consisting of </a:t>
            </a:r>
            <a:r>
              <a:rPr lang="en-US" dirty="0" smtClean="0">
                <a:solidFill>
                  <a:srgbClr val="FF0000"/>
                </a:solidFill>
              </a:rPr>
              <a:t>15 members</a:t>
            </a:r>
            <a:r>
              <a:rPr lang="en-US" dirty="0" smtClean="0"/>
              <a:t> can elect a </a:t>
            </a:r>
            <a:r>
              <a:rPr lang="en-US" dirty="0" smtClean="0">
                <a:solidFill>
                  <a:srgbClr val="FF0000"/>
                </a:solidFill>
              </a:rPr>
              <a:t>president</a:t>
            </a:r>
            <a:r>
              <a:rPr lang="en-US" dirty="0" smtClean="0"/>
              <a:t>, </a:t>
            </a:r>
            <a:r>
              <a:rPr lang="en-US" dirty="0" smtClean="0">
                <a:solidFill>
                  <a:srgbClr val="FF0000"/>
                </a:solidFill>
              </a:rPr>
              <a:t>treasurer</a:t>
            </a:r>
            <a:r>
              <a:rPr lang="en-US" dirty="0" smtClean="0"/>
              <a:t>, and </a:t>
            </a:r>
            <a:r>
              <a:rPr lang="en-US" dirty="0" smtClean="0">
                <a:solidFill>
                  <a:srgbClr val="FF0000"/>
                </a:solidFill>
              </a:rPr>
              <a:t>secretary</a:t>
            </a:r>
            <a:r>
              <a:rPr lang="en-US" dirty="0" smtClean="0"/>
              <a:t>. (assuming no person is elected to more than one position)</a:t>
            </a:r>
          </a:p>
          <a:p>
            <a:endParaRPr lang="en-US" dirty="0" smtClean="0"/>
          </a:p>
          <a:p>
            <a:r>
              <a:rPr lang="en-US" b="1" u="sng" dirty="0" smtClean="0">
                <a:solidFill>
                  <a:srgbClr val="0070C0"/>
                </a:solidFill>
              </a:rPr>
              <a:t>SOLUTION:</a:t>
            </a:r>
            <a:endParaRPr lang="en-US" dirty="0" smtClean="0">
              <a:solidFill>
                <a:srgbClr val="0070C0"/>
              </a:solidFill>
            </a:endParaRPr>
          </a:p>
          <a:p>
            <a:pPr>
              <a:buNone/>
            </a:pPr>
            <a:r>
              <a:rPr lang="en-US" dirty="0" smtClean="0"/>
              <a:t>	The </a:t>
            </a:r>
            <a:r>
              <a:rPr lang="en-US" dirty="0" smtClean="0">
                <a:solidFill>
                  <a:srgbClr val="FF0000"/>
                </a:solidFill>
              </a:rPr>
              <a:t>president</a:t>
            </a:r>
            <a:r>
              <a:rPr lang="en-US" dirty="0" smtClean="0"/>
              <a:t> can be elected in </a:t>
            </a:r>
            <a:r>
              <a:rPr lang="en-US" dirty="0" smtClean="0">
                <a:solidFill>
                  <a:srgbClr val="FF0000"/>
                </a:solidFill>
              </a:rPr>
              <a:t>15 different ways</a:t>
            </a:r>
            <a:r>
              <a:rPr lang="en-US" dirty="0" smtClean="0"/>
              <a:t>; </a:t>
            </a:r>
          </a:p>
          <a:p>
            <a:pPr>
              <a:buNone/>
            </a:pPr>
            <a:r>
              <a:rPr lang="en-US" dirty="0" smtClean="0"/>
              <a:t>	The </a:t>
            </a:r>
            <a:r>
              <a:rPr lang="en-US" dirty="0" smtClean="0">
                <a:solidFill>
                  <a:srgbClr val="FF0000"/>
                </a:solidFill>
              </a:rPr>
              <a:t>treasurer</a:t>
            </a:r>
            <a:r>
              <a:rPr lang="en-US" dirty="0" smtClean="0"/>
              <a:t> can be elected in </a:t>
            </a:r>
            <a:r>
              <a:rPr lang="en-US" dirty="0" smtClean="0">
                <a:solidFill>
                  <a:srgbClr val="FF0000"/>
                </a:solidFill>
              </a:rPr>
              <a:t>14 different ways</a:t>
            </a:r>
            <a:r>
              <a:rPr lang="en-US" dirty="0" smtClean="0"/>
              <a:t>;  </a:t>
            </a:r>
          </a:p>
          <a:p>
            <a:pPr>
              <a:buNone/>
            </a:pPr>
            <a:r>
              <a:rPr lang="en-US" dirty="0" smtClean="0"/>
              <a:t>	The </a:t>
            </a:r>
            <a:r>
              <a:rPr lang="en-US" dirty="0" smtClean="0">
                <a:solidFill>
                  <a:srgbClr val="FF0000"/>
                </a:solidFill>
              </a:rPr>
              <a:t>secretary </a:t>
            </a:r>
            <a:r>
              <a:rPr lang="en-US" dirty="0" smtClean="0"/>
              <a:t>can be elected in </a:t>
            </a:r>
            <a:r>
              <a:rPr lang="en-US" dirty="0" smtClean="0">
                <a:solidFill>
                  <a:srgbClr val="FF0000"/>
                </a:solidFill>
              </a:rPr>
              <a:t>13 different ways</a:t>
            </a:r>
            <a:r>
              <a:rPr lang="en-US" dirty="0" smtClean="0"/>
              <a:t>. </a:t>
            </a:r>
          </a:p>
          <a:p>
            <a:pPr>
              <a:buNone/>
            </a:pPr>
            <a:r>
              <a:rPr lang="en-US" dirty="0" smtClean="0"/>
              <a:t>	Thus, by product rule, there are</a:t>
            </a:r>
          </a:p>
          <a:p>
            <a:pPr>
              <a:buNone/>
            </a:pPr>
            <a:r>
              <a:rPr lang="en-US" dirty="0" smtClean="0"/>
              <a:t>				</a:t>
            </a:r>
            <a:r>
              <a:rPr lang="en-US" dirty="0" smtClean="0">
                <a:solidFill>
                  <a:srgbClr val="FF0000"/>
                </a:solidFill>
              </a:rPr>
              <a:t>n = 15 x 14 </a:t>
            </a:r>
            <a:r>
              <a:rPr lang="en-US" dirty="0" smtClean="0">
                <a:solidFill>
                  <a:srgbClr val="FF0000"/>
                </a:solidFill>
                <a:sym typeface="Times New Roman"/>
              </a:rPr>
              <a:t>x</a:t>
            </a:r>
            <a:r>
              <a:rPr lang="en-US" dirty="0" smtClean="0">
                <a:solidFill>
                  <a:srgbClr val="FF0000"/>
                </a:solidFill>
              </a:rPr>
              <a:t> 13 = 2730</a:t>
            </a:r>
          </a:p>
          <a:p>
            <a:pPr>
              <a:buNone/>
            </a:pPr>
            <a:r>
              <a:rPr lang="en-US" dirty="0" smtClean="0"/>
              <a:t>	different ways in which the organization can elect the officers.</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20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2000"/>
                                        <p:tgtEl>
                                          <p:spTgt spid="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fade">
                                      <p:cBhvr>
                                        <p:cTn id="42"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endParaRPr lang="en-US" b="1" u="sng"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18</a:t>
            </a:fld>
            <a:endParaRPr lang="en-US"/>
          </a:p>
        </p:txBody>
      </p:sp>
      <p:sp>
        <p:nvSpPr>
          <p:cNvPr id="4" name="Content Placeholder 3"/>
          <p:cNvSpPr>
            <a:spLocks noGrp="1"/>
          </p:cNvSpPr>
          <p:nvPr>
            <p:ph sz="quarter" idx="1"/>
          </p:nvPr>
        </p:nvSpPr>
        <p:spPr>
          <a:xfrm>
            <a:off x="457200" y="1219200"/>
            <a:ext cx="8229600" cy="5105400"/>
          </a:xfrm>
        </p:spPr>
        <p:txBody>
          <a:bodyPr/>
          <a:lstStyle/>
          <a:p>
            <a:r>
              <a:rPr lang="en-US" dirty="0" smtClean="0"/>
              <a:t>There are </a:t>
            </a:r>
            <a:r>
              <a:rPr lang="en-US" dirty="0" smtClean="0">
                <a:solidFill>
                  <a:srgbClr val="FF0000"/>
                </a:solidFill>
              </a:rPr>
              <a:t>four bus lines</a:t>
            </a:r>
            <a:r>
              <a:rPr lang="en-US" dirty="0" smtClean="0"/>
              <a:t> between </a:t>
            </a:r>
            <a:r>
              <a:rPr lang="en-US" dirty="0" smtClean="0">
                <a:solidFill>
                  <a:srgbClr val="FF0000"/>
                </a:solidFill>
              </a:rPr>
              <a:t>A</a:t>
            </a:r>
            <a:r>
              <a:rPr lang="en-US" dirty="0" smtClean="0"/>
              <a:t> and </a:t>
            </a:r>
            <a:r>
              <a:rPr lang="en-US" dirty="0" smtClean="0">
                <a:solidFill>
                  <a:srgbClr val="FF0000"/>
                </a:solidFill>
              </a:rPr>
              <a:t>B</a:t>
            </a:r>
            <a:r>
              <a:rPr lang="en-US" dirty="0" smtClean="0"/>
              <a:t>; and </a:t>
            </a:r>
            <a:r>
              <a:rPr lang="en-US" dirty="0" smtClean="0">
                <a:solidFill>
                  <a:srgbClr val="FF0000"/>
                </a:solidFill>
              </a:rPr>
              <a:t>three bus lines</a:t>
            </a:r>
            <a:r>
              <a:rPr lang="en-US" dirty="0" smtClean="0"/>
              <a:t> between </a:t>
            </a:r>
            <a:r>
              <a:rPr lang="en-US" dirty="0" smtClean="0">
                <a:solidFill>
                  <a:srgbClr val="FF0000"/>
                </a:solidFill>
              </a:rPr>
              <a:t>B</a:t>
            </a:r>
            <a:r>
              <a:rPr lang="en-US" dirty="0" smtClean="0"/>
              <a:t> and </a:t>
            </a:r>
            <a:r>
              <a:rPr lang="en-US" dirty="0" smtClean="0">
                <a:solidFill>
                  <a:srgbClr val="FF0000"/>
                </a:solidFill>
              </a:rPr>
              <a:t>C</a:t>
            </a:r>
            <a:r>
              <a:rPr lang="en-US" dirty="0" smtClean="0"/>
              <a:t>. </a:t>
            </a:r>
          </a:p>
          <a:p>
            <a:endParaRPr lang="en-US" dirty="0" smtClean="0"/>
          </a:p>
          <a:p>
            <a:r>
              <a:rPr lang="en-US" dirty="0" smtClean="0"/>
              <a:t>Find the number of ways a person can travel:</a:t>
            </a:r>
          </a:p>
          <a:p>
            <a:endParaRPr lang="en-US" dirty="0" smtClean="0">
              <a:solidFill>
                <a:srgbClr val="C00000"/>
              </a:solidFill>
            </a:endParaRPr>
          </a:p>
          <a:p>
            <a:pPr>
              <a:buNone/>
            </a:pPr>
            <a:r>
              <a:rPr lang="en-US" dirty="0" smtClean="0"/>
              <a:t>	(a) By bus from </a:t>
            </a:r>
            <a:r>
              <a:rPr lang="en-US" dirty="0" smtClean="0">
                <a:solidFill>
                  <a:srgbClr val="FF0000"/>
                </a:solidFill>
              </a:rPr>
              <a:t>A</a:t>
            </a:r>
            <a:r>
              <a:rPr lang="en-US" dirty="0" smtClean="0"/>
              <a:t> to </a:t>
            </a:r>
            <a:r>
              <a:rPr lang="en-US" dirty="0" smtClean="0">
                <a:solidFill>
                  <a:srgbClr val="FF0000"/>
                </a:solidFill>
              </a:rPr>
              <a:t>C</a:t>
            </a:r>
            <a:r>
              <a:rPr lang="en-US" dirty="0" smtClean="0"/>
              <a:t> by way of </a:t>
            </a:r>
            <a:r>
              <a:rPr lang="en-US" dirty="0" smtClean="0">
                <a:solidFill>
                  <a:srgbClr val="FF0000"/>
                </a:solidFill>
              </a:rPr>
              <a:t>B</a:t>
            </a:r>
            <a:r>
              <a:rPr lang="en-US" dirty="0" smtClean="0"/>
              <a:t>;</a:t>
            </a:r>
          </a:p>
          <a:p>
            <a:pPr>
              <a:buNone/>
            </a:pPr>
            <a:r>
              <a:rPr lang="en-US" dirty="0" smtClean="0"/>
              <a:t>	(b) </a:t>
            </a:r>
            <a:r>
              <a:rPr lang="en-US" dirty="0" smtClean="0">
                <a:solidFill>
                  <a:srgbClr val="FF0000"/>
                </a:solidFill>
              </a:rPr>
              <a:t>Round trip</a:t>
            </a:r>
            <a:r>
              <a:rPr lang="en-US" dirty="0" smtClean="0"/>
              <a:t> by bus from </a:t>
            </a:r>
            <a:r>
              <a:rPr lang="en-US" dirty="0" smtClean="0">
                <a:solidFill>
                  <a:srgbClr val="FF0000"/>
                </a:solidFill>
              </a:rPr>
              <a:t>A</a:t>
            </a:r>
            <a:r>
              <a:rPr lang="en-US" dirty="0" smtClean="0"/>
              <a:t> to </a:t>
            </a:r>
            <a:r>
              <a:rPr lang="en-US" dirty="0" smtClean="0">
                <a:solidFill>
                  <a:srgbClr val="FF0000"/>
                </a:solidFill>
              </a:rPr>
              <a:t>C</a:t>
            </a:r>
            <a:r>
              <a:rPr lang="en-US" dirty="0" smtClean="0"/>
              <a:t> by way of </a:t>
            </a:r>
            <a:r>
              <a:rPr lang="en-US" dirty="0" smtClean="0">
                <a:solidFill>
                  <a:srgbClr val="FF0000"/>
                </a:solidFill>
              </a:rPr>
              <a:t>B</a:t>
            </a:r>
            <a:r>
              <a:rPr lang="en-US" dirty="0" smtClean="0"/>
              <a:t>;</a:t>
            </a:r>
          </a:p>
          <a:p>
            <a:pPr>
              <a:buNone/>
            </a:pPr>
            <a:r>
              <a:rPr lang="en-US" dirty="0" smtClean="0"/>
              <a:t>	(c) </a:t>
            </a:r>
            <a:r>
              <a:rPr lang="en-US" dirty="0" smtClean="0">
                <a:solidFill>
                  <a:srgbClr val="FF0000"/>
                </a:solidFill>
              </a:rPr>
              <a:t>Round trip</a:t>
            </a:r>
            <a:r>
              <a:rPr lang="en-US" dirty="0" smtClean="0"/>
              <a:t> by bus from </a:t>
            </a:r>
            <a:r>
              <a:rPr lang="en-US" dirty="0" smtClean="0">
                <a:solidFill>
                  <a:srgbClr val="FF0000"/>
                </a:solidFill>
              </a:rPr>
              <a:t>A</a:t>
            </a:r>
            <a:r>
              <a:rPr lang="en-US" dirty="0" smtClean="0"/>
              <a:t> to </a:t>
            </a:r>
            <a:r>
              <a:rPr lang="en-US" dirty="0" smtClean="0">
                <a:solidFill>
                  <a:srgbClr val="FF0000"/>
                </a:solidFill>
              </a:rPr>
              <a:t>C</a:t>
            </a:r>
            <a:r>
              <a:rPr lang="en-US" dirty="0" smtClean="0"/>
              <a:t> by way of </a:t>
            </a:r>
            <a:r>
              <a:rPr lang="en-US" dirty="0" smtClean="0">
                <a:solidFill>
                  <a:srgbClr val="FF0000"/>
                </a:solidFill>
              </a:rPr>
              <a:t>B</a:t>
            </a:r>
            <a:r>
              <a:rPr lang="en-US" dirty="0" smtClean="0"/>
              <a:t>, if the  </a:t>
            </a:r>
          </a:p>
          <a:p>
            <a:pPr>
              <a:buNone/>
            </a:pPr>
            <a:r>
              <a:rPr lang="en-US" dirty="0" smtClean="0"/>
              <a:t>        person does not want to use a </a:t>
            </a:r>
            <a:r>
              <a:rPr lang="en-US" dirty="0" smtClean="0">
                <a:solidFill>
                  <a:srgbClr val="FF0000"/>
                </a:solidFill>
              </a:rPr>
              <a:t>bus line</a:t>
            </a:r>
            <a:r>
              <a:rPr lang="en-US" dirty="0" smtClean="0"/>
              <a:t> more than   </a:t>
            </a:r>
          </a:p>
          <a:p>
            <a:pPr>
              <a:buNone/>
            </a:pPr>
            <a:r>
              <a:rPr lang="en-US" dirty="0" smtClean="0"/>
              <a:t>        once.</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2000"/>
                                        <p:tgtEl>
                                          <p:spTgt spid="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2000"/>
                                        <p:tgtEl>
                                          <p:spTgt spid="4">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fade">
                                      <p:cBhvr>
                                        <p:cTn id="37"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SOLUTION</a:t>
            </a:r>
            <a:endParaRPr lang="en-US" b="1" u="sng"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19</a:t>
            </a:fld>
            <a:endParaRPr lang="en-US"/>
          </a:p>
        </p:txBody>
      </p:sp>
      <p:sp>
        <p:nvSpPr>
          <p:cNvPr id="4" name="Content Placeholder 3"/>
          <p:cNvSpPr>
            <a:spLocks noGrp="1"/>
          </p:cNvSpPr>
          <p:nvPr>
            <p:ph sz="quarter" idx="1"/>
          </p:nvPr>
        </p:nvSpPr>
        <p:spPr>
          <a:xfrm>
            <a:off x="457200" y="1219200"/>
            <a:ext cx="8229600" cy="5029200"/>
          </a:xfrm>
        </p:spPr>
        <p:txBody>
          <a:bodyPr>
            <a:normAutofit fontScale="92500" lnSpcReduction="10000"/>
          </a:bodyPr>
          <a:lstStyle/>
          <a:p>
            <a:pPr>
              <a:buNone/>
            </a:pPr>
            <a:r>
              <a:rPr lang="en-US" b="1" dirty="0" smtClean="0">
                <a:solidFill>
                  <a:srgbClr val="0070C0"/>
                </a:solidFill>
              </a:rPr>
              <a:t>(a)</a:t>
            </a:r>
            <a:r>
              <a:rPr lang="en-US" dirty="0" smtClean="0"/>
              <a:t> There are </a:t>
            </a:r>
            <a:r>
              <a:rPr lang="en-US" dirty="0" smtClean="0">
                <a:solidFill>
                  <a:srgbClr val="FF0000"/>
                </a:solidFill>
              </a:rPr>
              <a:t>4</a:t>
            </a:r>
            <a:r>
              <a:rPr lang="en-US" dirty="0" smtClean="0"/>
              <a:t> ways to go from </a:t>
            </a:r>
            <a:r>
              <a:rPr lang="en-US" dirty="0" smtClean="0">
                <a:solidFill>
                  <a:srgbClr val="FF0000"/>
                </a:solidFill>
              </a:rPr>
              <a:t>A</a:t>
            </a:r>
            <a:r>
              <a:rPr lang="en-US" dirty="0" smtClean="0"/>
              <a:t> to </a:t>
            </a:r>
            <a:r>
              <a:rPr lang="en-US" dirty="0" smtClean="0">
                <a:solidFill>
                  <a:srgbClr val="FF0000"/>
                </a:solidFill>
              </a:rPr>
              <a:t>B</a:t>
            </a:r>
            <a:r>
              <a:rPr lang="en-US" dirty="0" smtClean="0"/>
              <a:t> and </a:t>
            </a:r>
            <a:r>
              <a:rPr lang="en-US" dirty="0" smtClean="0">
                <a:solidFill>
                  <a:srgbClr val="FF0000"/>
                </a:solidFill>
              </a:rPr>
              <a:t>3</a:t>
            </a:r>
            <a:r>
              <a:rPr lang="en-US" dirty="0" smtClean="0"/>
              <a:t> ways to go from </a:t>
            </a:r>
            <a:r>
              <a:rPr lang="en-US" dirty="0" smtClean="0">
                <a:solidFill>
                  <a:srgbClr val="FF0000"/>
                </a:solidFill>
              </a:rPr>
              <a:t>B</a:t>
            </a:r>
            <a:r>
              <a:rPr lang="en-US" dirty="0" smtClean="0"/>
              <a:t> to </a:t>
            </a:r>
            <a:r>
              <a:rPr lang="en-US" dirty="0" smtClean="0">
                <a:solidFill>
                  <a:srgbClr val="FF0000"/>
                </a:solidFill>
              </a:rPr>
              <a:t>C</a:t>
            </a:r>
            <a:r>
              <a:rPr lang="en-US" dirty="0" smtClean="0"/>
              <a:t>; </a:t>
            </a:r>
          </a:p>
          <a:p>
            <a:pPr>
              <a:buNone/>
            </a:pPr>
            <a:r>
              <a:rPr lang="en-US" dirty="0" smtClean="0"/>
              <a:t>	hence there are</a:t>
            </a:r>
          </a:p>
          <a:p>
            <a:pPr>
              <a:buNone/>
            </a:pPr>
            <a:r>
              <a:rPr lang="en-US" dirty="0" smtClean="0"/>
              <a:t>		</a:t>
            </a:r>
            <a:r>
              <a:rPr lang="en-US" dirty="0" smtClean="0">
                <a:solidFill>
                  <a:srgbClr val="FF0000"/>
                </a:solidFill>
              </a:rPr>
              <a:t>4 </a:t>
            </a:r>
            <a:r>
              <a:rPr lang="en-US" dirty="0" smtClean="0">
                <a:solidFill>
                  <a:srgbClr val="FF0000"/>
                </a:solidFill>
                <a:sym typeface="Times New Roman"/>
              </a:rPr>
              <a:t>x</a:t>
            </a:r>
            <a:r>
              <a:rPr lang="en-US" dirty="0" smtClean="0">
                <a:solidFill>
                  <a:srgbClr val="FF0000"/>
                </a:solidFill>
              </a:rPr>
              <a:t> 3 = 12</a:t>
            </a:r>
            <a:r>
              <a:rPr lang="en-US" dirty="0" smtClean="0"/>
              <a:t>  ways to go from </a:t>
            </a:r>
            <a:r>
              <a:rPr lang="en-US" dirty="0" smtClean="0">
                <a:solidFill>
                  <a:srgbClr val="FF0000"/>
                </a:solidFill>
              </a:rPr>
              <a:t>A</a:t>
            </a:r>
            <a:r>
              <a:rPr lang="en-US" dirty="0" smtClean="0"/>
              <a:t> to </a:t>
            </a:r>
            <a:r>
              <a:rPr lang="en-US" dirty="0" smtClean="0">
                <a:solidFill>
                  <a:srgbClr val="FF0000"/>
                </a:solidFill>
              </a:rPr>
              <a:t>C</a:t>
            </a:r>
            <a:r>
              <a:rPr lang="en-US" dirty="0" smtClean="0"/>
              <a:t> by way of </a:t>
            </a:r>
            <a:r>
              <a:rPr lang="en-US" dirty="0" smtClean="0">
                <a:solidFill>
                  <a:srgbClr val="FF0000"/>
                </a:solidFill>
              </a:rPr>
              <a:t>B</a:t>
            </a:r>
            <a:r>
              <a:rPr lang="en-US" dirty="0" smtClean="0"/>
              <a:t>.</a:t>
            </a:r>
          </a:p>
          <a:p>
            <a:pPr>
              <a:buNone/>
            </a:pPr>
            <a:endParaRPr lang="en-US" dirty="0" smtClean="0"/>
          </a:p>
          <a:p>
            <a:pPr>
              <a:buNone/>
            </a:pPr>
            <a:r>
              <a:rPr lang="en-US" b="1" dirty="0" smtClean="0">
                <a:solidFill>
                  <a:srgbClr val="0070C0"/>
                </a:solidFill>
              </a:rPr>
              <a:t>(b)</a:t>
            </a:r>
            <a:r>
              <a:rPr lang="en-US" dirty="0" smtClean="0"/>
              <a:t> The person will travel from </a:t>
            </a:r>
            <a:r>
              <a:rPr lang="en-US" dirty="0" smtClean="0">
                <a:solidFill>
                  <a:srgbClr val="FF0000"/>
                </a:solidFill>
              </a:rPr>
              <a:t>A</a:t>
            </a:r>
            <a:r>
              <a:rPr lang="en-US" dirty="0" smtClean="0"/>
              <a:t> to </a:t>
            </a:r>
            <a:r>
              <a:rPr lang="en-US" dirty="0" smtClean="0">
                <a:solidFill>
                  <a:srgbClr val="FF0000"/>
                </a:solidFill>
              </a:rPr>
              <a:t>B</a:t>
            </a:r>
            <a:r>
              <a:rPr lang="en-US" dirty="0" smtClean="0"/>
              <a:t> to </a:t>
            </a:r>
            <a:r>
              <a:rPr lang="en-US" dirty="0" smtClean="0">
                <a:solidFill>
                  <a:srgbClr val="FF0000"/>
                </a:solidFill>
              </a:rPr>
              <a:t>C</a:t>
            </a:r>
            <a:r>
              <a:rPr lang="en-US" dirty="0" smtClean="0"/>
              <a:t> to </a:t>
            </a:r>
            <a:r>
              <a:rPr lang="en-US" dirty="0" smtClean="0">
                <a:solidFill>
                  <a:srgbClr val="FF0000"/>
                </a:solidFill>
              </a:rPr>
              <a:t>B</a:t>
            </a:r>
            <a:r>
              <a:rPr lang="en-US" dirty="0" smtClean="0"/>
              <a:t> to </a:t>
            </a:r>
            <a:r>
              <a:rPr lang="en-US" dirty="0" smtClean="0">
                <a:solidFill>
                  <a:srgbClr val="FF0000"/>
                </a:solidFill>
              </a:rPr>
              <a:t>A</a:t>
            </a:r>
            <a:r>
              <a:rPr lang="en-US" dirty="0" smtClean="0"/>
              <a:t> for the round trip.</a:t>
            </a:r>
          </a:p>
          <a:p>
            <a:pPr>
              <a:buNone/>
            </a:pPr>
            <a:r>
              <a:rPr lang="en-US" dirty="0" smtClean="0"/>
              <a:t>		</a:t>
            </a:r>
            <a:r>
              <a:rPr lang="en-US" dirty="0" err="1" smtClean="0"/>
              <a:t>i.e</a:t>
            </a:r>
            <a:r>
              <a:rPr lang="en-US" dirty="0" smtClean="0"/>
              <a:t> 	   </a:t>
            </a:r>
            <a:r>
              <a:rPr lang="en-US" dirty="0" smtClean="0">
                <a:solidFill>
                  <a:srgbClr val="FF0000"/>
                </a:solidFill>
              </a:rPr>
              <a:t>(A →B →C →B →A)</a:t>
            </a:r>
          </a:p>
          <a:p>
            <a:pPr>
              <a:buNone/>
            </a:pPr>
            <a:r>
              <a:rPr lang="en-US" dirty="0" smtClean="0"/>
              <a:t>	The person can travel </a:t>
            </a:r>
            <a:r>
              <a:rPr lang="en-US" dirty="0" smtClean="0">
                <a:solidFill>
                  <a:srgbClr val="FF0000"/>
                </a:solidFill>
              </a:rPr>
              <a:t>4</a:t>
            </a:r>
            <a:r>
              <a:rPr lang="en-US" dirty="0" smtClean="0"/>
              <a:t> ways from </a:t>
            </a:r>
            <a:r>
              <a:rPr lang="en-US" dirty="0" smtClean="0">
                <a:solidFill>
                  <a:srgbClr val="FF0000"/>
                </a:solidFill>
              </a:rPr>
              <a:t>A</a:t>
            </a:r>
            <a:r>
              <a:rPr lang="en-US" dirty="0" smtClean="0"/>
              <a:t> to </a:t>
            </a:r>
            <a:r>
              <a:rPr lang="en-US" dirty="0" smtClean="0">
                <a:solidFill>
                  <a:srgbClr val="FF0000"/>
                </a:solidFill>
              </a:rPr>
              <a:t>B</a:t>
            </a:r>
            <a:r>
              <a:rPr lang="en-US" dirty="0" smtClean="0"/>
              <a:t> and </a:t>
            </a:r>
            <a:r>
              <a:rPr lang="en-US" dirty="0" smtClean="0">
                <a:solidFill>
                  <a:srgbClr val="FF0000"/>
                </a:solidFill>
              </a:rPr>
              <a:t>3</a:t>
            </a:r>
            <a:r>
              <a:rPr lang="en-US" dirty="0" smtClean="0"/>
              <a:t> way from </a:t>
            </a:r>
            <a:r>
              <a:rPr lang="en-US" dirty="0" smtClean="0">
                <a:solidFill>
                  <a:srgbClr val="FF0000"/>
                </a:solidFill>
              </a:rPr>
              <a:t>B</a:t>
            </a:r>
            <a:r>
              <a:rPr lang="en-US" dirty="0" smtClean="0"/>
              <a:t> to </a:t>
            </a:r>
            <a:r>
              <a:rPr lang="en-US" dirty="0" smtClean="0">
                <a:solidFill>
                  <a:srgbClr val="FF0000"/>
                </a:solidFill>
              </a:rPr>
              <a:t>C</a:t>
            </a:r>
            <a:r>
              <a:rPr lang="en-US" dirty="0" smtClean="0"/>
              <a:t> and </a:t>
            </a:r>
            <a:r>
              <a:rPr lang="en-US" dirty="0" smtClean="0">
                <a:solidFill>
                  <a:srgbClr val="FF0000"/>
                </a:solidFill>
              </a:rPr>
              <a:t>back</a:t>
            </a:r>
            <a:r>
              <a:rPr lang="en-US" dirty="0" smtClean="0"/>
              <a:t>.</a:t>
            </a:r>
          </a:p>
          <a:p>
            <a:pPr>
              <a:buNone/>
            </a:pPr>
            <a:r>
              <a:rPr lang="en-US" dirty="0" smtClean="0"/>
              <a:t>		i.e.,	 </a:t>
            </a:r>
          </a:p>
          <a:p>
            <a:pPr>
              <a:buNone/>
            </a:pPr>
            <a:r>
              <a:rPr lang="en-US" dirty="0" smtClean="0"/>
              <a:t>	Thus there are </a:t>
            </a:r>
            <a:r>
              <a:rPr lang="en-US" dirty="0" smtClean="0">
                <a:solidFill>
                  <a:srgbClr val="FF0000"/>
                </a:solidFill>
              </a:rPr>
              <a:t>4 </a:t>
            </a:r>
            <a:r>
              <a:rPr lang="en-US" dirty="0" smtClean="0">
                <a:solidFill>
                  <a:srgbClr val="FF0000"/>
                </a:solidFill>
                <a:sym typeface="Times New Roman"/>
              </a:rPr>
              <a:t>x </a:t>
            </a:r>
            <a:r>
              <a:rPr lang="en-US" dirty="0" smtClean="0">
                <a:solidFill>
                  <a:srgbClr val="FF0000"/>
                </a:solidFill>
              </a:rPr>
              <a:t>3 </a:t>
            </a:r>
            <a:r>
              <a:rPr lang="en-US" dirty="0" smtClean="0">
                <a:solidFill>
                  <a:srgbClr val="FF0000"/>
                </a:solidFill>
                <a:sym typeface="Times New Roman"/>
              </a:rPr>
              <a:t>x </a:t>
            </a:r>
            <a:r>
              <a:rPr lang="en-US" dirty="0" smtClean="0">
                <a:solidFill>
                  <a:srgbClr val="FF0000"/>
                </a:solidFill>
              </a:rPr>
              <a:t>3 </a:t>
            </a:r>
            <a:r>
              <a:rPr lang="en-US" dirty="0" smtClean="0">
                <a:solidFill>
                  <a:srgbClr val="FF0000"/>
                </a:solidFill>
                <a:sym typeface="Times New Roman"/>
              </a:rPr>
              <a:t>x</a:t>
            </a:r>
            <a:r>
              <a:rPr lang="en-US" dirty="0" smtClean="0">
                <a:solidFill>
                  <a:srgbClr val="FF0000"/>
                </a:solidFill>
              </a:rPr>
              <a:t> 4 = 144</a:t>
            </a:r>
            <a:r>
              <a:rPr lang="en-US" dirty="0" smtClean="0"/>
              <a:t> ways to travel the round trip.</a:t>
            </a:r>
          </a:p>
          <a:p>
            <a:pPr>
              <a:buNone/>
            </a:pPr>
            <a:endParaRPr lang="en-US" dirty="0" smtClean="0"/>
          </a:p>
          <a:p>
            <a:endParaRPr lang="en-US" dirty="0"/>
          </a:p>
        </p:txBody>
      </p:sp>
      <p:sp>
        <p:nvSpPr>
          <p:cNvPr id="19558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5587"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2"/>
          <p:cNvGraphicFramePr>
            <a:graphicFrameLocks noChangeAspect="1"/>
          </p:cNvGraphicFramePr>
          <p:nvPr/>
        </p:nvGraphicFramePr>
        <p:xfrm>
          <a:off x="2779600" y="4876799"/>
          <a:ext cx="2773684" cy="533401"/>
        </p:xfrm>
        <a:graphic>
          <a:graphicData uri="http://schemas.openxmlformats.org/presentationml/2006/ole">
            <mc:AlternateContent xmlns:mc="http://schemas.openxmlformats.org/markup-compatibility/2006">
              <mc:Choice xmlns:v="urn:schemas-microsoft-com:vml" Requires="v">
                <p:oleObj spid="_x0000_s195603" r:id="rId3" imgW="1308100" imgH="279400" progId="">
                  <p:embed/>
                </p:oleObj>
              </mc:Choice>
              <mc:Fallback>
                <p:oleObj r:id="rId3" imgW="1308100" imgH="2794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9600" y="4876799"/>
                        <a:ext cx="2773684" cy="5334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20</a:t>
            </a:fld>
            <a:endParaRPr lang="en-US"/>
          </a:p>
        </p:txBody>
      </p:sp>
      <p:sp>
        <p:nvSpPr>
          <p:cNvPr id="4" name="Content Placeholder 3"/>
          <p:cNvSpPr>
            <a:spLocks noGrp="1"/>
          </p:cNvSpPr>
          <p:nvPr>
            <p:ph sz="quarter" idx="1"/>
          </p:nvPr>
        </p:nvSpPr>
        <p:spPr/>
        <p:txBody>
          <a:bodyPr/>
          <a:lstStyle/>
          <a:p>
            <a:pPr>
              <a:buNone/>
            </a:pPr>
            <a:r>
              <a:rPr lang="en-US" b="1" dirty="0" smtClean="0">
                <a:solidFill>
                  <a:srgbClr val="0070C0"/>
                </a:solidFill>
              </a:rPr>
              <a:t>(c)</a:t>
            </a:r>
            <a:r>
              <a:rPr lang="en-US" dirty="0" smtClean="0"/>
              <a:t> The person can travel </a:t>
            </a:r>
            <a:r>
              <a:rPr lang="en-US" dirty="0" smtClean="0">
                <a:solidFill>
                  <a:srgbClr val="FF0000"/>
                </a:solidFill>
              </a:rPr>
              <a:t>4</a:t>
            </a:r>
            <a:r>
              <a:rPr lang="en-US" dirty="0" smtClean="0"/>
              <a:t> ways from </a:t>
            </a:r>
            <a:r>
              <a:rPr lang="en-US" dirty="0" smtClean="0">
                <a:solidFill>
                  <a:srgbClr val="FF0000"/>
                </a:solidFill>
              </a:rPr>
              <a:t>A</a:t>
            </a:r>
            <a:r>
              <a:rPr lang="en-US" dirty="0" smtClean="0"/>
              <a:t> to </a:t>
            </a:r>
            <a:r>
              <a:rPr lang="en-US" dirty="0" smtClean="0">
                <a:solidFill>
                  <a:srgbClr val="FF0000"/>
                </a:solidFill>
              </a:rPr>
              <a:t>B</a:t>
            </a:r>
            <a:r>
              <a:rPr lang="en-US" dirty="0" smtClean="0"/>
              <a:t> and </a:t>
            </a:r>
            <a:r>
              <a:rPr lang="en-US" dirty="0" smtClean="0">
                <a:solidFill>
                  <a:srgbClr val="FF0000"/>
                </a:solidFill>
              </a:rPr>
              <a:t>3</a:t>
            </a:r>
            <a:r>
              <a:rPr lang="en-US" dirty="0" smtClean="0"/>
              <a:t> ways from </a:t>
            </a:r>
            <a:r>
              <a:rPr lang="en-US" dirty="0" smtClean="0">
                <a:solidFill>
                  <a:srgbClr val="FF0000"/>
                </a:solidFill>
              </a:rPr>
              <a:t>B</a:t>
            </a:r>
            <a:r>
              <a:rPr lang="en-US" dirty="0" smtClean="0"/>
              <a:t> to </a:t>
            </a:r>
            <a:r>
              <a:rPr lang="en-US" dirty="0" smtClean="0">
                <a:solidFill>
                  <a:srgbClr val="FF0000"/>
                </a:solidFill>
              </a:rPr>
              <a:t>C</a:t>
            </a:r>
            <a:r>
              <a:rPr lang="en-US" dirty="0" smtClean="0"/>
              <a:t>, but only </a:t>
            </a:r>
            <a:r>
              <a:rPr lang="en-US" dirty="0" smtClean="0">
                <a:solidFill>
                  <a:srgbClr val="FF0000"/>
                </a:solidFill>
              </a:rPr>
              <a:t>2</a:t>
            </a:r>
            <a:r>
              <a:rPr lang="en-US" dirty="0" smtClean="0"/>
              <a:t> ways from </a:t>
            </a:r>
            <a:r>
              <a:rPr lang="en-US" dirty="0" smtClean="0">
                <a:solidFill>
                  <a:srgbClr val="FF0000"/>
                </a:solidFill>
              </a:rPr>
              <a:t>C</a:t>
            </a:r>
            <a:r>
              <a:rPr lang="en-US" dirty="0" smtClean="0"/>
              <a:t> to </a:t>
            </a:r>
            <a:r>
              <a:rPr lang="en-US" dirty="0" smtClean="0">
                <a:solidFill>
                  <a:srgbClr val="FF0000"/>
                </a:solidFill>
              </a:rPr>
              <a:t>B</a:t>
            </a:r>
            <a:r>
              <a:rPr lang="en-US" dirty="0" smtClean="0"/>
              <a:t> and </a:t>
            </a:r>
            <a:r>
              <a:rPr lang="en-US" dirty="0" smtClean="0">
                <a:solidFill>
                  <a:srgbClr val="FF0000"/>
                </a:solidFill>
              </a:rPr>
              <a:t>3</a:t>
            </a:r>
            <a:r>
              <a:rPr lang="en-US" dirty="0" smtClean="0"/>
              <a:t> ways from </a:t>
            </a:r>
            <a:r>
              <a:rPr lang="en-US" dirty="0" smtClean="0">
                <a:solidFill>
                  <a:srgbClr val="FF0000"/>
                </a:solidFill>
              </a:rPr>
              <a:t>B</a:t>
            </a:r>
            <a:r>
              <a:rPr lang="en-US" dirty="0" smtClean="0"/>
              <a:t> to </a:t>
            </a:r>
            <a:r>
              <a:rPr lang="en-US" dirty="0" smtClean="0">
                <a:solidFill>
                  <a:srgbClr val="FF0000"/>
                </a:solidFill>
              </a:rPr>
              <a:t>A</a:t>
            </a:r>
            <a:r>
              <a:rPr lang="en-US" dirty="0" smtClean="0"/>
              <a:t>,</a:t>
            </a:r>
          </a:p>
          <a:p>
            <a:pPr>
              <a:buNone/>
            </a:pPr>
            <a:endParaRPr lang="en-US" dirty="0" smtClean="0"/>
          </a:p>
          <a:p>
            <a:pPr>
              <a:buNone/>
            </a:pPr>
            <a:r>
              <a:rPr lang="en-US" dirty="0" smtClean="0"/>
              <a:t>	Since bus line cannot be used more than once. Thus</a:t>
            </a:r>
          </a:p>
          <a:p>
            <a:pPr>
              <a:buNone/>
            </a:pPr>
            <a:endParaRPr lang="en-US" dirty="0" smtClean="0"/>
          </a:p>
          <a:p>
            <a:pPr>
              <a:buNone/>
            </a:pPr>
            <a:r>
              <a:rPr lang="en-US" dirty="0" smtClean="0"/>
              <a:t>	i.e.,	 </a:t>
            </a:r>
          </a:p>
          <a:p>
            <a:endParaRPr lang="en-US" dirty="0" smtClean="0"/>
          </a:p>
          <a:p>
            <a:pPr>
              <a:buNone/>
            </a:pPr>
            <a:r>
              <a:rPr lang="en-US" dirty="0" smtClean="0"/>
              <a:t>	Hence there are </a:t>
            </a:r>
            <a:r>
              <a:rPr lang="en-US" dirty="0" smtClean="0">
                <a:solidFill>
                  <a:srgbClr val="FF0000"/>
                </a:solidFill>
              </a:rPr>
              <a:t>4 x 3 x 2 x 3 = 72</a:t>
            </a:r>
            <a:r>
              <a:rPr lang="en-US" dirty="0" smtClean="0"/>
              <a:t> ways to travel the round trip without using a bus line more than once.</a:t>
            </a:r>
          </a:p>
          <a:p>
            <a:endParaRPr lang="en-US" dirty="0"/>
          </a:p>
        </p:txBody>
      </p:sp>
      <p:sp>
        <p:nvSpPr>
          <p:cNvPr id="21094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0947"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2"/>
          <p:cNvGraphicFramePr>
            <a:graphicFrameLocks noChangeAspect="1"/>
          </p:cNvGraphicFramePr>
          <p:nvPr/>
        </p:nvGraphicFramePr>
        <p:xfrm>
          <a:off x="2667000" y="3810000"/>
          <a:ext cx="2667000" cy="533400"/>
        </p:xfrm>
        <a:graphic>
          <a:graphicData uri="http://schemas.openxmlformats.org/presentationml/2006/ole">
            <mc:AlternateContent xmlns:mc="http://schemas.openxmlformats.org/markup-compatibility/2006">
              <mc:Choice xmlns:v="urn:schemas-microsoft-com:vml" Requires="v">
                <p:oleObj spid="_x0000_s210963" r:id="rId3" imgW="1308100" imgH="279400" progId="">
                  <p:embed/>
                </p:oleObj>
              </mc:Choice>
              <mc:Fallback>
                <p:oleObj r:id="rId3" imgW="1308100" imgH="2794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3810000"/>
                        <a:ext cx="26670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21</a:t>
            </a:fld>
            <a:endParaRPr lang="en-US"/>
          </a:p>
        </p:txBody>
      </p:sp>
      <p:sp>
        <p:nvSpPr>
          <p:cNvPr id="4" name="Content Placeholder 3"/>
          <p:cNvSpPr>
            <a:spLocks noGrp="1"/>
          </p:cNvSpPr>
          <p:nvPr>
            <p:ph sz="quarter" idx="1"/>
          </p:nvPr>
        </p:nvSpPr>
        <p:spPr>
          <a:xfrm>
            <a:off x="457200" y="1219200"/>
            <a:ext cx="8229600" cy="5181600"/>
          </a:xfrm>
        </p:spPr>
        <p:txBody>
          <a:bodyPr>
            <a:normAutofit/>
          </a:bodyPr>
          <a:lstStyle/>
          <a:p>
            <a:r>
              <a:rPr lang="en-US" dirty="0" smtClean="0"/>
              <a:t>How many </a:t>
            </a:r>
            <a:r>
              <a:rPr lang="en-US" dirty="0" smtClean="0">
                <a:solidFill>
                  <a:srgbClr val="FF0000"/>
                </a:solidFill>
              </a:rPr>
              <a:t>bit strings</a:t>
            </a:r>
            <a:r>
              <a:rPr lang="en-US" dirty="0" smtClean="0"/>
              <a:t> of </a:t>
            </a:r>
            <a:r>
              <a:rPr lang="en-US" dirty="0" smtClean="0">
                <a:solidFill>
                  <a:srgbClr val="FF0000"/>
                </a:solidFill>
              </a:rPr>
              <a:t>length</a:t>
            </a:r>
            <a:r>
              <a:rPr lang="en-US" dirty="0" smtClean="0"/>
              <a:t> </a:t>
            </a:r>
            <a:r>
              <a:rPr lang="en-US" dirty="0" smtClean="0">
                <a:solidFill>
                  <a:srgbClr val="FF0000"/>
                </a:solidFill>
              </a:rPr>
              <a:t>8</a:t>
            </a:r>
            <a:r>
              <a:rPr lang="en-US" dirty="0" smtClean="0"/>
              <a:t> </a:t>
            </a:r>
          </a:p>
          <a:p>
            <a:pPr>
              <a:buNone/>
            </a:pPr>
            <a:endParaRPr lang="en-US" dirty="0" smtClean="0"/>
          </a:p>
          <a:p>
            <a:pPr>
              <a:buNone/>
            </a:pPr>
            <a:r>
              <a:rPr lang="en-US" dirty="0" smtClean="0"/>
              <a:t>	(</a:t>
            </a:r>
            <a:r>
              <a:rPr lang="en-US" dirty="0" err="1" smtClean="0"/>
              <a:t>i</a:t>
            </a:r>
            <a:r>
              <a:rPr lang="en-US" dirty="0" smtClean="0"/>
              <a:t>)  </a:t>
            </a:r>
            <a:r>
              <a:rPr lang="en-US" dirty="0" smtClean="0">
                <a:solidFill>
                  <a:srgbClr val="FF0000"/>
                </a:solidFill>
              </a:rPr>
              <a:t>begin</a:t>
            </a:r>
            <a:r>
              <a:rPr lang="en-US" dirty="0" smtClean="0"/>
              <a:t> with a </a:t>
            </a:r>
            <a:r>
              <a:rPr lang="en-US" dirty="0" smtClean="0">
                <a:solidFill>
                  <a:srgbClr val="FF0000"/>
                </a:solidFill>
              </a:rPr>
              <a:t>“1”</a:t>
            </a:r>
            <a:r>
              <a:rPr lang="en-US" dirty="0" smtClean="0"/>
              <a:t>?</a:t>
            </a:r>
          </a:p>
          <a:p>
            <a:pPr>
              <a:buNone/>
            </a:pPr>
            <a:r>
              <a:rPr lang="en-US" dirty="0" smtClean="0"/>
              <a:t>   (ii) </a:t>
            </a:r>
            <a:r>
              <a:rPr lang="en-US" dirty="0" smtClean="0">
                <a:solidFill>
                  <a:srgbClr val="FF0000"/>
                </a:solidFill>
              </a:rPr>
              <a:t>begin</a:t>
            </a:r>
            <a:r>
              <a:rPr lang="en-US" dirty="0" smtClean="0"/>
              <a:t> and </a:t>
            </a:r>
            <a:r>
              <a:rPr lang="en-US" dirty="0" smtClean="0">
                <a:solidFill>
                  <a:srgbClr val="FF0000"/>
                </a:solidFill>
              </a:rPr>
              <a:t>end</a:t>
            </a:r>
            <a:r>
              <a:rPr lang="en-US" dirty="0" smtClean="0"/>
              <a:t> with a </a:t>
            </a:r>
            <a:r>
              <a:rPr lang="en-US" dirty="0" smtClean="0">
                <a:solidFill>
                  <a:srgbClr val="FF0000"/>
                </a:solidFill>
              </a:rPr>
              <a:t>“1”</a:t>
            </a:r>
            <a:r>
              <a:rPr lang="en-US" dirty="0" smtClean="0"/>
              <a:t>?</a:t>
            </a:r>
          </a:p>
          <a:p>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SOLUTION</a:t>
            </a:r>
            <a:endParaRPr lang="en-US" b="1" u="sng"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22</a:t>
            </a:fld>
            <a:endParaRPr lang="en-US"/>
          </a:p>
        </p:txBody>
      </p:sp>
      <p:sp>
        <p:nvSpPr>
          <p:cNvPr id="4" name="Content Placeholder 3"/>
          <p:cNvSpPr>
            <a:spLocks noGrp="1"/>
          </p:cNvSpPr>
          <p:nvPr>
            <p:ph sz="quarter" idx="1"/>
          </p:nvPr>
        </p:nvSpPr>
        <p:spPr>
          <a:xfrm>
            <a:off x="457200" y="1219200"/>
            <a:ext cx="8229600" cy="5181600"/>
          </a:xfrm>
        </p:spPr>
        <p:txBody>
          <a:bodyPr/>
          <a:lstStyle/>
          <a:p>
            <a:pPr>
              <a:buNone/>
            </a:pPr>
            <a:r>
              <a:rPr lang="en-US" b="1" dirty="0" smtClean="0">
                <a:solidFill>
                  <a:srgbClr val="0070C0"/>
                </a:solidFill>
              </a:rPr>
              <a:t>(</a:t>
            </a:r>
            <a:r>
              <a:rPr lang="en-US" b="1" dirty="0" err="1" smtClean="0">
                <a:solidFill>
                  <a:srgbClr val="0070C0"/>
                </a:solidFill>
              </a:rPr>
              <a:t>i</a:t>
            </a:r>
            <a:r>
              <a:rPr lang="en-US" b="1" dirty="0" smtClean="0">
                <a:solidFill>
                  <a:srgbClr val="0070C0"/>
                </a:solidFill>
              </a:rPr>
              <a:t>)</a:t>
            </a:r>
            <a:r>
              <a:rPr lang="en-US" dirty="0" smtClean="0"/>
              <a:t> If the </a:t>
            </a:r>
            <a:r>
              <a:rPr lang="en-US" dirty="0" smtClean="0">
                <a:solidFill>
                  <a:srgbClr val="FF0000"/>
                </a:solidFill>
              </a:rPr>
              <a:t>first bit</a:t>
            </a:r>
            <a:r>
              <a:rPr lang="en-US" dirty="0" smtClean="0"/>
              <a:t> (left most bit) is a </a:t>
            </a:r>
            <a:r>
              <a:rPr lang="en-US" dirty="0" smtClean="0">
                <a:solidFill>
                  <a:srgbClr val="FF0000"/>
                </a:solidFill>
              </a:rPr>
              <a:t>1</a:t>
            </a:r>
            <a:r>
              <a:rPr lang="en-US" dirty="0" smtClean="0"/>
              <a:t>, then it can be filled in only one way. </a:t>
            </a:r>
          </a:p>
          <a:p>
            <a:pPr>
              <a:buNone/>
            </a:pPr>
            <a:endParaRPr lang="en-US" dirty="0" smtClean="0"/>
          </a:p>
          <a:p>
            <a:pPr>
              <a:buNone/>
            </a:pPr>
            <a:r>
              <a:rPr lang="en-US" dirty="0" smtClean="0"/>
              <a:t>	Each of the </a:t>
            </a:r>
            <a:r>
              <a:rPr lang="en-US" dirty="0" smtClean="0">
                <a:solidFill>
                  <a:srgbClr val="FF0000"/>
                </a:solidFill>
              </a:rPr>
              <a:t>remaining seven positions</a:t>
            </a:r>
            <a:r>
              <a:rPr lang="en-US" dirty="0" smtClean="0"/>
              <a:t> in the </a:t>
            </a:r>
            <a:r>
              <a:rPr lang="en-US" dirty="0" smtClean="0">
                <a:solidFill>
                  <a:srgbClr val="FF0000"/>
                </a:solidFill>
              </a:rPr>
              <a:t>bit string</a:t>
            </a:r>
            <a:r>
              <a:rPr lang="en-US" dirty="0" smtClean="0"/>
              <a:t> can be filled in </a:t>
            </a:r>
            <a:r>
              <a:rPr lang="en-US" dirty="0" smtClean="0">
                <a:solidFill>
                  <a:srgbClr val="FF0000"/>
                </a:solidFill>
              </a:rPr>
              <a:t>2 ways</a:t>
            </a:r>
            <a:r>
              <a:rPr lang="en-US" dirty="0" smtClean="0"/>
              <a:t> (i.e., either by </a:t>
            </a:r>
            <a:r>
              <a:rPr lang="en-US" dirty="0" smtClean="0">
                <a:solidFill>
                  <a:srgbClr val="FF0000"/>
                </a:solidFill>
              </a:rPr>
              <a:t>0</a:t>
            </a:r>
            <a:r>
              <a:rPr lang="en-US" dirty="0" smtClean="0"/>
              <a:t> or </a:t>
            </a:r>
            <a:r>
              <a:rPr lang="en-US" dirty="0" smtClean="0">
                <a:solidFill>
                  <a:srgbClr val="FF0000"/>
                </a:solidFill>
              </a:rPr>
              <a:t>1</a:t>
            </a:r>
            <a:r>
              <a:rPr lang="en-US" dirty="0" smtClean="0"/>
              <a:t>). </a:t>
            </a:r>
          </a:p>
          <a:p>
            <a:pPr>
              <a:buNone/>
            </a:pPr>
            <a:endParaRPr lang="en-US" dirty="0" smtClean="0"/>
          </a:p>
          <a:p>
            <a:pPr>
              <a:buNone/>
            </a:pPr>
            <a:r>
              <a:rPr lang="en-US" dirty="0" smtClean="0"/>
              <a:t>	Hence, </a:t>
            </a:r>
          </a:p>
          <a:p>
            <a:pPr>
              <a:buNone/>
            </a:pPr>
            <a:r>
              <a:rPr lang="en-US" dirty="0" smtClean="0"/>
              <a:t>	there are   </a:t>
            </a:r>
            <a:r>
              <a:rPr lang="en-US" dirty="0" smtClean="0">
                <a:solidFill>
                  <a:srgbClr val="FF0000"/>
                </a:solidFill>
              </a:rPr>
              <a:t>1 </a:t>
            </a:r>
            <a:r>
              <a:rPr lang="en-US" dirty="0" smtClean="0">
                <a:solidFill>
                  <a:srgbClr val="FF0000"/>
                </a:solidFill>
                <a:sym typeface="Times New Roman"/>
              </a:rPr>
              <a:t>x </a:t>
            </a:r>
            <a:r>
              <a:rPr lang="en-US" dirty="0" smtClean="0">
                <a:solidFill>
                  <a:srgbClr val="FF0000"/>
                </a:solidFill>
              </a:rPr>
              <a:t>2 </a:t>
            </a:r>
            <a:r>
              <a:rPr lang="en-US" dirty="0" smtClean="0">
                <a:solidFill>
                  <a:srgbClr val="FF0000"/>
                </a:solidFill>
                <a:sym typeface="Times New Roman"/>
              </a:rPr>
              <a:t>x </a:t>
            </a:r>
            <a:r>
              <a:rPr lang="en-US" dirty="0" smtClean="0">
                <a:solidFill>
                  <a:srgbClr val="FF0000"/>
                </a:solidFill>
              </a:rPr>
              <a:t>2 </a:t>
            </a:r>
            <a:r>
              <a:rPr lang="en-US" dirty="0" smtClean="0">
                <a:solidFill>
                  <a:srgbClr val="FF0000"/>
                </a:solidFill>
                <a:sym typeface="Times New Roman"/>
              </a:rPr>
              <a:t>x </a:t>
            </a:r>
            <a:r>
              <a:rPr lang="en-US" dirty="0" smtClean="0">
                <a:solidFill>
                  <a:srgbClr val="FF0000"/>
                </a:solidFill>
              </a:rPr>
              <a:t>2 </a:t>
            </a:r>
            <a:r>
              <a:rPr lang="en-US" dirty="0" smtClean="0">
                <a:solidFill>
                  <a:srgbClr val="FF0000"/>
                </a:solidFill>
                <a:sym typeface="Times New Roman"/>
              </a:rPr>
              <a:t>x </a:t>
            </a:r>
            <a:r>
              <a:rPr lang="en-US" dirty="0" smtClean="0">
                <a:solidFill>
                  <a:srgbClr val="FF0000"/>
                </a:solidFill>
              </a:rPr>
              <a:t>2 </a:t>
            </a:r>
            <a:r>
              <a:rPr lang="en-US" dirty="0" smtClean="0">
                <a:solidFill>
                  <a:srgbClr val="FF0000"/>
                </a:solidFill>
                <a:sym typeface="Times New Roman"/>
              </a:rPr>
              <a:t>x </a:t>
            </a:r>
            <a:r>
              <a:rPr lang="en-US" dirty="0" smtClean="0">
                <a:solidFill>
                  <a:srgbClr val="FF0000"/>
                </a:solidFill>
              </a:rPr>
              <a:t>2 </a:t>
            </a:r>
            <a:r>
              <a:rPr lang="en-US" dirty="0" smtClean="0">
                <a:solidFill>
                  <a:srgbClr val="FF0000"/>
                </a:solidFill>
                <a:sym typeface="Times New Roman"/>
              </a:rPr>
              <a:t>x </a:t>
            </a:r>
            <a:r>
              <a:rPr lang="en-US" dirty="0" smtClean="0">
                <a:solidFill>
                  <a:srgbClr val="FF0000"/>
                </a:solidFill>
              </a:rPr>
              <a:t>2 </a:t>
            </a:r>
            <a:r>
              <a:rPr lang="en-US" dirty="0" smtClean="0">
                <a:solidFill>
                  <a:srgbClr val="FF0000"/>
                </a:solidFill>
                <a:sym typeface="Times New Roman"/>
              </a:rPr>
              <a:t>x </a:t>
            </a:r>
            <a:r>
              <a:rPr lang="en-US" dirty="0" smtClean="0">
                <a:solidFill>
                  <a:srgbClr val="FF0000"/>
                </a:solidFill>
              </a:rPr>
              <a:t>2 = 2</a:t>
            </a:r>
            <a:r>
              <a:rPr lang="en-US" baseline="30000" dirty="0" smtClean="0">
                <a:solidFill>
                  <a:srgbClr val="FF0000"/>
                </a:solidFill>
              </a:rPr>
              <a:t>7</a:t>
            </a:r>
            <a:r>
              <a:rPr lang="en-US" dirty="0" smtClean="0">
                <a:solidFill>
                  <a:srgbClr val="FF0000"/>
                </a:solidFill>
              </a:rPr>
              <a:t> = 128</a:t>
            </a:r>
            <a:r>
              <a:rPr lang="en-US" dirty="0" smtClean="0"/>
              <a:t> different </a:t>
            </a:r>
            <a:r>
              <a:rPr lang="en-US" dirty="0" smtClean="0">
                <a:solidFill>
                  <a:srgbClr val="FF0000"/>
                </a:solidFill>
              </a:rPr>
              <a:t>bit strings</a:t>
            </a:r>
            <a:r>
              <a:rPr lang="en-US" dirty="0" smtClean="0"/>
              <a:t> of </a:t>
            </a:r>
            <a:r>
              <a:rPr lang="en-US" dirty="0" smtClean="0">
                <a:solidFill>
                  <a:srgbClr val="FF0000"/>
                </a:solidFill>
              </a:rPr>
              <a:t>length 8</a:t>
            </a:r>
            <a:r>
              <a:rPr lang="en-US" dirty="0" smtClean="0"/>
              <a:t> that </a:t>
            </a:r>
            <a:r>
              <a:rPr lang="en-US" dirty="0" smtClean="0">
                <a:solidFill>
                  <a:srgbClr val="FF0000"/>
                </a:solidFill>
              </a:rPr>
              <a:t>begin</a:t>
            </a:r>
            <a:r>
              <a:rPr lang="en-US" dirty="0" smtClean="0"/>
              <a:t> with a </a:t>
            </a:r>
            <a:r>
              <a:rPr lang="en-US" dirty="0" smtClean="0">
                <a:solidFill>
                  <a:srgbClr val="FF0000"/>
                </a:solidFill>
              </a:rPr>
              <a:t>1</a:t>
            </a:r>
            <a:r>
              <a:rPr lang="en-US" dirty="0" smtClean="0"/>
              <a:t>.</a:t>
            </a:r>
          </a:p>
          <a:p>
            <a:endParaRPr lang="en-US" dirty="0" smtClean="0"/>
          </a:p>
          <a:p>
            <a:endParaRPr lang="en-US" dirty="0" smtClean="0"/>
          </a:p>
          <a:p>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dirty="0"/>
          </a:p>
        </p:txBody>
      </p:sp>
      <p:sp>
        <p:nvSpPr>
          <p:cNvPr id="3" name="Slide Number Placeholder 2"/>
          <p:cNvSpPr>
            <a:spLocks noGrp="1"/>
          </p:cNvSpPr>
          <p:nvPr>
            <p:ph type="sldNum" sz="quarter" idx="12"/>
          </p:nvPr>
        </p:nvSpPr>
        <p:spPr/>
        <p:txBody>
          <a:bodyPr/>
          <a:lstStyle/>
          <a:p>
            <a:fld id="{25E19944-04AC-4CD8-BA69-63C2A678C21A}" type="slidenum">
              <a:rPr lang="en-US" smtClean="0"/>
              <a:pPr/>
              <a:t>23</a:t>
            </a:fld>
            <a:endParaRPr lang="en-US"/>
          </a:p>
        </p:txBody>
      </p:sp>
      <p:sp>
        <p:nvSpPr>
          <p:cNvPr id="4" name="Content Placeholder 3"/>
          <p:cNvSpPr>
            <a:spLocks noGrp="1"/>
          </p:cNvSpPr>
          <p:nvPr>
            <p:ph sz="quarter" idx="1"/>
          </p:nvPr>
        </p:nvSpPr>
        <p:spPr/>
        <p:txBody>
          <a:bodyPr/>
          <a:lstStyle/>
          <a:p>
            <a:pPr>
              <a:buNone/>
            </a:pPr>
            <a:r>
              <a:rPr lang="en-US" b="1" dirty="0" smtClean="0">
                <a:solidFill>
                  <a:srgbClr val="0070C0"/>
                </a:solidFill>
              </a:rPr>
              <a:t>(ii)</a:t>
            </a:r>
            <a:r>
              <a:rPr lang="en-US" b="1" dirty="0" smtClean="0"/>
              <a:t> </a:t>
            </a:r>
            <a:r>
              <a:rPr lang="en-US" dirty="0" smtClean="0"/>
              <a:t>If the </a:t>
            </a:r>
            <a:r>
              <a:rPr lang="en-US" dirty="0" smtClean="0">
                <a:solidFill>
                  <a:srgbClr val="FF0000"/>
                </a:solidFill>
              </a:rPr>
              <a:t>first</a:t>
            </a:r>
            <a:r>
              <a:rPr lang="en-US" dirty="0" smtClean="0"/>
              <a:t> and</a:t>
            </a:r>
            <a:r>
              <a:rPr lang="en-US" dirty="0" smtClean="0">
                <a:solidFill>
                  <a:srgbClr val="FF0000"/>
                </a:solidFill>
              </a:rPr>
              <a:t> last bit</a:t>
            </a:r>
            <a:r>
              <a:rPr lang="en-US" dirty="0" smtClean="0"/>
              <a:t> in an </a:t>
            </a:r>
            <a:r>
              <a:rPr lang="en-US" dirty="0" smtClean="0">
                <a:solidFill>
                  <a:srgbClr val="FF0000"/>
                </a:solidFill>
              </a:rPr>
              <a:t>8 bit</a:t>
            </a:r>
            <a:r>
              <a:rPr lang="en-US" dirty="0" smtClean="0"/>
              <a:t> string is a </a:t>
            </a:r>
            <a:r>
              <a:rPr lang="en-US" dirty="0" smtClean="0">
                <a:solidFill>
                  <a:srgbClr val="FF0000"/>
                </a:solidFill>
              </a:rPr>
              <a:t>1</a:t>
            </a:r>
            <a:r>
              <a:rPr lang="en-US" dirty="0" smtClean="0"/>
              <a:t>, then only the</a:t>
            </a:r>
            <a:r>
              <a:rPr lang="en-US" dirty="0" smtClean="0">
                <a:solidFill>
                  <a:srgbClr val="FF0000"/>
                </a:solidFill>
              </a:rPr>
              <a:t> intermediate six bits</a:t>
            </a:r>
            <a:r>
              <a:rPr lang="en-US" dirty="0" smtClean="0"/>
              <a:t> can be filled in </a:t>
            </a:r>
            <a:r>
              <a:rPr lang="en-US" dirty="0" smtClean="0">
                <a:solidFill>
                  <a:srgbClr val="FF0000"/>
                </a:solidFill>
              </a:rPr>
              <a:t>2 ways</a:t>
            </a:r>
            <a:r>
              <a:rPr lang="en-US" dirty="0" smtClean="0"/>
              <a:t>, i.e. by a 0 or 1.</a:t>
            </a:r>
          </a:p>
          <a:p>
            <a:pPr>
              <a:buNone/>
            </a:pPr>
            <a:endParaRPr lang="en-US" dirty="0" smtClean="0"/>
          </a:p>
          <a:p>
            <a:pPr>
              <a:buNone/>
            </a:pPr>
            <a:r>
              <a:rPr lang="en-US" dirty="0" smtClean="0"/>
              <a:t>	 Hence there are  </a:t>
            </a:r>
            <a:r>
              <a:rPr lang="en-US" dirty="0" smtClean="0">
                <a:solidFill>
                  <a:srgbClr val="FF0000"/>
                </a:solidFill>
              </a:rPr>
              <a:t>1 </a:t>
            </a:r>
            <a:r>
              <a:rPr lang="en-US" dirty="0" smtClean="0">
                <a:solidFill>
                  <a:srgbClr val="FF0000"/>
                </a:solidFill>
                <a:sym typeface="Times New Roman"/>
              </a:rPr>
              <a:t>x </a:t>
            </a:r>
            <a:r>
              <a:rPr lang="en-US" dirty="0" smtClean="0">
                <a:solidFill>
                  <a:srgbClr val="FF0000"/>
                </a:solidFill>
              </a:rPr>
              <a:t>2 </a:t>
            </a:r>
            <a:r>
              <a:rPr lang="en-US" dirty="0" smtClean="0">
                <a:solidFill>
                  <a:srgbClr val="FF0000"/>
                </a:solidFill>
                <a:sym typeface="Times New Roman"/>
              </a:rPr>
              <a:t>x </a:t>
            </a:r>
            <a:r>
              <a:rPr lang="en-US" dirty="0" smtClean="0">
                <a:solidFill>
                  <a:srgbClr val="FF0000"/>
                </a:solidFill>
              </a:rPr>
              <a:t>2 </a:t>
            </a:r>
            <a:r>
              <a:rPr lang="en-US" dirty="0" smtClean="0">
                <a:solidFill>
                  <a:srgbClr val="FF0000"/>
                </a:solidFill>
                <a:sym typeface="Times New Roman"/>
              </a:rPr>
              <a:t>x </a:t>
            </a:r>
            <a:r>
              <a:rPr lang="en-US" dirty="0" smtClean="0">
                <a:solidFill>
                  <a:srgbClr val="FF0000"/>
                </a:solidFill>
              </a:rPr>
              <a:t>2</a:t>
            </a:r>
            <a:r>
              <a:rPr lang="en-US" dirty="0" smtClean="0">
                <a:solidFill>
                  <a:srgbClr val="FF0000"/>
                </a:solidFill>
                <a:sym typeface="Times New Roman"/>
              </a:rPr>
              <a:t> x </a:t>
            </a:r>
            <a:r>
              <a:rPr lang="en-US" dirty="0" smtClean="0">
                <a:solidFill>
                  <a:srgbClr val="FF0000"/>
                </a:solidFill>
              </a:rPr>
              <a:t>2 </a:t>
            </a:r>
            <a:r>
              <a:rPr lang="en-US" dirty="0" smtClean="0">
                <a:solidFill>
                  <a:srgbClr val="FF0000"/>
                </a:solidFill>
                <a:sym typeface="Times New Roman"/>
              </a:rPr>
              <a:t>x </a:t>
            </a:r>
            <a:r>
              <a:rPr lang="en-US" dirty="0" smtClean="0">
                <a:solidFill>
                  <a:srgbClr val="FF0000"/>
                </a:solidFill>
              </a:rPr>
              <a:t>2 </a:t>
            </a:r>
            <a:r>
              <a:rPr lang="en-US" dirty="0" smtClean="0">
                <a:solidFill>
                  <a:srgbClr val="FF0000"/>
                </a:solidFill>
                <a:sym typeface="Times New Roman"/>
              </a:rPr>
              <a:t>x </a:t>
            </a:r>
            <a:r>
              <a:rPr lang="en-US" dirty="0" smtClean="0">
                <a:solidFill>
                  <a:srgbClr val="FF0000"/>
                </a:solidFill>
              </a:rPr>
              <a:t>2 </a:t>
            </a:r>
            <a:r>
              <a:rPr lang="en-US" dirty="0" smtClean="0">
                <a:solidFill>
                  <a:srgbClr val="FF0000"/>
                </a:solidFill>
                <a:sym typeface="Times New Roman"/>
              </a:rPr>
              <a:t>x </a:t>
            </a:r>
            <a:r>
              <a:rPr lang="en-US" dirty="0" smtClean="0">
                <a:solidFill>
                  <a:srgbClr val="FF0000"/>
                </a:solidFill>
              </a:rPr>
              <a:t>1 = 2</a:t>
            </a:r>
            <a:r>
              <a:rPr lang="en-US" baseline="30000" dirty="0" smtClean="0">
                <a:solidFill>
                  <a:srgbClr val="FF0000"/>
                </a:solidFill>
              </a:rPr>
              <a:t>6</a:t>
            </a:r>
            <a:r>
              <a:rPr lang="en-US" dirty="0" smtClean="0">
                <a:solidFill>
                  <a:srgbClr val="FF0000"/>
                </a:solidFill>
              </a:rPr>
              <a:t> = 64</a:t>
            </a:r>
          </a:p>
          <a:p>
            <a:pPr>
              <a:buNone/>
            </a:pPr>
            <a:r>
              <a:rPr lang="en-US" dirty="0" smtClean="0"/>
              <a:t>	different bit strings of </a:t>
            </a:r>
            <a:r>
              <a:rPr lang="en-US" dirty="0" smtClean="0">
                <a:solidFill>
                  <a:srgbClr val="FF0000"/>
                </a:solidFill>
              </a:rPr>
              <a:t>length 8</a:t>
            </a:r>
            <a:r>
              <a:rPr lang="en-US" dirty="0" smtClean="0"/>
              <a:t> that </a:t>
            </a:r>
            <a:r>
              <a:rPr lang="en-US" dirty="0" smtClean="0">
                <a:solidFill>
                  <a:srgbClr val="FF0000"/>
                </a:solidFill>
              </a:rPr>
              <a:t>begin</a:t>
            </a:r>
            <a:r>
              <a:rPr lang="en-US" dirty="0" smtClean="0"/>
              <a:t> and </a:t>
            </a:r>
            <a:r>
              <a:rPr lang="en-US" dirty="0" smtClean="0">
                <a:solidFill>
                  <a:srgbClr val="FF0000"/>
                </a:solidFill>
              </a:rPr>
              <a:t>end</a:t>
            </a:r>
            <a:r>
              <a:rPr lang="en-US" dirty="0" smtClean="0"/>
              <a:t> with a </a:t>
            </a:r>
            <a:r>
              <a:rPr lang="en-US" dirty="0" smtClean="0">
                <a:solidFill>
                  <a:srgbClr val="FF0000"/>
                </a:solidFill>
              </a:rPr>
              <a:t>1</a:t>
            </a:r>
            <a:r>
              <a:rPr lang="en-US" dirty="0" smtClean="0"/>
              <a:t>.</a:t>
            </a:r>
          </a:p>
          <a:p>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endParaRPr lang="en-US" b="1" u="sng"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24</a:t>
            </a:fld>
            <a:endParaRPr lang="en-US"/>
          </a:p>
        </p:txBody>
      </p:sp>
      <p:sp>
        <p:nvSpPr>
          <p:cNvPr id="4" name="Content Placeholder 3"/>
          <p:cNvSpPr>
            <a:spLocks noGrp="1"/>
          </p:cNvSpPr>
          <p:nvPr>
            <p:ph sz="quarter" idx="1"/>
          </p:nvPr>
        </p:nvSpPr>
        <p:spPr>
          <a:xfrm>
            <a:off x="457200" y="1219200"/>
            <a:ext cx="8229600" cy="5105400"/>
          </a:xfrm>
        </p:spPr>
        <p:txBody>
          <a:bodyPr/>
          <a:lstStyle/>
          <a:p>
            <a:r>
              <a:rPr lang="en-US" dirty="0" smtClean="0"/>
              <a:t>Suppose that an </a:t>
            </a:r>
            <a:r>
              <a:rPr lang="en-US" dirty="0" smtClean="0">
                <a:solidFill>
                  <a:srgbClr val="FF0000"/>
                </a:solidFill>
              </a:rPr>
              <a:t>automobile license plate</a:t>
            </a:r>
            <a:r>
              <a:rPr lang="en-US" dirty="0" smtClean="0"/>
              <a:t> has </a:t>
            </a:r>
            <a:r>
              <a:rPr lang="en-US" dirty="0" smtClean="0">
                <a:solidFill>
                  <a:srgbClr val="FF0000"/>
                </a:solidFill>
              </a:rPr>
              <a:t>three letters</a:t>
            </a:r>
            <a:r>
              <a:rPr lang="en-US" dirty="0" smtClean="0"/>
              <a:t> followed by </a:t>
            </a:r>
            <a:r>
              <a:rPr lang="en-US" dirty="0" smtClean="0">
                <a:solidFill>
                  <a:srgbClr val="FF0000"/>
                </a:solidFill>
              </a:rPr>
              <a:t>three digits</a:t>
            </a:r>
            <a:r>
              <a:rPr lang="en-US" dirty="0" smtClean="0"/>
              <a:t>.</a:t>
            </a:r>
          </a:p>
          <a:p>
            <a:endParaRPr lang="en-US" dirty="0" smtClean="0"/>
          </a:p>
          <a:p>
            <a:r>
              <a:rPr lang="en-US" dirty="0" smtClean="0"/>
              <a:t>How many </a:t>
            </a:r>
            <a:r>
              <a:rPr lang="en-US" dirty="0" smtClean="0">
                <a:solidFill>
                  <a:srgbClr val="FF0000"/>
                </a:solidFill>
              </a:rPr>
              <a:t>different license plates</a:t>
            </a:r>
            <a:r>
              <a:rPr lang="en-US" dirty="0" smtClean="0"/>
              <a:t> are possible?</a:t>
            </a:r>
          </a:p>
          <a:p>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SOLUTION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25</a:t>
            </a:fld>
            <a:endParaRPr lang="en-US"/>
          </a:p>
        </p:txBody>
      </p:sp>
      <p:sp>
        <p:nvSpPr>
          <p:cNvPr id="4" name="Content Placeholder 3"/>
          <p:cNvSpPr>
            <a:spLocks noGrp="1"/>
          </p:cNvSpPr>
          <p:nvPr>
            <p:ph sz="quarter" idx="1"/>
          </p:nvPr>
        </p:nvSpPr>
        <p:spPr>
          <a:xfrm>
            <a:off x="457200" y="1219200"/>
            <a:ext cx="8229600" cy="5181600"/>
          </a:xfrm>
        </p:spPr>
        <p:txBody>
          <a:bodyPr>
            <a:normAutofit/>
          </a:bodyPr>
          <a:lstStyle/>
          <a:p>
            <a:pPr>
              <a:buNone/>
            </a:pPr>
            <a:r>
              <a:rPr lang="en-US" dirty="0" smtClean="0"/>
              <a:t>	Each of the </a:t>
            </a:r>
            <a:r>
              <a:rPr lang="en-US" dirty="0" smtClean="0">
                <a:solidFill>
                  <a:srgbClr val="FF0000"/>
                </a:solidFill>
              </a:rPr>
              <a:t>three letters</a:t>
            </a:r>
            <a:r>
              <a:rPr lang="en-US" dirty="0" smtClean="0"/>
              <a:t> can be written in </a:t>
            </a:r>
            <a:r>
              <a:rPr lang="en-US" dirty="0" smtClean="0">
                <a:solidFill>
                  <a:srgbClr val="FF0000"/>
                </a:solidFill>
              </a:rPr>
              <a:t>26 different ways</a:t>
            </a:r>
            <a:r>
              <a:rPr lang="en-US" dirty="0" smtClean="0"/>
              <a:t>, and each of the </a:t>
            </a:r>
            <a:r>
              <a:rPr lang="en-US" dirty="0" smtClean="0">
                <a:solidFill>
                  <a:srgbClr val="FF0000"/>
                </a:solidFill>
              </a:rPr>
              <a:t>three digits</a:t>
            </a:r>
            <a:r>
              <a:rPr lang="en-US" dirty="0" smtClean="0"/>
              <a:t> can be written in </a:t>
            </a:r>
            <a:r>
              <a:rPr lang="en-US" dirty="0" smtClean="0">
                <a:solidFill>
                  <a:srgbClr val="FF0000"/>
                </a:solidFill>
              </a:rPr>
              <a:t>10 different ways</a:t>
            </a:r>
            <a:r>
              <a:rPr lang="en-US" dirty="0" smtClean="0"/>
              <a:t>.</a:t>
            </a:r>
          </a:p>
          <a:p>
            <a:pPr>
              <a:buNone/>
            </a:pPr>
            <a:r>
              <a:rPr lang="en-US" dirty="0" smtClean="0"/>
              <a:t>	 </a:t>
            </a:r>
          </a:p>
          <a:p>
            <a:endParaRPr lang="en-US" dirty="0" smtClean="0"/>
          </a:p>
          <a:p>
            <a:endParaRPr lang="en-US" dirty="0" smtClean="0"/>
          </a:p>
          <a:p>
            <a:endParaRPr lang="en-US" dirty="0" smtClean="0"/>
          </a:p>
          <a:p>
            <a:pPr>
              <a:buNone/>
            </a:pPr>
            <a:r>
              <a:rPr lang="en-US" dirty="0" smtClean="0"/>
              <a:t>	Hence, by the product rule, there is a total of </a:t>
            </a:r>
          </a:p>
          <a:p>
            <a:pPr>
              <a:buNone/>
            </a:pPr>
            <a:r>
              <a:rPr lang="en-US" dirty="0" smtClean="0"/>
              <a:t>		</a:t>
            </a:r>
            <a:r>
              <a:rPr lang="en-US" dirty="0" smtClean="0">
                <a:solidFill>
                  <a:srgbClr val="FF0000"/>
                </a:solidFill>
              </a:rPr>
              <a:t>26 </a:t>
            </a:r>
            <a:r>
              <a:rPr lang="en-US" dirty="0" smtClean="0">
                <a:solidFill>
                  <a:srgbClr val="FF0000"/>
                </a:solidFill>
                <a:sym typeface="Times New Roman"/>
              </a:rPr>
              <a:t>x</a:t>
            </a:r>
            <a:r>
              <a:rPr lang="en-US" dirty="0" smtClean="0">
                <a:solidFill>
                  <a:srgbClr val="FF0000"/>
                </a:solidFill>
              </a:rPr>
              <a:t> 26 </a:t>
            </a:r>
            <a:r>
              <a:rPr lang="en-US" dirty="0" smtClean="0">
                <a:solidFill>
                  <a:srgbClr val="FF0000"/>
                </a:solidFill>
                <a:sym typeface="Times New Roman"/>
              </a:rPr>
              <a:t>x</a:t>
            </a:r>
            <a:r>
              <a:rPr lang="en-US" dirty="0" smtClean="0">
                <a:solidFill>
                  <a:srgbClr val="FF0000"/>
                </a:solidFill>
              </a:rPr>
              <a:t> 26 </a:t>
            </a:r>
            <a:r>
              <a:rPr lang="en-US" dirty="0" smtClean="0">
                <a:solidFill>
                  <a:srgbClr val="FF0000"/>
                </a:solidFill>
                <a:sym typeface="Times New Roman"/>
              </a:rPr>
              <a:t>x</a:t>
            </a:r>
            <a:r>
              <a:rPr lang="en-US" dirty="0" smtClean="0">
                <a:solidFill>
                  <a:srgbClr val="FF0000"/>
                </a:solidFill>
              </a:rPr>
              <a:t> 10 </a:t>
            </a:r>
            <a:r>
              <a:rPr lang="en-US" dirty="0" smtClean="0">
                <a:solidFill>
                  <a:srgbClr val="FF0000"/>
                </a:solidFill>
                <a:sym typeface="Times New Roman"/>
              </a:rPr>
              <a:t>x</a:t>
            </a:r>
            <a:r>
              <a:rPr lang="en-US" dirty="0" smtClean="0">
                <a:solidFill>
                  <a:srgbClr val="FF0000"/>
                </a:solidFill>
              </a:rPr>
              <a:t> 10 </a:t>
            </a:r>
            <a:r>
              <a:rPr lang="en-US" dirty="0" smtClean="0">
                <a:solidFill>
                  <a:srgbClr val="FF0000"/>
                </a:solidFill>
                <a:sym typeface="Times New Roman"/>
              </a:rPr>
              <a:t>x</a:t>
            </a:r>
            <a:r>
              <a:rPr lang="en-US" dirty="0" smtClean="0">
                <a:solidFill>
                  <a:srgbClr val="FF0000"/>
                </a:solidFill>
              </a:rPr>
              <a:t> 10 = 17,576,000</a:t>
            </a:r>
          </a:p>
          <a:p>
            <a:pPr>
              <a:buNone/>
            </a:pPr>
            <a:r>
              <a:rPr lang="en-US" dirty="0" smtClean="0"/>
              <a:t>		different license plates possible.</a:t>
            </a:r>
          </a:p>
          <a:p>
            <a:endParaRPr lang="en-US" dirty="0" smtClean="0"/>
          </a:p>
          <a:p>
            <a:pPr>
              <a:buNone/>
            </a:pPr>
            <a:endParaRPr lang="en-US" dirty="0"/>
          </a:p>
        </p:txBody>
      </p:sp>
      <p:graphicFrame>
        <p:nvGraphicFramePr>
          <p:cNvPr id="169988" name="Group 4"/>
          <p:cNvGraphicFramePr>
            <a:graphicFrameLocks noGrp="1"/>
          </p:cNvGraphicFramePr>
          <p:nvPr/>
        </p:nvGraphicFramePr>
        <p:xfrm>
          <a:off x="1941972" y="3015694"/>
          <a:ext cx="5486400" cy="3810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81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70004" name="Line 20"/>
          <p:cNvSpPr>
            <a:spLocks noChangeShapeType="1"/>
          </p:cNvSpPr>
          <p:nvPr/>
        </p:nvSpPr>
        <p:spPr bwMode="auto">
          <a:xfrm>
            <a:off x="2018172" y="2887107"/>
            <a:ext cx="838200" cy="0"/>
          </a:xfrm>
          <a:prstGeom prst="line">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US"/>
          </a:p>
        </p:txBody>
      </p:sp>
      <p:sp>
        <p:nvSpPr>
          <p:cNvPr id="170005" name="Line 21"/>
          <p:cNvSpPr>
            <a:spLocks noChangeShapeType="1"/>
          </p:cNvSpPr>
          <p:nvPr/>
        </p:nvSpPr>
        <p:spPr bwMode="auto">
          <a:xfrm>
            <a:off x="3770772" y="2887107"/>
            <a:ext cx="762000" cy="0"/>
          </a:xfrm>
          <a:prstGeom prst="line">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70006" name="Line 22"/>
          <p:cNvSpPr>
            <a:spLocks noChangeShapeType="1"/>
          </p:cNvSpPr>
          <p:nvPr/>
        </p:nvSpPr>
        <p:spPr bwMode="auto">
          <a:xfrm>
            <a:off x="4685172" y="2877582"/>
            <a:ext cx="990600" cy="0"/>
          </a:xfrm>
          <a:prstGeom prst="line">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US"/>
          </a:p>
        </p:txBody>
      </p:sp>
      <p:sp>
        <p:nvSpPr>
          <p:cNvPr id="170007" name="Line 23"/>
          <p:cNvSpPr>
            <a:spLocks noChangeShapeType="1"/>
          </p:cNvSpPr>
          <p:nvPr/>
        </p:nvSpPr>
        <p:spPr bwMode="auto">
          <a:xfrm>
            <a:off x="6513972" y="2887107"/>
            <a:ext cx="762000" cy="0"/>
          </a:xfrm>
          <a:prstGeom prst="line">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70008" name="AutoShape 24"/>
          <p:cNvSpPr>
            <a:spLocks/>
          </p:cNvSpPr>
          <p:nvPr/>
        </p:nvSpPr>
        <p:spPr bwMode="auto">
          <a:xfrm rot="-5400000">
            <a:off x="3161172" y="2291794"/>
            <a:ext cx="228600" cy="2667000"/>
          </a:xfrm>
          <a:prstGeom prst="leftBrace">
            <a:avLst>
              <a:gd name="adj1" fmla="val 97222"/>
              <a:gd name="adj2" fmla="val 50000"/>
            </a:avLst>
          </a:prstGeom>
          <a:noFill/>
          <a:ln w="9525">
            <a:solidFill>
              <a:srgbClr val="000000"/>
            </a:solidFill>
            <a:round/>
            <a:headEnd/>
            <a:tailEnd/>
          </a:ln>
        </p:spPr>
        <p:txBody>
          <a:bodyPr vert="horz" wrap="square" lIns="91440" tIns="45720" rIns="91440" bIns="45720" numCol="1" anchor="ctr" anchorCtr="0" compatLnSpc="1">
            <a:prstTxWarp prst="textNoShape">
              <a:avLst/>
            </a:prstTxWarp>
          </a:bodyPr>
          <a:lstStyle/>
          <a:p>
            <a:endParaRPr lang="en-US"/>
          </a:p>
        </p:txBody>
      </p:sp>
      <p:sp>
        <p:nvSpPr>
          <p:cNvPr id="170009" name="AutoShape 25"/>
          <p:cNvSpPr>
            <a:spLocks/>
          </p:cNvSpPr>
          <p:nvPr/>
        </p:nvSpPr>
        <p:spPr bwMode="auto">
          <a:xfrm rot="-5400000">
            <a:off x="5942472" y="2329894"/>
            <a:ext cx="228600" cy="2590800"/>
          </a:xfrm>
          <a:prstGeom prst="leftBrace">
            <a:avLst>
              <a:gd name="adj1" fmla="val 94444"/>
              <a:gd name="adj2" fmla="val 50000"/>
            </a:avLst>
          </a:prstGeom>
          <a:noFill/>
          <a:ln w="9525">
            <a:solidFill>
              <a:srgbClr val="000000"/>
            </a:solidFill>
            <a:round/>
            <a:headEnd/>
            <a:tailEnd/>
          </a:ln>
        </p:spPr>
        <p:txBody>
          <a:bodyPr vert="horz" wrap="square" lIns="91440" tIns="45720" rIns="91440" bIns="45720" numCol="1" anchor="ctr" anchorCtr="0" compatLnSpc="1">
            <a:prstTxWarp prst="textNoShape">
              <a:avLst/>
            </a:prstTxWarp>
          </a:bodyPr>
          <a:lstStyle/>
          <a:p>
            <a:endParaRPr lang="en-US"/>
          </a:p>
        </p:txBody>
      </p:sp>
      <p:sp>
        <p:nvSpPr>
          <p:cNvPr id="170010" name="Text Box 26"/>
          <p:cNvSpPr txBox="1">
            <a:spLocks noChangeArrowheads="1"/>
          </p:cNvSpPr>
          <p:nvPr/>
        </p:nvSpPr>
        <p:spPr bwMode="auto">
          <a:xfrm>
            <a:off x="2751597" y="3739594"/>
            <a:ext cx="1209675" cy="2603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dirty="0" smtClean="0">
                <a:ln>
                  <a:noFill/>
                </a:ln>
                <a:solidFill>
                  <a:srgbClr val="000000"/>
                </a:solidFill>
                <a:effectLst/>
                <a:latin typeface="Calibri" pitchFamily="34" charset="0"/>
                <a:cs typeface="Arial" pitchFamily="34" charset="0"/>
              </a:rPr>
              <a:t>26 ways each</a:t>
            </a:r>
            <a:endParaRPr kumimoji="0" lang="en-US" sz="1400" b="0" i="0" u="none" strike="noStrike" cap="none" normalizeH="0" baseline="0" dirty="0" smtClean="0">
              <a:ln>
                <a:noFill/>
              </a:ln>
              <a:solidFill>
                <a:schemeClr val="tx1"/>
              </a:solidFill>
              <a:effectLst/>
              <a:latin typeface="Arial" pitchFamily="34" charset="0"/>
              <a:cs typeface="Arial" pitchFamily="34" charset="0"/>
            </a:endParaRPr>
          </a:p>
        </p:txBody>
      </p:sp>
      <p:sp>
        <p:nvSpPr>
          <p:cNvPr id="170011" name="Text Box 27"/>
          <p:cNvSpPr txBox="1">
            <a:spLocks noChangeArrowheads="1"/>
          </p:cNvSpPr>
          <p:nvPr/>
        </p:nvSpPr>
        <p:spPr bwMode="auto">
          <a:xfrm>
            <a:off x="5624972" y="3739594"/>
            <a:ext cx="12319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dirty="0" smtClean="0">
                <a:ln>
                  <a:noFill/>
                </a:ln>
                <a:solidFill>
                  <a:srgbClr val="000000"/>
                </a:solidFill>
                <a:effectLst/>
                <a:latin typeface="Calibri" pitchFamily="34" charset="0"/>
                <a:cs typeface="Arial" pitchFamily="34" charset="0"/>
              </a:rPr>
              <a:t>10 ways each</a:t>
            </a:r>
            <a:endParaRPr kumimoji="0" lang="en-US" sz="1400" b="0" i="0" u="none" strike="noStrike" cap="none" normalizeH="0" baseline="0" dirty="0" smtClean="0">
              <a:ln>
                <a:noFill/>
              </a:ln>
              <a:solidFill>
                <a:schemeClr val="tx1"/>
              </a:solidFill>
              <a:effectLst/>
              <a:latin typeface="Arial" pitchFamily="34" charset="0"/>
              <a:cs typeface="Arial" pitchFamily="34" charset="0"/>
            </a:endParaRPr>
          </a:p>
        </p:txBody>
      </p:sp>
      <p:sp>
        <p:nvSpPr>
          <p:cNvPr id="170012" name="Text Box 28"/>
          <p:cNvSpPr txBox="1">
            <a:spLocks noChangeArrowheads="1"/>
          </p:cNvSpPr>
          <p:nvPr/>
        </p:nvSpPr>
        <p:spPr bwMode="auto">
          <a:xfrm>
            <a:off x="2980197" y="2710894"/>
            <a:ext cx="752475" cy="222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dirty="0" smtClean="0">
                <a:ln>
                  <a:noFill/>
                </a:ln>
                <a:solidFill>
                  <a:srgbClr val="000000"/>
                </a:solidFill>
                <a:effectLst/>
                <a:latin typeface="Calibri" pitchFamily="34" charset="0"/>
                <a:cs typeface="Arial" pitchFamily="34" charset="0"/>
              </a:rPr>
              <a:t>letters</a:t>
            </a:r>
            <a:endParaRPr kumimoji="0" lang="en-US" sz="1400" b="0" i="0" u="none" strike="noStrike" cap="none" normalizeH="0" baseline="0" dirty="0" smtClean="0">
              <a:ln>
                <a:noFill/>
              </a:ln>
              <a:solidFill>
                <a:schemeClr val="tx1"/>
              </a:solidFill>
              <a:effectLst/>
              <a:latin typeface="Arial" pitchFamily="34" charset="0"/>
              <a:cs typeface="Arial" pitchFamily="34" charset="0"/>
            </a:endParaRPr>
          </a:p>
        </p:txBody>
      </p:sp>
      <p:sp>
        <p:nvSpPr>
          <p:cNvPr id="170013" name="Text Box 29"/>
          <p:cNvSpPr txBox="1">
            <a:spLocks noChangeArrowheads="1"/>
          </p:cNvSpPr>
          <p:nvPr/>
        </p:nvSpPr>
        <p:spPr bwMode="auto">
          <a:xfrm>
            <a:off x="5828172" y="2710894"/>
            <a:ext cx="6477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dirty="0" smtClean="0">
                <a:ln>
                  <a:noFill/>
                </a:ln>
                <a:solidFill>
                  <a:srgbClr val="000000"/>
                </a:solidFill>
                <a:effectLst/>
                <a:latin typeface="Calibri" pitchFamily="34" charset="0"/>
                <a:cs typeface="Arial" pitchFamily="34" charset="0"/>
              </a:rPr>
              <a:t>digits</a:t>
            </a:r>
            <a:endParaRPr kumimoji="0" lang="en-US" sz="14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animEffect transition="in" filter="fade">
                                      <p:cBhvr>
                                        <p:cTn id="17" dur="2000"/>
                                        <p:tgtEl>
                                          <p:spTgt spid="4">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2000"/>
                                        <p:tgtEl>
                                          <p:spTgt spid="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Slide Number Placeholder 2"/>
          <p:cNvSpPr>
            <a:spLocks noGrp="1"/>
          </p:cNvSpPr>
          <p:nvPr>
            <p:ph type="sldNum" sz="quarter" idx="12"/>
          </p:nvPr>
        </p:nvSpPr>
        <p:spPr/>
        <p:txBody>
          <a:bodyPr/>
          <a:lstStyle/>
          <a:p>
            <a:fld id="{25E19944-04AC-4CD8-BA69-63C2A678C21A}" type="slidenum">
              <a:rPr lang="en-US" smtClean="0"/>
              <a:pPr/>
              <a:t>26</a:t>
            </a:fld>
            <a:endParaRPr lang="en-US"/>
          </a:p>
        </p:txBody>
      </p:sp>
      <p:sp>
        <p:nvSpPr>
          <p:cNvPr id="4" name="Content Placeholder 3"/>
          <p:cNvSpPr>
            <a:spLocks noGrp="1"/>
          </p:cNvSpPr>
          <p:nvPr>
            <p:ph sz="quarter" idx="1"/>
          </p:nvPr>
        </p:nvSpPr>
        <p:spPr>
          <a:xfrm>
            <a:off x="457200" y="1219200"/>
            <a:ext cx="8229600" cy="5029200"/>
          </a:xfrm>
        </p:spPr>
        <p:txBody>
          <a:bodyPr>
            <a:normAutofit lnSpcReduction="10000"/>
          </a:bodyPr>
          <a:lstStyle/>
          <a:p>
            <a:pPr>
              <a:buNone/>
            </a:pPr>
            <a:r>
              <a:rPr lang="en-US" dirty="0" smtClean="0"/>
              <a:t>(b) How many license plates could begin with A and end on  </a:t>
            </a:r>
          </a:p>
          <a:p>
            <a:pPr>
              <a:buNone/>
            </a:pPr>
            <a:r>
              <a:rPr lang="en-US" dirty="0" smtClean="0"/>
              <a:t>     0?</a:t>
            </a:r>
          </a:p>
          <a:p>
            <a:r>
              <a:rPr lang="en-US" b="1" u="sng" dirty="0" smtClean="0">
                <a:solidFill>
                  <a:srgbClr val="0070C0"/>
                </a:solidFill>
              </a:rPr>
              <a:t>SOLUTION:</a:t>
            </a:r>
            <a:endParaRPr lang="en-US" dirty="0" smtClean="0">
              <a:solidFill>
                <a:srgbClr val="0070C0"/>
              </a:solidFill>
            </a:endParaRPr>
          </a:p>
          <a:p>
            <a:pPr>
              <a:buNone/>
            </a:pPr>
            <a:r>
              <a:rPr lang="en-US" dirty="0" smtClean="0"/>
              <a:t>	The </a:t>
            </a:r>
            <a:r>
              <a:rPr lang="en-US" dirty="0" smtClean="0">
                <a:solidFill>
                  <a:srgbClr val="FF0000"/>
                </a:solidFill>
              </a:rPr>
              <a:t>first</a:t>
            </a:r>
            <a:r>
              <a:rPr lang="en-US" dirty="0" smtClean="0"/>
              <a:t> and </a:t>
            </a:r>
            <a:r>
              <a:rPr lang="en-US" dirty="0" smtClean="0">
                <a:solidFill>
                  <a:srgbClr val="FF0000"/>
                </a:solidFill>
              </a:rPr>
              <a:t>last place</a:t>
            </a:r>
            <a:r>
              <a:rPr lang="en-US" dirty="0" smtClean="0"/>
              <a:t> can be filled in </a:t>
            </a:r>
            <a:r>
              <a:rPr lang="en-US" dirty="0" smtClean="0">
                <a:solidFill>
                  <a:srgbClr val="FF0000"/>
                </a:solidFill>
              </a:rPr>
              <a:t>one</a:t>
            </a:r>
            <a:r>
              <a:rPr lang="en-US" dirty="0" smtClean="0"/>
              <a:t> way only, while each of </a:t>
            </a:r>
            <a:r>
              <a:rPr lang="en-US" dirty="0" smtClean="0">
                <a:solidFill>
                  <a:srgbClr val="FF0000"/>
                </a:solidFill>
              </a:rPr>
              <a:t>second</a:t>
            </a:r>
            <a:r>
              <a:rPr lang="en-US" dirty="0" smtClean="0"/>
              <a:t> and </a:t>
            </a:r>
            <a:r>
              <a:rPr lang="en-US" dirty="0" smtClean="0">
                <a:solidFill>
                  <a:srgbClr val="FF0000"/>
                </a:solidFill>
              </a:rPr>
              <a:t>third place</a:t>
            </a:r>
            <a:r>
              <a:rPr lang="en-US" dirty="0" smtClean="0"/>
              <a:t> can be filled in </a:t>
            </a:r>
            <a:r>
              <a:rPr lang="en-US" dirty="0" smtClean="0">
                <a:solidFill>
                  <a:srgbClr val="FF0000"/>
                </a:solidFill>
              </a:rPr>
              <a:t>26 ways</a:t>
            </a:r>
            <a:r>
              <a:rPr lang="en-US" dirty="0" smtClean="0"/>
              <a:t> and each of </a:t>
            </a:r>
            <a:r>
              <a:rPr lang="en-US" dirty="0" smtClean="0">
                <a:solidFill>
                  <a:srgbClr val="FF0000"/>
                </a:solidFill>
              </a:rPr>
              <a:t>fourth</a:t>
            </a:r>
            <a:r>
              <a:rPr lang="en-US" dirty="0" smtClean="0"/>
              <a:t> and </a:t>
            </a:r>
            <a:r>
              <a:rPr lang="en-US" dirty="0" smtClean="0">
                <a:solidFill>
                  <a:srgbClr val="FF0000"/>
                </a:solidFill>
              </a:rPr>
              <a:t>fifth place</a:t>
            </a:r>
            <a:r>
              <a:rPr lang="en-US" dirty="0" smtClean="0"/>
              <a:t> can be filled in </a:t>
            </a:r>
            <a:r>
              <a:rPr lang="en-US" dirty="0" smtClean="0">
                <a:solidFill>
                  <a:srgbClr val="FF0000"/>
                </a:solidFill>
              </a:rPr>
              <a:t>10 ways</a:t>
            </a:r>
            <a:r>
              <a:rPr lang="en-US" dirty="0" smtClean="0"/>
              <a:t>.</a:t>
            </a:r>
          </a:p>
          <a:p>
            <a:pPr>
              <a:buNone/>
            </a:pPr>
            <a:endParaRPr lang="en-US" dirty="0" smtClean="0"/>
          </a:p>
          <a:p>
            <a:pPr>
              <a:buNone/>
            </a:pPr>
            <a:r>
              <a:rPr lang="en-US" dirty="0" smtClean="0"/>
              <a:t>	</a:t>
            </a:r>
          </a:p>
          <a:p>
            <a:endParaRPr lang="en-US" dirty="0" smtClean="0"/>
          </a:p>
          <a:p>
            <a:pPr>
              <a:buNone/>
            </a:pPr>
            <a:r>
              <a:rPr lang="en-US" dirty="0" smtClean="0"/>
              <a:t>	</a:t>
            </a:r>
          </a:p>
          <a:p>
            <a:pPr>
              <a:buNone/>
            </a:pPr>
            <a:r>
              <a:rPr lang="en-US" dirty="0" smtClean="0"/>
              <a:t>	Number of license plates that </a:t>
            </a:r>
            <a:r>
              <a:rPr lang="en-US" dirty="0" smtClean="0">
                <a:solidFill>
                  <a:srgbClr val="FF0000"/>
                </a:solidFill>
              </a:rPr>
              <a:t>begin</a:t>
            </a:r>
            <a:r>
              <a:rPr lang="en-US" dirty="0" smtClean="0"/>
              <a:t> with </a:t>
            </a:r>
            <a:r>
              <a:rPr lang="en-US" dirty="0" smtClean="0">
                <a:solidFill>
                  <a:srgbClr val="FF0000"/>
                </a:solidFill>
              </a:rPr>
              <a:t>A</a:t>
            </a:r>
            <a:r>
              <a:rPr lang="en-US" dirty="0" smtClean="0"/>
              <a:t> and </a:t>
            </a:r>
            <a:r>
              <a:rPr lang="en-US" dirty="0" smtClean="0">
                <a:solidFill>
                  <a:srgbClr val="FF0000"/>
                </a:solidFill>
              </a:rPr>
              <a:t>end</a:t>
            </a:r>
            <a:r>
              <a:rPr lang="en-US" dirty="0" smtClean="0"/>
              <a:t> in </a:t>
            </a:r>
            <a:r>
              <a:rPr lang="en-US" dirty="0" smtClean="0">
                <a:solidFill>
                  <a:srgbClr val="FF0000"/>
                </a:solidFill>
              </a:rPr>
              <a:t>0</a:t>
            </a:r>
            <a:r>
              <a:rPr lang="en-US" dirty="0" smtClean="0"/>
              <a:t> are </a:t>
            </a:r>
            <a:r>
              <a:rPr lang="en-US" dirty="0" smtClean="0">
                <a:solidFill>
                  <a:srgbClr val="FF0000"/>
                </a:solidFill>
              </a:rPr>
              <a:t>1 </a:t>
            </a:r>
            <a:r>
              <a:rPr lang="en-US" dirty="0" smtClean="0">
                <a:solidFill>
                  <a:srgbClr val="FF0000"/>
                </a:solidFill>
                <a:sym typeface="Times New Roman"/>
              </a:rPr>
              <a:t>x</a:t>
            </a:r>
            <a:r>
              <a:rPr lang="en-US" dirty="0" smtClean="0">
                <a:solidFill>
                  <a:srgbClr val="FF0000"/>
                </a:solidFill>
              </a:rPr>
              <a:t> 26 </a:t>
            </a:r>
            <a:r>
              <a:rPr lang="en-US" dirty="0" smtClean="0">
                <a:solidFill>
                  <a:srgbClr val="FF0000"/>
                </a:solidFill>
                <a:sym typeface="Times New Roman"/>
              </a:rPr>
              <a:t>x</a:t>
            </a:r>
            <a:r>
              <a:rPr lang="en-US" dirty="0" smtClean="0">
                <a:solidFill>
                  <a:srgbClr val="FF0000"/>
                </a:solidFill>
              </a:rPr>
              <a:t> 26 </a:t>
            </a:r>
            <a:r>
              <a:rPr lang="en-US" dirty="0" smtClean="0">
                <a:solidFill>
                  <a:srgbClr val="FF0000"/>
                </a:solidFill>
                <a:sym typeface="Times New Roman"/>
              </a:rPr>
              <a:t>x</a:t>
            </a:r>
            <a:r>
              <a:rPr lang="en-US" dirty="0" smtClean="0">
                <a:solidFill>
                  <a:srgbClr val="FF0000"/>
                </a:solidFill>
              </a:rPr>
              <a:t> 10 </a:t>
            </a:r>
            <a:r>
              <a:rPr lang="en-US" dirty="0" smtClean="0">
                <a:solidFill>
                  <a:srgbClr val="FF0000"/>
                </a:solidFill>
                <a:sym typeface="Times New Roman"/>
              </a:rPr>
              <a:t>x</a:t>
            </a:r>
            <a:r>
              <a:rPr lang="en-US" dirty="0" smtClean="0">
                <a:solidFill>
                  <a:srgbClr val="FF0000"/>
                </a:solidFill>
              </a:rPr>
              <a:t> 10 </a:t>
            </a:r>
            <a:r>
              <a:rPr lang="en-US" dirty="0" smtClean="0">
                <a:solidFill>
                  <a:srgbClr val="FF0000"/>
                </a:solidFill>
                <a:sym typeface="Times New Roman"/>
              </a:rPr>
              <a:t>x</a:t>
            </a:r>
            <a:r>
              <a:rPr lang="en-US" dirty="0" smtClean="0">
                <a:solidFill>
                  <a:srgbClr val="FF0000"/>
                </a:solidFill>
              </a:rPr>
              <a:t> 1 = 67600</a:t>
            </a:r>
          </a:p>
          <a:p>
            <a:endParaRPr lang="en-US" dirty="0"/>
          </a:p>
        </p:txBody>
      </p:sp>
      <p:sp>
        <p:nvSpPr>
          <p:cNvPr id="168963" name="Line 3"/>
          <p:cNvSpPr>
            <a:spLocks noChangeShapeType="1"/>
          </p:cNvSpPr>
          <p:nvPr/>
        </p:nvSpPr>
        <p:spPr bwMode="auto">
          <a:xfrm>
            <a:off x="1862138" y="4267200"/>
            <a:ext cx="5486400" cy="0"/>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64" name="Text Box 4"/>
          <p:cNvSpPr txBox="1">
            <a:spLocks noChangeArrowheads="1"/>
          </p:cNvSpPr>
          <p:nvPr/>
        </p:nvSpPr>
        <p:spPr bwMode="auto">
          <a:xfrm>
            <a:off x="2895600" y="3886200"/>
            <a:ext cx="8382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smtClean="0">
                <a:ln>
                  <a:noFill/>
                </a:ln>
                <a:solidFill>
                  <a:srgbClr val="000000"/>
                </a:solidFill>
                <a:effectLst/>
                <a:latin typeface="Calibri" pitchFamily="34" charset="0"/>
                <a:cs typeface="Arial" pitchFamily="34" charset="0"/>
              </a:rPr>
              <a:t>letters</a:t>
            </a:r>
            <a:endParaRPr kumimoji="0" lang="en-US" sz="1400" b="1" i="0" u="none" strike="noStrike" cap="none" normalizeH="0" baseline="0" dirty="0" smtClean="0">
              <a:ln>
                <a:noFill/>
              </a:ln>
              <a:solidFill>
                <a:schemeClr val="tx1"/>
              </a:solidFill>
              <a:effectLst/>
              <a:latin typeface="Arial" pitchFamily="34" charset="0"/>
              <a:cs typeface="Arial" pitchFamily="34" charset="0"/>
            </a:endParaRPr>
          </a:p>
        </p:txBody>
      </p:sp>
      <p:sp>
        <p:nvSpPr>
          <p:cNvPr id="168965" name="Text Box 5"/>
          <p:cNvSpPr txBox="1">
            <a:spLocks noChangeArrowheads="1"/>
          </p:cNvSpPr>
          <p:nvPr/>
        </p:nvSpPr>
        <p:spPr bwMode="auto">
          <a:xfrm>
            <a:off x="5773738" y="3880512"/>
            <a:ext cx="779462" cy="2524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smtClean="0">
                <a:ln>
                  <a:noFill/>
                </a:ln>
                <a:solidFill>
                  <a:srgbClr val="000000"/>
                </a:solidFill>
                <a:effectLst/>
                <a:latin typeface="Calibri" pitchFamily="34" charset="0"/>
                <a:cs typeface="Arial" pitchFamily="34" charset="0"/>
              </a:rPr>
              <a:t>digits</a:t>
            </a:r>
            <a:endParaRPr kumimoji="0" lang="en-US" sz="1400" b="1" i="0" u="none" strike="noStrike" cap="none" normalizeH="0" baseline="0" dirty="0" smtClean="0">
              <a:ln>
                <a:noFill/>
              </a:ln>
              <a:solidFill>
                <a:schemeClr val="tx1"/>
              </a:solidFill>
              <a:effectLst/>
              <a:latin typeface="Arial" pitchFamily="34" charset="0"/>
              <a:cs typeface="Arial" pitchFamily="34" charset="0"/>
            </a:endParaRPr>
          </a:p>
        </p:txBody>
      </p:sp>
      <p:sp>
        <p:nvSpPr>
          <p:cNvPr id="168966" name="Line 6"/>
          <p:cNvSpPr>
            <a:spLocks noChangeShapeType="1"/>
          </p:cNvSpPr>
          <p:nvPr/>
        </p:nvSpPr>
        <p:spPr bwMode="auto">
          <a:xfrm>
            <a:off x="1938338" y="4038600"/>
            <a:ext cx="838200" cy="0"/>
          </a:xfrm>
          <a:prstGeom prst="line">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US"/>
          </a:p>
        </p:txBody>
      </p:sp>
      <p:sp>
        <p:nvSpPr>
          <p:cNvPr id="168967" name="Line 7"/>
          <p:cNvSpPr>
            <a:spLocks noChangeShapeType="1"/>
          </p:cNvSpPr>
          <p:nvPr/>
        </p:nvSpPr>
        <p:spPr bwMode="auto">
          <a:xfrm>
            <a:off x="3690938" y="4038600"/>
            <a:ext cx="762000" cy="0"/>
          </a:xfrm>
          <a:prstGeom prst="line">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68968" name="Line 8"/>
          <p:cNvSpPr>
            <a:spLocks noChangeShapeType="1"/>
          </p:cNvSpPr>
          <p:nvPr/>
        </p:nvSpPr>
        <p:spPr bwMode="auto">
          <a:xfrm>
            <a:off x="4605338" y="4038600"/>
            <a:ext cx="990600" cy="0"/>
          </a:xfrm>
          <a:prstGeom prst="line">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US"/>
          </a:p>
        </p:txBody>
      </p:sp>
      <p:sp>
        <p:nvSpPr>
          <p:cNvPr id="168969" name="Line 9"/>
          <p:cNvSpPr>
            <a:spLocks noChangeShapeType="1"/>
          </p:cNvSpPr>
          <p:nvPr/>
        </p:nvSpPr>
        <p:spPr bwMode="auto">
          <a:xfrm>
            <a:off x="6434138" y="4038600"/>
            <a:ext cx="762000" cy="0"/>
          </a:xfrm>
          <a:prstGeom prst="line">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68970" name="AutoShape 10"/>
          <p:cNvSpPr>
            <a:spLocks/>
          </p:cNvSpPr>
          <p:nvPr/>
        </p:nvSpPr>
        <p:spPr bwMode="auto">
          <a:xfrm rot="-5400000">
            <a:off x="3500438" y="4000500"/>
            <a:ext cx="304800" cy="1752600"/>
          </a:xfrm>
          <a:prstGeom prst="leftBrace">
            <a:avLst>
              <a:gd name="adj1" fmla="val 47917"/>
              <a:gd name="adj2" fmla="val 50000"/>
            </a:avLst>
          </a:prstGeom>
          <a:noFill/>
          <a:ln w="9525">
            <a:solidFill>
              <a:srgbClr val="000000"/>
            </a:solidFill>
            <a:round/>
            <a:headEnd/>
            <a:tailEnd/>
          </a:ln>
        </p:spPr>
        <p:txBody>
          <a:bodyPr vert="horz" wrap="square" lIns="91440" tIns="45720" rIns="91440" bIns="45720" numCol="1" anchor="ctr" anchorCtr="0" compatLnSpc="1">
            <a:prstTxWarp prst="textNoShape">
              <a:avLst/>
            </a:prstTxWarp>
          </a:bodyPr>
          <a:lstStyle/>
          <a:p>
            <a:endParaRPr lang="en-US"/>
          </a:p>
        </p:txBody>
      </p:sp>
      <p:sp>
        <p:nvSpPr>
          <p:cNvPr id="168971" name="AutoShape 11"/>
          <p:cNvSpPr>
            <a:spLocks/>
          </p:cNvSpPr>
          <p:nvPr/>
        </p:nvSpPr>
        <p:spPr bwMode="auto">
          <a:xfrm rot="-5400000">
            <a:off x="5405438" y="3924300"/>
            <a:ext cx="304800" cy="1752600"/>
          </a:xfrm>
          <a:prstGeom prst="leftBrace">
            <a:avLst>
              <a:gd name="adj1" fmla="val 47917"/>
              <a:gd name="adj2" fmla="val 50000"/>
            </a:avLst>
          </a:prstGeom>
          <a:noFill/>
          <a:ln w="9525">
            <a:solidFill>
              <a:srgbClr val="000000"/>
            </a:solidFill>
            <a:round/>
            <a:headEnd/>
            <a:tailEnd/>
          </a:ln>
        </p:spPr>
        <p:txBody>
          <a:bodyPr vert="horz" wrap="square" lIns="91440" tIns="45720" rIns="91440" bIns="45720" numCol="1" anchor="ctr" anchorCtr="0" compatLnSpc="1">
            <a:prstTxWarp prst="textNoShape">
              <a:avLst/>
            </a:prstTxWarp>
          </a:bodyPr>
          <a:lstStyle/>
          <a:p>
            <a:endParaRPr lang="en-US"/>
          </a:p>
        </p:txBody>
      </p:sp>
      <p:sp>
        <p:nvSpPr>
          <p:cNvPr id="168972" name="Text Box 12"/>
          <p:cNvSpPr txBox="1">
            <a:spLocks noChangeArrowheads="1"/>
          </p:cNvSpPr>
          <p:nvPr/>
        </p:nvSpPr>
        <p:spPr bwMode="auto">
          <a:xfrm>
            <a:off x="3102946" y="5105400"/>
            <a:ext cx="1262062" cy="30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smtClean="0">
                <a:ln>
                  <a:noFill/>
                </a:ln>
                <a:solidFill>
                  <a:srgbClr val="000000"/>
                </a:solidFill>
                <a:effectLst/>
                <a:latin typeface="Calibri" pitchFamily="34" charset="0"/>
                <a:cs typeface="Arial" pitchFamily="34" charset="0"/>
              </a:rPr>
              <a:t>26 ways each</a:t>
            </a:r>
            <a:endParaRPr kumimoji="0" lang="en-US" sz="1400" b="1" i="0" u="none" strike="noStrike" cap="none" normalizeH="0" baseline="0" dirty="0" smtClean="0">
              <a:ln>
                <a:noFill/>
              </a:ln>
              <a:solidFill>
                <a:schemeClr val="tx1"/>
              </a:solidFill>
              <a:effectLst/>
              <a:latin typeface="Arial" pitchFamily="34" charset="0"/>
              <a:cs typeface="Arial" pitchFamily="34" charset="0"/>
            </a:endParaRPr>
          </a:p>
        </p:txBody>
      </p:sp>
      <p:sp>
        <p:nvSpPr>
          <p:cNvPr id="168973" name="Text Box 13"/>
          <p:cNvSpPr txBox="1">
            <a:spLocks noChangeArrowheads="1"/>
          </p:cNvSpPr>
          <p:nvPr/>
        </p:nvSpPr>
        <p:spPr bwMode="auto">
          <a:xfrm>
            <a:off x="4987924" y="5067300"/>
            <a:ext cx="1184275"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smtClean="0">
                <a:ln>
                  <a:noFill/>
                </a:ln>
                <a:solidFill>
                  <a:srgbClr val="000000"/>
                </a:solidFill>
                <a:effectLst/>
                <a:latin typeface="Calibri" pitchFamily="34" charset="0"/>
                <a:cs typeface="Arial" pitchFamily="34" charset="0"/>
              </a:rPr>
              <a:t>10 ways each</a:t>
            </a:r>
            <a:endParaRPr kumimoji="0" lang="en-US" sz="1400" b="1" i="0" u="none" strike="noStrike" cap="none" normalizeH="0" baseline="0" dirty="0" smtClean="0">
              <a:ln>
                <a:noFill/>
              </a:ln>
              <a:solidFill>
                <a:schemeClr val="tx1"/>
              </a:solidFill>
              <a:effectLst/>
              <a:latin typeface="Arial" pitchFamily="34" charset="0"/>
              <a:cs typeface="Arial" pitchFamily="34" charset="0"/>
            </a:endParaRPr>
          </a:p>
        </p:txBody>
      </p:sp>
      <p:sp>
        <p:nvSpPr>
          <p:cNvPr id="168974" name="Text Box 14"/>
          <p:cNvSpPr txBox="1">
            <a:spLocks noChangeArrowheads="1"/>
          </p:cNvSpPr>
          <p:nvPr/>
        </p:nvSpPr>
        <p:spPr bwMode="auto">
          <a:xfrm>
            <a:off x="1752600" y="5067300"/>
            <a:ext cx="914400" cy="3508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smtClean="0">
                <a:ln>
                  <a:noFill/>
                </a:ln>
                <a:solidFill>
                  <a:srgbClr val="000000"/>
                </a:solidFill>
                <a:effectLst/>
                <a:latin typeface="Calibri" pitchFamily="34" charset="0"/>
                <a:cs typeface="Arial" pitchFamily="34" charset="0"/>
              </a:rPr>
              <a:t>one way</a:t>
            </a:r>
            <a:endParaRPr kumimoji="0" lang="en-US" sz="1400" b="1" i="0" u="none" strike="noStrike" cap="none" normalizeH="0" baseline="0" dirty="0" smtClean="0">
              <a:ln>
                <a:noFill/>
              </a:ln>
              <a:solidFill>
                <a:schemeClr val="tx1"/>
              </a:solidFill>
              <a:effectLst/>
              <a:latin typeface="Arial" pitchFamily="34" charset="0"/>
              <a:cs typeface="Arial" pitchFamily="34" charset="0"/>
            </a:endParaRPr>
          </a:p>
        </p:txBody>
      </p:sp>
      <p:sp>
        <p:nvSpPr>
          <p:cNvPr id="168975" name="Line 15"/>
          <p:cNvSpPr>
            <a:spLocks noChangeShapeType="1"/>
          </p:cNvSpPr>
          <p:nvPr/>
        </p:nvSpPr>
        <p:spPr bwMode="auto">
          <a:xfrm>
            <a:off x="2166938" y="4651044"/>
            <a:ext cx="0" cy="38100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68976" name="Text Box 16"/>
          <p:cNvSpPr txBox="1">
            <a:spLocks noChangeArrowheads="1"/>
          </p:cNvSpPr>
          <p:nvPr/>
        </p:nvSpPr>
        <p:spPr bwMode="auto">
          <a:xfrm>
            <a:off x="6359856" y="5078104"/>
            <a:ext cx="969962"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smtClean="0">
                <a:ln>
                  <a:noFill/>
                </a:ln>
                <a:solidFill>
                  <a:srgbClr val="000000"/>
                </a:solidFill>
                <a:effectLst/>
                <a:latin typeface="Calibri" pitchFamily="34" charset="0"/>
                <a:cs typeface="Arial" pitchFamily="34" charset="0"/>
              </a:rPr>
              <a:t>one way</a:t>
            </a:r>
            <a:endParaRPr kumimoji="0" lang="en-US" sz="1400" b="1" i="0" u="none" strike="noStrike" cap="none" normalizeH="0" baseline="0" dirty="0" smtClean="0">
              <a:ln>
                <a:noFill/>
              </a:ln>
              <a:solidFill>
                <a:schemeClr val="tx1"/>
              </a:solidFill>
              <a:effectLst/>
              <a:latin typeface="Arial" pitchFamily="34" charset="0"/>
              <a:cs typeface="Arial" pitchFamily="34" charset="0"/>
            </a:endParaRPr>
          </a:p>
        </p:txBody>
      </p:sp>
      <p:sp>
        <p:nvSpPr>
          <p:cNvPr id="168977" name="Line 17"/>
          <p:cNvSpPr>
            <a:spLocks noChangeShapeType="1"/>
          </p:cNvSpPr>
          <p:nvPr/>
        </p:nvSpPr>
        <p:spPr bwMode="auto">
          <a:xfrm>
            <a:off x="6815138" y="4651044"/>
            <a:ext cx="0" cy="38100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68978" name="Line 18"/>
          <p:cNvSpPr>
            <a:spLocks noChangeShapeType="1"/>
          </p:cNvSpPr>
          <p:nvPr/>
        </p:nvSpPr>
        <p:spPr bwMode="auto">
          <a:xfrm>
            <a:off x="1864056" y="4643656"/>
            <a:ext cx="5486400" cy="0"/>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79" name="Rectangle 19"/>
          <p:cNvSpPr>
            <a:spLocks noChangeArrowheads="1"/>
          </p:cNvSpPr>
          <p:nvPr/>
        </p:nvSpPr>
        <p:spPr bwMode="auto">
          <a:xfrm>
            <a:off x="1828800" y="4253552"/>
            <a:ext cx="914400" cy="3508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smtClean="0">
                <a:ln>
                  <a:noFill/>
                </a:ln>
                <a:solidFill>
                  <a:srgbClr val="000000"/>
                </a:solidFill>
                <a:effectLst/>
                <a:latin typeface="Calibri" pitchFamily="34" charset="0"/>
                <a:cs typeface="Arial" pitchFamily="34" charset="0"/>
              </a:rPr>
              <a:t>A</a:t>
            </a:r>
            <a:endParaRPr kumimoji="0" lang="en-US" sz="1400" b="1" i="0" u="none" strike="noStrike" cap="none" normalizeH="0" baseline="0" dirty="0" smtClean="0">
              <a:ln>
                <a:noFill/>
              </a:ln>
              <a:solidFill>
                <a:schemeClr val="tx1"/>
              </a:solidFill>
              <a:effectLst/>
              <a:latin typeface="Arial" pitchFamily="34" charset="0"/>
              <a:cs typeface="Arial" pitchFamily="34" charset="0"/>
            </a:endParaRPr>
          </a:p>
        </p:txBody>
      </p:sp>
      <p:sp>
        <p:nvSpPr>
          <p:cNvPr id="168980" name="Line 20"/>
          <p:cNvSpPr>
            <a:spLocks noChangeShapeType="1"/>
          </p:cNvSpPr>
          <p:nvPr/>
        </p:nvSpPr>
        <p:spPr bwMode="auto">
          <a:xfrm>
            <a:off x="1890712" y="4640262"/>
            <a:ext cx="5486400" cy="0"/>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1" name="Line 21"/>
          <p:cNvSpPr>
            <a:spLocks noChangeShapeType="1"/>
          </p:cNvSpPr>
          <p:nvPr/>
        </p:nvSpPr>
        <p:spPr bwMode="auto">
          <a:xfrm>
            <a:off x="1862777" y="4297362"/>
            <a:ext cx="14287" cy="350838"/>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2" name="Line 22"/>
          <p:cNvSpPr>
            <a:spLocks noChangeShapeType="1"/>
          </p:cNvSpPr>
          <p:nvPr/>
        </p:nvSpPr>
        <p:spPr bwMode="auto">
          <a:xfrm>
            <a:off x="2790825" y="4297362"/>
            <a:ext cx="14287" cy="350838"/>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3" name="Line 23"/>
          <p:cNvSpPr>
            <a:spLocks noChangeShapeType="1"/>
          </p:cNvSpPr>
          <p:nvPr/>
        </p:nvSpPr>
        <p:spPr bwMode="auto">
          <a:xfrm>
            <a:off x="3705225" y="4297362"/>
            <a:ext cx="14287" cy="350838"/>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4" name="Line 24"/>
          <p:cNvSpPr>
            <a:spLocks noChangeShapeType="1"/>
          </p:cNvSpPr>
          <p:nvPr/>
        </p:nvSpPr>
        <p:spPr bwMode="auto">
          <a:xfrm>
            <a:off x="4619625" y="4291012"/>
            <a:ext cx="14287" cy="349250"/>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5" name="Line 25"/>
          <p:cNvSpPr>
            <a:spLocks noChangeShapeType="1"/>
          </p:cNvSpPr>
          <p:nvPr/>
        </p:nvSpPr>
        <p:spPr bwMode="auto">
          <a:xfrm>
            <a:off x="5534025" y="4297362"/>
            <a:ext cx="14287" cy="350838"/>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6" name="Line 26"/>
          <p:cNvSpPr>
            <a:spLocks noChangeShapeType="1"/>
          </p:cNvSpPr>
          <p:nvPr/>
        </p:nvSpPr>
        <p:spPr bwMode="auto">
          <a:xfrm>
            <a:off x="6448425" y="4297362"/>
            <a:ext cx="14287" cy="350838"/>
          </a:xfrm>
          <a:prstGeom prst="line">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87" name="Line 27"/>
          <p:cNvSpPr>
            <a:spLocks noChangeShapeType="1"/>
          </p:cNvSpPr>
          <p:nvPr/>
        </p:nvSpPr>
        <p:spPr bwMode="auto">
          <a:xfrm>
            <a:off x="7363464" y="4283714"/>
            <a:ext cx="14288" cy="350838"/>
          </a:xfrm>
          <a:prstGeom prst="line">
            <a:avLst/>
          </a:prstGeom>
          <a:noFill/>
          <a:ln w="28575" cap="sq">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997" name="Rectangle 37"/>
          <p:cNvSpPr>
            <a:spLocks noChangeArrowheads="1"/>
          </p:cNvSpPr>
          <p:nvPr/>
        </p:nvSpPr>
        <p:spPr bwMode="auto">
          <a:xfrm>
            <a:off x="6463352" y="4267200"/>
            <a:ext cx="914400" cy="3508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rgbClr val="000000"/>
                </a:solidFill>
                <a:effectLst/>
                <a:latin typeface="Times New Roman" pitchFamily="18" charset="0"/>
                <a:cs typeface="Arial" pitchFamily="34" charset="0"/>
              </a:rPr>
              <a:t>0</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2000"/>
                                        <p:tgtEl>
                                          <p:spTgt spid="4">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fade">
                                      <p:cBhvr>
                                        <p:cTn id="37"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endParaRPr lang="en-US" b="1" u="sng"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27</a:t>
            </a:fld>
            <a:endParaRPr lang="en-US"/>
          </a:p>
        </p:txBody>
      </p:sp>
      <p:sp>
        <p:nvSpPr>
          <p:cNvPr id="4" name="Content Placeholder 3"/>
          <p:cNvSpPr>
            <a:spLocks noGrp="1"/>
          </p:cNvSpPr>
          <p:nvPr>
            <p:ph sz="quarter" idx="1"/>
          </p:nvPr>
        </p:nvSpPr>
        <p:spPr>
          <a:xfrm>
            <a:off x="457200" y="1219200"/>
            <a:ext cx="8229600" cy="5257800"/>
          </a:xfrm>
        </p:spPr>
        <p:txBody>
          <a:bodyPr>
            <a:normAutofit/>
          </a:bodyPr>
          <a:lstStyle/>
          <a:p>
            <a:r>
              <a:rPr lang="en-US" dirty="0" smtClean="0"/>
              <a:t>A </a:t>
            </a:r>
            <a:r>
              <a:rPr lang="en-US" dirty="0" smtClean="0">
                <a:solidFill>
                  <a:srgbClr val="FF0000"/>
                </a:solidFill>
              </a:rPr>
              <a:t>variable name</a:t>
            </a:r>
            <a:r>
              <a:rPr lang="en-US" dirty="0" smtClean="0"/>
              <a:t> in a programming language must be either a </a:t>
            </a:r>
            <a:r>
              <a:rPr lang="en-US" dirty="0" smtClean="0">
                <a:solidFill>
                  <a:srgbClr val="FF0000"/>
                </a:solidFill>
              </a:rPr>
              <a:t>letter</a:t>
            </a:r>
            <a:r>
              <a:rPr lang="en-US" dirty="0" smtClean="0"/>
              <a:t> or a </a:t>
            </a:r>
            <a:r>
              <a:rPr lang="en-US" dirty="0" smtClean="0">
                <a:solidFill>
                  <a:srgbClr val="FF0000"/>
                </a:solidFill>
              </a:rPr>
              <a:t>letter</a:t>
            </a:r>
            <a:r>
              <a:rPr lang="en-US" dirty="0" smtClean="0"/>
              <a:t> followed by a </a:t>
            </a:r>
            <a:r>
              <a:rPr lang="en-US" dirty="0" smtClean="0">
                <a:solidFill>
                  <a:srgbClr val="FF0000"/>
                </a:solidFill>
              </a:rPr>
              <a:t>digit</a:t>
            </a:r>
            <a:r>
              <a:rPr lang="en-US" dirty="0" smtClean="0"/>
              <a:t>.</a:t>
            </a:r>
          </a:p>
          <a:p>
            <a:endParaRPr lang="en-US" dirty="0" smtClean="0"/>
          </a:p>
          <a:p>
            <a:r>
              <a:rPr lang="en-US" dirty="0" smtClean="0"/>
              <a:t>How many </a:t>
            </a:r>
            <a:r>
              <a:rPr lang="en-US" dirty="0" smtClean="0">
                <a:solidFill>
                  <a:srgbClr val="FF0000"/>
                </a:solidFill>
              </a:rPr>
              <a:t>different variable names</a:t>
            </a:r>
            <a:r>
              <a:rPr lang="en-US" dirty="0" smtClean="0"/>
              <a:t> are possible?</a:t>
            </a:r>
            <a:endParaRPr lang="en-US" dirty="0" smtClean="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SOLUTION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28</a:t>
            </a:fld>
            <a:endParaRPr lang="en-US"/>
          </a:p>
        </p:txBody>
      </p:sp>
      <p:sp>
        <p:nvSpPr>
          <p:cNvPr id="4" name="Content Placeholder 3"/>
          <p:cNvSpPr>
            <a:spLocks noGrp="1"/>
          </p:cNvSpPr>
          <p:nvPr>
            <p:ph sz="quarter" idx="1"/>
          </p:nvPr>
        </p:nvSpPr>
        <p:spPr>
          <a:xfrm>
            <a:off x="457200" y="1219200"/>
            <a:ext cx="8229600" cy="5105400"/>
          </a:xfrm>
        </p:spPr>
        <p:txBody>
          <a:bodyPr>
            <a:normAutofit fontScale="92500" lnSpcReduction="10000"/>
          </a:bodyPr>
          <a:lstStyle/>
          <a:p>
            <a:r>
              <a:rPr lang="en-US" dirty="0" smtClean="0"/>
              <a:t>First consider </a:t>
            </a:r>
            <a:r>
              <a:rPr lang="en-US" dirty="0" smtClean="0">
                <a:solidFill>
                  <a:srgbClr val="FF0000"/>
                </a:solidFill>
              </a:rPr>
              <a:t>variable</a:t>
            </a:r>
            <a:r>
              <a:rPr lang="en-US" dirty="0" smtClean="0"/>
              <a:t> names </a:t>
            </a:r>
            <a:r>
              <a:rPr lang="en-US" dirty="0" smtClean="0">
                <a:solidFill>
                  <a:srgbClr val="FF0000"/>
                </a:solidFill>
              </a:rPr>
              <a:t>one character</a:t>
            </a:r>
            <a:r>
              <a:rPr lang="en-US" dirty="0" smtClean="0"/>
              <a:t> in length.</a:t>
            </a:r>
          </a:p>
          <a:p>
            <a:r>
              <a:rPr lang="en-US" dirty="0" smtClean="0"/>
              <a:t>Since such names consist of a </a:t>
            </a:r>
            <a:r>
              <a:rPr lang="en-US" dirty="0" smtClean="0">
                <a:solidFill>
                  <a:srgbClr val="FF0000"/>
                </a:solidFill>
              </a:rPr>
              <a:t>single letter</a:t>
            </a:r>
            <a:r>
              <a:rPr lang="en-US" dirty="0" smtClean="0"/>
              <a:t>, there are </a:t>
            </a:r>
            <a:r>
              <a:rPr lang="en-US" dirty="0" smtClean="0">
                <a:solidFill>
                  <a:srgbClr val="FF0000"/>
                </a:solidFill>
              </a:rPr>
              <a:t>26 variable names</a:t>
            </a:r>
            <a:r>
              <a:rPr lang="en-US" dirty="0" smtClean="0"/>
              <a:t> of length </a:t>
            </a:r>
            <a:r>
              <a:rPr lang="en-US" dirty="0" smtClean="0">
                <a:solidFill>
                  <a:srgbClr val="FF0000"/>
                </a:solidFill>
              </a:rPr>
              <a:t>1</a:t>
            </a:r>
            <a:r>
              <a:rPr lang="en-US" dirty="0" smtClean="0"/>
              <a:t>.</a:t>
            </a:r>
          </a:p>
          <a:p>
            <a:endParaRPr lang="en-US" dirty="0" smtClean="0"/>
          </a:p>
          <a:p>
            <a:r>
              <a:rPr lang="en-US" dirty="0" smtClean="0"/>
              <a:t>Next, consider </a:t>
            </a:r>
            <a:r>
              <a:rPr lang="en-US" dirty="0" smtClean="0">
                <a:solidFill>
                  <a:srgbClr val="FF0000"/>
                </a:solidFill>
              </a:rPr>
              <a:t>variable</a:t>
            </a:r>
            <a:r>
              <a:rPr lang="en-US" dirty="0" smtClean="0"/>
              <a:t> names </a:t>
            </a:r>
            <a:r>
              <a:rPr lang="en-US" dirty="0" smtClean="0">
                <a:solidFill>
                  <a:srgbClr val="FF0000"/>
                </a:solidFill>
              </a:rPr>
              <a:t>two characters</a:t>
            </a:r>
            <a:r>
              <a:rPr lang="en-US" dirty="0" smtClean="0"/>
              <a:t> in length. </a:t>
            </a:r>
          </a:p>
          <a:p>
            <a:pPr>
              <a:buNone/>
            </a:pPr>
            <a:r>
              <a:rPr lang="en-US" dirty="0" smtClean="0"/>
              <a:t>	Since the </a:t>
            </a:r>
            <a:r>
              <a:rPr lang="en-US" dirty="0" smtClean="0">
                <a:solidFill>
                  <a:srgbClr val="FF0000"/>
                </a:solidFill>
              </a:rPr>
              <a:t>first character</a:t>
            </a:r>
            <a:r>
              <a:rPr lang="en-US" dirty="0" smtClean="0"/>
              <a:t> is a </a:t>
            </a:r>
            <a:r>
              <a:rPr lang="en-US" dirty="0" smtClean="0">
                <a:solidFill>
                  <a:srgbClr val="FF0000"/>
                </a:solidFill>
              </a:rPr>
              <a:t>letter</a:t>
            </a:r>
            <a:r>
              <a:rPr lang="en-US" dirty="0" smtClean="0"/>
              <a:t>, there are </a:t>
            </a:r>
            <a:r>
              <a:rPr lang="en-US" dirty="0" smtClean="0">
                <a:solidFill>
                  <a:srgbClr val="FF0000"/>
                </a:solidFill>
              </a:rPr>
              <a:t>26</a:t>
            </a:r>
            <a:r>
              <a:rPr lang="en-US" dirty="0" smtClean="0"/>
              <a:t> ways to choose it. The </a:t>
            </a:r>
            <a:r>
              <a:rPr lang="en-US" dirty="0" smtClean="0">
                <a:solidFill>
                  <a:srgbClr val="FF0000"/>
                </a:solidFill>
              </a:rPr>
              <a:t>second character</a:t>
            </a:r>
            <a:r>
              <a:rPr lang="en-US" dirty="0" smtClean="0"/>
              <a:t> is a </a:t>
            </a:r>
            <a:r>
              <a:rPr lang="en-US" dirty="0" smtClean="0">
                <a:solidFill>
                  <a:srgbClr val="FF0000"/>
                </a:solidFill>
              </a:rPr>
              <a:t>digit</a:t>
            </a:r>
            <a:r>
              <a:rPr lang="en-US" dirty="0" smtClean="0"/>
              <a:t>, there are </a:t>
            </a:r>
            <a:r>
              <a:rPr lang="en-US" dirty="0" smtClean="0">
                <a:solidFill>
                  <a:srgbClr val="FF0000"/>
                </a:solidFill>
              </a:rPr>
              <a:t>10</a:t>
            </a:r>
            <a:r>
              <a:rPr lang="en-US" dirty="0" smtClean="0"/>
              <a:t> ways to choose it. </a:t>
            </a:r>
          </a:p>
          <a:p>
            <a:pPr>
              <a:buNone/>
            </a:pPr>
            <a:r>
              <a:rPr lang="en-US" dirty="0" smtClean="0"/>
              <a:t>	Hence, to construct </a:t>
            </a:r>
            <a:r>
              <a:rPr lang="en-US" dirty="0" smtClean="0">
                <a:solidFill>
                  <a:srgbClr val="FF0000"/>
                </a:solidFill>
              </a:rPr>
              <a:t>variable name</a:t>
            </a:r>
            <a:r>
              <a:rPr lang="en-US" dirty="0" smtClean="0"/>
              <a:t> of </a:t>
            </a:r>
            <a:r>
              <a:rPr lang="en-US" dirty="0" smtClean="0">
                <a:solidFill>
                  <a:srgbClr val="FF0000"/>
                </a:solidFill>
              </a:rPr>
              <a:t>two characters</a:t>
            </a:r>
            <a:r>
              <a:rPr lang="en-US" dirty="0" smtClean="0"/>
              <a:t> in length, there are </a:t>
            </a:r>
            <a:r>
              <a:rPr lang="en-US" dirty="0" smtClean="0">
                <a:solidFill>
                  <a:srgbClr val="FF0000"/>
                </a:solidFill>
              </a:rPr>
              <a:t>26 </a:t>
            </a:r>
            <a:r>
              <a:rPr lang="en-US" dirty="0" smtClean="0">
                <a:solidFill>
                  <a:srgbClr val="FF0000"/>
                </a:solidFill>
                <a:sym typeface="Times New Roman"/>
              </a:rPr>
              <a:t>x</a:t>
            </a:r>
            <a:r>
              <a:rPr lang="en-US" dirty="0" smtClean="0">
                <a:solidFill>
                  <a:srgbClr val="FF0000"/>
                </a:solidFill>
              </a:rPr>
              <a:t>10 = 260 ways</a:t>
            </a:r>
            <a:r>
              <a:rPr lang="en-US" dirty="0" smtClean="0"/>
              <a:t>.</a:t>
            </a:r>
          </a:p>
          <a:p>
            <a:pPr>
              <a:buNone/>
            </a:pPr>
            <a:endParaRPr lang="en-US" dirty="0" smtClean="0"/>
          </a:p>
          <a:p>
            <a:r>
              <a:rPr lang="en-US" dirty="0" smtClean="0"/>
              <a:t>Finally, by sum rule, there are </a:t>
            </a:r>
            <a:r>
              <a:rPr lang="en-US" dirty="0" smtClean="0">
                <a:solidFill>
                  <a:srgbClr val="FF0000"/>
                </a:solidFill>
              </a:rPr>
              <a:t>26 + 260 = 286</a:t>
            </a:r>
            <a:r>
              <a:rPr lang="en-US" dirty="0" smtClean="0"/>
              <a:t> possible </a:t>
            </a:r>
            <a:r>
              <a:rPr lang="en-US" dirty="0" smtClean="0">
                <a:solidFill>
                  <a:srgbClr val="FF0000"/>
                </a:solidFill>
              </a:rPr>
              <a:t>variable names</a:t>
            </a:r>
            <a:r>
              <a:rPr lang="en-US" dirty="0" smtClean="0"/>
              <a:t> in the programming language.</a:t>
            </a:r>
          </a:p>
          <a:p>
            <a:endParaRPr lang="pt-BR"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endParaRPr lang="en-US" b="1" u="sng"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29</a:t>
            </a:fld>
            <a:endParaRPr lang="en-US"/>
          </a:p>
        </p:txBody>
      </p:sp>
      <p:sp>
        <p:nvSpPr>
          <p:cNvPr id="4" name="Content Placeholder 3"/>
          <p:cNvSpPr>
            <a:spLocks noGrp="1"/>
          </p:cNvSpPr>
          <p:nvPr>
            <p:ph sz="quarter" idx="1"/>
          </p:nvPr>
        </p:nvSpPr>
        <p:spPr/>
        <p:txBody>
          <a:bodyPr/>
          <a:lstStyle/>
          <a:p>
            <a:r>
              <a:rPr lang="en-US" dirty="0" smtClean="0"/>
              <a:t> A computer </a:t>
            </a:r>
            <a:r>
              <a:rPr lang="en-US" dirty="0" smtClean="0">
                <a:solidFill>
                  <a:srgbClr val="FF0000"/>
                </a:solidFill>
              </a:rPr>
              <a:t>access code</a:t>
            </a:r>
            <a:r>
              <a:rPr lang="en-US" dirty="0" smtClean="0"/>
              <a:t> word consists of from </a:t>
            </a:r>
            <a:r>
              <a:rPr lang="en-US" dirty="0" smtClean="0">
                <a:solidFill>
                  <a:srgbClr val="FF0000"/>
                </a:solidFill>
              </a:rPr>
              <a:t>one</a:t>
            </a:r>
            <a:r>
              <a:rPr lang="en-US" dirty="0" smtClean="0"/>
              <a:t> to </a:t>
            </a:r>
            <a:r>
              <a:rPr lang="en-US" dirty="0" smtClean="0">
                <a:solidFill>
                  <a:srgbClr val="FF0000"/>
                </a:solidFill>
              </a:rPr>
              <a:t>three</a:t>
            </a:r>
            <a:r>
              <a:rPr lang="en-US" dirty="0" smtClean="0"/>
              <a:t> letters of </a:t>
            </a:r>
            <a:r>
              <a:rPr lang="en-US" dirty="0" smtClean="0">
                <a:solidFill>
                  <a:srgbClr val="FF0000"/>
                </a:solidFill>
              </a:rPr>
              <a:t>English</a:t>
            </a:r>
            <a:r>
              <a:rPr lang="en-US" dirty="0" smtClean="0"/>
              <a:t> alphabets with </a:t>
            </a:r>
            <a:r>
              <a:rPr lang="en-US" dirty="0" smtClean="0">
                <a:solidFill>
                  <a:srgbClr val="FF0000"/>
                </a:solidFill>
              </a:rPr>
              <a:t>repetitions</a:t>
            </a:r>
            <a:r>
              <a:rPr lang="en-US" dirty="0" smtClean="0"/>
              <a:t> allowed. </a:t>
            </a:r>
          </a:p>
          <a:p>
            <a:pPr>
              <a:buNone/>
            </a:pPr>
            <a:endParaRPr lang="en-US" dirty="0" smtClean="0"/>
          </a:p>
          <a:p>
            <a:r>
              <a:rPr lang="en-US" dirty="0" smtClean="0"/>
              <a:t>How many </a:t>
            </a:r>
            <a:r>
              <a:rPr lang="en-US" dirty="0" smtClean="0">
                <a:solidFill>
                  <a:srgbClr val="FF0000"/>
                </a:solidFill>
              </a:rPr>
              <a:t>different code</a:t>
            </a:r>
            <a:r>
              <a:rPr lang="en-US" dirty="0" smtClean="0"/>
              <a:t> words are possible.</a:t>
            </a:r>
            <a:endParaRPr lang="en-US" dirty="0" smtClean="0">
              <a:solidFill>
                <a:srgbClr val="C00000"/>
              </a:solidFill>
            </a:endParaRP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algn="ctr"/>
            <a:r>
              <a:rPr lang="en-US" b="1" u="sng" dirty="0" smtClean="0">
                <a:solidFill>
                  <a:srgbClr val="0070C0"/>
                </a:solidFill>
              </a:rPr>
              <a:t>SOLUTION</a:t>
            </a:r>
            <a:endParaRPr lang="en-US" dirty="0"/>
          </a:p>
        </p:txBody>
      </p:sp>
      <p:sp>
        <p:nvSpPr>
          <p:cNvPr id="3" name="Slide Number Placeholder 2"/>
          <p:cNvSpPr>
            <a:spLocks noGrp="1"/>
          </p:cNvSpPr>
          <p:nvPr>
            <p:ph type="sldNum" sz="quarter" idx="12"/>
          </p:nvPr>
        </p:nvSpPr>
        <p:spPr/>
        <p:txBody>
          <a:bodyPr/>
          <a:lstStyle/>
          <a:p>
            <a:fld id="{25E19944-04AC-4CD8-BA69-63C2A678C21A}" type="slidenum">
              <a:rPr lang="en-US" smtClean="0"/>
              <a:pPr/>
              <a:t>30</a:t>
            </a:fld>
            <a:endParaRPr lang="en-US"/>
          </a:p>
        </p:txBody>
      </p:sp>
      <p:sp>
        <p:nvSpPr>
          <p:cNvPr id="9" name="Content Placeholder 8"/>
          <p:cNvSpPr>
            <a:spLocks noGrp="1"/>
          </p:cNvSpPr>
          <p:nvPr>
            <p:ph sz="quarter" idx="1"/>
          </p:nvPr>
        </p:nvSpPr>
        <p:spPr/>
        <p:txBody>
          <a:bodyPr/>
          <a:lstStyle/>
          <a:p>
            <a:pPr>
              <a:buNone/>
            </a:pPr>
            <a:r>
              <a:rPr lang="en-US" dirty="0" smtClean="0"/>
              <a:t>		</a:t>
            </a:r>
            <a:r>
              <a:rPr lang="en-US" dirty="0" smtClean="0">
                <a:solidFill>
                  <a:srgbClr val="FF0000"/>
                </a:solidFill>
              </a:rPr>
              <a:t>Number of code</a:t>
            </a:r>
            <a:r>
              <a:rPr lang="en-US" dirty="0" smtClean="0"/>
              <a:t> words of length 1 = </a:t>
            </a:r>
            <a:r>
              <a:rPr lang="en-US" dirty="0" smtClean="0">
                <a:solidFill>
                  <a:srgbClr val="FF0000"/>
                </a:solidFill>
              </a:rPr>
              <a:t>26</a:t>
            </a:r>
            <a:r>
              <a:rPr lang="en-US" baseline="30000" dirty="0" smtClean="0">
                <a:solidFill>
                  <a:srgbClr val="FF0000"/>
                </a:solidFill>
              </a:rPr>
              <a:t>1</a:t>
            </a:r>
            <a:endParaRPr lang="en-US" dirty="0" smtClean="0">
              <a:solidFill>
                <a:srgbClr val="FF0000"/>
              </a:solidFill>
            </a:endParaRPr>
          </a:p>
          <a:p>
            <a:pPr>
              <a:buNone/>
            </a:pPr>
            <a:r>
              <a:rPr lang="en-US" dirty="0" smtClean="0"/>
              <a:t>		</a:t>
            </a:r>
            <a:r>
              <a:rPr lang="en-US" dirty="0" smtClean="0">
                <a:solidFill>
                  <a:srgbClr val="FF0000"/>
                </a:solidFill>
              </a:rPr>
              <a:t>Number of code</a:t>
            </a:r>
            <a:r>
              <a:rPr lang="en-US" dirty="0" smtClean="0"/>
              <a:t> words of length 2 = </a:t>
            </a:r>
            <a:r>
              <a:rPr lang="en-US" dirty="0" smtClean="0">
                <a:solidFill>
                  <a:srgbClr val="FF0000"/>
                </a:solidFill>
              </a:rPr>
              <a:t>26</a:t>
            </a:r>
            <a:r>
              <a:rPr lang="en-US" baseline="30000" dirty="0" smtClean="0">
                <a:solidFill>
                  <a:srgbClr val="FF0000"/>
                </a:solidFill>
              </a:rPr>
              <a:t>2</a:t>
            </a:r>
            <a:endParaRPr lang="en-US" dirty="0" smtClean="0">
              <a:solidFill>
                <a:srgbClr val="FF0000"/>
              </a:solidFill>
            </a:endParaRPr>
          </a:p>
          <a:p>
            <a:pPr>
              <a:buNone/>
            </a:pPr>
            <a:r>
              <a:rPr lang="en-US" dirty="0" smtClean="0"/>
              <a:t>		</a:t>
            </a:r>
            <a:r>
              <a:rPr lang="en-US" dirty="0" smtClean="0">
                <a:solidFill>
                  <a:srgbClr val="FF0000"/>
                </a:solidFill>
              </a:rPr>
              <a:t>Number of code</a:t>
            </a:r>
            <a:r>
              <a:rPr lang="en-US" dirty="0" smtClean="0"/>
              <a:t> words of length 3 = </a:t>
            </a:r>
            <a:r>
              <a:rPr lang="en-US" dirty="0" smtClean="0">
                <a:solidFill>
                  <a:srgbClr val="FF0000"/>
                </a:solidFill>
              </a:rPr>
              <a:t>26</a:t>
            </a:r>
            <a:r>
              <a:rPr lang="en-US" baseline="30000" dirty="0" smtClean="0">
                <a:solidFill>
                  <a:srgbClr val="FF0000"/>
                </a:solidFill>
              </a:rPr>
              <a:t>3</a:t>
            </a:r>
            <a:endParaRPr lang="en-US" dirty="0" smtClean="0">
              <a:solidFill>
                <a:srgbClr val="FF0000"/>
              </a:solidFill>
            </a:endParaRPr>
          </a:p>
          <a:p>
            <a:endParaRPr lang="en-US" dirty="0" smtClean="0"/>
          </a:p>
          <a:p>
            <a:pPr>
              <a:buNone/>
            </a:pPr>
            <a:r>
              <a:rPr lang="en-US" dirty="0" smtClean="0"/>
              <a:t>	Hence, the </a:t>
            </a:r>
            <a:r>
              <a:rPr lang="en-US" dirty="0" smtClean="0">
                <a:solidFill>
                  <a:srgbClr val="FF0000"/>
                </a:solidFill>
              </a:rPr>
              <a:t>total number of code</a:t>
            </a:r>
            <a:r>
              <a:rPr lang="en-US" dirty="0" smtClean="0"/>
              <a:t> words</a:t>
            </a:r>
          </a:p>
          <a:p>
            <a:pPr>
              <a:buNone/>
            </a:pPr>
            <a:r>
              <a:rPr lang="en-US" dirty="0" smtClean="0"/>
              <a:t>				 = 26</a:t>
            </a:r>
            <a:r>
              <a:rPr lang="en-US" baseline="30000" dirty="0" smtClean="0"/>
              <a:t>1</a:t>
            </a:r>
            <a:r>
              <a:rPr lang="en-US" dirty="0" smtClean="0"/>
              <a:t>  + 26</a:t>
            </a:r>
            <a:r>
              <a:rPr lang="en-US" baseline="30000" dirty="0" smtClean="0"/>
              <a:t>2</a:t>
            </a:r>
            <a:r>
              <a:rPr lang="en-US" dirty="0" smtClean="0"/>
              <a:t>  + 26</a:t>
            </a:r>
            <a:r>
              <a:rPr lang="en-US" baseline="30000" dirty="0" smtClean="0"/>
              <a:t>3</a:t>
            </a:r>
          </a:p>
          <a:p>
            <a:pPr>
              <a:buNone/>
            </a:pPr>
            <a:r>
              <a:rPr lang="en-US" baseline="30000" dirty="0" smtClean="0"/>
              <a:t>				</a:t>
            </a:r>
            <a:r>
              <a:rPr lang="en-US" dirty="0" smtClean="0"/>
              <a:t> = </a:t>
            </a:r>
            <a:r>
              <a:rPr lang="en-US" dirty="0" smtClean="0">
                <a:solidFill>
                  <a:srgbClr val="FF0000"/>
                </a:solidFill>
              </a:rPr>
              <a:t>18,278</a:t>
            </a:r>
          </a:p>
          <a:p>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u="sng" dirty="0" smtClean="0">
                <a:solidFill>
                  <a:srgbClr val="0070C0"/>
                </a:solidFill>
              </a:rPr>
              <a:t>NUMBER OF ITERATIONS OF A NESTED LOOP</a:t>
            </a:r>
          </a:p>
        </p:txBody>
      </p:sp>
      <p:sp>
        <p:nvSpPr>
          <p:cNvPr id="3" name="Slide Number Placeholder 2"/>
          <p:cNvSpPr>
            <a:spLocks noGrp="1"/>
          </p:cNvSpPr>
          <p:nvPr>
            <p:ph type="sldNum" sz="quarter" idx="12"/>
          </p:nvPr>
        </p:nvSpPr>
        <p:spPr/>
        <p:txBody>
          <a:bodyPr/>
          <a:lstStyle/>
          <a:p>
            <a:fld id="{25E19944-04AC-4CD8-BA69-63C2A678C21A}" type="slidenum">
              <a:rPr lang="en-US" smtClean="0"/>
              <a:pPr/>
              <a:t>31</a:t>
            </a:fld>
            <a:endParaRPr lang="en-US"/>
          </a:p>
        </p:txBody>
      </p:sp>
      <p:sp>
        <p:nvSpPr>
          <p:cNvPr id="4" name="Content Placeholder 3"/>
          <p:cNvSpPr>
            <a:spLocks noGrp="1"/>
          </p:cNvSpPr>
          <p:nvPr>
            <p:ph sz="quarter" idx="1"/>
          </p:nvPr>
        </p:nvSpPr>
        <p:spPr>
          <a:xfrm>
            <a:off x="457200" y="1219200"/>
            <a:ext cx="8229600" cy="5105400"/>
          </a:xfrm>
        </p:spPr>
        <p:txBody>
          <a:bodyPr>
            <a:normAutofit/>
          </a:bodyPr>
          <a:lstStyle/>
          <a:p>
            <a:r>
              <a:rPr lang="en-US" dirty="0" smtClean="0"/>
              <a:t>Determine how many times the </a:t>
            </a:r>
            <a:r>
              <a:rPr lang="en-US" dirty="0" smtClean="0">
                <a:solidFill>
                  <a:srgbClr val="FF0000"/>
                </a:solidFill>
              </a:rPr>
              <a:t>inner loop</a:t>
            </a:r>
            <a:r>
              <a:rPr lang="en-US" dirty="0" smtClean="0"/>
              <a:t> will be </a:t>
            </a:r>
            <a:r>
              <a:rPr lang="en-US" dirty="0" smtClean="0">
                <a:solidFill>
                  <a:srgbClr val="FF0000"/>
                </a:solidFill>
              </a:rPr>
              <a:t>iterated</a:t>
            </a:r>
            <a:r>
              <a:rPr lang="en-US" dirty="0" smtClean="0"/>
              <a:t> when the following </a:t>
            </a:r>
            <a:r>
              <a:rPr lang="en-US" dirty="0" smtClean="0">
                <a:solidFill>
                  <a:srgbClr val="FF0000"/>
                </a:solidFill>
              </a:rPr>
              <a:t>algorithm</a:t>
            </a:r>
            <a:r>
              <a:rPr lang="en-US" dirty="0" smtClean="0"/>
              <a:t> is </a:t>
            </a:r>
            <a:r>
              <a:rPr lang="en-US" dirty="0" smtClean="0">
                <a:solidFill>
                  <a:srgbClr val="FF0000"/>
                </a:solidFill>
              </a:rPr>
              <a:t>implemented</a:t>
            </a:r>
            <a:r>
              <a:rPr lang="en-US" dirty="0" smtClean="0"/>
              <a:t> and run</a:t>
            </a:r>
          </a:p>
          <a:p>
            <a:endParaRPr lang="en-US" dirty="0" smtClean="0"/>
          </a:p>
          <a:p>
            <a:pPr>
              <a:buNone/>
            </a:pPr>
            <a:r>
              <a:rPr lang="en-US" dirty="0" smtClean="0"/>
              <a:t>		for	</a:t>
            </a:r>
            <a:r>
              <a:rPr lang="en-US" dirty="0" err="1" smtClean="0">
                <a:solidFill>
                  <a:srgbClr val="FF0000"/>
                </a:solidFill>
              </a:rPr>
              <a:t>i</a:t>
            </a:r>
            <a:r>
              <a:rPr lang="en-US" dirty="0" smtClean="0">
                <a:solidFill>
                  <a:srgbClr val="FF0000"/>
                </a:solidFill>
              </a:rPr>
              <a:t>: = 1 to 4</a:t>
            </a:r>
            <a:r>
              <a:rPr lang="en-US" dirty="0" smtClean="0"/>
              <a:t>					</a:t>
            </a:r>
          </a:p>
          <a:p>
            <a:pPr>
              <a:buNone/>
            </a:pPr>
            <a:r>
              <a:rPr lang="en-US" dirty="0" smtClean="0"/>
              <a:t>			for 	</a:t>
            </a:r>
            <a:r>
              <a:rPr lang="en-US" dirty="0" smtClean="0">
                <a:solidFill>
                  <a:srgbClr val="FF0000"/>
                </a:solidFill>
              </a:rPr>
              <a:t>j : = 1 to 3</a:t>
            </a:r>
            <a:r>
              <a:rPr lang="en-US" dirty="0" smtClean="0"/>
              <a:t>						[number of statements]			</a:t>
            </a:r>
          </a:p>
          <a:p>
            <a:pPr>
              <a:buNone/>
            </a:pPr>
            <a:r>
              <a:rPr lang="en-US" dirty="0" smtClean="0"/>
              <a:t>	       	next j							next </a:t>
            </a:r>
            <a:r>
              <a:rPr lang="en-US" dirty="0" err="1" smtClean="0"/>
              <a:t>i</a:t>
            </a:r>
            <a:endParaRPr lang="en-US" dirty="0" smtClean="0"/>
          </a:p>
          <a:p>
            <a:endParaRPr lang="en-US" dirty="0" smtClean="0"/>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SOLUTION</a:t>
            </a:r>
            <a:endParaRPr lang="en-US" b="1" u="sng"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32</a:t>
            </a:fld>
            <a:endParaRPr lang="en-US"/>
          </a:p>
        </p:txBody>
      </p:sp>
      <p:sp>
        <p:nvSpPr>
          <p:cNvPr id="4" name="Content Placeholder 3"/>
          <p:cNvSpPr>
            <a:spLocks noGrp="1"/>
          </p:cNvSpPr>
          <p:nvPr>
            <p:ph sz="quarter" idx="1"/>
          </p:nvPr>
        </p:nvSpPr>
        <p:spPr>
          <a:xfrm>
            <a:off x="457200" y="1219200"/>
            <a:ext cx="8229600" cy="5105400"/>
          </a:xfrm>
        </p:spPr>
        <p:txBody>
          <a:bodyPr/>
          <a:lstStyle/>
          <a:p>
            <a:r>
              <a:rPr lang="en-US" dirty="0" smtClean="0"/>
              <a:t>The </a:t>
            </a:r>
            <a:r>
              <a:rPr lang="en-US" dirty="0" smtClean="0">
                <a:solidFill>
                  <a:srgbClr val="FF0000"/>
                </a:solidFill>
              </a:rPr>
              <a:t>outer loop</a:t>
            </a:r>
            <a:r>
              <a:rPr lang="en-US" dirty="0" smtClean="0"/>
              <a:t> is </a:t>
            </a:r>
            <a:r>
              <a:rPr lang="en-US" dirty="0" smtClean="0">
                <a:solidFill>
                  <a:srgbClr val="FF0000"/>
                </a:solidFill>
              </a:rPr>
              <a:t>iterated</a:t>
            </a:r>
            <a:r>
              <a:rPr lang="en-US" dirty="0" smtClean="0"/>
              <a:t> </a:t>
            </a:r>
            <a:r>
              <a:rPr lang="en-US" dirty="0" smtClean="0">
                <a:solidFill>
                  <a:srgbClr val="FF0000"/>
                </a:solidFill>
              </a:rPr>
              <a:t>four times</a:t>
            </a:r>
            <a:r>
              <a:rPr lang="en-US" dirty="0" smtClean="0"/>
              <a:t>, and during each </a:t>
            </a:r>
            <a:r>
              <a:rPr lang="en-US" dirty="0" smtClean="0">
                <a:solidFill>
                  <a:srgbClr val="FF0000"/>
                </a:solidFill>
              </a:rPr>
              <a:t>iteration</a:t>
            </a:r>
            <a:r>
              <a:rPr lang="en-US" dirty="0" smtClean="0"/>
              <a:t> of the </a:t>
            </a:r>
            <a:r>
              <a:rPr lang="en-US" dirty="0" smtClean="0">
                <a:solidFill>
                  <a:srgbClr val="FF0000"/>
                </a:solidFill>
              </a:rPr>
              <a:t>outer loop</a:t>
            </a:r>
            <a:r>
              <a:rPr lang="en-US" dirty="0" smtClean="0"/>
              <a:t>, there are </a:t>
            </a:r>
            <a:r>
              <a:rPr lang="en-US" dirty="0" smtClean="0">
                <a:solidFill>
                  <a:srgbClr val="FF0000"/>
                </a:solidFill>
              </a:rPr>
              <a:t>three</a:t>
            </a:r>
            <a:r>
              <a:rPr lang="en-US" dirty="0" smtClean="0"/>
              <a:t> iterations of the </a:t>
            </a:r>
            <a:r>
              <a:rPr lang="en-US" dirty="0" smtClean="0">
                <a:solidFill>
                  <a:srgbClr val="FF0000"/>
                </a:solidFill>
              </a:rPr>
              <a:t>inner loop</a:t>
            </a:r>
            <a:r>
              <a:rPr lang="en-US" dirty="0" smtClean="0"/>
              <a:t>. </a:t>
            </a:r>
          </a:p>
          <a:p>
            <a:endParaRPr lang="en-US" dirty="0" smtClean="0"/>
          </a:p>
          <a:p>
            <a:r>
              <a:rPr lang="en-US" dirty="0" smtClean="0"/>
              <a:t>Hence, by product rules the </a:t>
            </a:r>
            <a:r>
              <a:rPr lang="en-US" dirty="0" smtClean="0">
                <a:solidFill>
                  <a:srgbClr val="FF0000"/>
                </a:solidFill>
              </a:rPr>
              <a:t>total number</a:t>
            </a:r>
            <a:r>
              <a:rPr lang="en-US" dirty="0" smtClean="0"/>
              <a:t> of </a:t>
            </a:r>
            <a:r>
              <a:rPr lang="en-US" dirty="0" smtClean="0">
                <a:solidFill>
                  <a:srgbClr val="FF0000"/>
                </a:solidFill>
              </a:rPr>
              <a:t>iterations</a:t>
            </a:r>
            <a:r>
              <a:rPr lang="en-US" dirty="0" smtClean="0"/>
              <a:t> of </a:t>
            </a:r>
            <a:r>
              <a:rPr lang="en-US" dirty="0" smtClean="0">
                <a:solidFill>
                  <a:srgbClr val="FF0000"/>
                </a:solidFill>
              </a:rPr>
              <a:t>inner loop</a:t>
            </a:r>
            <a:r>
              <a:rPr lang="en-US" dirty="0" smtClean="0"/>
              <a:t> is </a:t>
            </a:r>
            <a:r>
              <a:rPr lang="en-US" dirty="0" smtClean="0">
                <a:solidFill>
                  <a:srgbClr val="FF0000"/>
                </a:solidFill>
              </a:rPr>
              <a:t>4</a:t>
            </a:r>
            <a:r>
              <a:rPr lang="en-US" b="1" dirty="0" smtClean="0">
                <a:solidFill>
                  <a:srgbClr val="FF0000"/>
                </a:solidFill>
              </a:rPr>
              <a:t>· </a:t>
            </a:r>
            <a:r>
              <a:rPr lang="en-US" dirty="0" smtClean="0">
                <a:solidFill>
                  <a:srgbClr val="FF0000"/>
                </a:solidFill>
              </a:rPr>
              <a:t>3 = 12</a:t>
            </a:r>
          </a:p>
          <a:p>
            <a:pPr>
              <a:buNone/>
            </a:pPr>
            <a:endParaRPr lang="en-US" dirty="0" smtClean="0"/>
          </a:p>
          <a:p>
            <a:pPr>
              <a:buNone/>
            </a:pPr>
            <a:endParaRPr lang="en-US" dirty="0" smtClean="0"/>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endParaRPr lang="en-US" b="1" u="sng"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33</a:t>
            </a:fld>
            <a:endParaRPr lang="en-US"/>
          </a:p>
        </p:txBody>
      </p:sp>
      <p:sp>
        <p:nvSpPr>
          <p:cNvPr id="4" name="Content Placeholder 3"/>
          <p:cNvSpPr>
            <a:spLocks noGrp="1"/>
          </p:cNvSpPr>
          <p:nvPr>
            <p:ph sz="quarter" idx="1"/>
          </p:nvPr>
        </p:nvSpPr>
        <p:spPr/>
        <p:txBody>
          <a:bodyPr>
            <a:normAutofit/>
          </a:bodyPr>
          <a:lstStyle/>
          <a:p>
            <a:r>
              <a:rPr lang="en-US" dirty="0" smtClean="0"/>
              <a:t>Determine how many times the </a:t>
            </a:r>
            <a:r>
              <a:rPr lang="en-US" dirty="0" smtClean="0">
                <a:solidFill>
                  <a:srgbClr val="FF0000"/>
                </a:solidFill>
              </a:rPr>
              <a:t>inner loop</a:t>
            </a:r>
            <a:r>
              <a:rPr lang="en-US" dirty="0" smtClean="0"/>
              <a:t> will be </a:t>
            </a:r>
            <a:r>
              <a:rPr lang="en-US" dirty="0" smtClean="0">
                <a:solidFill>
                  <a:srgbClr val="FF0000"/>
                </a:solidFill>
              </a:rPr>
              <a:t>iterated</a:t>
            </a:r>
            <a:r>
              <a:rPr lang="en-US" dirty="0" smtClean="0"/>
              <a:t> when the following algorithm is implemented and run.</a:t>
            </a:r>
          </a:p>
          <a:p>
            <a:endParaRPr lang="en-US" dirty="0" smtClean="0"/>
          </a:p>
          <a:p>
            <a:pPr>
              <a:buNone/>
            </a:pPr>
            <a:r>
              <a:rPr lang="en-US" dirty="0" smtClean="0"/>
              <a:t>		for	</a:t>
            </a:r>
            <a:r>
              <a:rPr lang="en-US" dirty="0" err="1" smtClean="0">
                <a:solidFill>
                  <a:srgbClr val="FF0000"/>
                </a:solidFill>
              </a:rPr>
              <a:t>i</a:t>
            </a:r>
            <a:r>
              <a:rPr lang="en-US" dirty="0" smtClean="0">
                <a:solidFill>
                  <a:srgbClr val="FF0000"/>
                </a:solidFill>
              </a:rPr>
              <a:t> = 5 to 50</a:t>
            </a:r>
            <a:r>
              <a:rPr lang="en-US" dirty="0" smtClean="0"/>
              <a:t>							for 	</a:t>
            </a:r>
            <a:r>
              <a:rPr lang="en-US" dirty="0" smtClean="0">
                <a:solidFill>
                  <a:srgbClr val="FF0000"/>
                </a:solidFill>
              </a:rPr>
              <a:t>j: = 10 to 20</a:t>
            </a:r>
            <a:r>
              <a:rPr lang="en-US" dirty="0" smtClean="0"/>
              <a:t>							[number of statements]				next j							next </a:t>
            </a:r>
            <a:r>
              <a:rPr lang="en-US" dirty="0" err="1" smtClean="0"/>
              <a:t>i</a:t>
            </a:r>
            <a:endParaRPr lang="en-US" dirty="0" smtClean="0"/>
          </a:p>
          <a:p>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SOLUTION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34</a:t>
            </a:fld>
            <a:endParaRPr lang="en-US"/>
          </a:p>
        </p:txBody>
      </p:sp>
      <p:sp>
        <p:nvSpPr>
          <p:cNvPr id="4" name="Content Placeholder 3"/>
          <p:cNvSpPr>
            <a:spLocks noGrp="1"/>
          </p:cNvSpPr>
          <p:nvPr>
            <p:ph sz="quarter" idx="1"/>
          </p:nvPr>
        </p:nvSpPr>
        <p:spPr/>
        <p:txBody>
          <a:bodyPr/>
          <a:lstStyle/>
          <a:p>
            <a:r>
              <a:rPr lang="en-US" dirty="0" smtClean="0"/>
              <a:t>The </a:t>
            </a:r>
            <a:r>
              <a:rPr lang="en-US" dirty="0" smtClean="0">
                <a:solidFill>
                  <a:srgbClr val="FF0000"/>
                </a:solidFill>
              </a:rPr>
              <a:t>outer loop</a:t>
            </a:r>
            <a:r>
              <a:rPr lang="en-US" dirty="0" smtClean="0"/>
              <a:t> is iterated 50 - 5 + 1 = </a:t>
            </a:r>
            <a:r>
              <a:rPr lang="en-US" dirty="0" smtClean="0">
                <a:solidFill>
                  <a:srgbClr val="FF0000"/>
                </a:solidFill>
              </a:rPr>
              <a:t>46</a:t>
            </a:r>
            <a:r>
              <a:rPr lang="en-US" dirty="0" smtClean="0"/>
              <a:t> times and </a:t>
            </a:r>
          </a:p>
          <a:p>
            <a:endParaRPr lang="en-US" dirty="0" smtClean="0"/>
          </a:p>
          <a:p>
            <a:r>
              <a:rPr lang="en-US" dirty="0" smtClean="0">
                <a:solidFill>
                  <a:srgbClr val="FF0000"/>
                </a:solidFill>
              </a:rPr>
              <a:t>Inner loop</a:t>
            </a:r>
            <a:r>
              <a:rPr lang="en-US" dirty="0" smtClean="0"/>
              <a:t> iterate for  20 - 10 + 1 = </a:t>
            </a:r>
            <a:r>
              <a:rPr lang="en-US" dirty="0" smtClean="0">
                <a:solidFill>
                  <a:srgbClr val="FF0000"/>
                </a:solidFill>
              </a:rPr>
              <a:t>11</a:t>
            </a:r>
            <a:r>
              <a:rPr lang="en-US" dirty="0" smtClean="0"/>
              <a:t> times. </a:t>
            </a:r>
          </a:p>
          <a:p>
            <a:endParaRPr lang="en-US" dirty="0" smtClean="0"/>
          </a:p>
          <a:p>
            <a:r>
              <a:rPr lang="en-US" dirty="0" smtClean="0"/>
              <a:t>Hence by product rule, the </a:t>
            </a:r>
            <a:r>
              <a:rPr lang="en-US" dirty="0" smtClean="0">
                <a:solidFill>
                  <a:srgbClr val="FF0000"/>
                </a:solidFill>
              </a:rPr>
              <a:t>total number of iterations</a:t>
            </a:r>
            <a:r>
              <a:rPr lang="en-US" dirty="0" smtClean="0"/>
              <a:t> of the </a:t>
            </a:r>
            <a:r>
              <a:rPr lang="en-US" dirty="0" smtClean="0">
                <a:solidFill>
                  <a:srgbClr val="FF0000"/>
                </a:solidFill>
              </a:rPr>
              <a:t>inner loop</a:t>
            </a:r>
            <a:r>
              <a:rPr lang="en-US" dirty="0" smtClean="0"/>
              <a:t> is </a:t>
            </a:r>
            <a:r>
              <a:rPr lang="en-US" dirty="0" smtClean="0">
                <a:solidFill>
                  <a:srgbClr val="FF0000"/>
                </a:solidFill>
              </a:rPr>
              <a:t>46.11 = 506</a:t>
            </a:r>
          </a:p>
          <a:p>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endParaRPr lang="en-US" b="1" u="sng"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35</a:t>
            </a:fld>
            <a:endParaRPr lang="en-US"/>
          </a:p>
        </p:txBody>
      </p:sp>
      <p:sp>
        <p:nvSpPr>
          <p:cNvPr id="4" name="Content Placeholder 3"/>
          <p:cNvSpPr>
            <a:spLocks noGrp="1"/>
          </p:cNvSpPr>
          <p:nvPr>
            <p:ph sz="quarter" idx="1"/>
          </p:nvPr>
        </p:nvSpPr>
        <p:spPr/>
        <p:txBody>
          <a:bodyPr>
            <a:normAutofit/>
          </a:bodyPr>
          <a:lstStyle/>
          <a:p>
            <a:r>
              <a:rPr lang="en-US" dirty="0" smtClean="0"/>
              <a:t>Determine how many times the </a:t>
            </a:r>
            <a:r>
              <a:rPr lang="en-US" dirty="0" smtClean="0">
                <a:solidFill>
                  <a:srgbClr val="FF0000"/>
                </a:solidFill>
              </a:rPr>
              <a:t>inner loop</a:t>
            </a:r>
            <a:r>
              <a:rPr lang="en-US" dirty="0" smtClean="0"/>
              <a:t> will be </a:t>
            </a:r>
            <a:r>
              <a:rPr lang="en-US" dirty="0" smtClean="0">
                <a:solidFill>
                  <a:srgbClr val="FF0000"/>
                </a:solidFill>
              </a:rPr>
              <a:t>iterated</a:t>
            </a:r>
            <a:r>
              <a:rPr lang="en-US" dirty="0" smtClean="0"/>
              <a:t> when the following algorithm is implemented and run.</a:t>
            </a:r>
          </a:p>
          <a:p>
            <a:endParaRPr lang="en-US" dirty="0" smtClean="0"/>
          </a:p>
          <a:p>
            <a:pPr>
              <a:buNone/>
            </a:pPr>
            <a:r>
              <a:rPr lang="en-US" dirty="0" smtClean="0"/>
              <a:t>		for	</a:t>
            </a:r>
            <a:r>
              <a:rPr lang="en-US" dirty="0" err="1" smtClean="0">
                <a:solidFill>
                  <a:srgbClr val="FF0000"/>
                </a:solidFill>
              </a:rPr>
              <a:t>i</a:t>
            </a:r>
            <a:r>
              <a:rPr lang="en-US" dirty="0" smtClean="0">
                <a:solidFill>
                  <a:srgbClr val="FF0000"/>
                </a:solidFill>
              </a:rPr>
              <a:t> = 1 to 4</a:t>
            </a:r>
            <a:r>
              <a:rPr lang="en-US" dirty="0" smtClean="0"/>
              <a:t>							for 	</a:t>
            </a:r>
            <a:r>
              <a:rPr lang="en-US" dirty="0" smtClean="0">
                <a:solidFill>
                  <a:srgbClr val="FF0000"/>
                </a:solidFill>
              </a:rPr>
              <a:t>j: = 1 to </a:t>
            </a:r>
            <a:r>
              <a:rPr lang="en-US" dirty="0" err="1" smtClean="0">
                <a:solidFill>
                  <a:srgbClr val="FF0000"/>
                </a:solidFill>
              </a:rPr>
              <a:t>i</a:t>
            </a:r>
            <a:r>
              <a:rPr lang="en-US" dirty="0" smtClean="0"/>
              <a:t>							[number of statements]				next j							next </a:t>
            </a:r>
            <a:r>
              <a:rPr lang="en-US" dirty="0" err="1" smtClean="0"/>
              <a:t>i</a:t>
            </a:r>
            <a:endParaRPr lang="en-US" dirty="0" smtClean="0"/>
          </a:p>
          <a:p>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36</a:t>
            </a:fld>
            <a:endParaRPr lang="en-US"/>
          </a:p>
        </p:txBody>
      </p:sp>
      <p:sp>
        <p:nvSpPr>
          <p:cNvPr id="4" name="Content Placeholder 3"/>
          <p:cNvSpPr>
            <a:spLocks noGrp="1"/>
          </p:cNvSpPr>
          <p:nvPr>
            <p:ph sz="quarter" idx="1"/>
          </p:nvPr>
        </p:nvSpPr>
        <p:spPr/>
        <p:txBody>
          <a:bodyPr>
            <a:normAutofit fontScale="92500"/>
          </a:bodyPr>
          <a:lstStyle/>
          <a:p>
            <a:r>
              <a:rPr lang="en-US" dirty="0" smtClean="0"/>
              <a:t>The</a:t>
            </a:r>
            <a:r>
              <a:rPr lang="en-US" dirty="0" smtClean="0">
                <a:solidFill>
                  <a:srgbClr val="FF0000"/>
                </a:solidFill>
              </a:rPr>
              <a:t> outer loop</a:t>
            </a:r>
            <a:r>
              <a:rPr lang="en-US" dirty="0" smtClean="0"/>
              <a:t> is iterated </a:t>
            </a:r>
            <a:r>
              <a:rPr lang="en-US" dirty="0" smtClean="0">
                <a:solidFill>
                  <a:srgbClr val="FF0000"/>
                </a:solidFill>
              </a:rPr>
              <a:t>4</a:t>
            </a:r>
            <a:r>
              <a:rPr lang="en-US" dirty="0" smtClean="0"/>
              <a:t> times, but during each iteration of the outer loop, the </a:t>
            </a:r>
            <a:r>
              <a:rPr lang="en-US" dirty="0" smtClean="0">
                <a:solidFill>
                  <a:srgbClr val="FF0000"/>
                </a:solidFill>
              </a:rPr>
              <a:t>inner loop</a:t>
            </a:r>
            <a:r>
              <a:rPr lang="en-US" dirty="0" smtClean="0"/>
              <a:t> iterates different number of times.</a:t>
            </a:r>
          </a:p>
          <a:p>
            <a:endParaRPr lang="en-US" dirty="0" smtClean="0"/>
          </a:p>
          <a:p>
            <a:r>
              <a:rPr lang="en-US" dirty="0" smtClean="0"/>
              <a:t>For </a:t>
            </a:r>
            <a:r>
              <a:rPr lang="en-US" dirty="0" smtClean="0">
                <a:solidFill>
                  <a:srgbClr val="FF0000"/>
                </a:solidFill>
              </a:rPr>
              <a:t>first iteration</a:t>
            </a:r>
            <a:r>
              <a:rPr lang="en-US" dirty="0" smtClean="0"/>
              <a:t> of outer loop, </a:t>
            </a:r>
            <a:r>
              <a:rPr lang="en-US" dirty="0" smtClean="0">
                <a:solidFill>
                  <a:srgbClr val="FF0000"/>
                </a:solidFill>
              </a:rPr>
              <a:t>inner loop</a:t>
            </a:r>
            <a:r>
              <a:rPr lang="en-US" dirty="0" smtClean="0"/>
              <a:t> iterates </a:t>
            </a:r>
            <a:r>
              <a:rPr lang="en-US" dirty="0" smtClean="0">
                <a:solidFill>
                  <a:srgbClr val="FF0000"/>
                </a:solidFill>
              </a:rPr>
              <a:t>1</a:t>
            </a:r>
            <a:r>
              <a:rPr lang="en-US" dirty="0" smtClean="0"/>
              <a:t> times.</a:t>
            </a:r>
          </a:p>
          <a:p>
            <a:r>
              <a:rPr lang="en-US" dirty="0" smtClean="0"/>
              <a:t>For </a:t>
            </a:r>
            <a:r>
              <a:rPr lang="en-US" dirty="0" smtClean="0">
                <a:solidFill>
                  <a:srgbClr val="FF0000"/>
                </a:solidFill>
              </a:rPr>
              <a:t>second iteration</a:t>
            </a:r>
            <a:r>
              <a:rPr lang="en-US" dirty="0" smtClean="0"/>
              <a:t> of outer loop, </a:t>
            </a:r>
            <a:r>
              <a:rPr lang="en-US" dirty="0" smtClean="0">
                <a:solidFill>
                  <a:srgbClr val="FF0000"/>
                </a:solidFill>
              </a:rPr>
              <a:t>inner loop</a:t>
            </a:r>
            <a:r>
              <a:rPr lang="en-US" dirty="0" smtClean="0"/>
              <a:t> iterates </a:t>
            </a:r>
            <a:r>
              <a:rPr lang="en-US" dirty="0" smtClean="0">
                <a:solidFill>
                  <a:srgbClr val="FF0000"/>
                </a:solidFill>
              </a:rPr>
              <a:t>2</a:t>
            </a:r>
            <a:r>
              <a:rPr lang="en-US" dirty="0" smtClean="0"/>
              <a:t> times.</a:t>
            </a:r>
          </a:p>
          <a:p>
            <a:r>
              <a:rPr lang="en-US" dirty="0" smtClean="0"/>
              <a:t>For </a:t>
            </a:r>
            <a:r>
              <a:rPr lang="en-US" dirty="0" smtClean="0">
                <a:solidFill>
                  <a:srgbClr val="FF0000"/>
                </a:solidFill>
              </a:rPr>
              <a:t>third iteration</a:t>
            </a:r>
            <a:r>
              <a:rPr lang="en-US" dirty="0" smtClean="0"/>
              <a:t> of outer loop, inner loop iterates </a:t>
            </a:r>
            <a:r>
              <a:rPr lang="en-US" dirty="0" smtClean="0">
                <a:solidFill>
                  <a:srgbClr val="FF0000"/>
                </a:solidFill>
              </a:rPr>
              <a:t>3</a:t>
            </a:r>
            <a:r>
              <a:rPr lang="en-US" dirty="0" smtClean="0"/>
              <a:t> times.</a:t>
            </a:r>
          </a:p>
          <a:p>
            <a:r>
              <a:rPr lang="en-US" dirty="0" smtClean="0"/>
              <a:t>For </a:t>
            </a:r>
            <a:r>
              <a:rPr lang="en-US" dirty="0" smtClean="0">
                <a:solidFill>
                  <a:srgbClr val="FF0000"/>
                </a:solidFill>
              </a:rPr>
              <a:t>fourth iteration</a:t>
            </a:r>
            <a:r>
              <a:rPr lang="en-US" dirty="0" smtClean="0"/>
              <a:t> of outer loop, inner loop iterates </a:t>
            </a:r>
            <a:r>
              <a:rPr lang="en-US" dirty="0" smtClean="0">
                <a:solidFill>
                  <a:srgbClr val="FF0000"/>
                </a:solidFill>
              </a:rPr>
              <a:t>4</a:t>
            </a:r>
            <a:r>
              <a:rPr lang="en-US" dirty="0" smtClean="0"/>
              <a:t> times.</a:t>
            </a:r>
          </a:p>
          <a:p>
            <a:pPr>
              <a:buNone/>
            </a:pPr>
            <a:endParaRPr lang="en-US" dirty="0" smtClean="0"/>
          </a:p>
          <a:p>
            <a:r>
              <a:rPr lang="en-US" dirty="0" smtClean="0"/>
              <a:t>Hence, </a:t>
            </a:r>
            <a:r>
              <a:rPr lang="en-US" dirty="0" smtClean="0">
                <a:solidFill>
                  <a:srgbClr val="FF0000"/>
                </a:solidFill>
              </a:rPr>
              <a:t>total number</a:t>
            </a:r>
            <a:r>
              <a:rPr lang="en-US" dirty="0" smtClean="0"/>
              <a:t> of </a:t>
            </a:r>
            <a:r>
              <a:rPr lang="en-US" dirty="0" smtClean="0">
                <a:solidFill>
                  <a:srgbClr val="FF0000"/>
                </a:solidFill>
              </a:rPr>
              <a:t>iterations</a:t>
            </a:r>
            <a:r>
              <a:rPr lang="en-US" dirty="0" smtClean="0"/>
              <a:t> of inner loop = 1 + 2 + 3 + 4 = </a:t>
            </a:r>
            <a:r>
              <a:rPr lang="en-US" dirty="0" smtClean="0">
                <a:solidFill>
                  <a:srgbClr val="FF0000"/>
                </a:solidFill>
              </a:rPr>
              <a:t>10</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normAutofit fontScale="90000"/>
          </a:bodyPr>
          <a:lstStyle/>
          <a:p>
            <a:r>
              <a:rPr lang="en-US" b="1" dirty="0" smtClean="0"/>
              <a:t/>
            </a:r>
            <a:br>
              <a:rPr lang="en-US" b="1" dirty="0" smtClean="0"/>
            </a:br>
            <a:r>
              <a:rPr lang="en-US" b="1" dirty="0"/>
              <a:t/>
            </a:r>
            <a:br>
              <a:rPr lang="en-US" b="1" dirty="0"/>
            </a:br>
            <a:r>
              <a:rPr lang="en-US" b="1" dirty="0" smtClean="0"/>
              <a:t/>
            </a:r>
            <a:br>
              <a:rPr lang="en-US" b="1" dirty="0" smtClean="0"/>
            </a:br>
            <a:r>
              <a:rPr lang="en-US" b="1" dirty="0"/>
              <a:t/>
            </a:r>
            <a:br>
              <a:rPr lang="en-US" b="1" dirty="0"/>
            </a:br>
            <a:r>
              <a:rPr lang="en-US" b="1" dirty="0" smtClean="0"/>
              <a:t/>
            </a:r>
            <a:br>
              <a:rPr lang="en-US" b="1" dirty="0" smtClean="0"/>
            </a:br>
            <a:r>
              <a:rPr lang="en-US" b="1" dirty="0"/>
              <a:t/>
            </a:r>
            <a:br>
              <a:rPr lang="en-US" b="1" dirty="0"/>
            </a:br>
            <a:r>
              <a:rPr lang="en-US" b="1" dirty="0"/>
              <a:t>Difference Between Permutation and Combination</a:t>
            </a:r>
            <a:endParaRPr lang="en-US" dirty="0"/>
          </a:p>
        </p:txBody>
      </p:sp>
      <p:sp>
        <p:nvSpPr>
          <p:cNvPr id="3" name="Slide Number Placeholder 2"/>
          <p:cNvSpPr>
            <a:spLocks noGrp="1"/>
          </p:cNvSpPr>
          <p:nvPr>
            <p:ph type="sldNum" sz="quarter" idx="12"/>
          </p:nvPr>
        </p:nvSpPr>
        <p:spPr/>
        <p:txBody>
          <a:bodyPr/>
          <a:lstStyle/>
          <a:p>
            <a:fld id="{25E19944-04AC-4CD8-BA69-63C2A678C21A}" type="slidenum">
              <a:rPr lang="en-US" smtClean="0"/>
              <a:pPr/>
              <a:t>37</a:t>
            </a:fld>
            <a:endParaRPr lang="en-US"/>
          </a:p>
        </p:txBody>
      </p:sp>
      <p:sp>
        <p:nvSpPr>
          <p:cNvPr id="4" name="Content Placeholder 3"/>
          <p:cNvSpPr>
            <a:spLocks noGrp="1"/>
          </p:cNvSpPr>
          <p:nvPr>
            <p:ph sz="quarter" idx="1"/>
          </p:nvPr>
        </p:nvSpPr>
        <p:spPr/>
        <p:txBody>
          <a:bodyPr>
            <a:normAutofit fontScale="92500" lnSpcReduction="20000"/>
          </a:bodyPr>
          <a:lstStyle/>
          <a:p>
            <a:pPr algn="just" fontAlgn="base"/>
            <a:r>
              <a:rPr lang="en-US" dirty="0" smtClean="0"/>
              <a:t>The</a:t>
            </a:r>
            <a:r>
              <a:rPr lang="en-US" dirty="0"/>
              <a:t> </a:t>
            </a:r>
            <a:r>
              <a:rPr lang="en-US" u="sng" dirty="0" smtClean="0">
                <a:solidFill>
                  <a:schemeClr val="tx1">
                    <a:lumMod val="85000"/>
                    <a:lumOff val="15000"/>
                  </a:schemeClr>
                </a:solidFill>
                <a:hlinkClick r:id="rId2"/>
              </a:rPr>
              <a:t>difference between the permutation and combination</a:t>
            </a:r>
            <a:r>
              <a:rPr lang="en-US" u="sng" dirty="0" smtClean="0">
                <a:solidFill>
                  <a:schemeClr val="tx1">
                    <a:lumMod val="85000"/>
                    <a:lumOff val="15000"/>
                  </a:schemeClr>
                </a:solidFill>
              </a:rPr>
              <a:t> </a:t>
            </a:r>
            <a:r>
              <a:rPr lang="en-US" dirty="0" smtClean="0"/>
              <a:t>can </a:t>
            </a:r>
            <a:r>
              <a:rPr lang="en-US" dirty="0"/>
              <a:t>be understood through the following points.</a:t>
            </a:r>
          </a:p>
          <a:p>
            <a:pPr algn="just" fontAlgn="base"/>
            <a:r>
              <a:rPr lang="en-US" dirty="0"/>
              <a:t>Permutations are used when order/sequence of arrangement is needed. Combinations are used when only the number of possible groups are to be found, and the order/sequence of arrangements is not needed.</a:t>
            </a:r>
          </a:p>
          <a:p>
            <a:pPr algn="just" fontAlgn="base"/>
            <a:r>
              <a:rPr lang="en-US" dirty="0"/>
              <a:t>Permutations are used for things of a different kind. Combinations are used for things of a similar kind.</a:t>
            </a:r>
          </a:p>
          <a:p>
            <a:pPr algn="just" fontAlgn="base"/>
            <a:r>
              <a:rPr lang="en-US" dirty="0"/>
              <a:t>The permutation of two things from three given things a, b, c is ab, </a:t>
            </a:r>
            <a:r>
              <a:rPr lang="en-US" dirty="0" err="1"/>
              <a:t>ba</a:t>
            </a:r>
            <a:r>
              <a:rPr lang="en-US" dirty="0"/>
              <a:t>, </a:t>
            </a:r>
            <a:r>
              <a:rPr lang="en-US" dirty="0" err="1"/>
              <a:t>bc</a:t>
            </a:r>
            <a:r>
              <a:rPr lang="en-US" dirty="0"/>
              <a:t>, </a:t>
            </a:r>
            <a:r>
              <a:rPr lang="en-US" dirty="0" err="1"/>
              <a:t>cb</a:t>
            </a:r>
            <a:r>
              <a:rPr lang="en-US" dirty="0"/>
              <a:t>, ac, ca. The combination of two things from three given things a, b, c is ab, </a:t>
            </a:r>
            <a:r>
              <a:rPr lang="en-US" dirty="0" err="1"/>
              <a:t>bc</a:t>
            </a:r>
            <a:r>
              <a:rPr lang="en-US" dirty="0"/>
              <a:t>, ca</a:t>
            </a:r>
          </a:p>
          <a:p>
            <a:pPr algn="just" fontAlgn="base"/>
            <a:r>
              <a:rPr lang="en-US" dirty="0"/>
              <a:t>For different possible arrangement of things </a:t>
            </a:r>
            <a:r>
              <a:rPr lang="en-US" dirty="0" err="1"/>
              <a:t>nPr</a:t>
            </a:r>
            <a:r>
              <a:rPr lang="en-US" dirty="0"/>
              <a:t>=n!/(n-r)!. For different possible selection of things </a:t>
            </a:r>
            <a:r>
              <a:rPr lang="en-US" dirty="0" err="1"/>
              <a:t>nCr</a:t>
            </a:r>
            <a:r>
              <a:rPr lang="en-US" dirty="0"/>
              <a:t> =n!/r!(n-r</a:t>
            </a:r>
            <a:r>
              <a:rPr lang="en-US" dirty="0" smtClean="0"/>
              <a:t>)!</a:t>
            </a:r>
          </a:p>
          <a:p>
            <a:pPr algn="just" fontAlgn="base"/>
            <a:r>
              <a:rPr lang="en-US" dirty="0"/>
              <a:t>For a given set of n and r values, the permutation answer is larger than the combination answer.</a:t>
            </a:r>
          </a:p>
          <a:p>
            <a:pPr algn="just" fontAlgn="base"/>
            <a:endParaRPr lang="en-US" dirty="0"/>
          </a:p>
          <a:p>
            <a:endParaRPr lang="en-US" dirty="0"/>
          </a:p>
        </p:txBody>
      </p:sp>
    </p:spTree>
    <p:extLst>
      <p:ext uri="{BB962C8B-B14F-4D97-AF65-F5344CB8AC3E}">
        <p14:creationId xmlns:p14="http://schemas.microsoft.com/office/powerpoint/2010/main" val="31014159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tx1"/>
                </a:solidFill>
              </a:rPr>
              <a:t>Combination</a:t>
            </a:r>
            <a:endParaRPr lang="en-US" b="1" dirty="0">
              <a:solidFill>
                <a:schemeClr val="tx1"/>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38</a:t>
            </a:fld>
            <a:endParaRPr lang="en-US"/>
          </a:p>
        </p:txBody>
      </p:sp>
      <p:sp>
        <p:nvSpPr>
          <p:cNvPr id="4" name="Content Placeholder 3"/>
          <p:cNvSpPr>
            <a:spLocks noGrp="1"/>
          </p:cNvSpPr>
          <p:nvPr>
            <p:ph sz="quarter" idx="1"/>
          </p:nvPr>
        </p:nvSpPr>
        <p:spPr>
          <a:xfrm>
            <a:off x="152400" y="1295400"/>
            <a:ext cx="8991600" cy="5426710"/>
          </a:xfrm>
        </p:spPr>
        <p:txBody>
          <a:bodyPr>
            <a:noAutofit/>
          </a:bodyPr>
          <a:lstStyle/>
          <a:p>
            <a:r>
              <a:rPr lang="en-US" sz="2000" dirty="0">
                <a:latin typeface="Arial" panose="020B0604020202020204" pitchFamily="34" charset="0"/>
                <a:cs typeface="Arial" panose="020B0604020202020204" pitchFamily="34" charset="0"/>
              </a:rPr>
              <a:t>When the order doesn't matter, it is a </a:t>
            </a:r>
            <a:r>
              <a:rPr lang="en-US" sz="2000" b="1" dirty="0">
                <a:latin typeface="Arial" panose="020B0604020202020204" pitchFamily="34" charset="0"/>
                <a:cs typeface="Arial" panose="020B0604020202020204" pitchFamily="34" charset="0"/>
              </a:rPr>
              <a:t>Combination</a:t>
            </a:r>
            <a:r>
              <a:rPr lang="en-US" sz="2000" dirty="0">
                <a:latin typeface="Arial" panose="020B0604020202020204" pitchFamily="34" charset="0"/>
                <a:cs typeface="Arial" panose="020B0604020202020204" pitchFamily="34" charset="0"/>
              </a:rPr>
              <a:t>.</a:t>
            </a:r>
          </a:p>
          <a:p>
            <a:pPr marL="0" indent="0">
              <a:buNone/>
            </a:pPr>
            <a:r>
              <a:rPr lang="en-US" sz="2000" dirty="0" smtClean="0">
                <a:latin typeface="Arial" panose="020B0604020202020204" pitchFamily="34" charset="0"/>
                <a:cs typeface="Arial" panose="020B0604020202020204" pitchFamily="34" charset="0"/>
              </a:rPr>
              <a:t>       C(</a:t>
            </a:r>
            <a:r>
              <a:rPr lang="en-US" sz="2000" dirty="0" err="1" smtClean="0">
                <a:latin typeface="Arial" panose="020B0604020202020204" pitchFamily="34" charset="0"/>
                <a:cs typeface="Arial" panose="020B0604020202020204" pitchFamily="34" charset="0"/>
              </a:rPr>
              <a:t>n,r</a:t>
            </a:r>
            <a:r>
              <a:rPr lang="en-US" sz="2000" dirty="0">
                <a:latin typeface="Arial" panose="020B0604020202020204" pitchFamily="34" charset="0"/>
                <a:cs typeface="Arial" panose="020B0604020202020204" pitchFamily="34" charset="0"/>
              </a:rPr>
              <a:t>) =n</a:t>
            </a:r>
            <a:r>
              <a:rPr lang="en-US" sz="2000" dirty="0" smtClean="0">
                <a:latin typeface="Arial" panose="020B0604020202020204" pitchFamily="34" charset="0"/>
                <a:cs typeface="Arial" panose="020B0604020202020204" pitchFamily="34" charset="0"/>
              </a:rPr>
              <a:t>! / r</a:t>
            </a:r>
            <a:r>
              <a:rPr lang="en-US" sz="2000" dirty="0">
                <a:latin typeface="Arial" panose="020B0604020202020204" pitchFamily="34" charset="0"/>
                <a:cs typeface="Arial" panose="020B0604020202020204" pitchFamily="34" charset="0"/>
              </a:rPr>
              <a:t>!.(n−r)!</a:t>
            </a:r>
            <a:r>
              <a:rPr lang="en-US" sz="2000" dirty="0">
                <a:latin typeface="Arial" panose="020B0604020202020204" pitchFamily="34" charset="0"/>
                <a:cs typeface="Arial" panose="020B0604020202020204" pitchFamily="34" charset="0"/>
              </a:rPr>
              <a:t/>
            </a:r>
            <a:br>
              <a:rPr lang="en-US" sz="2000" dirty="0">
                <a:latin typeface="Arial" panose="020B0604020202020204" pitchFamily="34" charset="0"/>
                <a:cs typeface="Arial" panose="020B0604020202020204" pitchFamily="34" charset="0"/>
              </a:rPr>
            </a:br>
            <a:endParaRPr lang="en-US" sz="2000" dirty="0" smtClean="0">
              <a:latin typeface="Arial" panose="020B0604020202020204" pitchFamily="34" charset="0"/>
              <a:cs typeface="Arial" panose="020B0604020202020204" pitchFamily="34" charset="0"/>
            </a:endParaRPr>
          </a:p>
          <a:p>
            <a:pPr marL="0" indent="0" algn="just" fontAlgn="base">
              <a:buNone/>
            </a:pPr>
            <a:r>
              <a:rPr lang="en-US" sz="2000" b="1" dirty="0">
                <a:latin typeface="Arial" panose="020B0604020202020204" pitchFamily="34" charset="0"/>
                <a:cs typeface="Arial" panose="020B0604020202020204" pitchFamily="34" charset="0"/>
              </a:rPr>
              <a:t>Example </a:t>
            </a:r>
            <a:r>
              <a:rPr lang="en-US" sz="2000" b="1" dirty="0" smtClean="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Bob </a:t>
            </a:r>
            <a:r>
              <a:rPr lang="en-US" sz="2000" dirty="0">
                <a:latin typeface="Arial" panose="020B0604020202020204" pitchFamily="34" charset="0"/>
                <a:cs typeface="Arial" panose="020B0604020202020204" pitchFamily="34" charset="0"/>
              </a:rPr>
              <a:t>has to choose 5 marbles from 12 marbles. In how many ways can she choose them?</a:t>
            </a:r>
          </a:p>
          <a:p>
            <a:pPr marL="0" indent="0" algn="just" fontAlgn="base">
              <a:buNone/>
            </a:pPr>
            <a:r>
              <a:rPr lang="en-US" sz="2000" b="1" dirty="0">
                <a:latin typeface="Arial" panose="020B0604020202020204" pitchFamily="34" charset="0"/>
                <a:cs typeface="Arial" panose="020B0604020202020204" pitchFamily="34" charset="0"/>
              </a:rPr>
              <a:t>Solution:</a:t>
            </a:r>
            <a:endParaRPr lang="en-US" sz="2000" dirty="0">
              <a:latin typeface="Arial" panose="020B0604020202020204" pitchFamily="34" charset="0"/>
              <a:cs typeface="Arial" panose="020B0604020202020204" pitchFamily="34" charset="0"/>
            </a:endParaRPr>
          </a:p>
          <a:p>
            <a:pPr marL="0" indent="0" algn="just" fontAlgn="base">
              <a:buNone/>
            </a:pPr>
            <a:r>
              <a:rPr lang="en-US" sz="2000" dirty="0" smtClean="0">
                <a:latin typeface="Arial" panose="020B0604020202020204" pitchFamily="34" charset="0"/>
                <a:cs typeface="Arial" panose="020B0604020202020204" pitchFamily="34" charset="0"/>
              </a:rPr>
              <a:t>Bob </a:t>
            </a:r>
            <a:r>
              <a:rPr lang="en-US" sz="2000" dirty="0">
                <a:latin typeface="Arial" panose="020B0604020202020204" pitchFamily="34" charset="0"/>
                <a:cs typeface="Arial" panose="020B0604020202020204" pitchFamily="34" charset="0"/>
              </a:rPr>
              <a:t>has to choose 5 out of 12 marbles. The order doesn't matter here.</a:t>
            </a:r>
          </a:p>
          <a:p>
            <a:pPr marL="0" indent="0" algn="just" fontAlgn="base">
              <a:buNone/>
            </a:pPr>
            <a:r>
              <a:rPr lang="en-US" sz="2000" dirty="0">
                <a:latin typeface="Arial" panose="020B0604020202020204" pitchFamily="34" charset="0"/>
                <a:cs typeface="Arial" panose="020B0604020202020204" pitchFamily="34" charset="0"/>
              </a:rPr>
              <a:t>Thus combinations used here. she can choose it in </a:t>
            </a:r>
            <a:r>
              <a:rPr lang="en-US" sz="2000" baseline="30000" dirty="0" smtClean="0">
                <a:latin typeface="Arial" panose="020B0604020202020204" pitchFamily="34" charset="0"/>
                <a:cs typeface="Arial" panose="020B0604020202020204" pitchFamily="34" charset="0"/>
              </a:rPr>
              <a:t>12</a:t>
            </a:r>
            <a:r>
              <a:rPr lang="en-US" sz="2000" dirty="0" smtClean="0">
                <a:latin typeface="Arial" panose="020B0604020202020204" pitchFamily="34" charset="0"/>
                <a:cs typeface="Arial" panose="020B0604020202020204" pitchFamily="34" charset="0"/>
              </a:rPr>
              <a:t>C5</a:t>
            </a:r>
            <a:r>
              <a:rPr lang="en-US" sz="2000" dirty="0">
                <a:latin typeface="Arial" panose="020B0604020202020204" pitchFamily="34" charset="0"/>
                <a:cs typeface="Arial" panose="020B0604020202020204" pitchFamily="34" charset="0"/>
              </a:rPr>
              <a:t> ways.</a:t>
            </a:r>
          </a:p>
          <a:p>
            <a:pPr marL="0" indent="0" algn="just" fontAlgn="base">
              <a:buNone/>
            </a:pPr>
            <a:r>
              <a:rPr lang="en-US" sz="2000" dirty="0" smtClean="0">
                <a:latin typeface="Arial" panose="020B0604020202020204" pitchFamily="34" charset="0"/>
                <a:cs typeface="Arial" panose="020B0604020202020204" pitchFamily="34" charset="0"/>
              </a:rPr>
              <a:t>12C5=12! / 5</a:t>
            </a:r>
            <a:r>
              <a:rPr lang="en-US" sz="2000" dirty="0">
                <a:latin typeface="Arial" panose="020B0604020202020204" pitchFamily="34" charset="0"/>
                <a:cs typeface="Arial" panose="020B0604020202020204" pitchFamily="34" charset="0"/>
              </a:rPr>
              <a:t>!×(12−5</a:t>
            </a:r>
            <a:r>
              <a:rPr lang="en-US" sz="2000" dirty="0" smtClean="0">
                <a:latin typeface="Arial" panose="020B0604020202020204" pitchFamily="34" charset="0"/>
                <a:cs typeface="Arial" panose="020B0604020202020204" pitchFamily="34" charset="0"/>
              </a:rPr>
              <a:t>)!</a:t>
            </a:r>
          </a:p>
          <a:p>
            <a:pPr marL="0" indent="0" algn="just" fontAlgn="base">
              <a:buNone/>
            </a:pPr>
            <a:r>
              <a:rPr lang="en-US" sz="2000" dirty="0" smtClean="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12</a:t>
            </a:r>
            <a:r>
              <a:rPr lang="en-US" sz="2000" dirty="0" smtClean="0">
                <a:latin typeface="Arial" panose="020B0604020202020204" pitchFamily="34" charset="0"/>
                <a:cs typeface="Arial" panose="020B0604020202020204" pitchFamily="34" charset="0"/>
              </a:rPr>
              <a:t>! / 5</a:t>
            </a:r>
            <a:r>
              <a:rPr lang="en-US" sz="2000" dirty="0">
                <a:latin typeface="Arial" panose="020B0604020202020204" pitchFamily="34" charset="0"/>
                <a:cs typeface="Arial" panose="020B0604020202020204" pitchFamily="34" charset="0"/>
              </a:rPr>
              <a:t>!×7</a:t>
            </a:r>
            <a:r>
              <a:rPr lang="en-US" sz="2000" dirty="0" smtClean="0">
                <a:latin typeface="Arial" panose="020B0604020202020204" pitchFamily="34" charset="0"/>
                <a:cs typeface="Arial" panose="020B0604020202020204" pitchFamily="34" charset="0"/>
              </a:rPr>
              <a:t>!</a:t>
            </a:r>
          </a:p>
          <a:p>
            <a:pPr marL="0" indent="0" algn="just" fontAlgn="base">
              <a:buNone/>
            </a:pPr>
            <a:r>
              <a:rPr lang="en-US" sz="2000" dirty="0" smtClean="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12×11×10×9×8×7</a:t>
            </a:r>
            <a:r>
              <a:rPr lang="en-US" sz="2000" dirty="0" smtClean="0">
                <a:latin typeface="Arial" panose="020B0604020202020204" pitchFamily="34" charset="0"/>
                <a:cs typeface="Arial" panose="020B0604020202020204" pitchFamily="34" charset="0"/>
              </a:rPr>
              <a:t>! / 5</a:t>
            </a:r>
            <a:r>
              <a:rPr lang="en-US" sz="2000" dirty="0">
                <a:latin typeface="Arial" panose="020B0604020202020204" pitchFamily="34" charset="0"/>
                <a:cs typeface="Arial" panose="020B0604020202020204" pitchFamily="34" charset="0"/>
              </a:rPr>
              <a:t>!×7</a:t>
            </a:r>
            <a:r>
              <a:rPr lang="en-US" sz="2000" dirty="0" smtClean="0">
                <a:latin typeface="Arial" panose="020B0604020202020204" pitchFamily="34" charset="0"/>
                <a:cs typeface="Arial" panose="020B0604020202020204" pitchFamily="34" charset="0"/>
              </a:rPr>
              <a:t>!</a:t>
            </a:r>
          </a:p>
          <a:p>
            <a:pPr marL="0" indent="0" algn="just" fontAlgn="base">
              <a:buNone/>
            </a:pPr>
            <a:r>
              <a:rPr lang="en-US" sz="2000" dirty="0" smtClean="0">
                <a:latin typeface="Arial" panose="020B0604020202020204" pitchFamily="34" charset="0"/>
                <a:cs typeface="Arial" panose="020B0604020202020204" pitchFamily="34" charset="0"/>
              </a:rPr>
              <a:t>=12×11×10×9×8 / 5!</a:t>
            </a:r>
          </a:p>
          <a:p>
            <a:pPr marL="0" indent="0">
              <a:buNone/>
            </a:pPr>
            <a:r>
              <a:rPr lang="en-US" sz="2000" dirty="0" smtClean="0">
                <a:latin typeface="Arial" panose="020B0604020202020204" pitchFamily="34" charset="0"/>
                <a:cs typeface="Arial" panose="020B0604020202020204" pitchFamily="34" charset="0"/>
              </a:rPr>
              <a:t>=792</a:t>
            </a:r>
            <a:br>
              <a:rPr lang="en-US" sz="2000" dirty="0" smtClean="0">
                <a:latin typeface="Arial" panose="020B0604020202020204" pitchFamily="34" charset="0"/>
                <a:cs typeface="Arial" panose="020B0604020202020204" pitchFamily="34" charset="0"/>
              </a:rPr>
            </a:br>
            <a:r>
              <a:rPr lang="en-US" sz="2000" dirty="0" smtClean="0">
                <a:latin typeface="Arial" panose="020B0604020202020204" pitchFamily="34" charset="0"/>
                <a:cs typeface="Arial" panose="020B0604020202020204" pitchFamily="34" charset="0"/>
              </a:rPr>
              <a:t/>
            </a:r>
            <a:br>
              <a:rPr lang="en-US" sz="2000" dirty="0" smtClean="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24722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Permutation</a:t>
            </a:r>
            <a:endParaRPr lang="en-US" dirty="0"/>
          </a:p>
        </p:txBody>
      </p:sp>
      <p:sp>
        <p:nvSpPr>
          <p:cNvPr id="3" name="Slide Number Placeholder 2"/>
          <p:cNvSpPr>
            <a:spLocks noGrp="1"/>
          </p:cNvSpPr>
          <p:nvPr>
            <p:ph type="sldNum" sz="quarter" idx="12"/>
          </p:nvPr>
        </p:nvSpPr>
        <p:spPr/>
        <p:txBody>
          <a:bodyPr/>
          <a:lstStyle/>
          <a:p>
            <a:fld id="{25E19944-04AC-4CD8-BA69-63C2A678C21A}" type="slidenum">
              <a:rPr lang="en-US" smtClean="0"/>
              <a:pPr/>
              <a:t>39</a:t>
            </a:fld>
            <a:endParaRPr lang="en-US"/>
          </a:p>
        </p:txBody>
      </p:sp>
      <p:sp>
        <p:nvSpPr>
          <p:cNvPr id="4" name="Content Placeholder 3"/>
          <p:cNvSpPr>
            <a:spLocks noGrp="1"/>
          </p:cNvSpPr>
          <p:nvPr>
            <p:ph sz="quarter" idx="1"/>
          </p:nvPr>
        </p:nvSpPr>
        <p:spPr/>
        <p:txBody>
          <a:bodyPr>
            <a:normAutofit fontScale="92500" lnSpcReduction="20000"/>
          </a:bodyPr>
          <a:lstStyle/>
          <a:p>
            <a:pPr marL="0" indent="0">
              <a:buNone/>
            </a:pPr>
            <a:r>
              <a:rPr lang="en-US" dirty="0"/>
              <a:t>When the order </a:t>
            </a:r>
            <a:r>
              <a:rPr lang="en-US" b="1" dirty="0"/>
              <a:t>does</a:t>
            </a:r>
            <a:r>
              <a:rPr lang="en-US" dirty="0"/>
              <a:t> matter it is a </a:t>
            </a:r>
            <a:r>
              <a:rPr lang="en-US" b="1" dirty="0"/>
              <a:t>Permutation</a:t>
            </a:r>
            <a:r>
              <a:rPr lang="en-US" dirty="0"/>
              <a:t>.</a:t>
            </a:r>
          </a:p>
          <a:p>
            <a:pPr marL="0" indent="0" algn="just" fontAlgn="base">
              <a:buNone/>
            </a:pPr>
            <a:r>
              <a:rPr lang="en-US" b="1" dirty="0" smtClean="0"/>
              <a:t>Example:</a:t>
            </a:r>
            <a:r>
              <a:rPr lang="en-US" b="1" dirty="0"/>
              <a:t> </a:t>
            </a:r>
            <a:r>
              <a:rPr lang="en-US" dirty="0"/>
              <a:t>There are 10 marbles in a bag, numbered from 0 to 9. How many ways of 3 different digits could be formed by picking them up from the bag, without replacement?</a:t>
            </a:r>
          </a:p>
          <a:p>
            <a:pPr marL="0" indent="0" algn="just" fontAlgn="base">
              <a:buNone/>
            </a:pPr>
            <a:r>
              <a:rPr lang="en-US" b="1" dirty="0"/>
              <a:t>Solution:</a:t>
            </a:r>
            <a:endParaRPr lang="en-US" dirty="0"/>
          </a:p>
          <a:p>
            <a:pPr marL="0" indent="0" algn="just" fontAlgn="base">
              <a:buNone/>
            </a:pPr>
            <a:r>
              <a:rPr lang="en-US" dirty="0"/>
              <a:t>The number of permutations of 3 digits chosen from 10 marbles is </a:t>
            </a:r>
            <a:r>
              <a:rPr lang="en-US" dirty="0" smtClean="0"/>
              <a:t>10P3</a:t>
            </a:r>
            <a:endParaRPr lang="en-US" dirty="0"/>
          </a:p>
          <a:p>
            <a:pPr marL="0" indent="0" algn="just" fontAlgn="base">
              <a:buNone/>
            </a:pPr>
            <a:r>
              <a:rPr lang="en-US" dirty="0"/>
              <a:t>Using Permutations formula, we know </a:t>
            </a:r>
            <a:endParaRPr lang="en-US" dirty="0" smtClean="0"/>
          </a:p>
          <a:p>
            <a:pPr marL="0" indent="0" algn="just" fontAlgn="base">
              <a:buNone/>
            </a:pPr>
            <a:r>
              <a:rPr lang="en-US" dirty="0"/>
              <a:t> </a:t>
            </a:r>
            <a:r>
              <a:rPr lang="en-US" dirty="0" smtClean="0"/>
              <a:t>              </a:t>
            </a:r>
            <a:r>
              <a:rPr lang="en-US" dirty="0" err="1" smtClean="0"/>
              <a:t>nPr</a:t>
            </a:r>
            <a:r>
              <a:rPr lang="en-US" dirty="0" smtClean="0"/>
              <a:t> = n! / (</a:t>
            </a:r>
            <a:r>
              <a:rPr lang="en-US" dirty="0"/>
              <a:t>n−r</a:t>
            </a:r>
            <a:r>
              <a:rPr lang="en-US" dirty="0" smtClean="0"/>
              <a:t>)!</a:t>
            </a:r>
            <a:endParaRPr lang="en-US" dirty="0"/>
          </a:p>
          <a:p>
            <a:pPr marL="0" indent="0" algn="just" fontAlgn="base">
              <a:buNone/>
            </a:pPr>
            <a:r>
              <a:rPr lang="en-US" dirty="0" smtClean="0"/>
              <a:t>              10P3= </a:t>
            </a:r>
            <a:r>
              <a:rPr lang="en-US" dirty="0"/>
              <a:t>10 !/ 7!</a:t>
            </a:r>
          </a:p>
          <a:p>
            <a:pPr marL="0" indent="0" algn="just" fontAlgn="base">
              <a:buNone/>
            </a:pPr>
            <a:r>
              <a:rPr lang="en-US" dirty="0" smtClean="0"/>
              <a:t>              10</a:t>
            </a:r>
            <a:r>
              <a:rPr lang="en-US" dirty="0"/>
              <a:t>× 9 × 8 </a:t>
            </a:r>
            <a:r>
              <a:rPr lang="en-US" dirty="0" smtClean="0"/>
              <a:t>= 720</a:t>
            </a:r>
            <a:endParaRPr lang="en-US" dirty="0"/>
          </a:p>
          <a:p>
            <a:pPr marL="0" indent="0" algn="just" fontAlgn="base">
              <a:buNone/>
            </a:pPr>
            <a:r>
              <a:rPr lang="en-US" b="1" dirty="0"/>
              <a:t>Answer:</a:t>
            </a:r>
            <a:r>
              <a:rPr lang="en-US" dirty="0"/>
              <a:t> Thus in 720 ways, 3 digits can be formed from 10 marbles.</a:t>
            </a:r>
          </a:p>
          <a:p>
            <a:endParaRPr lang="en-US" dirty="0"/>
          </a:p>
        </p:txBody>
      </p:sp>
    </p:spTree>
    <p:extLst>
      <p:ext uri="{BB962C8B-B14F-4D97-AF65-F5344CB8AC3E}">
        <p14:creationId xmlns:p14="http://schemas.microsoft.com/office/powerpoint/2010/main" val="32485844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524000"/>
          </a:xfrm>
        </p:spPr>
        <p:txBody>
          <a:bodyPr>
            <a:noAutofit/>
          </a:bodyPr>
          <a:lstStyle/>
          <a:p>
            <a:r>
              <a:rPr lang="en-US" sz="2800" b="1" dirty="0" smtClean="0">
                <a:solidFill>
                  <a:schemeClr val="tx1">
                    <a:lumMod val="85000"/>
                    <a:lumOff val="15000"/>
                  </a:schemeClr>
                </a:solidFill>
              </a:rPr>
              <a:t>Example:</a:t>
            </a:r>
            <a:r>
              <a:rPr lang="en-US" sz="2800" dirty="0">
                <a:solidFill>
                  <a:schemeClr val="tx1">
                    <a:lumMod val="85000"/>
                    <a:lumOff val="15000"/>
                  </a:schemeClr>
                </a:solidFill>
              </a:rPr>
              <a:t> Find the permutation and combination given n = 8 and r = 5.</a:t>
            </a:r>
            <a:br>
              <a:rPr lang="en-US" sz="2800" dirty="0">
                <a:solidFill>
                  <a:schemeClr val="tx1">
                    <a:lumMod val="85000"/>
                    <a:lumOff val="15000"/>
                  </a:schemeClr>
                </a:solidFill>
              </a:rPr>
            </a:br>
            <a:endParaRPr lang="en-US" sz="2800" dirty="0">
              <a:solidFill>
                <a:schemeClr val="tx1">
                  <a:lumMod val="85000"/>
                  <a:lumOff val="15000"/>
                </a:schemeClr>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40</a:t>
            </a:fld>
            <a:endParaRPr lang="en-US"/>
          </a:p>
        </p:txBody>
      </p:sp>
      <p:sp>
        <p:nvSpPr>
          <p:cNvPr id="4" name="Content Placeholder 3"/>
          <p:cNvSpPr>
            <a:spLocks noGrp="1"/>
          </p:cNvSpPr>
          <p:nvPr>
            <p:ph sz="quarter" idx="1"/>
          </p:nvPr>
        </p:nvSpPr>
        <p:spPr/>
        <p:txBody>
          <a:bodyPr>
            <a:normAutofit fontScale="85000" lnSpcReduction="20000"/>
          </a:bodyPr>
          <a:lstStyle/>
          <a:p>
            <a:pPr marL="0" indent="0" fontAlgn="base">
              <a:buNone/>
            </a:pPr>
            <a:r>
              <a:rPr lang="en-US" b="1" dirty="0" smtClean="0"/>
              <a:t>Solution</a:t>
            </a:r>
            <a:r>
              <a:rPr lang="en-US" b="1" dirty="0"/>
              <a:t>:</a:t>
            </a:r>
            <a:endParaRPr lang="en-US" dirty="0"/>
          </a:p>
          <a:p>
            <a:pPr marL="0" indent="0" fontAlgn="base">
              <a:buNone/>
            </a:pPr>
            <a:r>
              <a:rPr lang="en-US" dirty="0"/>
              <a:t>Applying the factorials in the permutation and combination formulas, we get</a:t>
            </a:r>
          </a:p>
          <a:p>
            <a:pPr marL="0" indent="0" fontAlgn="base">
              <a:buNone/>
            </a:pPr>
            <a:r>
              <a:rPr lang="en-US" dirty="0" err="1" smtClean="0"/>
              <a:t>nPr</a:t>
            </a:r>
            <a:r>
              <a:rPr lang="en-US" dirty="0" smtClean="0"/>
              <a:t> = n! / (</a:t>
            </a:r>
            <a:r>
              <a:rPr lang="en-US" dirty="0"/>
              <a:t>n−r</a:t>
            </a:r>
            <a:r>
              <a:rPr lang="en-US" dirty="0" smtClean="0"/>
              <a:t>)!</a:t>
            </a:r>
            <a:endParaRPr lang="en-US" dirty="0"/>
          </a:p>
          <a:p>
            <a:pPr marL="0" indent="0" fontAlgn="base">
              <a:buNone/>
            </a:pPr>
            <a:r>
              <a:rPr lang="en-US" dirty="0" smtClean="0"/>
              <a:t>      = 8! / (</a:t>
            </a:r>
            <a:r>
              <a:rPr lang="en-US" dirty="0"/>
              <a:t>8-5)!</a:t>
            </a:r>
          </a:p>
          <a:p>
            <a:pPr marL="0" indent="0" fontAlgn="base">
              <a:buNone/>
            </a:pPr>
            <a:r>
              <a:rPr lang="en-US" dirty="0" smtClean="0"/>
              <a:t>      = </a:t>
            </a:r>
            <a:r>
              <a:rPr lang="en-US" dirty="0"/>
              <a:t>(8×7×6×5×4×3×2×1)/(3×2×1)</a:t>
            </a:r>
          </a:p>
          <a:p>
            <a:pPr marL="0" indent="0" fontAlgn="base">
              <a:buNone/>
            </a:pPr>
            <a:r>
              <a:rPr lang="en-US" dirty="0" err="1" smtClean="0"/>
              <a:t>nPr</a:t>
            </a:r>
            <a:r>
              <a:rPr lang="en-US" dirty="0"/>
              <a:t> = 8×7×6×5×4 = </a:t>
            </a:r>
            <a:r>
              <a:rPr lang="en-US" dirty="0" smtClean="0"/>
              <a:t>6720</a:t>
            </a:r>
          </a:p>
          <a:p>
            <a:pPr marL="0" indent="0" fontAlgn="base">
              <a:buNone/>
            </a:pPr>
            <a:endParaRPr lang="en-US" dirty="0"/>
          </a:p>
          <a:p>
            <a:pPr marL="0" indent="0" fontAlgn="base">
              <a:buNone/>
            </a:pPr>
            <a:r>
              <a:rPr lang="en-US" dirty="0" err="1" smtClean="0"/>
              <a:t>nCr</a:t>
            </a:r>
            <a:r>
              <a:rPr lang="en-US" dirty="0" smtClean="0"/>
              <a:t> = n! / r</a:t>
            </a:r>
            <a:r>
              <a:rPr lang="en-US" dirty="0"/>
              <a:t>!.(n−r</a:t>
            </a:r>
            <a:r>
              <a:rPr lang="en-US" dirty="0" smtClean="0"/>
              <a:t>)!</a:t>
            </a:r>
            <a:endParaRPr lang="en-US" dirty="0"/>
          </a:p>
          <a:p>
            <a:pPr marL="0" indent="0" fontAlgn="base">
              <a:buNone/>
            </a:pPr>
            <a:r>
              <a:rPr lang="en-US" dirty="0" smtClean="0"/>
              <a:t>       =</a:t>
            </a:r>
            <a:r>
              <a:rPr lang="en-US" dirty="0"/>
              <a:t>8 </a:t>
            </a:r>
            <a:r>
              <a:rPr lang="en-US" dirty="0" smtClean="0"/>
              <a:t>! / </a:t>
            </a:r>
            <a:r>
              <a:rPr lang="en-US" dirty="0"/>
              <a:t>[5! (8-5</a:t>
            </a:r>
            <a:r>
              <a:rPr lang="en-US" dirty="0" smtClean="0"/>
              <a:t>)!]</a:t>
            </a:r>
          </a:p>
          <a:p>
            <a:pPr fontAlgn="base"/>
            <a:r>
              <a:rPr lang="en-US" dirty="0"/>
              <a:t>=(8×7×6×5×4×3×2×1</a:t>
            </a:r>
            <a:r>
              <a:rPr lang="en-US" dirty="0" smtClean="0"/>
              <a:t>) / [(</a:t>
            </a:r>
            <a:r>
              <a:rPr lang="en-US" dirty="0"/>
              <a:t>5×4×3×2×1)(3×2×1)]</a:t>
            </a:r>
          </a:p>
          <a:p>
            <a:pPr fontAlgn="base"/>
            <a:r>
              <a:rPr lang="en-US" dirty="0"/>
              <a:t>=56</a:t>
            </a:r>
            <a:br>
              <a:rPr lang="en-US" dirty="0"/>
            </a:br>
            <a:r>
              <a:rPr lang="en-US" dirty="0" err="1" smtClean="0"/>
              <a:t>nCr</a:t>
            </a:r>
            <a:r>
              <a:rPr lang="en-US" dirty="0"/>
              <a:t> </a:t>
            </a:r>
            <a:r>
              <a:rPr lang="en-US" dirty="0" smtClean="0"/>
              <a:t>= </a:t>
            </a:r>
            <a:r>
              <a:rPr lang="en-US" dirty="0"/>
              <a:t>56</a:t>
            </a:r>
            <a:br>
              <a:rPr lang="en-US" dirty="0"/>
            </a:br>
            <a:endParaRPr lang="en-US" dirty="0"/>
          </a:p>
          <a:p>
            <a:pPr marL="0" indent="0" fontAlgn="base">
              <a:buNone/>
            </a:pPr>
            <a:endParaRPr lang="en-US" dirty="0"/>
          </a:p>
          <a:p>
            <a:endParaRPr lang="en-US" dirty="0"/>
          </a:p>
        </p:txBody>
      </p:sp>
    </p:spTree>
    <p:extLst>
      <p:ext uri="{BB962C8B-B14F-4D97-AF65-F5344CB8AC3E}">
        <p14:creationId xmlns:p14="http://schemas.microsoft.com/office/powerpoint/2010/main" val="37926977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14400"/>
          </a:xfrm>
        </p:spPr>
        <p:txBody>
          <a:bodyPr>
            <a:noAutofit/>
          </a:bodyPr>
          <a:lstStyle/>
          <a:p>
            <a:pPr algn="just"/>
            <a:r>
              <a:rPr lang="en-US" sz="2000" b="1" dirty="0"/>
              <a:t>Example </a:t>
            </a:r>
            <a:r>
              <a:rPr lang="en-US" sz="2000" b="1" dirty="0" smtClean="0">
                <a:solidFill>
                  <a:schemeClr val="tx1">
                    <a:lumMod val="85000"/>
                    <a:lumOff val="15000"/>
                  </a:schemeClr>
                </a:solidFill>
              </a:rPr>
              <a:t>:</a:t>
            </a:r>
            <a:r>
              <a:rPr lang="en-US" sz="2000" b="1" dirty="0">
                <a:solidFill>
                  <a:schemeClr val="tx1">
                    <a:lumMod val="85000"/>
                    <a:lumOff val="15000"/>
                  </a:schemeClr>
                </a:solidFill>
              </a:rPr>
              <a:t> </a:t>
            </a:r>
            <a:r>
              <a:rPr lang="en-US" sz="2000" dirty="0">
                <a:solidFill>
                  <a:schemeClr val="tx1">
                    <a:lumMod val="85000"/>
                    <a:lumOff val="15000"/>
                  </a:schemeClr>
                </a:solidFill>
              </a:rPr>
              <a:t>A committee of 3 members is to be formed with 2 male members and 1 female member. Find the number of ways in which this committee can be formed from 5 male members and 4 female members.</a:t>
            </a:r>
            <a:endParaRPr lang="en-US" sz="2000" dirty="0">
              <a:solidFill>
                <a:schemeClr val="tx1">
                  <a:lumMod val="85000"/>
                  <a:lumOff val="15000"/>
                </a:schemeClr>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41</a:t>
            </a:fld>
            <a:endParaRPr lang="en-US"/>
          </a:p>
        </p:txBody>
      </p:sp>
      <p:sp>
        <p:nvSpPr>
          <p:cNvPr id="4" name="Content Placeholder 3"/>
          <p:cNvSpPr>
            <a:spLocks noGrp="1"/>
          </p:cNvSpPr>
          <p:nvPr>
            <p:ph sz="quarter" idx="1"/>
          </p:nvPr>
        </p:nvSpPr>
        <p:spPr/>
        <p:txBody>
          <a:bodyPr>
            <a:normAutofit fontScale="92500"/>
          </a:bodyPr>
          <a:lstStyle/>
          <a:p>
            <a:pPr marL="0" indent="0" fontAlgn="base">
              <a:buNone/>
            </a:pPr>
            <a:r>
              <a:rPr lang="en-US" b="1" dirty="0"/>
              <a:t>Solution:</a:t>
            </a:r>
            <a:endParaRPr lang="en-US" dirty="0"/>
          </a:p>
          <a:p>
            <a:pPr marL="0" indent="0" fontAlgn="base">
              <a:buNone/>
            </a:pPr>
            <a:r>
              <a:rPr lang="en-US" dirty="0"/>
              <a:t>The aim is to form a committee of 3 members, with 2 male members and 1 female member.</a:t>
            </a:r>
            <a:br>
              <a:rPr lang="en-US" dirty="0"/>
            </a:br>
            <a:r>
              <a:rPr lang="en-US" dirty="0"/>
              <a:t>Number of male members = 5</a:t>
            </a:r>
            <a:br>
              <a:rPr lang="en-US" dirty="0"/>
            </a:br>
            <a:r>
              <a:rPr lang="en-US" dirty="0"/>
              <a:t>Number of female members = 4</a:t>
            </a:r>
            <a:br>
              <a:rPr lang="en-US" dirty="0"/>
            </a:br>
            <a:r>
              <a:rPr lang="en-US" dirty="0"/>
              <a:t>We can form this committee by taking 2 male members from 5 male members, and 1 female member from 4 female members.</a:t>
            </a:r>
            <a:br>
              <a:rPr lang="en-US" dirty="0"/>
            </a:br>
            <a:r>
              <a:rPr lang="en-US" dirty="0"/>
              <a:t>We apply the combinations formula, to find the solution.</a:t>
            </a:r>
            <a:br>
              <a:rPr lang="en-US" dirty="0"/>
            </a:br>
            <a:r>
              <a:rPr lang="en-US" dirty="0"/>
              <a:t>The number of ways of forming this committee = </a:t>
            </a:r>
            <a:r>
              <a:rPr lang="en-US" dirty="0" smtClean="0"/>
              <a:t>5C2×4C1</a:t>
            </a:r>
            <a:r>
              <a:rPr lang="en-US" dirty="0"/>
              <a:t/>
            </a:r>
            <a:br>
              <a:rPr lang="en-US" dirty="0"/>
            </a:br>
            <a:r>
              <a:rPr lang="en-US" dirty="0"/>
              <a:t>=5 </a:t>
            </a:r>
            <a:r>
              <a:rPr lang="en-US" dirty="0" smtClean="0"/>
              <a:t>! / </a:t>
            </a:r>
            <a:r>
              <a:rPr lang="en-US" dirty="0"/>
              <a:t>[2! (3)!] × 4 </a:t>
            </a:r>
            <a:r>
              <a:rPr lang="en-US" dirty="0" smtClean="0"/>
              <a:t>! / </a:t>
            </a:r>
            <a:r>
              <a:rPr lang="en-US" dirty="0"/>
              <a:t>[1! (3)!]</a:t>
            </a:r>
          </a:p>
          <a:p>
            <a:pPr marL="0" indent="0" fontAlgn="base">
              <a:buNone/>
            </a:pPr>
            <a:r>
              <a:rPr lang="en-US" dirty="0"/>
              <a:t>= [120/12] × [24/6]</a:t>
            </a:r>
          </a:p>
          <a:p>
            <a:pPr marL="0" indent="0" fontAlgn="base">
              <a:buNone/>
            </a:pPr>
            <a:r>
              <a:rPr lang="en-US" dirty="0"/>
              <a:t>= 10 × 4 = 40</a:t>
            </a:r>
          </a:p>
          <a:p>
            <a:endParaRPr lang="en-US" dirty="0"/>
          </a:p>
        </p:txBody>
      </p:sp>
    </p:spTree>
    <p:extLst>
      <p:ext uri="{BB962C8B-B14F-4D97-AF65-F5344CB8AC3E}">
        <p14:creationId xmlns:p14="http://schemas.microsoft.com/office/powerpoint/2010/main" val="29605270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chemeClr val="tx1">
                    <a:lumMod val="85000"/>
                    <a:lumOff val="15000"/>
                  </a:schemeClr>
                </a:solidFill>
              </a:rPr>
              <a:t>Example:</a:t>
            </a:r>
            <a:r>
              <a:rPr lang="en-US" dirty="0">
                <a:solidFill>
                  <a:schemeClr val="tx1">
                    <a:lumMod val="85000"/>
                    <a:lumOff val="15000"/>
                  </a:schemeClr>
                </a:solidFill>
              </a:rPr>
              <a:t> Find the permutation and combination given n = 8 and r = 5.</a:t>
            </a:r>
            <a:endParaRPr lang="en-US" dirty="0">
              <a:solidFill>
                <a:schemeClr val="tx1">
                  <a:lumMod val="85000"/>
                  <a:lumOff val="15000"/>
                </a:schemeClr>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42</a:t>
            </a:fld>
            <a:endParaRPr lang="en-US"/>
          </a:p>
        </p:txBody>
      </p:sp>
      <p:sp>
        <p:nvSpPr>
          <p:cNvPr id="4" name="Content Placeholder 3"/>
          <p:cNvSpPr>
            <a:spLocks noGrp="1"/>
          </p:cNvSpPr>
          <p:nvPr>
            <p:ph sz="quarter" idx="1"/>
          </p:nvPr>
        </p:nvSpPr>
        <p:spPr/>
        <p:txBody>
          <a:bodyPr>
            <a:normAutofit fontScale="92500" lnSpcReduction="10000"/>
          </a:bodyPr>
          <a:lstStyle/>
          <a:p>
            <a:pPr marL="0" indent="0" fontAlgn="base">
              <a:buNone/>
            </a:pPr>
            <a:r>
              <a:rPr lang="en-US" b="1" dirty="0"/>
              <a:t>Solution:</a:t>
            </a:r>
            <a:endParaRPr lang="en-US" dirty="0"/>
          </a:p>
          <a:p>
            <a:pPr marL="0" indent="0" fontAlgn="base">
              <a:buNone/>
            </a:pPr>
            <a:r>
              <a:rPr lang="en-US" dirty="0"/>
              <a:t>Applying the factorials in the permutation and combination formulas, we get</a:t>
            </a:r>
          </a:p>
          <a:p>
            <a:pPr marL="623888" indent="0" fontAlgn="base">
              <a:buNone/>
            </a:pPr>
            <a:r>
              <a:rPr lang="en-US" dirty="0" err="1" smtClean="0"/>
              <a:t>nPr</a:t>
            </a:r>
            <a:r>
              <a:rPr lang="en-US" dirty="0" smtClean="0"/>
              <a:t> = n! / (</a:t>
            </a:r>
            <a:r>
              <a:rPr lang="en-US" dirty="0"/>
              <a:t>n−r</a:t>
            </a:r>
            <a:r>
              <a:rPr lang="en-US" dirty="0" smtClean="0"/>
              <a:t>)!</a:t>
            </a:r>
            <a:endParaRPr lang="en-US" dirty="0"/>
          </a:p>
          <a:p>
            <a:pPr marL="623888" indent="0" fontAlgn="base">
              <a:buNone/>
            </a:pPr>
            <a:r>
              <a:rPr lang="en-US" dirty="0"/>
              <a:t>=8</a:t>
            </a:r>
            <a:r>
              <a:rPr lang="en-US" dirty="0" smtClean="0"/>
              <a:t>! / (</a:t>
            </a:r>
            <a:r>
              <a:rPr lang="en-US" dirty="0"/>
              <a:t>8-5)!</a:t>
            </a:r>
          </a:p>
          <a:p>
            <a:pPr marL="623888" indent="0" fontAlgn="base">
              <a:buNone/>
            </a:pPr>
            <a:r>
              <a:rPr lang="en-US" dirty="0"/>
              <a:t>= (8×7×6×5×4×3×2×1)/(3×2×1)</a:t>
            </a:r>
          </a:p>
          <a:p>
            <a:pPr marL="623888" indent="0" fontAlgn="base">
              <a:buNone/>
            </a:pPr>
            <a:r>
              <a:rPr lang="en-US" dirty="0" err="1" smtClean="0"/>
              <a:t>nPr</a:t>
            </a:r>
            <a:r>
              <a:rPr lang="en-US" dirty="0"/>
              <a:t> = 8×7×6×5×4 = 6720</a:t>
            </a:r>
          </a:p>
          <a:p>
            <a:pPr marL="623888" indent="0" fontAlgn="base">
              <a:buNone/>
            </a:pPr>
            <a:r>
              <a:rPr lang="en-US" dirty="0" err="1" smtClean="0"/>
              <a:t>nCr</a:t>
            </a:r>
            <a:r>
              <a:rPr lang="en-US" dirty="0" smtClean="0"/>
              <a:t> = n! / r</a:t>
            </a:r>
            <a:r>
              <a:rPr lang="en-US" dirty="0"/>
              <a:t>!.(n−r</a:t>
            </a:r>
            <a:r>
              <a:rPr lang="en-US" dirty="0" smtClean="0"/>
              <a:t>)!</a:t>
            </a:r>
            <a:endParaRPr lang="en-US" dirty="0"/>
          </a:p>
          <a:p>
            <a:pPr marL="623888" indent="0" fontAlgn="base">
              <a:buNone/>
            </a:pPr>
            <a:r>
              <a:rPr lang="en-US" dirty="0"/>
              <a:t>=8 </a:t>
            </a:r>
            <a:r>
              <a:rPr lang="en-US" dirty="0" smtClean="0"/>
              <a:t>! / </a:t>
            </a:r>
            <a:r>
              <a:rPr lang="en-US" dirty="0"/>
              <a:t>[5! (8-5)!]</a:t>
            </a:r>
          </a:p>
          <a:p>
            <a:pPr marL="623888" indent="0" fontAlgn="base">
              <a:buNone/>
            </a:pPr>
            <a:r>
              <a:rPr lang="en-US" dirty="0"/>
              <a:t>=(8×7×6×5×4×3×2×1)/[(5×4×3×2×1)(3×2×1)]</a:t>
            </a:r>
          </a:p>
          <a:p>
            <a:pPr marL="623888" indent="0" fontAlgn="base">
              <a:buNone/>
            </a:pPr>
            <a:r>
              <a:rPr lang="en-US" dirty="0"/>
              <a:t>=56</a:t>
            </a:r>
            <a:br>
              <a:rPr lang="en-US" dirty="0"/>
            </a:br>
            <a:r>
              <a:rPr lang="en-US" dirty="0" err="1" smtClean="0"/>
              <a:t>nCr</a:t>
            </a:r>
            <a:r>
              <a:rPr lang="en-US" dirty="0" smtClean="0"/>
              <a:t>= </a:t>
            </a:r>
            <a:r>
              <a:rPr lang="en-US" dirty="0"/>
              <a:t>56</a:t>
            </a:r>
          </a:p>
          <a:p>
            <a:endParaRPr lang="en-US" dirty="0"/>
          </a:p>
        </p:txBody>
      </p:sp>
    </p:spTree>
    <p:extLst>
      <p:ext uri="{BB962C8B-B14F-4D97-AF65-F5344CB8AC3E}">
        <p14:creationId xmlns:p14="http://schemas.microsoft.com/office/powerpoint/2010/main" val="38719645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The Principle of </a:t>
            </a:r>
            <a:r>
              <a:rPr lang="en-US" dirty="0" smtClean="0">
                <a:solidFill>
                  <a:schemeClr val="tx1"/>
                </a:solidFill>
              </a:rPr>
              <a:t>Inclusion–Exclusion</a:t>
            </a:r>
            <a:endParaRPr lang="en-US" dirty="0">
              <a:solidFill>
                <a:schemeClr val="tx1"/>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43</a:t>
            </a:fld>
            <a:endParaRPr lang="en-US"/>
          </a:p>
        </p:txBody>
      </p:sp>
      <p:sp>
        <p:nvSpPr>
          <p:cNvPr id="4" name="Content Placeholder 3"/>
          <p:cNvSpPr>
            <a:spLocks noGrp="1"/>
          </p:cNvSpPr>
          <p:nvPr>
            <p:ph sz="quarter" idx="1"/>
          </p:nvPr>
        </p:nvSpPr>
        <p:spPr/>
        <p:txBody>
          <a:bodyPr/>
          <a:lstStyle/>
          <a:p>
            <a:endParaRPr lang="en-US" dirty="0" smtClean="0"/>
          </a:p>
          <a:p>
            <a:pPr marL="0" indent="0">
              <a:buNone/>
            </a:pPr>
            <a:r>
              <a:rPr lang="en-US" dirty="0" smtClean="0"/>
              <a:t>   |</a:t>
            </a:r>
            <a:r>
              <a:rPr lang="en-US" dirty="0"/>
              <a:t>A ∪ B</a:t>
            </a:r>
            <a:r>
              <a:rPr lang="en-US" dirty="0" smtClean="0"/>
              <a:t>| = |</a:t>
            </a:r>
            <a:r>
              <a:rPr lang="en-US" dirty="0"/>
              <a:t>A</a:t>
            </a:r>
            <a:r>
              <a:rPr lang="en-US" dirty="0" smtClean="0"/>
              <a:t>| + |</a:t>
            </a:r>
            <a:r>
              <a:rPr lang="en-US" dirty="0"/>
              <a:t>B</a:t>
            </a:r>
            <a:r>
              <a:rPr lang="en-US" dirty="0" smtClean="0"/>
              <a:t>| − |</a:t>
            </a:r>
            <a:r>
              <a:rPr lang="en-US" dirty="0"/>
              <a:t>A ∩ B</a:t>
            </a:r>
            <a:r>
              <a:rPr lang="en-US" dirty="0" smtClean="0"/>
              <a:t>|</a:t>
            </a:r>
          </a:p>
          <a:p>
            <a:pPr marL="0" indent="0">
              <a:buNone/>
            </a:pPr>
            <a:endParaRPr lang="en-US" dirty="0"/>
          </a:p>
          <a:p>
            <a:pPr marL="0" indent="0" algn="just">
              <a:buNone/>
            </a:pPr>
            <a:r>
              <a:rPr lang="en-US" dirty="0" smtClean="0"/>
              <a:t>Example: </a:t>
            </a:r>
            <a:r>
              <a:rPr lang="en-US" dirty="0"/>
              <a:t>In a discrete mathematics class every student is a major in computer science or mathematics, or both. The number of students having computer science as a major (possibly along with mathematics) is 25; the number of students having mathematics as a major (possibly along with computer science) is 13; and the number of students majoring in both computer science and mathematics is 8. How many students are in this class?</a:t>
            </a:r>
          </a:p>
        </p:txBody>
      </p:sp>
    </p:spTree>
    <p:extLst>
      <p:ext uri="{BB962C8B-B14F-4D97-AF65-F5344CB8AC3E}">
        <p14:creationId xmlns:p14="http://schemas.microsoft.com/office/powerpoint/2010/main" val="13869260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44</a:t>
            </a:fld>
            <a:endParaRPr lang="en-US"/>
          </a:p>
        </p:txBody>
      </p:sp>
      <p:sp>
        <p:nvSpPr>
          <p:cNvPr id="4" name="Content Placeholder 3"/>
          <p:cNvSpPr>
            <a:spLocks noGrp="1"/>
          </p:cNvSpPr>
          <p:nvPr>
            <p:ph sz="quarter" idx="1"/>
          </p:nvPr>
        </p:nvSpPr>
        <p:spPr/>
        <p:txBody>
          <a:bodyPr/>
          <a:lstStyle/>
          <a:p>
            <a:pPr marL="0" indent="0" algn="just">
              <a:buNone/>
            </a:pPr>
            <a:r>
              <a:rPr lang="en-US" dirty="0" smtClean="0"/>
              <a:t>Let </a:t>
            </a:r>
            <a:r>
              <a:rPr lang="en-US" dirty="0"/>
              <a:t>A be the set of students in the class majoring in computer science and B be the set of students in the class majoring in mathematics. Then A ∩ B is the set of students in the class who are joint mathematics and computer science majors. Because every student in the class is majoring in either computer science or mathematics (or both), it follows that the number of students in the class is |A ∪ B|. Therefore, </a:t>
            </a:r>
            <a:endParaRPr lang="en-US" dirty="0" smtClean="0"/>
          </a:p>
          <a:p>
            <a:pPr marL="0" indent="0" algn="just">
              <a:buNone/>
            </a:pPr>
            <a:r>
              <a:rPr lang="en-US" dirty="0"/>
              <a:t> </a:t>
            </a:r>
            <a:r>
              <a:rPr lang="en-US" dirty="0" smtClean="0"/>
              <a:t>     |</a:t>
            </a:r>
            <a:r>
              <a:rPr lang="en-US" dirty="0"/>
              <a:t>A ∪ B|=|A|+|B|−|A ∩ B| </a:t>
            </a:r>
            <a:endParaRPr lang="en-US" dirty="0" smtClean="0"/>
          </a:p>
          <a:p>
            <a:pPr marL="0" indent="0" algn="just">
              <a:buNone/>
            </a:pPr>
            <a:r>
              <a:rPr lang="en-US" dirty="0"/>
              <a:t> </a:t>
            </a:r>
            <a:r>
              <a:rPr lang="en-US" dirty="0" smtClean="0"/>
              <a:t>      = </a:t>
            </a:r>
            <a:r>
              <a:rPr lang="en-US" dirty="0"/>
              <a:t>25 + 13 − </a:t>
            </a:r>
            <a:r>
              <a:rPr lang="en-US" dirty="0" smtClean="0"/>
              <a:t>8</a:t>
            </a:r>
          </a:p>
          <a:p>
            <a:pPr marL="0" indent="0" algn="just">
              <a:buNone/>
            </a:pPr>
            <a:r>
              <a:rPr lang="en-US" dirty="0"/>
              <a:t> </a:t>
            </a:r>
            <a:r>
              <a:rPr lang="en-US" dirty="0" smtClean="0"/>
              <a:t>      </a:t>
            </a:r>
            <a:r>
              <a:rPr lang="en-US" dirty="0"/>
              <a:t>= 30</a:t>
            </a:r>
          </a:p>
        </p:txBody>
      </p:sp>
    </p:spTree>
    <p:extLst>
      <p:ext uri="{BB962C8B-B14F-4D97-AF65-F5344CB8AC3E}">
        <p14:creationId xmlns:p14="http://schemas.microsoft.com/office/powerpoint/2010/main" val="32616952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371600"/>
          </a:xfrm>
        </p:spPr>
        <p:txBody>
          <a:bodyPr>
            <a:noAutofit/>
          </a:bodyPr>
          <a:lstStyle/>
          <a:p>
            <a:r>
              <a:rPr lang="en-US" sz="2400" dirty="0" smtClean="0"/>
              <a:t/>
            </a:r>
            <a:br>
              <a:rPr lang="en-US" sz="2400" dirty="0" smtClean="0"/>
            </a:br>
            <a:r>
              <a:rPr lang="en-US" sz="2400" dirty="0"/>
              <a:t/>
            </a:r>
            <a:br>
              <a:rPr lang="en-US" sz="2400" dirty="0"/>
            </a:br>
            <a:r>
              <a:rPr lang="en-US" sz="2400" dirty="0" smtClean="0"/>
              <a:t/>
            </a:r>
            <a:br>
              <a:rPr lang="en-US" sz="2400" dirty="0" smtClean="0"/>
            </a:br>
            <a:r>
              <a:rPr lang="en-US" sz="2400" dirty="0"/>
              <a:t/>
            </a:r>
            <a:br>
              <a:rPr lang="en-US" sz="2400" dirty="0"/>
            </a:br>
            <a:r>
              <a:rPr lang="en-US" sz="2400" dirty="0" smtClean="0"/>
              <a:t/>
            </a:r>
            <a:br>
              <a:rPr lang="en-US" sz="2400" dirty="0" smtClean="0"/>
            </a:br>
            <a:r>
              <a:rPr lang="en-US" sz="2400" dirty="0" smtClean="0"/>
              <a:t>E</a:t>
            </a:r>
            <a:r>
              <a:rPr lang="en-US" sz="2400" dirty="0" smtClean="0">
                <a:solidFill>
                  <a:schemeClr val="tx1"/>
                </a:solidFill>
              </a:rPr>
              <a:t>XAMPLE: </a:t>
            </a:r>
            <a:r>
              <a:rPr lang="en-US" sz="2400" dirty="0">
                <a:solidFill>
                  <a:schemeClr val="tx1"/>
                </a:solidFill>
              </a:rPr>
              <a:t>How many positive integers not exceeding 1000 are divisible by 7 or 11?</a:t>
            </a:r>
            <a:r>
              <a:rPr lang="en-US" sz="2400" dirty="0"/>
              <a:t/>
            </a:r>
            <a:br>
              <a:rPr lang="en-US" sz="2400" dirty="0"/>
            </a:br>
            <a:endParaRPr lang="en-US" sz="2400" dirty="0"/>
          </a:p>
        </p:txBody>
      </p:sp>
      <p:sp>
        <p:nvSpPr>
          <p:cNvPr id="3" name="Slide Number Placeholder 2"/>
          <p:cNvSpPr>
            <a:spLocks noGrp="1"/>
          </p:cNvSpPr>
          <p:nvPr>
            <p:ph type="sldNum" sz="quarter" idx="12"/>
          </p:nvPr>
        </p:nvSpPr>
        <p:spPr/>
        <p:txBody>
          <a:bodyPr/>
          <a:lstStyle/>
          <a:p>
            <a:fld id="{25E19944-04AC-4CD8-BA69-63C2A678C21A}" type="slidenum">
              <a:rPr lang="en-US" smtClean="0"/>
              <a:pPr/>
              <a:t>45</a:t>
            </a:fld>
            <a:endParaRPr lang="en-US"/>
          </a:p>
        </p:txBody>
      </p:sp>
      <p:sp>
        <p:nvSpPr>
          <p:cNvPr id="4" name="Content Placeholder 3"/>
          <p:cNvSpPr>
            <a:spLocks noGrp="1"/>
          </p:cNvSpPr>
          <p:nvPr>
            <p:ph sz="quarter" idx="1"/>
          </p:nvPr>
        </p:nvSpPr>
        <p:spPr/>
        <p:txBody>
          <a:bodyPr/>
          <a:lstStyle/>
          <a:p>
            <a:pPr marL="0" indent="0">
              <a:buNone/>
            </a:pPr>
            <a:endParaRPr lang="en-US" dirty="0" smtClean="0"/>
          </a:p>
          <a:p>
            <a:pPr marL="0" indent="0">
              <a:buNone/>
            </a:pPr>
            <a:r>
              <a:rPr lang="en-US" dirty="0" smtClean="0"/>
              <a:t>      </a:t>
            </a:r>
            <a:endParaRPr lang="en-US" dirty="0"/>
          </a:p>
        </p:txBody>
      </p:sp>
      <p:pic>
        <p:nvPicPr>
          <p:cNvPr id="6" name="Picture 5"/>
          <p:cNvPicPr>
            <a:picLocks noChangeAspect="1"/>
          </p:cNvPicPr>
          <p:nvPr/>
        </p:nvPicPr>
        <p:blipFill>
          <a:blip r:embed="rId2"/>
          <a:stretch>
            <a:fillRect/>
          </a:stretch>
        </p:blipFill>
        <p:spPr>
          <a:xfrm>
            <a:off x="1143000" y="1981201"/>
            <a:ext cx="6095999" cy="3048000"/>
          </a:xfrm>
          <a:prstGeom prst="rect">
            <a:avLst/>
          </a:prstGeom>
        </p:spPr>
      </p:pic>
    </p:spTree>
    <p:extLst>
      <p:ext uri="{BB962C8B-B14F-4D97-AF65-F5344CB8AC3E}">
        <p14:creationId xmlns:p14="http://schemas.microsoft.com/office/powerpoint/2010/main" val="3278642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THE PIGEONHOLE PRINCIPLE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46</a:t>
            </a:fld>
            <a:endParaRPr lang="en-US"/>
          </a:p>
        </p:txBody>
      </p:sp>
      <p:sp>
        <p:nvSpPr>
          <p:cNvPr id="4" name="Content Placeholder 3"/>
          <p:cNvSpPr>
            <a:spLocks noGrp="1"/>
          </p:cNvSpPr>
          <p:nvPr>
            <p:ph sz="quarter" idx="1"/>
          </p:nvPr>
        </p:nvSpPr>
        <p:spPr/>
        <p:txBody>
          <a:bodyPr/>
          <a:lstStyle/>
          <a:p>
            <a:r>
              <a:rPr lang="en-US" dirty="0" smtClean="0"/>
              <a:t>Its very </a:t>
            </a:r>
            <a:r>
              <a:rPr lang="en-US" dirty="0" smtClean="0">
                <a:solidFill>
                  <a:srgbClr val="FF0000"/>
                </a:solidFill>
              </a:rPr>
              <a:t>useful principle</a:t>
            </a:r>
            <a:r>
              <a:rPr lang="en-US" dirty="0" smtClean="0"/>
              <a:t> for many counting problems.</a:t>
            </a:r>
          </a:p>
          <a:p>
            <a:endParaRPr lang="en-US" dirty="0" smtClean="0"/>
          </a:p>
          <a:p>
            <a:r>
              <a:rPr lang="en-US" dirty="0" smtClean="0"/>
              <a:t>Suppose that a flock of </a:t>
            </a:r>
            <a:r>
              <a:rPr lang="en-US" dirty="0" smtClean="0">
                <a:solidFill>
                  <a:srgbClr val="FF0000"/>
                </a:solidFill>
              </a:rPr>
              <a:t>20 pigeons flies</a:t>
            </a:r>
            <a:r>
              <a:rPr lang="en-US" dirty="0" smtClean="0"/>
              <a:t> into a set of </a:t>
            </a:r>
            <a:r>
              <a:rPr lang="en-US" dirty="0" smtClean="0">
                <a:solidFill>
                  <a:srgbClr val="FF0000"/>
                </a:solidFill>
              </a:rPr>
              <a:t>19 pigeonholes</a:t>
            </a:r>
            <a:r>
              <a:rPr lang="en-US" dirty="0" smtClean="0"/>
              <a:t> to roost. Because there are 20 pigeons but only 19 pigeonholes, </a:t>
            </a:r>
            <a:r>
              <a:rPr lang="en-US" dirty="0" smtClean="0">
                <a:solidFill>
                  <a:srgbClr val="FF0000"/>
                </a:solidFill>
              </a:rPr>
              <a:t>at least one</a:t>
            </a:r>
            <a:r>
              <a:rPr lang="en-US" dirty="0" smtClean="0"/>
              <a:t> of these 19 pigeonholes must have </a:t>
            </a:r>
            <a:r>
              <a:rPr lang="en-US" dirty="0" smtClean="0">
                <a:solidFill>
                  <a:srgbClr val="FF0000"/>
                </a:solidFill>
              </a:rPr>
              <a:t>at least two</a:t>
            </a:r>
            <a:r>
              <a:rPr lang="en-US" dirty="0" smtClean="0"/>
              <a:t> pigeons in it.</a:t>
            </a:r>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47</a:t>
            </a:fld>
            <a:endParaRPr lang="en-US"/>
          </a:p>
        </p:txBody>
      </p:sp>
      <p:sp>
        <p:nvSpPr>
          <p:cNvPr id="4" name="Content Placeholder 3"/>
          <p:cNvSpPr>
            <a:spLocks noGrp="1"/>
          </p:cNvSpPr>
          <p:nvPr>
            <p:ph sz="quarter" idx="1"/>
          </p:nvPr>
        </p:nvSpPr>
        <p:spPr/>
        <p:txBody>
          <a:bodyPr/>
          <a:lstStyle/>
          <a:p>
            <a:r>
              <a:rPr lang="en-US" dirty="0" smtClean="0"/>
              <a:t>This illustrates a general principle called the </a:t>
            </a:r>
            <a:r>
              <a:rPr lang="en-US" b="1" dirty="0" smtClean="0">
                <a:solidFill>
                  <a:srgbClr val="FF0000"/>
                </a:solidFill>
              </a:rPr>
              <a:t>pigeonhole principle, which states that if there are more pigeons than pigeonholes</a:t>
            </a:r>
            <a:r>
              <a:rPr lang="en-US" b="1" dirty="0" smtClean="0"/>
              <a:t>, </a:t>
            </a:r>
            <a:r>
              <a:rPr lang="en-US" dirty="0" smtClean="0"/>
              <a:t>then there must be at least one pigeonhole with at least two pigeons in it.</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48</a:t>
            </a:fld>
            <a:endParaRPr lang="en-US"/>
          </a:p>
        </p:txBody>
      </p:sp>
      <p:sp>
        <p:nvSpPr>
          <p:cNvPr id="4" name="Content Placeholder 3"/>
          <p:cNvSpPr>
            <a:spLocks noGrp="1"/>
          </p:cNvSpPr>
          <p:nvPr>
            <p:ph sz="quarter" idx="1"/>
          </p:nvPr>
        </p:nvSpPr>
        <p:spPr/>
        <p:txBody>
          <a:bodyPr/>
          <a:lstStyle/>
          <a:p>
            <a:endParaRPr lang="en-US"/>
          </a:p>
        </p:txBody>
      </p:sp>
      <p:pic>
        <p:nvPicPr>
          <p:cNvPr id="224258" name="Picture 2"/>
          <p:cNvPicPr>
            <a:picLocks noChangeAspect="1" noChangeArrowheads="1"/>
          </p:cNvPicPr>
          <p:nvPr/>
        </p:nvPicPr>
        <p:blipFill>
          <a:blip r:embed="rId2"/>
          <a:srcRect/>
          <a:stretch>
            <a:fillRect/>
          </a:stretch>
        </p:blipFill>
        <p:spPr bwMode="auto">
          <a:xfrm>
            <a:off x="457200" y="1280160"/>
            <a:ext cx="8400246" cy="329184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REVISION OF FUNCTIONS</a:t>
            </a:r>
          </a:p>
        </p:txBody>
      </p:sp>
      <p:sp>
        <p:nvSpPr>
          <p:cNvPr id="3" name="Slide Number Placeholder 2"/>
          <p:cNvSpPr>
            <a:spLocks noGrp="1"/>
          </p:cNvSpPr>
          <p:nvPr>
            <p:ph type="sldNum" sz="quarter" idx="12"/>
          </p:nvPr>
        </p:nvSpPr>
        <p:spPr/>
        <p:txBody>
          <a:bodyPr/>
          <a:lstStyle/>
          <a:p>
            <a:fld id="{25E19944-04AC-4CD8-BA69-63C2A678C21A}" type="slidenum">
              <a:rPr lang="en-US" smtClean="0"/>
              <a:pPr/>
              <a:t>49</a:t>
            </a:fld>
            <a:endParaRPr lang="en-US"/>
          </a:p>
        </p:txBody>
      </p:sp>
      <p:sp>
        <p:nvSpPr>
          <p:cNvPr id="4" name="Content Placeholder 3"/>
          <p:cNvSpPr>
            <a:spLocks noGrp="1"/>
          </p:cNvSpPr>
          <p:nvPr>
            <p:ph sz="quarter" idx="1"/>
          </p:nvPr>
        </p:nvSpPr>
        <p:spPr>
          <a:xfrm>
            <a:off x="457200" y="1219200"/>
            <a:ext cx="8229600" cy="5105400"/>
          </a:xfrm>
        </p:spPr>
        <p:txBody>
          <a:bodyPr>
            <a:normAutofit lnSpcReduction="10000"/>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Clearly the above </a:t>
            </a:r>
            <a:r>
              <a:rPr lang="en-US" dirty="0" smtClean="0">
                <a:solidFill>
                  <a:srgbClr val="FF0000"/>
                </a:solidFill>
              </a:rPr>
              <a:t>relation is not a function</a:t>
            </a:r>
            <a:r>
              <a:rPr lang="en-US" dirty="0" smtClean="0"/>
              <a:t> because 2 does not have any image under this relation. Note that if want to made it relation we have to must map the 2 into some element of B which is also the image of some element of A. Now</a:t>
            </a:r>
            <a:endParaRPr lang="en-US" b="1" u="sng" dirty="0" smtClean="0"/>
          </a:p>
          <a:p>
            <a:endParaRPr lang="en-US" dirty="0"/>
          </a:p>
        </p:txBody>
      </p:sp>
      <p:pic>
        <p:nvPicPr>
          <p:cNvPr id="5" name="Picture 4"/>
          <p:cNvPicPr/>
          <p:nvPr/>
        </p:nvPicPr>
        <p:blipFill>
          <a:blip r:embed="rId2"/>
          <a:srcRect/>
          <a:stretch>
            <a:fillRect/>
          </a:stretch>
        </p:blipFill>
        <p:spPr bwMode="auto">
          <a:xfrm>
            <a:off x="2895600" y="1143000"/>
            <a:ext cx="3733800" cy="2971800"/>
          </a:xfrm>
          <a:prstGeom prst="rect">
            <a:avLst/>
          </a:prstGeo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50</a:t>
            </a:fld>
            <a:endParaRPr lang="en-US"/>
          </a:p>
        </p:txBody>
      </p:sp>
      <p:sp>
        <p:nvSpPr>
          <p:cNvPr id="4" name="Content Placeholder 3"/>
          <p:cNvSpPr>
            <a:spLocks noGrp="1"/>
          </p:cNvSpPr>
          <p:nvPr>
            <p:ph sz="quarter" idx="1"/>
          </p:nvPr>
        </p:nvSpPr>
        <p:spPr/>
        <p:txBody>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The above relation is a </a:t>
            </a:r>
            <a:r>
              <a:rPr lang="en-US" dirty="0" smtClean="0">
                <a:solidFill>
                  <a:srgbClr val="FF0000"/>
                </a:solidFill>
              </a:rPr>
              <a:t>function</a:t>
            </a:r>
            <a:r>
              <a:rPr lang="en-US" dirty="0" smtClean="0"/>
              <a:t> because it satisfy the </a:t>
            </a:r>
            <a:r>
              <a:rPr lang="en-US" dirty="0" smtClean="0">
                <a:solidFill>
                  <a:srgbClr val="FF0000"/>
                </a:solidFill>
              </a:rPr>
              <a:t>conditions of functions</a:t>
            </a:r>
            <a:r>
              <a:rPr lang="en-US" dirty="0" smtClean="0"/>
              <a:t>(as each element of 1</a:t>
            </a:r>
            <a:r>
              <a:rPr lang="en-US" baseline="30000" dirty="0" smtClean="0"/>
              <a:t>st</a:t>
            </a:r>
            <a:r>
              <a:rPr lang="en-US" dirty="0" smtClean="0"/>
              <a:t> set have the images in 2</a:t>
            </a:r>
            <a:r>
              <a:rPr lang="en-US" baseline="30000" dirty="0" smtClean="0"/>
              <a:t>nd</a:t>
            </a:r>
            <a:r>
              <a:rPr lang="en-US" dirty="0" smtClean="0"/>
              <a:t> set). </a:t>
            </a:r>
          </a:p>
          <a:p>
            <a:endParaRPr lang="en-US" dirty="0"/>
          </a:p>
        </p:txBody>
      </p:sp>
      <p:pic>
        <p:nvPicPr>
          <p:cNvPr id="5" name="Picture 4"/>
          <p:cNvPicPr/>
          <p:nvPr/>
        </p:nvPicPr>
        <p:blipFill>
          <a:blip r:embed="rId2"/>
          <a:srcRect/>
          <a:stretch>
            <a:fillRect/>
          </a:stretch>
        </p:blipFill>
        <p:spPr bwMode="auto">
          <a:xfrm>
            <a:off x="3048000" y="1219200"/>
            <a:ext cx="2971800" cy="2667000"/>
          </a:xfrm>
          <a:prstGeom prst="rect">
            <a:avLst/>
          </a:prstGeom>
          <a:noFill/>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PIGEONHOLE PRINCIPLE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51</a:t>
            </a:fld>
            <a:endParaRPr lang="en-US"/>
          </a:p>
        </p:txBody>
      </p:sp>
      <p:sp>
        <p:nvSpPr>
          <p:cNvPr id="4" name="Content Placeholder 3"/>
          <p:cNvSpPr>
            <a:spLocks noGrp="1"/>
          </p:cNvSpPr>
          <p:nvPr>
            <p:ph sz="quarter" idx="1"/>
          </p:nvPr>
        </p:nvSpPr>
        <p:spPr/>
        <p:txBody>
          <a:bodyPr/>
          <a:lstStyle/>
          <a:p>
            <a:r>
              <a:rPr lang="en-US" dirty="0" smtClean="0"/>
              <a:t>We define a </a:t>
            </a:r>
            <a:r>
              <a:rPr lang="en-US" dirty="0" smtClean="0">
                <a:solidFill>
                  <a:srgbClr val="FF0000"/>
                </a:solidFill>
              </a:rPr>
              <a:t>function</a:t>
            </a:r>
            <a:r>
              <a:rPr lang="en-US" dirty="0" smtClean="0"/>
              <a:t> from </a:t>
            </a:r>
            <a:r>
              <a:rPr lang="en-US" dirty="0" smtClean="0">
                <a:solidFill>
                  <a:srgbClr val="FF0000"/>
                </a:solidFill>
              </a:rPr>
              <a:t>A</a:t>
            </a:r>
            <a:r>
              <a:rPr lang="en-US" dirty="0" smtClean="0"/>
              <a:t> to </a:t>
            </a:r>
            <a:r>
              <a:rPr lang="en-US" dirty="0" smtClean="0">
                <a:solidFill>
                  <a:srgbClr val="FF0000"/>
                </a:solidFill>
              </a:rPr>
              <a:t>B</a:t>
            </a:r>
            <a:r>
              <a:rPr lang="en-US" dirty="0" smtClean="0"/>
              <a:t>. If </a:t>
            </a:r>
            <a:r>
              <a:rPr lang="en-US" dirty="0" smtClean="0">
                <a:solidFill>
                  <a:srgbClr val="FF0000"/>
                </a:solidFill>
              </a:rPr>
              <a:t>A</a:t>
            </a:r>
            <a:r>
              <a:rPr lang="en-US" dirty="0" smtClean="0"/>
              <a:t> has </a:t>
            </a:r>
            <a:r>
              <a:rPr lang="en-US" dirty="0" smtClean="0">
                <a:solidFill>
                  <a:srgbClr val="FF0000"/>
                </a:solidFill>
              </a:rPr>
              <a:t>more</a:t>
            </a:r>
            <a:r>
              <a:rPr lang="en-US" dirty="0" smtClean="0"/>
              <a:t> elements then </a:t>
            </a:r>
            <a:r>
              <a:rPr lang="en-US" dirty="0" smtClean="0">
                <a:solidFill>
                  <a:srgbClr val="FF0000"/>
                </a:solidFill>
              </a:rPr>
              <a:t>B</a:t>
            </a:r>
            <a:r>
              <a:rPr lang="en-US" dirty="0" smtClean="0"/>
              <a:t>. </a:t>
            </a:r>
            <a:r>
              <a:rPr lang="en-US" dirty="0" smtClean="0">
                <a:solidFill>
                  <a:srgbClr val="FF0000"/>
                </a:solidFill>
              </a:rPr>
              <a:t>B </a:t>
            </a:r>
            <a:r>
              <a:rPr lang="en-US" dirty="0" smtClean="0"/>
              <a:t>must have element which is </a:t>
            </a:r>
            <a:r>
              <a:rPr lang="en-US" dirty="0" smtClean="0">
                <a:solidFill>
                  <a:srgbClr val="FF0000"/>
                </a:solidFill>
              </a:rPr>
              <a:t>image</a:t>
            </a:r>
            <a:r>
              <a:rPr lang="en-US" dirty="0" smtClean="0"/>
              <a:t> of more than  one element of </a:t>
            </a:r>
            <a:r>
              <a:rPr lang="en-US" dirty="0" smtClean="0">
                <a:solidFill>
                  <a:srgbClr val="FF0000"/>
                </a:solidFill>
              </a:rPr>
              <a:t>A</a:t>
            </a:r>
            <a:r>
              <a:rPr lang="en-US" dirty="0" smtClean="0"/>
              <a:t>.</a:t>
            </a:r>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25E19944-04AC-4CD8-BA69-63C2A678C21A}" type="slidenum">
              <a:rPr lang="en-US" smtClean="0"/>
              <a:pPr/>
              <a:t>52</a:t>
            </a:fld>
            <a:endParaRPr lang="en-US"/>
          </a:p>
        </p:txBody>
      </p:sp>
      <p:sp>
        <p:nvSpPr>
          <p:cNvPr id="4" name="Content Placeholder 3"/>
          <p:cNvSpPr>
            <a:spLocks noGrp="1"/>
          </p:cNvSpPr>
          <p:nvPr>
            <p:ph sz="quarter" idx="1"/>
          </p:nvPr>
        </p:nvSpPr>
        <p:spPr/>
        <p:txBody>
          <a:bodyPr/>
          <a:lstStyle/>
          <a:p>
            <a:r>
              <a:rPr lang="en-US" dirty="0" smtClean="0"/>
              <a:t>The following is a </a:t>
            </a:r>
            <a:r>
              <a:rPr lang="en-US" dirty="0" smtClean="0">
                <a:solidFill>
                  <a:srgbClr val="FF0000"/>
                </a:solidFill>
              </a:rPr>
              <a:t>function</a:t>
            </a:r>
            <a:r>
              <a:rPr lang="en-US" dirty="0" smtClean="0"/>
              <a:t>.</a:t>
            </a:r>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The above relation is a function because it satisfy the conditions of functions(as each element of 1</a:t>
            </a:r>
            <a:r>
              <a:rPr lang="en-US" baseline="30000" dirty="0" smtClean="0"/>
              <a:t>st</a:t>
            </a:r>
            <a:r>
              <a:rPr lang="en-US" dirty="0" smtClean="0"/>
              <a:t> set have the images in 2</a:t>
            </a:r>
            <a:r>
              <a:rPr lang="en-US" baseline="30000" dirty="0" smtClean="0"/>
              <a:t>nd</a:t>
            </a:r>
            <a:r>
              <a:rPr lang="en-US" dirty="0" smtClean="0"/>
              <a:t> set). Therefore the above is also a function.</a:t>
            </a:r>
          </a:p>
          <a:p>
            <a:endParaRPr lang="en-US" dirty="0"/>
          </a:p>
        </p:txBody>
      </p:sp>
      <p:pic>
        <p:nvPicPr>
          <p:cNvPr id="5" name="Picture 4"/>
          <p:cNvPicPr/>
          <p:nvPr/>
        </p:nvPicPr>
        <p:blipFill>
          <a:blip r:embed="rId2"/>
          <a:srcRect/>
          <a:stretch>
            <a:fillRect/>
          </a:stretch>
        </p:blipFill>
        <p:spPr bwMode="auto">
          <a:xfrm>
            <a:off x="3048000" y="1752600"/>
            <a:ext cx="2947988" cy="2362200"/>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PIGEONHOLE PRINCIPLE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53</a:t>
            </a:fld>
            <a:endParaRPr lang="en-US"/>
          </a:p>
        </p:txBody>
      </p:sp>
      <p:sp>
        <p:nvSpPr>
          <p:cNvPr id="4" name="Content Placeholder 3"/>
          <p:cNvSpPr>
            <a:spLocks noGrp="1"/>
          </p:cNvSpPr>
          <p:nvPr>
            <p:ph sz="quarter" idx="1"/>
          </p:nvPr>
        </p:nvSpPr>
        <p:spPr/>
        <p:txBody>
          <a:bodyPr/>
          <a:lstStyle/>
          <a:p>
            <a:r>
              <a:rPr lang="en-US" dirty="0" smtClean="0"/>
              <a:t>A function from a </a:t>
            </a:r>
            <a:r>
              <a:rPr lang="en-US" dirty="0" smtClean="0">
                <a:solidFill>
                  <a:srgbClr val="FF0000"/>
                </a:solidFill>
              </a:rPr>
              <a:t>set</a:t>
            </a:r>
            <a:r>
              <a:rPr lang="en-US" dirty="0" smtClean="0"/>
              <a:t> of </a:t>
            </a:r>
            <a:r>
              <a:rPr lang="en-US" i="1" dirty="0" smtClean="0">
                <a:solidFill>
                  <a:srgbClr val="FF0000"/>
                </a:solidFill>
              </a:rPr>
              <a:t>k</a:t>
            </a:r>
            <a:r>
              <a:rPr lang="en-US" dirty="0" smtClean="0">
                <a:solidFill>
                  <a:srgbClr val="FF0000"/>
                </a:solidFill>
              </a:rPr>
              <a:t> + 1</a:t>
            </a:r>
            <a:r>
              <a:rPr lang="en-US" dirty="0" smtClean="0"/>
              <a:t> or </a:t>
            </a:r>
            <a:r>
              <a:rPr lang="en-US" dirty="0" smtClean="0">
                <a:solidFill>
                  <a:srgbClr val="FF0000"/>
                </a:solidFill>
              </a:rPr>
              <a:t>more elements</a:t>
            </a:r>
            <a:r>
              <a:rPr lang="en-US" dirty="0" smtClean="0"/>
              <a:t> to a </a:t>
            </a:r>
            <a:r>
              <a:rPr lang="en-US" dirty="0" smtClean="0">
                <a:solidFill>
                  <a:srgbClr val="FF0000"/>
                </a:solidFill>
              </a:rPr>
              <a:t>set</a:t>
            </a:r>
            <a:r>
              <a:rPr lang="en-US" dirty="0" smtClean="0"/>
              <a:t> of </a:t>
            </a:r>
            <a:r>
              <a:rPr lang="en-US" i="1" dirty="0" smtClean="0">
                <a:solidFill>
                  <a:srgbClr val="FF0000"/>
                </a:solidFill>
              </a:rPr>
              <a:t>k</a:t>
            </a:r>
            <a:r>
              <a:rPr lang="en-US" dirty="0" smtClean="0">
                <a:solidFill>
                  <a:srgbClr val="FF0000"/>
                </a:solidFill>
              </a:rPr>
              <a:t> elements</a:t>
            </a:r>
            <a:r>
              <a:rPr lang="en-US" dirty="0" smtClean="0"/>
              <a:t> must have </a:t>
            </a:r>
            <a:r>
              <a:rPr lang="en-US" dirty="0" smtClean="0">
                <a:solidFill>
                  <a:srgbClr val="FF0000"/>
                </a:solidFill>
              </a:rPr>
              <a:t>at least two elements</a:t>
            </a:r>
            <a:r>
              <a:rPr lang="en-US" dirty="0" smtClean="0"/>
              <a:t> in the </a:t>
            </a:r>
            <a:r>
              <a:rPr lang="en-US" dirty="0" smtClean="0">
                <a:solidFill>
                  <a:srgbClr val="FF0000"/>
                </a:solidFill>
              </a:rPr>
              <a:t>domain</a:t>
            </a:r>
            <a:r>
              <a:rPr lang="en-US" dirty="0" smtClean="0"/>
              <a:t> that have the same </a:t>
            </a:r>
            <a:r>
              <a:rPr lang="en-US" dirty="0" smtClean="0">
                <a:solidFill>
                  <a:srgbClr val="FF0000"/>
                </a:solidFill>
              </a:rPr>
              <a:t>image</a:t>
            </a:r>
            <a:r>
              <a:rPr lang="en-US" dirty="0" smtClean="0"/>
              <a:t> in the </a:t>
            </a:r>
            <a:r>
              <a:rPr lang="en-US" dirty="0" smtClean="0">
                <a:solidFill>
                  <a:srgbClr val="FF0000"/>
                </a:solidFill>
              </a:rPr>
              <a:t>co-domain</a:t>
            </a:r>
            <a:r>
              <a:rPr lang="en-US" dirty="0" smtClean="0"/>
              <a:t>. </a:t>
            </a:r>
          </a:p>
          <a:p>
            <a:pPr>
              <a:buNone/>
            </a:pPr>
            <a:endParaRPr lang="en-US" dirty="0" smtClean="0"/>
          </a:p>
          <a:p>
            <a:r>
              <a:rPr lang="en-US" dirty="0" smtClean="0"/>
              <a:t>If </a:t>
            </a:r>
            <a:r>
              <a:rPr lang="en-US" i="1" dirty="0" smtClean="0">
                <a:solidFill>
                  <a:srgbClr val="FF0000"/>
                </a:solidFill>
              </a:rPr>
              <a:t>k</a:t>
            </a:r>
            <a:r>
              <a:rPr lang="en-US" dirty="0" smtClean="0">
                <a:solidFill>
                  <a:srgbClr val="FF0000"/>
                </a:solidFill>
              </a:rPr>
              <a:t> + 1</a:t>
            </a:r>
            <a:r>
              <a:rPr lang="en-US" dirty="0" smtClean="0"/>
              <a:t> or </a:t>
            </a:r>
            <a:r>
              <a:rPr lang="en-US" dirty="0" smtClean="0">
                <a:solidFill>
                  <a:srgbClr val="FF0000"/>
                </a:solidFill>
              </a:rPr>
              <a:t>more pigeons</a:t>
            </a:r>
            <a:r>
              <a:rPr lang="en-US" dirty="0" smtClean="0"/>
              <a:t> fly into </a:t>
            </a:r>
            <a:r>
              <a:rPr lang="en-US" i="1" dirty="0" smtClean="0">
                <a:solidFill>
                  <a:srgbClr val="FF0000"/>
                </a:solidFill>
              </a:rPr>
              <a:t>k</a:t>
            </a:r>
            <a:r>
              <a:rPr lang="en-US" dirty="0" smtClean="0">
                <a:solidFill>
                  <a:srgbClr val="FF0000"/>
                </a:solidFill>
              </a:rPr>
              <a:t> pigeonholes</a:t>
            </a:r>
            <a:r>
              <a:rPr lang="en-US" dirty="0" smtClean="0"/>
              <a:t> then at least </a:t>
            </a:r>
            <a:r>
              <a:rPr lang="en-US" dirty="0" smtClean="0">
                <a:solidFill>
                  <a:srgbClr val="FF0000"/>
                </a:solidFill>
              </a:rPr>
              <a:t>one pigeonhole</a:t>
            </a:r>
            <a:r>
              <a:rPr lang="en-US" dirty="0" smtClean="0"/>
              <a:t> must contain </a:t>
            </a:r>
            <a:r>
              <a:rPr lang="en-US" dirty="0" smtClean="0">
                <a:solidFill>
                  <a:srgbClr val="FF0000"/>
                </a:solidFill>
              </a:rPr>
              <a:t>two</a:t>
            </a:r>
            <a:r>
              <a:rPr lang="en-US" dirty="0" smtClean="0"/>
              <a:t> or </a:t>
            </a:r>
            <a:r>
              <a:rPr lang="en-US" dirty="0" smtClean="0">
                <a:solidFill>
                  <a:srgbClr val="FF0000"/>
                </a:solidFill>
              </a:rPr>
              <a:t>more pigeons</a:t>
            </a:r>
            <a:r>
              <a:rPr lang="en-US" dirty="0" smtClean="0"/>
              <a:t>. </a:t>
            </a:r>
          </a:p>
          <a:p>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EXAMPLES</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54</a:t>
            </a:fld>
            <a:endParaRPr lang="en-US"/>
          </a:p>
        </p:txBody>
      </p:sp>
      <p:sp>
        <p:nvSpPr>
          <p:cNvPr id="4" name="Content Placeholder 3"/>
          <p:cNvSpPr>
            <a:spLocks noGrp="1"/>
          </p:cNvSpPr>
          <p:nvPr>
            <p:ph sz="quarter" idx="1"/>
          </p:nvPr>
        </p:nvSpPr>
        <p:spPr/>
        <p:txBody>
          <a:bodyPr/>
          <a:lstStyle/>
          <a:p>
            <a:pPr>
              <a:buNone/>
            </a:pPr>
            <a:r>
              <a:rPr lang="en-US" b="1" dirty="0" smtClean="0"/>
              <a:t>	</a:t>
            </a:r>
            <a:r>
              <a:rPr lang="en-US" b="1" dirty="0" smtClean="0">
                <a:solidFill>
                  <a:srgbClr val="249C2F"/>
                </a:solidFill>
              </a:rPr>
              <a:t>1.</a:t>
            </a:r>
            <a:r>
              <a:rPr lang="en-US" dirty="0" smtClean="0"/>
              <a:t>  Among any group of </a:t>
            </a:r>
            <a:r>
              <a:rPr lang="en-US" dirty="0" smtClean="0">
                <a:solidFill>
                  <a:srgbClr val="FF0000"/>
                </a:solidFill>
              </a:rPr>
              <a:t>367 people</a:t>
            </a:r>
            <a:r>
              <a:rPr lang="en-US" dirty="0" smtClean="0"/>
              <a:t>, there must be </a:t>
            </a:r>
            <a:r>
              <a:rPr lang="en-US" dirty="0" smtClean="0">
                <a:solidFill>
                  <a:srgbClr val="FF0000"/>
                </a:solidFill>
              </a:rPr>
              <a:t>at least two</a:t>
            </a:r>
            <a:r>
              <a:rPr lang="en-US" dirty="0" smtClean="0"/>
              <a:t> with the </a:t>
            </a:r>
            <a:r>
              <a:rPr lang="en-US" dirty="0" smtClean="0">
                <a:solidFill>
                  <a:srgbClr val="FF0000"/>
                </a:solidFill>
              </a:rPr>
              <a:t>same birthday</a:t>
            </a:r>
            <a:r>
              <a:rPr lang="en-US" dirty="0" smtClean="0"/>
              <a:t>, because there are only </a:t>
            </a:r>
            <a:r>
              <a:rPr lang="en-US" dirty="0" smtClean="0">
                <a:solidFill>
                  <a:srgbClr val="FF0000"/>
                </a:solidFill>
              </a:rPr>
              <a:t>366 possible birthdays</a:t>
            </a:r>
            <a:r>
              <a:rPr lang="en-US" dirty="0" smtClean="0"/>
              <a:t>.  </a:t>
            </a:r>
          </a:p>
          <a:p>
            <a:endParaRPr lang="en-US" dirty="0" smtClean="0"/>
          </a:p>
          <a:p>
            <a:pPr>
              <a:buNone/>
            </a:pPr>
            <a:r>
              <a:rPr lang="en-US" b="1" dirty="0" smtClean="0"/>
              <a:t>	</a:t>
            </a:r>
            <a:r>
              <a:rPr lang="en-US" b="1" dirty="0" smtClean="0">
                <a:solidFill>
                  <a:srgbClr val="249C2F"/>
                </a:solidFill>
              </a:rPr>
              <a:t>2.</a:t>
            </a:r>
            <a:r>
              <a:rPr lang="en-US" b="1" dirty="0" smtClean="0"/>
              <a:t>  </a:t>
            </a:r>
            <a:r>
              <a:rPr lang="en-US" dirty="0" smtClean="0"/>
              <a:t>In any set of </a:t>
            </a:r>
            <a:r>
              <a:rPr lang="en-US" dirty="0" smtClean="0">
                <a:solidFill>
                  <a:srgbClr val="FF0000"/>
                </a:solidFill>
              </a:rPr>
              <a:t>27 English words</a:t>
            </a:r>
            <a:r>
              <a:rPr lang="en-US" dirty="0" smtClean="0"/>
              <a:t>, there must be </a:t>
            </a:r>
            <a:r>
              <a:rPr lang="en-US" dirty="0" smtClean="0">
                <a:solidFill>
                  <a:srgbClr val="FF0000"/>
                </a:solidFill>
              </a:rPr>
              <a:t>at least two</a:t>
            </a:r>
            <a:r>
              <a:rPr lang="en-US" dirty="0" smtClean="0"/>
              <a:t> that </a:t>
            </a:r>
            <a:r>
              <a:rPr lang="en-US" dirty="0" smtClean="0">
                <a:solidFill>
                  <a:srgbClr val="FF0000"/>
                </a:solidFill>
              </a:rPr>
              <a:t>begin</a:t>
            </a:r>
            <a:r>
              <a:rPr lang="en-US" dirty="0" smtClean="0"/>
              <a:t> with the </a:t>
            </a:r>
            <a:r>
              <a:rPr lang="en-US" dirty="0" smtClean="0">
                <a:solidFill>
                  <a:srgbClr val="FF0000"/>
                </a:solidFill>
              </a:rPr>
              <a:t>same letter</a:t>
            </a:r>
            <a:r>
              <a:rPr lang="en-US" dirty="0" smtClean="0"/>
              <a:t>, since there are 26 letters in the English alphabet. </a:t>
            </a:r>
          </a:p>
          <a:p>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55</a:t>
            </a:fld>
            <a:endParaRPr lang="en-US"/>
          </a:p>
        </p:txBody>
      </p:sp>
      <p:sp>
        <p:nvSpPr>
          <p:cNvPr id="4" name="Content Placeholder 3"/>
          <p:cNvSpPr>
            <a:spLocks noGrp="1"/>
          </p:cNvSpPr>
          <p:nvPr>
            <p:ph sz="quarter" idx="1"/>
          </p:nvPr>
        </p:nvSpPr>
        <p:spPr/>
        <p:txBody>
          <a:bodyPr/>
          <a:lstStyle/>
          <a:p>
            <a:r>
              <a:rPr lang="en-US" dirty="0" smtClean="0"/>
              <a:t>What is the </a:t>
            </a:r>
            <a:r>
              <a:rPr lang="en-US" dirty="0" smtClean="0">
                <a:solidFill>
                  <a:srgbClr val="FF0000"/>
                </a:solidFill>
              </a:rPr>
              <a:t>minimum number</a:t>
            </a:r>
            <a:r>
              <a:rPr lang="en-US" dirty="0" smtClean="0"/>
              <a:t> of </a:t>
            </a:r>
            <a:r>
              <a:rPr lang="en-US" dirty="0" smtClean="0">
                <a:solidFill>
                  <a:srgbClr val="FF0000"/>
                </a:solidFill>
              </a:rPr>
              <a:t>students</a:t>
            </a:r>
            <a:r>
              <a:rPr lang="en-US" dirty="0" smtClean="0"/>
              <a:t> in a </a:t>
            </a:r>
            <a:r>
              <a:rPr lang="en-US" dirty="0" smtClean="0">
                <a:solidFill>
                  <a:srgbClr val="FF0000"/>
                </a:solidFill>
              </a:rPr>
              <a:t>class</a:t>
            </a:r>
            <a:r>
              <a:rPr lang="en-US" dirty="0" smtClean="0"/>
              <a:t> to be sure that </a:t>
            </a:r>
            <a:r>
              <a:rPr lang="en-US" dirty="0" smtClean="0">
                <a:solidFill>
                  <a:srgbClr val="FF0000"/>
                </a:solidFill>
              </a:rPr>
              <a:t>two</a:t>
            </a:r>
            <a:r>
              <a:rPr lang="en-US" dirty="0" smtClean="0"/>
              <a:t> of them are </a:t>
            </a:r>
            <a:r>
              <a:rPr lang="en-US" dirty="0" smtClean="0">
                <a:solidFill>
                  <a:srgbClr val="FF0000"/>
                </a:solidFill>
              </a:rPr>
              <a:t>born</a:t>
            </a:r>
            <a:r>
              <a:rPr lang="en-US" dirty="0" smtClean="0"/>
              <a:t> in the </a:t>
            </a:r>
            <a:r>
              <a:rPr lang="en-US" dirty="0" smtClean="0">
                <a:solidFill>
                  <a:srgbClr val="FF0000"/>
                </a:solidFill>
              </a:rPr>
              <a:t>same month</a:t>
            </a:r>
            <a:r>
              <a:rPr lang="en-US" dirty="0" smtClean="0"/>
              <a:t>?</a:t>
            </a:r>
          </a:p>
          <a:p>
            <a:pPr>
              <a:buNone/>
            </a:pPr>
            <a:endParaRPr lang="en-US" dirty="0" smtClean="0"/>
          </a:p>
          <a:p>
            <a:r>
              <a:rPr lang="en-US" b="1" u="sng" dirty="0" smtClean="0">
                <a:solidFill>
                  <a:srgbClr val="0070C0"/>
                </a:solidFill>
              </a:rPr>
              <a:t>SOLUTION:</a:t>
            </a:r>
            <a:endParaRPr lang="en-US" dirty="0" smtClean="0">
              <a:solidFill>
                <a:srgbClr val="0070C0"/>
              </a:solidFill>
            </a:endParaRPr>
          </a:p>
          <a:p>
            <a:pPr>
              <a:buNone/>
            </a:pPr>
            <a:r>
              <a:rPr lang="en-US" dirty="0" smtClean="0"/>
              <a:t>	                  There are </a:t>
            </a:r>
            <a:r>
              <a:rPr lang="en-US" dirty="0" smtClean="0">
                <a:solidFill>
                  <a:srgbClr val="FF0000"/>
                </a:solidFill>
              </a:rPr>
              <a:t>12 (= </a:t>
            </a:r>
            <a:r>
              <a:rPr lang="en-US" i="1" dirty="0" smtClean="0">
                <a:solidFill>
                  <a:srgbClr val="FF0000"/>
                </a:solidFill>
              </a:rPr>
              <a:t>n</a:t>
            </a:r>
            <a:r>
              <a:rPr lang="en-US" dirty="0" smtClean="0">
                <a:solidFill>
                  <a:srgbClr val="FF0000"/>
                </a:solidFill>
              </a:rPr>
              <a:t>)</a:t>
            </a:r>
            <a:r>
              <a:rPr lang="en-US" dirty="0" smtClean="0"/>
              <a:t> months in a year. </a:t>
            </a:r>
          </a:p>
          <a:p>
            <a:pPr>
              <a:buNone/>
            </a:pPr>
            <a:r>
              <a:rPr lang="en-US" dirty="0" smtClean="0"/>
              <a:t>	The </a:t>
            </a:r>
            <a:r>
              <a:rPr lang="en-US" dirty="0" smtClean="0">
                <a:solidFill>
                  <a:srgbClr val="FF0000"/>
                </a:solidFill>
              </a:rPr>
              <a:t>pigeonhole principle</a:t>
            </a:r>
            <a:r>
              <a:rPr lang="en-US" dirty="0" smtClean="0"/>
              <a:t> shows that among</a:t>
            </a:r>
          </a:p>
          <a:p>
            <a:pPr>
              <a:buNone/>
            </a:pPr>
            <a:r>
              <a:rPr lang="en-US" dirty="0" smtClean="0"/>
              <a:t>	 any </a:t>
            </a:r>
            <a:r>
              <a:rPr lang="en-US" dirty="0" smtClean="0">
                <a:solidFill>
                  <a:srgbClr val="FF0000"/>
                </a:solidFill>
              </a:rPr>
              <a:t>13 (= </a:t>
            </a:r>
            <a:r>
              <a:rPr lang="en-US" i="1" dirty="0" smtClean="0">
                <a:solidFill>
                  <a:srgbClr val="FF0000"/>
                </a:solidFill>
              </a:rPr>
              <a:t>n</a:t>
            </a:r>
            <a:r>
              <a:rPr lang="en-US" dirty="0" smtClean="0">
                <a:solidFill>
                  <a:srgbClr val="FF0000"/>
                </a:solidFill>
              </a:rPr>
              <a:t> + 1)</a:t>
            </a:r>
            <a:r>
              <a:rPr lang="en-US" dirty="0" smtClean="0"/>
              <a:t> or more students there must be</a:t>
            </a:r>
          </a:p>
          <a:p>
            <a:pPr>
              <a:buNone/>
            </a:pPr>
            <a:r>
              <a:rPr lang="en-US" dirty="0" smtClean="0"/>
              <a:t>	 at least </a:t>
            </a:r>
            <a:r>
              <a:rPr lang="en-US" dirty="0" smtClean="0">
                <a:solidFill>
                  <a:srgbClr val="FF0000"/>
                </a:solidFill>
              </a:rPr>
              <a:t>two students</a:t>
            </a:r>
            <a:r>
              <a:rPr lang="en-US" dirty="0" smtClean="0"/>
              <a:t> who are born in the same month.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2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56</a:t>
            </a:fld>
            <a:endParaRPr lang="en-US"/>
          </a:p>
        </p:txBody>
      </p:sp>
      <p:sp>
        <p:nvSpPr>
          <p:cNvPr id="4" name="Content Placeholder 3"/>
          <p:cNvSpPr>
            <a:spLocks noGrp="1"/>
          </p:cNvSpPr>
          <p:nvPr>
            <p:ph sz="quarter" idx="1"/>
          </p:nvPr>
        </p:nvSpPr>
        <p:spPr>
          <a:xfrm>
            <a:off x="457200" y="1219200"/>
            <a:ext cx="8229600" cy="5029200"/>
          </a:xfrm>
        </p:spPr>
        <p:txBody>
          <a:bodyPr>
            <a:normAutofit lnSpcReduction="10000"/>
          </a:bodyPr>
          <a:lstStyle/>
          <a:p>
            <a:r>
              <a:rPr lang="en-US" dirty="0" smtClean="0"/>
              <a:t>Given any </a:t>
            </a:r>
            <a:r>
              <a:rPr lang="en-US" dirty="0" smtClean="0">
                <a:solidFill>
                  <a:srgbClr val="FF0000"/>
                </a:solidFill>
              </a:rPr>
              <a:t>set</a:t>
            </a:r>
            <a:r>
              <a:rPr lang="en-US" dirty="0" smtClean="0"/>
              <a:t> of </a:t>
            </a:r>
            <a:r>
              <a:rPr lang="en-US" dirty="0" smtClean="0">
                <a:solidFill>
                  <a:srgbClr val="FF0000"/>
                </a:solidFill>
              </a:rPr>
              <a:t>seven integers</a:t>
            </a:r>
            <a:r>
              <a:rPr lang="en-US" dirty="0" smtClean="0"/>
              <a:t>, must there be </a:t>
            </a:r>
            <a:r>
              <a:rPr lang="en-US" dirty="0" smtClean="0">
                <a:solidFill>
                  <a:srgbClr val="FF0000"/>
                </a:solidFill>
              </a:rPr>
              <a:t>two</a:t>
            </a:r>
            <a:r>
              <a:rPr lang="en-US" dirty="0" smtClean="0"/>
              <a:t> that have the </a:t>
            </a:r>
            <a:r>
              <a:rPr lang="en-US" dirty="0" smtClean="0">
                <a:solidFill>
                  <a:srgbClr val="FF0000"/>
                </a:solidFill>
              </a:rPr>
              <a:t>same remainder</a:t>
            </a:r>
            <a:r>
              <a:rPr lang="en-US" dirty="0" smtClean="0"/>
              <a:t> when </a:t>
            </a:r>
            <a:r>
              <a:rPr lang="en-US" dirty="0" smtClean="0">
                <a:solidFill>
                  <a:srgbClr val="FF0000"/>
                </a:solidFill>
              </a:rPr>
              <a:t>divided</a:t>
            </a:r>
            <a:r>
              <a:rPr lang="en-US" dirty="0" smtClean="0"/>
              <a:t> by </a:t>
            </a:r>
            <a:r>
              <a:rPr lang="en-US" dirty="0" smtClean="0">
                <a:solidFill>
                  <a:srgbClr val="FF0000"/>
                </a:solidFill>
              </a:rPr>
              <a:t>6</a:t>
            </a:r>
            <a:r>
              <a:rPr lang="en-US" dirty="0" smtClean="0"/>
              <a:t>?</a:t>
            </a:r>
          </a:p>
          <a:p>
            <a:endParaRPr lang="en-US" dirty="0" smtClean="0"/>
          </a:p>
          <a:p>
            <a:r>
              <a:rPr lang="en-US" b="1" u="sng" dirty="0" smtClean="0">
                <a:solidFill>
                  <a:srgbClr val="0070C0"/>
                </a:solidFill>
              </a:rPr>
              <a:t>SOLUTION:</a:t>
            </a:r>
            <a:endParaRPr lang="en-US" dirty="0" smtClean="0">
              <a:solidFill>
                <a:srgbClr val="0070C0"/>
              </a:solidFill>
            </a:endParaRPr>
          </a:p>
          <a:p>
            <a:pPr>
              <a:buNone/>
            </a:pPr>
            <a:r>
              <a:rPr lang="en-US" dirty="0" smtClean="0"/>
              <a:t>	 The set of possible </a:t>
            </a:r>
            <a:r>
              <a:rPr lang="en-US" dirty="0" smtClean="0">
                <a:solidFill>
                  <a:srgbClr val="FF0000"/>
                </a:solidFill>
              </a:rPr>
              <a:t>remainders</a:t>
            </a:r>
            <a:r>
              <a:rPr lang="en-US" dirty="0" smtClean="0"/>
              <a:t> that can be obtained when an integer is </a:t>
            </a:r>
            <a:r>
              <a:rPr lang="en-US" dirty="0" smtClean="0">
                <a:solidFill>
                  <a:srgbClr val="FF0000"/>
                </a:solidFill>
              </a:rPr>
              <a:t>divided by six</a:t>
            </a:r>
            <a:r>
              <a:rPr lang="en-US" dirty="0" smtClean="0"/>
              <a:t> is {</a:t>
            </a:r>
            <a:r>
              <a:rPr lang="en-US" dirty="0" smtClean="0">
                <a:solidFill>
                  <a:srgbClr val="FF0000"/>
                </a:solidFill>
              </a:rPr>
              <a:t>0, 1, 2, 3, 4, 5</a:t>
            </a:r>
            <a:r>
              <a:rPr lang="en-US" dirty="0" smtClean="0"/>
              <a:t>}. </a:t>
            </a:r>
          </a:p>
          <a:p>
            <a:pPr>
              <a:buNone/>
            </a:pPr>
            <a:endParaRPr lang="en-US" dirty="0" smtClean="0"/>
          </a:p>
          <a:p>
            <a:pPr>
              <a:buNone/>
            </a:pPr>
            <a:r>
              <a:rPr lang="en-US" dirty="0" smtClean="0"/>
              <a:t>	This set has </a:t>
            </a:r>
            <a:r>
              <a:rPr lang="en-US" dirty="0" smtClean="0">
                <a:solidFill>
                  <a:srgbClr val="FF0000"/>
                </a:solidFill>
              </a:rPr>
              <a:t>6</a:t>
            </a:r>
            <a:r>
              <a:rPr lang="en-US" dirty="0" smtClean="0"/>
              <a:t> elements. </a:t>
            </a:r>
          </a:p>
          <a:p>
            <a:pPr>
              <a:buNone/>
            </a:pPr>
            <a:endParaRPr lang="en-US" dirty="0" smtClean="0"/>
          </a:p>
          <a:p>
            <a:pPr>
              <a:buNone/>
            </a:pPr>
            <a:r>
              <a:rPr lang="en-US" dirty="0" smtClean="0"/>
              <a:t>	Thus by the </a:t>
            </a:r>
            <a:r>
              <a:rPr lang="en-US" dirty="0" smtClean="0">
                <a:solidFill>
                  <a:srgbClr val="FF0000"/>
                </a:solidFill>
              </a:rPr>
              <a:t>pigeonhole principle</a:t>
            </a:r>
            <a:r>
              <a:rPr lang="en-US" dirty="0" smtClean="0"/>
              <a:t> if </a:t>
            </a:r>
            <a:r>
              <a:rPr lang="en-US" dirty="0" smtClean="0">
                <a:solidFill>
                  <a:srgbClr val="FF0000"/>
                </a:solidFill>
              </a:rPr>
              <a:t>7 = 6 + 1</a:t>
            </a:r>
            <a:r>
              <a:rPr lang="en-US" dirty="0" smtClean="0"/>
              <a:t> integers are each divided by </a:t>
            </a:r>
            <a:r>
              <a:rPr lang="en-US" dirty="0" smtClean="0">
                <a:solidFill>
                  <a:srgbClr val="FF0000"/>
                </a:solidFill>
              </a:rPr>
              <a:t>six</a:t>
            </a:r>
            <a:r>
              <a:rPr lang="en-US" dirty="0" smtClean="0"/>
              <a:t>, then at least </a:t>
            </a:r>
            <a:r>
              <a:rPr lang="en-US" dirty="0" smtClean="0">
                <a:solidFill>
                  <a:srgbClr val="FF0000"/>
                </a:solidFill>
              </a:rPr>
              <a:t>two</a:t>
            </a:r>
            <a:r>
              <a:rPr lang="en-US" dirty="0" smtClean="0"/>
              <a:t> of them must have the same </a:t>
            </a:r>
            <a:r>
              <a:rPr lang="en-US" dirty="0" smtClean="0">
                <a:solidFill>
                  <a:srgbClr val="FF0000"/>
                </a:solidFill>
              </a:rPr>
              <a:t>remainder</a:t>
            </a:r>
            <a:r>
              <a:rPr lang="en-US" dirty="0" smtClean="0"/>
              <a:t>.</a:t>
            </a:r>
          </a:p>
          <a:p>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20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57</a:t>
            </a:fld>
            <a:endParaRPr lang="en-US"/>
          </a:p>
        </p:txBody>
      </p:sp>
      <p:sp>
        <p:nvSpPr>
          <p:cNvPr id="4" name="Content Placeholder 3"/>
          <p:cNvSpPr>
            <a:spLocks noGrp="1"/>
          </p:cNvSpPr>
          <p:nvPr>
            <p:ph sz="quarter" idx="1"/>
          </p:nvPr>
        </p:nvSpPr>
        <p:spPr>
          <a:xfrm>
            <a:off x="457200" y="1219200"/>
            <a:ext cx="8229600" cy="5029200"/>
          </a:xfrm>
        </p:spPr>
        <p:txBody>
          <a:bodyPr>
            <a:normAutofit/>
          </a:bodyPr>
          <a:lstStyle/>
          <a:p>
            <a:r>
              <a:rPr lang="en-US" dirty="0" smtClean="0"/>
              <a:t>How many </a:t>
            </a:r>
            <a:r>
              <a:rPr lang="en-US" dirty="0" smtClean="0">
                <a:solidFill>
                  <a:srgbClr val="FF0000"/>
                </a:solidFill>
              </a:rPr>
              <a:t>integers</a:t>
            </a:r>
            <a:r>
              <a:rPr lang="en-US" dirty="0" smtClean="0"/>
              <a:t> from </a:t>
            </a:r>
            <a:r>
              <a:rPr lang="en-US" dirty="0" smtClean="0">
                <a:solidFill>
                  <a:srgbClr val="FF0000"/>
                </a:solidFill>
              </a:rPr>
              <a:t>1</a:t>
            </a:r>
            <a:r>
              <a:rPr lang="en-US" dirty="0" smtClean="0"/>
              <a:t> through </a:t>
            </a:r>
            <a:r>
              <a:rPr lang="en-US" dirty="0" smtClean="0">
                <a:solidFill>
                  <a:srgbClr val="FF0000"/>
                </a:solidFill>
              </a:rPr>
              <a:t>100</a:t>
            </a:r>
            <a:r>
              <a:rPr lang="en-US" dirty="0" smtClean="0"/>
              <a:t> must you </a:t>
            </a:r>
            <a:r>
              <a:rPr lang="en-US" dirty="0" smtClean="0">
                <a:solidFill>
                  <a:srgbClr val="FF0000"/>
                </a:solidFill>
              </a:rPr>
              <a:t>pick in order</a:t>
            </a:r>
            <a:r>
              <a:rPr lang="en-US" dirty="0" smtClean="0"/>
              <a:t> to be sure of </a:t>
            </a:r>
            <a:r>
              <a:rPr lang="en-US" dirty="0" smtClean="0">
                <a:solidFill>
                  <a:srgbClr val="FF0000"/>
                </a:solidFill>
              </a:rPr>
              <a:t>getting one</a:t>
            </a:r>
            <a:r>
              <a:rPr lang="en-US" dirty="0" smtClean="0"/>
              <a:t> that is </a:t>
            </a:r>
            <a:r>
              <a:rPr lang="en-US" dirty="0" smtClean="0">
                <a:solidFill>
                  <a:srgbClr val="FF0000"/>
                </a:solidFill>
              </a:rPr>
              <a:t>divisible</a:t>
            </a:r>
            <a:r>
              <a:rPr lang="en-US" dirty="0" smtClean="0"/>
              <a:t> by </a:t>
            </a:r>
            <a:r>
              <a:rPr lang="en-US" dirty="0" smtClean="0">
                <a:solidFill>
                  <a:srgbClr val="FF0000"/>
                </a:solidFill>
              </a:rPr>
              <a:t>5</a:t>
            </a:r>
            <a:r>
              <a:rPr lang="en-US" dirty="0" smtClean="0"/>
              <a:t>?</a:t>
            </a:r>
          </a:p>
          <a:p>
            <a:endParaRPr lang="en-US" dirty="0" smtClean="0"/>
          </a:p>
          <a:p>
            <a:r>
              <a:rPr lang="en-US" b="1" u="sng" dirty="0" smtClean="0">
                <a:solidFill>
                  <a:srgbClr val="0070C0"/>
                </a:solidFill>
              </a:rPr>
              <a:t>SOLUTION:</a:t>
            </a:r>
            <a:endParaRPr lang="en-US" dirty="0" smtClean="0">
              <a:solidFill>
                <a:srgbClr val="0070C0"/>
              </a:solidFill>
            </a:endParaRPr>
          </a:p>
          <a:p>
            <a:pPr>
              <a:buNone/>
            </a:pPr>
            <a:r>
              <a:rPr lang="en-US" dirty="0" smtClean="0"/>
              <a:t>	 There are </a:t>
            </a:r>
            <a:r>
              <a:rPr lang="en-US" dirty="0" smtClean="0">
                <a:solidFill>
                  <a:srgbClr val="FF0000"/>
                </a:solidFill>
              </a:rPr>
              <a:t>20</a:t>
            </a:r>
            <a:r>
              <a:rPr lang="en-US" dirty="0" smtClean="0"/>
              <a:t> </a:t>
            </a:r>
            <a:r>
              <a:rPr lang="en-US" dirty="0" smtClean="0">
                <a:solidFill>
                  <a:srgbClr val="FF0000"/>
                </a:solidFill>
              </a:rPr>
              <a:t>integers</a:t>
            </a:r>
            <a:r>
              <a:rPr lang="en-US" dirty="0" smtClean="0"/>
              <a:t> from </a:t>
            </a:r>
            <a:r>
              <a:rPr lang="en-US" dirty="0" smtClean="0">
                <a:solidFill>
                  <a:srgbClr val="FF0000"/>
                </a:solidFill>
              </a:rPr>
              <a:t>1</a:t>
            </a:r>
            <a:r>
              <a:rPr lang="en-US" dirty="0" smtClean="0"/>
              <a:t> through </a:t>
            </a:r>
            <a:r>
              <a:rPr lang="en-US" dirty="0" smtClean="0">
                <a:solidFill>
                  <a:srgbClr val="FF0000"/>
                </a:solidFill>
              </a:rPr>
              <a:t>100</a:t>
            </a:r>
            <a:r>
              <a:rPr lang="en-US" dirty="0" smtClean="0"/>
              <a:t> that are </a:t>
            </a:r>
            <a:r>
              <a:rPr lang="en-US" dirty="0" smtClean="0">
                <a:solidFill>
                  <a:srgbClr val="FF0000"/>
                </a:solidFill>
              </a:rPr>
              <a:t>divisible</a:t>
            </a:r>
            <a:r>
              <a:rPr lang="en-US" dirty="0" smtClean="0"/>
              <a:t> by </a:t>
            </a:r>
            <a:r>
              <a:rPr lang="en-US" dirty="0" smtClean="0">
                <a:solidFill>
                  <a:srgbClr val="FF0000"/>
                </a:solidFill>
              </a:rPr>
              <a:t>5</a:t>
            </a:r>
            <a:r>
              <a:rPr lang="en-US" dirty="0" smtClean="0"/>
              <a:t>. </a:t>
            </a:r>
          </a:p>
          <a:p>
            <a:pPr>
              <a:buNone/>
            </a:pPr>
            <a:r>
              <a:rPr lang="en-US" dirty="0" smtClean="0"/>
              <a:t>	Hence there are </a:t>
            </a:r>
            <a:r>
              <a:rPr lang="en-US" dirty="0" smtClean="0">
                <a:solidFill>
                  <a:srgbClr val="FF0000"/>
                </a:solidFill>
              </a:rPr>
              <a:t>80 integers</a:t>
            </a:r>
            <a:r>
              <a:rPr lang="en-US" dirty="0" smtClean="0"/>
              <a:t> from </a:t>
            </a:r>
            <a:r>
              <a:rPr lang="en-US" dirty="0" smtClean="0">
                <a:solidFill>
                  <a:srgbClr val="FF0000"/>
                </a:solidFill>
              </a:rPr>
              <a:t>1</a:t>
            </a:r>
            <a:r>
              <a:rPr lang="en-US" dirty="0" smtClean="0"/>
              <a:t> through </a:t>
            </a:r>
            <a:r>
              <a:rPr lang="en-US" dirty="0" smtClean="0">
                <a:solidFill>
                  <a:srgbClr val="FF0000"/>
                </a:solidFill>
              </a:rPr>
              <a:t>100</a:t>
            </a:r>
            <a:r>
              <a:rPr lang="en-US" dirty="0" smtClean="0"/>
              <a:t> that are </a:t>
            </a:r>
            <a:r>
              <a:rPr lang="en-US" dirty="0" smtClean="0">
                <a:solidFill>
                  <a:srgbClr val="FF0000"/>
                </a:solidFill>
              </a:rPr>
              <a:t>not divisible</a:t>
            </a:r>
            <a:r>
              <a:rPr lang="en-US" dirty="0" smtClean="0"/>
              <a:t> by </a:t>
            </a:r>
            <a:r>
              <a:rPr lang="en-US" dirty="0" smtClean="0">
                <a:solidFill>
                  <a:srgbClr val="FF0000"/>
                </a:solidFill>
              </a:rPr>
              <a:t>5</a:t>
            </a:r>
            <a:r>
              <a:rPr lang="en-US" dirty="0" smtClean="0"/>
              <a:t>.</a:t>
            </a:r>
          </a:p>
          <a:p>
            <a:pPr>
              <a:buNone/>
            </a:pPr>
            <a:r>
              <a:rPr lang="en-US" dirty="0" smtClean="0"/>
              <a:t>	 Thus by the </a:t>
            </a:r>
            <a:r>
              <a:rPr lang="en-US" dirty="0" smtClean="0">
                <a:solidFill>
                  <a:srgbClr val="FF0000"/>
                </a:solidFill>
              </a:rPr>
              <a:t>pigeonhole principle</a:t>
            </a:r>
            <a:r>
              <a:rPr lang="en-US" dirty="0" smtClean="0"/>
              <a:t> </a:t>
            </a:r>
            <a:r>
              <a:rPr lang="en-US" dirty="0" smtClean="0">
                <a:solidFill>
                  <a:srgbClr val="FF0000"/>
                </a:solidFill>
              </a:rPr>
              <a:t>81 = 80 + 1</a:t>
            </a:r>
            <a:r>
              <a:rPr lang="en-US" dirty="0" smtClean="0"/>
              <a:t> integers from 1 though 100 must be picked in order to be sure of getting </a:t>
            </a:r>
            <a:r>
              <a:rPr lang="en-US" dirty="0" smtClean="0">
                <a:solidFill>
                  <a:srgbClr val="FF0000"/>
                </a:solidFill>
              </a:rPr>
              <a:t>one</a:t>
            </a:r>
            <a:r>
              <a:rPr lang="en-US" dirty="0" smtClean="0"/>
              <a:t> that is </a:t>
            </a:r>
            <a:r>
              <a:rPr lang="en-US" dirty="0" smtClean="0">
                <a:solidFill>
                  <a:srgbClr val="FF0000"/>
                </a:solidFill>
              </a:rPr>
              <a:t>divisible</a:t>
            </a:r>
            <a:r>
              <a:rPr lang="en-US" dirty="0" smtClean="0"/>
              <a:t> by </a:t>
            </a:r>
            <a:r>
              <a:rPr lang="en-US" dirty="0" smtClean="0">
                <a:solidFill>
                  <a:srgbClr val="FF0000"/>
                </a:solidFill>
              </a:rPr>
              <a:t>5</a:t>
            </a:r>
            <a:r>
              <a:rPr lang="en-US" dirty="0" smtClean="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58</a:t>
            </a:fld>
            <a:endParaRPr lang="en-US"/>
          </a:p>
        </p:txBody>
      </p:sp>
      <p:sp>
        <p:nvSpPr>
          <p:cNvPr id="4" name="Content Placeholder 3"/>
          <p:cNvSpPr>
            <a:spLocks noGrp="1"/>
          </p:cNvSpPr>
          <p:nvPr>
            <p:ph sz="quarter" idx="1"/>
          </p:nvPr>
        </p:nvSpPr>
        <p:spPr/>
        <p:txBody>
          <a:bodyPr>
            <a:normAutofit fontScale="92500" lnSpcReduction="20000"/>
          </a:bodyPr>
          <a:lstStyle/>
          <a:p>
            <a:r>
              <a:rPr lang="en-US" dirty="0" smtClean="0"/>
              <a:t>Let A = </a:t>
            </a:r>
            <a:r>
              <a:rPr lang="en-US" dirty="0" smtClean="0">
                <a:solidFill>
                  <a:srgbClr val="FF0000"/>
                </a:solidFill>
              </a:rPr>
              <a:t>{1, 2, 3, 4, 5, 6, 7, 8, 9, 10}</a:t>
            </a:r>
            <a:r>
              <a:rPr lang="en-US" dirty="0" smtClean="0"/>
              <a:t>. Suppose </a:t>
            </a:r>
            <a:r>
              <a:rPr lang="en-US" dirty="0" smtClean="0">
                <a:solidFill>
                  <a:srgbClr val="FF0000"/>
                </a:solidFill>
              </a:rPr>
              <a:t>six</a:t>
            </a:r>
            <a:r>
              <a:rPr lang="en-US" dirty="0" smtClean="0"/>
              <a:t> integers are </a:t>
            </a:r>
            <a:r>
              <a:rPr lang="en-US" dirty="0" smtClean="0">
                <a:solidFill>
                  <a:srgbClr val="FF0000"/>
                </a:solidFill>
              </a:rPr>
              <a:t>chosen</a:t>
            </a:r>
            <a:r>
              <a:rPr lang="en-US" dirty="0" smtClean="0"/>
              <a:t> from</a:t>
            </a:r>
            <a:r>
              <a:rPr lang="en-US" dirty="0" smtClean="0">
                <a:solidFill>
                  <a:srgbClr val="FF0000"/>
                </a:solidFill>
              </a:rPr>
              <a:t> A</a:t>
            </a:r>
            <a:r>
              <a:rPr lang="en-US" dirty="0" smtClean="0"/>
              <a:t>. Must there be </a:t>
            </a:r>
            <a:r>
              <a:rPr lang="en-US" dirty="0" smtClean="0">
                <a:solidFill>
                  <a:srgbClr val="FF0000"/>
                </a:solidFill>
              </a:rPr>
              <a:t>two integers</a:t>
            </a:r>
            <a:r>
              <a:rPr lang="en-US" dirty="0" smtClean="0"/>
              <a:t> whose </a:t>
            </a:r>
            <a:r>
              <a:rPr lang="en-US" dirty="0" smtClean="0">
                <a:solidFill>
                  <a:srgbClr val="FF0000"/>
                </a:solidFill>
              </a:rPr>
              <a:t>sum</a:t>
            </a:r>
            <a:r>
              <a:rPr lang="en-US" dirty="0" smtClean="0"/>
              <a:t> is </a:t>
            </a:r>
            <a:r>
              <a:rPr lang="en-US" dirty="0" smtClean="0">
                <a:solidFill>
                  <a:srgbClr val="FF0000"/>
                </a:solidFill>
              </a:rPr>
              <a:t>11</a:t>
            </a:r>
            <a:r>
              <a:rPr lang="en-US" dirty="0" smtClean="0"/>
              <a:t>.</a:t>
            </a:r>
          </a:p>
          <a:p>
            <a:endParaRPr lang="en-US" dirty="0" smtClean="0"/>
          </a:p>
          <a:p>
            <a:r>
              <a:rPr lang="en-US" b="1" u="sng" dirty="0" smtClean="0">
                <a:solidFill>
                  <a:srgbClr val="0070C0"/>
                </a:solidFill>
              </a:rPr>
              <a:t>SOLUTION:</a:t>
            </a:r>
            <a:endParaRPr lang="en-US" dirty="0" smtClean="0">
              <a:solidFill>
                <a:srgbClr val="0070C0"/>
              </a:solidFill>
            </a:endParaRPr>
          </a:p>
          <a:p>
            <a:pPr>
              <a:buNone/>
            </a:pPr>
            <a:r>
              <a:rPr lang="en-US" dirty="0" smtClean="0"/>
              <a:t>	The set </a:t>
            </a:r>
            <a:r>
              <a:rPr lang="en-US" dirty="0" smtClean="0">
                <a:solidFill>
                  <a:srgbClr val="FF0000"/>
                </a:solidFill>
              </a:rPr>
              <a:t>A</a:t>
            </a:r>
            <a:r>
              <a:rPr lang="en-US" dirty="0" smtClean="0"/>
              <a:t> can be </a:t>
            </a:r>
            <a:r>
              <a:rPr lang="en-US" dirty="0" smtClean="0">
                <a:solidFill>
                  <a:srgbClr val="FF0000"/>
                </a:solidFill>
              </a:rPr>
              <a:t>partitioned</a:t>
            </a:r>
            <a:r>
              <a:rPr lang="en-US" dirty="0" smtClean="0"/>
              <a:t> into </a:t>
            </a:r>
            <a:r>
              <a:rPr lang="en-US" dirty="0" smtClean="0">
                <a:solidFill>
                  <a:srgbClr val="FF0000"/>
                </a:solidFill>
              </a:rPr>
              <a:t>five subsets</a:t>
            </a:r>
            <a:r>
              <a:rPr lang="en-US" dirty="0" smtClean="0"/>
              <a:t>:</a:t>
            </a:r>
          </a:p>
          <a:p>
            <a:pPr>
              <a:buNone/>
            </a:pPr>
            <a:r>
              <a:rPr lang="en-US" dirty="0" smtClean="0"/>
              <a:t>			</a:t>
            </a:r>
            <a:r>
              <a:rPr lang="en-US" dirty="0" smtClean="0">
                <a:solidFill>
                  <a:srgbClr val="FF0000"/>
                </a:solidFill>
              </a:rPr>
              <a:t>{1, 10}</a:t>
            </a:r>
            <a:r>
              <a:rPr lang="en-US" dirty="0" smtClean="0"/>
              <a:t>, </a:t>
            </a:r>
            <a:r>
              <a:rPr lang="en-US" dirty="0" smtClean="0">
                <a:solidFill>
                  <a:srgbClr val="FF0000"/>
                </a:solidFill>
              </a:rPr>
              <a:t>{2, 9}</a:t>
            </a:r>
            <a:r>
              <a:rPr lang="en-US" dirty="0" smtClean="0"/>
              <a:t>, </a:t>
            </a:r>
            <a:r>
              <a:rPr lang="en-US" dirty="0" smtClean="0">
                <a:solidFill>
                  <a:srgbClr val="FF0000"/>
                </a:solidFill>
              </a:rPr>
              <a:t>{3, 8}</a:t>
            </a:r>
            <a:r>
              <a:rPr lang="en-US" dirty="0" smtClean="0"/>
              <a:t>, </a:t>
            </a:r>
            <a:r>
              <a:rPr lang="en-US" dirty="0" smtClean="0">
                <a:solidFill>
                  <a:srgbClr val="FF0000"/>
                </a:solidFill>
              </a:rPr>
              <a:t>{4, 7}</a:t>
            </a:r>
            <a:r>
              <a:rPr lang="en-US" dirty="0" smtClean="0"/>
              <a:t>, and </a:t>
            </a:r>
            <a:r>
              <a:rPr lang="en-US" dirty="0" smtClean="0">
                <a:solidFill>
                  <a:srgbClr val="FF0000"/>
                </a:solidFill>
              </a:rPr>
              <a:t>{5, 6} </a:t>
            </a:r>
            <a:r>
              <a:rPr lang="en-US" dirty="0" smtClean="0"/>
              <a:t>each consisting of two integers whose </a:t>
            </a:r>
            <a:r>
              <a:rPr lang="en-US" dirty="0" smtClean="0">
                <a:solidFill>
                  <a:srgbClr val="FF0000"/>
                </a:solidFill>
              </a:rPr>
              <a:t>sum is 11</a:t>
            </a:r>
            <a:r>
              <a:rPr lang="en-US" dirty="0" smtClean="0"/>
              <a:t>. </a:t>
            </a:r>
          </a:p>
          <a:p>
            <a:pPr>
              <a:buNone/>
            </a:pPr>
            <a:r>
              <a:rPr lang="en-US" dirty="0" smtClean="0"/>
              <a:t>	These </a:t>
            </a:r>
            <a:r>
              <a:rPr lang="en-US" dirty="0" smtClean="0">
                <a:solidFill>
                  <a:srgbClr val="FF0000"/>
                </a:solidFill>
              </a:rPr>
              <a:t>5</a:t>
            </a:r>
            <a:r>
              <a:rPr lang="en-US" dirty="0" smtClean="0"/>
              <a:t> </a:t>
            </a:r>
            <a:r>
              <a:rPr lang="en-US" dirty="0" smtClean="0">
                <a:solidFill>
                  <a:srgbClr val="FF0000"/>
                </a:solidFill>
              </a:rPr>
              <a:t>subsets</a:t>
            </a:r>
            <a:r>
              <a:rPr lang="en-US" dirty="0" smtClean="0"/>
              <a:t> can be considered as </a:t>
            </a:r>
            <a:r>
              <a:rPr lang="en-US" dirty="0" smtClean="0">
                <a:solidFill>
                  <a:srgbClr val="FF0000"/>
                </a:solidFill>
              </a:rPr>
              <a:t>5 pigeonholes</a:t>
            </a:r>
            <a:r>
              <a:rPr lang="en-US" dirty="0" smtClean="0"/>
              <a:t>. 	</a:t>
            </a:r>
          </a:p>
          <a:p>
            <a:pPr>
              <a:buNone/>
            </a:pPr>
            <a:r>
              <a:rPr lang="en-US" dirty="0" smtClean="0"/>
              <a:t>	If you pick six elements. Then you have to pick one set from above sets.</a:t>
            </a:r>
          </a:p>
          <a:p>
            <a:pPr>
              <a:buNone/>
            </a:pPr>
            <a:r>
              <a:rPr lang="en-US" dirty="0" smtClean="0"/>
              <a:t>         </a:t>
            </a:r>
          </a:p>
          <a:p>
            <a:pPr>
              <a:buNone/>
            </a:pPr>
            <a:r>
              <a:rPr lang="en-US" dirty="0" smtClean="0"/>
              <a:t>	If 6 = (5 + 1) integers are selected from A, then by the </a:t>
            </a:r>
            <a:r>
              <a:rPr lang="en-US" dirty="0" smtClean="0">
                <a:solidFill>
                  <a:srgbClr val="FF0000"/>
                </a:solidFill>
              </a:rPr>
              <a:t>pigeonhole principle</a:t>
            </a:r>
            <a:r>
              <a:rPr lang="en-US" dirty="0" smtClean="0"/>
              <a:t> at least </a:t>
            </a:r>
            <a:r>
              <a:rPr lang="en-US" dirty="0" smtClean="0">
                <a:solidFill>
                  <a:srgbClr val="FF0000"/>
                </a:solidFill>
              </a:rPr>
              <a:t>two must be from one of the five subsets.</a:t>
            </a:r>
            <a:r>
              <a:rPr lang="en-US" dirty="0" smtClean="0"/>
              <a:t> But then the sum of these two integers is 11.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20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2000"/>
                                        <p:tgtEl>
                                          <p:spTgt spid="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fade">
                                      <p:cBhvr>
                                        <p:cTn id="42"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smtClean="0">
                <a:solidFill>
                  <a:srgbClr val="0070C0"/>
                </a:solidFill>
              </a:rPr>
              <a:t>GENERALIZED PIGEONHOLE PRINCIPLE</a:t>
            </a:r>
            <a:endParaRPr lang="en-US"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59</a:t>
            </a:fld>
            <a:endParaRPr lang="en-US"/>
          </a:p>
        </p:txBody>
      </p:sp>
      <p:sp>
        <p:nvSpPr>
          <p:cNvPr id="4" name="Content Placeholder 3"/>
          <p:cNvSpPr>
            <a:spLocks noGrp="1"/>
          </p:cNvSpPr>
          <p:nvPr>
            <p:ph sz="quarter" idx="1"/>
          </p:nvPr>
        </p:nvSpPr>
        <p:spPr/>
        <p:txBody>
          <a:bodyPr/>
          <a:lstStyle/>
          <a:p>
            <a:r>
              <a:rPr lang="en-US" dirty="0" smtClean="0"/>
              <a:t>Imagine we have </a:t>
            </a:r>
            <a:r>
              <a:rPr lang="en-US" dirty="0" smtClean="0">
                <a:solidFill>
                  <a:srgbClr val="FF0000"/>
                </a:solidFill>
              </a:rPr>
              <a:t>10 pigeonholes</a:t>
            </a:r>
            <a:r>
              <a:rPr lang="en-US" dirty="0" smtClean="0"/>
              <a:t>, and we want to </a:t>
            </a:r>
            <a:r>
              <a:rPr lang="en-US" dirty="0" smtClean="0">
                <a:solidFill>
                  <a:srgbClr val="FF0000"/>
                </a:solidFill>
              </a:rPr>
              <a:t>ensure</a:t>
            </a:r>
            <a:r>
              <a:rPr lang="en-US" dirty="0" smtClean="0"/>
              <a:t> that at least </a:t>
            </a:r>
            <a:r>
              <a:rPr lang="en-US" dirty="0" smtClean="0">
                <a:solidFill>
                  <a:srgbClr val="FF0000"/>
                </a:solidFill>
              </a:rPr>
              <a:t>one pigeonhole</a:t>
            </a:r>
            <a:r>
              <a:rPr lang="en-US" dirty="0" smtClean="0"/>
              <a:t> have more than </a:t>
            </a:r>
            <a:r>
              <a:rPr lang="en-US" dirty="0" smtClean="0">
                <a:solidFill>
                  <a:srgbClr val="FF0000"/>
                </a:solidFill>
              </a:rPr>
              <a:t>2 pigeons</a:t>
            </a:r>
            <a:r>
              <a:rPr lang="en-US" dirty="0" smtClean="0"/>
              <a:t> in it.</a:t>
            </a:r>
          </a:p>
          <a:p>
            <a:endParaRPr lang="en-US" dirty="0" smtClean="0"/>
          </a:p>
          <a:p>
            <a:r>
              <a:rPr lang="en-US" dirty="0" smtClean="0"/>
              <a:t>If you have </a:t>
            </a:r>
            <a:r>
              <a:rPr lang="en-US" dirty="0" smtClean="0">
                <a:solidFill>
                  <a:srgbClr val="FF0000"/>
                </a:solidFill>
              </a:rPr>
              <a:t>20 pigeons</a:t>
            </a:r>
            <a:r>
              <a:rPr lang="en-US" dirty="0" smtClean="0"/>
              <a:t> then you can have </a:t>
            </a:r>
            <a:r>
              <a:rPr lang="en-US" dirty="0" smtClean="0">
                <a:solidFill>
                  <a:srgbClr val="FF0000"/>
                </a:solidFill>
              </a:rPr>
              <a:t>2 pigeons</a:t>
            </a:r>
            <a:r>
              <a:rPr lang="en-US" dirty="0" smtClean="0"/>
              <a:t> in each pigeonholes.</a:t>
            </a:r>
          </a:p>
          <a:p>
            <a:endParaRPr lang="en-US" dirty="0" smtClean="0"/>
          </a:p>
          <a:p>
            <a:r>
              <a:rPr lang="en-US" dirty="0" smtClean="0"/>
              <a:t>If you have </a:t>
            </a:r>
            <a:r>
              <a:rPr lang="en-US" dirty="0" smtClean="0">
                <a:solidFill>
                  <a:srgbClr val="FF0000"/>
                </a:solidFill>
              </a:rPr>
              <a:t>21 pigeons</a:t>
            </a:r>
            <a:r>
              <a:rPr lang="en-US" dirty="0" smtClean="0"/>
              <a:t> then you can have </a:t>
            </a:r>
            <a:r>
              <a:rPr lang="en-US" dirty="0" smtClean="0">
                <a:solidFill>
                  <a:srgbClr val="FF0000"/>
                </a:solidFill>
              </a:rPr>
              <a:t>2 pigeons</a:t>
            </a:r>
            <a:r>
              <a:rPr lang="en-US" dirty="0" smtClean="0"/>
              <a:t> in each pigeonholes and in </a:t>
            </a:r>
            <a:r>
              <a:rPr lang="en-US" dirty="0" smtClean="0">
                <a:solidFill>
                  <a:srgbClr val="FF0000"/>
                </a:solidFill>
              </a:rPr>
              <a:t>1 pigeonhole</a:t>
            </a:r>
            <a:r>
              <a:rPr lang="en-US" dirty="0" smtClean="0"/>
              <a:t> you have </a:t>
            </a:r>
            <a:r>
              <a:rPr lang="en-US" dirty="0" smtClean="0">
                <a:solidFill>
                  <a:srgbClr val="FF0000"/>
                </a:solidFill>
              </a:rPr>
              <a:t>more than 2 pigeons</a:t>
            </a:r>
            <a:r>
              <a:rPr lang="en-US" dirty="0" smtClean="0"/>
              <a:t> in it.</a:t>
            </a:r>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smtClean="0">
                <a:solidFill>
                  <a:srgbClr val="0070C0"/>
                </a:solidFill>
              </a:rPr>
              <a:t>GENERALIZED PIGEONHOLE PRINCIPLE</a:t>
            </a:r>
            <a:endParaRPr lang="en-US" dirty="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60</a:t>
            </a:fld>
            <a:endParaRPr lang="en-US"/>
          </a:p>
        </p:txBody>
      </p:sp>
      <p:sp>
        <p:nvSpPr>
          <p:cNvPr id="4" name="Content Placeholder 3"/>
          <p:cNvSpPr>
            <a:spLocks noGrp="1"/>
          </p:cNvSpPr>
          <p:nvPr>
            <p:ph sz="quarter" idx="1"/>
          </p:nvPr>
        </p:nvSpPr>
        <p:spPr/>
        <p:txBody>
          <a:bodyPr/>
          <a:lstStyle/>
          <a:p>
            <a:r>
              <a:rPr lang="en-US" dirty="0" smtClean="0"/>
              <a:t>A </a:t>
            </a:r>
            <a:r>
              <a:rPr lang="en-US" dirty="0" smtClean="0">
                <a:solidFill>
                  <a:srgbClr val="FF0000"/>
                </a:solidFill>
              </a:rPr>
              <a:t>function</a:t>
            </a:r>
            <a:r>
              <a:rPr lang="en-US" dirty="0" smtClean="0"/>
              <a:t> from a set of </a:t>
            </a:r>
            <a:r>
              <a:rPr lang="en-US" i="1" dirty="0" err="1" smtClean="0">
                <a:solidFill>
                  <a:srgbClr val="FF0000"/>
                </a:solidFill>
              </a:rPr>
              <a:t>n</a:t>
            </a:r>
            <a:r>
              <a:rPr lang="en-US" dirty="0" err="1" smtClean="0">
                <a:solidFill>
                  <a:srgbClr val="FF0000"/>
                </a:solidFill>
                <a:sym typeface="Symbol"/>
              </a:rPr>
              <a:t></a:t>
            </a:r>
            <a:r>
              <a:rPr lang="en-US" i="1" dirty="0" err="1" smtClean="0">
                <a:solidFill>
                  <a:srgbClr val="FF0000"/>
                </a:solidFill>
              </a:rPr>
              <a:t>k</a:t>
            </a:r>
            <a:r>
              <a:rPr lang="en-US" dirty="0" smtClean="0">
                <a:solidFill>
                  <a:srgbClr val="FF0000"/>
                </a:solidFill>
              </a:rPr>
              <a:t> + 1</a:t>
            </a:r>
            <a:r>
              <a:rPr lang="en-US" dirty="0" smtClean="0"/>
              <a:t> or more elements to a </a:t>
            </a:r>
            <a:r>
              <a:rPr lang="en-US" dirty="0" smtClean="0">
                <a:solidFill>
                  <a:srgbClr val="FF0000"/>
                </a:solidFill>
              </a:rPr>
              <a:t>set</a:t>
            </a:r>
            <a:r>
              <a:rPr lang="en-US" dirty="0" smtClean="0"/>
              <a:t> of </a:t>
            </a:r>
            <a:r>
              <a:rPr lang="en-US" i="1" dirty="0" smtClean="0">
                <a:solidFill>
                  <a:srgbClr val="FF0000"/>
                </a:solidFill>
              </a:rPr>
              <a:t>n</a:t>
            </a:r>
            <a:r>
              <a:rPr lang="en-US" dirty="0" smtClean="0"/>
              <a:t> elements must have at least </a:t>
            </a:r>
            <a:r>
              <a:rPr lang="en-US" i="1" dirty="0" smtClean="0">
                <a:solidFill>
                  <a:srgbClr val="FF0000"/>
                </a:solidFill>
              </a:rPr>
              <a:t>k</a:t>
            </a:r>
            <a:r>
              <a:rPr lang="en-US" dirty="0" smtClean="0">
                <a:solidFill>
                  <a:srgbClr val="FF0000"/>
                </a:solidFill>
              </a:rPr>
              <a:t> + 1</a:t>
            </a:r>
            <a:r>
              <a:rPr lang="en-US" dirty="0" smtClean="0"/>
              <a:t> elements in the </a:t>
            </a:r>
            <a:r>
              <a:rPr lang="en-US" dirty="0" smtClean="0">
                <a:solidFill>
                  <a:srgbClr val="FF0000"/>
                </a:solidFill>
              </a:rPr>
              <a:t>domain</a:t>
            </a:r>
            <a:r>
              <a:rPr lang="en-US" dirty="0" smtClean="0"/>
              <a:t> that have the </a:t>
            </a:r>
            <a:r>
              <a:rPr lang="en-US" dirty="0" smtClean="0">
                <a:solidFill>
                  <a:srgbClr val="FF0000"/>
                </a:solidFill>
              </a:rPr>
              <a:t>same image</a:t>
            </a:r>
            <a:r>
              <a:rPr lang="en-US" dirty="0" smtClean="0"/>
              <a:t> in the </a:t>
            </a:r>
            <a:r>
              <a:rPr lang="en-US" dirty="0" smtClean="0">
                <a:solidFill>
                  <a:srgbClr val="FF0000"/>
                </a:solidFill>
              </a:rPr>
              <a:t>co-domain</a:t>
            </a:r>
            <a:r>
              <a:rPr lang="en-US" dirty="0" smtClean="0"/>
              <a:t>. </a:t>
            </a:r>
          </a:p>
          <a:p>
            <a:endParaRPr lang="en-US" dirty="0" smtClean="0"/>
          </a:p>
          <a:p>
            <a:r>
              <a:rPr lang="en-US" dirty="0" smtClean="0"/>
              <a:t>If </a:t>
            </a:r>
            <a:r>
              <a:rPr lang="en-US" i="1" dirty="0" smtClean="0">
                <a:solidFill>
                  <a:srgbClr val="FF0000"/>
                </a:solidFill>
              </a:rPr>
              <a:t>n </a:t>
            </a:r>
            <a:r>
              <a:rPr lang="en-US" dirty="0" smtClean="0">
                <a:solidFill>
                  <a:srgbClr val="FF0000"/>
                </a:solidFill>
                <a:sym typeface="Symbol"/>
              </a:rPr>
              <a:t></a:t>
            </a:r>
            <a:r>
              <a:rPr lang="en-US" dirty="0" smtClean="0">
                <a:solidFill>
                  <a:srgbClr val="FF0000"/>
                </a:solidFill>
              </a:rPr>
              <a:t> </a:t>
            </a:r>
            <a:r>
              <a:rPr lang="en-US" i="1" dirty="0" smtClean="0">
                <a:solidFill>
                  <a:srgbClr val="FF0000"/>
                </a:solidFill>
              </a:rPr>
              <a:t>k</a:t>
            </a:r>
            <a:r>
              <a:rPr lang="en-US" dirty="0" smtClean="0">
                <a:solidFill>
                  <a:srgbClr val="FF0000"/>
                </a:solidFill>
              </a:rPr>
              <a:t> + 1</a:t>
            </a:r>
            <a:r>
              <a:rPr lang="en-US" dirty="0" smtClean="0"/>
              <a:t> or more </a:t>
            </a:r>
            <a:r>
              <a:rPr lang="en-US" dirty="0" smtClean="0">
                <a:solidFill>
                  <a:srgbClr val="FF0000"/>
                </a:solidFill>
              </a:rPr>
              <a:t>pigeons</a:t>
            </a:r>
            <a:r>
              <a:rPr lang="en-US" dirty="0" smtClean="0"/>
              <a:t> fly into </a:t>
            </a:r>
            <a:r>
              <a:rPr lang="en-US" i="1" dirty="0" smtClean="0">
                <a:solidFill>
                  <a:srgbClr val="FF0000"/>
                </a:solidFill>
              </a:rPr>
              <a:t>n</a:t>
            </a:r>
            <a:r>
              <a:rPr lang="en-US" dirty="0" smtClean="0">
                <a:solidFill>
                  <a:srgbClr val="FF0000"/>
                </a:solidFill>
              </a:rPr>
              <a:t> pigeonholes</a:t>
            </a:r>
            <a:r>
              <a:rPr lang="en-US" dirty="0" smtClean="0"/>
              <a:t> then at least </a:t>
            </a:r>
            <a:r>
              <a:rPr lang="en-US" dirty="0" smtClean="0">
                <a:solidFill>
                  <a:srgbClr val="FF0000"/>
                </a:solidFill>
              </a:rPr>
              <a:t>one pigeonhole</a:t>
            </a:r>
            <a:r>
              <a:rPr lang="en-US" dirty="0" smtClean="0"/>
              <a:t> must contain </a:t>
            </a:r>
            <a:r>
              <a:rPr lang="en-US" i="1" dirty="0" smtClean="0">
                <a:solidFill>
                  <a:srgbClr val="FF0000"/>
                </a:solidFill>
              </a:rPr>
              <a:t>k + </a:t>
            </a:r>
            <a:r>
              <a:rPr lang="en-US" dirty="0" smtClean="0">
                <a:solidFill>
                  <a:srgbClr val="FF0000"/>
                </a:solidFill>
              </a:rPr>
              <a:t>1</a:t>
            </a:r>
            <a:r>
              <a:rPr lang="en-US" dirty="0" smtClean="0"/>
              <a:t> or </a:t>
            </a:r>
            <a:r>
              <a:rPr lang="en-US" dirty="0" smtClean="0">
                <a:solidFill>
                  <a:srgbClr val="FF0000"/>
                </a:solidFill>
              </a:rPr>
              <a:t>more pigeons</a:t>
            </a:r>
            <a:r>
              <a:rPr lang="en-US" dirty="0" smtClean="0"/>
              <a:t>.  </a:t>
            </a:r>
          </a:p>
          <a:p>
            <a:endParaRPr lang="en-US" dirty="0" smtClean="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61</a:t>
            </a:fld>
            <a:endParaRPr lang="en-US"/>
          </a:p>
        </p:txBody>
      </p:sp>
      <p:sp>
        <p:nvSpPr>
          <p:cNvPr id="4" name="Content Placeholder 3"/>
          <p:cNvSpPr>
            <a:spLocks noGrp="1"/>
          </p:cNvSpPr>
          <p:nvPr>
            <p:ph sz="quarter" idx="1"/>
          </p:nvPr>
        </p:nvSpPr>
        <p:spPr/>
        <p:txBody>
          <a:bodyPr/>
          <a:lstStyle/>
          <a:p>
            <a:r>
              <a:rPr lang="en-US" dirty="0" smtClean="0"/>
              <a:t>Suppose a </a:t>
            </a:r>
            <a:r>
              <a:rPr lang="en-US" dirty="0" smtClean="0">
                <a:solidFill>
                  <a:srgbClr val="FF0000"/>
                </a:solidFill>
              </a:rPr>
              <a:t>laundry bag</a:t>
            </a:r>
            <a:r>
              <a:rPr lang="en-US" dirty="0" smtClean="0"/>
              <a:t> contains many </a:t>
            </a:r>
            <a:r>
              <a:rPr lang="en-US" dirty="0" smtClean="0">
                <a:solidFill>
                  <a:srgbClr val="FF0000"/>
                </a:solidFill>
              </a:rPr>
              <a:t>red</a:t>
            </a:r>
            <a:r>
              <a:rPr lang="en-US" dirty="0" smtClean="0"/>
              <a:t>, </a:t>
            </a:r>
            <a:r>
              <a:rPr lang="en-US" dirty="0" smtClean="0">
                <a:solidFill>
                  <a:srgbClr val="FF0000"/>
                </a:solidFill>
              </a:rPr>
              <a:t>white</a:t>
            </a:r>
            <a:r>
              <a:rPr lang="en-US" dirty="0" smtClean="0"/>
              <a:t>, and </a:t>
            </a:r>
            <a:r>
              <a:rPr lang="en-US" dirty="0" smtClean="0">
                <a:solidFill>
                  <a:srgbClr val="FF0000"/>
                </a:solidFill>
              </a:rPr>
              <a:t>blue socks</a:t>
            </a:r>
            <a:r>
              <a:rPr lang="en-US" dirty="0" smtClean="0"/>
              <a:t>. </a:t>
            </a:r>
          </a:p>
          <a:p>
            <a:endParaRPr lang="en-US" dirty="0" smtClean="0"/>
          </a:p>
          <a:p>
            <a:r>
              <a:rPr lang="en-US" dirty="0" smtClean="0"/>
              <a:t>Find the minimum number of </a:t>
            </a:r>
            <a:r>
              <a:rPr lang="en-US" dirty="0" smtClean="0">
                <a:solidFill>
                  <a:srgbClr val="FF0000"/>
                </a:solidFill>
              </a:rPr>
              <a:t>socks</a:t>
            </a:r>
            <a:r>
              <a:rPr lang="en-US" dirty="0" smtClean="0"/>
              <a:t> that one needs to choose in order to get </a:t>
            </a:r>
            <a:r>
              <a:rPr lang="en-US" dirty="0" smtClean="0">
                <a:solidFill>
                  <a:srgbClr val="FF0000"/>
                </a:solidFill>
              </a:rPr>
              <a:t>two pairs</a:t>
            </a:r>
            <a:r>
              <a:rPr lang="en-US" dirty="0" smtClean="0"/>
              <a:t> (four socks) of the </a:t>
            </a:r>
            <a:r>
              <a:rPr lang="en-US" dirty="0" smtClean="0">
                <a:solidFill>
                  <a:srgbClr val="FF0000"/>
                </a:solidFill>
              </a:rPr>
              <a:t>same color</a:t>
            </a:r>
            <a:r>
              <a:rPr lang="en-US" dirty="0" smtClean="0"/>
              <a:t>.</a:t>
            </a:r>
          </a:p>
          <a:p>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SOLUTION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62</a:t>
            </a:fld>
            <a:endParaRPr lang="en-US"/>
          </a:p>
        </p:txBody>
      </p:sp>
      <p:sp>
        <p:nvSpPr>
          <p:cNvPr id="4" name="Content Placeholder 3"/>
          <p:cNvSpPr>
            <a:spLocks noGrp="1"/>
          </p:cNvSpPr>
          <p:nvPr>
            <p:ph sz="quarter" idx="1"/>
          </p:nvPr>
        </p:nvSpPr>
        <p:spPr/>
        <p:txBody>
          <a:bodyPr/>
          <a:lstStyle/>
          <a:p>
            <a:r>
              <a:rPr lang="en-US" dirty="0" smtClean="0"/>
              <a:t>Here there are </a:t>
            </a:r>
            <a:r>
              <a:rPr lang="en-US" dirty="0" smtClean="0">
                <a:solidFill>
                  <a:srgbClr val="FF0000"/>
                </a:solidFill>
              </a:rPr>
              <a:t>n = 3</a:t>
            </a:r>
            <a:r>
              <a:rPr lang="en-US" dirty="0" smtClean="0"/>
              <a:t> colors (</a:t>
            </a:r>
            <a:r>
              <a:rPr lang="en-US" dirty="0" smtClean="0">
                <a:solidFill>
                  <a:srgbClr val="FF0000"/>
                </a:solidFill>
              </a:rPr>
              <a:t>pigeonholes</a:t>
            </a:r>
            <a:r>
              <a:rPr lang="en-US" dirty="0" smtClean="0"/>
              <a:t>)</a:t>
            </a:r>
          </a:p>
          <a:p>
            <a:endParaRPr lang="en-US" dirty="0" smtClean="0"/>
          </a:p>
          <a:p>
            <a:pPr>
              <a:buNone/>
            </a:pPr>
            <a:r>
              <a:rPr lang="en-US" dirty="0" smtClean="0"/>
              <a:t>	 and </a:t>
            </a:r>
            <a:r>
              <a:rPr lang="en-US" dirty="0" smtClean="0">
                <a:solidFill>
                  <a:srgbClr val="FF0000"/>
                </a:solidFill>
              </a:rPr>
              <a:t>k + 1 = 4</a:t>
            </a:r>
            <a:r>
              <a:rPr lang="en-US" dirty="0" smtClean="0"/>
              <a:t> or </a:t>
            </a:r>
            <a:r>
              <a:rPr lang="en-US" dirty="0" smtClean="0">
                <a:solidFill>
                  <a:srgbClr val="FF0000"/>
                </a:solidFill>
              </a:rPr>
              <a:t>k = 3</a:t>
            </a:r>
            <a:r>
              <a:rPr lang="en-US" dirty="0" smtClean="0"/>
              <a:t>. </a:t>
            </a:r>
          </a:p>
          <a:p>
            <a:pPr>
              <a:buNone/>
            </a:pPr>
            <a:endParaRPr lang="en-US" dirty="0" smtClean="0"/>
          </a:p>
          <a:p>
            <a:pPr>
              <a:buNone/>
            </a:pPr>
            <a:r>
              <a:rPr lang="en-US" dirty="0" smtClean="0"/>
              <a:t>	Thus among any </a:t>
            </a:r>
            <a:r>
              <a:rPr lang="en-US" i="1" dirty="0" err="1" smtClean="0">
                <a:solidFill>
                  <a:srgbClr val="FF0000"/>
                </a:solidFill>
              </a:rPr>
              <a:t>n</a:t>
            </a:r>
            <a:r>
              <a:rPr lang="en-US" dirty="0" err="1" smtClean="0">
                <a:solidFill>
                  <a:srgbClr val="FF0000"/>
                </a:solidFill>
                <a:sym typeface="Symbol"/>
              </a:rPr>
              <a:t></a:t>
            </a:r>
            <a:r>
              <a:rPr lang="en-US" i="1" dirty="0" err="1" smtClean="0">
                <a:solidFill>
                  <a:srgbClr val="FF0000"/>
                </a:solidFill>
              </a:rPr>
              <a:t>k</a:t>
            </a:r>
            <a:r>
              <a:rPr lang="en-US" dirty="0" smtClean="0">
                <a:solidFill>
                  <a:srgbClr val="FF0000"/>
                </a:solidFill>
              </a:rPr>
              <a:t> + 1 = 3</a:t>
            </a:r>
            <a:r>
              <a:rPr lang="en-US" dirty="0" smtClean="0">
                <a:solidFill>
                  <a:srgbClr val="FF0000"/>
                </a:solidFill>
                <a:sym typeface="Symbol"/>
              </a:rPr>
              <a:t></a:t>
            </a:r>
            <a:r>
              <a:rPr lang="en-US" dirty="0" smtClean="0">
                <a:solidFill>
                  <a:srgbClr val="FF0000"/>
                </a:solidFill>
              </a:rPr>
              <a:t>3 + 1 = 10</a:t>
            </a:r>
            <a:r>
              <a:rPr lang="en-US" dirty="0" smtClean="0"/>
              <a:t> socks (</a:t>
            </a:r>
            <a:r>
              <a:rPr lang="en-US" dirty="0" smtClean="0">
                <a:solidFill>
                  <a:srgbClr val="FF0000"/>
                </a:solidFill>
              </a:rPr>
              <a:t>pigeons</a:t>
            </a:r>
            <a:r>
              <a:rPr lang="en-US" dirty="0" smtClean="0"/>
              <a:t>), </a:t>
            </a:r>
          </a:p>
          <a:p>
            <a:pPr>
              <a:buNone/>
            </a:pPr>
            <a:endParaRPr lang="en-US" dirty="0" smtClean="0"/>
          </a:p>
          <a:p>
            <a:pPr>
              <a:buNone/>
            </a:pPr>
            <a:r>
              <a:rPr lang="en-US" dirty="0" smtClean="0"/>
              <a:t>	at least </a:t>
            </a:r>
            <a:r>
              <a:rPr lang="en-US" dirty="0" smtClean="0">
                <a:solidFill>
                  <a:srgbClr val="FF0000"/>
                </a:solidFill>
              </a:rPr>
              <a:t>four</a:t>
            </a:r>
            <a:r>
              <a:rPr lang="en-US" dirty="0" smtClean="0"/>
              <a:t> have the </a:t>
            </a:r>
            <a:r>
              <a:rPr lang="en-US" dirty="0" smtClean="0">
                <a:solidFill>
                  <a:srgbClr val="FF0000"/>
                </a:solidFill>
              </a:rPr>
              <a:t>same color</a:t>
            </a:r>
            <a:r>
              <a:rPr lang="en-US" dirty="0" smtClean="0"/>
              <a:t>.</a:t>
            </a:r>
            <a:endParaRPr 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FLOOR &amp; CEILING FUNCTIONS</a:t>
            </a:r>
          </a:p>
        </p:txBody>
      </p:sp>
      <p:sp>
        <p:nvSpPr>
          <p:cNvPr id="3" name="Slide Number Placeholder 2"/>
          <p:cNvSpPr>
            <a:spLocks noGrp="1"/>
          </p:cNvSpPr>
          <p:nvPr>
            <p:ph type="sldNum" sz="quarter" idx="12"/>
          </p:nvPr>
        </p:nvSpPr>
        <p:spPr/>
        <p:txBody>
          <a:bodyPr/>
          <a:lstStyle/>
          <a:p>
            <a:fld id="{25E19944-04AC-4CD8-BA69-63C2A678C21A}" type="slidenum">
              <a:rPr lang="en-US" smtClean="0"/>
              <a:pPr/>
              <a:t>63</a:t>
            </a:fld>
            <a:endParaRPr lang="en-US"/>
          </a:p>
        </p:txBody>
      </p:sp>
      <p:sp>
        <p:nvSpPr>
          <p:cNvPr id="4" name="Content Placeholder 3"/>
          <p:cNvSpPr>
            <a:spLocks noGrp="1"/>
          </p:cNvSpPr>
          <p:nvPr>
            <p:ph sz="quarter" idx="1"/>
          </p:nvPr>
        </p:nvSpPr>
        <p:spPr/>
        <p:txBody>
          <a:bodyPr/>
          <a:lstStyle/>
          <a:p>
            <a:r>
              <a:rPr lang="en-US" dirty="0" smtClean="0"/>
              <a:t>Given any </a:t>
            </a:r>
            <a:r>
              <a:rPr lang="en-US" dirty="0" smtClean="0">
                <a:solidFill>
                  <a:srgbClr val="FF0000"/>
                </a:solidFill>
              </a:rPr>
              <a:t>real number </a:t>
            </a:r>
            <a:r>
              <a:rPr lang="en-US" i="1" dirty="0" smtClean="0">
                <a:solidFill>
                  <a:srgbClr val="FF0000"/>
                </a:solidFill>
              </a:rPr>
              <a:t>x</a:t>
            </a:r>
            <a:r>
              <a:rPr lang="en-US" dirty="0" smtClean="0">
                <a:solidFill>
                  <a:srgbClr val="FF0000"/>
                </a:solidFill>
              </a:rPr>
              <a:t>,</a:t>
            </a:r>
            <a:r>
              <a:rPr lang="en-US" dirty="0" smtClean="0"/>
              <a:t> the</a:t>
            </a:r>
            <a:r>
              <a:rPr lang="en-US" b="1" dirty="0" smtClean="0"/>
              <a:t> </a:t>
            </a:r>
            <a:r>
              <a:rPr lang="en-US" b="1" dirty="0" smtClean="0">
                <a:solidFill>
                  <a:srgbClr val="FF0000"/>
                </a:solidFill>
              </a:rPr>
              <a:t>floor</a:t>
            </a:r>
            <a:r>
              <a:rPr lang="en-US" b="1" dirty="0" smtClean="0"/>
              <a:t> </a:t>
            </a:r>
            <a:r>
              <a:rPr lang="en-US" dirty="0" smtClean="0"/>
              <a:t>of</a:t>
            </a:r>
            <a:r>
              <a:rPr lang="en-US" b="1" dirty="0" smtClean="0"/>
              <a:t> </a:t>
            </a:r>
            <a:r>
              <a:rPr lang="en-US" b="1" i="1" dirty="0" smtClean="0">
                <a:solidFill>
                  <a:srgbClr val="FF0000"/>
                </a:solidFill>
              </a:rPr>
              <a:t>x</a:t>
            </a:r>
            <a:r>
              <a:rPr lang="en-US" dirty="0" smtClean="0"/>
              <a:t>, denoted </a:t>
            </a:r>
            <a:r>
              <a:rPr lang="en-US" dirty="0" smtClean="0">
                <a:solidFill>
                  <a:srgbClr val="FF0000"/>
                </a:solidFill>
                <a:sym typeface="Symbol"/>
              </a:rPr>
              <a:t></a:t>
            </a:r>
            <a:r>
              <a:rPr lang="en-US" i="1" dirty="0" smtClean="0">
                <a:solidFill>
                  <a:srgbClr val="FF0000"/>
                </a:solidFill>
              </a:rPr>
              <a:t>x</a:t>
            </a:r>
            <a:r>
              <a:rPr lang="en-US" dirty="0" smtClean="0">
                <a:solidFill>
                  <a:srgbClr val="FF0000"/>
                </a:solidFill>
                <a:sym typeface="Symbol"/>
              </a:rPr>
              <a:t></a:t>
            </a:r>
            <a:r>
              <a:rPr lang="en-US" dirty="0" smtClean="0"/>
              <a:t>, is the </a:t>
            </a:r>
            <a:r>
              <a:rPr lang="en-US" dirty="0" smtClean="0">
                <a:solidFill>
                  <a:srgbClr val="FF0000"/>
                </a:solidFill>
              </a:rPr>
              <a:t>largest</a:t>
            </a:r>
            <a:r>
              <a:rPr lang="en-US" dirty="0" smtClean="0"/>
              <a:t> </a:t>
            </a:r>
            <a:r>
              <a:rPr lang="en-US" dirty="0" smtClean="0">
                <a:solidFill>
                  <a:srgbClr val="FF0000"/>
                </a:solidFill>
              </a:rPr>
              <a:t>integer</a:t>
            </a:r>
            <a:r>
              <a:rPr lang="en-US" dirty="0" smtClean="0"/>
              <a:t> smaller than or equal to </a:t>
            </a:r>
            <a:r>
              <a:rPr lang="en-US" i="1" dirty="0" smtClean="0">
                <a:solidFill>
                  <a:srgbClr val="FF0000"/>
                </a:solidFill>
              </a:rPr>
              <a:t>x</a:t>
            </a:r>
            <a:r>
              <a:rPr lang="en-US" dirty="0" smtClean="0"/>
              <a:t>.</a:t>
            </a:r>
          </a:p>
          <a:p>
            <a:endParaRPr lang="en-US" dirty="0" smtClean="0"/>
          </a:p>
          <a:p>
            <a:r>
              <a:rPr lang="en-US" dirty="0" smtClean="0"/>
              <a:t>Example: </a:t>
            </a:r>
            <a:r>
              <a:rPr lang="en-US" dirty="0" smtClean="0">
                <a:solidFill>
                  <a:srgbClr val="FF0000"/>
                </a:solidFill>
                <a:sym typeface="Symbol"/>
              </a:rPr>
              <a:t></a:t>
            </a:r>
            <a:r>
              <a:rPr lang="en-US" i="1" dirty="0" smtClean="0">
                <a:solidFill>
                  <a:srgbClr val="FF0000"/>
                </a:solidFill>
                <a:sym typeface="Symbol"/>
              </a:rPr>
              <a:t>3.4</a:t>
            </a:r>
            <a:r>
              <a:rPr lang="en-US" dirty="0" smtClean="0">
                <a:solidFill>
                  <a:srgbClr val="FF0000"/>
                </a:solidFill>
                <a:sym typeface="Symbol"/>
              </a:rPr>
              <a:t> = 3 </a:t>
            </a:r>
            <a:r>
              <a:rPr lang="en-US" dirty="0" smtClean="0">
                <a:sym typeface="Symbol"/>
              </a:rPr>
              <a:t>and</a:t>
            </a:r>
            <a:r>
              <a:rPr lang="en-US" dirty="0" smtClean="0">
                <a:solidFill>
                  <a:srgbClr val="FF0000"/>
                </a:solidFill>
                <a:sym typeface="Symbol"/>
              </a:rPr>
              <a:t> 5 = 5</a:t>
            </a:r>
            <a:endParaRPr lang="en-US" dirty="0" smtClean="0"/>
          </a:p>
          <a:p>
            <a:endParaRPr lang="en-US" dirty="0" smtClean="0"/>
          </a:p>
          <a:p>
            <a:r>
              <a:rPr lang="en-US" dirty="0" smtClean="0"/>
              <a:t>Given any</a:t>
            </a:r>
            <a:r>
              <a:rPr lang="en-US" dirty="0" smtClean="0">
                <a:solidFill>
                  <a:srgbClr val="FF0000"/>
                </a:solidFill>
              </a:rPr>
              <a:t> real number </a:t>
            </a:r>
            <a:r>
              <a:rPr lang="en-US" i="1" dirty="0" smtClean="0">
                <a:solidFill>
                  <a:srgbClr val="FF0000"/>
                </a:solidFill>
              </a:rPr>
              <a:t>x</a:t>
            </a:r>
            <a:r>
              <a:rPr lang="en-US" dirty="0" smtClean="0"/>
              <a:t>, the</a:t>
            </a:r>
            <a:r>
              <a:rPr lang="en-US" b="1" dirty="0" smtClean="0"/>
              <a:t> </a:t>
            </a:r>
            <a:r>
              <a:rPr lang="en-US" b="1" dirty="0" smtClean="0">
                <a:solidFill>
                  <a:srgbClr val="FF0000"/>
                </a:solidFill>
              </a:rPr>
              <a:t>ceiling</a:t>
            </a:r>
            <a:r>
              <a:rPr lang="en-US" b="1" dirty="0" smtClean="0"/>
              <a:t> </a:t>
            </a:r>
            <a:r>
              <a:rPr lang="en-US" dirty="0" smtClean="0"/>
              <a:t>of</a:t>
            </a:r>
            <a:r>
              <a:rPr lang="en-US" b="1" dirty="0" smtClean="0"/>
              <a:t> </a:t>
            </a:r>
            <a:r>
              <a:rPr lang="en-US" b="1" i="1" dirty="0" smtClean="0">
                <a:solidFill>
                  <a:srgbClr val="FF0000"/>
                </a:solidFill>
              </a:rPr>
              <a:t>x</a:t>
            </a:r>
            <a:r>
              <a:rPr lang="en-US" dirty="0" smtClean="0"/>
              <a:t>, denoted </a:t>
            </a:r>
            <a:r>
              <a:rPr lang="en-US" dirty="0" smtClean="0">
                <a:solidFill>
                  <a:srgbClr val="FF0000"/>
                </a:solidFill>
                <a:sym typeface="Symbol"/>
              </a:rPr>
              <a:t></a:t>
            </a:r>
            <a:r>
              <a:rPr lang="en-US" i="1" dirty="0" smtClean="0">
                <a:solidFill>
                  <a:srgbClr val="FF0000"/>
                </a:solidFill>
              </a:rPr>
              <a:t>x</a:t>
            </a:r>
            <a:r>
              <a:rPr lang="en-US" dirty="0" smtClean="0">
                <a:solidFill>
                  <a:srgbClr val="FF0000"/>
                </a:solidFill>
                <a:sym typeface="Symbol"/>
              </a:rPr>
              <a:t></a:t>
            </a:r>
            <a:r>
              <a:rPr lang="en-US" dirty="0" smtClean="0"/>
              <a:t>, is the </a:t>
            </a:r>
            <a:r>
              <a:rPr lang="en-US" dirty="0" smtClean="0">
                <a:solidFill>
                  <a:srgbClr val="FF0000"/>
                </a:solidFill>
              </a:rPr>
              <a:t>smallest integer</a:t>
            </a:r>
            <a:r>
              <a:rPr lang="en-US" dirty="0" smtClean="0"/>
              <a:t> greater than or equal to </a:t>
            </a:r>
            <a:r>
              <a:rPr lang="en-US" i="1" dirty="0" smtClean="0">
                <a:solidFill>
                  <a:srgbClr val="FF0000"/>
                </a:solidFill>
              </a:rPr>
              <a:t>x</a:t>
            </a:r>
            <a:r>
              <a:rPr lang="en-US" dirty="0" smtClean="0"/>
              <a:t>.</a:t>
            </a:r>
          </a:p>
          <a:p>
            <a:endParaRPr lang="en-US" dirty="0" smtClean="0"/>
          </a:p>
          <a:p>
            <a:r>
              <a:rPr lang="en-US" dirty="0" smtClean="0"/>
              <a:t>Example: </a:t>
            </a:r>
            <a:r>
              <a:rPr lang="en-US" dirty="0" smtClean="0">
                <a:solidFill>
                  <a:srgbClr val="FF0000"/>
                </a:solidFill>
                <a:sym typeface="Symbol"/>
              </a:rPr>
              <a:t></a:t>
            </a:r>
            <a:r>
              <a:rPr lang="en-US" i="1" dirty="0" smtClean="0">
                <a:solidFill>
                  <a:srgbClr val="FF0000"/>
                </a:solidFill>
                <a:sym typeface="Symbol"/>
              </a:rPr>
              <a:t>3.4</a:t>
            </a:r>
            <a:r>
              <a:rPr lang="en-US" dirty="0" smtClean="0">
                <a:solidFill>
                  <a:srgbClr val="FF0000"/>
                </a:solidFill>
                <a:sym typeface="Symbol"/>
              </a:rPr>
              <a:t> = 4 </a:t>
            </a:r>
            <a:r>
              <a:rPr lang="en-US" dirty="0" smtClean="0">
                <a:sym typeface="Symbol"/>
              </a:rPr>
              <a:t>and</a:t>
            </a:r>
            <a:r>
              <a:rPr lang="en-US" dirty="0" smtClean="0">
                <a:solidFill>
                  <a:srgbClr val="FF0000"/>
                </a:solidFill>
                <a:sym typeface="Symbol"/>
              </a:rPr>
              <a:t> </a:t>
            </a:r>
            <a:r>
              <a:rPr lang="en-US" i="1" dirty="0" smtClean="0">
                <a:solidFill>
                  <a:srgbClr val="FF0000"/>
                </a:solidFill>
                <a:sym typeface="Symbol"/>
              </a:rPr>
              <a:t>5</a:t>
            </a:r>
            <a:r>
              <a:rPr lang="en-US" dirty="0" smtClean="0">
                <a:solidFill>
                  <a:srgbClr val="FF0000"/>
                </a:solidFill>
                <a:sym typeface="Symbol"/>
              </a:rPr>
              <a:t> = 5 </a:t>
            </a:r>
            <a:endParaRPr lang="en-US" dirty="0" smtClean="0"/>
          </a:p>
          <a:p>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64</a:t>
            </a:fld>
            <a:endParaRPr lang="en-US"/>
          </a:p>
        </p:txBody>
      </p:sp>
      <p:sp>
        <p:nvSpPr>
          <p:cNvPr id="4" name="Content Placeholder 3"/>
          <p:cNvSpPr>
            <a:spLocks noGrp="1"/>
          </p:cNvSpPr>
          <p:nvPr>
            <p:ph sz="quarter" idx="1"/>
          </p:nvPr>
        </p:nvSpPr>
        <p:spPr>
          <a:xfrm>
            <a:off x="457200" y="1219200"/>
            <a:ext cx="8229600" cy="5105400"/>
          </a:xfrm>
        </p:spPr>
        <p:txBody>
          <a:bodyPr>
            <a:normAutofit fontScale="92500" lnSpcReduction="10000"/>
          </a:bodyPr>
          <a:lstStyle/>
          <a:p>
            <a:r>
              <a:rPr lang="en-US" dirty="0" smtClean="0"/>
              <a:t>Compute </a:t>
            </a:r>
            <a:r>
              <a:rPr lang="en-US" dirty="0" smtClean="0">
                <a:solidFill>
                  <a:srgbClr val="FF0000"/>
                </a:solidFill>
                <a:sym typeface="Symbol"/>
              </a:rPr>
              <a:t></a:t>
            </a:r>
            <a:r>
              <a:rPr lang="en-US" i="1" dirty="0" smtClean="0">
                <a:solidFill>
                  <a:srgbClr val="FF0000"/>
                </a:solidFill>
              </a:rPr>
              <a:t>x</a:t>
            </a:r>
            <a:r>
              <a:rPr lang="en-US" dirty="0" smtClean="0">
                <a:solidFill>
                  <a:srgbClr val="FF0000"/>
                </a:solidFill>
                <a:sym typeface="Symbol"/>
              </a:rPr>
              <a:t></a:t>
            </a:r>
            <a:r>
              <a:rPr lang="en-US" dirty="0" smtClean="0"/>
              <a:t> and </a:t>
            </a:r>
            <a:r>
              <a:rPr lang="en-US" dirty="0" smtClean="0">
                <a:solidFill>
                  <a:srgbClr val="FF0000"/>
                </a:solidFill>
                <a:sym typeface="Symbol"/>
              </a:rPr>
              <a:t></a:t>
            </a:r>
            <a:r>
              <a:rPr lang="en-US" i="1" dirty="0" smtClean="0">
                <a:solidFill>
                  <a:srgbClr val="FF0000"/>
                </a:solidFill>
              </a:rPr>
              <a:t>x</a:t>
            </a:r>
            <a:r>
              <a:rPr lang="en-US" dirty="0" smtClean="0">
                <a:solidFill>
                  <a:srgbClr val="FF0000"/>
                </a:solidFill>
                <a:sym typeface="Symbol"/>
              </a:rPr>
              <a:t></a:t>
            </a:r>
            <a:r>
              <a:rPr lang="en-US" dirty="0" smtClean="0"/>
              <a:t> for each of the following values of </a:t>
            </a:r>
            <a:r>
              <a:rPr lang="en-US" i="1" dirty="0" smtClean="0">
                <a:solidFill>
                  <a:srgbClr val="FF0000"/>
                </a:solidFill>
              </a:rPr>
              <a:t>x</a:t>
            </a:r>
            <a:r>
              <a:rPr lang="en-US" dirty="0" smtClean="0"/>
              <a:t>.	</a:t>
            </a:r>
          </a:p>
          <a:p>
            <a:pPr>
              <a:buNone/>
            </a:pPr>
            <a:r>
              <a:rPr lang="en-US" b="1" dirty="0" smtClean="0"/>
              <a:t>			a.</a:t>
            </a:r>
            <a:r>
              <a:rPr lang="en-US" dirty="0" smtClean="0"/>
              <a:t>    </a:t>
            </a:r>
            <a:r>
              <a:rPr lang="en-US" dirty="0" smtClean="0">
                <a:solidFill>
                  <a:srgbClr val="FF0000"/>
                </a:solidFill>
              </a:rPr>
              <a:t>25/4</a:t>
            </a:r>
            <a:r>
              <a:rPr lang="en-US" dirty="0" smtClean="0"/>
              <a:t>	</a:t>
            </a:r>
            <a:r>
              <a:rPr lang="en-US" b="1" dirty="0" smtClean="0"/>
              <a:t>b.   </a:t>
            </a:r>
            <a:r>
              <a:rPr lang="en-US" dirty="0" smtClean="0"/>
              <a:t> </a:t>
            </a:r>
            <a:r>
              <a:rPr lang="en-US" dirty="0" smtClean="0">
                <a:solidFill>
                  <a:srgbClr val="FF0000"/>
                </a:solidFill>
              </a:rPr>
              <a:t>0.999</a:t>
            </a:r>
            <a:r>
              <a:rPr lang="en-US" dirty="0" smtClean="0"/>
              <a:t>	</a:t>
            </a:r>
            <a:r>
              <a:rPr lang="en-US" b="1" dirty="0" smtClean="0"/>
              <a:t>c.</a:t>
            </a:r>
            <a:r>
              <a:rPr lang="en-US" dirty="0" smtClean="0"/>
              <a:t>   </a:t>
            </a:r>
            <a:r>
              <a:rPr lang="en-US" dirty="0" smtClean="0">
                <a:solidFill>
                  <a:srgbClr val="FF0000"/>
                </a:solidFill>
              </a:rPr>
              <a:t> –2.01</a:t>
            </a:r>
          </a:p>
          <a:p>
            <a:r>
              <a:rPr lang="en-US" b="1" u="sng" dirty="0" smtClean="0">
                <a:solidFill>
                  <a:srgbClr val="0070C0"/>
                </a:solidFill>
              </a:rPr>
              <a:t>SOLUTION:</a:t>
            </a:r>
            <a:endParaRPr lang="en-US" dirty="0" smtClean="0">
              <a:solidFill>
                <a:srgbClr val="0070C0"/>
              </a:solidFill>
            </a:endParaRPr>
          </a:p>
          <a:p>
            <a:pPr>
              <a:buNone/>
            </a:pPr>
            <a:r>
              <a:rPr lang="en-US" b="1" dirty="0" smtClean="0"/>
              <a:t>	a.</a:t>
            </a:r>
            <a:r>
              <a:rPr lang="en-US" dirty="0" smtClean="0"/>
              <a:t>	</a:t>
            </a:r>
            <a:r>
              <a:rPr lang="en-US" dirty="0" smtClean="0">
                <a:solidFill>
                  <a:srgbClr val="FF0000"/>
                </a:solidFill>
                <a:sym typeface="Symbol"/>
              </a:rPr>
              <a:t></a:t>
            </a:r>
            <a:r>
              <a:rPr lang="en-US" dirty="0" smtClean="0"/>
              <a:t>25/4</a:t>
            </a:r>
            <a:r>
              <a:rPr lang="en-US" dirty="0" smtClean="0">
                <a:solidFill>
                  <a:srgbClr val="FF0000"/>
                </a:solidFill>
                <a:sym typeface="Symbol"/>
              </a:rPr>
              <a:t></a:t>
            </a:r>
            <a:r>
              <a:rPr lang="en-US" dirty="0" smtClean="0"/>
              <a:t>	= </a:t>
            </a:r>
            <a:r>
              <a:rPr lang="en-US" dirty="0" smtClean="0">
                <a:solidFill>
                  <a:srgbClr val="FF0000"/>
                </a:solidFill>
                <a:sym typeface="Symbol"/>
              </a:rPr>
              <a:t></a:t>
            </a:r>
            <a:r>
              <a:rPr lang="en-US" dirty="0" smtClean="0"/>
              <a:t>6 + ¼</a:t>
            </a:r>
            <a:r>
              <a:rPr lang="en-US" dirty="0" smtClean="0">
                <a:solidFill>
                  <a:srgbClr val="FF0000"/>
                </a:solidFill>
                <a:sym typeface="Symbol"/>
              </a:rPr>
              <a:t></a:t>
            </a:r>
            <a:r>
              <a:rPr lang="en-US" dirty="0" smtClean="0"/>
              <a:t> = 6</a:t>
            </a:r>
          </a:p>
          <a:p>
            <a:pPr>
              <a:buNone/>
            </a:pPr>
            <a:r>
              <a:rPr lang="en-US" dirty="0" smtClean="0"/>
              <a:t>		</a:t>
            </a:r>
            <a:r>
              <a:rPr lang="en-US" dirty="0" smtClean="0">
                <a:solidFill>
                  <a:srgbClr val="FF0000"/>
                </a:solidFill>
                <a:sym typeface="Symbol"/>
              </a:rPr>
              <a:t></a:t>
            </a:r>
            <a:r>
              <a:rPr lang="en-US" dirty="0" smtClean="0"/>
              <a:t>25/4</a:t>
            </a:r>
            <a:r>
              <a:rPr lang="en-US" dirty="0" smtClean="0">
                <a:solidFill>
                  <a:srgbClr val="FF0000"/>
                </a:solidFill>
                <a:sym typeface="Symbol"/>
              </a:rPr>
              <a:t></a:t>
            </a:r>
            <a:r>
              <a:rPr lang="en-US" dirty="0" smtClean="0"/>
              <a:t> = </a:t>
            </a:r>
            <a:r>
              <a:rPr lang="en-US" dirty="0" smtClean="0">
                <a:solidFill>
                  <a:srgbClr val="FF0000"/>
                </a:solidFill>
                <a:sym typeface="Symbol"/>
              </a:rPr>
              <a:t></a:t>
            </a:r>
            <a:r>
              <a:rPr lang="en-US" dirty="0" smtClean="0"/>
              <a:t>6 + ¼</a:t>
            </a:r>
            <a:r>
              <a:rPr lang="en-US" dirty="0" smtClean="0">
                <a:solidFill>
                  <a:srgbClr val="FF0000"/>
                </a:solidFill>
                <a:sym typeface="Symbol"/>
              </a:rPr>
              <a:t></a:t>
            </a:r>
            <a:r>
              <a:rPr lang="en-US" dirty="0" smtClean="0"/>
              <a:t> = 6 + 1 = 7</a:t>
            </a:r>
          </a:p>
          <a:p>
            <a:pPr>
              <a:buNone/>
            </a:pPr>
            <a:r>
              <a:rPr lang="en-US" dirty="0" smtClean="0"/>
              <a:t>	 </a:t>
            </a:r>
          </a:p>
          <a:p>
            <a:pPr>
              <a:buNone/>
            </a:pPr>
            <a:r>
              <a:rPr lang="en-US" b="1" dirty="0" smtClean="0"/>
              <a:t>	b.</a:t>
            </a:r>
            <a:r>
              <a:rPr lang="en-US" dirty="0" smtClean="0"/>
              <a:t>	</a:t>
            </a:r>
            <a:r>
              <a:rPr lang="en-US" dirty="0" smtClean="0">
                <a:solidFill>
                  <a:srgbClr val="FF0000"/>
                </a:solidFill>
                <a:sym typeface="Symbol"/>
              </a:rPr>
              <a:t></a:t>
            </a:r>
            <a:r>
              <a:rPr lang="en-US" dirty="0" smtClean="0"/>
              <a:t>0.999</a:t>
            </a:r>
            <a:r>
              <a:rPr lang="en-US" dirty="0" smtClean="0">
                <a:solidFill>
                  <a:srgbClr val="FF0000"/>
                </a:solidFill>
                <a:sym typeface="Symbol"/>
              </a:rPr>
              <a:t></a:t>
            </a:r>
            <a:r>
              <a:rPr lang="en-US" dirty="0" smtClean="0"/>
              <a:t> = </a:t>
            </a:r>
            <a:r>
              <a:rPr lang="en-US" dirty="0" smtClean="0">
                <a:solidFill>
                  <a:srgbClr val="FF0000"/>
                </a:solidFill>
                <a:sym typeface="Symbol"/>
              </a:rPr>
              <a:t></a:t>
            </a:r>
            <a:r>
              <a:rPr lang="en-US" dirty="0" smtClean="0"/>
              <a:t>0 + 0.999</a:t>
            </a:r>
            <a:r>
              <a:rPr lang="en-US" dirty="0" smtClean="0">
                <a:solidFill>
                  <a:srgbClr val="FF0000"/>
                </a:solidFill>
                <a:sym typeface="Symbol"/>
              </a:rPr>
              <a:t></a:t>
            </a:r>
            <a:r>
              <a:rPr lang="en-US" dirty="0" smtClean="0"/>
              <a:t> = 0</a:t>
            </a:r>
          </a:p>
          <a:p>
            <a:pPr>
              <a:buNone/>
            </a:pPr>
            <a:r>
              <a:rPr lang="en-US" dirty="0" smtClean="0"/>
              <a:t>		</a:t>
            </a:r>
            <a:r>
              <a:rPr lang="en-US" dirty="0" smtClean="0">
                <a:solidFill>
                  <a:srgbClr val="FF0000"/>
                </a:solidFill>
                <a:sym typeface="Symbol"/>
              </a:rPr>
              <a:t></a:t>
            </a:r>
            <a:r>
              <a:rPr lang="en-US" dirty="0" smtClean="0"/>
              <a:t>0.999</a:t>
            </a:r>
            <a:r>
              <a:rPr lang="en-US" dirty="0" smtClean="0">
                <a:solidFill>
                  <a:srgbClr val="FF0000"/>
                </a:solidFill>
                <a:sym typeface="Symbol"/>
              </a:rPr>
              <a:t></a:t>
            </a:r>
            <a:r>
              <a:rPr lang="en-US" dirty="0" smtClean="0"/>
              <a:t> = </a:t>
            </a:r>
            <a:r>
              <a:rPr lang="en-US" dirty="0" smtClean="0">
                <a:solidFill>
                  <a:srgbClr val="FF0000"/>
                </a:solidFill>
                <a:sym typeface="Symbol"/>
              </a:rPr>
              <a:t></a:t>
            </a:r>
            <a:r>
              <a:rPr lang="en-US" dirty="0" smtClean="0"/>
              <a:t>0 + 0.999</a:t>
            </a:r>
            <a:r>
              <a:rPr lang="en-US" dirty="0" smtClean="0">
                <a:solidFill>
                  <a:srgbClr val="FF0000"/>
                </a:solidFill>
                <a:sym typeface="Symbol"/>
              </a:rPr>
              <a:t></a:t>
            </a:r>
            <a:r>
              <a:rPr lang="en-US" dirty="0" smtClean="0"/>
              <a:t> = 0 + 1 = 1</a:t>
            </a:r>
          </a:p>
          <a:p>
            <a:pPr>
              <a:buNone/>
            </a:pPr>
            <a:r>
              <a:rPr lang="en-US" dirty="0" smtClean="0"/>
              <a:t>	 </a:t>
            </a:r>
          </a:p>
          <a:p>
            <a:pPr>
              <a:buNone/>
            </a:pPr>
            <a:r>
              <a:rPr lang="en-US" b="1" dirty="0" smtClean="0"/>
              <a:t>	c.</a:t>
            </a:r>
            <a:r>
              <a:rPr lang="en-US" dirty="0" smtClean="0"/>
              <a:t>	</a:t>
            </a:r>
            <a:r>
              <a:rPr lang="en-US" dirty="0" smtClean="0">
                <a:solidFill>
                  <a:srgbClr val="FF0000"/>
                </a:solidFill>
                <a:sym typeface="Symbol"/>
              </a:rPr>
              <a:t></a:t>
            </a:r>
            <a:r>
              <a:rPr lang="en-US" dirty="0" smtClean="0"/>
              <a:t>–2.01</a:t>
            </a:r>
            <a:r>
              <a:rPr lang="en-US" dirty="0" smtClean="0">
                <a:solidFill>
                  <a:srgbClr val="FF0000"/>
                </a:solidFill>
                <a:sym typeface="Symbol"/>
              </a:rPr>
              <a:t></a:t>
            </a:r>
            <a:r>
              <a:rPr lang="en-US" dirty="0" smtClean="0"/>
              <a:t> = </a:t>
            </a:r>
            <a:r>
              <a:rPr lang="en-US" dirty="0" smtClean="0">
                <a:solidFill>
                  <a:srgbClr val="FF0000"/>
                </a:solidFill>
                <a:sym typeface="Symbol"/>
              </a:rPr>
              <a:t></a:t>
            </a:r>
            <a:r>
              <a:rPr lang="en-US" dirty="0" smtClean="0"/>
              <a:t>–3 + 0.99</a:t>
            </a:r>
            <a:r>
              <a:rPr lang="en-US" dirty="0" smtClean="0">
                <a:solidFill>
                  <a:srgbClr val="FF0000"/>
                </a:solidFill>
                <a:sym typeface="Symbol"/>
              </a:rPr>
              <a:t></a:t>
            </a:r>
            <a:r>
              <a:rPr lang="en-US" dirty="0" smtClean="0"/>
              <a:t> = –3</a:t>
            </a:r>
          </a:p>
          <a:p>
            <a:pPr>
              <a:buNone/>
            </a:pPr>
            <a:r>
              <a:rPr lang="en-US" dirty="0" smtClean="0"/>
              <a:t>		</a:t>
            </a:r>
            <a:r>
              <a:rPr lang="en-US" dirty="0" smtClean="0">
                <a:solidFill>
                  <a:srgbClr val="FF0000"/>
                </a:solidFill>
                <a:sym typeface="Symbol"/>
              </a:rPr>
              <a:t></a:t>
            </a:r>
            <a:r>
              <a:rPr lang="en-US" dirty="0" smtClean="0"/>
              <a:t>–2.01</a:t>
            </a:r>
            <a:r>
              <a:rPr lang="en-US" dirty="0" smtClean="0">
                <a:solidFill>
                  <a:srgbClr val="FF0000"/>
                </a:solidFill>
                <a:sym typeface="Symbol"/>
              </a:rPr>
              <a:t></a:t>
            </a:r>
            <a:r>
              <a:rPr lang="en-US" dirty="0" smtClean="0"/>
              <a:t> = </a:t>
            </a:r>
            <a:r>
              <a:rPr lang="en-US" dirty="0" smtClean="0">
                <a:solidFill>
                  <a:srgbClr val="FF0000"/>
                </a:solidFill>
                <a:sym typeface="Symbol"/>
              </a:rPr>
              <a:t></a:t>
            </a:r>
            <a:r>
              <a:rPr lang="en-US" dirty="0" smtClean="0"/>
              <a:t>–3+ 0.999</a:t>
            </a:r>
            <a:r>
              <a:rPr lang="en-US" dirty="0" smtClean="0">
                <a:solidFill>
                  <a:srgbClr val="FF0000"/>
                </a:solidFill>
                <a:sym typeface="Symbol"/>
              </a:rPr>
              <a:t></a:t>
            </a:r>
            <a:r>
              <a:rPr lang="en-US" dirty="0" smtClean="0"/>
              <a:t> = –3 + 1 = –2</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pt-BR" b="1" u="sng" dirty="0" smtClean="0">
                <a:solidFill>
                  <a:srgbClr val="0070C0"/>
                </a:solidFill>
              </a:rPr>
              <a:t>PIGEONHOLE PRINCIPLE</a:t>
            </a:r>
            <a:endParaRPr lang="en-US" b="1" u="sng" dirty="0" smtClean="0">
              <a:solidFill>
                <a:srgbClr val="0070C0"/>
              </a:solidFill>
            </a:endParaRPr>
          </a:p>
        </p:txBody>
      </p:sp>
      <p:sp>
        <p:nvSpPr>
          <p:cNvPr id="3" name="Slide Number Placeholder 2"/>
          <p:cNvSpPr>
            <a:spLocks noGrp="1"/>
          </p:cNvSpPr>
          <p:nvPr>
            <p:ph type="sldNum" sz="quarter" idx="12"/>
          </p:nvPr>
        </p:nvSpPr>
        <p:spPr/>
        <p:txBody>
          <a:bodyPr/>
          <a:lstStyle/>
          <a:p>
            <a:fld id="{25E19944-04AC-4CD8-BA69-63C2A678C21A}" type="slidenum">
              <a:rPr lang="en-US" smtClean="0"/>
              <a:pPr/>
              <a:t>65</a:t>
            </a:fld>
            <a:endParaRPr lang="en-US"/>
          </a:p>
        </p:txBody>
      </p:sp>
      <p:sp>
        <p:nvSpPr>
          <p:cNvPr id="4" name="Content Placeholder 3"/>
          <p:cNvSpPr>
            <a:spLocks noGrp="1"/>
          </p:cNvSpPr>
          <p:nvPr>
            <p:ph sz="quarter" idx="1"/>
          </p:nvPr>
        </p:nvSpPr>
        <p:spPr/>
        <p:txBody>
          <a:bodyPr/>
          <a:lstStyle/>
          <a:p>
            <a:r>
              <a:rPr lang="en-US" dirty="0" smtClean="0"/>
              <a:t>If </a:t>
            </a:r>
            <a:r>
              <a:rPr lang="en-US" i="1" dirty="0" smtClean="0">
                <a:solidFill>
                  <a:srgbClr val="FF0000"/>
                </a:solidFill>
              </a:rPr>
              <a:t>N</a:t>
            </a:r>
            <a:r>
              <a:rPr lang="en-US" dirty="0" smtClean="0">
                <a:solidFill>
                  <a:srgbClr val="FF0000"/>
                </a:solidFill>
              </a:rPr>
              <a:t> pigeons</a:t>
            </a:r>
            <a:r>
              <a:rPr lang="en-US" dirty="0" smtClean="0"/>
              <a:t> fly into </a:t>
            </a:r>
            <a:r>
              <a:rPr lang="en-US" i="1" dirty="0" smtClean="0">
                <a:solidFill>
                  <a:srgbClr val="FF0000"/>
                </a:solidFill>
              </a:rPr>
              <a:t>k</a:t>
            </a:r>
            <a:r>
              <a:rPr lang="en-US" dirty="0" smtClean="0">
                <a:solidFill>
                  <a:srgbClr val="FF0000"/>
                </a:solidFill>
              </a:rPr>
              <a:t> pigeonholes</a:t>
            </a:r>
            <a:r>
              <a:rPr lang="en-US" dirty="0" smtClean="0"/>
              <a:t> then at least </a:t>
            </a:r>
            <a:r>
              <a:rPr lang="en-US" dirty="0" smtClean="0">
                <a:solidFill>
                  <a:srgbClr val="FF0000"/>
                </a:solidFill>
              </a:rPr>
              <a:t>one pigeonhole</a:t>
            </a:r>
            <a:r>
              <a:rPr lang="en-US" dirty="0" smtClean="0"/>
              <a:t> must contain </a:t>
            </a:r>
            <a:r>
              <a:rPr lang="en-US" dirty="0" smtClean="0">
                <a:solidFill>
                  <a:srgbClr val="FF0000"/>
                </a:solidFill>
                <a:sym typeface="Symbol"/>
              </a:rPr>
              <a:t></a:t>
            </a:r>
            <a:r>
              <a:rPr lang="en-US" i="1" dirty="0" smtClean="0">
                <a:solidFill>
                  <a:srgbClr val="FF0000"/>
                </a:solidFill>
              </a:rPr>
              <a:t>N</a:t>
            </a:r>
            <a:r>
              <a:rPr lang="en-US" dirty="0" smtClean="0">
                <a:solidFill>
                  <a:srgbClr val="FF0000"/>
                </a:solidFill>
              </a:rPr>
              <a:t> /</a:t>
            </a:r>
            <a:r>
              <a:rPr lang="en-US" i="1" dirty="0" smtClean="0">
                <a:solidFill>
                  <a:srgbClr val="FF0000"/>
                </a:solidFill>
              </a:rPr>
              <a:t>k</a:t>
            </a:r>
            <a:r>
              <a:rPr lang="en-US" dirty="0" smtClean="0">
                <a:solidFill>
                  <a:srgbClr val="FF0000"/>
                </a:solidFill>
                <a:sym typeface="Symbol"/>
              </a:rPr>
              <a:t></a:t>
            </a:r>
            <a:r>
              <a:rPr lang="en-US" dirty="0" smtClean="0"/>
              <a:t> or </a:t>
            </a:r>
            <a:r>
              <a:rPr lang="en-US" dirty="0" smtClean="0">
                <a:solidFill>
                  <a:srgbClr val="FF0000"/>
                </a:solidFill>
              </a:rPr>
              <a:t>more pigeons</a:t>
            </a:r>
            <a:r>
              <a:rPr lang="en-US" dirty="0" smtClean="0"/>
              <a:t>.</a:t>
            </a:r>
          </a:p>
          <a:p>
            <a:pPr>
              <a:buNone/>
            </a:pPr>
            <a:endParaRPr 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66</a:t>
            </a:fld>
            <a:endParaRPr lang="en-US"/>
          </a:p>
        </p:txBody>
      </p:sp>
      <p:sp>
        <p:nvSpPr>
          <p:cNvPr id="4" name="Content Placeholder 3"/>
          <p:cNvSpPr>
            <a:spLocks noGrp="1"/>
          </p:cNvSpPr>
          <p:nvPr>
            <p:ph sz="quarter" idx="1"/>
          </p:nvPr>
        </p:nvSpPr>
        <p:spPr/>
        <p:txBody>
          <a:bodyPr/>
          <a:lstStyle/>
          <a:p>
            <a:r>
              <a:rPr lang="en-US" dirty="0" smtClean="0"/>
              <a:t>We have </a:t>
            </a:r>
            <a:r>
              <a:rPr lang="en-US" dirty="0" smtClean="0">
                <a:solidFill>
                  <a:srgbClr val="FF0000"/>
                </a:solidFill>
              </a:rPr>
              <a:t>100 people</a:t>
            </a:r>
            <a:r>
              <a:rPr lang="en-US" dirty="0" smtClean="0"/>
              <a:t> and we want to know how many of them are born in same month?</a:t>
            </a:r>
          </a:p>
          <a:p>
            <a:endParaRPr lang="en-US" dirty="0" smtClean="0"/>
          </a:p>
          <a:p>
            <a:r>
              <a:rPr lang="en-US" b="1" u="sng" dirty="0" smtClean="0">
                <a:solidFill>
                  <a:srgbClr val="0070C0"/>
                </a:solidFill>
              </a:rPr>
              <a:t>Solution:</a:t>
            </a:r>
          </a:p>
          <a:p>
            <a:pPr>
              <a:buNone/>
            </a:pPr>
            <a:r>
              <a:rPr lang="en-US" dirty="0" smtClean="0"/>
              <a:t>	</a:t>
            </a:r>
          </a:p>
          <a:p>
            <a:pPr>
              <a:buNone/>
            </a:pPr>
            <a:r>
              <a:rPr lang="en-US" dirty="0" smtClean="0"/>
              <a:t>	</a:t>
            </a:r>
            <a:r>
              <a:rPr lang="en-US" dirty="0" smtClean="0">
                <a:solidFill>
                  <a:srgbClr val="FF0000"/>
                </a:solidFill>
              </a:rPr>
              <a:t>n = 12 months</a:t>
            </a:r>
            <a:r>
              <a:rPr lang="en-US" dirty="0" smtClean="0"/>
              <a:t> (pigeonholes)</a:t>
            </a:r>
          </a:p>
          <a:p>
            <a:pPr>
              <a:buNone/>
            </a:pPr>
            <a:r>
              <a:rPr lang="en-US" dirty="0" smtClean="0"/>
              <a:t>	The required no. is </a:t>
            </a:r>
            <a:r>
              <a:rPr lang="en-US" dirty="0" smtClean="0">
                <a:solidFill>
                  <a:srgbClr val="FF0000"/>
                </a:solidFill>
                <a:sym typeface="Symbol"/>
              </a:rPr>
              <a:t></a:t>
            </a:r>
            <a:r>
              <a:rPr lang="en-US" dirty="0" smtClean="0"/>
              <a:t>100/12</a:t>
            </a:r>
            <a:r>
              <a:rPr lang="en-US" dirty="0" smtClean="0">
                <a:solidFill>
                  <a:srgbClr val="FF0000"/>
                </a:solidFill>
                <a:sym typeface="Symbol"/>
              </a:rPr>
              <a:t></a:t>
            </a:r>
            <a:r>
              <a:rPr lang="en-US" dirty="0" smtClean="0">
                <a:sym typeface="Symbol"/>
              </a:rPr>
              <a:t> </a:t>
            </a:r>
            <a:r>
              <a:rPr lang="en-US" dirty="0" smtClean="0"/>
              <a:t>= </a:t>
            </a:r>
            <a:r>
              <a:rPr lang="en-US" dirty="0" smtClean="0">
                <a:solidFill>
                  <a:srgbClr val="FF0000"/>
                </a:solidFill>
                <a:sym typeface="Symbol"/>
              </a:rPr>
              <a:t></a:t>
            </a:r>
            <a:r>
              <a:rPr lang="en-US" dirty="0" smtClean="0"/>
              <a:t>8 + 1/3</a:t>
            </a:r>
            <a:r>
              <a:rPr lang="en-US" dirty="0" smtClean="0">
                <a:solidFill>
                  <a:srgbClr val="FF0000"/>
                </a:solidFill>
                <a:sym typeface="Symbol"/>
              </a:rPr>
              <a:t></a:t>
            </a:r>
            <a:r>
              <a:rPr lang="en-US" dirty="0" smtClean="0"/>
              <a:t> = </a:t>
            </a:r>
            <a:r>
              <a:rPr lang="en-US" dirty="0" smtClean="0">
                <a:solidFill>
                  <a:srgbClr val="FF0000"/>
                </a:solidFill>
              </a:rPr>
              <a:t>9</a:t>
            </a:r>
            <a:r>
              <a:rPr lang="en-US" dirty="0" smtClean="0"/>
              <a:t> who were born in the same month.</a:t>
            </a:r>
            <a:endParaRPr 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EXERCISE</a:t>
            </a:r>
          </a:p>
        </p:txBody>
      </p:sp>
      <p:sp>
        <p:nvSpPr>
          <p:cNvPr id="3" name="Slide Number Placeholder 2"/>
          <p:cNvSpPr>
            <a:spLocks noGrp="1"/>
          </p:cNvSpPr>
          <p:nvPr>
            <p:ph type="sldNum" sz="quarter" idx="12"/>
          </p:nvPr>
        </p:nvSpPr>
        <p:spPr/>
        <p:txBody>
          <a:bodyPr/>
          <a:lstStyle/>
          <a:p>
            <a:fld id="{25E19944-04AC-4CD8-BA69-63C2A678C21A}" type="slidenum">
              <a:rPr lang="en-US" smtClean="0"/>
              <a:pPr/>
              <a:t>67</a:t>
            </a:fld>
            <a:endParaRPr lang="en-US"/>
          </a:p>
        </p:txBody>
      </p:sp>
      <p:sp>
        <p:nvSpPr>
          <p:cNvPr id="4" name="Content Placeholder 3"/>
          <p:cNvSpPr>
            <a:spLocks noGrp="1"/>
          </p:cNvSpPr>
          <p:nvPr>
            <p:ph sz="quarter" idx="1"/>
          </p:nvPr>
        </p:nvSpPr>
        <p:spPr/>
        <p:txBody>
          <a:bodyPr/>
          <a:lstStyle/>
          <a:p>
            <a:r>
              <a:rPr lang="en-US" dirty="0" smtClean="0"/>
              <a:t>What is the </a:t>
            </a:r>
            <a:r>
              <a:rPr lang="en-US" dirty="0" smtClean="0">
                <a:solidFill>
                  <a:srgbClr val="FF0000"/>
                </a:solidFill>
              </a:rPr>
              <a:t>minimum number</a:t>
            </a:r>
            <a:r>
              <a:rPr lang="en-US" dirty="0" smtClean="0"/>
              <a:t> of students required in a </a:t>
            </a:r>
            <a:r>
              <a:rPr lang="en-US" dirty="0" smtClean="0">
                <a:solidFill>
                  <a:srgbClr val="FF0000"/>
                </a:solidFill>
              </a:rPr>
              <a:t>Discrete Mathematics</a:t>
            </a:r>
            <a:r>
              <a:rPr lang="en-US" dirty="0" smtClean="0"/>
              <a:t> class to be sure that at least </a:t>
            </a:r>
            <a:r>
              <a:rPr lang="en-US" dirty="0" smtClean="0">
                <a:solidFill>
                  <a:srgbClr val="FF0000"/>
                </a:solidFill>
              </a:rPr>
              <a:t>six</a:t>
            </a:r>
            <a:r>
              <a:rPr lang="en-US" dirty="0" smtClean="0"/>
              <a:t> will receive the same </a:t>
            </a:r>
            <a:r>
              <a:rPr lang="en-US" dirty="0" smtClean="0">
                <a:solidFill>
                  <a:srgbClr val="FF0000"/>
                </a:solidFill>
              </a:rPr>
              <a:t>grade</a:t>
            </a:r>
            <a:r>
              <a:rPr lang="en-US" dirty="0" smtClean="0"/>
              <a:t>, if there are </a:t>
            </a:r>
            <a:r>
              <a:rPr lang="en-US" dirty="0" smtClean="0">
                <a:solidFill>
                  <a:srgbClr val="FF0000"/>
                </a:solidFill>
              </a:rPr>
              <a:t>five</a:t>
            </a:r>
            <a:r>
              <a:rPr lang="en-US" dirty="0" smtClean="0"/>
              <a:t> possible </a:t>
            </a:r>
            <a:r>
              <a:rPr lang="en-US" dirty="0" smtClean="0">
                <a:solidFill>
                  <a:srgbClr val="FF0000"/>
                </a:solidFill>
              </a:rPr>
              <a:t>grades</a:t>
            </a:r>
            <a:r>
              <a:rPr lang="en-US" dirty="0" smtClean="0"/>
              <a:t>,  </a:t>
            </a:r>
            <a:r>
              <a:rPr lang="en-US" dirty="0" smtClean="0">
                <a:solidFill>
                  <a:srgbClr val="FF0000"/>
                </a:solidFill>
              </a:rPr>
              <a:t>A</a:t>
            </a:r>
            <a:r>
              <a:rPr lang="en-US" dirty="0" smtClean="0"/>
              <a:t>, </a:t>
            </a:r>
            <a:r>
              <a:rPr lang="en-US" dirty="0" smtClean="0">
                <a:solidFill>
                  <a:srgbClr val="FF0000"/>
                </a:solidFill>
              </a:rPr>
              <a:t>B</a:t>
            </a:r>
            <a:r>
              <a:rPr lang="en-US" dirty="0" smtClean="0"/>
              <a:t>, </a:t>
            </a:r>
            <a:r>
              <a:rPr lang="en-US" dirty="0" smtClean="0">
                <a:solidFill>
                  <a:srgbClr val="FF0000"/>
                </a:solidFill>
              </a:rPr>
              <a:t>C</a:t>
            </a:r>
            <a:r>
              <a:rPr lang="en-US" dirty="0" smtClean="0"/>
              <a:t>, </a:t>
            </a:r>
            <a:r>
              <a:rPr lang="en-US" dirty="0" smtClean="0">
                <a:solidFill>
                  <a:srgbClr val="FF0000"/>
                </a:solidFill>
              </a:rPr>
              <a:t>D</a:t>
            </a:r>
            <a:r>
              <a:rPr lang="en-US" dirty="0" smtClean="0"/>
              <a:t>, and </a:t>
            </a:r>
            <a:r>
              <a:rPr lang="en-US" dirty="0" smtClean="0">
                <a:solidFill>
                  <a:srgbClr val="FF0000"/>
                </a:solidFill>
              </a:rPr>
              <a:t>F</a:t>
            </a:r>
            <a:r>
              <a:rPr lang="en-US" dirty="0" smtClean="0"/>
              <a:t>.</a:t>
            </a:r>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SOLUTION</a:t>
            </a:r>
          </a:p>
        </p:txBody>
      </p:sp>
      <p:sp>
        <p:nvSpPr>
          <p:cNvPr id="3" name="Slide Number Placeholder 2"/>
          <p:cNvSpPr>
            <a:spLocks noGrp="1"/>
          </p:cNvSpPr>
          <p:nvPr>
            <p:ph type="sldNum" sz="quarter" idx="12"/>
          </p:nvPr>
        </p:nvSpPr>
        <p:spPr/>
        <p:txBody>
          <a:bodyPr/>
          <a:lstStyle/>
          <a:p>
            <a:fld id="{25E19944-04AC-4CD8-BA69-63C2A678C21A}" type="slidenum">
              <a:rPr lang="en-US" smtClean="0"/>
              <a:pPr/>
              <a:t>68</a:t>
            </a:fld>
            <a:endParaRPr lang="en-US"/>
          </a:p>
        </p:txBody>
      </p:sp>
      <p:sp>
        <p:nvSpPr>
          <p:cNvPr id="4" name="Content Placeholder 3"/>
          <p:cNvSpPr>
            <a:spLocks noGrp="1"/>
          </p:cNvSpPr>
          <p:nvPr>
            <p:ph sz="quarter" idx="1"/>
          </p:nvPr>
        </p:nvSpPr>
        <p:spPr/>
        <p:txBody>
          <a:bodyPr>
            <a:normAutofit/>
          </a:bodyPr>
          <a:lstStyle/>
          <a:p>
            <a:r>
              <a:rPr lang="en-US" dirty="0" smtClean="0"/>
              <a:t>We want to ensure that there are </a:t>
            </a:r>
            <a:r>
              <a:rPr lang="en-US" dirty="0" smtClean="0">
                <a:solidFill>
                  <a:srgbClr val="FF0000"/>
                </a:solidFill>
              </a:rPr>
              <a:t>6 students</a:t>
            </a:r>
            <a:r>
              <a:rPr lang="en-US" dirty="0" smtClean="0"/>
              <a:t> who have the </a:t>
            </a:r>
            <a:r>
              <a:rPr lang="en-US" dirty="0" smtClean="0">
                <a:solidFill>
                  <a:srgbClr val="FF0000"/>
                </a:solidFill>
              </a:rPr>
              <a:t>same grade</a:t>
            </a:r>
            <a:r>
              <a:rPr lang="en-US" dirty="0" smtClean="0"/>
              <a:t> that is</a:t>
            </a:r>
          </a:p>
          <a:p>
            <a:pPr>
              <a:buNone/>
            </a:pPr>
            <a:r>
              <a:rPr lang="en-US" dirty="0" smtClean="0"/>
              <a:t>				 </a:t>
            </a:r>
            <a:r>
              <a:rPr lang="en-US" dirty="0" smtClean="0">
                <a:solidFill>
                  <a:srgbClr val="FF0000"/>
                </a:solidFill>
                <a:sym typeface="Symbol"/>
              </a:rPr>
              <a:t></a:t>
            </a:r>
            <a:r>
              <a:rPr lang="en-US" dirty="0" smtClean="0"/>
              <a:t>N/5</a:t>
            </a:r>
            <a:r>
              <a:rPr lang="en-US" dirty="0" smtClean="0">
                <a:solidFill>
                  <a:srgbClr val="FF0000"/>
                </a:solidFill>
                <a:sym typeface="Symbol"/>
              </a:rPr>
              <a:t></a:t>
            </a:r>
            <a:r>
              <a:rPr lang="en-US" dirty="0" smtClean="0"/>
              <a:t> = 6 (given)</a:t>
            </a:r>
          </a:p>
          <a:p>
            <a:pPr>
              <a:buNone/>
            </a:pPr>
            <a:endParaRPr lang="en-US" dirty="0" smtClean="0"/>
          </a:p>
          <a:p>
            <a:r>
              <a:rPr lang="en-US" dirty="0" smtClean="0"/>
              <a:t> The smallest such integer is</a:t>
            </a:r>
          </a:p>
          <a:p>
            <a:pPr>
              <a:buNone/>
            </a:pPr>
            <a:r>
              <a:rPr lang="en-US" dirty="0" smtClean="0"/>
              <a:t>			 </a:t>
            </a:r>
            <a:r>
              <a:rPr lang="en-US" dirty="0" smtClean="0">
                <a:solidFill>
                  <a:srgbClr val="FF0000"/>
                </a:solidFill>
              </a:rPr>
              <a:t>N </a:t>
            </a:r>
            <a:r>
              <a:rPr lang="en-US" dirty="0" smtClean="0"/>
              <a:t>=</a:t>
            </a:r>
            <a:r>
              <a:rPr lang="en-US" dirty="0" smtClean="0">
                <a:solidFill>
                  <a:srgbClr val="FF0000"/>
                </a:solidFill>
              </a:rPr>
              <a:t> 5(6-1)+1 </a:t>
            </a:r>
            <a:r>
              <a:rPr lang="en-US" dirty="0" smtClean="0"/>
              <a:t>= </a:t>
            </a:r>
            <a:r>
              <a:rPr lang="en-US" dirty="0" smtClean="0">
                <a:solidFill>
                  <a:srgbClr val="FF0000"/>
                </a:solidFill>
              </a:rPr>
              <a:t>5 </a:t>
            </a:r>
            <a:r>
              <a:rPr lang="en-US" b="1" dirty="0" smtClean="0">
                <a:solidFill>
                  <a:srgbClr val="FF0000"/>
                </a:solidFill>
                <a:sym typeface="Symbol"/>
              </a:rPr>
              <a:t></a:t>
            </a:r>
            <a:r>
              <a:rPr lang="en-US" dirty="0" smtClean="0">
                <a:solidFill>
                  <a:srgbClr val="FF0000"/>
                </a:solidFill>
              </a:rPr>
              <a:t> 5 + 1 </a:t>
            </a:r>
            <a:r>
              <a:rPr lang="en-US" dirty="0" smtClean="0"/>
              <a:t>=</a:t>
            </a:r>
            <a:r>
              <a:rPr lang="en-US" dirty="0" smtClean="0">
                <a:solidFill>
                  <a:srgbClr val="FF0000"/>
                </a:solidFill>
              </a:rPr>
              <a:t> 26</a:t>
            </a:r>
            <a:endParaRPr lang="en-US" dirty="0" smtClean="0"/>
          </a:p>
          <a:p>
            <a:pPr>
              <a:buNone/>
            </a:pPr>
            <a:endParaRPr lang="en-US" dirty="0" smtClean="0"/>
          </a:p>
          <a:p>
            <a:r>
              <a:rPr lang="en-US" dirty="0" smtClean="0"/>
              <a:t>Thus </a:t>
            </a:r>
            <a:r>
              <a:rPr lang="en-US" dirty="0" smtClean="0">
                <a:solidFill>
                  <a:srgbClr val="FF0000"/>
                </a:solidFill>
              </a:rPr>
              <a:t>26</a:t>
            </a:r>
            <a:r>
              <a:rPr lang="en-US" dirty="0" smtClean="0"/>
              <a:t> is the </a:t>
            </a:r>
            <a:r>
              <a:rPr lang="en-US" dirty="0" smtClean="0">
                <a:solidFill>
                  <a:srgbClr val="FF0000"/>
                </a:solidFill>
              </a:rPr>
              <a:t>minimum number</a:t>
            </a:r>
            <a:r>
              <a:rPr lang="en-US" dirty="0" smtClean="0"/>
              <a:t> of students needed to be sure that </a:t>
            </a:r>
            <a:r>
              <a:rPr lang="en-US" dirty="0" smtClean="0">
                <a:solidFill>
                  <a:srgbClr val="FF0000"/>
                </a:solidFill>
              </a:rPr>
              <a:t>at least 6 students</a:t>
            </a:r>
            <a:r>
              <a:rPr lang="en-US" dirty="0" smtClean="0"/>
              <a:t> will receive the </a:t>
            </a:r>
            <a:r>
              <a:rPr lang="en-US" dirty="0" smtClean="0">
                <a:solidFill>
                  <a:srgbClr val="FF0000"/>
                </a:solidFill>
              </a:rPr>
              <a:t>same grades</a:t>
            </a:r>
            <a:r>
              <a:rPr lang="en-US" dirty="0" smtClean="0"/>
              <a:t>.  </a:t>
            </a:r>
          </a:p>
          <a:p>
            <a:endParaRPr lang="en-US" dirty="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USESECONDARYMONITOR" val="True"/>
  <p:tag name="BULLETTYPE" val="3"/>
  <p:tag name="RESPCOUNTERSTYLE" val="-1"/>
  <p:tag name="INPUTSOURCE" val="1"/>
  <p:tag name="BACKUPSESSIONS" val="True"/>
  <p:tag name="REVIEWONLY" val="False"/>
  <p:tag name="PARTICIPANTSINLEADERBOARD" val="5"/>
  <p:tag name="BUBBLESIZEVISIBLE" val="True"/>
  <p:tag name="CUSTOMGRIDBACKCOLOR" val="-2830136"/>
  <p:tag name="CUSTOMCELLBACKCOLOR3" val="-268652"/>
  <p:tag name="DISPLAYDEVICENUMBER" val="True"/>
  <p:tag name="AUTOSIZEGRID" val="True"/>
  <p:tag name="CHARTCOLORS" val="0"/>
  <p:tag name="MULTIRESPDIVISOR" val="1"/>
  <p:tag name="CORRECTPOINTVALUE" val="100"/>
  <p:tag name="ZEROBASED" val="False"/>
  <p:tag name="SHOWBARVISIBLE" val="True"/>
  <p:tag name="REQUIREPASSWORD" val="False"/>
  <p:tag name="RESPCOUNTERFORMAT" val="0"/>
  <p:tag name="NUMRESPONSES" val="1"/>
  <p:tag name="AUTOADVANCE" val="False"/>
  <p:tag name="TEAMSINLEADERBOARD" val="5"/>
  <p:tag name="BUBBLEGROUPING" val="3"/>
  <p:tag name="CUSTOMCELLBACKCOLOR2" val="-13395457"/>
  <p:tag name="DISPLAYDEVICEID" val="True"/>
  <p:tag name="GRIDPOSITION" val="1"/>
  <p:tag name="INCLUDENONRESPONDERS" val="False"/>
  <p:tag name="INCORRECTPOINTVALUE" val="0"/>
  <p:tag name="CHARTSCALE" val="True"/>
  <p:tag name="DEFAULTPORT" val="1001"/>
  <p:tag name="RESPTABLESTYLE" val="-1"/>
  <p:tag name="BACKUPMAINTENANCE" val="7"/>
  <p:tag name="STDCHART" val="1"/>
  <p:tag name="DEFAULTNUMTEAMS" val="5"/>
  <p:tag name="USESCHEMECOLORS" val="True"/>
  <p:tag name="GRIDSIZE" val="{Width=800, Height=600}"/>
  <p:tag name="PARTLISTDEFAULT" val="0"/>
  <p:tag name="ADDINALWAYSLOADED" val="False"/>
  <p:tag name="ENABLEPRESENTERVPAD" val="False"/>
  <p:tag name="COUNTDOWNSECONDS" val="10"/>
  <p:tag name="ROTATIONINTERVAL" val="2"/>
  <p:tag name="BUBBLEVALUEFORMAT" val="0.0"/>
  <p:tag name="DISPLAYNAME" val="True"/>
  <p:tag name="CHARTLABELS" val="0"/>
  <p:tag name="REALTIMEBACKUP" val="False"/>
  <p:tag name="ANSWERNOWSTYLE" val="-1"/>
  <p:tag name="ALLOWDUPLICATES" val="False"/>
  <p:tag name="BUBBLENAMEVISIBLE" val="True"/>
  <p:tag name="GRIDOPACITY" val="90"/>
  <p:tag name="INCLUDEPPT" val="True"/>
  <p:tag name="EXPANDSHOWBAR" val="True"/>
  <p:tag name="CHARTVALUEFORMAT" val="0%"/>
  <p:tag name="CUSTOMCELLBACKCOLOR1" val="-657956"/>
  <p:tag name="RESETCHARTS" val="True"/>
  <p:tag name="ANSWERNOWTEXT" val="Answer Now"/>
  <p:tag name="MAXRESPONDERS" val="5"/>
  <p:tag name="POLLINGCYCLE" val="2"/>
  <p:tag name="COUNTDOWNSTYLE" val="-1"/>
  <p:tag name="CUSTOMCELLBACKCOLOR4" val="-8355712"/>
  <p:tag name="TPVERSION" val="2006"/>
  <p:tag name="GRIDROTATIONINTERVAL" val="2"/>
  <p:tag name="AUTOUPDATEALIASES" val="True"/>
  <p:tag name="USEENTERPRISEMANAGER" val="False"/>
  <p:tag name="CUSTOMCELLFORECOLOR" val="-16777216"/>
  <p:tag name="AUTOADJUSTPARTRANGE" val="True"/>
  <p:tag name="ALLOWUSERFEEDBACK" val="True"/>
  <p:tag name="DELIMITERS" val="3.1"/>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6023</TotalTime>
  <Words>2466</Words>
  <Application>Microsoft Office PowerPoint</Application>
  <PresentationFormat>On-screen Show (4:3)</PresentationFormat>
  <Paragraphs>560</Paragraphs>
  <Slides>68</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0</vt:i4>
      </vt:variant>
      <vt:variant>
        <vt:lpstr>Slide Titles</vt:lpstr>
      </vt:variant>
      <vt:variant>
        <vt:i4>68</vt:i4>
      </vt:variant>
    </vt:vector>
  </HeadingPairs>
  <TitlesOfParts>
    <vt:vector size="77" baseType="lpstr">
      <vt:lpstr>Arial</vt:lpstr>
      <vt:lpstr>Bookman Old Style</vt:lpstr>
      <vt:lpstr>Calibri</vt:lpstr>
      <vt:lpstr>Gill Sans MT</vt:lpstr>
      <vt:lpstr>Symbol</vt:lpstr>
      <vt:lpstr>Times New Roman</vt:lpstr>
      <vt:lpstr>Wingdings</vt:lpstr>
      <vt:lpstr>Wingdings 3</vt:lpstr>
      <vt:lpstr>Origin</vt:lpstr>
      <vt:lpstr>COUNTING Lecture # 21  </vt:lpstr>
      <vt:lpstr>COUNTING</vt:lpstr>
      <vt:lpstr>INTRODUCTION</vt:lpstr>
      <vt:lpstr>PowerPoint Presentation</vt:lpstr>
      <vt:lpstr>BASIC COUNTING PRINCIPLES</vt:lpstr>
      <vt:lpstr>EXAMPLE</vt:lpstr>
      <vt:lpstr>THE SUM RULE</vt:lpstr>
      <vt:lpstr>EXAMPLE</vt:lpstr>
      <vt:lpstr>GENERALIZED SUM RULE</vt:lpstr>
      <vt:lpstr>SUM RULE IN TERMS OF SETS</vt:lpstr>
      <vt:lpstr>EXAMPLE</vt:lpstr>
      <vt:lpstr>THE PRODUCT RULE</vt:lpstr>
      <vt:lpstr>EXAMPLE</vt:lpstr>
      <vt:lpstr>SOLUTION</vt:lpstr>
      <vt:lpstr>GENERALIZED PRODUCT RULE</vt:lpstr>
      <vt:lpstr>PRODUCT RULE IN TERMS OF SETS</vt:lpstr>
      <vt:lpstr>EXERCISE</vt:lpstr>
      <vt:lpstr>EXERCISE</vt:lpstr>
      <vt:lpstr>SOLUTION</vt:lpstr>
      <vt:lpstr>PowerPoint Presentation</vt:lpstr>
      <vt:lpstr>EXERCISE</vt:lpstr>
      <vt:lpstr>SOLUTION</vt:lpstr>
      <vt:lpstr>PowerPoint Presentation</vt:lpstr>
      <vt:lpstr>EXERCISE</vt:lpstr>
      <vt:lpstr>SOLUTION</vt:lpstr>
      <vt:lpstr>PowerPoint Presentation</vt:lpstr>
      <vt:lpstr>EXERCISE</vt:lpstr>
      <vt:lpstr>SOLUTION</vt:lpstr>
      <vt:lpstr>EXERCISE</vt:lpstr>
      <vt:lpstr>SOLUTION</vt:lpstr>
      <vt:lpstr>NUMBER OF ITERATIONS OF A NESTED LOOP</vt:lpstr>
      <vt:lpstr>SOLUTION</vt:lpstr>
      <vt:lpstr>EXERCISE</vt:lpstr>
      <vt:lpstr>SOLUTION</vt:lpstr>
      <vt:lpstr>EXERCISE</vt:lpstr>
      <vt:lpstr>PowerPoint Presentation</vt:lpstr>
      <vt:lpstr>      Difference Between Permutation and Combination</vt:lpstr>
      <vt:lpstr>Combination</vt:lpstr>
      <vt:lpstr>Permutation</vt:lpstr>
      <vt:lpstr>Example: Find the permutation and combination given n = 8 and r = 5. </vt:lpstr>
      <vt:lpstr>Example : A committee of 3 members is to be formed with 2 male members and 1 female member. Find the number of ways in which this committee can be formed from 5 male members and 4 female members.</vt:lpstr>
      <vt:lpstr>Example: Find the permutation and combination given n = 8 and r = 5.</vt:lpstr>
      <vt:lpstr>The Principle of Inclusion–Exclusion</vt:lpstr>
      <vt:lpstr>Solution:</vt:lpstr>
      <vt:lpstr>     EXAMPLE: How many positive integers not exceeding 1000 are divisible by 7 or 11? </vt:lpstr>
      <vt:lpstr>THE PIGEONHOLE PRINCIPLE</vt:lpstr>
      <vt:lpstr>PowerPoint Presentation</vt:lpstr>
      <vt:lpstr>PowerPoint Presentation</vt:lpstr>
      <vt:lpstr>REVISION OF FUNCTIONS</vt:lpstr>
      <vt:lpstr>PowerPoint Presentation</vt:lpstr>
      <vt:lpstr>PIGEONHOLE PRINCIPLE</vt:lpstr>
      <vt:lpstr>PowerPoint Presentation</vt:lpstr>
      <vt:lpstr>PIGEONHOLE PRINCIPLE</vt:lpstr>
      <vt:lpstr>EXAMPLES</vt:lpstr>
      <vt:lpstr>EXERCISE</vt:lpstr>
      <vt:lpstr>EXERCISE</vt:lpstr>
      <vt:lpstr>EXERCISE</vt:lpstr>
      <vt:lpstr>EXERCISE</vt:lpstr>
      <vt:lpstr>GENERALIZED PIGEONHOLE PRINCIPLE</vt:lpstr>
      <vt:lpstr>GENERALIZED PIGEONHOLE PRINCIPLE</vt:lpstr>
      <vt:lpstr>EXERCISE</vt:lpstr>
      <vt:lpstr>SOLUTION</vt:lpstr>
      <vt:lpstr>FLOOR &amp; CEILING FUNCTIONS</vt:lpstr>
      <vt:lpstr>EXAMPLE</vt:lpstr>
      <vt:lpstr>PIGEONHOLE PRINCIPLE</vt:lpstr>
      <vt:lpstr>EXAMPLE</vt:lpstr>
      <vt:lpstr>EXERCISE</vt:lpstr>
      <vt:lpstr>SOLUTION</vt:lpstr>
    </vt:vector>
  </TitlesOfParts>
  <Company>University of Virginia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Predicates and Quantifiers</dc:title>
  <dc:creator>Department of Computer Science</dc:creator>
  <cp:lastModifiedBy>Tehseen Fatima</cp:lastModifiedBy>
  <cp:revision>430</cp:revision>
  <dcterms:created xsi:type="dcterms:W3CDTF">2004-09-16T16:06:30Z</dcterms:created>
  <dcterms:modified xsi:type="dcterms:W3CDTF">2024-04-17T07:01:34Z</dcterms:modified>
</cp:coreProperties>
</file>
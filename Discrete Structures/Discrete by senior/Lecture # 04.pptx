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1"/>
  </p:notesMasterIdLst>
  <p:sldIdLst>
    <p:sldId id="256" r:id="rId2"/>
    <p:sldId id="260" r:id="rId3"/>
    <p:sldId id="261" r:id="rId4"/>
    <p:sldId id="262" r:id="rId5"/>
    <p:sldId id="287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95" r:id="rId15"/>
    <p:sldId id="271" r:id="rId16"/>
    <p:sldId id="296" r:id="rId17"/>
    <p:sldId id="288" r:id="rId18"/>
    <p:sldId id="272" r:id="rId19"/>
    <p:sldId id="273" r:id="rId20"/>
    <p:sldId id="274" r:id="rId21"/>
    <p:sldId id="275" r:id="rId22"/>
    <p:sldId id="297" r:id="rId23"/>
    <p:sldId id="289" r:id="rId24"/>
    <p:sldId id="276" r:id="rId25"/>
    <p:sldId id="290" r:id="rId26"/>
    <p:sldId id="277" r:id="rId27"/>
    <p:sldId id="279" r:id="rId28"/>
    <p:sldId id="291" r:id="rId29"/>
    <p:sldId id="278" r:id="rId30"/>
    <p:sldId id="292" r:id="rId31"/>
    <p:sldId id="280" r:id="rId32"/>
    <p:sldId id="293" r:id="rId33"/>
    <p:sldId id="281" r:id="rId34"/>
    <p:sldId id="282" r:id="rId35"/>
    <p:sldId id="283" r:id="rId36"/>
    <p:sldId id="284" r:id="rId37"/>
    <p:sldId id="294" r:id="rId38"/>
    <p:sldId id="285" r:id="rId39"/>
    <p:sldId id="286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24" autoAdjust="0"/>
    <p:restoredTop sz="94660"/>
  </p:normalViewPr>
  <p:slideViewPr>
    <p:cSldViewPr>
      <p:cViewPr varScale="1">
        <p:scale>
          <a:sx n="66" d="100"/>
          <a:sy n="66" d="100"/>
        </p:scale>
        <p:origin x="121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2FFEF-1113-4E60-88FE-EA47470A374B}" type="datetimeFigureOut">
              <a:rPr lang="en-US" smtClean="0"/>
              <a:pPr/>
              <a:t>9/13/2023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9CEA7A-0DCF-4742-BD22-DF14B59E452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73AE37AA-4ADA-4492-8893-14EEC95ADC5E}" type="datetimeFigureOut">
              <a:rPr lang="en-US" smtClean="0"/>
              <a:pPr/>
              <a:t>9/13/2023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9/13/2023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73AE37AA-4ADA-4492-8893-14EEC95ADC5E}" type="datetimeFigureOut">
              <a:rPr lang="en-US" smtClean="0"/>
              <a:pPr/>
              <a:t>9/13/2023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9/13/2023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9/13/2023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9/13/2023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9/13/2023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9/13/2023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9/13/2023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9/13/2023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9/13/2023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3AE37AA-4ADA-4492-8893-14EEC95ADC5E}" type="datetimeFigureOut">
              <a:rPr lang="en-US" smtClean="0"/>
              <a:pPr/>
              <a:t>9/13/2023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>
                <a:solidFill>
                  <a:srgbClr val="C00000"/>
                </a:solidFill>
              </a:rPr>
              <a:t>DOUBLE IMPLICATION/BICONDITIONAL</a:t>
            </a:r>
            <a:br>
              <a:rPr lang="en-US" b="1" u="sng" dirty="0" smtClean="0">
                <a:solidFill>
                  <a:srgbClr val="C00000"/>
                </a:solidFill>
              </a:rPr>
            </a:b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Lecture # 04</a:t>
            </a:r>
            <a:b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/>
              <a:t>Truth table for EXCLUSIVE OR</a:t>
            </a:r>
            <a:endParaRPr lang="en-US" b="1" dirty="0"/>
          </a:p>
        </p:txBody>
      </p:sp>
      <p:graphicFrame>
        <p:nvGraphicFramePr>
          <p:cNvPr id="3074" name="Group 2"/>
          <p:cNvGraphicFramePr>
            <a:graphicFrameLocks noGrp="1"/>
          </p:cNvGraphicFramePr>
          <p:nvPr/>
        </p:nvGraphicFramePr>
        <p:xfrm>
          <a:off x="838200" y="2057400"/>
          <a:ext cx="7772400" cy="2743200"/>
        </p:xfrm>
        <a:graphic>
          <a:graphicData uri="http://schemas.openxmlformats.org/drawingml/2006/table">
            <a:tbl>
              <a:tblPr/>
              <a:tblGrid>
                <a:gridCol w="834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7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64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45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0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 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 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 (pq)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(p  q)  ~ (p  q)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9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0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0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0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133600" y="1219200"/>
            <a:ext cx="56388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rgbClr val="C00000"/>
                </a:solidFill>
              </a:rPr>
              <a:t>(p </a:t>
            </a:r>
            <a:r>
              <a:rPr lang="en-US" sz="3200" b="1" dirty="0" smtClean="0">
                <a:solidFill>
                  <a:srgbClr val="C00000"/>
                </a:solidFill>
                <a:sym typeface="Symbol"/>
              </a:rPr>
              <a:t> </a:t>
            </a:r>
            <a:r>
              <a:rPr lang="en-US" sz="3200" b="1" dirty="0" smtClean="0">
                <a:solidFill>
                  <a:srgbClr val="C00000"/>
                </a:solidFill>
              </a:rPr>
              <a:t>q) </a:t>
            </a:r>
            <a:r>
              <a:rPr lang="en-US" sz="3200" b="1" dirty="0" smtClean="0">
                <a:solidFill>
                  <a:srgbClr val="C00000"/>
                </a:solidFill>
                <a:sym typeface="Symbol"/>
              </a:rPr>
              <a:t></a:t>
            </a:r>
            <a:r>
              <a:rPr lang="en-US" sz="3200" b="1" dirty="0" smtClean="0">
                <a:solidFill>
                  <a:srgbClr val="C00000"/>
                </a:solidFill>
              </a:rPr>
              <a:t> ~ (p </a:t>
            </a:r>
            <a:r>
              <a:rPr lang="en-US" sz="3200" b="1" dirty="0" smtClean="0">
                <a:solidFill>
                  <a:srgbClr val="C00000"/>
                </a:solidFill>
                <a:sym typeface="Symbol"/>
              </a:rPr>
              <a:t> </a:t>
            </a:r>
            <a:r>
              <a:rPr lang="en-US" sz="3200" b="1" dirty="0" smtClean="0">
                <a:solidFill>
                  <a:srgbClr val="C00000"/>
                </a:solidFill>
              </a:rPr>
              <a:t>q)</a:t>
            </a:r>
            <a:endParaRPr lang="en-US" sz="32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EXCLUSIVE OR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In English when we use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OR</a:t>
            </a:r>
            <a:r>
              <a:rPr lang="en-US" dirty="0" smtClean="0"/>
              <a:t> in this sense, when we say p or q. It means either p is true or q is true or possibly both are true.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C00000"/>
                </a:solidFill>
              </a:rPr>
              <a:t>E.g.: </a:t>
            </a:r>
            <a:r>
              <a:rPr lang="en-US" dirty="0" smtClean="0"/>
              <a:t>Give me a book or bag. It means either give me a book or bag or possibly give him both bag and book.</a:t>
            </a:r>
          </a:p>
          <a:p>
            <a:r>
              <a:rPr lang="en-US" dirty="0" smtClean="0"/>
              <a:t>In the above statement, we are using </a:t>
            </a:r>
            <a:r>
              <a:rPr lang="en-US" b="1" dirty="0" smtClean="0">
                <a:solidFill>
                  <a:srgbClr val="C00000"/>
                </a:solidFill>
              </a:rPr>
              <a:t>OR in Inclusive </a:t>
            </a:r>
            <a:r>
              <a:rPr lang="en-US" dirty="0" smtClean="0"/>
              <a:t>sense.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C00000"/>
                </a:solidFill>
              </a:rPr>
              <a:t>E.g.: </a:t>
            </a:r>
            <a:r>
              <a:rPr lang="en-US" dirty="0" smtClean="0"/>
              <a:t>Tomorrow at 9’o clock, I will be in Lahore or Islamabad.</a:t>
            </a:r>
          </a:p>
          <a:p>
            <a:r>
              <a:rPr lang="en-US" dirty="0" smtClean="0"/>
              <a:t>In the above statement, we are using </a:t>
            </a:r>
            <a:r>
              <a:rPr lang="en-US" b="1" dirty="0" smtClean="0">
                <a:solidFill>
                  <a:srgbClr val="C00000"/>
                </a:solidFill>
              </a:rPr>
              <a:t>OR in Exclusive </a:t>
            </a:r>
            <a:r>
              <a:rPr lang="en-US" dirty="0" smtClean="0"/>
              <a:t>sense.</a:t>
            </a:r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Exclusive OR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When </a:t>
            </a:r>
            <a:r>
              <a:rPr lang="en-US" b="1" dirty="0" smtClean="0">
                <a:solidFill>
                  <a:srgbClr val="C00000"/>
                </a:solidFill>
              </a:rPr>
              <a:t>OR</a:t>
            </a:r>
            <a:r>
              <a:rPr lang="en-US" dirty="0" smtClean="0"/>
              <a:t> is used in exclusive sense, the statement “p or q” means “p or q but not both”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		 or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“</a:t>
            </a:r>
            <a:r>
              <a:rPr lang="en-US" b="1" dirty="0" smtClean="0">
                <a:solidFill>
                  <a:srgbClr val="C00000"/>
                </a:solidFill>
              </a:rPr>
              <a:t>p or q and not p and q</a:t>
            </a:r>
            <a:r>
              <a:rPr lang="en-US" dirty="0" smtClean="0"/>
              <a:t>” which translates into symbols as:</a:t>
            </a:r>
          </a:p>
          <a:p>
            <a:pPr>
              <a:buNone/>
            </a:pPr>
            <a:r>
              <a:rPr lang="en-US" b="1" dirty="0" smtClean="0"/>
              <a:t>				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b="1" dirty="0">
                <a:solidFill>
                  <a:srgbClr val="C00000"/>
                </a:solidFill>
              </a:rPr>
              <a:t>p or q and not p and q</a:t>
            </a:r>
            <a:r>
              <a:rPr lang="en-US" dirty="0"/>
              <a:t>” which translates into symbols as:</a:t>
            </a:r>
          </a:p>
          <a:p>
            <a:pPr>
              <a:buNone/>
            </a:pPr>
            <a:r>
              <a:rPr lang="en-US" b="1" dirty="0"/>
              <a:t>				</a:t>
            </a:r>
          </a:p>
          <a:p>
            <a:pPr>
              <a:buNone/>
            </a:pPr>
            <a:r>
              <a:rPr lang="en-US" b="1" dirty="0"/>
              <a:t>				(p </a:t>
            </a:r>
            <a:r>
              <a:rPr lang="en-US" b="1" dirty="0">
                <a:sym typeface="Symbol"/>
              </a:rPr>
              <a:t></a:t>
            </a:r>
            <a:r>
              <a:rPr lang="en-US" b="1" dirty="0"/>
              <a:t> q) </a:t>
            </a:r>
            <a:r>
              <a:rPr lang="en-US" b="1" dirty="0">
                <a:sym typeface="Symbol"/>
              </a:rPr>
              <a:t></a:t>
            </a:r>
            <a:r>
              <a:rPr lang="en-US" b="1" dirty="0"/>
              <a:t> ~ (p </a:t>
            </a:r>
            <a:r>
              <a:rPr lang="en-US" b="1" dirty="0">
                <a:sym typeface="Symbol"/>
              </a:rPr>
              <a:t></a:t>
            </a:r>
            <a:r>
              <a:rPr lang="en-US" b="1" dirty="0"/>
              <a:t> q)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369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Symbols for EXCLUSIVE OR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					</a:t>
            </a:r>
            <a:r>
              <a:rPr lang="en-US" b="1" dirty="0" smtClean="0">
                <a:solidFill>
                  <a:srgbClr val="C00000"/>
                </a:solidFill>
              </a:rPr>
              <a:t>p</a:t>
            </a:r>
            <a:r>
              <a:rPr lang="en-US" b="1" dirty="0" smtClean="0"/>
              <a:t> </a:t>
            </a:r>
            <a:r>
              <a:rPr lang="en-US" b="1" dirty="0" smtClean="0">
                <a:sym typeface="Symbol"/>
              </a:rPr>
              <a:t>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q</a:t>
            </a:r>
            <a:r>
              <a:rPr lang="en-US" dirty="0" smtClean="0"/>
              <a:t>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		   or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	       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p </a:t>
            </a:r>
            <a:r>
              <a:rPr lang="en-US" b="1" dirty="0" smtClean="0"/>
              <a:t>XOR </a:t>
            </a:r>
            <a:r>
              <a:rPr lang="en-US" b="1" dirty="0" smtClean="0">
                <a:solidFill>
                  <a:srgbClr val="C00000"/>
                </a:solidFill>
              </a:rPr>
              <a:t>q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Note: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 smtClean="0"/>
              <a:t>	Basically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b="1" dirty="0" smtClean="0"/>
              <a:t>	p </a:t>
            </a:r>
            <a:r>
              <a:rPr lang="en-US" b="1" dirty="0" smtClean="0">
                <a:sym typeface="Symbol"/>
              </a:rPr>
              <a:t></a:t>
            </a:r>
            <a:r>
              <a:rPr lang="en-US" b="1" dirty="0" smtClean="0"/>
              <a:t> q</a:t>
            </a:r>
            <a:r>
              <a:rPr lang="en-US" dirty="0" smtClean="0"/>
              <a:t> ≡ </a:t>
            </a:r>
            <a:r>
              <a:rPr lang="en-US" sz="2800" dirty="0" smtClean="0"/>
              <a:t>(p </a:t>
            </a:r>
            <a:r>
              <a:rPr lang="en-US" sz="2800" dirty="0" smtClean="0">
                <a:sym typeface="Symbol"/>
              </a:rPr>
              <a:t> </a:t>
            </a:r>
            <a:r>
              <a:rPr lang="en-US" sz="2800" dirty="0" smtClean="0"/>
              <a:t>q) </a:t>
            </a:r>
            <a:r>
              <a:rPr lang="en-US" sz="2800" dirty="0" smtClean="0">
                <a:sym typeface="Symbol"/>
              </a:rPr>
              <a:t></a:t>
            </a:r>
            <a:r>
              <a:rPr lang="en-US" sz="2800" dirty="0" smtClean="0"/>
              <a:t> ~ (p </a:t>
            </a:r>
            <a:r>
              <a:rPr lang="en-US" sz="2800" dirty="0" smtClean="0">
                <a:sym typeface="Symbol"/>
              </a:rPr>
              <a:t> </a:t>
            </a:r>
            <a:r>
              <a:rPr lang="en-US" sz="2800" dirty="0" smtClean="0"/>
              <a:t>q)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Examples of Implication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p</a:t>
            </a:r>
            <a:r>
              <a:rPr lang="en-US" dirty="0" smtClean="0"/>
              <a:t> = “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</a:rPr>
              <a:t>Aslam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lives in Multan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dirty="0" smtClean="0"/>
              <a:t>   </a:t>
            </a:r>
            <a:r>
              <a:rPr lang="en-US" b="1" dirty="0" smtClean="0"/>
              <a:t>q </a:t>
            </a:r>
            <a:r>
              <a:rPr lang="en-US" dirty="0" smtClean="0"/>
              <a:t>= “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</a:rPr>
              <a:t>Aslam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lives in Pakistan</a:t>
            </a:r>
            <a:r>
              <a:rPr lang="en-US" dirty="0" smtClean="0"/>
              <a:t>”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 	“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if</a:t>
            </a:r>
            <a:r>
              <a:rPr lang="en-US" b="1" dirty="0" smtClean="0"/>
              <a:t> p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then</a:t>
            </a:r>
            <a:r>
              <a:rPr lang="en-US" b="1" dirty="0" smtClean="0"/>
              <a:t> q”</a:t>
            </a:r>
          </a:p>
          <a:p>
            <a:pPr>
              <a:buNone/>
            </a:pPr>
            <a:r>
              <a:rPr lang="en-US" b="1" dirty="0" smtClean="0"/>
              <a:t>    “p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implies </a:t>
            </a:r>
            <a:r>
              <a:rPr lang="en-US" b="1" dirty="0" smtClean="0"/>
              <a:t>q”</a:t>
            </a:r>
          </a:p>
          <a:p>
            <a:pPr>
              <a:buNone/>
            </a:pPr>
            <a:r>
              <a:rPr lang="en-US" b="1" dirty="0" smtClean="0"/>
              <a:t>    “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if </a:t>
            </a:r>
            <a:r>
              <a:rPr lang="en-US" b="1" dirty="0" smtClean="0"/>
              <a:t>p, q”</a:t>
            </a:r>
          </a:p>
          <a:p>
            <a:pPr>
              <a:buNone/>
            </a:pPr>
            <a:r>
              <a:rPr lang="en-US" b="1" dirty="0" smtClean="0"/>
              <a:t>    “p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only if </a:t>
            </a:r>
            <a:r>
              <a:rPr lang="en-US" b="1" dirty="0" smtClean="0"/>
              <a:t>q”</a:t>
            </a:r>
          </a:p>
          <a:p>
            <a:pPr>
              <a:buNone/>
            </a:pPr>
            <a:r>
              <a:rPr lang="en-US" b="1" dirty="0" smtClean="0"/>
              <a:t>    “p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is sufficient for </a:t>
            </a:r>
            <a:r>
              <a:rPr lang="en-US" b="1" dirty="0" smtClean="0"/>
              <a:t>q”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Note: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IMPLICATION is logically equivalent to its CONTROPOSITIVE.</a:t>
            </a:r>
          </a:p>
          <a:p>
            <a:endParaRPr lang="en-US" dirty="0" smtClean="0"/>
          </a:p>
          <a:p>
            <a:r>
              <a:rPr lang="en-US" dirty="0" smtClean="0"/>
              <a:t>IMPLLICATION and its CONVERSE they are not equivalent to each other logically.</a:t>
            </a:r>
          </a:p>
          <a:p>
            <a:endParaRPr lang="en-US" dirty="0" smtClean="0"/>
          </a:p>
          <a:p>
            <a:r>
              <a:rPr lang="en-US" dirty="0" smtClean="0"/>
              <a:t>Implication’s INVERSE and CONVERSE are logically equivalent to each other.</a:t>
            </a:r>
          </a:p>
          <a:p>
            <a:endParaRPr lang="en-US" dirty="0" smtClean="0"/>
          </a:p>
          <a:p>
            <a:r>
              <a:rPr lang="en-US" dirty="0" smtClean="0"/>
              <a:t>IMPLICATION and its CONTROPOSITIVE are equivalent to each other.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If you work hard you get good grades.</a:t>
            </a:r>
          </a:p>
          <a:p>
            <a:pPr>
              <a:buNone/>
            </a:pPr>
            <a:r>
              <a:rPr lang="en-US" dirty="0" smtClean="0"/>
              <a:t>    		w = “You work hard”</a:t>
            </a:r>
          </a:p>
          <a:p>
            <a:pPr>
              <a:buNone/>
            </a:pPr>
            <a:r>
              <a:rPr lang="en-US" dirty="0" smtClean="0"/>
              <a:t>			 g = “You get good grades”</a:t>
            </a:r>
          </a:p>
          <a:p>
            <a:endParaRPr lang="en-US" dirty="0" smtClean="0"/>
          </a:p>
          <a:p>
            <a:r>
              <a:rPr lang="en-US" dirty="0" smtClean="0"/>
              <a:t> w     g = If w then g</a:t>
            </a:r>
          </a:p>
          <a:p>
            <a:pPr>
              <a:buNone/>
            </a:pPr>
            <a:r>
              <a:rPr lang="en-US" dirty="0" smtClean="0"/>
              <a:t>        = “If you work hard then you get good grades”.</a:t>
            </a:r>
          </a:p>
          <a:p>
            <a:pPr>
              <a:buNone/>
            </a:pPr>
            <a:r>
              <a:rPr lang="en-US" b="1" dirty="0" smtClean="0"/>
              <a:t>    Converse: True</a:t>
            </a:r>
          </a:p>
          <a:p>
            <a:pPr>
              <a:buNone/>
            </a:pPr>
            <a:r>
              <a:rPr lang="en-US" dirty="0" smtClean="0"/>
              <a:t>    g     w = If g then w</a:t>
            </a:r>
          </a:p>
          <a:p>
            <a:pPr>
              <a:buNone/>
            </a:pPr>
            <a:r>
              <a:rPr lang="en-US" dirty="0" smtClean="0"/>
              <a:t>              =  g only if w</a:t>
            </a:r>
          </a:p>
          <a:p>
            <a:pPr>
              <a:buNone/>
            </a:pPr>
            <a:r>
              <a:rPr lang="en-US" dirty="0" smtClean="0"/>
              <a:t>        = “You get good grades only if you work hard.”</a:t>
            </a:r>
          </a:p>
          <a:p>
            <a:endParaRPr lang="en-US" dirty="0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1223184" y="3385458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1132116" y="4799012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If we sum up the implication (w     g) and its converse</a:t>
            </a:r>
          </a:p>
          <a:p>
            <a:pPr>
              <a:buNone/>
            </a:pPr>
            <a:r>
              <a:rPr lang="en-US" dirty="0" smtClean="0"/>
              <a:t>	 (g    w) we get </a:t>
            </a:r>
          </a:p>
          <a:p>
            <a:pPr>
              <a:buNone/>
            </a:pPr>
            <a:r>
              <a:rPr lang="en-US" dirty="0" smtClean="0"/>
              <a:t>  </a:t>
            </a:r>
          </a:p>
          <a:p>
            <a:pPr>
              <a:buNone/>
            </a:pPr>
            <a:r>
              <a:rPr lang="en-US" dirty="0" smtClean="0"/>
              <a:t>  “You get good grades </a:t>
            </a:r>
            <a:r>
              <a:rPr lang="en-US" b="1" i="1" dirty="0" smtClean="0"/>
              <a:t>if and only if</a:t>
            </a:r>
            <a:r>
              <a:rPr lang="en-US" dirty="0" smtClean="0"/>
              <a:t> you work hard.”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By summing up we get a new connective and we called this new connective </a:t>
            </a:r>
            <a:r>
              <a:rPr lang="en-US" b="1" dirty="0" smtClean="0">
                <a:solidFill>
                  <a:srgbClr val="C00000"/>
                </a:solidFill>
              </a:rPr>
              <a:t>BICONDITIONAL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5105400" y="1494972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1194156" y="1959432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Bi-Conditional Connective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If p and q are statement variables, the </a:t>
            </a:r>
            <a:r>
              <a:rPr lang="en-US" dirty="0" err="1" smtClean="0"/>
              <a:t>biconditional</a:t>
            </a:r>
            <a:r>
              <a:rPr lang="en-US" dirty="0" smtClean="0"/>
              <a:t> of p and q is </a:t>
            </a:r>
          </a:p>
          <a:p>
            <a:endParaRPr lang="en-US" dirty="0" smtClean="0"/>
          </a:p>
          <a:p>
            <a:r>
              <a:rPr lang="en-US" dirty="0" smtClean="0"/>
              <a:t>“</a:t>
            </a:r>
            <a:r>
              <a:rPr lang="en-US" b="1" dirty="0" smtClean="0"/>
              <a:t>p if, and only if, q</a:t>
            </a:r>
            <a:r>
              <a:rPr lang="en-US" dirty="0" smtClean="0"/>
              <a:t>” and is denoted </a:t>
            </a:r>
            <a:r>
              <a:rPr lang="en-US" b="1" dirty="0" smtClean="0"/>
              <a:t>p </a:t>
            </a:r>
            <a:r>
              <a:rPr lang="en-US" b="1" dirty="0" smtClean="0">
                <a:sym typeface="Symbol"/>
              </a:rPr>
              <a:t> </a:t>
            </a:r>
            <a:r>
              <a:rPr lang="en-US" b="1" dirty="0" smtClean="0"/>
              <a:t>q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i="1" dirty="0" smtClean="0"/>
              <a:t>if and only if </a:t>
            </a:r>
            <a:r>
              <a:rPr lang="en-US" dirty="0" smtClean="0"/>
              <a:t>abbreviated </a:t>
            </a:r>
            <a:r>
              <a:rPr lang="en-US" b="1" dirty="0" err="1" smtClean="0"/>
              <a:t>iff</a:t>
            </a:r>
            <a:r>
              <a:rPr lang="en-US" b="1" dirty="0" smtClean="0"/>
              <a:t>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/>
              <a:t>TRUTH  TABLE FOR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					</a:t>
            </a:r>
            <a:r>
              <a:rPr lang="en-US" sz="3200" b="1" dirty="0" smtClean="0"/>
              <a:t>p </a:t>
            </a:r>
            <a:r>
              <a:rPr lang="en-US" sz="3200" b="1" dirty="0" smtClean="0">
                <a:sym typeface="Symbol"/>
              </a:rPr>
              <a:t> </a:t>
            </a:r>
            <a:r>
              <a:rPr lang="en-US" sz="3200" b="1" dirty="0" smtClean="0"/>
              <a:t>q</a:t>
            </a:r>
            <a:endParaRPr lang="en-US" sz="3200" dirty="0"/>
          </a:p>
        </p:txBody>
      </p:sp>
      <p:graphicFrame>
        <p:nvGraphicFramePr>
          <p:cNvPr id="1026" name="Group 2"/>
          <p:cNvGraphicFramePr>
            <a:graphicFrameLocks noGrp="1"/>
          </p:cNvGraphicFramePr>
          <p:nvPr/>
        </p:nvGraphicFramePr>
        <p:xfrm>
          <a:off x="3352800" y="1981200"/>
          <a:ext cx="2486343" cy="2286000"/>
        </p:xfrm>
        <a:graphic>
          <a:graphicData uri="http://schemas.openxmlformats.org/drawingml/2006/table">
            <a:tbl>
              <a:tblPr/>
              <a:tblGrid>
                <a:gridCol w="42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57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 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EXAMPLES: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“1 + 1 = 3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if and only if </a:t>
            </a:r>
            <a:r>
              <a:rPr lang="en-US" b="1" dirty="0" smtClean="0">
                <a:solidFill>
                  <a:srgbClr val="C00000"/>
                </a:solidFill>
              </a:rPr>
              <a:t>earth is flat</a:t>
            </a:r>
            <a:r>
              <a:rPr lang="en-US" b="1" dirty="0" smtClean="0"/>
              <a:t>.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b="1" dirty="0" smtClean="0"/>
              <a:t>    </a:t>
            </a:r>
          </a:p>
          <a:p>
            <a:pPr>
              <a:buNone/>
            </a:pPr>
            <a:endParaRPr lang="en-US" b="1" dirty="0" smtClean="0"/>
          </a:p>
          <a:p>
            <a:r>
              <a:rPr lang="en-US" dirty="0" smtClean="0"/>
              <a:t>“</a:t>
            </a:r>
            <a:r>
              <a:rPr lang="en-US" b="1" dirty="0" smtClean="0">
                <a:solidFill>
                  <a:srgbClr val="C00000"/>
                </a:solidFill>
              </a:rPr>
              <a:t>Sky is blue</a:t>
            </a:r>
            <a:r>
              <a:rPr lang="en-US" b="1" dirty="0" smtClean="0">
                <a:solidFill>
                  <a:schemeClr val="accent3"/>
                </a:solidFill>
              </a:rPr>
              <a:t> </a:t>
            </a:r>
            <a:r>
              <a:rPr lang="en-US" dirty="0" err="1" smtClean="0"/>
              <a:t>iff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1 = 0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b="1" dirty="0" smtClean="0"/>
              <a:t>    </a:t>
            </a:r>
          </a:p>
          <a:p>
            <a:endParaRPr lang="en-US" dirty="0" smtClean="0"/>
          </a:p>
          <a:p>
            <a:r>
              <a:rPr lang="en-US" dirty="0" smtClean="0"/>
              <a:t>“</a:t>
            </a:r>
            <a:r>
              <a:rPr lang="en-US" b="1" dirty="0" smtClean="0">
                <a:solidFill>
                  <a:srgbClr val="C00000"/>
                </a:solidFill>
              </a:rPr>
              <a:t>Milk is white </a:t>
            </a:r>
            <a:r>
              <a:rPr lang="en-US" dirty="0" err="1" smtClean="0"/>
              <a:t>iff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birds lay eggs</a:t>
            </a:r>
            <a:r>
              <a:rPr lang="en-US" b="1" dirty="0" smtClean="0">
                <a:solidFill>
                  <a:schemeClr val="accent3"/>
                </a:solidFill>
              </a:rPr>
              <a:t>.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b="1" dirty="0" smtClean="0"/>
              <a:t>   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EXAMPLES: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“1 + 1 = 3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if and only if </a:t>
            </a:r>
            <a:r>
              <a:rPr lang="en-US" b="1" dirty="0" smtClean="0">
                <a:solidFill>
                  <a:srgbClr val="C00000"/>
                </a:solidFill>
              </a:rPr>
              <a:t>earth is flat</a:t>
            </a:r>
            <a:r>
              <a:rPr lang="en-US" b="1" dirty="0" smtClean="0"/>
              <a:t>.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b="1" dirty="0" smtClean="0"/>
              <a:t>    TRUE</a:t>
            </a:r>
          </a:p>
          <a:p>
            <a:pPr>
              <a:buNone/>
            </a:pPr>
            <a:endParaRPr lang="en-US" b="1" dirty="0" smtClean="0"/>
          </a:p>
          <a:p>
            <a:r>
              <a:rPr lang="en-US" dirty="0" smtClean="0"/>
              <a:t>“</a:t>
            </a:r>
            <a:r>
              <a:rPr lang="en-US" b="1" dirty="0" smtClean="0">
                <a:solidFill>
                  <a:srgbClr val="C00000"/>
                </a:solidFill>
              </a:rPr>
              <a:t>Sky is blue</a:t>
            </a:r>
            <a:r>
              <a:rPr lang="en-US" b="1" dirty="0" smtClean="0">
                <a:solidFill>
                  <a:schemeClr val="accent3"/>
                </a:solidFill>
              </a:rPr>
              <a:t> </a:t>
            </a:r>
            <a:r>
              <a:rPr lang="en-US" dirty="0" err="1" smtClean="0"/>
              <a:t>iff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1 = 0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b="1" dirty="0" smtClean="0"/>
              <a:t>    FALSE</a:t>
            </a:r>
          </a:p>
          <a:p>
            <a:endParaRPr lang="en-US" dirty="0" smtClean="0"/>
          </a:p>
          <a:p>
            <a:r>
              <a:rPr lang="en-US" dirty="0" smtClean="0"/>
              <a:t>“</a:t>
            </a:r>
            <a:r>
              <a:rPr lang="en-US" b="1" dirty="0" smtClean="0">
                <a:solidFill>
                  <a:srgbClr val="C00000"/>
                </a:solidFill>
              </a:rPr>
              <a:t>Milk is white </a:t>
            </a:r>
            <a:r>
              <a:rPr lang="en-US" dirty="0" err="1" smtClean="0"/>
              <a:t>iff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birds lay eggs</a:t>
            </a:r>
            <a:r>
              <a:rPr lang="en-US" b="1" dirty="0" smtClean="0">
                <a:solidFill>
                  <a:schemeClr val="accent3"/>
                </a:solidFill>
              </a:rPr>
              <a:t>.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b="1" dirty="0" smtClean="0"/>
              <a:t>    TRUE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867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“</a:t>
            </a:r>
            <a:r>
              <a:rPr lang="en-US" b="1" dirty="0" smtClean="0">
                <a:solidFill>
                  <a:srgbClr val="C00000"/>
                </a:solidFill>
              </a:rPr>
              <a:t>33 is divisible by 4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if and only if </a:t>
            </a:r>
            <a:r>
              <a:rPr lang="en-US" b="1" dirty="0" smtClean="0">
                <a:solidFill>
                  <a:srgbClr val="C00000"/>
                </a:solidFill>
              </a:rPr>
              <a:t>horse has four legs</a:t>
            </a:r>
            <a:r>
              <a:rPr lang="en-US" b="1" dirty="0" smtClean="0"/>
              <a:t>.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b="1" dirty="0" smtClean="0"/>
              <a:t>   </a:t>
            </a:r>
          </a:p>
          <a:p>
            <a:pPr>
              <a:buNone/>
            </a:pPr>
            <a:endParaRPr lang="en-US" b="1" dirty="0" smtClean="0"/>
          </a:p>
          <a:p>
            <a:r>
              <a:rPr lang="en-US" dirty="0" smtClean="0"/>
              <a:t>“</a:t>
            </a:r>
            <a:r>
              <a:rPr lang="en-US" b="1" dirty="0" smtClean="0">
                <a:solidFill>
                  <a:srgbClr val="C00000"/>
                </a:solidFill>
              </a:rPr>
              <a:t>x &gt; 5</a:t>
            </a:r>
            <a:r>
              <a:rPr lang="en-US" dirty="0" smtClean="0">
                <a:solidFill>
                  <a:schemeClr val="accent3"/>
                </a:solidFill>
              </a:rPr>
              <a:t> </a:t>
            </a:r>
            <a:r>
              <a:rPr lang="en-US" dirty="0" err="1" smtClean="0"/>
              <a:t>iff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chemeClr val="accent3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b="1" dirty="0" smtClean="0">
                <a:solidFill>
                  <a:srgbClr val="C00000"/>
                </a:solidFill>
                <a:latin typeface="Arial"/>
                <a:cs typeface="Arial"/>
              </a:rPr>
              <a:t>²</a:t>
            </a:r>
            <a:r>
              <a:rPr lang="en-US" b="1" dirty="0" smtClean="0">
                <a:solidFill>
                  <a:srgbClr val="C00000"/>
                </a:solidFill>
              </a:rPr>
              <a:t> &gt; 25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b="1" dirty="0" smtClean="0"/>
              <a:t>    </a:t>
            </a:r>
          </a:p>
          <a:p>
            <a:endParaRPr lang="en-US" dirty="0" smtClean="0"/>
          </a:p>
          <a:p>
            <a:r>
              <a:rPr lang="en-US" b="1" dirty="0" smtClean="0"/>
              <a:t>Note: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Biconditional</a:t>
            </a:r>
            <a:r>
              <a:rPr lang="en-US" dirty="0" smtClean="0"/>
              <a:t> is logically equivalent to conjunction of two implications:</a:t>
            </a:r>
          </a:p>
          <a:p>
            <a:pPr>
              <a:buNone/>
            </a:pPr>
            <a:r>
              <a:rPr lang="en-US" dirty="0" smtClean="0"/>
              <a:t>				p </a:t>
            </a:r>
            <a:r>
              <a:rPr lang="en-US" dirty="0" smtClean="0">
                <a:sym typeface="Symbol"/>
              </a:rPr>
              <a:t> </a:t>
            </a:r>
            <a:r>
              <a:rPr lang="en-US" dirty="0" smtClean="0"/>
              <a:t>q </a:t>
            </a:r>
            <a:r>
              <a:rPr lang="en-US" dirty="0" smtClean="0">
                <a:sym typeface="Symbol"/>
              </a:rPr>
              <a:t></a:t>
            </a:r>
            <a:r>
              <a:rPr lang="en-US" dirty="0" smtClean="0"/>
              <a:t> (p </a:t>
            </a:r>
            <a:r>
              <a:rPr lang="en-US" dirty="0" smtClean="0">
                <a:sym typeface="Symbol"/>
              </a:rPr>
              <a:t> </a:t>
            </a:r>
            <a:r>
              <a:rPr lang="en-US" dirty="0" smtClean="0"/>
              <a:t>q) </a:t>
            </a:r>
            <a:r>
              <a:rPr lang="en-US" dirty="0" smtClean="0">
                <a:sym typeface="Symbol"/>
              </a:rPr>
              <a:t> </a:t>
            </a:r>
            <a:r>
              <a:rPr lang="en-US" dirty="0" smtClean="0"/>
              <a:t>(q </a:t>
            </a:r>
            <a:r>
              <a:rPr lang="en-US" dirty="0" smtClean="0">
                <a:sym typeface="Symbol"/>
              </a:rPr>
              <a:t> </a:t>
            </a:r>
            <a:r>
              <a:rPr lang="en-US" dirty="0" smtClean="0"/>
              <a:t>p)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“</a:t>
            </a:r>
            <a:r>
              <a:rPr lang="en-US" b="1" dirty="0" smtClean="0">
                <a:solidFill>
                  <a:srgbClr val="C00000"/>
                </a:solidFill>
              </a:rPr>
              <a:t>33 is divisible by 4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if and only if </a:t>
            </a:r>
            <a:r>
              <a:rPr lang="en-US" b="1" dirty="0" smtClean="0">
                <a:solidFill>
                  <a:srgbClr val="C00000"/>
                </a:solidFill>
              </a:rPr>
              <a:t>horse has four legs</a:t>
            </a:r>
            <a:r>
              <a:rPr lang="en-US" b="1" dirty="0" smtClean="0"/>
              <a:t>.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b="1" dirty="0" smtClean="0"/>
              <a:t>   FALSE</a:t>
            </a:r>
          </a:p>
          <a:p>
            <a:pPr>
              <a:buNone/>
            </a:pPr>
            <a:endParaRPr lang="en-US" b="1" dirty="0" smtClean="0"/>
          </a:p>
          <a:p>
            <a:r>
              <a:rPr lang="en-US" dirty="0" smtClean="0"/>
              <a:t>“</a:t>
            </a:r>
            <a:r>
              <a:rPr lang="en-US" b="1" dirty="0" smtClean="0">
                <a:solidFill>
                  <a:srgbClr val="C00000"/>
                </a:solidFill>
              </a:rPr>
              <a:t>x &gt; 5</a:t>
            </a:r>
            <a:r>
              <a:rPr lang="en-US" dirty="0" smtClean="0">
                <a:solidFill>
                  <a:schemeClr val="accent3"/>
                </a:solidFill>
              </a:rPr>
              <a:t> </a:t>
            </a:r>
            <a:r>
              <a:rPr lang="en-US" dirty="0" err="1" smtClean="0"/>
              <a:t>iff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chemeClr val="accent3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b="1" dirty="0" smtClean="0">
                <a:solidFill>
                  <a:srgbClr val="C00000"/>
                </a:solidFill>
                <a:latin typeface="Arial"/>
                <a:cs typeface="Arial"/>
              </a:rPr>
              <a:t>²</a:t>
            </a:r>
            <a:r>
              <a:rPr lang="en-US" b="1" dirty="0" smtClean="0">
                <a:solidFill>
                  <a:srgbClr val="C00000"/>
                </a:solidFill>
              </a:rPr>
              <a:t> &gt; 25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b="1" dirty="0" smtClean="0"/>
              <a:t>    FALSE</a:t>
            </a:r>
          </a:p>
          <a:p>
            <a:endParaRPr lang="en-US" dirty="0" smtClean="0"/>
          </a:p>
          <a:p>
            <a:r>
              <a:rPr lang="en-US" b="1" dirty="0" smtClean="0"/>
              <a:t>Note: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Biconditional</a:t>
            </a:r>
            <a:r>
              <a:rPr lang="en-US" dirty="0" smtClean="0"/>
              <a:t> is logically equivalent to conjunction of two implications:</a:t>
            </a:r>
          </a:p>
          <a:p>
            <a:pPr>
              <a:buNone/>
            </a:pPr>
            <a:r>
              <a:rPr lang="en-US" dirty="0" smtClean="0"/>
              <a:t>				p </a:t>
            </a:r>
            <a:r>
              <a:rPr lang="en-US" dirty="0" smtClean="0">
                <a:sym typeface="Symbol"/>
              </a:rPr>
              <a:t> </a:t>
            </a:r>
            <a:r>
              <a:rPr lang="en-US" dirty="0" smtClean="0"/>
              <a:t>q </a:t>
            </a:r>
            <a:r>
              <a:rPr lang="en-US" dirty="0" smtClean="0">
                <a:sym typeface="Symbol"/>
              </a:rPr>
              <a:t></a:t>
            </a:r>
            <a:r>
              <a:rPr lang="en-US" dirty="0" smtClean="0"/>
              <a:t> (p </a:t>
            </a:r>
            <a:r>
              <a:rPr lang="en-US" dirty="0" smtClean="0">
                <a:sym typeface="Symbol"/>
              </a:rPr>
              <a:t> </a:t>
            </a:r>
            <a:r>
              <a:rPr lang="en-US" dirty="0" smtClean="0"/>
              <a:t>q) </a:t>
            </a:r>
            <a:r>
              <a:rPr lang="en-US" dirty="0" smtClean="0">
                <a:sym typeface="Symbol"/>
              </a:rPr>
              <a:t> </a:t>
            </a:r>
            <a:r>
              <a:rPr lang="en-US" dirty="0" smtClean="0"/>
              <a:t>(q </a:t>
            </a:r>
            <a:r>
              <a:rPr lang="en-US" dirty="0" smtClean="0">
                <a:sym typeface="Symbol"/>
              </a:rPr>
              <a:t> </a:t>
            </a:r>
            <a:r>
              <a:rPr lang="en-US" dirty="0" smtClean="0"/>
              <a:t>p)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05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Construct a truth table for the statement 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p </a:t>
            </a:r>
            <a:r>
              <a:rPr lang="en-US" b="1" dirty="0">
                <a:sym typeface="Symbol"/>
              </a:rPr>
              <a:t> </a:t>
            </a:r>
            <a:r>
              <a:rPr lang="en-US" b="1" dirty="0"/>
              <a:t>q </a:t>
            </a:r>
            <a:r>
              <a:rPr lang="en-US" b="1" dirty="0">
                <a:sym typeface="Symbol"/>
              </a:rPr>
              <a:t></a:t>
            </a:r>
            <a:r>
              <a:rPr lang="en-US" b="1" dirty="0"/>
              <a:t> (p </a:t>
            </a:r>
            <a:r>
              <a:rPr lang="en-US" b="1" dirty="0">
                <a:sym typeface="Symbol"/>
              </a:rPr>
              <a:t> </a:t>
            </a:r>
            <a:r>
              <a:rPr lang="en-US" b="1" dirty="0"/>
              <a:t>q) </a:t>
            </a:r>
            <a:r>
              <a:rPr lang="en-US" b="1" dirty="0">
                <a:sym typeface="Symbol"/>
              </a:rPr>
              <a:t> </a:t>
            </a:r>
            <a:r>
              <a:rPr lang="en-US" b="1" dirty="0"/>
              <a:t>(q </a:t>
            </a:r>
            <a:r>
              <a:rPr lang="en-US" b="1" dirty="0">
                <a:sym typeface="Symbol"/>
              </a:rPr>
              <a:t> </a:t>
            </a:r>
            <a:r>
              <a:rPr lang="en-US" b="1" dirty="0"/>
              <a:t>p) </a:t>
            </a:r>
            <a:r>
              <a:rPr lang="en-US" b="1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613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/>
              <a:t>p </a:t>
            </a:r>
            <a:r>
              <a:rPr lang="en-US" b="1" dirty="0" smtClean="0">
                <a:sym typeface="Symbol"/>
              </a:rPr>
              <a:t> </a:t>
            </a:r>
            <a:r>
              <a:rPr lang="en-US" b="1" dirty="0" smtClean="0"/>
              <a:t>q </a:t>
            </a:r>
            <a:r>
              <a:rPr lang="en-US" b="1" dirty="0" smtClean="0">
                <a:sym typeface="Symbol"/>
              </a:rPr>
              <a:t></a:t>
            </a:r>
            <a:r>
              <a:rPr lang="en-US" b="1" dirty="0" smtClean="0"/>
              <a:t> (p </a:t>
            </a:r>
            <a:r>
              <a:rPr lang="en-US" b="1" dirty="0" smtClean="0">
                <a:sym typeface="Symbol"/>
              </a:rPr>
              <a:t> </a:t>
            </a:r>
            <a:r>
              <a:rPr lang="en-US" b="1" dirty="0" smtClean="0"/>
              <a:t>q) </a:t>
            </a:r>
            <a:r>
              <a:rPr lang="en-US" b="1" dirty="0" smtClean="0">
                <a:sym typeface="Symbol"/>
              </a:rPr>
              <a:t> </a:t>
            </a:r>
            <a:r>
              <a:rPr lang="en-US" b="1" dirty="0" smtClean="0"/>
              <a:t>(q </a:t>
            </a:r>
            <a:r>
              <a:rPr lang="en-US" b="1" dirty="0" smtClean="0">
                <a:sym typeface="Symbol"/>
              </a:rPr>
              <a:t> </a:t>
            </a:r>
            <a:r>
              <a:rPr lang="en-US" b="1" dirty="0" smtClean="0"/>
              <a:t>p) </a:t>
            </a:r>
            <a:endParaRPr lang="en-US" b="1" dirty="0"/>
          </a:p>
        </p:txBody>
      </p:sp>
      <p:graphicFrame>
        <p:nvGraphicFramePr>
          <p:cNvPr id="2050" name="Group 2"/>
          <p:cNvGraphicFramePr>
            <a:graphicFrameLocks noGrp="1"/>
          </p:cNvGraphicFramePr>
          <p:nvPr/>
        </p:nvGraphicFramePr>
        <p:xfrm>
          <a:off x="762000" y="1447800"/>
          <a:ext cx="7315200" cy="2344738"/>
        </p:xfrm>
        <a:graphic>
          <a:graphicData uri="http://schemas.openxmlformats.org/drawingml/2006/table">
            <a:tbl>
              <a:tblPr/>
              <a:tblGrid>
                <a:gridCol w="704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65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9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5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 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 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q  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(p  q)  (q  p)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62" name="Straight Connector 61"/>
          <p:cNvCxnSpPr/>
          <p:nvPr/>
        </p:nvCxnSpPr>
        <p:spPr>
          <a:xfrm>
            <a:off x="2667000" y="4267200"/>
            <a:ext cx="41148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rot="5400000">
            <a:off x="2438400" y="4038600"/>
            <a:ext cx="4572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rot="5400000">
            <a:off x="6553200" y="4038600"/>
            <a:ext cx="4572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99" name="Rectangle 51"/>
          <p:cNvSpPr>
            <a:spLocks noChangeArrowheads="1"/>
          </p:cNvSpPr>
          <p:nvPr/>
        </p:nvSpPr>
        <p:spPr bwMode="auto">
          <a:xfrm>
            <a:off x="1905000" y="4419601"/>
            <a:ext cx="5867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MS Mincho" pitchFamily="49" charset="-128"/>
                <a:cs typeface="Times New Roman" pitchFamily="18" charset="0"/>
              </a:rPr>
              <a:t>                                               </a:t>
            </a:r>
            <a:r>
              <a:rPr kumimoji="0" lang="en-US" altLang="ja-JP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MS Mincho" pitchFamily="49" charset="-128"/>
                <a:cs typeface="Times New Roman" pitchFamily="18" charset="0"/>
              </a:rPr>
              <a:t>same truth values</a:t>
            </a:r>
            <a:endParaRPr kumimoji="0" lang="en-US" altLang="ja-JP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2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REPHRASING BICONDITIONAL: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p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 </a:t>
            </a:r>
            <a:r>
              <a:rPr lang="en-US" b="1" dirty="0" smtClean="0">
                <a:solidFill>
                  <a:srgbClr val="C00000"/>
                </a:solidFill>
              </a:rPr>
              <a:t>q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is also expressed as: 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“p is </a:t>
            </a:r>
            <a:r>
              <a:rPr lang="en-US" b="1" dirty="0" smtClean="0">
                <a:solidFill>
                  <a:srgbClr val="C00000"/>
                </a:solidFill>
              </a:rPr>
              <a:t>necessary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sufficient </a:t>
            </a:r>
            <a:r>
              <a:rPr lang="en-US" dirty="0" smtClean="0"/>
              <a:t>for q” </a:t>
            </a:r>
          </a:p>
          <a:p>
            <a:pPr>
              <a:buNone/>
            </a:pPr>
            <a:r>
              <a:rPr lang="en-US" dirty="0" smtClean="0"/>
              <a:t>		“if p </a:t>
            </a:r>
            <a:r>
              <a:rPr lang="en-US" b="1" dirty="0" smtClean="0">
                <a:solidFill>
                  <a:srgbClr val="C00000"/>
                </a:solidFill>
              </a:rPr>
              <a:t>then</a:t>
            </a:r>
            <a:r>
              <a:rPr lang="en-US" dirty="0" smtClean="0"/>
              <a:t> q, and </a:t>
            </a:r>
            <a:r>
              <a:rPr lang="en-US" b="1" dirty="0" smtClean="0">
                <a:solidFill>
                  <a:srgbClr val="C00000"/>
                </a:solidFill>
              </a:rPr>
              <a:t>conversely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dirty="0" smtClean="0"/>
              <a:t>		“p is </a:t>
            </a:r>
            <a:r>
              <a:rPr lang="en-US" b="1" dirty="0" smtClean="0">
                <a:solidFill>
                  <a:srgbClr val="C00000"/>
                </a:solidFill>
              </a:rPr>
              <a:t>equivalent</a:t>
            </a:r>
            <a:r>
              <a:rPr lang="en-US" dirty="0" smtClean="0"/>
              <a:t> to q”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Note:</a:t>
            </a:r>
          </a:p>
          <a:p>
            <a:pPr>
              <a:buNone/>
            </a:pPr>
            <a:r>
              <a:rPr lang="en-US" dirty="0" smtClean="0"/>
              <a:t>   </a:t>
            </a:r>
            <a:r>
              <a:rPr lang="en-US" b="1" dirty="0" smtClean="0">
                <a:solidFill>
                  <a:srgbClr val="C00000"/>
                </a:solidFill>
              </a:rPr>
              <a:t>p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 </a:t>
            </a:r>
            <a:r>
              <a:rPr lang="en-US" b="1" dirty="0" smtClean="0">
                <a:solidFill>
                  <a:srgbClr val="C00000"/>
                </a:solidFill>
              </a:rPr>
              <a:t>q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q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</a:t>
            </a:r>
            <a:r>
              <a:rPr lang="en-US" b="1" dirty="0" smtClean="0">
                <a:solidFill>
                  <a:srgbClr val="C00000"/>
                </a:solidFill>
              </a:rPr>
              <a:t> p </a:t>
            </a:r>
            <a:r>
              <a:rPr lang="en-US" b="1" dirty="0" smtClean="0"/>
              <a:t>are EQUIVALENT.</a:t>
            </a:r>
          </a:p>
          <a:p>
            <a:pPr>
              <a:buNone/>
            </a:pPr>
            <a:r>
              <a:rPr lang="en-US" b="1" dirty="0" smtClean="0"/>
              <a:t>   </a:t>
            </a:r>
            <a:r>
              <a:rPr lang="en-US" b="1" dirty="0" smtClean="0">
                <a:solidFill>
                  <a:srgbClr val="C00000"/>
                </a:solidFill>
              </a:rPr>
              <a:t>p </a:t>
            </a:r>
            <a:r>
              <a:rPr lang="en-US" b="1" dirty="0" err="1" smtClean="0">
                <a:solidFill>
                  <a:srgbClr val="C00000"/>
                </a:solidFill>
              </a:rPr>
              <a:t>iff</a:t>
            </a:r>
            <a:r>
              <a:rPr lang="en-US" b="1" dirty="0" smtClean="0">
                <a:solidFill>
                  <a:srgbClr val="C00000"/>
                </a:solidFill>
              </a:rPr>
              <a:t> q </a:t>
            </a:r>
            <a:r>
              <a:rPr lang="en-US" dirty="0" smtClean="0"/>
              <a:t>and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q </a:t>
            </a:r>
            <a:r>
              <a:rPr lang="en-US" b="1" dirty="0" err="1" smtClean="0">
                <a:solidFill>
                  <a:srgbClr val="C00000"/>
                </a:solidFill>
              </a:rPr>
              <a:t>iff</a:t>
            </a:r>
            <a:r>
              <a:rPr lang="en-US" b="1" dirty="0" smtClean="0">
                <a:solidFill>
                  <a:srgbClr val="C00000"/>
                </a:solidFill>
              </a:rPr>
              <a:t> p</a:t>
            </a:r>
            <a:r>
              <a:rPr lang="en-US" b="1" dirty="0" smtClean="0"/>
              <a:t> are EQUIVALENT.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REPHARASING ENGLISH SENTENCES IN BICONDITIONAL CONECTIVE.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If</a:t>
            </a:r>
            <a:r>
              <a:rPr lang="en-US" b="1" dirty="0" smtClean="0"/>
              <a:t> it is hot outside you buy an ice cream cone, and if you buy an ice cream cone it is hot outside.</a:t>
            </a:r>
          </a:p>
          <a:p>
            <a:pPr>
              <a:buNone/>
            </a:pPr>
            <a:r>
              <a:rPr lang="en-US" dirty="0" smtClean="0"/>
              <a:t>	You buy an ice cream cone </a:t>
            </a:r>
            <a:r>
              <a:rPr lang="en-US" dirty="0" smtClean="0">
                <a:solidFill>
                  <a:srgbClr val="C00000"/>
                </a:solidFill>
              </a:rPr>
              <a:t>if and only if</a:t>
            </a:r>
            <a:r>
              <a:rPr lang="en-US" dirty="0" smtClean="0"/>
              <a:t> it is hot outside.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/>
              <a:t>For you to win the contest it is </a:t>
            </a:r>
            <a:r>
              <a:rPr lang="en-US" b="1" dirty="0" smtClean="0">
                <a:solidFill>
                  <a:srgbClr val="C00000"/>
                </a:solidFill>
              </a:rPr>
              <a:t>necessary and sufficient</a:t>
            </a:r>
            <a:r>
              <a:rPr lang="en-US" b="1" dirty="0" smtClean="0"/>
              <a:t> that you have the only winning ticket.</a:t>
            </a:r>
          </a:p>
          <a:p>
            <a:pPr>
              <a:buNone/>
            </a:pPr>
            <a:r>
              <a:rPr lang="en-US" dirty="0" smtClean="0"/>
              <a:t>	You win the contest </a:t>
            </a:r>
            <a:r>
              <a:rPr lang="en-US" dirty="0" smtClean="0">
                <a:solidFill>
                  <a:srgbClr val="C00000"/>
                </a:solidFill>
              </a:rPr>
              <a:t>if and only if</a:t>
            </a:r>
            <a:r>
              <a:rPr lang="en-US" dirty="0" smtClean="0"/>
              <a:t> you have the only winning ticket.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If</a:t>
            </a:r>
            <a:r>
              <a:rPr lang="en-US" b="1" dirty="0" smtClean="0"/>
              <a:t> you read the news paper every day, you will be informed and </a:t>
            </a:r>
            <a:r>
              <a:rPr lang="en-US" b="1" dirty="0" smtClean="0">
                <a:solidFill>
                  <a:srgbClr val="C00000"/>
                </a:solidFill>
              </a:rPr>
              <a:t>conversely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r>
              <a:rPr lang="en-US" b="1" dirty="0" smtClean="0"/>
              <a:t>It rains </a:t>
            </a:r>
            <a:r>
              <a:rPr lang="en-US" b="1" dirty="0" smtClean="0">
                <a:solidFill>
                  <a:srgbClr val="C00000"/>
                </a:solidFill>
              </a:rPr>
              <a:t>if</a:t>
            </a:r>
            <a:r>
              <a:rPr lang="en-US" b="1" dirty="0" smtClean="0"/>
              <a:t> it is a weekend day, and it is a weekend day </a:t>
            </a:r>
            <a:r>
              <a:rPr lang="en-US" b="1" dirty="0" smtClean="0">
                <a:solidFill>
                  <a:srgbClr val="C00000"/>
                </a:solidFill>
              </a:rPr>
              <a:t>if</a:t>
            </a:r>
            <a:r>
              <a:rPr lang="en-US" b="1" dirty="0" smtClean="0"/>
              <a:t> it rains.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r>
              <a:rPr lang="en-US" b="1" dirty="0" smtClean="0"/>
              <a:t>This number is divisible by 6 precisely when it is divisible by both 2 and 3.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If</a:t>
            </a:r>
            <a:r>
              <a:rPr lang="en-US" b="1" dirty="0" smtClean="0"/>
              <a:t> you read the news paper every day, you will be informed and </a:t>
            </a:r>
            <a:r>
              <a:rPr lang="en-US" b="1" dirty="0" smtClean="0">
                <a:solidFill>
                  <a:srgbClr val="C00000"/>
                </a:solidFill>
              </a:rPr>
              <a:t>conversely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You will be informed </a:t>
            </a:r>
            <a:r>
              <a:rPr lang="en-US" dirty="0" smtClean="0">
                <a:solidFill>
                  <a:srgbClr val="C00000"/>
                </a:solidFill>
              </a:rPr>
              <a:t>if and only if</a:t>
            </a:r>
            <a:r>
              <a:rPr lang="en-US" dirty="0" smtClean="0"/>
              <a:t> you read the newspaper every day.</a:t>
            </a:r>
          </a:p>
          <a:p>
            <a:endParaRPr lang="en-US" dirty="0" smtClean="0"/>
          </a:p>
          <a:p>
            <a:r>
              <a:rPr lang="en-US" b="1" dirty="0" smtClean="0"/>
              <a:t>It rains </a:t>
            </a:r>
            <a:r>
              <a:rPr lang="en-US" b="1" dirty="0" smtClean="0">
                <a:solidFill>
                  <a:srgbClr val="C00000"/>
                </a:solidFill>
              </a:rPr>
              <a:t>if</a:t>
            </a:r>
            <a:r>
              <a:rPr lang="en-US" b="1" dirty="0" smtClean="0"/>
              <a:t> it is a weekend day, and it is a weekend day </a:t>
            </a:r>
            <a:r>
              <a:rPr lang="en-US" b="1" dirty="0" smtClean="0">
                <a:solidFill>
                  <a:srgbClr val="C00000"/>
                </a:solidFill>
              </a:rPr>
              <a:t>if</a:t>
            </a:r>
            <a:r>
              <a:rPr lang="en-US" b="1" dirty="0" smtClean="0"/>
              <a:t> it rains.</a:t>
            </a:r>
          </a:p>
          <a:p>
            <a:pPr>
              <a:buNone/>
            </a:pPr>
            <a:r>
              <a:rPr lang="en-US" dirty="0" smtClean="0"/>
              <a:t>	It rains </a:t>
            </a:r>
            <a:r>
              <a:rPr lang="en-US" dirty="0" smtClean="0">
                <a:solidFill>
                  <a:srgbClr val="C00000"/>
                </a:solidFill>
              </a:rPr>
              <a:t>if and only if </a:t>
            </a:r>
            <a:r>
              <a:rPr lang="en-US" dirty="0" smtClean="0"/>
              <a:t>it is a weekend day.</a:t>
            </a:r>
          </a:p>
          <a:p>
            <a:endParaRPr lang="en-US" dirty="0" smtClean="0"/>
          </a:p>
          <a:p>
            <a:r>
              <a:rPr lang="en-US" b="1" dirty="0" smtClean="0"/>
              <a:t>This number is divisible by 6 precisely when it is divisible by both 2 and 3.</a:t>
            </a:r>
          </a:p>
          <a:p>
            <a:pPr>
              <a:buNone/>
            </a:pPr>
            <a:r>
              <a:rPr lang="en-US" dirty="0" smtClean="0"/>
              <a:t>	This number is divisible by 6 </a:t>
            </a:r>
            <a:r>
              <a:rPr lang="en-US" dirty="0" smtClean="0">
                <a:solidFill>
                  <a:srgbClr val="C00000"/>
                </a:solidFill>
              </a:rPr>
              <a:t>if and only if</a:t>
            </a:r>
            <a:r>
              <a:rPr lang="en-US" dirty="0" smtClean="0"/>
              <a:t> it is divisible by both 2 and 3.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317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TRUTH </a:t>
            </a:r>
            <a:r>
              <a:rPr lang="en-US" b="1" dirty="0"/>
              <a:t>TABLE FOR (p </a:t>
            </a:r>
            <a:r>
              <a:rPr lang="en-US" b="1" dirty="0">
                <a:sym typeface="Symbol"/>
              </a:rPr>
              <a:t> </a:t>
            </a:r>
            <a:r>
              <a:rPr lang="en-US" b="1" dirty="0"/>
              <a:t>q) </a:t>
            </a:r>
            <a:r>
              <a:rPr lang="en-US" b="1" dirty="0">
                <a:sym typeface="Symbol"/>
              </a:rPr>
              <a:t></a:t>
            </a:r>
            <a:r>
              <a:rPr lang="en-US" b="1" dirty="0"/>
              <a:t> (~ q</a:t>
            </a:r>
            <a:r>
              <a:rPr lang="en-US" b="1" dirty="0">
                <a:sym typeface="Symbol"/>
              </a:rPr>
              <a:t></a:t>
            </a:r>
            <a:r>
              <a:rPr lang="en-US" b="1" dirty="0"/>
              <a:t> ~ p)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7130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TRUTH TABLE FOR (p </a:t>
            </a:r>
            <a:r>
              <a:rPr lang="en-US" b="1" dirty="0" smtClean="0">
                <a:sym typeface="Symbol"/>
              </a:rPr>
              <a:t> </a:t>
            </a:r>
            <a:r>
              <a:rPr lang="en-US" b="1" dirty="0" smtClean="0"/>
              <a:t>q) </a:t>
            </a:r>
            <a:r>
              <a:rPr lang="en-US" b="1" dirty="0" smtClean="0">
                <a:sym typeface="Symbol"/>
              </a:rPr>
              <a:t></a:t>
            </a:r>
            <a:r>
              <a:rPr lang="en-US" b="1" dirty="0" smtClean="0"/>
              <a:t> (~ q</a:t>
            </a:r>
            <a:r>
              <a:rPr lang="en-US" b="1" dirty="0" smtClean="0">
                <a:sym typeface="Symbol"/>
              </a:rPr>
              <a:t></a:t>
            </a:r>
            <a:r>
              <a:rPr lang="en-US" b="1" dirty="0" smtClean="0"/>
              <a:t> ~ p)</a:t>
            </a:r>
            <a:endParaRPr lang="en-US" dirty="0"/>
          </a:p>
        </p:txBody>
      </p:sp>
      <p:graphicFrame>
        <p:nvGraphicFramePr>
          <p:cNvPr id="1026" name="Group 2"/>
          <p:cNvGraphicFramePr>
            <a:graphicFrameLocks noGrp="1"/>
          </p:cNvGraphicFramePr>
          <p:nvPr/>
        </p:nvGraphicFramePr>
        <p:xfrm>
          <a:off x="457200" y="1447800"/>
          <a:ext cx="8153400" cy="2503056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24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81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 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 q ~ 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(p  q)  (~ q ~ p)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3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3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3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3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5" name="Rectangle 54"/>
          <p:cNvSpPr/>
          <p:nvPr/>
        </p:nvSpPr>
        <p:spPr>
          <a:xfrm>
            <a:off x="533400" y="4114800"/>
            <a:ext cx="8153400" cy="1143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>
                <a:solidFill>
                  <a:srgbClr val="C00000"/>
                </a:solidFill>
              </a:rPr>
              <a:t>Note: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The result is </a:t>
            </a:r>
            <a:r>
              <a:rPr lang="en-US" b="1" dirty="0" smtClean="0">
                <a:solidFill>
                  <a:schemeClr val="tx1"/>
                </a:solidFill>
              </a:rPr>
              <a:t>TAUTOLOGY</a:t>
            </a:r>
            <a:r>
              <a:rPr lang="en-US" dirty="0" smtClean="0">
                <a:solidFill>
                  <a:schemeClr val="tx1"/>
                </a:solidFill>
              </a:rPr>
              <a:t>, It means both the expressions involved in statement form are equivalent.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8800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TRUTH TABLE </a:t>
            </a:r>
            <a:r>
              <a:rPr lang="en-US" b="1" dirty="0" smtClean="0"/>
              <a:t>FOR </a:t>
            </a:r>
            <a:br>
              <a:rPr lang="en-US" b="1" dirty="0" smtClean="0"/>
            </a:br>
            <a:r>
              <a:rPr lang="en-US" b="1" dirty="0"/>
              <a:t> </a:t>
            </a:r>
            <a:r>
              <a:rPr lang="en-US" b="1" dirty="0" smtClean="0"/>
              <a:t>           </a:t>
            </a:r>
            <a:br>
              <a:rPr lang="en-US" b="1" dirty="0" smtClean="0"/>
            </a:br>
            <a:r>
              <a:rPr lang="en-US" b="1" dirty="0" smtClean="0"/>
              <a:t>(</a:t>
            </a:r>
            <a:r>
              <a:rPr lang="en-US" b="1" dirty="0"/>
              <a:t>p </a:t>
            </a:r>
            <a:r>
              <a:rPr lang="en-US" b="1" dirty="0">
                <a:sym typeface="Symbol"/>
              </a:rPr>
              <a:t> </a:t>
            </a:r>
            <a:r>
              <a:rPr lang="en-US" b="1" dirty="0"/>
              <a:t>q) </a:t>
            </a:r>
            <a:r>
              <a:rPr lang="en-US" b="1" dirty="0">
                <a:sym typeface="Symbol"/>
              </a:rPr>
              <a:t> </a:t>
            </a:r>
            <a:r>
              <a:rPr lang="en-US" b="1" dirty="0"/>
              <a:t>(r </a:t>
            </a:r>
            <a:r>
              <a:rPr lang="en-US" b="1" dirty="0">
                <a:sym typeface="Symbol"/>
              </a:rPr>
              <a:t> </a:t>
            </a:r>
            <a:r>
              <a:rPr lang="en-US" b="1" dirty="0"/>
              <a:t>q)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0431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(p </a:t>
            </a:r>
            <a:r>
              <a:rPr lang="en-US" b="1" dirty="0" smtClean="0">
                <a:sym typeface="Symbol"/>
              </a:rPr>
              <a:t> </a:t>
            </a:r>
            <a:r>
              <a:rPr lang="en-US" b="1" dirty="0" smtClean="0"/>
              <a:t>q) </a:t>
            </a:r>
            <a:r>
              <a:rPr lang="en-US" b="1" dirty="0" smtClean="0">
                <a:sym typeface="Symbol"/>
              </a:rPr>
              <a:t> </a:t>
            </a:r>
            <a:r>
              <a:rPr lang="en-US" b="1" dirty="0" smtClean="0"/>
              <a:t>(r </a:t>
            </a:r>
            <a:r>
              <a:rPr lang="en-US" b="1" dirty="0" smtClean="0">
                <a:sym typeface="Symbol"/>
              </a:rPr>
              <a:t> </a:t>
            </a:r>
            <a:r>
              <a:rPr lang="en-US" b="1" dirty="0" smtClean="0"/>
              <a:t>q)</a:t>
            </a:r>
            <a:endParaRPr lang="en-US" b="1" dirty="0"/>
          </a:p>
        </p:txBody>
      </p:sp>
      <p:graphicFrame>
        <p:nvGraphicFramePr>
          <p:cNvPr id="2050" name="Group 2"/>
          <p:cNvGraphicFramePr>
            <a:graphicFrameLocks noGrp="1"/>
          </p:cNvGraphicFramePr>
          <p:nvPr/>
        </p:nvGraphicFramePr>
        <p:xfrm>
          <a:off x="1371600" y="1447800"/>
          <a:ext cx="6096000" cy="4114800"/>
        </p:xfrm>
        <a:graphic>
          <a:graphicData uri="http://schemas.openxmlformats.org/drawingml/2006/table">
            <a:tbl>
              <a:tblPr/>
              <a:tblGrid>
                <a:gridCol w="380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670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 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r 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(p  q)  (r  q)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HIERARCY OF CONNECTIVES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Resolve Innermost parenthesis, outmost parenthesis,.</a:t>
            </a:r>
          </a:p>
          <a:p>
            <a:r>
              <a:rPr lang="en-US" dirty="0" smtClean="0"/>
              <a:t>Negation</a:t>
            </a:r>
          </a:p>
          <a:p>
            <a:r>
              <a:rPr lang="en-US" dirty="0" smtClean="0"/>
              <a:t>Conjunction and Disjunction</a:t>
            </a:r>
          </a:p>
          <a:p>
            <a:r>
              <a:rPr lang="en-US" dirty="0" smtClean="0"/>
              <a:t>Implication or </a:t>
            </a:r>
            <a:r>
              <a:rPr lang="en-US" dirty="0" err="1" smtClean="0"/>
              <a:t>Biconditional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8800"/>
            <a:ext cx="8229600" cy="914400"/>
          </a:xfrm>
        </p:spPr>
        <p:txBody>
          <a:bodyPr/>
          <a:lstStyle/>
          <a:p>
            <a:r>
              <a:rPr lang="en-US" b="1" dirty="0"/>
              <a:t>p </a:t>
            </a:r>
            <a:r>
              <a:rPr lang="en-US" b="1" dirty="0">
                <a:sym typeface="Symbol"/>
              </a:rPr>
              <a:t></a:t>
            </a:r>
            <a:r>
              <a:rPr lang="en-US" b="1" dirty="0"/>
              <a:t> ~r </a:t>
            </a:r>
            <a:r>
              <a:rPr lang="en-US" b="1" dirty="0">
                <a:sym typeface="Symbol"/>
              </a:rPr>
              <a:t> </a:t>
            </a:r>
            <a:r>
              <a:rPr lang="en-US" b="1" dirty="0"/>
              <a:t>q </a:t>
            </a:r>
            <a:r>
              <a:rPr lang="en-US" b="1" dirty="0">
                <a:sym typeface="Symbol"/>
              </a:rPr>
              <a:t> </a:t>
            </a:r>
            <a:r>
              <a:rPr lang="en-US" b="1" dirty="0"/>
              <a:t>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6296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/>
              <a:t>p </a:t>
            </a:r>
            <a:r>
              <a:rPr lang="en-US" b="1" dirty="0" smtClean="0">
                <a:sym typeface="Symbol"/>
              </a:rPr>
              <a:t></a:t>
            </a:r>
            <a:r>
              <a:rPr lang="en-US" b="1" dirty="0" smtClean="0"/>
              <a:t> ~r </a:t>
            </a:r>
            <a:r>
              <a:rPr lang="en-US" b="1" dirty="0" smtClean="0">
                <a:sym typeface="Symbol"/>
              </a:rPr>
              <a:t> </a:t>
            </a:r>
            <a:r>
              <a:rPr lang="en-US" b="1" dirty="0" smtClean="0"/>
              <a:t>q </a:t>
            </a:r>
            <a:r>
              <a:rPr lang="en-US" b="1" dirty="0" smtClean="0">
                <a:sym typeface="Symbol"/>
              </a:rPr>
              <a:t> </a:t>
            </a:r>
            <a:r>
              <a:rPr lang="en-US" b="1" dirty="0" smtClean="0"/>
              <a:t>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 this statement form we have no parenthesis. </a:t>
            </a:r>
          </a:p>
          <a:p>
            <a:r>
              <a:rPr lang="pt-BR" dirty="0" smtClean="0"/>
              <a:t>Here p </a:t>
            </a:r>
            <a:r>
              <a:rPr lang="en-US" dirty="0" smtClean="0">
                <a:sym typeface="Symbol"/>
              </a:rPr>
              <a:t></a:t>
            </a:r>
            <a:r>
              <a:rPr lang="pt-BR" dirty="0" smtClean="0"/>
              <a:t> ~ r </a:t>
            </a:r>
            <a:r>
              <a:rPr lang="en-US" dirty="0" smtClean="0">
                <a:sym typeface="Symbol"/>
              </a:rPr>
              <a:t> </a:t>
            </a:r>
            <a:r>
              <a:rPr lang="pt-BR" dirty="0" smtClean="0"/>
              <a:t>q </a:t>
            </a:r>
            <a:r>
              <a:rPr lang="en-US" dirty="0" smtClean="0">
                <a:sym typeface="Symbol"/>
              </a:rPr>
              <a:t></a:t>
            </a:r>
            <a:r>
              <a:rPr lang="pt-BR" dirty="0" smtClean="0"/>
              <a:t> r</a:t>
            </a:r>
            <a:r>
              <a:rPr lang="pt-BR" b="1" dirty="0" smtClean="0"/>
              <a:t> </a:t>
            </a:r>
            <a:r>
              <a:rPr lang="pt-BR" dirty="0" smtClean="0"/>
              <a:t>means (p </a:t>
            </a:r>
            <a:r>
              <a:rPr lang="en-US" dirty="0" smtClean="0">
                <a:sym typeface="Symbol"/>
              </a:rPr>
              <a:t></a:t>
            </a:r>
            <a:r>
              <a:rPr lang="pt-BR" dirty="0" smtClean="0"/>
              <a:t> (~ r)) </a:t>
            </a:r>
            <a:r>
              <a:rPr lang="en-US" dirty="0" smtClean="0">
                <a:sym typeface="Symbol"/>
              </a:rPr>
              <a:t> </a:t>
            </a:r>
            <a:r>
              <a:rPr lang="pt-BR" dirty="0" smtClean="0"/>
              <a:t>(q </a:t>
            </a:r>
            <a:r>
              <a:rPr lang="en-US" dirty="0" smtClean="0">
                <a:sym typeface="Symbol"/>
              </a:rPr>
              <a:t></a:t>
            </a:r>
            <a:r>
              <a:rPr lang="pt-BR" dirty="0" smtClean="0"/>
              <a:t> r)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3074" name="Group 2"/>
          <p:cNvGraphicFramePr>
            <a:graphicFrameLocks noGrp="1"/>
          </p:cNvGraphicFramePr>
          <p:nvPr/>
        </p:nvGraphicFramePr>
        <p:xfrm>
          <a:off x="990600" y="2286000"/>
          <a:ext cx="6934202" cy="4177008"/>
        </p:xfrm>
        <a:graphic>
          <a:graphicData uri="http://schemas.openxmlformats.org/drawingml/2006/table">
            <a:tbl>
              <a:tblPr/>
              <a:tblGrid>
                <a:gridCol w="381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8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95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 ~r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q  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  ~r  q  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4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4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4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09800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Show that </a:t>
            </a:r>
            <a:r>
              <a:rPr lang="en-US" b="1" dirty="0"/>
              <a:t>~p </a:t>
            </a:r>
            <a:r>
              <a:rPr lang="en-US" b="1" dirty="0">
                <a:sym typeface="Symbol"/>
              </a:rPr>
              <a:t> </a:t>
            </a:r>
            <a:r>
              <a:rPr lang="en-US" b="1" dirty="0"/>
              <a:t>q</a:t>
            </a:r>
            <a:r>
              <a:rPr lang="en-US" dirty="0"/>
              <a:t> and </a:t>
            </a:r>
            <a:r>
              <a:rPr lang="en-US" b="1" dirty="0"/>
              <a:t>p </a:t>
            </a:r>
            <a:r>
              <a:rPr lang="en-US" b="1" dirty="0">
                <a:sym typeface="Symbol"/>
              </a:rPr>
              <a:t> </a:t>
            </a:r>
            <a:r>
              <a:rPr lang="en-US" b="1" dirty="0"/>
              <a:t>~q</a:t>
            </a:r>
            <a:r>
              <a:rPr lang="en-US" dirty="0"/>
              <a:t> are logically equivalent</a:t>
            </a:r>
          </a:p>
        </p:txBody>
      </p:sp>
    </p:spTree>
    <p:extLst>
      <p:ext uri="{BB962C8B-B14F-4D97-AF65-F5344CB8AC3E}">
        <p14:creationId xmlns:p14="http://schemas.microsoft.com/office/powerpoint/2010/main" val="26577336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Show that </a:t>
            </a:r>
            <a:r>
              <a:rPr lang="en-US" b="1" dirty="0" smtClean="0"/>
              <a:t>~p </a:t>
            </a:r>
            <a:r>
              <a:rPr lang="en-US" b="1" dirty="0" smtClean="0">
                <a:sym typeface="Symbol"/>
              </a:rPr>
              <a:t> </a:t>
            </a:r>
            <a:r>
              <a:rPr lang="en-US" b="1" dirty="0" smtClean="0"/>
              <a:t>q</a:t>
            </a:r>
            <a:r>
              <a:rPr lang="en-US" dirty="0" smtClean="0"/>
              <a:t> and </a:t>
            </a:r>
            <a:r>
              <a:rPr lang="en-US" b="1" dirty="0" smtClean="0"/>
              <a:t>p </a:t>
            </a:r>
            <a:r>
              <a:rPr lang="en-US" b="1" dirty="0" smtClean="0">
                <a:sym typeface="Symbol"/>
              </a:rPr>
              <a:t> </a:t>
            </a:r>
            <a:r>
              <a:rPr lang="en-US" b="1" dirty="0" smtClean="0"/>
              <a:t>~q</a:t>
            </a:r>
            <a:r>
              <a:rPr lang="en-US" dirty="0" smtClean="0"/>
              <a:t> are logically equivalent</a:t>
            </a:r>
            <a:endParaRPr lang="en-US" dirty="0"/>
          </a:p>
        </p:txBody>
      </p:sp>
      <p:graphicFrame>
        <p:nvGraphicFramePr>
          <p:cNvPr id="1026" name="Group 2"/>
          <p:cNvGraphicFramePr>
            <a:graphicFrameLocks noGrp="1"/>
          </p:cNvGraphicFramePr>
          <p:nvPr/>
        </p:nvGraphicFramePr>
        <p:xfrm>
          <a:off x="1828800" y="1524000"/>
          <a:ext cx="5105400" cy="2286000"/>
        </p:xfrm>
        <a:graphic>
          <a:graphicData uri="http://schemas.openxmlformats.org/drawingml/2006/table">
            <a:tbl>
              <a:tblPr/>
              <a:tblGrid>
                <a:gridCol w="607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8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79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6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55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~p 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  ~q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070" name="Group 46"/>
          <p:cNvGrpSpPr>
            <a:grpSpLocks/>
          </p:cNvGrpSpPr>
          <p:nvPr/>
        </p:nvGrpSpPr>
        <p:grpSpPr bwMode="auto">
          <a:xfrm>
            <a:off x="5148263" y="3810000"/>
            <a:ext cx="795337" cy="152400"/>
            <a:chOff x="2304" y="3984"/>
            <a:chExt cx="501" cy="96"/>
          </a:xfrm>
        </p:grpSpPr>
        <p:sp>
          <p:nvSpPr>
            <p:cNvPr id="1071" name="Line 47"/>
            <p:cNvSpPr>
              <a:spLocks noChangeShapeType="1"/>
            </p:cNvSpPr>
            <p:nvPr/>
          </p:nvSpPr>
          <p:spPr bwMode="auto">
            <a:xfrm flipV="1">
              <a:off x="2304" y="3984"/>
              <a:ext cx="21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2" name="Line 48"/>
            <p:cNvSpPr>
              <a:spLocks noChangeShapeType="1"/>
            </p:cNvSpPr>
            <p:nvPr/>
          </p:nvSpPr>
          <p:spPr bwMode="auto">
            <a:xfrm flipV="1">
              <a:off x="2784" y="3984"/>
              <a:ext cx="21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3" name="Line 49"/>
            <p:cNvSpPr>
              <a:spLocks noChangeShapeType="1"/>
            </p:cNvSpPr>
            <p:nvPr/>
          </p:nvSpPr>
          <p:spPr bwMode="auto">
            <a:xfrm>
              <a:off x="2304" y="4080"/>
              <a:ext cx="4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5" name="Rectangle 54"/>
          <p:cNvSpPr/>
          <p:nvPr/>
        </p:nvSpPr>
        <p:spPr>
          <a:xfrm>
            <a:off x="4648200" y="3974068"/>
            <a:ext cx="18277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same truth values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90800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09600" y="2967335"/>
            <a:ext cx="77724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Show that </a:t>
            </a:r>
            <a:r>
              <a:rPr lang="en-US" sz="2400" b="1" dirty="0"/>
              <a:t>~(p </a:t>
            </a:r>
            <a:r>
              <a:rPr lang="en-US" sz="2400" b="1" dirty="0">
                <a:sym typeface="Symbol"/>
              </a:rPr>
              <a:t> </a:t>
            </a:r>
            <a:r>
              <a:rPr lang="en-US" sz="2400" b="1" dirty="0"/>
              <a:t>q)</a:t>
            </a:r>
            <a:r>
              <a:rPr lang="en-US" sz="2400" dirty="0"/>
              <a:t> and </a:t>
            </a:r>
            <a:r>
              <a:rPr lang="en-US" sz="2400" b="1" dirty="0"/>
              <a:t>p </a:t>
            </a:r>
            <a:r>
              <a:rPr lang="en-US" sz="2400" b="1" dirty="0">
                <a:sym typeface="Symbol"/>
              </a:rPr>
              <a:t> </a:t>
            </a:r>
            <a:r>
              <a:rPr lang="en-US" sz="2400" b="1" dirty="0"/>
              <a:t>q</a:t>
            </a:r>
            <a:r>
              <a:rPr lang="en-US" sz="2400" dirty="0"/>
              <a:t> are logically equivalent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3303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EXERCISE: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Show that </a:t>
            </a:r>
            <a:r>
              <a:rPr lang="en-US" b="1" dirty="0" smtClean="0"/>
              <a:t>~(p </a:t>
            </a:r>
            <a:r>
              <a:rPr lang="en-US" b="1" dirty="0" smtClean="0">
                <a:sym typeface="Symbol"/>
              </a:rPr>
              <a:t> </a:t>
            </a:r>
            <a:r>
              <a:rPr lang="en-US" b="1" dirty="0" smtClean="0"/>
              <a:t>q)</a:t>
            </a:r>
            <a:r>
              <a:rPr lang="en-US" dirty="0" smtClean="0"/>
              <a:t> and </a:t>
            </a:r>
            <a:r>
              <a:rPr lang="en-US" b="1" dirty="0" smtClean="0"/>
              <a:t>p </a:t>
            </a:r>
            <a:r>
              <a:rPr lang="en-US" b="1" dirty="0" smtClean="0">
                <a:sym typeface="Symbol"/>
              </a:rPr>
              <a:t> </a:t>
            </a:r>
            <a:r>
              <a:rPr lang="en-US" b="1" dirty="0" smtClean="0"/>
              <a:t>q</a:t>
            </a:r>
            <a:r>
              <a:rPr lang="en-US" dirty="0" smtClean="0"/>
              <a:t> are logically equivalent</a:t>
            </a:r>
          </a:p>
          <a:p>
            <a:pPr>
              <a:buNone/>
            </a:pPr>
            <a:endParaRPr lang="en-US" dirty="0" smtClean="0"/>
          </a:p>
        </p:txBody>
      </p:sp>
      <p:graphicFrame>
        <p:nvGraphicFramePr>
          <p:cNvPr id="2050" name="Group 2"/>
          <p:cNvGraphicFramePr>
            <a:graphicFrameLocks noGrp="1"/>
          </p:cNvGraphicFramePr>
          <p:nvPr/>
        </p:nvGraphicFramePr>
        <p:xfrm>
          <a:off x="1981201" y="1905000"/>
          <a:ext cx="4876800" cy="2286000"/>
        </p:xfrm>
        <a:graphic>
          <a:graphicData uri="http://schemas.openxmlformats.org/drawingml/2006/table">
            <a:tbl>
              <a:tblPr/>
              <a:tblGrid>
                <a:gridCol w="685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 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~(p  q)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 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088" name="Group 40"/>
          <p:cNvGrpSpPr>
            <a:grpSpLocks/>
          </p:cNvGrpSpPr>
          <p:nvPr/>
        </p:nvGrpSpPr>
        <p:grpSpPr bwMode="auto">
          <a:xfrm>
            <a:off x="5181600" y="4191000"/>
            <a:ext cx="914400" cy="152400"/>
            <a:chOff x="2304" y="5424"/>
            <a:chExt cx="576" cy="96"/>
          </a:xfrm>
        </p:grpSpPr>
        <p:sp>
          <p:nvSpPr>
            <p:cNvPr id="2089" name="Line 41"/>
            <p:cNvSpPr>
              <a:spLocks noChangeShapeType="1"/>
            </p:cNvSpPr>
            <p:nvPr/>
          </p:nvSpPr>
          <p:spPr bwMode="auto">
            <a:xfrm flipV="1">
              <a:off x="2304" y="5424"/>
              <a:ext cx="0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0" name="Line 42"/>
            <p:cNvSpPr>
              <a:spLocks noChangeShapeType="1"/>
            </p:cNvSpPr>
            <p:nvPr/>
          </p:nvSpPr>
          <p:spPr bwMode="auto">
            <a:xfrm flipV="1">
              <a:off x="2880" y="5424"/>
              <a:ext cx="0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1" name="Line 43"/>
            <p:cNvSpPr>
              <a:spLocks noChangeShapeType="1"/>
            </p:cNvSpPr>
            <p:nvPr/>
          </p:nvSpPr>
          <p:spPr bwMode="auto">
            <a:xfrm>
              <a:off x="2304" y="5520"/>
              <a:ext cx="57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7" name="Rectangle 46"/>
          <p:cNvSpPr/>
          <p:nvPr/>
        </p:nvSpPr>
        <p:spPr>
          <a:xfrm>
            <a:off x="4648200" y="4343400"/>
            <a:ext cx="18277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same truth values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2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Laws of Logic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Commutative Law:</a:t>
            </a:r>
            <a:r>
              <a:rPr lang="en-US" dirty="0" smtClean="0"/>
              <a:t>	         	p </a:t>
            </a:r>
            <a:r>
              <a:rPr lang="en-US" dirty="0" smtClean="0">
                <a:sym typeface="Symbol"/>
              </a:rPr>
              <a:t></a:t>
            </a:r>
            <a:r>
              <a:rPr lang="en-US" dirty="0" smtClean="0"/>
              <a:t> q </a:t>
            </a:r>
            <a:r>
              <a:rPr lang="en-US" dirty="0" smtClean="0">
                <a:sym typeface="Symbol"/>
              </a:rPr>
              <a:t></a:t>
            </a:r>
            <a:r>
              <a:rPr lang="en-US" dirty="0" smtClean="0"/>
              <a:t> q </a:t>
            </a:r>
            <a:r>
              <a:rPr lang="en-US" dirty="0" smtClean="0">
                <a:sym typeface="Symbol"/>
              </a:rPr>
              <a:t></a:t>
            </a:r>
            <a:r>
              <a:rPr lang="en-US" dirty="0" smtClean="0"/>
              <a:t> p</a:t>
            </a:r>
          </a:p>
          <a:p>
            <a:endParaRPr lang="en-US" dirty="0" smtClean="0"/>
          </a:p>
          <a:p>
            <a:r>
              <a:rPr lang="en-US" b="1" dirty="0" smtClean="0"/>
              <a:t>Implication Laws:</a:t>
            </a:r>
            <a:r>
              <a:rPr lang="en-US" dirty="0" smtClean="0"/>
              <a:t>		p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q </a:t>
            </a:r>
            <a:r>
              <a:rPr lang="en-US" dirty="0" smtClean="0">
                <a:sym typeface="Symbol"/>
              </a:rPr>
              <a:t></a:t>
            </a:r>
            <a:r>
              <a:rPr lang="en-US" dirty="0" smtClean="0"/>
              <a:t> ~p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q 					                   </a:t>
            </a:r>
            <a:r>
              <a:rPr lang="en-US" dirty="0" smtClean="0">
                <a:sym typeface="Symbol"/>
              </a:rPr>
              <a:t></a:t>
            </a:r>
            <a:r>
              <a:rPr lang="en-US" dirty="0" smtClean="0"/>
              <a:t> ~(p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~q)</a:t>
            </a:r>
          </a:p>
          <a:p>
            <a:endParaRPr lang="en-US" dirty="0" smtClean="0"/>
          </a:p>
          <a:p>
            <a:r>
              <a:rPr lang="en-US" b="1" dirty="0" smtClean="0"/>
              <a:t>Exportation Law:</a:t>
            </a:r>
            <a:r>
              <a:rPr lang="en-US" dirty="0" smtClean="0"/>
              <a:t>	     	(p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q)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r </a:t>
            </a:r>
            <a:r>
              <a:rPr lang="en-US" dirty="0" smtClean="0">
                <a:sym typeface="Symbol"/>
              </a:rPr>
              <a:t></a:t>
            </a:r>
            <a:r>
              <a:rPr lang="en-US" dirty="0" smtClean="0"/>
              <a:t> p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(q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r)</a:t>
            </a:r>
          </a:p>
          <a:p>
            <a:endParaRPr lang="en-US" dirty="0" smtClean="0"/>
          </a:p>
          <a:p>
            <a:r>
              <a:rPr lang="en-US" b="1" dirty="0" smtClean="0"/>
              <a:t>Equivalence:</a:t>
            </a:r>
            <a:r>
              <a:rPr lang="en-US" dirty="0" smtClean="0"/>
              <a:t>	          p </a:t>
            </a:r>
            <a:r>
              <a:rPr lang="en-US" dirty="0" smtClean="0">
                <a:sym typeface="Symbol"/>
              </a:rPr>
              <a:t></a:t>
            </a:r>
            <a:r>
              <a:rPr lang="en-US" dirty="0" smtClean="0"/>
              <a:t> q </a:t>
            </a:r>
            <a:r>
              <a:rPr lang="en-US" dirty="0" smtClean="0">
                <a:sym typeface="Symbol"/>
              </a:rPr>
              <a:t></a:t>
            </a:r>
            <a:r>
              <a:rPr lang="en-US" dirty="0" smtClean="0"/>
              <a:t> (p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q) </a:t>
            </a:r>
            <a:r>
              <a:rPr lang="en-US" dirty="0" smtClean="0">
                <a:sym typeface="Symbol"/>
              </a:rPr>
              <a:t> </a:t>
            </a:r>
            <a:r>
              <a:rPr lang="en-US" dirty="0" smtClean="0"/>
              <a:t>(q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p)</a:t>
            </a:r>
          </a:p>
          <a:p>
            <a:endParaRPr lang="en-US" dirty="0" smtClean="0"/>
          </a:p>
          <a:p>
            <a:r>
              <a:rPr lang="en-US" b="1" dirty="0" smtClean="0"/>
              <a:t>Reduction </a:t>
            </a:r>
            <a:r>
              <a:rPr lang="en-US" b="1" dirty="0" smtClean="0"/>
              <a:t>ad absurdum</a:t>
            </a:r>
            <a:r>
              <a:rPr lang="en-US" dirty="0" smtClean="0"/>
              <a:t>            p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q </a:t>
            </a:r>
            <a:r>
              <a:rPr lang="en-US" dirty="0" smtClean="0">
                <a:sym typeface="Symbol"/>
              </a:rPr>
              <a:t></a:t>
            </a:r>
            <a:r>
              <a:rPr lang="en-US" dirty="0" smtClean="0"/>
              <a:t> (p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~q)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c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APPLICATION: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Rewrite the statement forms without using the symbols </a:t>
            </a:r>
            <a:r>
              <a:rPr lang="en-US" b="1" dirty="0" smtClean="0">
                <a:sym typeface="Symbol"/>
              </a:rPr>
              <a:t></a:t>
            </a:r>
            <a:r>
              <a:rPr lang="en-US" b="1" dirty="0" smtClean="0"/>
              <a:t> or </a:t>
            </a:r>
            <a:r>
              <a:rPr lang="en-US" b="1" dirty="0" smtClean="0">
                <a:sym typeface="Symbol"/>
              </a:rPr>
              <a:t></a:t>
            </a:r>
            <a:endParaRPr lang="en-US" dirty="0" smtClean="0"/>
          </a:p>
          <a:p>
            <a:pPr>
              <a:buNone/>
            </a:pPr>
            <a:r>
              <a:rPr lang="pt-BR" dirty="0" smtClean="0"/>
              <a:t>	1.  p</a:t>
            </a:r>
            <a:r>
              <a:rPr lang="en-US" dirty="0" smtClean="0">
                <a:sym typeface="Symbol"/>
              </a:rPr>
              <a:t></a:t>
            </a:r>
            <a:r>
              <a:rPr lang="pt-BR" dirty="0" smtClean="0"/>
              <a:t>~q</a:t>
            </a:r>
            <a:r>
              <a:rPr lang="en-US" dirty="0" smtClean="0">
                <a:sym typeface="Symbol"/>
              </a:rPr>
              <a:t></a:t>
            </a:r>
            <a:r>
              <a:rPr lang="pt-BR" dirty="0" smtClean="0"/>
              <a:t>r			2.   (p</a:t>
            </a:r>
            <a:r>
              <a:rPr lang="en-US" dirty="0" smtClean="0">
                <a:sym typeface="Symbol"/>
              </a:rPr>
              <a:t></a:t>
            </a:r>
            <a:r>
              <a:rPr lang="pt-BR" dirty="0" smtClean="0"/>
              <a:t>r)</a:t>
            </a:r>
            <a:r>
              <a:rPr lang="en-US" dirty="0" smtClean="0">
                <a:sym typeface="Symbol"/>
              </a:rPr>
              <a:t></a:t>
            </a:r>
            <a:r>
              <a:rPr lang="pt-BR" dirty="0" smtClean="0"/>
              <a:t>(q </a:t>
            </a:r>
            <a:r>
              <a:rPr lang="en-US" dirty="0" smtClean="0">
                <a:sym typeface="Symbol"/>
              </a:rPr>
              <a:t></a:t>
            </a:r>
            <a:r>
              <a:rPr lang="pt-BR" dirty="0" smtClean="0"/>
              <a:t>r)</a:t>
            </a:r>
          </a:p>
          <a:p>
            <a:endParaRPr lang="pt-BR" dirty="0" smtClean="0"/>
          </a:p>
          <a:p>
            <a:r>
              <a:rPr lang="pt-BR" b="1" dirty="0" smtClean="0"/>
              <a:t>Solution:</a:t>
            </a:r>
            <a:endParaRPr lang="en-US" b="1" dirty="0" smtClean="0"/>
          </a:p>
          <a:p>
            <a:r>
              <a:rPr lang="en-US" dirty="0" smtClean="0"/>
              <a:t>p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~q </a:t>
            </a:r>
            <a:r>
              <a:rPr lang="en-US" dirty="0" smtClean="0">
                <a:sym typeface="Symbol"/>
              </a:rPr>
              <a:t> </a:t>
            </a:r>
            <a:r>
              <a:rPr lang="en-US" dirty="0" smtClean="0"/>
              <a:t>r </a:t>
            </a:r>
            <a:r>
              <a:rPr lang="en-US" dirty="0" smtClean="0">
                <a:sym typeface="Symbol"/>
              </a:rPr>
              <a:t></a:t>
            </a:r>
            <a:r>
              <a:rPr lang="en-US" dirty="0" smtClean="0"/>
              <a:t> (p </a:t>
            </a:r>
            <a:r>
              <a:rPr lang="en-US" dirty="0" smtClean="0">
                <a:sym typeface="Symbol"/>
              </a:rPr>
              <a:t> </a:t>
            </a:r>
            <a:r>
              <a:rPr lang="en-US" dirty="0" smtClean="0"/>
              <a:t>~q)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r		order of operations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          </a:t>
            </a:r>
            <a:r>
              <a:rPr lang="en-US" dirty="0" smtClean="0"/>
              <a:t>~(p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~q)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r		implication law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pt-BR" b="1" dirty="0" smtClean="0"/>
              <a:t>2. (p</a:t>
            </a:r>
            <a:r>
              <a:rPr lang="en-US" b="1" dirty="0" smtClean="0">
                <a:sym typeface="Symbol"/>
              </a:rPr>
              <a:t></a:t>
            </a:r>
            <a:r>
              <a:rPr lang="pt-BR" b="1" dirty="0" smtClean="0"/>
              <a:t>r)</a:t>
            </a:r>
            <a:r>
              <a:rPr lang="en-US" b="1" dirty="0" smtClean="0">
                <a:sym typeface="Symbol"/>
              </a:rPr>
              <a:t></a:t>
            </a:r>
            <a:r>
              <a:rPr lang="pt-BR" b="1" dirty="0" smtClean="0"/>
              <a:t>(q </a:t>
            </a:r>
            <a:r>
              <a:rPr lang="en-US" b="1" dirty="0" smtClean="0">
                <a:sym typeface="Symbol"/>
              </a:rPr>
              <a:t></a:t>
            </a:r>
            <a:r>
              <a:rPr lang="pt-BR" b="1" dirty="0" smtClean="0"/>
              <a:t>r)  	</a:t>
            </a:r>
            <a:r>
              <a:rPr lang="en-US" dirty="0"/>
              <a:t>p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q </a:t>
            </a:r>
            <a:r>
              <a:rPr lang="en-US" dirty="0">
                <a:sym typeface="Symbol"/>
              </a:rPr>
              <a:t></a:t>
            </a:r>
            <a:r>
              <a:rPr lang="en-US" dirty="0"/>
              <a:t> ~p </a:t>
            </a:r>
            <a:r>
              <a:rPr lang="en-US" dirty="0">
                <a:sym typeface="Symbol"/>
              </a:rPr>
              <a:t></a:t>
            </a:r>
            <a:r>
              <a:rPr lang="en-US" dirty="0"/>
              <a:t> q 					                   </a:t>
            </a:r>
            <a:r>
              <a:rPr lang="en-US" dirty="0">
                <a:sym typeface="Symbol"/>
              </a:rPr>
              <a:t></a:t>
            </a:r>
            <a:r>
              <a:rPr lang="en-US" dirty="0"/>
              <a:t> ~(p </a:t>
            </a:r>
            <a:r>
              <a:rPr lang="en-US" dirty="0">
                <a:sym typeface="Symbol"/>
              </a:rPr>
              <a:t></a:t>
            </a:r>
            <a:r>
              <a:rPr lang="en-US" dirty="0"/>
              <a:t> ~q</a:t>
            </a:r>
            <a:r>
              <a:rPr lang="en-US" dirty="0" smtClean="0"/>
              <a:t>)</a:t>
            </a:r>
            <a:endParaRPr lang="pt-BR" b="1" dirty="0" smtClean="0"/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pt-BR" dirty="0" smtClean="0"/>
              <a:t>	(p</a:t>
            </a:r>
            <a:r>
              <a:rPr lang="en-US" dirty="0" smtClean="0">
                <a:sym typeface="Symbol"/>
              </a:rPr>
              <a:t></a:t>
            </a:r>
            <a:r>
              <a:rPr lang="pt-BR" dirty="0" smtClean="0"/>
              <a:t>r)</a:t>
            </a:r>
            <a:r>
              <a:rPr lang="en-US" dirty="0" smtClean="0">
                <a:sym typeface="Symbol"/>
              </a:rPr>
              <a:t></a:t>
            </a:r>
            <a:r>
              <a:rPr lang="pt-BR" dirty="0" smtClean="0"/>
              <a:t>(q </a:t>
            </a:r>
            <a:r>
              <a:rPr lang="en-US" dirty="0" smtClean="0">
                <a:sym typeface="Symbol"/>
              </a:rPr>
              <a:t></a:t>
            </a:r>
            <a:r>
              <a:rPr lang="pt-BR" dirty="0" smtClean="0"/>
              <a:t>r) </a:t>
            </a:r>
            <a:r>
              <a:rPr lang="en-US" dirty="0" smtClean="0">
                <a:sym typeface="Symbol"/>
              </a:rPr>
              <a:t></a:t>
            </a:r>
            <a:r>
              <a:rPr lang="pt-BR" dirty="0" smtClean="0"/>
              <a:t> (~p </a:t>
            </a:r>
            <a:r>
              <a:rPr lang="en-US" dirty="0" smtClean="0">
                <a:sym typeface="Symbol"/>
              </a:rPr>
              <a:t></a:t>
            </a:r>
            <a:r>
              <a:rPr lang="pt-BR" dirty="0" smtClean="0"/>
              <a:t> r)</a:t>
            </a:r>
            <a:r>
              <a:rPr lang="en-US" dirty="0" smtClean="0">
                <a:sym typeface="Symbol"/>
              </a:rPr>
              <a:t></a:t>
            </a:r>
            <a:r>
              <a:rPr lang="pt-BR" dirty="0" smtClean="0"/>
              <a:t>(~q </a:t>
            </a:r>
            <a:r>
              <a:rPr lang="en-US" dirty="0" smtClean="0">
                <a:sym typeface="Symbol"/>
              </a:rPr>
              <a:t></a:t>
            </a:r>
            <a:r>
              <a:rPr lang="pt-BR" dirty="0" smtClean="0"/>
              <a:t> r)	implication law</a:t>
            </a:r>
          </a:p>
          <a:p>
            <a:pPr>
              <a:buNone/>
            </a:pPr>
            <a:r>
              <a:rPr lang="pt-BR" dirty="0" smtClean="0"/>
              <a:t>				</a:t>
            </a:r>
            <a:r>
              <a:rPr lang="en-US" dirty="0"/>
              <a:t>p </a:t>
            </a:r>
            <a:r>
              <a:rPr lang="en-US" dirty="0">
                <a:sym typeface="Symbol"/>
              </a:rPr>
              <a:t></a:t>
            </a:r>
            <a:r>
              <a:rPr lang="en-US" dirty="0"/>
              <a:t> q </a:t>
            </a:r>
            <a:r>
              <a:rPr lang="en-US" dirty="0">
                <a:sym typeface="Symbol"/>
              </a:rPr>
              <a:t></a:t>
            </a:r>
            <a:r>
              <a:rPr lang="en-US" dirty="0"/>
              <a:t> (p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q) </a:t>
            </a:r>
            <a:r>
              <a:rPr lang="en-US" dirty="0">
                <a:sym typeface="Symbol"/>
              </a:rPr>
              <a:t> </a:t>
            </a:r>
            <a:r>
              <a:rPr lang="en-US" dirty="0"/>
              <a:t>(q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p</a:t>
            </a:r>
            <a:r>
              <a:rPr lang="en-US" dirty="0" smtClean="0"/>
              <a:t>)</a:t>
            </a:r>
            <a:endParaRPr lang="pt-BR" dirty="0" smtClean="0"/>
          </a:p>
          <a:p>
            <a:pPr>
              <a:buNone/>
            </a:pPr>
            <a:r>
              <a:rPr lang="en-US" dirty="0" smtClean="0">
                <a:sym typeface="Symbol"/>
              </a:rPr>
              <a:t>	</a:t>
            </a:r>
            <a:r>
              <a:rPr lang="pt-BR" dirty="0" smtClean="0"/>
              <a:t> [(~p </a:t>
            </a:r>
            <a:r>
              <a:rPr lang="en-US" dirty="0" smtClean="0">
                <a:sym typeface="Symbol"/>
              </a:rPr>
              <a:t></a:t>
            </a:r>
            <a:r>
              <a:rPr lang="pt-BR" dirty="0" smtClean="0"/>
              <a:t> r) </a:t>
            </a:r>
            <a:r>
              <a:rPr lang="en-US" dirty="0" smtClean="0">
                <a:sym typeface="Symbol"/>
              </a:rPr>
              <a:t></a:t>
            </a:r>
            <a:r>
              <a:rPr lang="pt-BR" dirty="0" smtClean="0"/>
              <a:t>(~q </a:t>
            </a:r>
            <a:r>
              <a:rPr lang="en-US" dirty="0" smtClean="0">
                <a:sym typeface="Symbol"/>
              </a:rPr>
              <a:t></a:t>
            </a:r>
            <a:r>
              <a:rPr lang="pt-BR" dirty="0" smtClean="0"/>
              <a:t> r)] </a:t>
            </a:r>
            <a:r>
              <a:rPr lang="en-US" dirty="0" smtClean="0">
                <a:sym typeface="Symbol"/>
              </a:rPr>
              <a:t></a:t>
            </a:r>
            <a:r>
              <a:rPr lang="pt-BR" dirty="0" smtClean="0"/>
              <a:t> [(~q </a:t>
            </a:r>
            <a:r>
              <a:rPr lang="en-US" dirty="0" smtClean="0">
                <a:sym typeface="Symbol"/>
              </a:rPr>
              <a:t></a:t>
            </a:r>
            <a:r>
              <a:rPr lang="pt-BR" dirty="0" smtClean="0"/>
              <a:t> r) </a:t>
            </a:r>
            <a:r>
              <a:rPr lang="en-US" dirty="0" smtClean="0">
                <a:sym typeface="Symbol"/>
              </a:rPr>
              <a:t></a:t>
            </a:r>
            <a:r>
              <a:rPr lang="pt-BR" dirty="0" smtClean="0"/>
              <a:t>(~p </a:t>
            </a:r>
            <a:r>
              <a:rPr lang="en-US" dirty="0" smtClean="0">
                <a:sym typeface="Symbol"/>
              </a:rPr>
              <a:t></a:t>
            </a:r>
            <a:r>
              <a:rPr lang="pt-BR" dirty="0" smtClean="0"/>
              <a:t> r)]</a:t>
            </a:r>
          </a:p>
          <a:p>
            <a:pPr>
              <a:buNone/>
            </a:pPr>
            <a:r>
              <a:rPr lang="pt-BR" dirty="0" smtClean="0"/>
              <a:t>					equivalence of biconditional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en-US" dirty="0" smtClean="0">
                <a:sym typeface="Symbol"/>
              </a:rPr>
              <a:t>	</a:t>
            </a:r>
            <a:r>
              <a:rPr lang="pt-BR" dirty="0" smtClean="0"/>
              <a:t> [~(~p </a:t>
            </a:r>
            <a:r>
              <a:rPr lang="en-US" dirty="0" smtClean="0">
                <a:sym typeface="Symbol"/>
              </a:rPr>
              <a:t></a:t>
            </a:r>
            <a:r>
              <a:rPr lang="pt-BR" dirty="0" smtClean="0"/>
              <a:t> r) </a:t>
            </a:r>
            <a:r>
              <a:rPr lang="en-US" dirty="0" smtClean="0">
                <a:sym typeface="Symbol"/>
              </a:rPr>
              <a:t></a:t>
            </a:r>
            <a:r>
              <a:rPr lang="pt-BR" dirty="0" smtClean="0"/>
              <a:t> (~q </a:t>
            </a:r>
            <a:r>
              <a:rPr lang="en-US" dirty="0" smtClean="0">
                <a:sym typeface="Symbol"/>
              </a:rPr>
              <a:t></a:t>
            </a:r>
            <a:r>
              <a:rPr lang="pt-BR" dirty="0" smtClean="0"/>
              <a:t> r)] </a:t>
            </a:r>
            <a:r>
              <a:rPr lang="en-US" dirty="0" smtClean="0">
                <a:sym typeface="Symbol"/>
              </a:rPr>
              <a:t></a:t>
            </a:r>
            <a:r>
              <a:rPr lang="pt-BR" dirty="0" smtClean="0"/>
              <a:t> [~(~q </a:t>
            </a:r>
            <a:r>
              <a:rPr lang="en-US" dirty="0" smtClean="0">
                <a:sym typeface="Symbol"/>
              </a:rPr>
              <a:t></a:t>
            </a:r>
            <a:r>
              <a:rPr lang="pt-BR" dirty="0" smtClean="0"/>
              <a:t> r) </a:t>
            </a:r>
            <a:r>
              <a:rPr lang="en-US" dirty="0" smtClean="0">
                <a:sym typeface="Symbol"/>
              </a:rPr>
              <a:t></a:t>
            </a:r>
            <a:r>
              <a:rPr lang="pt-BR" dirty="0" smtClean="0"/>
              <a:t> (~p </a:t>
            </a:r>
            <a:r>
              <a:rPr lang="en-US" dirty="0" smtClean="0">
                <a:sym typeface="Symbol"/>
              </a:rPr>
              <a:t></a:t>
            </a:r>
            <a:r>
              <a:rPr lang="pt-BR" dirty="0" smtClean="0"/>
              <a:t> r)]</a:t>
            </a:r>
            <a:endParaRPr lang="en-US" dirty="0" smtClean="0"/>
          </a:p>
          <a:p>
            <a:pPr>
              <a:buNone/>
            </a:pPr>
            <a:r>
              <a:rPr lang="pt-BR" dirty="0" smtClean="0"/>
              <a:t>					implication law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57400"/>
            <a:ext cx="8229600" cy="1981200"/>
          </a:xfrm>
        </p:spPr>
        <p:txBody>
          <a:bodyPr>
            <a:normAutofit fontScale="90000"/>
          </a:bodyPr>
          <a:lstStyle/>
          <a:p>
            <a:r>
              <a:rPr lang="en-US" dirty="0"/>
              <a:t>Rewrite the statement form  </a:t>
            </a:r>
            <a:r>
              <a:rPr lang="en-US" b="1" dirty="0"/>
              <a:t>~p </a:t>
            </a:r>
            <a:r>
              <a:rPr lang="en-US" b="1" dirty="0">
                <a:sym typeface="Symbol"/>
              </a:rPr>
              <a:t></a:t>
            </a:r>
            <a:r>
              <a:rPr lang="en-US" b="1" dirty="0"/>
              <a:t> q </a:t>
            </a:r>
            <a:r>
              <a:rPr lang="en-US" b="1" dirty="0">
                <a:sym typeface="Symbol"/>
              </a:rPr>
              <a:t></a:t>
            </a:r>
            <a:r>
              <a:rPr lang="en-US" b="1" dirty="0"/>
              <a:t> r </a:t>
            </a:r>
            <a:r>
              <a:rPr lang="en-US" b="1" dirty="0">
                <a:sym typeface="Symbol"/>
              </a:rPr>
              <a:t></a:t>
            </a:r>
            <a:r>
              <a:rPr lang="en-US" b="1" dirty="0"/>
              <a:t> ~q</a:t>
            </a:r>
            <a:r>
              <a:rPr lang="en-US" dirty="0"/>
              <a:t> to a logically equivalent form that uses only </a:t>
            </a:r>
            <a:r>
              <a:rPr lang="en-US" b="1" dirty="0"/>
              <a:t>~</a:t>
            </a:r>
            <a:r>
              <a:rPr lang="en-US" dirty="0"/>
              <a:t> and </a:t>
            </a:r>
            <a:r>
              <a:rPr lang="en-US" b="1" dirty="0">
                <a:sym typeface="Symbol"/>
              </a:rPr>
              <a:t>.</a:t>
            </a:r>
            <a:br>
              <a:rPr lang="en-US" b="1" dirty="0">
                <a:sym typeface="Symbol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0668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Rewrite the statement form  </a:t>
            </a:r>
            <a:r>
              <a:rPr lang="en-US" b="1" dirty="0" smtClean="0"/>
              <a:t>~p </a:t>
            </a:r>
            <a:r>
              <a:rPr lang="en-US" b="1" dirty="0" smtClean="0">
                <a:sym typeface="Symbol"/>
              </a:rPr>
              <a:t></a:t>
            </a:r>
            <a:r>
              <a:rPr lang="en-US" b="1" dirty="0" smtClean="0"/>
              <a:t> q </a:t>
            </a:r>
            <a:r>
              <a:rPr lang="en-US" b="1" dirty="0" smtClean="0">
                <a:sym typeface="Symbol"/>
              </a:rPr>
              <a:t></a:t>
            </a:r>
            <a:r>
              <a:rPr lang="en-US" b="1" dirty="0" smtClean="0"/>
              <a:t> r </a:t>
            </a:r>
            <a:r>
              <a:rPr lang="en-US" b="1" dirty="0" smtClean="0">
                <a:sym typeface="Symbol"/>
              </a:rPr>
              <a:t></a:t>
            </a:r>
            <a:r>
              <a:rPr lang="en-US" b="1" dirty="0" smtClean="0"/>
              <a:t> ~q</a:t>
            </a:r>
            <a:r>
              <a:rPr lang="en-US" dirty="0" smtClean="0"/>
              <a:t> to a logically equivalent form that uses only </a:t>
            </a:r>
            <a:r>
              <a:rPr lang="en-US" b="1" dirty="0" smtClean="0"/>
              <a:t>~</a:t>
            </a:r>
            <a:r>
              <a:rPr lang="en-US" dirty="0" smtClean="0"/>
              <a:t> and </a:t>
            </a:r>
            <a:r>
              <a:rPr lang="en-US" b="1" dirty="0" smtClean="0">
                <a:sym typeface="Symbol"/>
              </a:rPr>
              <a:t>.</a:t>
            </a:r>
          </a:p>
          <a:p>
            <a:endParaRPr lang="en-US" b="1" dirty="0" smtClean="0">
              <a:sym typeface="Symbol"/>
            </a:endParaRPr>
          </a:p>
          <a:p>
            <a:r>
              <a:rPr lang="en-US" b="1" u="sng" dirty="0" smtClean="0"/>
              <a:t>SOLUTION</a:t>
            </a:r>
            <a:endParaRPr lang="en-US" dirty="0" smtClean="0"/>
          </a:p>
          <a:p>
            <a:r>
              <a:rPr lang="en-US" dirty="0" smtClean="0"/>
              <a:t>~p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q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r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~q 			Given statement form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</a:t>
            </a:r>
            <a:r>
              <a:rPr lang="en-US" dirty="0" smtClean="0"/>
              <a:t> (~p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q)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(r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~q)		Order of operations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</a:t>
            </a:r>
            <a:r>
              <a:rPr lang="en-US" dirty="0" smtClean="0"/>
              <a:t> ~[(~p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q)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~ (r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~q)]	Implication law  </a:t>
            </a:r>
          </a:p>
          <a:p>
            <a:pPr>
              <a:buNone/>
            </a:pPr>
            <a:r>
              <a:rPr lang="en-US" dirty="0" smtClean="0"/>
              <a:t>							p </a:t>
            </a:r>
            <a:r>
              <a:rPr lang="en-US" dirty="0" smtClean="0">
                <a:sym typeface="Symbol"/>
              </a:rPr>
              <a:t> </a:t>
            </a:r>
            <a:r>
              <a:rPr lang="en-US" dirty="0" smtClean="0"/>
              <a:t>q </a:t>
            </a:r>
            <a:r>
              <a:rPr lang="en-US" dirty="0" smtClean="0">
                <a:sym typeface="Symbol"/>
              </a:rPr>
              <a:t></a:t>
            </a:r>
            <a:r>
              <a:rPr lang="en-US" dirty="0" smtClean="0"/>
              <a:t> ~(p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~ q)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</a:t>
            </a:r>
            <a:r>
              <a:rPr lang="en-US" dirty="0" smtClean="0"/>
              <a:t> ~[~(p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~q)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(~r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q)] 	De Morgan’s law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		</a:t>
            </a:r>
            <a:r>
              <a:rPr lang="en-US" dirty="0"/>
              <a:t>~(p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</a:t>
            </a:r>
            <a:r>
              <a:rPr lang="en-US" dirty="0"/>
              <a:t>q</a:t>
            </a:r>
            <a:r>
              <a:rPr lang="en-US" dirty="0" smtClean="0"/>
              <a:t>)</a:t>
            </a:r>
            <a:r>
              <a:rPr lang="en-US" dirty="0">
                <a:sym typeface="Symbol"/>
              </a:rPr>
              <a:t> </a:t>
            </a:r>
            <a:r>
              <a:rPr lang="en-US" dirty="0" smtClean="0">
                <a:sym typeface="Symbol"/>
              </a:rPr>
              <a:t> </a:t>
            </a:r>
            <a:r>
              <a:rPr lang="en-US" dirty="0" smtClean="0"/>
              <a:t>~p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</a:t>
            </a:r>
            <a:r>
              <a:rPr lang="en-US" dirty="0"/>
              <a:t>~</a:t>
            </a:r>
            <a:r>
              <a:rPr lang="en-US" dirty="0" smtClean="0"/>
              <a:t>q</a:t>
            </a:r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Show that </a:t>
            </a:r>
            <a:r>
              <a:rPr lang="en-US" b="1" dirty="0" smtClean="0"/>
              <a:t>~(p </a:t>
            </a:r>
            <a:r>
              <a:rPr lang="en-US" b="1" dirty="0" smtClean="0">
                <a:sym typeface="Symbol"/>
              </a:rPr>
              <a:t> </a:t>
            </a:r>
            <a:r>
              <a:rPr lang="en-US" b="1" dirty="0" smtClean="0"/>
              <a:t>q) </a:t>
            </a:r>
            <a:r>
              <a:rPr lang="en-US" b="1" dirty="0" smtClean="0">
                <a:sym typeface="Symbol"/>
              </a:rPr>
              <a:t></a:t>
            </a:r>
            <a:r>
              <a:rPr lang="en-US" b="1" dirty="0" smtClean="0"/>
              <a:t> p</a:t>
            </a:r>
            <a:r>
              <a:rPr lang="en-US" dirty="0" smtClean="0"/>
              <a:t> is a tautology without using truth tables.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SOLUTION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ym typeface="Symbol"/>
              </a:rPr>
              <a:t>	 </a:t>
            </a:r>
            <a:r>
              <a:rPr lang="en-US" dirty="0" smtClean="0"/>
              <a:t>~(p </a:t>
            </a:r>
            <a:r>
              <a:rPr lang="en-US" dirty="0" smtClean="0">
                <a:sym typeface="Symbol"/>
              </a:rPr>
              <a:t> </a:t>
            </a:r>
            <a:r>
              <a:rPr lang="en-US" dirty="0" smtClean="0"/>
              <a:t>q)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p		Given statement form</a:t>
            </a:r>
          </a:p>
          <a:p>
            <a:pPr>
              <a:buNone/>
            </a:pPr>
            <a:r>
              <a:rPr lang="en-US" sz="2400" dirty="0" smtClean="0">
                <a:sym typeface="Symbol"/>
              </a:rPr>
              <a:t>	 </a:t>
            </a:r>
            <a:r>
              <a:rPr lang="en-US" sz="2400" dirty="0" smtClean="0"/>
              <a:t>~[~(p </a:t>
            </a:r>
            <a:r>
              <a:rPr lang="en-US" sz="2400" dirty="0" smtClean="0">
                <a:sym typeface="Symbol"/>
              </a:rPr>
              <a:t></a:t>
            </a:r>
            <a:r>
              <a:rPr lang="en-US" sz="2400" dirty="0" smtClean="0"/>
              <a:t> ~q)] </a:t>
            </a:r>
            <a:r>
              <a:rPr lang="en-US" sz="2400" dirty="0" smtClean="0">
                <a:sym typeface="Symbol"/>
              </a:rPr>
              <a:t></a:t>
            </a:r>
            <a:r>
              <a:rPr lang="en-US" sz="2400" dirty="0" smtClean="0"/>
              <a:t> p      	Implication law  p </a:t>
            </a:r>
            <a:r>
              <a:rPr lang="en-US" sz="2400" dirty="0" smtClean="0">
                <a:sym typeface="Symbol"/>
              </a:rPr>
              <a:t> </a:t>
            </a:r>
            <a:r>
              <a:rPr lang="en-US" sz="2400" dirty="0" smtClean="0"/>
              <a:t>q </a:t>
            </a:r>
            <a:r>
              <a:rPr lang="en-US" sz="2400" dirty="0" smtClean="0">
                <a:sym typeface="Symbol"/>
              </a:rPr>
              <a:t></a:t>
            </a:r>
            <a:r>
              <a:rPr lang="en-US" sz="2400" dirty="0" smtClean="0"/>
              <a:t> ~(p </a:t>
            </a:r>
            <a:r>
              <a:rPr lang="en-US" sz="2400" dirty="0" smtClean="0">
                <a:sym typeface="Symbol"/>
              </a:rPr>
              <a:t></a:t>
            </a:r>
            <a:r>
              <a:rPr lang="en-US" sz="2400" dirty="0" smtClean="0"/>
              <a:t> ~q)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 </a:t>
            </a:r>
            <a:r>
              <a:rPr lang="en-US" dirty="0" smtClean="0"/>
              <a:t>(p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~q)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p		Double negation law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 </a:t>
            </a:r>
            <a:r>
              <a:rPr lang="en-US" dirty="0" smtClean="0"/>
              <a:t>~(p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~q)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p		Implication law p </a:t>
            </a:r>
            <a:r>
              <a:rPr lang="en-US" dirty="0" smtClean="0">
                <a:sym typeface="Symbol"/>
              </a:rPr>
              <a:t> </a:t>
            </a:r>
            <a:r>
              <a:rPr lang="en-US" dirty="0" smtClean="0"/>
              <a:t>q </a:t>
            </a:r>
            <a:r>
              <a:rPr lang="en-US" dirty="0" smtClean="0">
                <a:sym typeface="Symbol"/>
              </a:rPr>
              <a:t></a:t>
            </a:r>
            <a:r>
              <a:rPr lang="en-US" dirty="0" smtClean="0"/>
              <a:t> ~p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q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 </a:t>
            </a:r>
            <a:r>
              <a:rPr lang="en-US" dirty="0" smtClean="0"/>
              <a:t>(~p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q)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p		 De Morgan’s law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 </a:t>
            </a:r>
            <a:r>
              <a:rPr lang="en-US" dirty="0" smtClean="0"/>
              <a:t>(q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~p)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p		Commutative law of 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 </a:t>
            </a:r>
            <a:r>
              <a:rPr lang="en-US" dirty="0" smtClean="0"/>
              <a:t>q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(~p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p)		Associative law of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 </a:t>
            </a:r>
            <a:r>
              <a:rPr lang="en-US" dirty="0" smtClean="0"/>
              <a:t>q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t			Negation law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 </a:t>
            </a:r>
            <a:r>
              <a:rPr lang="en-US" dirty="0" smtClean="0"/>
              <a:t>t				Universal bound law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1651</TotalTime>
  <Words>1239</Words>
  <Application>Microsoft Office PowerPoint</Application>
  <PresentationFormat>On-screen Show (4:3)</PresentationFormat>
  <Paragraphs>511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1" baseType="lpstr">
      <vt:lpstr>ＭＳ Ｐゴシック</vt:lpstr>
      <vt:lpstr>Arial</vt:lpstr>
      <vt:lpstr>Bell MT</vt:lpstr>
      <vt:lpstr>Bookman Old Style</vt:lpstr>
      <vt:lpstr>Calibri</vt:lpstr>
      <vt:lpstr>Gill Sans MT</vt:lpstr>
      <vt:lpstr>MS Mincho</vt:lpstr>
      <vt:lpstr>Symbol</vt:lpstr>
      <vt:lpstr>Times New Roman</vt:lpstr>
      <vt:lpstr>Wingdings</vt:lpstr>
      <vt:lpstr>Wingdings 3</vt:lpstr>
      <vt:lpstr>Origin</vt:lpstr>
      <vt:lpstr>DOUBLE IMPLICATION/BICONDITIONAL Lecture # 04  </vt:lpstr>
      <vt:lpstr>Truth table for EXCLUSIVE OR</vt:lpstr>
      <vt:lpstr>EXCLUSIVE OR</vt:lpstr>
      <vt:lpstr>Exclusive OR</vt:lpstr>
      <vt:lpstr>PowerPoint Presentation</vt:lpstr>
      <vt:lpstr>Symbols for EXCLUSIVE OR</vt:lpstr>
      <vt:lpstr>Examples of Implication</vt:lpstr>
      <vt:lpstr>Note:</vt:lpstr>
      <vt:lpstr>Examples:</vt:lpstr>
      <vt:lpstr>PowerPoint Presentation</vt:lpstr>
      <vt:lpstr>Bi-Conditional Connective</vt:lpstr>
      <vt:lpstr>TRUTH  TABLE FOR</vt:lpstr>
      <vt:lpstr>EXAMPLES:</vt:lpstr>
      <vt:lpstr>EXAMPLES:</vt:lpstr>
      <vt:lpstr>PowerPoint Presentation</vt:lpstr>
      <vt:lpstr>PowerPoint Presentation</vt:lpstr>
      <vt:lpstr>Construct a truth table for the statement form</vt:lpstr>
      <vt:lpstr>p  q  (p  q)  (q  p) </vt:lpstr>
      <vt:lpstr>REPHRASING BICONDITIONAL:</vt:lpstr>
      <vt:lpstr>REPHARASING ENGLISH SENTENCES IN BICONDITIONAL CONECTIVE.</vt:lpstr>
      <vt:lpstr>PowerPoint Presentation</vt:lpstr>
      <vt:lpstr>PowerPoint Presentation</vt:lpstr>
      <vt:lpstr>PowerPoint Presentation</vt:lpstr>
      <vt:lpstr>TRUTH TABLE FOR (p  q)  (~ q ~ p)</vt:lpstr>
      <vt:lpstr>TRUTH TABLE FOR               (p  q)  (r  q)</vt:lpstr>
      <vt:lpstr>(p  q)  (r  q)</vt:lpstr>
      <vt:lpstr>HIERARCY OF CONNECTIVES</vt:lpstr>
      <vt:lpstr>p  ~r  q  r</vt:lpstr>
      <vt:lpstr>p  ~r  q  r</vt:lpstr>
      <vt:lpstr>Show that ~p  q and p  ~q are logically equivalent</vt:lpstr>
      <vt:lpstr>Show that ~p  q and p  ~q are logically equivalent</vt:lpstr>
      <vt:lpstr> </vt:lpstr>
      <vt:lpstr>EXERCISE:</vt:lpstr>
      <vt:lpstr>Laws of Logic</vt:lpstr>
      <vt:lpstr>APPLICATION:</vt:lpstr>
      <vt:lpstr>PowerPoint Presentation</vt:lpstr>
      <vt:lpstr>Rewrite the statement form  ~p  q  r  ~q to a logically equivalent form that uses only ~ and . </vt:lpstr>
      <vt:lpstr>PowerPoint Presentation</vt:lpstr>
      <vt:lpstr>Show that ~(p  q)  p is a tautology without using truth tables.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Discrete Structures </dc:title>
  <dc:creator>C &amp; M</dc:creator>
  <cp:lastModifiedBy>Tehseen Fatima</cp:lastModifiedBy>
  <cp:revision>163</cp:revision>
  <dcterms:created xsi:type="dcterms:W3CDTF">2013-09-11T16:39:38Z</dcterms:created>
  <dcterms:modified xsi:type="dcterms:W3CDTF">2023-09-13T16:22:49Z</dcterms:modified>
</cp:coreProperties>
</file>
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1"/>
  </p:notesMasterIdLst>
  <p:sldIdLst>
    <p:sldId id="256" r:id="rId2"/>
    <p:sldId id="257" r:id="rId3"/>
    <p:sldId id="259" r:id="rId4"/>
    <p:sldId id="275" r:id="rId5"/>
    <p:sldId id="273" r:id="rId6"/>
    <p:sldId id="260" r:id="rId7"/>
    <p:sldId id="262" r:id="rId8"/>
    <p:sldId id="261" r:id="rId9"/>
    <p:sldId id="263" r:id="rId10"/>
    <p:sldId id="277" r:id="rId11"/>
    <p:sldId id="265" r:id="rId12"/>
    <p:sldId id="266" r:id="rId13"/>
    <p:sldId id="267" r:id="rId14"/>
    <p:sldId id="289" r:id="rId15"/>
    <p:sldId id="268" r:id="rId16"/>
    <p:sldId id="270" r:id="rId17"/>
    <p:sldId id="279" r:id="rId18"/>
    <p:sldId id="280" r:id="rId19"/>
    <p:sldId id="290" r:id="rId20"/>
    <p:sldId id="281" r:id="rId21"/>
    <p:sldId id="282" r:id="rId22"/>
    <p:sldId id="283" r:id="rId23"/>
    <p:sldId id="291" r:id="rId24"/>
    <p:sldId id="284" r:id="rId25"/>
    <p:sldId id="285" r:id="rId26"/>
    <p:sldId id="286" r:id="rId27"/>
    <p:sldId id="287" r:id="rId28"/>
    <p:sldId id="292" r:id="rId29"/>
    <p:sldId id="288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0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9/24/2023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11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12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RULES OF INFERENCE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rgbClr val="0070C0"/>
                </a:solidFill>
              </a:rPr>
              <a:t>Lecture # 07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458200" cy="9906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RULES OF INFERENCE &amp; PROPOSITIONAL LOGIC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always use a </a:t>
            </a:r>
            <a:r>
              <a:rPr lang="en-US" b="1" dirty="0" smtClean="0">
                <a:solidFill>
                  <a:srgbClr val="002060"/>
                </a:solidFill>
              </a:rPr>
              <a:t>truth table</a:t>
            </a:r>
            <a:r>
              <a:rPr lang="en-US" dirty="0" smtClean="0"/>
              <a:t> to show that an argument form is </a:t>
            </a:r>
            <a:r>
              <a:rPr lang="en-US" b="1" dirty="0" smtClean="0">
                <a:solidFill>
                  <a:srgbClr val="002060"/>
                </a:solidFill>
              </a:rPr>
              <a:t>valid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We do this by showing that whenever the </a:t>
            </a:r>
            <a:r>
              <a:rPr lang="en-US" b="1" dirty="0" smtClean="0">
                <a:solidFill>
                  <a:srgbClr val="002060"/>
                </a:solidFill>
              </a:rPr>
              <a:t>premises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002060"/>
                </a:solidFill>
              </a:rPr>
              <a:t>true</a:t>
            </a:r>
            <a:r>
              <a:rPr lang="en-US" dirty="0" smtClean="0"/>
              <a:t>, the </a:t>
            </a:r>
            <a:r>
              <a:rPr lang="en-US" b="1" dirty="0" smtClean="0">
                <a:solidFill>
                  <a:srgbClr val="002060"/>
                </a:solidFill>
              </a:rPr>
              <a:t>conclusion</a:t>
            </a:r>
            <a:r>
              <a:rPr lang="en-US" dirty="0" smtClean="0"/>
              <a:t> must also be </a:t>
            </a:r>
            <a:r>
              <a:rPr lang="en-US" b="1" dirty="0" smtClean="0">
                <a:solidFill>
                  <a:srgbClr val="002060"/>
                </a:solidFill>
              </a:rPr>
              <a:t>true</a:t>
            </a:r>
            <a:r>
              <a:rPr lang="en-US" dirty="0" smtClean="0"/>
              <a:t>. This can be a tedious approach. 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For Example:</a:t>
            </a:r>
          </a:p>
          <a:p>
            <a:pPr>
              <a:buNone/>
            </a:pPr>
            <a:r>
              <a:rPr lang="en-US" dirty="0" smtClean="0"/>
              <a:t>	When an argument form involves </a:t>
            </a:r>
            <a:r>
              <a:rPr lang="en-US" dirty="0" smtClean="0">
                <a:solidFill>
                  <a:srgbClr val="002060"/>
                </a:solidFill>
              </a:rPr>
              <a:t>10 different propositional variables</a:t>
            </a:r>
            <a:r>
              <a:rPr lang="en-US" dirty="0" smtClean="0"/>
              <a:t>, to use a truth table to show this argument form is valid requires </a:t>
            </a:r>
            <a:r>
              <a:rPr lang="en-US" dirty="0" smtClean="0">
                <a:solidFill>
                  <a:srgbClr val="002060"/>
                </a:solidFill>
              </a:rPr>
              <a:t>2</a:t>
            </a:r>
            <a:r>
              <a:rPr lang="en-US" dirty="0" smtClean="0">
                <a:solidFill>
                  <a:srgbClr val="002060"/>
                </a:solidFill>
                <a:latin typeface="Arial"/>
                <a:cs typeface="Arial"/>
              </a:rPr>
              <a:t>¹º = 1024</a:t>
            </a:r>
            <a:r>
              <a:rPr lang="en-US" dirty="0" smtClean="0">
                <a:latin typeface="Arial"/>
                <a:cs typeface="Arial"/>
              </a:rPr>
              <a:t> </a:t>
            </a:r>
            <a:r>
              <a:rPr lang="en-US" dirty="0" smtClean="0"/>
              <a:t>rows.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RULES OF INFERENCE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Inference rules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002060"/>
                </a:solidFill>
              </a:rPr>
              <a:t>templates</a:t>
            </a:r>
            <a:r>
              <a:rPr lang="en-US" dirty="0" smtClean="0"/>
              <a:t> for </a:t>
            </a:r>
            <a:r>
              <a:rPr lang="en-US" b="1" dirty="0" smtClean="0">
                <a:solidFill>
                  <a:srgbClr val="002060"/>
                </a:solidFill>
              </a:rPr>
              <a:t>valid arguments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These rules of inference can be used as </a:t>
            </a:r>
            <a:r>
              <a:rPr lang="en-US" b="1" dirty="0" smtClean="0">
                <a:solidFill>
                  <a:srgbClr val="002060"/>
                </a:solidFill>
              </a:rPr>
              <a:t>building blocks</a:t>
            </a:r>
            <a:r>
              <a:rPr lang="en-US" dirty="0" smtClean="0"/>
              <a:t> to construct more </a:t>
            </a:r>
            <a:r>
              <a:rPr lang="en-US" b="1" dirty="0" smtClean="0">
                <a:solidFill>
                  <a:srgbClr val="002060"/>
                </a:solidFill>
              </a:rPr>
              <a:t>complicated valid argument forms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There are different kind of rules of inference: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Modus Ponens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Modus </a:t>
            </a:r>
            <a:r>
              <a:rPr lang="en-US" dirty="0" err="1" smtClean="0">
                <a:solidFill>
                  <a:srgbClr val="002060"/>
                </a:solidFill>
              </a:rPr>
              <a:t>Tollens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Hypothetical Syllogism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Disjunctive Syllogism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Addition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Simplification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Conjunction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Resolution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Text Box 3"/>
          <p:cNvSpPr txBox="1">
            <a:spLocks noChangeArrowheads="1"/>
          </p:cNvSpPr>
          <p:nvPr/>
        </p:nvSpPr>
        <p:spPr bwMode="auto">
          <a:xfrm>
            <a:off x="0" y="0"/>
            <a:ext cx="4229100" cy="366713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Valid Arguments in Propositional Logic</a:t>
            </a: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7092950" y="476250"/>
          <a:ext cx="1304925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2" name="Equation" r:id="rId3" imgW="444240" imgH="711000" progId="Equation.3">
                  <p:embed/>
                </p:oleObj>
              </mc:Choice>
              <mc:Fallback>
                <p:oleObj name="Equation" r:id="rId3" imgW="444240" imgH="711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76250"/>
                        <a:ext cx="1304925" cy="208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50825" y="1557338"/>
            <a:ext cx="5832475" cy="415925"/>
            <a:chOff x="204" y="1071"/>
            <a:chExt cx="3674" cy="262"/>
          </a:xfrm>
        </p:grpSpPr>
        <p:graphicFrame>
          <p:nvGraphicFramePr>
            <p:cNvPr id="2053" name="Object 8"/>
            <p:cNvGraphicFramePr>
              <a:graphicFrameLocks noChangeAspect="1"/>
            </p:cNvGraphicFramePr>
            <p:nvPr/>
          </p:nvGraphicFramePr>
          <p:xfrm>
            <a:off x="204" y="1071"/>
            <a:ext cx="1542" cy="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83" name="Equation" r:id="rId5" imgW="1193760" imgH="203040" progId="Equation.3">
                    <p:embed/>
                  </p:oleObj>
                </mc:Choice>
                <mc:Fallback>
                  <p:oleObj name="Equation" r:id="rId5" imgW="1193760" imgH="20304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" y="1071"/>
                          <a:ext cx="1542" cy="262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9" name="Text Box 9"/>
            <p:cNvSpPr txBox="1">
              <a:spLocks noChangeArrowheads="1"/>
            </p:cNvSpPr>
            <p:nvPr/>
          </p:nvSpPr>
          <p:spPr bwMode="auto">
            <a:xfrm>
              <a:off x="1746" y="1071"/>
              <a:ext cx="2132" cy="231"/>
            </a:xfrm>
            <a:prstGeom prst="rect">
              <a:avLst/>
            </a:prstGeom>
            <a:solidFill>
              <a:srgbClr val="FFFF66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/>
                <a:t>  is a tautology (always true)</a:t>
              </a:r>
            </a:p>
          </p:txBody>
        </p:sp>
      </p:grpSp>
      <p:graphicFrame>
        <p:nvGraphicFramePr>
          <p:cNvPr id="5132" name="Object 12"/>
          <p:cNvGraphicFramePr>
            <a:graphicFrameLocks noChangeAspect="1"/>
          </p:cNvGraphicFramePr>
          <p:nvPr/>
        </p:nvGraphicFramePr>
        <p:xfrm>
          <a:off x="1657350" y="2852738"/>
          <a:ext cx="4535488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" name="Equation" r:id="rId7" imgW="3276360" imgH="1193760" progId="Equation.3">
                  <p:embed/>
                </p:oleObj>
              </mc:Choice>
              <mc:Fallback>
                <p:oleObj name="Equation" r:id="rId7" imgW="3276360" imgH="11937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7350" y="2852738"/>
                        <a:ext cx="4535488" cy="1652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2751138" y="5397500"/>
            <a:ext cx="38084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This is another way of saying that</a:t>
            </a:r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 flipH="1">
            <a:off x="6516688" y="2708275"/>
            <a:ext cx="1223962" cy="2376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cxnSp>
        <p:nvCxnSpPr>
          <p:cNvPr id="5135" name="AutoShape 15"/>
          <p:cNvCxnSpPr>
            <a:cxnSpLocks noChangeShapeType="1"/>
          </p:cNvCxnSpPr>
          <p:nvPr/>
        </p:nvCxnSpPr>
        <p:spPr bwMode="auto">
          <a:xfrm rot="5400000" flipH="1">
            <a:off x="107157" y="3069431"/>
            <a:ext cx="3384550" cy="1655763"/>
          </a:xfrm>
          <a:prstGeom prst="curvedConnector3">
            <a:avLst>
              <a:gd name="adj1" fmla="val 4315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graphicFrame>
        <p:nvGraphicFramePr>
          <p:cNvPr id="5136" name="Object 16"/>
          <p:cNvGraphicFramePr>
            <a:graphicFrameLocks noChangeAspect="1"/>
          </p:cNvGraphicFramePr>
          <p:nvPr/>
        </p:nvGraphicFramePr>
        <p:xfrm>
          <a:off x="7308850" y="6237288"/>
          <a:ext cx="16573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5" name="Equation" r:id="rId9" imgW="812520" imgH="203040" progId="Equation.3">
                  <p:embed/>
                </p:oleObj>
              </mc:Choice>
              <mc:Fallback>
                <p:oleObj name="Equation" r:id="rId9" imgW="81252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6237288"/>
                        <a:ext cx="16573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3" grpId="0"/>
      <p:bldP spid="513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0" y="0"/>
            <a:ext cx="4656138" cy="366713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Rules of Inference for Propositional Logic</a:t>
            </a:r>
          </a:p>
        </p:txBody>
      </p:sp>
      <p:graphicFrame>
        <p:nvGraphicFramePr>
          <p:cNvPr id="4098" name="Object 11"/>
          <p:cNvGraphicFramePr>
            <a:graphicFrameLocks noChangeAspect="1"/>
          </p:cNvGraphicFramePr>
          <p:nvPr/>
        </p:nvGraphicFramePr>
        <p:xfrm>
          <a:off x="1187450" y="1125538"/>
          <a:ext cx="13049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7" name="Equation" r:id="rId3" imgW="444240" imgH="711000" progId="Equation.3">
                  <p:embed/>
                </p:oleObj>
              </mc:Choice>
              <mc:Fallback>
                <p:oleObj name="Equation" r:id="rId3" imgW="444240" imgH="7110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125538"/>
                        <a:ext cx="13049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4062413" y="1916113"/>
            <a:ext cx="2322512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GB" b="1" i="1"/>
              <a:t>modus ponens</a:t>
            </a:r>
          </a:p>
          <a:p>
            <a:pPr algn="ctr"/>
            <a:r>
              <a:rPr lang="en-GB"/>
              <a:t>aka</a:t>
            </a:r>
          </a:p>
          <a:p>
            <a:pPr algn="ctr"/>
            <a:r>
              <a:rPr lang="en-GB"/>
              <a:t> </a:t>
            </a:r>
            <a:r>
              <a:rPr lang="en-GB" b="1" i="1"/>
              <a:t>law of detachment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1331913" y="4868863"/>
            <a:ext cx="6203950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b="1" i="1"/>
              <a:t>modus ponens</a:t>
            </a:r>
            <a:r>
              <a:rPr lang="en-GB"/>
              <a:t> (Latin) translates to “</a:t>
            </a:r>
            <a:r>
              <a:rPr lang="en-GB" b="1" i="1"/>
              <a:t>mode that affirms</a:t>
            </a:r>
            <a:r>
              <a:rPr lang="en-GB"/>
              <a:t>”</a:t>
            </a:r>
          </a:p>
        </p:txBody>
      </p:sp>
      <p:sp>
        <p:nvSpPr>
          <p:cNvPr id="4102" name="Text Box 14"/>
          <p:cNvSpPr txBox="1">
            <a:spLocks noChangeArrowheads="1"/>
          </p:cNvSpPr>
          <p:nvPr/>
        </p:nvSpPr>
        <p:spPr bwMode="auto">
          <a:xfrm>
            <a:off x="7824788" y="0"/>
            <a:ext cx="13192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The 1</a:t>
            </a:r>
            <a:r>
              <a:rPr lang="en-GB" baseline="30000"/>
              <a:t>st</a:t>
            </a:r>
            <a:r>
              <a:rPr lang="en-GB"/>
              <a:t> law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8" grpId="0" animBg="1"/>
      <p:bldP spid="92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MODUS PONENS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			 p</a:t>
            </a:r>
          </a:p>
          <a:p>
            <a:pPr>
              <a:buNone/>
            </a:pPr>
            <a:r>
              <a:rPr lang="en-US" dirty="0" smtClean="0"/>
              <a:t>				 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				     q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Alternatively, ((p ∧ (p → q))→q) is </a:t>
            </a:r>
            <a:r>
              <a:rPr lang="en-US" b="1" dirty="0" smtClean="0">
                <a:solidFill>
                  <a:srgbClr val="002060"/>
                </a:solidFill>
              </a:rPr>
              <a:t>Tautology.</a:t>
            </a:r>
            <a:r>
              <a:rPr lang="en-US" dirty="0" smtClean="0"/>
              <a:t>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Modus Ponens tells us that is a </a:t>
            </a:r>
            <a:r>
              <a:rPr lang="en-US" b="1" dirty="0" smtClean="0">
                <a:solidFill>
                  <a:srgbClr val="002060"/>
                </a:solidFill>
              </a:rPr>
              <a:t>conditional statement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002060"/>
                </a:solidFill>
              </a:rPr>
              <a:t>hypothesis</a:t>
            </a:r>
            <a:r>
              <a:rPr lang="en-US" dirty="0" smtClean="0"/>
              <a:t> of this </a:t>
            </a:r>
            <a:r>
              <a:rPr lang="en-US" b="1" dirty="0" smtClean="0">
                <a:solidFill>
                  <a:srgbClr val="002060"/>
                </a:solidFill>
              </a:rPr>
              <a:t>conditional statement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rgbClr val="002060"/>
                </a:solidFill>
              </a:rPr>
              <a:t>both true</a:t>
            </a:r>
            <a:r>
              <a:rPr lang="en-US" dirty="0" smtClean="0"/>
              <a:t>, then the </a:t>
            </a:r>
            <a:r>
              <a:rPr lang="en-US" b="1" dirty="0" smtClean="0">
                <a:solidFill>
                  <a:srgbClr val="002060"/>
                </a:solidFill>
              </a:rPr>
              <a:t>conclusion</a:t>
            </a:r>
            <a:r>
              <a:rPr lang="en-US" dirty="0" smtClean="0"/>
              <a:t> must also be </a:t>
            </a:r>
            <a:r>
              <a:rPr lang="en-US" b="1" dirty="0" smtClean="0">
                <a:solidFill>
                  <a:srgbClr val="002060"/>
                </a:solidFill>
              </a:rPr>
              <a:t>true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276600" y="2209800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200400" y="2239296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239296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2578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If you have a current password, then you can log on to the network.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You have the password.</a:t>
            </a:r>
          </a:p>
          <a:p>
            <a:pPr>
              <a:buNone/>
            </a:pPr>
            <a:r>
              <a:rPr lang="en-US" dirty="0" smtClean="0"/>
              <a:t>	Therefore,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You can log on to the network.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b="1" dirty="0" smtClean="0">
                <a:solidFill>
                  <a:srgbClr val="002060"/>
                </a:solidFill>
              </a:rPr>
              <a:t>	</a:t>
            </a:r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you have a current password.</a:t>
            </a:r>
          </a:p>
          <a:p>
            <a:pPr>
              <a:buNone/>
            </a:pPr>
            <a:r>
              <a:rPr lang="en-US" dirty="0" smtClean="0"/>
              <a:t>			    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you can log on to the network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				 p </a:t>
            </a:r>
            <a:r>
              <a:rPr lang="en-US" dirty="0" smtClean="0">
                <a:sym typeface="Symbol"/>
              </a:rPr>
              <a:t> </a:t>
            </a:r>
            <a:r>
              <a:rPr lang="en-US" dirty="0" smtClean="0"/>
              <a:t>q</a:t>
            </a:r>
          </a:p>
          <a:p>
            <a:pPr>
              <a:buNone/>
            </a:pPr>
            <a:r>
              <a:rPr lang="en-US" dirty="0" smtClean="0"/>
              <a:t>				   p</a:t>
            </a:r>
          </a:p>
          <a:p>
            <a:pPr>
              <a:buNone/>
            </a:pPr>
            <a:r>
              <a:rPr lang="en-US" dirty="0" smtClean="0"/>
              <a:t>			                  q  						(this form of argument is called </a:t>
            </a:r>
            <a:r>
              <a:rPr lang="en-US" b="1" dirty="0" smtClean="0">
                <a:solidFill>
                  <a:srgbClr val="C00000"/>
                </a:solidFill>
              </a:rPr>
              <a:t>modus ponens</a:t>
            </a:r>
            <a:r>
              <a:rPr lang="en-US" dirty="0" smtClean="0"/>
              <a:t>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32356" y="5764164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303636" y="576416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636" y="576416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MODUS TOLLENS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800" dirty="0" smtClean="0"/>
              <a:t>					~ q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sz="2400" dirty="0" smtClean="0"/>
              <a:t>					p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q</a:t>
            </a:r>
          </a:p>
          <a:p>
            <a:pPr>
              <a:buNone/>
            </a:pPr>
            <a:r>
              <a:rPr lang="en-US" dirty="0" smtClean="0"/>
              <a:t>					  </a:t>
            </a:r>
            <a:r>
              <a:rPr lang="en-US" sz="2400" dirty="0" smtClean="0"/>
              <a:t>~ p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dirty="0" smtClean="0"/>
              <a:t>	Alternatively, ((</a:t>
            </a:r>
            <a:r>
              <a:rPr lang="en-US" sz="2400" dirty="0" smtClean="0"/>
              <a:t>~ q</a:t>
            </a:r>
            <a:r>
              <a:rPr lang="en-US" dirty="0" smtClean="0"/>
              <a:t> ∧ (p → q))→ </a:t>
            </a:r>
            <a:r>
              <a:rPr lang="en-US" sz="2400" dirty="0" smtClean="0"/>
              <a:t>~ p</a:t>
            </a:r>
            <a:r>
              <a:rPr lang="en-US" dirty="0" smtClean="0"/>
              <a:t>) is </a:t>
            </a:r>
            <a:r>
              <a:rPr lang="en-US" b="1" dirty="0" smtClean="0">
                <a:solidFill>
                  <a:srgbClr val="002060"/>
                </a:solidFill>
              </a:rPr>
              <a:t>Tautology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Modus </a:t>
            </a:r>
            <a:r>
              <a:rPr lang="en-US" dirty="0" err="1" smtClean="0"/>
              <a:t>Tollens</a:t>
            </a:r>
            <a:r>
              <a:rPr lang="en-US" dirty="0" smtClean="0"/>
              <a:t> tells us that a </a:t>
            </a:r>
            <a:r>
              <a:rPr lang="en-US" dirty="0" smtClean="0">
                <a:solidFill>
                  <a:srgbClr val="002060"/>
                </a:solidFill>
              </a:rPr>
              <a:t>conditional statement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002060"/>
                </a:solidFill>
              </a:rPr>
              <a:t>true</a:t>
            </a:r>
            <a:r>
              <a:rPr lang="en-US" dirty="0" smtClean="0"/>
              <a:t>,  </a:t>
            </a:r>
            <a:r>
              <a:rPr lang="en-US" dirty="0" smtClean="0">
                <a:solidFill>
                  <a:srgbClr val="002060"/>
                </a:solidFill>
              </a:rPr>
              <a:t>conclusion</a:t>
            </a:r>
            <a:r>
              <a:rPr lang="en-US" dirty="0" smtClean="0"/>
              <a:t> of this </a:t>
            </a:r>
            <a:r>
              <a:rPr lang="en-US" dirty="0" smtClean="0">
                <a:solidFill>
                  <a:srgbClr val="002060"/>
                </a:solidFill>
              </a:rPr>
              <a:t>conditional statement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002060"/>
                </a:solidFill>
              </a:rPr>
              <a:t>false</a:t>
            </a:r>
            <a:r>
              <a:rPr lang="en-US" dirty="0" smtClean="0"/>
              <a:t>, then the</a:t>
            </a:r>
            <a:r>
              <a:rPr lang="en-US" dirty="0" smtClean="0">
                <a:solidFill>
                  <a:srgbClr val="002060"/>
                </a:solidFill>
              </a:rPr>
              <a:t> hypothesis</a:t>
            </a:r>
            <a:r>
              <a:rPr lang="en-US" dirty="0" smtClean="0"/>
              <a:t> will also be </a:t>
            </a:r>
            <a:r>
              <a:rPr lang="en-US" dirty="0" smtClean="0">
                <a:solidFill>
                  <a:srgbClr val="002060"/>
                </a:solidFill>
              </a:rPr>
              <a:t>false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4038600" y="2209800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962400" y="2239296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39296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You can’t log on to the network.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If you have a current password, then you can log on to the network.</a:t>
            </a:r>
          </a:p>
          <a:p>
            <a:pPr>
              <a:buNone/>
            </a:pPr>
            <a:r>
              <a:rPr lang="en-US" dirty="0" smtClean="0"/>
              <a:t>	Therefore,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You don't have a current password.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Solution:</a:t>
            </a:r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you have a current password.</a:t>
            </a:r>
          </a:p>
          <a:p>
            <a:pPr>
              <a:buNone/>
            </a:pPr>
            <a:r>
              <a:rPr lang="en-US" dirty="0" smtClean="0"/>
              <a:t>			    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you can log on to the network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2400" dirty="0" smtClean="0"/>
              <a:t> ~ 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2400" dirty="0" smtClean="0"/>
              <a:t> p </a:t>
            </a:r>
            <a:r>
              <a:rPr lang="en-US" sz="2400" dirty="0" smtClean="0">
                <a:sym typeface="Symbol"/>
              </a:rPr>
              <a:t></a:t>
            </a:r>
            <a:r>
              <a:rPr lang="en-US" sz="2400" dirty="0" smtClean="0"/>
              <a:t> q</a:t>
            </a:r>
          </a:p>
          <a:p>
            <a:pPr>
              <a:buNone/>
            </a:pPr>
            <a:r>
              <a:rPr lang="en-US" sz="2800" dirty="0" smtClean="0"/>
              <a:t>				    </a:t>
            </a:r>
            <a:r>
              <a:rPr lang="en-US" sz="2400" dirty="0" smtClean="0"/>
              <a:t>~ p 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00400" y="5960808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271680" y="596080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7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680" y="5960808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Text Box 4"/>
          <p:cNvSpPr txBox="1">
            <a:spLocks noChangeArrowheads="1"/>
          </p:cNvSpPr>
          <p:nvPr/>
        </p:nvSpPr>
        <p:spPr bwMode="auto">
          <a:xfrm>
            <a:off x="0" y="0"/>
            <a:ext cx="2586038" cy="366713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The rules of inference</a:t>
            </a:r>
          </a:p>
        </p:txBody>
      </p:sp>
      <p:graphicFrame>
        <p:nvGraphicFramePr>
          <p:cNvPr id="8194" name="Object 7"/>
          <p:cNvGraphicFramePr>
            <a:graphicFrameLocks noChangeAspect="1"/>
          </p:cNvGraphicFramePr>
          <p:nvPr/>
        </p:nvGraphicFramePr>
        <p:xfrm>
          <a:off x="1603375" y="375317"/>
          <a:ext cx="6116638" cy="645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5" name="Equation" r:id="rId3" imgW="4838400" imgH="5105160" progId="Equation.3">
                  <p:embed/>
                </p:oleObj>
              </mc:Choice>
              <mc:Fallback>
                <p:oleObj name="Equation" r:id="rId3" imgW="4838400" imgH="51051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375317"/>
                        <a:ext cx="6116638" cy="6453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2060"/>
                </a:solidFill>
              </a:rPr>
              <a:t>Exercise: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dirty="0" smtClean="0"/>
              <a:t>State which </a:t>
            </a:r>
            <a:r>
              <a:rPr lang="en-US" b="1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is the basis of the following argument: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“It is below freezing now. Therefore, It is either below freezing or raining now.”</a:t>
            </a:r>
          </a:p>
          <a:p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below freezing.</a:t>
            </a:r>
          </a:p>
          <a:p>
            <a:pPr>
              <a:buNone/>
            </a:pPr>
            <a:r>
              <a:rPr lang="en-US" dirty="0" smtClean="0"/>
              <a:t>			     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raining now.</a:t>
            </a:r>
          </a:p>
          <a:p>
            <a:pPr>
              <a:buNone/>
            </a:pPr>
            <a:r>
              <a:rPr lang="en-US" dirty="0" smtClean="0"/>
              <a:t>	Symbolically,</a:t>
            </a:r>
          </a:p>
          <a:p>
            <a:pPr>
              <a:buNone/>
            </a:pPr>
            <a:r>
              <a:rPr lang="en-US" dirty="0" smtClean="0"/>
              <a:t>				p</a:t>
            </a:r>
          </a:p>
          <a:p>
            <a:pPr>
              <a:buNone/>
            </a:pPr>
            <a:r>
              <a:rPr lang="en-US" dirty="0" smtClean="0"/>
              <a:t>				   p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q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This is an argument that uses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Addition rule of inference</a:t>
            </a:r>
            <a:r>
              <a:rPr lang="en-US" dirty="0" smtClean="0">
                <a:sym typeface="Symbol"/>
              </a:rPr>
              <a:t>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22516" y="5408612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138948" y="541266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8948" y="541266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2060"/>
                </a:solidFill>
              </a:rPr>
              <a:t>Exercise: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State which </a:t>
            </a:r>
            <a:r>
              <a:rPr lang="en-US" b="1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is the basis of the following argument: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“It is below freezing and raining now. Therefore, it is below freezing now.”</a:t>
            </a:r>
          </a:p>
          <a:p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	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below freezing.</a:t>
            </a:r>
          </a:p>
          <a:p>
            <a:pPr>
              <a:buNone/>
            </a:pPr>
            <a:r>
              <a:rPr lang="en-US" dirty="0" smtClean="0"/>
              <a:t>			     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raining now.</a:t>
            </a:r>
          </a:p>
          <a:p>
            <a:pPr>
              <a:buNone/>
            </a:pPr>
            <a:r>
              <a:rPr lang="en-US" dirty="0" smtClean="0"/>
              <a:t>	Symbolically,</a:t>
            </a:r>
          </a:p>
          <a:p>
            <a:pPr>
              <a:buNone/>
            </a:pPr>
            <a:r>
              <a:rPr lang="en-US" dirty="0" smtClean="0"/>
              <a:t>				 p ∧</a:t>
            </a:r>
            <a:r>
              <a:rPr lang="en-US" b="1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                                 p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This argument uses </a:t>
            </a:r>
            <a:r>
              <a:rPr lang="en-US" dirty="0" smtClean="0">
                <a:solidFill>
                  <a:srgbClr val="C00000"/>
                </a:solidFill>
              </a:rPr>
              <a:t>simplification rule of inference.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76600" y="4756356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3411792" y="4771104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1792" y="4771104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2060"/>
                </a:solidFill>
              </a:rPr>
              <a:t>Exercise: 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State which </a:t>
            </a:r>
            <a:r>
              <a:rPr lang="en-US" b="1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is the basis of the following argument: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“If it rains today, then we will not have a barbecue today. If we do not have a barbecue today, then we will have a barbecue tomorrow. Therefore, if it rains today, then we will have a barbecue tomorrow.”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2060"/>
                </a:solidFill>
              </a:rPr>
              <a:t>Exercise: 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State which </a:t>
            </a:r>
            <a:r>
              <a:rPr lang="en-US" b="1" dirty="0" smtClean="0">
                <a:solidFill>
                  <a:srgbClr val="C00000"/>
                </a:solidFill>
              </a:rPr>
              <a:t>rule of inference</a:t>
            </a:r>
            <a:r>
              <a:rPr lang="en-US" dirty="0" smtClean="0"/>
              <a:t> is the basis of the following argument:</a:t>
            </a:r>
          </a:p>
          <a:p>
            <a:r>
              <a:rPr lang="en-US" dirty="0" smtClean="0">
                <a:solidFill>
                  <a:srgbClr val="C00000"/>
                </a:solidFill>
              </a:rPr>
              <a:t>“If it rains today, then we will not have a barbecue today. If we do not have a barbecue today, then we will have a barbecue tomorrow. Therefore, if it rains today, then we will have a barbecue tomorrow.”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	Let 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If it rains today.</a:t>
            </a:r>
          </a:p>
          <a:p>
            <a:pPr>
              <a:buNone/>
            </a:pPr>
            <a:r>
              <a:rPr lang="en-US" dirty="0" smtClean="0"/>
              <a:t>		      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we will not have a barbecue today.</a:t>
            </a:r>
          </a:p>
          <a:p>
            <a:pPr>
              <a:buNone/>
            </a:pPr>
            <a:r>
              <a:rPr lang="en-US" dirty="0" smtClean="0"/>
              <a:t>		     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we will have a barbecue tomorrow.</a:t>
            </a: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08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Symbolically,</a:t>
            </a:r>
          </a:p>
          <a:p>
            <a:pPr>
              <a:buNone/>
            </a:pPr>
            <a:r>
              <a:rPr lang="en-US" dirty="0" smtClean="0"/>
              <a:t>				 p → q</a:t>
            </a:r>
          </a:p>
          <a:p>
            <a:pPr>
              <a:buNone/>
            </a:pPr>
            <a:r>
              <a:rPr lang="en-US" dirty="0" smtClean="0"/>
              <a:t>				 q → r</a:t>
            </a:r>
          </a:p>
          <a:p>
            <a:pPr>
              <a:buNone/>
            </a:pPr>
            <a:r>
              <a:rPr lang="en-US" dirty="0" smtClean="0"/>
              <a:t>				  p → 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Hence, the argument is </a:t>
            </a:r>
            <a:r>
              <a:rPr lang="en-US" b="1" dirty="0" smtClean="0">
                <a:solidFill>
                  <a:srgbClr val="C00000"/>
                </a:solidFill>
              </a:rPr>
              <a:t>hypothetical syllogism.</a:t>
            </a:r>
          </a:p>
          <a:p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76600" y="2667000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016044" y="2755488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044" y="2755488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1763713" y="1700213"/>
            <a:ext cx="4625975" cy="9255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If you listen you will hear what I’m saying</a:t>
            </a:r>
          </a:p>
          <a:p>
            <a:r>
              <a:rPr lang="en-GB"/>
              <a:t>You are listening</a:t>
            </a:r>
          </a:p>
          <a:p>
            <a:r>
              <a:rPr lang="en-GB"/>
              <a:t>Therefore, you hear what I am saying</a:t>
            </a: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0" y="0"/>
            <a:ext cx="4229100" cy="366713"/>
          </a:xfrm>
          <a:prstGeom prst="rect">
            <a:avLst/>
          </a:prstGeom>
          <a:solidFill>
            <a:srgbClr val="FFFF66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Valid Arguments in Propositional Logic</a:t>
            </a:r>
          </a:p>
        </p:txBody>
      </p:sp>
      <p:sp>
        <p:nvSpPr>
          <p:cNvPr id="1029" name="Text Box 6"/>
          <p:cNvSpPr txBox="1">
            <a:spLocks noChangeArrowheads="1"/>
          </p:cNvSpPr>
          <p:nvPr/>
        </p:nvSpPr>
        <p:spPr bwMode="auto">
          <a:xfrm>
            <a:off x="879475" y="573088"/>
            <a:ext cx="28305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Is this a valid argument?</a:t>
            </a:r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1403350" y="3068638"/>
            <a:ext cx="6484938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Let p represent the statement “you listen” </a:t>
            </a:r>
          </a:p>
          <a:p>
            <a:r>
              <a:rPr lang="en-GB"/>
              <a:t>Let q represent the statement “you hear what I am saying”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1187450" y="5373688"/>
            <a:ext cx="318452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The argument has the form:</a:t>
            </a:r>
          </a:p>
        </p:txBody>
      </p:sp>
      <p:graphicFrame>
        <p:nvGraphicFramePr>
          <p:cNvPr id="4106" name="Object 10"/>
          <p:cNvGraphicFramePr>
            <a:graphicFrameLocks noChangeAspect="1"/>
          </p:cNvGraphicFramePr>
          <p:nvPr/>
        </p:nvGraphicFramePr>
        <p:xfrm>
          <a:off x="5795963" y="4437063"/>
          <a:ext cx="1304925" cy="208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9" name="Equation" r:id="rId3" imgW="444240" imgH="711000" progId="Equation.3">
                  <p:embed/>
                </p:oleObj>
              </mc:Choice>
              <mc:Fallback>
                <p:oleObj name="Equation" r:id="rId3" imgW="444240" imgH="711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4437063"/>
                        <a:ext cx="1304925" cy="208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  <p:bldP spid="4103" grpId="0" animBg="1"/>
      <p:bldP spid="410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USING RULES OF INFERENCE TO BUILD ARGUMENTS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When there are </a:t>
            </a:r>
            <a:r>
              <a:rPr lang="en-US" dirty="0" smtClean="0">
                <a:solidFill>
                  <a:srgbClr val="C00000"/>
                </a:solidFill>
              </a:rPr>
              <a:t>many premises</a:t>
            </a:r>
            <a:r>
              <a:rPr lang="en-US" dirty="0" smtClean="0"/>
              <a:t>, several </a:t>
            </a:r>
            <a:r>
              <a:rPr lang="en-US" dirty="0" smtClean="0">
                <a:solidFill>
                  <a:srgbClr val="C00000"/>
                </a:solidFill>
              </a:rPr>
              <a:t>rules of inference</a:t>
            </a:r>
            <a:r>
              <a:rPr lang="en-US" dirty="0" smtClean="0"/>
              <a:t> are often needed to show that an </a:t>
            </a:r>
            <a:r>
              <a:rPr lang="en-US" dirty="0" smtClean="0">
                <a:solidFill>
                  <a:srgbClr val="C00000"/>
                </a:solidFill>
              </a:rPr>
              <a:t>argument is valid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 smtClean="0">
                <a:solidFill>
                  <a:srgbClr val="C00000"/>
                </a:solidFill>
              </a:rPr>
              <a:t>translate the statement</a:t>
            </a:r>
            <a:r>
              <a:rPr lang="en-US" dirty="0" smtClean="0"/>
              <a:t> into argument form using </a:t>
            </a:r>
            <a:r>
              <a:rPr lang="en-US" dirty="0" smtClean="0">
                <a:solidFill>
                  <a:srgbClr val="C00000"/>
                </a:solidFill>
              </a:rPr>
              <a:t>propositional variables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You then want to get from </a:t>
            </a:r>
            <a:r>
              <a:rPr lang="en-US" dirty="0" smtClean="0">
                <a:solidFill>
                  <a:srgbClr val="C00000"/>
                </a:solidFill>
              </a:rPr>
              <a:t>premises/hypothesis</a:t>
            </a:r>
            <a:r>
              <a:rPr lang="en-US" dirty="0" smtClean="0"/>
              <a:t>(A) to the </a:t>
            </a:r>
            <a:r>
              <a:rPr lang="en-US" dirty="0" smtClean="0">
                <a:solidFill>
                  <a:srgbClr val="C00000"/>
                </a:solidFill>
              </a:rPr>
              <a:t>conclusion</a:t>
            </a:r>
            <a:r>
              <a:rPr lang="en-US" dirty="0" smtClean="0"/>
              <a:t> (B) using </a:t>
            </a:r>
            <a:r>
              <a:rPr lang="en-US" dirty="0" smtClean="0">
                <a:solidFill>
                  <a:srgbClr val="C00000"/>
                </a:solidFill>
              </a:rPr>
              <a:t>rules of inference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“It is not sunny this afternoon and it is colder then yesterday.” “We will go swimming only if it is sunny.” “If we do not go to swimming”, “then we will take a canoe trip,” and “if we take a canoe trip, then we will be home by sunset</a:t>
            </a:r>
            <a:r>
              <a:rPr lang="en-US" dirty="0" smtClean="0">
                <a:solidFill>
                  <a:srgbClr val="FF0000"/>
                </a:solidFill>
              </a:rPr>
              <a:t>” lead to the conclusion “we will be home by sunset.”</a:t>
            </a:r>
          </a:p>
          <a:p>
            <a:endParaRPr lang="en-US" dirty="0" smtClean="0"/>
          </a:p>
          <a:p>
            <a:r>
              <a:rPr lang="en-US" sz="3500" b="1" u="sng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endParaRPr lang="en-US" sz="3500" b="1" u="sng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/>
              <a:t>		</a:t>
            </a:r>
            <a:endParaRPr lang="en-US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“It is not sunny this afternoon and it is colder then yesterday.” “We will go swimming only if it is sunny.” “If we do not go to swimming”, “then we will take a canoe trip,” and “if we take a canoe trip, then we will be home by sunset</a:t>
            </a:r>
            <a:r>
              <a:rPr lang="en-US" dirty="0" smtClean="0">
                <a:solidFill>
                  <a:srgbClr val="FF0000"/>
                </a:solidFill>
              </a:rPr>
              <a:t>” lead to the conclusion “we will be home by sunset.”</a:t>
            </a:r>
          </a:p>
          <a:p>
            <a:endParaRPr lang="en-US" dirty="0" smtClean="0"/>
          </a:p>
          <a:p>
            <a:r>
              <a:rPr lang="en-US" sz="3500" b="1" u="sng" dirty="0" smtClean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Solution:</a:t>
            </a:r>
          </a:p>
          <a:p>
            <a:pPr>
              <a:buNone/>
            </a:pPr>
            <a:endParaRPr lang="en-US" sz="3500" b="1" u="sng" dirty="0" smtClean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/>
              <a:t>		Let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sunny this afternoon.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It is colder then yesterday.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We will go to swimming.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We will take a canoe trip.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t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2060"/>
                </a:solidFill>
              </a:rPr>
              <a:t>We will be home by sunset.</a:t>
            </a:r>
          </a:p>
        </p:txBody>
      </p:sp>
    </p:spTree>
    <p:extLst>
      <p:ext uri="{BB962C8B-B14F-4D97-AF65-F5344CB8AC3E}">
        <p14:creationId xmlns:p14="http://schemas.microsoft.com/office/powerpoint/2010/main" val="1425571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Symbolically,</a:t>
            </a:r>
          </a:p>
          <a:p>
            <a:pPr>
              <a:buNone/>
            </a:pPr>
            <a:r>
              <a:rPr lang="en-US" dirty="0" smtClean="0"/>
              <a:t>				</a:t>
            </a:r>
            <a:endParaRPr lang="en-US" dirty="0"/>
          </a:p>
        </p:txBody>
      </p:sp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3340100" y="2119313"/>
          <a:ext cx="1620838" cy="237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7" name="Equation" r:id="rId3" imgW="761760" imgH="1117440" progId="Equation.3">
                  <p:embed/>
                </p:oleObj>
              </mc:Choice>
              <mc:Fallback>
                <p:oleObj name="Equation" r:id="rId3" imgW="761760" imgH="11174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2119313"/>
                        <a:ext cx="1620838" cy="2376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4132008" y="2321168"/>
          <a:ext cx="1371601" cy="1793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8" name="Equation" r:id="rId5" imgW="164880" imgH="215640" progId="Equation.3">
                  <p:embed/>
                </p:oleObj>
              </mc:Choice>
              <mc:Fallback>
                <p:oleObj name="Equation" r:id="rId5" imgW="16488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008" y="2321168"/>
                        <a:ext cx="1371601" cy="17936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5368416" y="2814468"/>
            <a:ext cx="25146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Premises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481052" y="3910969"/>
          <a:ext cx="463550" cy="730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Equation" r:id="rId7" imgW="164880" imgH="215640" progId="Equation.3">
                  <p:embed/>
                </p:oleObj>
              </mc:Choice>
              <mc:Fallback>
                <p:oleObj name="Equation" r:id="rId7" imgW="16488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052" y="3910969"/>
                        <a:ext cx="463550" cy="73098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5181600" y="4004172"/>
            <a:ext cx="2133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rgbClr val="C00000"/>
                </a:solidFill>
              </a:rPr>
              <a:t>Conclusion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 smtClean="0"/>
              <a:t>We </a:t>
            </a:r>
            <a:r>
              <a:rPr lang="en-US" sz="2400" dirty="0" smtClean="0">
                <a:solidFill>
                  <a:srgbClr val="C00000"/>
                </a:solidFill>
              </a:rPr>
              <a:t>construct an argument </a:t>
            </a:r>
            <a:r>
              <a:rPr lang="en-US" sz="2400" dirty="0" smtClean="0"/>
              <a:t>that our premise lead to desired </a:t>
            </a:r>
            <a:r>
              <a:rPr lang="en-US" sz="2400" dirty="0" smtClean="0">
                <a:solidFill>
                  <a:srgbClr val="C00000"/>
                </a:solidFill>
              </a:rPr>
              <a:t>conclusion</a:t>
            </a:r>
            <a:r>
              <a:rPr lang="en-US" sz="2400" dirty="0" smtClean="0"/>
              <a:t> as follows:</a:t>
            </a:r>
          </a:p>
          <a:p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~ p ∧ q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Premise</a:t>
            </a:r>
            <a:r>
              <a:rPr lang="en-US" sz="28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~ p</a:t>
            </a:r>
            <a:r>
              <a:rPr lang="en-US" sz="2400" dirty="0" smtClean="0"/>
              <a:t>			</a:t>
            </a:r>
            <a:r>
              <a:rPr lang="en-US" sz="2400" dirty="0" smtClean="0">
                <a:solidFill>
                  <a:srgbClr val="0070C0"/>
                </a:solidFill>
              </a:rPr>
              <a:t>Simplification</a:t>
            </a:r>
          </a:p>
          <a:p>
            <a:pPr>
              <a:buNone/>
            </a:pP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FF0000"/>
                </a:solidFill>
              </a:rPr>
              <a:t>r → p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~ r</a:t>
            </a:r>
            <a:r>
              <a:rPr lang="en-US" sz="2400" dirty="0" smtClean="0"/>
              <a:t>			</a:t>
            </a:r>
            <a:r>
              <a:rPr lang="en-US" sz="2400" dirty="0" smtClean="0">
                <a:solidFill>
                  <a:srgbClr val="0070C0"/>
                </a:solidFill>
              </a:rPr>
              <a:t>Modus </a:t>
            </a:r>
            <a:r>
              <a:rPr lang="en-US" sz="2400" dirty="0" err="1" smtClean="0">
                <a:solidFill>
                  <a:srgbClr val="0070C0"/>
                </a:solidFill>
              </a:rPr>
              <a:t>Tollens</a:t>
            </a:r>
            <a:endParaRPr lang="en-US" sz="2400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~ r → s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smtClean="0">
                <a:solidFill>
                  <a:srgbClr val="FF0000"/>
                </a:solidFill>
              </a:rPr>
              <a:t> s	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0070C0"/>
                </a:solidFill>
              </a:rPr>
              <a:t>Modus Ponens </a:t>
            </a:r>
          </a:p>
          <a:p>
            <a:pPr>
              <a:buNone/>
            </a:pP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FF0000"/>
                </a:solidFill>
              </a:rPr>
              <a:t>s → t</a:t>
            </a:r>
            <a:r>
              <a:rPr lang="en-US" sz="2400" dirty="0" smtClean="0"/>
              <a:t>		</a:t>
            </a:r>
            <a:r>
              <a:rPr lang="en-US" sz="2400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FF0000"/>
                </a:solidFill>
              </a:rPr>
              <a:t>t</a:t>
            </a:r>
            <a:r>
              <a:rPr lang="en-US" sz="2400" dirty="0" smtClean="0"/>
              <a:t>			</a:t>
            </a:r>
            <a:r>
              <a:rPr lang="en-US" sz="2400" dirty="0" smtClean="0">
                <a:solidFill>
                  <a:srgbClr val="0070C0"/>
                </a:solidFill>
              </a:rPr>
              <a:t>Modus Ponens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dirty="0"/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439221"/>
              </p:ext>
            </p:extLst>
          </p:nvPr>
        </p:nvGraphicFramePr>
        <p:xfrm>
          <a:off x="5410200" y="1752600"/>
          <a:ext cx="34798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3" name="Equation" r:id="rId3" imgW="4838400" imgH="5105160" progId="Equation.3">
                  <p:embed/>
                </p:oleObj>
              </mc:Choice>
              <mc:Fallback>
                <p:oleObj name="Equation" r:id="rId3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52600"/>
                        <a:ext cx="3479800" cy="51054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“If you send me an e-mail message, then I will finish writing the problem,” “If you do not send me an e-mail message, then I will go to sleep early,” and “If I go to sleep early, then I will wake up feeling refreshed.”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lead to the conclusion </a:t>
            </a:r>
            <a:r>
              <a:rPr lang="en-US" dirty="0" smtClean="0">
                <a:solidFill>
                  <a:srgbClr val="C00000"/>
                </a:solidFill>
              </a:rPr>
              <a:t>“If I do not finish writing the problem, then I will wake up feeling refreshed.”</a:t>
            </a:r>
          </a:p>
          <a:p>
            <a:pPr>
              <a:tabLst>
                <a:tab pos="122238" algn="l"/>
              </a:tabLst>
            </a:pPr>
            <a:endParaRPr lang="en-US" dirty="0" smtClean="0"/>
          </a:p>
          <a:p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  <a:endParaRPr lang="en-US" b="1" u="sng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“If you send me an e-mail message, then I will finish writing the problem,” “If you do not send me an e-mail message, then I will go to sleep early,” and “If I go to sleep early, then I will wake up feeling refreshed.”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lead to the conclusion </a:t>
            </a:r>
            <a:r>
              <a:rPr lang="en-US" dirty="0" smtClean="0">
                <a:solidFill>
                  <a:srgbClr val="C00000"/>
                </a:solidFill>
              </a:rPr>
              <a:t>“If I do not finish writing the problem, then I will wake up feeling refreshed.”</a:t>
            </a:r>
          </a:p>
          <a:p>
            <a:pPr>
              <a:tabLst>
                <a:tab pos="122238" algn="l"/>
              </a:tabLst>
            </a:pPr>
            <a:endParaRPr lang="en-US" dirty="0" smtClean="0"/>
          </a:p>
          <a:p>
            <a:r>
              <a:rPr lang="en-US" b="1" u="sng" dirty="0" smtClean="0">
                <a:solidFill>
                  <a:srgbClr val="002060"/>
                </a:solidFill>
              </a:rPr>
              <a:t>Solution: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Let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You send me an e-mail message.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I will finish writing the problem.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I will go to sleep early.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s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I will wake up feeling refreshed.</a:t>
            </a:r>
          </a:p>
        </p:txBody>
      </p:sp>
    </p:spTree>
    <p:extLst>
      <p:ext uri="{BB962C8B-B14F-4D97-AF65-F5344CB8AC3E}">
        <p14:creationId xmlns:p14="http://schemas.microsoft.com/office/powerpoint/2010/main" val="2835734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Symbolically,</a:t>
            </a:r>
          </a:p>
          <a:p>
            <a:pPr>
              <a:buNone/>
            </a:pPr>
            <a:r>
              <a:rPr lang="en-US" sz="2800" dirty="0" smtClean="0"/>
              <a:t>				p → q</a:t>
            </a:r>
          </a:p>
          <a:p>
            <a:pPr>
              <a:buNone/>
            </a:pPr>
            <a:r>
              <a:rPr lang="en-US" sz="2800" dirty="0" smtClean="0"/>
              <a:t>			      ~ p → r</a:t>
            </a:r>
          </a:p>
          <a:p>
            <a:pPr>
              <a:buNone/>
            </a:pPr>
            <a:r>
              <a:rPr lang="en-US" sz="2800" dirty="0" smtClean="0"/>
              <a:t>				r → s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The </a:t>
            </a:r>
            <a:r>
              <a:rPr lang="en-US" sz="2800" b="1" dirty="0" smtClean="0">
                <a:solidFill>
                  <a:srgbClr val="0070C0"/>
                </a:solidFill>
              </a:rPr>
              <a:t>desired conclusion </a:t>
            </a:r>
            <a:r>
              <a:rPr lang="en-US" sz="2800" dirty="0" smtClean="0"/>
              <a:t>is:</a:t>
            </a:r>
          </a:p>
          <a:p>
            <a:pPr>
              <a:buNone/>
            </a:pPr>
            <a:r>
              <a:rPr lang="en-US" sz="2800" dirty="0" smtClean="0"/>
              <a:t>				 ~ q → s</a:t>
            </a:r>
          </a:p>
          <a:p>
            <a:pPr>
              <a:buNone/>
            </a:pPr>
            <a:r>
              <a:rPr lang="en-US" sz="2800" dirty="0" smtClean="0"/>
              <a:t>				</a:t>
            </a:r>
          </a:p>
          <a:p>
            <a:pPr>
              <a:buNone/>
            </a:pP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	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199"/>
            <a:ext cx="8686800" cy="563880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 </a:t>
            </a:r>
            <a:r>
              <a:rPr lang="en-US" dirty="0" smtClean="0">
                <a:solidFill>
                  <a:srgbClr val="C00000"/>
                </a:solidFill>
              </a:rPr>
              <a:t>construct argument </a:t>
            </a:r>
            <a:r>
              <a:rPr lang="en-US" dirty="0" smtClean="0"/>
              <a:t>that our premise lead to </a:t>
            </a:r>
            <a:r>
              <a:rPr lang="en-US" dirty="0" smtClean="0">
                <a:solidFill>
                  <a:srgbClr val="C00000"/>
                </a:solidFill>
              </a:rPr>
              <a:t>desired conclusion </a:t>
            </a:r>
            <a:r>
              <a:rPr lang="en-US" dirty="0" smtClean="0"/>
              <a:t>as follow: 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p → q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~ q → ~ p 	</a:t>
            </a:r>
            <a:r>
              <a:rPr lang="en-US" dirty="0" smtClean="0"/>
              <a:t>	</a:t>
            </a:r>
            <a:r>
              <a:rPr lang="en-US" dirty="0" err="1" smtClean="0">
                <a:solidFill>
                  <a:srgbClr val="0070C0"/>
                </a:solidFill>
              </a:rPr>
              <a:t>Contrapositive</a:t>
            </a:r>
            <a:endParaRPr lang="en-US" dirty="0" smtClean="0">
              <a:solidFill>
                <a:srgbClr val="0070C0"/>
              </a:solidFill>
            </a:endParaRP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~ p → r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~ q → r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Hypothetical Syllogism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FF0000"/>
                </a:solidFill>
              </a:rPr>
              <a:t>r → s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Premise</a:t>
            </a:r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smtClean="0">
                <a:solidFill>
                  <a:srgbClr val="FF0000"/>
                </a:solidFill>
              </a:rPr>
              <a:t>~ q → s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Hypothetical Syllogism</a:t>
            </a:r>
          </a:p>
          <a:p>
            <a:pPr>
              <a:buNone/>
            </a:pP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>	</a:t>
            </a:r>
          </a:p>
          <a:p>
            <a:pPr>
              <a:buNone/>
            </a:pPr>
            <a:r>
              <a:rPr lang="en-US" sz="2400" dirty="0" smtClean="0"/>
              <a:t>	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139374"/>
              </p:ext>
            </p:extLst>
          </p:nvPr>
        </p:nvGraphicFramePr>
        <p:xfrm>
          <a:off x="5257800" y="1600201"/>
          <a:ext cx="3886200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80" name="Equation" r:id="rId3" imgW="4838400" imgH="5105160" progId="Equation.3">
                  <p:embed/>
                </p:oleObj>
              </mc:Choice>
              <mc:Fallback>
                <p:oleObj name="Equation" r:id="rId3" imgW="4838400" imgH="510516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600201"/>
                        <a:ext cx="3886200" cy="52578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RESOLUTION 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Resolution law is: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Alternatively, ((p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q)</a:t>
            </a:r>
            <a:r>
              <a:rPr lang="en-US" dirty="0" smtClean="0"/>
              <a:t> ∧</a:t>
            </a:r>
            <a:r>
              <a:rPr lang="en-US" sz="2800" dirty="0" smtClean="0"/>
              <a:t> </a:t>
            </a:r>
            <a:r>
              <a:rPr lang="en-US" dirty="0" smtClean="0"/>
              <a:t>( ~p </a:t>
            </a:r>
            <a:r>
              <a:rPr lang="en-US" b="1" dirty="0" smtClean="0">
                <a:sym typeface="Symbol"/>
              </a:rPr>
              <a:t></a:t>
            </a:r>
            <a:r>
              <a:rPr lang="en-US" dirty="0" smtClean="0"/>
              <a:t> r))→ (q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r</a:t>
            </a:r>
            <a:r>
              <a:rPr lang="en-US" dirty="0" smtClean="0"/>
              <a:t>) is </a:t>
            </a:r>
            <a:r>
              <a:rPr lang="en-US" b="1" dirty="0" smtClean="0">
                <a:solidFill>
                  <a:srgbClr val="C00000"/>
                </a:solidFill>
              </a:rPr>
              <a:t>Tautology</a:t>
            </a:r>
            <a:r>
              <a:rPr lang="en-US" dirty="0" smtClean="0"/>
              <a:t>.</a:t>
            </a:r>
          </a:p>
        </p:txBody>
      </p:sp>
      <p:graphicFrame>
        <p:nvGraphicFramePr>
          <p:cNvPr id="4" name="Object 9"/>
          <p:cNvGraphicFramePr>
            <a:graphicFrameLocks noChangeAspect="1"/>
          </p:cNvGraphicFramePr>
          <p:nvPr/>
        </p:nvGraphicFramePr>
        <p:xfrm>
          <a:off x="3749675" y="1752600"/>
          <a:ext cx="1203325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4" name="Equation" r:id="rId3" imgW="457200" imgH="711000" progId="Equation.3">
                  <p:embed/>
                </p:oleObj>
              </mc:Choice>
              <mc:Fallback>
                <p:oleObj name="Equation" r:id="rId3" imgW="457200" imgH="7110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9675" y="1752600"/>
                        <a:ext cx="1203325" cy="1871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Using the resolution rule to show that the hypothesis: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“Jasmine is skiing or it is not snowing” and “It is snowing or Bart is playing hockey”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imply that </a:t>
            </a:r>
            <a:r>
              <a:rPr lang="en-US" dirty="0" smtClean="0">
                <a:solidFill>
                  <a:srgbClr val="C00000"/>
                </a:solidFill>
              </a:rPr>
              <a:t>“Jasmine is skiing or Bart is playing hockey.”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Example: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Using the resolution rule to show that the hypothesis: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“Jasmine is skiing or it is not snowing” and “It is snowing or Bart is playing hockey”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imply that </a:t>
            </a:r>
            <a:r>
              <a:rPr lang="en-US" dirty="0" smtClean="0">
                <a:solidFill>
                  <a:srgbClr val="C00000"/>
                </a:solidFill>
              </a:rPr>
              <a:t>“Jasmine is skiing or Bart is playing hockey.”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0070C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Let		</a:t>
            </a:r>
            <a:r>
              <a:rPr lang="en-US" b="1" dirty="0" smtClean="0">
                <a:solidFill>
                  <a:srgbClr val="C00000"/>
                </a:solidFill>
              </a:rPr>
              <a:t>p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It is snowing.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q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0070C0"/>
                </a:solidFill>
              </a:rPr>
              <a:t>Jasmine is skiing.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0070C0"/>
                </a:solidFill>
              </a:rPr>
              <a:t>Bart is playing hockey.</a:t>
            </a:r>
          </a:p>
        </p:txBody>
      </p:sp>
    </p:spTree>
    <p:extLst>
      <p:ext uri="{BB962C8B-B14F-4D97-AF65-F5344CB8AC3E}">
        <p14:creationId xmlns:p14="http://schemas.microsoft.com/office/powerpoint/2010/main" val="132906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Symbolically,</a:t>
            </a:r>
          </a:p>
          <a:p>
            <a:pPr>
              <a:buNone/>
            </a:pPr>
            <a:r>
              <a:rPr lang="en-US" dirty="0" smtClean="0"/>
              <a:t>			       ~ p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q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p</a:t>
            </a:r>
            <a:r>
              <a:rPr lang="en-US" dirty="0" smtClean="0"/>
              <a:t>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r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	q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r</a:t>
            </a:r>
          </a:p>
          <a:p>
            <a:pPr>
              <a:buNone/>
            </a:pPr>
            <a:r>
              <a:rPr lang="en-US" dirty="0" smtClean="0"/>
              <a:t>	Using Resolution the </a:t>
            </a:r>
            <a:r>
              <a:rPr lang="en-US" dirty="0" smtClean="0">
                <a:sym typeface="Symbol"/>
              </a:rPr>
              <a:t>q </a:t>
            </a:r>
            <a:r>
              <a:rPr lang="en-US" b="1" dirty="0" smtClean="0">
                <a:sym typeface="Symbol"/>
              </a:rPr>
              <a:t> </a:t>
            </a:r>
            <a:r>
              <a:rPr lang="en-US" dirty="0" smtClean="0">
                <a:sym typeface="Symbol"/>
              </a:rPr>
              <a:t>r follows.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3200400" y="2743200"/>
            <a:ext cx="10668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895600" y="2743200"/>
          <a:ext cx="457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7" name="Equation" r:id="rId3" imgW="139680" imgH="126720" progId="Equation.3">
                  <p:embed/>
                </p:oleObj>
              </mc:Choice>
              <mc:Fallback>
                <p:oleObj name="Equation" r:id="rId3" imgW="139680" imgH="12672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743200"/>
                        <a:ext cx="457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978</TotalTime>
  <Words>831</Words>
  <Application>Microsoft Office PowerPoint</Application>
  <PresentationFormat>On-screen Show (4:3)</PresentationFormat>
  <Paragraphs>227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Bookman Old Style</vt:lpstr>
      <vt:lpstr>Calibri</vt:lpstr>
      <vt:lpstr>Gill Sans MT</vt:lpstr>
      <vt:lpstr>Symbol</vt:lpstr>
      <vt:lpstr>Wingdings</vt:lpstr>
      <vt:lpstr>Wingdings 3</vt:lpstr>
      <vt:lpstr>Origin</vt:lpstr>
      <vt:lpstr>Equation</vt:lpstr>
      <vt:lpstr>RULES OF INFERENCE Lecture # 07</vt:lpstr>
      <vt:lpstr>RULES OF INFERENCE &amp; PROPOSITIONAL LOGIC</vt:lpstr>
      <vt:lpstr>RULES OF INFERENCE</vt:lpstr>
      <vt:lpstr>PowerPoint Presentation</vt:lpstr>
      <vt:lpstr>PowerPoint Presentation</vt:lpstr>
      <vt:lpstr>MODUS PONENS</vt:lpstr>
      <vt:lpstr>EXAMPLE</vt:lpstr>
      <vt:lpstr>MODUS TOLLENS</vt:lpstr>
      <vt:lpstr>EXAMPLE</vt:lpstr>
      <vt:lpstr>PowerPoint Presentation</vt:lpstr>
      <vt:lpstr>Exercise:</vt:lpstr>
      <vt:lpstr>Exercise:</vt:lpstr>
      <vt:lpstr>Exercise: </vt:lpstr>
      <vt:lpstr>Exercise: </vt:lpstr>
      <vt:lpstr>PowerPoint Presentation</vt:lpstr>
      <vt:lpstr>PowerPoint Presentation</vt:lpstr>
      <vt:lpstr>USING RULES OF INFERENCE TO BUILD ARGUMENTS</vt:lpstr>
      <vt:lpstr>EXAMPLE</vt:lpstr>
      <vt:lpstr>EXAMPLE</vt:lpstr>
      <vt:lpstr>PowerPoint Presentation</vt:lpstr>
      <vt:lpstr>PowerPoint Presentation</vt:lpstr>
      <vt:lpstr>EXAMPLE</vt:lpstr>
      <vt:lpstr>EXAMPLE</vt:lpstr>
      <vt:lpstr>PowerPoint Presentation</vt:lpstr>
      <vt:lpstr>PowerPoint Presentation</vt:lpstr>
      <vt:lpstr>RESOLUTION </vt:lpstr>
      <vt:lpstr>Example: </vt:lpstr>
      <vt:lpstr>Example: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73</cp:revision>
  <dcterms:created xsi:type="dcterms:W3CDTF">2013-10-15T06:26:31Z</dcterms:created>
  <dcterms:modified xsi:type="dcterms:W3CDTF">2023-09-24T06:10:54Z</dcterms:modified>
</cp:coreProperties>
</file>
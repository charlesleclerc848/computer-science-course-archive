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320" r:id="rId5"/>
    <p:sldId id="259" r:id="rId6"/>
    <p:sldId id="260" r:id="rId7"/>
    <p:sldId id="392" r:id="rId8"/>
    <p:sldId id="317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6" r:id="rId20"/>
    <p:sldId id="404" r:id="rId21"/>
    <p:sldId id="408" r:id="rId22"/>
    <p:sldId id="407" r:id="rId23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45" autoAdjust="0"/>
  </p:normalViewPr>
  <p:slideViewPr>
    <p:cSldViewPr>
      <p:cViewPr varScale="1">
        <p:scale>
          <a:sx n="60" d="100"/>
          <a:sy n="60" d="100"/>
        </p:scale>
        <p:origin x="34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sz="1200" dirty="0" smtClean="0"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Q(x)),</a:t>
            </a:r>
            <a:r>
              <a:rPr lang="en-US" baseline="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  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</a:t>
            </a:r>
            <a:r>
              <a:rPr lang="en-US" sz="12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S(x)),</a:t>
            </a:r>
            <a:r>
              <a:rPr lang="en-US" baseline="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ym typeface="Symbol" charset="2"/>
              </a:rPr>
              <a:t> </a:t>
            </a:r>
            <a:r>
              <a:rPr lang="en-US" sz="11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 </a:t>
            </a:r>
            <a:r>
              <a:rPr lang="en-US" dirty="0" smtClean="0">
                <a:cs typeface="Arial" charset="0"/>
                <a:sym typeface="Symbol" pitchFamily="18" charset="2"/>
              </a:rPr>
              <a:t>and</a:t>
            </a:r>
            <a:r>
              <a:rPr lang="en-US" baseline="0" dirty="0" smtClean="0">
                <a:cs typeface="Arial" charset="0"/>
                <a:sym typeface="Symbol" pitchFamily="18" charset="2"/>
              </a:rPr>
              <a:t>  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¬P(x) </a:t>
            </a:r>
            <a:r>
              <a:rPr lang="en-US" dirty="0" smtClean="0">
                <a:cs typeface="Arial" charset="0"/>
                <a:sym typeface="Symbol" pitchFamily="18" charset="2"/>
              </a:rPr>
              <a:t>are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  <a:r>
              <a:rPr lang="en-US" baseline="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 </a:t>
            </a:r>
            <a:r>
              <a:rPr lang="en-US" dirty="0" smtClean="0">
                <a:cs typeface="Arial" charset="0"/>
                <a:sym typeface="Symbol" pitchFamily="18" charset="2"/>
              </a:rPr>
              <a:t>then</a:t>
            </a:r>
            <a:r>
              <a:rPr lang="en-US" baseline="0" dirty="0" smtClean="0">
                <a:cs typeface="Arial" charset="0"/>
                <a:sym typeface="Symbol" pitchFamily="18" charset="2"/>
              </a:rPr>
              <a:t>   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¬R(x)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u="sng" dirty="0" smtClean="0">
                <a:solidFill>
                  <a:srgbClr val="C00000"/>
                </a:solidFill>
              </a:rPr>
              <a:t>RULES OF INFERENCE FOR  QUANTIFIED STATEMENTS</a:t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Lecture # 17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have discussed </a:t>
            </a:r>
            <a:r>
              <a:rPr lang="en-US" dirty="0" smtClean="0">
                <a:solidFill>
                  <a:srgbClr val="FF0000"/>
                </a:solidFill>
              </a:rPr>
              <a:t>rules of inference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FF0000"/>
                </a:solidFill>
              </a:rPr>
              <a:t>propositions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We will now describe some important </a:t>
            </a:r>
            <a:r>
              <a:rPr lang="en-US" dirty="0" smtClean="0">
                <a:solidFill>
                  <a:srgbClr val="FF0000"/>
                </a:solidFill>
              </a:rPr>
              <a:t>rules of inference</a:t>
            </a:r>
            <a:r>
              <a:rPr lang="en-US" dirty="0" smtClean="0"/>
              <a:t> for statements involving </a:t>
            </a:r>
            <a:r>
              <a:rPr lang="en-US" dirty="0" smtClean="0">
                <a:solidFill>
                  <a:srgbClr val="FF0000"/>
                </a:solidFill>
              </a:rPr>
              <a:t>quantifiers</a:t>
            </a:r>
            <a:r>
              <a:rPr lang="en-US" dirty="0" smtClean="0"/>
              <a:t>, which are given below: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Universal Instantiation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Universal Generalization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Existential Instantiation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Existential Generalization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INSTANTIATION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Assume that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: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2"/>
            <a:r>
              <a:rPr lang="en-US" dirty="0" smtClean="0">
                <a:sym typeface="Symbol" pitchFamily="18" charset="2"/>
              </a:rPr>
              <a:t>Here c stands for some specific constant from the domain.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universal instantiation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Given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premise x P(x)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Example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We have a statement “</a:t>
            </a:r>
            <a:r>
              <a:rPr lang="en-US" dirty="0" smtClean="0">
                <a:solidFill>
                  <a:srgbClr val="C00000"/>
                </a:solidFill>
              </a:rPr>
              <a:t>All woman are wise.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We can conclude that “</a:t>
            </a:r>
            <a:r>
              <a:rPr lang="en-US" dirty="0" smtClean="0">
                <a:solidFill>
                  <a:srgbClr val="C00000"/>
                </a:solidFill>
              </a:rPr>
              <a:t>Lisa is wise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Where </a:t>
            </a:r>
            <a:r>
              <a:rPr lang="en-US" dirty="0" smtClean="0">
                <a:solidFill>
                  <a:srgbClr val="C00000"/>
                </a:solidFill>
              </a:rPr>
              <a:t>Lisa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member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GENERALIZATION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Assume that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 for any value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universal generalization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endParaRPr lang="en-US" sz="2400" dirty="0" smtClean="0">
              <a:solidFill>
                <a:srgbClr val="C00000"/>
              </a:solidFill>
              <a:sym typeface="Symbol" charset="2"/>
            </a:endParaRP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EXISTENTIAL INSTANTIATION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CE39-13DB-4A84-80E2-F26D0BD7973B}" type="slidenum">
              <a:rPr lang="en-US"/>
              <a:pPr/>
              <a:t>5</a:t>
            </a:fld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Assume that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 for some value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</a:p>
          <a:p>
            <a:pPr lvl="2"/>
            <a:r>
              <a:rPr lang="en-US" sz="2400" dirty="0" smtClean="0">
                <a:sym typeface="Symbol" pitchFamily="18" charset="2"/>
              </a:rPr>
              <a:t>Here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  <a:r>
              <a:rPr lang="en-US" sz="2400" dirty="0" smtClean="0">
                <a:sym typeface="Symbol" pitchFamily="18" charset="2"/>
              </a:rPr>
              <a:t> stands for some specific constant from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.</a:t>
            </a:r>
            <a:endParaRPr lang="en-US" sz="2100" dirty="0" smtClean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existential instantiation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Given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premise x P(x)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pPr lvl="1"/>
            <a:endParaRPr lang="en-US" sz="2400" dirty="0" smtClean="0">
              <a:sym typeface="Symbol" pitchFamily="18" charset="2"/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EXISTENTIAL GENERALIZATION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4DD2-416A-4C46-BB8D-D734F3C0719C}" type="slidenum">
              <a:rPr lang="en-US"/>
              <a:pPr/>
              <a:t>6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Assume we know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P(c)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 for some value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Then we can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conclude</a:t>
            </a:r>
            <a:r>
              <a:rPr lang="en-US" sz="2400" dirty="0" smtClean="0">
                <a:sym typeface="Symbol" pitchFamily="18" charset="2"/>
              </a:rPr>
              <a:t> that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x 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1"/>
            <a:r>
              <a:rPr lang="en-US" sz="2400" dirty="0" smtClean="0">
                <a:sym typeface="Symbol" pitchFamily="18" charset="2"/>
              </a:rPr>
              <a:t>This is called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existential generalization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642" y="228600"/>
            <a:ext cx="8500758" cy="612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the premises: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Everyone in this discrete mathematics class has taken a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course in computer science</a:t>
            </a:r>
            <a:r>
              <a:rPr lang="en-US" dirty="0" smtClean="0"/>
              <a:t>” and</a:t>
            </a:r>
          </a:p>
          <a:p>
            <a:pPr>
              <a:buNone/>
            </a:pPr>
            <a:r>
              <a:rPr lang="en-US" dirty="0" smtClean="0"/>
              <a:t>	 “</a:t>
            </a:r>
            <a:r>
              <a:rPr lang="en-US" dirty="0" err="1" smtClean="0">
                <a:solidFill>
                  <a:srgbClr val="C00000"/>
                </a:solidFill>
              </a:rPr>
              <a:t>Ramdeen</a:t>
            </a:r>
            <a:r>
              <a:rPr lang="en-US" dirty="0" smtClean="0">
                <a:solidFill>
                  <a:srgbClr val="C00000"/>
                </a:solidFill>
              </a:rPr>
              <a:t> is a student in this class</a:t>
            </a:r>
            <a:r>
              <a:rPr lang="en-US" dirty="0" smtClean="0"/>
              <a:t>” imply the</a:t>
            </a:r>
          </a:p>
          <a:p>
            <a:pPr>
              <a:buNone/>
            </a:pPr>
            <a:r>
              <a:rPr lang="en-US" dirty="0" smtClean="0"/>
              <a:t>	 conclusion “</a:t>
            </a:r>
            <a:r>
              <a:rPr lang="en-US" dirty="0" err="1" smtClean="0">
                <a:solidFill>
                  <a:srgbClr val="C00000"/>
                </a:solidFill>
              </a:rPr>
              <a:t>Ramdeen</a:t>
            </a:r>
            <a:r>
              <a:rPr lang="en-US" dirty="0" smtClean="0">
                <a:solidFill>
                  <a:srgbClr val="C00000"/>
                </a:solidFill>
              </a:rPr>
              <a:t> has taken a course in computer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science.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D(x)</a:t>
            </a:r>
            <a:r>
              <a:rPr lang="en-US" dirty="0" smtClean="0"/>
              <a:t> = x is in discrete mathematics class.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C(x)</a:t>
            </a:r>
            <a:r>
              <a:rPr lang="en-US" dirty="0" smtClean="0"/>
              <a:t> = x has taken a course in computer science.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Then the premises are: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	x (D(x)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C(x))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D(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     C(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endParaRPr lang="en-US" sz="2400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	The following steps can be used </a:t>
            </a:r>
          </a:p>
          <a:p>
            <a:pPr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	to establish conclusion: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1.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(D(x)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C(x))	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2.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	D(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Universal 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				   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3.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D(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		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4.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C(</a:t>
            </a:r>
            <a:r>
              <a:rPr lang="en-US" sz="2400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Ramdeen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		   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Modus Ponens</a:t>
            </a:r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5981" y="202812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912924" y="2251584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4" name="Equation" r:id="rId4" imgW="139680" imgH="126720" progId="Equation.3">
                  <p:embed/>
                </p:oleObj>
              </mc:Choice>
              <mc:Fallback>
                <p:oleObj name="Equation" r:id="rId4" imgW="139680" imgH="126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924" y="2251584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442100"/>
              </p:ext>
            </p:extLst>
          </p:nvPr>
        </p:nvGraphicFramePr>
        <p:xfrm>
          <a:off x="5678268" y="2833469"/>
          <a:ext cx="6818532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name="Equation" r:id="rId6" imgW="4838400" imgH="5105160" progId="Equation.3">
                  <p:embed/>
                </p:oleObj>
              </mc:Choice>
              <mc:Fallback>
                <p:oleObj name="Equation" r:id="rId6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268" y="2833469"/>
                        <a:ext cx="6818532" cy="4038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the premises:</a:t>
            </a:r>
          </a:p>
          <a:p>
            <a:pPr>
              <a:buNone/>
            </a:pPr>
            <a:r>
              <a:rPr lang="en-US" dirty="0" smtClean="0"/>
              <a:t>	 “</a:t>
            </a:r>
            <a:r>
              <a:rPr lang="en-US" dirty="0" smtClean="0">
                <a:solidFill>
                  <a:srgbClr val="C00000"/>
                </a:solidFill>
              </a:rPr>
              <a:t>A student in this class has not read the book.</a:t>
            </a:r>
            <a:r>
              <a:rPr lang="en-US" dirty="0" smtClean="0"/>
              <a:t>” and “</a:t>
            </a:r>
            <a:r>
              <a:rPr lang="en-US" dirty="0" smtClean="0">
                <a:solidFill>
                  <a:srgbClr val="C00000"/>
                </a:solidFill>
              </a:rPr>
              <a:t>Everyone in this class passed the first exam</a:t>
            </a:r>
            <a:r>
              <a:rPr lang="en-US" dirty="0" smtClean="0"/>
              <a:t>” imply the conclusion “</a:t>
            </a:r>
            <a:r>
              <a:rPr lang="en-US" dirty="0" smtClean="0">
                <a:solidFill>
                  <a:srgbClr val="C00000"/>
                </a:solidFill>
              </a:rPr>
              <a:t>Someone who passed the first exam has not read the book.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C(x)</a:t>
            </a:r>
            <a:r>
              <a:rPr lang="en-US" dirty="0" smtClean="0"/>
              <a:t> =  x is in this class.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B(x)</a:t>
            </a:r>
            <a:r>
              <a:rPr lang="en-US" dirty="0" smtClean="0"/>
              <a:t> = x has read the book.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x passed the first exam.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Then the premises are: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	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(C(x)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   x (C(x)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P(x))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    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(P(x)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</a:t>
            </a:r>
          </a:p>
          <a:p>
            <a:r>
              <a:rPr lang="en-US" sz="2000" dirty="0" smtClean="0">
                <a:solidFill>
                  <a:srgbClr val="0070C0"/>
                </a:solidFill>
              </a:rPr>
              <a:t>The following steps can be used 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	to establish conclusion:</a:t>
            </a:r>
          </a:p>
          <a:p>
            <a:pPr marL="457200" indent="-457200">
              <a:buNone/>
            </a:pPr>
            <a:r>
              <a:rPr lang="en-US" sz="2000" dirty="0" smtClean="0">
                <a:sym typeface="Symbol" charset="2"/>
              </a:rPr>
              <a:t>1.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 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(C(x)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Premise</a:t>
            </a:r>
            <a:endParaRPr lang="en-US" sz="2000" dirty="0" smtClean="0"/>
          </a:p>
          <a:p>
            <a:pPr marL="457200" indent="-457200">
              <a:buNone/>
            </a:pPr>
            <a:r>
              <a:rPr lang="en-US" sz="2000" dirty="0" smtClean="0">
                <a:sym typeface="Symbol" pitchFamily="18" charset="2"/>
              </a:rPr>
              <a:t>2.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C(a)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¬B(a)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Existential Instantiation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>
                <a:sym typeface="Symbol" pitchFamily="18" charset="2"/>
              </a:rPr>
              <a:t>3.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 C(a)			</a:t>
            </a:r>
            <a:r>
              <a:rPr lang="en-US" sz="2000" dirty="0" smtClean="0">
                <a:sym typeface="Symbol" pitchFamily="18" charset="2"/>
              </a:rPr>
              <a:t>Simplification</a:t>
            </a:r>
          </a:p>
          <a:p>
            <a:pPr>
              <a:buNone/>
            </a:pPr>
            <a:r>
              <a:rPr lang="en-US" sz="2000" dirty="0" smtClean="0">
                <a:sym typeface="Symbol" pitchFamily="18" charset="2"/>
              </a:rPr>
              <a:t>4.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x (C(x)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P(x))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5.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C(a)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P(a)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6.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P(a)	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Modus Ponens</a:t>
            </a:r>
          </a:p>
          <a:p>
            <a:pPr marL="457200" indent="-457200"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7.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¬B(a)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C(a) 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Commutative on (2)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8.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¬B(a)	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Simplification </a:t>
            </a:r>
          </a:p>
          <a:p>
            <a:pPr>
              <a:buNone/>
            </a:pPr>
            <a:r>
              <a:rPr lang="en-US" sz="2000" dirty="0" smtClean="0">
                <a:cs typeface="Arial" charset="0"/>
                <a:sym typeface="Symbol" pitchFamily="18" charset="2"/>
              </a:rPr>
              <a:t>9.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 P(a)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¬B(a)	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Conjunction on (6) &amp; (8)</a:t>
            </a:r>
          </a:p>
          <a:p>
            <a:pPr>
              <a:buNone/>
            </a:pPr>
            <a:r>
              <a:rPr lang="en-US" sz="2000" dirty="0" smtClean="0">
                <a:sym typeface="Symbol" charset="2"/>
              </a:rPr>
              <a:t>10.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 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x (P(x)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0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¬B(x))	</a:t>
            </a:r>
            <a:r>
              <a:rPr lang="en-US" sz="2000" dirty="0" smtClean="0">
                <a:cs typeface="Arial" charset="0"/>
                <a:sym typeface="Symbol" pitchFamily="18" charset="2"/>
              </a:rPr>
              <a:t>Existential Generalization</a:t>
            </a:r>
            <a:endParaRPr lang="en-US" sz="2000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7845" y="481965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807720" y="2046588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4" name="Equation" r:id="rId4" imgW="139680" imgH="126720" progId="Equation.3">
                  <p:embed/>
                </p:oleObj>
              </mc:Choice>
              <mc:Fallback>
                <p:oleObj name="Equation" r:id="rId4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" y="2046588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3589"/>
              </p:ext>
            </p:extLst>
          </p:nvPr>
        </p:nvGraphicFramePr>
        <p:xfrm>
          <a:off x="5664200" y="3048000"/>
          <a:ext cx="3479800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5" name="Equation" r:id="rId6" imgW="4838400" imgH="5105160" progId="Equation.3">
                  <p:embed/>
                </p:oleObj>
              </mc:Choice>
              <mc:Fallback>
                <p:oleObj name="Equation" r:id="rId6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3048000"/>
                        <a:ext cx="3479800" cy="367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600" b="1" u="sng" dirty="0" smtClean="0">
                <a:solidFill>
                  <a:srgbClr val="0070C0"/>
                </a:solidFill>
              </a:rPr>
              <a:t>COMBINING RULES OF INFERENCE FOR PROPOSITIONS &amp; QUANTIFIED STATEMENTS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rule of inference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C00000"/>
                </a:solidFill>
              </a:rPr>
              <a:t>quantified statements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C00000"/>
                </a:solidFill>
              </a:rPr>
              <a:t>modus ponens</a:t>
            </a:r>
            <a:r>
              <a:rPr lang="en-US" dirty="0" smtClean="0"/>
              <a:t>, a rule of inference for </a:t>
            </a:r>
            <a:r>
              <a:rPr lang="en-US" dirty="0" smtClean="0">
                <a:solidFill>
                  <a:srgbClr val="C00000"/>
                </a:solidFill>
              </a:rPr>
              <a:t>propositional logic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We will often need to use this combination of rules of inference.  Because </a:t>
            </a:r>
            <a:r>
              <a:rPr lang="en-US" dirty="0" smtClean="0">
                <a:solidFill>
                  <a:srgbClr val="C00000"/>
                </a:solidFill>
              </a:rPr>
              <a:t>universal instantiation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modus ponens</a:t>
            </a:r>
            <a:r>
              <a:rPr lang="en-US" dirty="0" smtClean="0"/>
              <a:t> are used so often together. </a:t>
            </a:r>
          </a:p>
          <a:p>
            <a:endParaRPr lang="en-US" dirty="0" smtClean="0"/>
          </a:p>
          <a:p>
            <a:r>
              <a:rPr lang="en-US" dirty="0" smtClean="0"/>
              <a:t>This combination of rules is sometimes called </a:t>
            </a:r>
            <a:r>
              <a:rPr lang="en-US" b="1" dirty="0" smtClean="0">
                <a:solidFill>
                  <a:srgbClr val="C00000"/>
                </a:solidFill>
              </a:rPr>
              <a:t>universal modus ponens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MODUS PONENS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rule tells us that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Q(x))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true, </a:t>
            </a:r>
            <a:r>
              <a:rPr lang="en-US" dirty="0" smtClean="0">
                <a:cs typeface="Arial" charset="0"/>
                <a:sym typeface="Symbol" pitchFamily="18" charset="2"/>
              </a:rPr>
              <a:t>and if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P(a)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 </a:t>
            </a:r>
            <a:r>
              <a:rPr lang="en-US" dirty="0" smtClean="0">
                <a:cs typeface="Arial" charset="0"/>
                <a:sym typeface="Symbol" pitchFamily="18" charset="2"/>
              </a:rPr>
              <a:t>for a particular element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a </a:t>
            </a:r>
            <a:r>
              <a:rPr lang="en-US" dirty="0" smtClean="0">
                <a:cs typeface="Arial" charset="0"/>
                <a:sym typeface="Symbol" pitchFamily="18" charset="2"/>
              </a:rPr>
              <a:t>in the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domain </a:t>
            </a:r>
            <a:r>
              <a:rPr lang="en-US" dirty="0" smtClean="0">
                <a:cs typeface="Arial" charset="0"/>
                <a:sym typeface="Symbol" pitchFamily="18" charset="2"/>
              </a:rPr>
              <a:t>of the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universal quantifier</a:t>
            </a:r>
            <a:r>
              <a:rPr lang="en-US" dirty="0" smtClean="0">
                <a:cs typeface="Arial" charset="0"/>
                <a:sym typeface="Symbol" pitchFamily="18" charset="2"/>
              </a:rPr>
              <a:t>, then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Q(a) </a:t>
            </a:r>
            <a:r>
              <a:rPr lang="en-US" dirty="0" smtClean="0">
                <a:cs typeface="Arial" charset="0"/>
                <a:sym typeface="Symbol" pitchFamily="18" charset="2"/>
              </a:rPr>
              <a:t>must also be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true. </a:t>
            </a:r>
          </a:p>
          <a:p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>
                <a:cs typeface="Arial" charset="0"/>
                <a:sym typeface="Symbol" pitchFamily="18" charset="2"/>
              </a:rPr>
              <a:t>To see this, note that by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universal instantiation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Q(a)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x (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P(x) </a:t>
            </a:r>
            <a:r>
              <a:rPr lang="en-US" i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Q(x)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  P(a), </a:t>
            </a:r>
            <a:r>
              <a:rPr lang="en-US" dirty="0" smtClean="0">
                <a:sym typeface="Symbol" pitchFamily="18" charset="2"/>
              </a:rPr>
              <a:t>where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a </a:t>
            </a:r>
            <a:r>
              <a:rPr lang="en-US" dirty="0" smtClean="0">
                <a:sym typeface="Symbol" pitchFamily="18" charset="2"/>
              </a:rPr>
              <a:t>is a particular element in the domain.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        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Q(a)</a:t>
            </a:r>
            <a:endParaRPr lang="en-US" i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973392" y="5375784"/>
            <a:ext cx="6781800" cy="1588"/>
          </a:xfrm>
          <a:prstGeom prst="line">
            <a:avLst/>
          </a:prstGeom>
          <a:ln w="317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973392" y="54102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0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392" y="54102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Universal modus ponens</a:t>
            </a:r>
            <a:r>
              <a:rPr lang="en-US" dirty="0" smtClean="0"/>
              <a:t> is commonly used in </a:t>
            </a:r>
            <a:r>
              <a:rPr lang="en-US" dirty="0" smtClean="0">
                <a:solidFill>
                  <a:srgbClr val="C00000"/>
                </a:solidFill>
              </a:rPr>
              <a:t>mathematical arguments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Assume that: 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all positive integers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n, if 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is greater than 4, then 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is less then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”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Use universal modus ponens to show that </a:t>
            </a:r>
            <a:r>
              <a:rPr lang="en-US" dirty="0" smtClean="0">
                <a:solidFill>
                  <a:srgbClr val="C00000"/>
                </a:solidFill>
              </a:rPr>
              <a:t>100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&lt; 2</a:t>
            </a:r>
            <a:r>
              <a:rPr lang="en-US" baseline="30000" dirty="0" smtClean="0">
                <a:solidFill>
                  <a:srgbClr val="C00000"/>
                </a:solidFill>
              </a:rPr>
              <a:t>100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Let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P(n) </a:t>
            </a:r>
            <a:r>
              <a:rPr lang="en-US" dirty="0" smtClean="0"/>
              <a:t>= n &gt; 4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Q(n) </a:t>
            </a:r>
            <a:r>
              <a:rPr lang="en-US" dirty="0" smtClean="0"/>
              <a:t>= n</a:t>
            </a:r>
            <a:r>
              <a:rPr lang="en-US" baseline="30000" dirty="0" smtClean="0"/>
              <a:t>2</a:t>
            </a:r>
            <a:r>
              <a:rPr lang="en-US" dirty="0" smtClean="0"/>
              <a:t> &lt; 2</a:t>
            </a:r>
            <a:r>
              <a:rPr lang="en-US" baseline="30000" dirty="0" smtClean="0"/>
              <a:t>n</a:t>
            </a:r>
            <a:r>
              <a:rPr lang="en-US" dirty="0" smtClean="0"/>
              <a:t> .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The statement can be represented by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n(P(n)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Q(n)) Domain </a:t>
            </a:r>
            <a:r>
              <a:rPr lang="en-US" dirty="0" smtClean="0">
                <a:cs typeface="Arial" charset="0"/>
                <a:sym typeface="Symbol" pitchFamily="18" charset="2"/>
              </a:rPr>
              <a:t>= all positive integers</a:t>
            </a:r>
            <a:endParaRPr lang="en-US" baseline="30000" dirty="0" smtClean="0"/>
          </a:p>
          <a:p>
            <a:endParaRPr lang="en-US" baseline="30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are assuming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n (P(n)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Q(n))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</a:p>
          <a:p>
            <a:endParaRPr lang="en-US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P(100)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cs typeface="Arial" charset="0"/>
                <a:sym typeface="Symbol" pitchFamily="18" charset="2"/>
              </a:rPr>
              <a:t>Because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100 &gt; 4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 pitchFamily="18" charset="2"/>
              </a:rPr>
              <a:t>It follows by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universal modus ponens </a:t>
            </a:r>
            <a:r>
              <a:rPr lang="en-US" dirty="0" smtClean="0">
                <a:cs typeface="Arial" charset="0"/>
                <a:sym typeface="Symbol" pitchFamily="18" charset="2"/>
              </a:rPr>
              <a:t>that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Q(100)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true, </a:t>
            </a:r>
            <a:r>
              <a:rPr lang="en-US" dirty="0" smtClean="0">
                <a:cs typeface="Arial" charset="0"/>
                <a:sym typeface="Symbol" pitchFamily="18" charset="2"/>
              </a:rPr>
              <a:t>namely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100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&lt; 2</a:t>
            </a:r>
            <a:r>
              <a:rPr lang="en-US" baseline="30000" dirty="0" smtClean="0">
                <a:solidFill>
                  <a:srgbClr val="C00000"/>
                </a:solidFill>
              </a:rPr>
              <a:t>100</a:t>
            </a:r>
            <a:r>
              <a:rPr lang="en-US" dirty="0" smtClean="0">
                <a:solidFill>
                  <a:srgbClr val="C00000"/>
                </a:solidFill>
              </a:rPr>
              <a:t> 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UNIVERSAL MODUS TOLLENS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Universal modus </a:t>
            </a:r>
            <a:r>
              <a:rPr lang="en-US" dirty="0" err="1" smtClean="0">
                <a:solidFill>
                  <a:srgbClr val="C00000"/>
                </a:solidFill>
              </a:rPr>
              <a:t>tollens</a:t>
            </a:r>
            <a:r>
              <a:rPr lang="en-US" dirty="0" smtClean="0"/>
              <a:t> combines </a:t>
            </a:r>
            <a:r>
              <a:rPr lang="en-US" dirty="0" smtClean="0">
                <a:solidFill>
                  <a:srgbClr val="C00000"/>
                </a:solidFill>
              </a:rPr>
              <a:t>universal instantiation</a:t>
            </a:r>
            <a:r>
              <a:rPr lang="en-US" dirty="0" smtClean="0"/>
              <a:t> and</a:t>
            </a:r>
            <a:r>
              <a:rPr lang="en-US" dirty="0" smtClean="0">
                <a:solidFill>
                  <a:srgbClr val="C00000"/>
                </a:solidFill>
              </a:rPr>
              <a:t> modus </a:t>
            </a:r>
            <a:r>
              <a:rPr lang="en-US" dirty="0" err="1" smtClean="0">
                <a:solidFill>
                  <a:srgbClr val="C00000"/>
                </a:solidFill>
              </a:rPr>
              <a:t>tollens</a:t>
            </a:r>
            <a:r>
              <a:rPr lang="en-US" dirty="0" smtClean="0"/>
              <a:t> and can be expressed in the following way: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(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P(x) </a:t>
            </a:r>
            <a:r>
              <a:rPr lang="en-US" i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Q(x)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Q(a),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where a is a particular element in the domain.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	     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i="1" dirty="0" smtClean="0">
                <a:solidFill>
                  <a:srgbClr val="C00000"/>
                </a:solidFill>
                <a:sym typeface="Symbol" pitchFamily="18" charset="2"/>
              </a:rPr>
              <a:t>P(a)</a:t>
            </a:r>
            <a:endParaRPr lang="en-US" i="1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28003" name="Object 3"/>
          <p:cNvGraphicFramePr>
            <a:graphicFrameLocks noChangeAspect="1"/>
          </p:cNvGraphicFramePr>
          <p:nvPr/>
        </p:nvGraphicFramePr>
        <p:xfrm>
          <a:off x="929148" y="4006644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09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148" y="4006644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973392" y="3947652"/>
            <a:ext cx="6781800" cy="1588"/>
          </a:xfrm>
          <a:prstGeom prst="line">
            <a:avLst/>
          </a:prstGeom>
          <a:ln w="317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EXERCISE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Use rules of inference to show that if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(P(x)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(Q(x)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S(x))) </a:t>
            </a:r>
            <a:r>
              <a:rPr lang="en-US" dirty="0" smtClean="0">
                <a:sym typeface="Symbol" pitchFamily="18" charset="2"/>
              </a:rPr>
              <a:t>and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R(x)))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then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</a:p>
          <a:p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cs typeface="Arial" charset="0"/>
                <a:sym typeface="Symbol" pitchFamily="18" charset="2"/>
              </a:rPr>
              <a:t>Solution: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The following steps can be used to</a:t>
            </a:r>
          </a:p>
          <a:p>
            <a:pPr>
              <a:buNone/>
            </a:pPr>
            <a:r>
              <a:rPr lang="en-US" sz="2400" smtClean="0">
                <a:solidFill>
                  <a:srgbClr val="0070C0"/>
                </a:solidFill>
              </a:rPr>
              <a:t>	 establish </a:t>
            </a:r>
            <a:r>
              <a:rPr lang="en-US" sz="2400" dirty="0" smtClean="0">
                <a:solidFill>
                  <a:srgbClr val="0070C0"/>
                </a:solidFill>
              </a:rPr>
              <a:t>conclusion: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01.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x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R(x)))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02.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P(a)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03.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P(a)	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Simplification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04.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 x (P(x)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(Q(x)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S(x)))     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 marL="457200" indent="-457200"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05.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Q(a)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modus ponens</a:t>
            </a:r>
          </a:p>
          <a:p>
            <a:pPr marL="457200" indent="-457200"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06.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S(a)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Q(a) 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Commutative</a:t>
            </a:r>
          </a:p>
          <a:p>
            <a:pPr marL="457200" indent="-457200"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07.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S(a)	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Simplification</a:t>
            </a:r>
          </a:p>
          <a:p>
            <a:pPr marL="457200" indent="-457200">
              <a:buNone/>
            </a:pPr>
            <a:r>
              <a:rPr lang="en-US" sz="2200" dirty="0" smtClean="0">
                <a:cs typeface="Arial" charset="0"/>
                <a:sym typeface="Symbol" pitchFamily="18" charset="2"/>
              </a:rPr>
              <a:t>08. </a:t>
            </a:r>
            <a:r>
              <a:rPr lang="en-US" sz="22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R(a) </a:t>
            </a:r>
            <a:r>
              <a:rPr lang="en-US" sz="22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2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P(a) 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Commutative on (2)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09.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R(a)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Simplification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10.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R(a)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S(a)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Conjunction (9) &amp; (7)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11.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generalization</a:t>
            </a:r>
            <a:endParaRPr lang="en-US" sz="2200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7845" y="481965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5664200" y="3109913"/>
          <a:ext cx="3479800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5" name="Equation" r:id="rId4" imgW="4838400" imgH="5105160" progId="Equation.3">
                  <p:embed/>
                </p:oleObj>
              </mc:Choice>
              <mc:Fallback>
                <p:oleObj name="Equation" r:id="rId4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3109913"/>
                        <a:ext cx="3479800" cy="367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rules of inference</a:t>
            </a:r>
            <a:r>
              <a:rPr lang="en-US" dirty="0" smtClean="0"/>
              <a:t> to show that if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(P(x)</a:t>
            </a:r>
            <a:r>
              <a:rPr lang="en-US" sz="2800" dirty="0" smtClean="0"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Q(x)),</a:t>
            </a:r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S(x)),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 </a:t>
            </a:r>
            <a:r>
              <a:rPr lang="en-US" dirty="0" smtClean="0">
                <a:cs typeface="Arial" charset="0"/>
                <a:sym typeface="Symbol" pitchFamily="18" charset="2"/>
              </a:rPr>
              <a:t>and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¬P(x) </a:t>
            </a:r>
            <a:r>
              <a:rPr lang="en-US" dirty="0" smtClean="0">
                <a:cs typeface="Arial" charset="0"/>
                <a:sym typeface="Symbol" pitchFamily="18" charset="2"/>
              </a:rPr>
              <a:t>are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 pitchFamily="18" charset="2"/>
              </a:rPr>
              <a:t>then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¬R(x) </a:t>
            </a:r>
            <a:r>
              <a:rPr lang="en-US" dirty="0" smtClean="0">
                <a:cs typeface="Arial" charset="0"/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0585339"/>
              </p:ext>
            </p:extLst>
          </p:nvPr>
        </p:nvGraphicFramePr>
        <p:xfrm>
          <a:off x="0" y="0"/>
          <a:ext cx="9144000" cy="6722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0" name="Equation" r:id="rId3" imgW="4838400" imgH="5105160" progId="Equation.3">
                  <p:embed/>
                </p:oleObj>
              </mc:Choice>
              <mc:Fallback>
                <p:oleObj name="Equation" r:id="rId3" imgW="4838400" imgH="5105160" progId="Equation.3">
                  <p:embed/>
                  <p:pic>
                    <p:nvPicPr>
                      <p:cNvPr id="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7221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777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dirty="0">
                <a:sym typeface="Symbol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Q(x)),</a:t>
            </a:r>
            <a:b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</a:b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(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>
                <a:sym typeface="Symbol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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S(x)),</a:t>
            </a:r>
            <a:b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</a:b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>
                <a:sym typeface="Symbol" charset="2"/>
              </a:rPr>
              <a:t> </a:t>
            </a:r>
            <a:r>
              <a:rPr lang="en-US" sz="2800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 </a:t>
            </a:r>
            <a:r>
              <a:rPr lang="en-US" dirty="0">
                <a:cs typeface="Arial" charset="0"/>
                <a:sym typeface="Symbol" pitchFamily="18" charset="2"/>
              </a:rPr>
              <a:t>and</a:t>
            </a:r>
            <a:br>
              <a:rPr lang="en-US" dirty="0">
                <a:cs typeface="Arial" charset="0"/>
                <a:sym typeface="Symbol" pitchFamily="18" charset="2"/>
              </a:rPr>
            </a:b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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¬P(x) </a:t>
            </a:r>
            <a:r>
              <a:rPr lang="en-US" dirty="0">
                <a:cs typeface="Arial" charset="0"/>
                <a:sym typeface="Symbol" pitchFamily="18" charset="2"/>
              </a:rPr>
              <a:t>are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  <a:b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</a:b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>
                <a:cs typeface="Arial" charset="0"/>
                <a:sym typeface="Symbol" pitchFamily="18" charset="2"/>
              </a:rPr>
              <a:t>then</a:t>
            </a:r>
            <a:br>
              <a:rPr lang="en-US" dirty="0">
                <a:cs typeface="Arial" charset="0"/>
                <a:sym typeface="Symbol" pitchFamily="18" charset="2"/>
              </a:rPr>
            </a:b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 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¬R(x) </a:t>
            </a:r>
            <a:r>
              <a:rPr lang="en-US" dirty="0">
                <a:cs typeface="Arial" charset="0"/>
                <a:sym typeface="Symbol" pitchFamily="18" charset="2"/>
              </a:rPr>
              <a:t>is</a:t>
            </a: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 true</a:t>
            </a:r>
            <a:b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</a:b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b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</a:br>
            <a: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br>
              <a:rPr lang="en-US" dirty="0">
                <a:solidFill>
                  <a:srgbClr val="C00000"/>
                </a:solidFill>
                <a:cs typeface="Arial" charset="0"/>
                <a:sym typeface="Symbol" pitchFamily="18" charset="2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The following steps can be used to</a:t>
            </a:r>
          </a:p>
          <a:p>
            <a:pPr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	establish conclusion:</a:t>
            </a:r>
          </a:p>
          <a:p>
            <a:pPr>
              <a:buNone/>
            </a:pPr>
            <a:r>
              <a:rPr lang="en-US" sz="2400" dirty="0" smtClean="0">
                <a:sym typeface="Symbol" charset="2"/>
              </a:rPr>
              <a:t>01.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  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¬P(x)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02.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¬P(c) 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Existential Instantiation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03.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 x (P(x)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04.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 P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(c)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Q(c)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05.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Q(c) 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Disjunctive syllogism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06.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S(x))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07.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Q(c)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S(c)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08.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S(c)	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Disjunctive syllogism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09.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(R(x)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¬S(x)) 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Premise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 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10.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R(c)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¬S(c)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Universal Instantiation</a:t>
            </a: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11.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¬R(c)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Modus </a:t>
            </a:r>
            <a:r>
              <a:rPr lang="en-US" sz="2200" dirty="0" err="1" smtClean="0">
                <a:cs typeface="Arial" charset="0"/>
                <a:sym typeface="Symbol" pitchFamily="18" charset="2"/>
              </a:rPr>
              <a:t>Tollens</a:t>
            </a:r>
            <a:endParaRPr lang="en-US" sz="2200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sz="2400" dirty="0" smtClean="0">
                <a:cs typeface="Arial" charset="0"/>
                <a:sym typeface="Symbol" pitchFamily="18" charset="2"/>
              </a:rPr>
              <a:t>12.</a:t>
            </a:r>
            <a:r>
              <a:rPr lang="en-US" sz="24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</a:t>
            </a:r>
            <a:r>
              <a:rPr lang="en-US" sz="240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240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¬R(x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		</a:t>
            </a:r>
            <a:r>
              <a:rPr lang="en-US" sz="2200" dirty="0" smtClean="0">
                <a:cs typeface="Arial" charset="0"/>
                <a:sym typeface="Symbol" pitchFamily="18" charset="2"/>
              </a:rPr>
              <a:t>Existential Generalization</a:t>
            </a:r>
            <a:endParaRPr lang="en-US" sz="2200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1454" y="152400"/>
            <a:ext cx="38004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021575"/>
              </p:ext>
            </p:extLst>
          </p:nvPr>
        </p:nvGraphicFramePr>
        <p:xfrm>
          <a:off x="5664200" y="2743201"/>
          <a:ext cx="63754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8" name="Equation" r:id="rId5" imgW="4838400" imgH="5105160" progId="Equation.3">
                  <p:embed/>
                </p:oleObj>
              </mc:Choice>
              <mc:Fallback>
                <p:oleObj name="Equation" r:id="rId5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2743201"/>
                        <a:ext cx="6375400" cy="4038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5175</TotalTime>
  <Words>485</Words>
  <Application>Microsoft Office PowerPoint</Application>
  <PresentationFormat>On-screen Show (4:3)</PresentationFormat>
  <Paragraphs>190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Bookman Old Style</vt:lpstr>
      <vt:lpstr>Gill Sans MT</vt:lpstr>
      <vt:lpstr>Symbol</vt:lpstr>
      <vt:lpstr>Wingdings</vt:lpstr>
      <vt:lpstr>Wingdings 3</vt:lpstr>
      <vt:lpstr>Origin</vt:lpstr>
      <vt:lpstr>Equation</vt:lpstr>
      <vt:lpstr>RULES OF INFERENCE FOR  QUANTIFIED STATEMENTS </vt:lpstr>
      <vt:lpstr>INTRODUCTION</vt:lpstr>
      <vt:lpstr>UNIVERSAL INSTANTIATION</vt:lpstr>
      <vt:lpstr>UNIVERSAL GENERALIZATION</vt:lpstr>
      <vt:lpstr>EXISTENTIAL INSTANTIATION</vt:lpstr>
      <vt:lpstr>EXISTENTIAL GENERALIZATION</vt:lpstr>
      <vt:lpstr>PowerPoint Presentation</vt:lpstr>
      <vt:lpstr>EXAMPLE</vt:lpstr>
      <vt:lpstr>PowerPoint Presentation</vt:lpstr>
      <vt:lpstr>EXAMPLE</vt:lpstr>
      <vt:lpstr>PowerPoint Presentation</vt:lpstr>
      <vt:lpstr>COMBINING RULES OF INFERENCE FOR PROPOSITIONS &amp; QUANTIFIED STATEMENTS</vt:lpstr>
      <vt:lpstr>UNIVERSAL MODUS PONENS</vt:lpstr>
      <vt:lpstr>NOTE</vt:lpstr>
      <vt:lpstr>EXAMPLE</vt:lpstr>
      <vt:lpstr>PowerPoint Presentation</vt:lpstr>
      <vt:lpstr>UNIVERSAL MODUS TOLLENS</vt:lpstr>
      <vt:lpstr>EXERCISE</vt:lpstr>
      <vt:lpstr>PowerPoint Presentation</vt:lpstr>
      <vt:lpstr>EXAMPLE</vt:lpstr>
      <vt:lpstr>PowerPoint Presentation</vt:lpstr>
      <vt:lpstr>x (P(x)  Q(x)),  x (¬Q(x)  S(x)),  x (R(x) → ¬S(x)) and   x ¬P(x) are true  then   x ¬R(x) is true     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272</cp:revision>
  <dcterms:created xsi:type="dcterms:W3CDTF">2004-09-16T16:06:30Z</dcterms:created>
  <dcterms:modified xsi:type="dcterms:W3CDTF">2024-02-27T09:53:04Z</dcterms:modified>
</cp:coreProperties>
</file>
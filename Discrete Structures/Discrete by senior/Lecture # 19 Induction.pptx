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8"/>
  </p:notesMasterIdLst>
  <p:handoutMasterIdLst>
    <p:handoutMasterId r:id="rId39"/>
  </p:handoutMasterIdLst>
  <p:sldIdLst>
    <p:sldId id="256" r:id="rId2"/>
    <p:sldId id="379" r:id="rId3"/>
    <p:sldId id="380" r:id="rId4"/>
    <p:sldId id="257" r:id="rId5"/>
    <p:sldId id="258" r:id="rId6"/>
    <p:sldId id="320" r:id="rId7"/>
    <p:sldId id="322" r:id="rId8"/>
    <p:sldId id="323" r:id="rId9"/>
    <p:sldId id="324" r:id="rId10"/>
    <p:sldId id="325" r:id="rId11"/>
    <p:sldId id="381" r:id="rId12"/>
    <p:sldId id="326" r:id="rId13"/>
    <p:sldId id="367" r:id="rId14"/>
    <p:sldId id="327" r:id="rId15"/>
    <p:sldId id="382" r:id="rId16"/>
    <p:sldId id="368" r:id="rId17"/>
    <p:sldId id="369" r:id="rId18"/>
    <p:sldId id="328" r:id="rId19"/>
    <p:sldId id="383" r:id="rId20"/>
    <p:sldId id="370" r:id="rId21"/>
    <p:sldId id="371" r:id="rId22"/>
    <p:sldId id="329" r:id="rId23"/>
    <p:sldId id="384" r:id="rId24"/>
    <p:sldId id="373" r:id="rId25"/>
    <p:sldId id="374" r:id="rId26"/>
    <p:sldId id="375" r:id="rId27"/>
    <p:sldId id="330" r:id="rId28"/>
    <p:sldId id="365" r:id="rId29"/>
    <p:sldId id="376" r:id="rId30"/>
    <p:sldId id="331" r:id="rId31"/>
    <p:sldId id="385" r:id="rId32"/>
    <p:sldId id="366" r:id="rId33"/>
    <p:sldId id="377" r:id="rId34"/>
    <p:sldId id="332" r:id="rId35"/>
    <p:sldId id="333" r:id="rId36"/>
    <p:sldId id="378" r:id="rId37"/>
  </p:sldIdLst>
  <p:sldSz cx="9144000" cy="6858000" type="screen4x3"/>
  <p:notesSz cx="6858000" cy="9144000"/>
  <p:custDataLst>
    <p:tags r:id="rId4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8" autoAdjust="0"/>
    <p:restoredTop sz="94660"/>
  </p:normalViewPr>
  <p:slideViewPr>
    <p:cSldViewPr>
      <p:cViewPr varScale="1">
        <p:scale>
          <a:sx n="66" d="100"/>
          <a:sy n="66" d="100"/>
        </p:scale>
        <p:origin x="12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dirty="0" smtClean="0">
                <a:solidFill>
                  <a:srgbClr val="C00000"/>
                </a:solidFill>
              </a:rPr>
              <a:t>MATHEMATICAL INDUCTION</a:t>
            </a:r>
            <a:r>
              <a:rPr lang="en-US" sz="3100" b="1" u="sng" dirty="0" smtClean="0">
                <a:solidFill>
                  <a:srgbClr val="C00000"/>
                </a:solidFill>
              </a:rPr>
              <a:t/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19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we have an </a:t>
            </a:r>
            <a:r>
              <a:rPr lang="en-US" dirty="0" smtClean="0">
                <a:solidFill>
                  <a:srgbClr val="C00000"/>
                </a:solidFill>
              </a:rPr>
              <a:t>infinite ladder</a:t>
            </a:r>
            <a:r>
              <a:rPr lang="en-US" dirty="0" smtClean="0"/>
              <a:t>, and we want to know whether we can reach every step on this </a:t>
            </a:r>
            <a:r>
              <a:rPr lang="en-US" dirty="0" smtClean="0">
                <a:solidFill>
                  <a:srgbClr val="C00000"/>
                </a:solidFill>
              </a:rPr>
              <a:t>ladder.</a:t>
            </a:r>
            <a:r>
              <a:rPr lang="en-US" dirty="0" smtClean="0"/>
              <a:t> We know two things:</a:t>
            </a:r>
          </a:p>
          <a:p>
            <a:endParaRPr lang="en-US" dirty="0" smtClean="0"/>
          </a:p>
          <a:p>
            <a:pPr lvl="1"/>
            <a:r>
              <a:rPr lang="en-US" sz="2500" dirty="0" smtClean="0"/>
              <a:t>We can reach</a:t>
            </a:r>
            <a:r>
              <a:rPr lang="en-US" sz="2500" dirty="0" smtClean="0">
                <a:solidFill>
                  <a:srgbClr val="C00000"/>
                </a:solidFill>
              </a:rPr>
              <a:t> first rung</a:t>
            </a:r>
            <a:r>
              <a:rPr lang="en-US" sz="2500" dirty="0" smtClean="0"/>
              <a:t> of the </a:t>
            </a:r>
            <a:r>
              <a:rPr lang="en-US" sz="2500" dirty="0" smtClean="0">
                <a:solidFill>
                  <a:srgbClr val="C00000"/>
                </a:solidFill>
              </a:rPr>
              <a:t>ladder</a:t>
            </a:r>
            <a:r>
              <a:rPr lang="en-US" sz="2500" dirty="0" smtClean="0"/>
              <a:t>.</a:t>
            </a:r>
          </a:p>
          <a:p>
            <a:pPr lvl="1"/>
            <a:r>
              <a:rPr lang="en-US" sz="2500" dirty="0" smtClean="0"/>
              <a:t>If we can reach a </a:t>
            </a:r>
            <a:r>
              <a:rPr lang="en-US" sz="2500" dirty="0" smtClean="0">
                <a:solidFill>
                  <a:srgbClr val="C00000"/>
                </a:solidFill>
              </a:rPr>
              <a:t>particular rung</a:t>
            </a:r>
            <a:r>
              <a:rPr lang="en-US" sz="2500" dirty="0" smtClean="0"/>
              <a:t> of the </a:t>
            </a:r>
            <a:r>
              <a:rPr lang="en-US" sz="2500" dirty="0" smtClean="0">
                <a:solidFill>
                  <a:srgbClr val="C00000"/>
                </a:solidFill>
              </a:rPr>
              <a:t>ladder</a:t>
            </a:r>
            <a:r>
              <a:rPr lang="en-US" sz="2500" dirty="0" smtClean="0"/>
              <a:t>, then we can reach the </a:t>
            </a:r>
            <a:r>
              <a:rPr lang="en-US" sz="2500" dirty="0" smtClean="0">
                <a:solidFill>
                  <a:srgbClr val="C00000"/>
                </a:solidFill>
              </a:rPr>
              <a:t>next rung</a:t>
            </a:r>
            <a:r>
              <a:rPr lang="en-US" sz="2500" dirty="0" smtClean="0"/>
              <a:t>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8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76200"/>
            <a:ext cx="4806604" cy="667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4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Many theorems state that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positive integers ‘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’. Where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1 + 2 + 3 + ….. + n = n(n + 1)/2</a:t>
            </a:r>
          </a:p>
          <a:p>
            <a:pPr>
              <a:buNone/>
            </a:pPr>
            <a:r>
              <a:rPr lang="en-US" dirty="0" smtClean="0"/>
              <a:t>					  or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			n ≤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  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Mathematical induction </a:t>
            </a:r>
            <a:r>
              <a:rPr lang="en-US" dirty="0" smtClean="0"/>
              <a:t>is a</a:t>
            </a:r>
            <a:r>
              <a:rPr lang="en-US" dirty="0" smtClean="0">
                <a:solidFill>
                  <a:srgbClr val="C00000"/>
                </a:solidFill>
              </a:rPr>
              <a:t> technique </a:t>
            </a:r>
            <a:r>
              <a:rPr lang="en-US" dirty="0" smtClean="0"/>
              <a:t>for proving</a:t>
            </a:r>
            <a:r>
              <a:rPr lang="en-US" dirty="0" smtClean="0">
                <a:solidFill>
                  <a:srgbClr val="C00000"/>
                </a:solidFill>
              </a:rPr>
              <a:t> theorems </a:t>
            </a:r>
            <a:r>
              <a:rPr lang="en-US" dirty="0" smtClean="0"/>
              <a:t>of this kind.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In other words, </a:t>
            </a:r>
            <a:r>
              <a:rPr lang="en-US" dirty="0" smtClean="0">
                <a:solidFill>
                  <a:srgbClr val="C00000"/>
                </a:solidFill>
              </a:rPr>
              <a:t>Mathematical Induction </a:t>
            </a:r>
            <a:r>
              <a:rPr lang="en-US" dirty="0" smtClean="0"/>
              <a:t>is used to prove propositions of the form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nP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(n)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pPr lvl="1">
              <a:buNone/>
            </a:pP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sz="2400" dirty="0" smtClean="0">
                <a:sym typeface="Symbol" pitchFamily="18" charset="2"/>
              </a:rPr>
              <a:t>When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	Universe of discourse </a:t>
            </a:r>
            <a:r>
              <a:rPr lang="en-US" sz="2400" dirty="0" smtClean="0">
                <a:sym typeface="Symbol" pitchFamily="18" charset="2"/>
              </a:rPr>
              <a:t>is the set of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positive integers.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PRINCIPLE OF MATHEMATICAL INDUCTION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 defined for all positive integers n.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every positive integer n if: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       The proposition </a:t>
            </a:r>
            <a:r>
              <a:rPr lang="en-US" dirty="0" smtClean="0">
                <a:solidFill>
                  <a:srgbClr val="C00000"/>
                </a:solidFill>
              </a:rPr>
              <a:t>P(1)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Inductive Step:</a:t>
            </a:r>
            <a:r>
              <a:rPr lang="en-US" b="1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If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P(k + 1)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</a:t>
            </a:r>
          </a:p>
          <a:p>
            <a:pPr>
              <a:buNone/>
            </a:pPr>
            <a:r>
              <a:rPr lang="en-US" dirty="0" smtClean="0"/>
              <a:t>				i.e.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</a:t>
            </a:r>
            <a:r>
              <a:rPr lang="en-US" dirty="0" smtClean="0">
                <a:solidFill>
                  <a:srgbClr val="C00000"/>
                </a:solidFill>
              </a:rPr>
              <a:t>k P(k)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P(k + 1)</a:t>
            </a:r>
          </a:p>
          <a:p>
            <a:endParaRPr lang="en-US" dirty="0" smtClean="0"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Mathematical Induction to prove that</a:t>
            </a:r>
          </a:p>
          <a:p>
            <a:pPr>
              <a:buNone/>
            </a:pPr>
            <a:r>
              <a:rPr lang="en-US" dirty="0" smtClean="0"/>
              <a:t>					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 Let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b="1" dirty="0" smtClean="0"/>
              <a:t>		       </a:t>
            </a:r>
            <a:r>
              <a:rPr lang="en-US" dirty="0" smtClean="0"/>
              <a:t>P(1) is true.</a:t>
            </a:r>
          </a:p>
          <a:p>
            <a:pPr>
              <a:buNone/>
            </a:pPr>
            <a:r>
              <a:rPr lang="en-US" dirty="0" smtClean="0"/>
              <a:t>	For n = 1, left hand side of P(1) is the sum of all the successive integers starting at 1 and ending at 1, so LHS = 1 and RHS  is 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8481" name="Object 1"/>
          <p:cNvGraphicFramePr>
            <a:graphicFrameLocks noChangeAspect="1"/>
          </p:cNvGraphicFramePr>
          <p:nvPr/>
        </p:nvGraphicFramePr>
        <p:xfrm>
          <a:off x="2033872" y="1637728"/>
          <a:ext cx="301466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95" r:id="rId3" imgW="1612800" imgH="393480" progId="">
                  <p:embed/>
                </p:oleObj>
              </mc:Choice>
              <mc:Fallback>
                <p:oleObj r:id="rId3" imgW="161280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872" y="1637728"/>
                        <a:ext cx="301466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2" name="Object 2"/>
          <p:cNvGraphicFramePr>
            <a:graphicFrameLocks noChangeAspect="1"/>
          </p:cNvGraphicFramePr>
          <p:nvPr/>
        </p:nvGraphicFramePr>
        <p:xfrm>
          <a:off x="2028824" y="2952464"/>
          <a:ext cx="368617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96" r:id="rId5" imgW="1993680" imgH="393480" progId="">
                  <p:embed/>
                </p:oleObj>
              </mc:Choice>
              <mc:Fallback>
                <p:oleObj r:id="rId5" imgW="19936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4" y="2952464"/>
                        <a:ext cx="3686176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and RHS  is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so the proposition is true for n = 1.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Suppose P(k) is true for, some 				   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</a:t>
            </a:r>
          </a:p>
          <a:p>
            <a:pPr>
              <a:buNone/>
            </a:pPr>
            <a:r>
              <a:rPr lang="en-US" dirty="0" smtClean="0"/>
              <a:t>	    (1)</a:t>
            </a:r>
          </a:p>
          <a:p>
            <a:pPr>
              <a:buNone/>
            </a:pPr>
            <a:r>
              <a:rPr lang="en-US" dirty="0" smtClean="0"/>
              <a:t>	 </a:t>
            </a:r>
          </a:p>
          <a:p>
            <a:pPr>
              <a:buNone/>
            </a:pPr>
            <a:r>
              <a:rPr lang="en-US" dirty="0" smtClean="0"/>
              <a:t>	To prove P(k + 1) is true. That is,</a:t>
            </a:r>
          </a:p>
          <a:p>
            <a:pPr>
              <a:buNone/>
            </a:pPr>
            <a:r>
              <a:rPr lang="en-US" dirty="0" smtClean="0"/>
              <a:t>	    (2)</a:t>
            </a:r>
          </a:p>
          <a:p>
            <a:endParaRPr lang="en-US" dirty="0"/>
          </a:p>
        </p:txBody>
      </p:sp>
      <p:graphicFrame>
        <p:nvGraphicFramePr>
          <p:cNvPr id="147457" name="Object 1"/>
          <p:cNvGraphicFramePr>
            <a:graphicFrameLocks noChangeAspect="1"/>
          </p:cNvGraphicFramePr>
          <p:nvPr/>
        </p:nvGraphicFramePr>
        <p:xfrm>
          <a:off x="2743199" y="1561528"/>
          <a:ext cx="28956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78" r:id="rId3" imgW="1447560" imgH="393480" progId="">
                  <p:embed/>
                </p:oleObj>
              </mc:Choice>
              <mc:Fallback>
                <p:oleObj r:id="rId3" imgW="144756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1561528"/>
                        <a:ext cx="289560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58" name="Object 2"/>
          <p:cNvGraphicFramePr>
            <a:graphicFrameLocks noChangeAspect="1"/>
          </p:cNvGraphicFramePr>
          <p:nvPr/>
        </p:nvGraphicFramePr>
        <p:xfrm>
          <a:off x="1828800" y="3981736"/>
          <a:ext cx="318611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79" r:id="rId5" imgW="1612800" imgH="393480" progId="">
                  <p:embed/>
                </p:oleObj>
              </mc:Choice>
              <mc:Fallback>
                <p:oleObj r:id="rId5" imgW="16128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981736"/>
                        <a:ext cx="318611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59" name="Object 3"/>
          <p:cNvGraphicFramePr>
            <a:graphicFrameLocks noChangeAspect="1"/>
          </p:cNvGraphicFramePr>
          <p:nvPr/>
        </p:nvGraphicFramePr>
        <p:xfrm>
          <a:off x="1836760" y="5369256"/>
          <a:ext cx="3810002" cy="63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80" r:id="rId7" imgW="2222280" imgH="393480" progId="">
                  <p:embed/>
                </p:oleObj>
              </mc:Choice>
              <mc:Fallback>
                <p:oleObj r:id="rId7" imgW="222228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60" y="5369256"/>
                        <a:ext cx="3810002" cy="6361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Consider L.H.S. of (2)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by </a:t>
            </a:r>
            <a:r>
              <a:rPr lang="en-US" dirty="0" smtClean="0">
                <a:solidFill>
                  <a:srgbClr val="C00000"/>
                </a:solidFill>
              </a:rPr>
              <a:t>principle of Mathematical Induction</a:t>
            </a:r>
            <a:r>
              <a:rPr lang="en-US" dirty="0" smtClean="0"/>
              <a:t> the given result true for all integers greater or equal to 1.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534232" y="1651376"/>
          <a:ext cx="6549634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41" r:id="rId3" imgW="3352680" imgH="1930320" progId="">
                  <p:embed/>
                </p:oleObj>
              </mc:Choice>
              <mc:Fallback>
                <p:oleObj r:id="rId3" imgW="3352680" imgH="19303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232" y="1651376"/>
                        <a:ext cx="6549634" cy="358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mathematical induction to prove that</a:t>
            </a:r>
          </a:p>
          <a:p>
            <a:pPr>
              <a:buNone/>
            </a:pPr>
            <a:r>
              <a:rPr lang="en-US" dirty="0" smtClean="0"/>
              <a:t>         1+3+5+…+(2n -1) = n</a:t>
            </a:r>
            <a:r>
              <a:rPr lang="en-US" baseline="30000" dirty="0" smtClean="0"/>
              <a:t>2</a:t>
            </a:r>
            <a:r>
              <a:rPr lang="en-US" dirty="0" smtClean="0"/>
              <a:t>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mathematical induction to prove that</a:t>
            </a:r>
          </a:p>
          <a:p>
            <a:pPr>
              <a:buNone/>
            </a:pPr>
            <a:r>
              <a:rPr lang="en-US" dirty="0" smtClean="0"/>
              <a:t>         1+3+5+…+(2n -1) = n</a:t>
            </a:r>
            <a:r>
              <a:rPr lang="en-US" baseline="30000" dirty="0" smtClean="0"/>
              <a:t>2</a:t>
            </a:r>
            <a:r>
              <a:rPr lang="en-US" dirty="0" smtClean="0"/>
              <a:t>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the equation 1+3+5+…+(2n -1) = n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                   P(1) is true</a:t>
            </a:r>
          </a:p>
          <a:p>
            <a:pPr>
              <a:buNone/>
            </a:pPr>
            <a:r>
              <a:rPr lang="en-US" dirty="0" smtClean="0"/>
              <a:t>                   For n = 1, L.H.S of P(1) = 1and </a:t>
            </a:r>
          </a:p>
          <a:p>
            <a:pPr>
              <a:buNone/>
            </a:pPr>
            <a:r>
              <a:rPr lang="en-US" dirty="0" smtClean="0"/>
              <a:t>                    R.H.S =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                               Hence the equation is true for n = 1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95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1. That is,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 + 3 + 5 + … + (2k - 1) = k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…………………(1)</a:t>
            </a:r>
          </a:p>
          <a:p>
            <a:pPr>
              <a:buNone/>
            </a:pP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	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true; i.e.,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 + 3 + 5 + … +[2(k+1)-1] = (k+1)</a:t>
            </a:r>
            <a:r>
              <a:rPr lang="en-US" baseline="30000" dirty="0" smtClean="0">
                <a:solidFill>
                  <a:srgbClr val="C00000"/>
                </a:solidFill>
              </a:rPr>
              <a:t> 2</a:t>
            </a:r>
            <a:r>
              <a:rPr lang="en-US" dirty="0" smtClean="0"/>
              <a:t>    …….…(2)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L.H.S. of (2)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Thus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 Hence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, the given equation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93538" name="Object 2"/>
          <p:cNvGraphicFramePr>
            <a:graphicFrameLocks noChangeAspect="1"/>
          </p:cNvGraphicFramePr>
          <p:nvPr/>
        </p:nvGraphicFramePr>
        <p:xfrm>
          <a:off x="829094" y="2022144"/>
          <a:ext cx="7652493" cy="2321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45" r:id="rId3" imgW="3809880" imgH="1155600" progId="">
                  <p:embed/>
                </p:oleObj>
              </mc:Choice>
              <mc:Fallback>
                <p:oleObj r:id="rId3" imgW="3809880" imgH="1155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094" y="2022144"/>
                        <a:ext cx="7652493" cy="2321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 </a:t>
            </a:r>
          </a:p>
          <a:p>
            <a:pPr>
              <a:buNone/>
            </a:pPr>
            <a:r>
              <a:rPr lang="en-US" dirty="0" smtClean="0"/>
              <a:t>             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… + 2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n+1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– 1</a:t>
            </a:r>
            <a:r>
              <a:rPr lang="en-US" dirty="0"/>
              <a:t> </a:t>
            </a:r>
            <a:r>
              <a:rPr lang="en-US" dirty="0" smtClean="0"/>
              <a:t>for </a:t>
            </a:r>
            <a:r>
              <a:rPr lang="en-US" dirty="0" smtClean="0"/>
              <a:t>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 </a:t>
            </a:r>
          </a:p>
          <a:p>
            <a:pPr>
              <a:buNone/>
            </a:pPr>
            <a:r>
              <a:rPr lang="en-US" dirty="0" smtClean="0"/>
              <a:t>             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… + 2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n+1</a:t>
            </a:r>
            <a:r>
              <a:rPr lang="en-US" dirty="0" smtClean="0">
                <a:solidFill>
                  <a:srgbClr val="C00000"/>
                </a:solidFill>
              </a:rPr>
              <a:t> - 1</a:t>
            </a:r>
            <a:r>
              <a:rPr lang="en-US" dirty="0" smtClean="0"/>
              <a:t>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Let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P(n): 1 + 2 + 2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… + 2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endParaRPr lang="en-US" dirty="0" smtClean="0"/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b="1" dirty="0" smtClean="0"/>
              <a:t>  </a:t>
            </a:r>
          </a:p>
          <a:p>
            <a:pPr lvl="0">
              <a:buNone/>
            </a:pPr>
            <a:r>
              <a:rPr lang="en-US" b="1" dirty="0" smtClean="0"/>
              <a:t>           </a:t>
            </a:r>
            <a:r>
              <a:rPr lang="en-US" dirty="0" smtClean="0"/>
              <a:t>P(0) is true.</a:t>
            </a:r>
          </a:p>
          <a:p>
            <a:pPr>
              <a:buNone/>
            </a:pPr>
            <a:r>
              <a:rPr lang="en-US" dirty="0" smtClean="0"/>
              <a:t>           For n = 0</a:t>
            </a:r>
          </a:p>
          <a:p>
            <a:pPr>
              <a:buNone/>
            </a:pPr>
            <a:r>
              <a:rPr lang="en-US" dirty="0" smtClean="0"/>
              <a:t>			L.H.S of P(0) = 1</a:t>
            </a:r>
          </a:p>
          <a:p>
            <a:pPr>
              <a:buNone/>
            </a:pPr>
            <a:r>
              <a:rPr lang="en-US" dirty="0" smtClean="0"/>
              <a:t>			R.H.S of P(0) = 2</a:t>
            </a:r>
            <a:r>
              <a:rPr lang="en-US" baseline="30000" dirty="0" smtClean="0"/>
              <a:t>0+1</a:t>
            </a:r>
            <a:r>
              <a:rPr lang="en-US" dirty="0" smtClean="0"/>
              <a:t> - 1 = 2 - 1 = 1</a:t>
            </a:r>
          </a:p>
          <a:p>
            <a:pPr>
              <a:buNone/>
            </a:pPr>
            <a:r>
              <a:rPr lang="en-US" dirty="0" smtClean="0"/>
              <a:t>		           Hence P(0) is true.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7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Step: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       </a:t>
            </a:r>
            <a:r>
              <a:rPr lang="en-US" dirty="0" smtClean="0"/>
              <a:t>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0; i.e.,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  <a:r>
              <a:rPr lang="en-US" dirty="0" smtClean="0"/>
              <a:t>……………………(1)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true, i.e.,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dirty="0" smtClean="0">
                <a:solidFill>
                  <a:srgbClr val="C00000"/>
                </a:solidFill>
              </a:rPr>
              <a:t>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k+1+1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  <a:r>
              <a:rPr lang="en-US" dirty="0" smtClean="0"/>
              <a:t>……………..…(2)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LHS of equation (2)</a:t>
            </a:r>
          </a:p>
          <a:p>
            <a:pPr>
              <a:buNone/>
            </a:pPr>
            <a:r>
              <a:rPr lang="en-US" dirty="0" smtClean="0"/>
              <a:t>			  1+2+2</a:t>
            </a:r>
            <a:r>
              <a:rPr lang="en-US" baseline="30000" dirty="0" smtClean="0"/>
              <a:t>2</a:t>
            </a:r>
            <a:r>
              <a:rPr lang="en-US" dirty="0" smtClean="0"/>
              <a:t>+…+2</a:t>
            </a:r>
            <a:r>
              <a:rPr lang="en-US" baseline="30000" dirty="0" smtClean="0"/>
              <a:t>k+1</a:t>
            </a:r>
            <a:r>
              <a:rPr lang="en-US" dirty="0" smtClean="0">
                <a:solidFill>
                  <a:srgbClr val="C00000"/>
                </a:solidFill>
              </a:rPr>
              <a:t>= (1+2+2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+…+2</a:t>
            </a:r>
            <a:r>
              <a:rPr lang="en-US" baseline="30000" dirty="0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) + 2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        			      = </a:t>
            </a:r>
            <a:r>
              <a:rPr lang="en-US" dirty="0" smtClean="0">
                <a:solidFill>
                  <a:srgbClr val="C00000"/>
                </a:solidFill>
              </a:rPr>
              <a:t>(2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1) +2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2·2</a:t>
            </a:r>
            <a:r>
              <a:rPr lang="en-US" baseline="30000" dirty="0" smtClean="0">
                <a:solidFill>
                  <a:srgbClr val="C00000"/>
                </a:solidFill>
              </a:rPr>
              <a:t>k+1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k+1+1</a:t>
            </a:r>
            <a:r>
              <a:rPr lang="en-US" dirty="0" smtClean="0">
                <a:solidFill>
                  <a:srgbClr val="C00000"/>
                </a:solidFill>
              </a:rPr>
              <a:t> – 1</a:t>
            </a:r>
          </a:p>
          <a:p>
            <a:pPr>
              <a:buNone/>
            </a:pPr>
            <a:r>
              <a:rPr lang="en-US" dirty="0" smtClean="0"/>
              <a:t>					      = </a:t>
            </a:r>
            <a:r>
              <a:rPr lang="en-US" dirty="0" smtClean="0">
                <a:solidFill>
                  <a:srgbClr val="C00000"/>
                </a:solidFill>
              </a:rPr>
              <a:t>R.H.S of (2)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Hence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 and consequently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propositional function is true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900" dirty="0" smtClean="0"/>
              <a:t>Prove by mathematical induction</a:t>
            </a:r>
          </a:p>
          <a:p>
            <a:pPr>
              <a:buNone/>
            </a:pPr>
            <a:r>
              <a:rPr lang="en-US" sz="2900" dirty="0" smtClean="0"/>
              <a:t>                                             </a:t>
            </a:r>
          </a:p>
          <a:p>
            <a:pPr>
              <a:buNone/>
            </a:pPr>
            <a:r>
              <a:rPr lang="en-US" sz="2900" dirty="0" smtClean="0"/>
              <a:t>        </a:t>
            </a:r>
            <a:r>
              <a:rPr lang="en-US" sz="2900" b="1" dirty="0" smtClean="0">
                <a:solidFill>
                  <a:srgbClr val="0070C0"/>
                </a:solidFill>
              </a:rPr>
              <a:t>		</a:t>
            </a:r>
            <a:r>
              <a:rPr lang="en-US" sz="2900" dirty="0" smtClean="0"/>
              <a:t> for all integers n </a:t>
            </a:r>
            <a:r>
              <a:rPr lang="en-US" sz="2900" dirty="0" smtClean="0">
                <a:sym typeface="Symbol"/>
              </a:rPr>
              <a:t></a:t>
            </a:r>
            <a:r>
              <a:rPr lang="en-US" sz="2900" dirty="0" smtClean="0"/>
              <a:t>1.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87393" name="Object 1"/>
          <p:cNvGraphicFramePr>
            <a:graphicFrameLocks noChangeAspect="1"/>
          </p:cNvGraphicFramePr>
          <p:nvPr/>
        </p:nvGraphicFramePr>
        <p:xfrm>
          <a:off x="2270831" y="1502392"/>
          <a:ext cx="4434769" cy="72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4" r:id="rId3" imgW="2311200" imgH="393480" progId="">
                  <p:embed/>
                </p:oleObj>
              </mc:Choice>
              <mc:Fallback>
                <p:oleObj r:id="rId3" imgW="2311200" imgH="39348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831" y="1502392"/>
                        <a:ext cx="4434769" cy="7213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 smtClean="0"/>
              <a:t>Prove by mathematical induction</a:t>
            </a:r>
          </a:p>
          <a:p>
            <a:pPr>
              <a:buNone/>
            </a:pPr>
            <a:r>
              <a:rPr lang="en-US" sz="2900" dirty="0" smtClean="0"/>
              <a:t>                                             </a:t>
            </a:r>
          </a:p>
          <a:p>
            <a:pPr>
              <a:buNone/>
            </a:pPr>
            <a:r>
              <a:rPr lang="en-US" sz="2900" dirty="0" smtClean="0"/>
              <a:t>               		                        		</a:t>
            </a:r>
          </a:p>
          <a:p>
            <a:r>
              <a:rPr lang="en-US" sz="2900" b="1" u="sng" dirty="0" smtClean="0">
                <a:solidFill>
                  <a:srgbClr val="0070C0"/>
                </a:solidFill>
              </a:rPr>
              <a:t>PROOF:</a:t>
            </a:r>
            <a:r>
              <a:rPr lang="en-US" sz="2900" b="1" dirty="0" smtClean="0">
                <a:solidFill>
                  <a:srgbClr val="0070C0"/>
                </a:solidFill>
              </a:rPr>
              <a:t>					</a:t>
            </a:r>
            <a:r>
              <a:rPr lang="en-US" sz="2900" dirty="0" smtClean="0"/>
              <a:t> for all integers n </a:t>
            </a:r>
            <a:r>
              <a:rPr lang="en-US" sz="2900" dirty="0" smtClean="0">
                <a:sym typeface="Symbol"/>
              </a:rPr>
              <a:t></a:t>
            </a:r>
            <a:r>
              <a:rPr lang="en-US" sz="2900" dirty="0" smtClean="0"/>
              <a:t>1.</a:t>
            </a:r>
            <a:endParaRPr lang="en-US" sz="2900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900" dirty="0" smtClean="0"/>
              <a:t>		 Let </a:t>
            </a:r>
            <a:r>
              <a:rPr lang="en-US" sz="2900" dirty="0" smtClean="0">
                <a:solidFill>
                  <a:srgbClr val="C00000"/>
                </a:solidFill>
              </a:rPr>
              <a:t>P(n)</a:t>
            </a:r>
            <a:r>
              <a:rPr lang="en-US" sz="2900" dirty="0" smtClean="0"/>
              <a:t> denotes the given equation</a:t>
            </a:r>
          </a:p>
          <a:p>
            <a:pPr lvl="0">
              <a:buNone/>
            </a:pPr>
            <a:r>
              <a:rPr lang="en-US" sz="2900" b="1" dirty="0" smtClean="0"/>
              <a:t>	</a:t>
            </a:r>
            <a:r>
              <a:rPr lang="en-US" sz="2900" b="1" dirty="0" smtClean="0">
                <a:solidFill>
                  <a:srgbClr val="C00000"/>
                </a:solidFill>
              </a:rPr>
              <a:t>Basis step: </a:t>
            </a:r>
            <a:r>
              <a:rPr lang="en-US" sz="2900" b="1" dirty="0" smtClean="0"/>
              <a:t> </a:t>
            </a:r>
            <a:endParaRPr lang="en-US" sz="2900" dirty="0" smtClean="0"/>
          </a:p>
          <a:p>
            <a:pPr>
              <a:buNone/>
            </a:pPr>
            <a:r>
              <a:rPr lang="en-US" sz="2900" b="1" dirty="0" smtClean="0"/>
              <a:t>                       </a:t>
            </a:r>
            <a:r>
              <a:rPr lang="en-US" sz="2900" dirty="0" smtClean="0"/>
              <a:t>P(1) is true</a:t>
            </a:r>
          </a:p>
          <a:p>
            <a:pPr>
              <a:buNone/>
            </a:pPr>
            <a:r>
              <a:rPr lang="en-US" sz="2900" dirty="0" smtClean="0"/>
              <a:t>                       For n = 1</a:t>
            </a:r>
          </a:p>
          <a:p>
            <a:pPr>
              <a:buNone/>
            </a:pPr>
            <a:r>
              <a:rPr lang="en-US" sz="2900" dirty="0" smtClean="0"/>
              <a:t>                              L.H.S of P(1) = 1</a:t>
            </a:r>
            <a:r>
              <a:rPr lang="en-US" sz="2900" baseline="30000" dirty="0" smtClean="0"/>
              <a:t>2</a:t>
            </a:r>
            <a:r>
              <a:rPr lang="en-US" sz="2900" dirty="0" smtClean="0"/>
              <a:t> = 1</a:t>
            </a:r>
          </a:p>
          <a:p>
            <a:pPr>
              <a:buNone/>
            </a:pPr>
            <a:r>
              <a:rPr lang="en-US" sz="2900" dirty="0" smtClean="0"/>
              <a:t> 		</a:t>
            </a:r>
          </a:p>
          <a:p>
            <a:pPr>
              <a:buNone/>
            </a:pPr>
            <a:r>
              <a:rPr lang="en-US" sz="2900" dirty="0" smtClean="0"/>
              <a:t>		  R.H.S of P(1)</a:t>
            </a:r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endParaRPr lang="en-US" sz="2900" dirty="0" smtClean="0"/>
          </a:p>
          <a:p>
            <a:pPr>
              <a:buNone/>
            </a:pPr>
            <a:r>
              <a:rPr lang="en-US" sz="2900" dirty="0" smtClean="0"/>
              <a:t>		So L.H.S = R.H.S of P(1).Hence P(1) is true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87393" name="Object 1"/>
          <p:cNvGraphicFramePr>
            <a:graphicFrameLocks noChangeAspect="1"/>
          </p:cNvGraphicFramePr>
          <p:nvPr/>
        </p:nvGraphicFramePr>
        <p:xfrm>
          <a:off x="2270831" y="1502392"/>
          <a:ext cx="4434769" cy="72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0" r:id="rId3" imgW="2311200" imgH="393480" progId="">
                  <p:embed/>
                </p:oleObj>
              </mc:Choice>
              <mc:Fallback>
                <p:oleObj r:id="rId3" imgW="2311200" imgH="393480" progId="">
                  <p:embed/>
                  <p:pic>
                    <p:nvPicPr>
                      <p:cNvPr id="18739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831" y="1502392"/>
                        <a:ext cx="4434769" cy="7213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4" name="Object 2"/>
          <p:cNvGraphicFramePr>
            <a:graphicFrameLocks noChangeAspect="1"/>
          </p:cNvGraphicFramePr>
          <p:nvPr/>
        </p:nvGraphicFramePr>
        <p:xfrm>
          <a:off x="2930856" y="4284133"/>
          <a:ext cx="1905000" cy="1354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1" r:id="rId5" imgW="1143000" imgH="812520" progId="">
                  <p:embed/>
                </p:oleObj>
              </mc:Choice>
              <mc:Fallback>
                <p:oleObj r:id="rId5" imgW="1143000" imgH="812520" progId="">
                  <p:embed/>
                  <p:pic>
                    <p:nvPicPr>
                      <p:cNvPr id="1873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856" y="4284133"/>
                        <a:ext cx="1905000" cy="1354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846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1; </a:t>
            </a:r>
          </a:p>
          <a:p>
            <a:pPr>
              <a:buNone/>
            </a:pPr>
            <a:r>
              <a:rPr lang="en-US" dirty="0" smtClean="0"/>
              <a:t>		 					            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true; i.e.;</a:t>
            </a:r>
          </a:p>
          <a:p>
            <a:pPr>
              <a:buNone/>
            </a:pPr>
            <a:r>
              <a:rPr lang="en-US" dirty="0" smtClean="0"/>
              <a:t>							            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Consider </a:t>
            </a:r>
            <a:r>
              <a:rPr lang="en-US" dirty="0" smtClean="0">
                <a:solidFill>
                  <a:srgbClr val="C00000"/>
                </a:solidFill>
              </a:rPr>
              <a:t>LHS of above equation (2)</a:t>
            </a:r>
          </a:p>
          <a:p>
            <a:endParaRPr lang="en-US" dirty="0"/>
          </a:p>
        </p:txBody>
      </p:sp>
      <p:graphicFrame>
        <p:nvGraphicFramePr>
          <p:cNvPr id="194562" name="Object 2"/>
          <p:cNvGraphicFramePr>
            <a:graphicFrameLocks noChangeAspect="1"/>
          </p:cNvGraphicFramePr>
          <p:nvPr/>
        </p:nvGraphicFramePr>
        <p:xfrm>
          <a:off x="1845698" y="2133600"/>
          <a:ext cx="404843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3" r:id="rId3" imgW="2323800" imgH="393480" progId="">
                  <p:embed/>
                </p:oleObj>
              </mc:Choice>
              <mc:Fallback>
                <p:oleObj r:id="rId3" imgW="23238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698" y="2133600"/>
                        <a:ext cx="404843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3" name="Object 3"/>
          <p:cNvGraphicFramePr>
            <a:graphicFrameLocks noChangeAspect="1"/>
          </p:cNvGraphicFramePr>
          <p:nvPr/>
        </p:nvGraphicFramePr>
        <p:xfrm>
          <a:off x="1147916" y="3581400"/>
          <a:ext cx="586248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4" r:id="rId5" imgW="3365280" imgH="393480" progId="">
                  <p:embed/>
                </p:oleObj>
              </mc:Choice>
              <mc:Fallback>
                <p:oleObj r:id="rId5" imgW="336528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916" y="3581400"/>
                        <a:ext cx="5862484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4" name="Object 4"/>
          <p:cNvGraphicFramePr>
            <a:graphicFrameLocks noChangeAspect="1"/>
          </p:cNvGraphicFramePr>
          <p:nvPr/>
        </p:nvGraphicFramePr>
        <p:xfrm>
          <a:off x="1143000" y="5029200"/>
          <a:ext cx="691286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5" r:id="rId7" imgW="3759120" imgH="1066680" progId="">
                  <p:embed/>
                </p:oleObj>
              </mc:Choice>
              <mc:Fallback>
                <p:oleObj r:id="rId7" imgW="3759120" imgH="10666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9200"/>
                        <a:ext cx="6912866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5585" name="Object 1"/>
          <p:cNvGraphicFramePr>
            <a:graphicFrameLocks noChangeAspect="1"/>
          </p:cNvGraphicFramePr>
          <p:nvPr/>
        </p:nvGraphicFramePr>
        <p:xfrm>
          <a:off x="3124199" y="1162336"/>
          <a:ext cx="3400704" cy="4933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2" r:id="rId3" imgW="1841500" imgH="2667000" progId="">
                  <p:embed/>
                </p:oleObj>
              </mc:Choice>
              <mc:Fallback>
                <p:oleObj r:id="rId3" imgW="1841500" imgH="26670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162336"/>
                        <a:ext cx="3400704" cy="4933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Prove by mathematical induction</a:t>
            </a:r>
          </a:p>
          <a:p>
            <a:pPr>
              <a:buNone/>
            </a:pPr>
            <a:r>
              <a:rPr lang="en-US" dirty="0" smtClean="0"/>
              <a:t>							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</p:txBody>
      </p:sp>
      <p:graphicFrame>
        <p:nvGraphicFramePr>
          <p:cNvPr id="171009" name="Object 1"/>
          <p:cNvGraphicFramePr>
            <a:graphicFrameLocks noChangeAspect="1"/>
          </p:cNvGraphicFramePr>
          <p:nvPr/>
        </p:nvGraphicFramePr>
        <p:xfrm>
          <a:off x="2321256" y="1491016"/>
          <a:ext cx="3555999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5" r:id="rId3" imgW="1955520" imgH="419040" progId="">
                  <p:embed/>
                </p:oleObj>
              </mc:Choice>
              <mc:Fallback>
                <p:oleObj r:id="rId3" imgW="1955520" imgH="4190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256" y="1491016"/>
                        <a:ext cx="3555999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Prove by mathematical induction</a:t>
            </a:r>
          </a:p>
          <a:p>
            <a:pPr>
              <a:buNone/>
            </a:pPr>
            <a:r>
              <a:rPr lang="en-US" dirty="0" smtClean="0"/>
              <a:t>							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P(n)</a:t>
            </a:r>
            <a:r>
              <a:rPr lang="en-US" dirty="0" smtClean="0"/>
              <a:t> be the given equation.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b="1" dirty="0" smtClean="0"/>
              <a:t>	                          </a:t>
            </a:r>
            <a:r>
              <a:rPr lang="en-US" dirty="0" smtClean="0"/>
              <a:t>P(1) is true</a:t>
            </a:r>
          </a:p>
          <a:p>
            <a:pPr>
              <a:buNone/>
            </a:pPr>
            <a:r>
              <a:rPr lang="en-US" dirty="0" smtClean="0"/>
              <a:t>                              For n = 1</a:t>
            </a:r>
          </a:p>
          <a:p>
            <a:pPr>
              <a:buNone/>
            </a:pPr>
            <a:r>
              <a:rPr lang="en-US" dirty="0" smtClean="0"/>
              <a:t>                              	L.H.S of P(1) =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                              	R.H.S of P(1) =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                             Hence P(1) is true</a:t>
            </a:r>
          </a:p>
        </p:txBody>
      </p:sp>
      <p:graphicFrame>
        <p:nvGraphicFramePr>
          <p:cNvPr id="171009" name="Object 1"/>
          <p:cNvGraphicFramePr>
            <a:graphicFrameLocks noChangeAspect="1"/>
          </p:cNvGraphicFramePr>
          <p:nvPr/>
        </p:nvGraphicFramePr>
        <p:xfrm>
          <a:off x="2321256" y="1491016"/>
          <a:ext cx="3555999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7" r:id="rId3" imgW="1955520" imgH="419040" progId="">
                  <p:embed/>
                </p:oleObj>
              </mc:Choice>
              <mc:Fallback>
                <p:oleObj r:id="rId3" imgW="1955520" imgH="419040" progId="">
                  <p:embed/>
                  <p:pic>
                    <p:nvPicPr>
                      <p:cNvPr id="1710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256" y="1491016"/>
                        <a:ext cx="3555999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1" name="Object 3"/>
          <p:cNvGraphicFramePr>
            <a:graphicFrameLocks noChangeAspect="1"/>
          </p:cNvGraphicFramePr>
          <p:nvPr/>
        </p:nvGraphicFramePr>
        <p:xfrm>
          <a:off x="5003799" y="4142096"/>
          <a:ext cx="1778001" cy="64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8" r:id="rId5" imgW="939600" imgH="393480" progId="">
                  <p:embed/>
                </p:oleObj>
              </mc:Choice>
              <mc:Fallback>
                <p:oleObj r:id="rId5" imgW="939600" imgH="393480" progId="">
                  <p:embed/>
                  <p:pic>
                    <p:nvPicPr>
                      <p:cNvPr id="1710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799" y="4142096"/>
                        <a:ext cx="1778001" cy="643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5064456" y="4857463"/>
          <a:ext cx="914400" cy="644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9" r:id="rId7" imgW="558720" imgH="393480" progId="">
                  <p:embed/>
                </p:oleObj>
              </mc:Choice>
              <mc:Fallback>
                <p:oleObj r:id="rId7" imgW="558720" imgH="393480" progId="">
                  <p:embed/>
                  <p:pic>
                    <p:nvPicPr>
                      <p:cNvPr id="171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456" y="4857463"/>
                        <a:ext cx="914400" cy="6442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339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   Suppose </a:t>
            </a:r>
            <a:r>
              <a:rPr lang="en-US" dirty="0" smtClean="0">
                <a:solidFill>
                  <a:srgbClr val="C00000"/>
                </a:solidFill>
              </a:rPr>
              <a:t>P(k)</a:t>
            </a:r>
            <a:r>
              <a:rPr lang="en-US" dirty="0" smtClean="0"/>
              <a:t> is true, for some integer k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r>
              <a:rPr lang="en-US" dirty="0" smtClean="0"/>
              <a:t>	   That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</a:t>
            </a:r>
          </a:p>
          <a:p>
            <a:pPr>
              <a:buNone/>
            </a:pPr>
            <a:r>
              <a:rPr lang="en-US" dirty="0" smtClean="0"/>
              <a:t>	    To prove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true. That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   Now we will consider the L.H.S of the equation (2)  and will try to get the R.H.S by using equation ( 1) and some simple computation.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211970" name="Object 2"/>
          <p:cNvGraphicFramePr>
            <a:graphicFrameLocks noChangeAspect="1"/>
          </p:cNvGraphicFramePr>
          <p:nvPr/>
        </p:nvGraphicFramePr>
        <p:xfrm>
          <a:off x="2539997" y="2438400"/>
          <a:ext cx="355600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84" r:id="rId3" imgW="1955520" imgH="419040" progId="">
                  <p:embed/>
                </p:oleObj>
              </mc:Choice>
              <mc:Fallback>
                <p:oleObj r:id="rId3" imgW="19555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997" y="2438400"/>
                        <a:ext cx="355600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1" name="Object 3"/>
          <p:cNvGraphicFramePr>
            <a:graphicFrameLocks noChangeAspect="1"/>
          </p:cNvGraphicFramePr>
          <p:nvPr/>
        </p:nvGraphicFramePr>
        <p:xfrm>
          <a:off x="2544615" y="4191000"/>
          <a:ext cx="469438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85" r:id="rId5" imgW="2717640" imgH="419040" progId="">
                  <p:embed/>
                </p:oleObj>
              </mc:Choice>
              <mc:Fallback>
                <p:oleObj r:id="rId5" imgW="271764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615" y="4191000"/>
                        <a:ext cx="469438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900" dirty="0" smtClean="0">
                <a:latin typeface="+mn-lt"/>
              </a:rPr>
              <a:t>Consider </a:t>
            </a:r>
            <a:r>
              <a:rPr lang="en-US" sz="2900" dirty="0" smtClean="0">
                <a:solidFill>
                  <a:srgbClr val="C00000"/>
                </a:solidFill>
                <a:latin typeface="+mn-lt"/>
              </a:rPr>
              <a:t>LHS of (2)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12994" name="Object 2"/>
          <p:cNvGraphicFramePr>
            <a:graphicFrameLocks noChangeAspect="1"/>
          </p:cNvGraphicFramePr>
          <p:nvPr/>
        </p:nvGraphicFramePr>
        <p:xfrm>
          <a:off x="2971799" y="849264"/>
          <a:ext cx="4312086" cy="219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8" r:id="rId3" imgW="2565360" imgH="1307880" progId="">
                  <p:embed/>
                </p:oleObj>
              </mc:Choice>
              <mc:Fallback>
                <p:oleObj r:id="rId3" imgW="2565360" imgH="13078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799" y="849264"/>
                        <a:ext cx="4312086" cy="2198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5" name="Object 3"/>
          <p:cNvGraphicFramePr>
            <a:graphicFrameLocks noChangeAspect="1"/>
          </p:cNvGraphicFramePr>
          <p:nvPr/>
        </p:nvGraphicFramePr>
        <p:xfrm>
          <a:off x="2993407" y="3040039"/>
          <a:ext cx="2046831" cy="3276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09" r:id="rId5" imgW="952200" imgH="2019240" progId="">
                  <p:embed/>
                </p:oleObj>
              </mc:Choice>
              <mc:Fallback>
                <p:oleObj r:id="rId5" imgW="952200" imgH="2019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3407" y="3040039"/>
                        <a:ext cx="2046831" cy="3276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</a:t>
            </a:r>
            <a:r>
              <a:rPr lang="en-US" dirty="0" smtClean="0">
                <a:solidFill>
                  <a:srgbClr val="C00000"/>
                </a:solidFill>
              </a:rPr>
              <a:t>P(k+1)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and so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equation is true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 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</a:t>
            </a:r>
          </a:p>
          <a:p>
            <a:endParaRPr lang="en-US" dirty="0" smtClean="0"/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b="1" dirty="0" smtClean="0"/>
              <a:t>  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To prove the formula for n = 0, </a:t>
            </a:r>
          </a:p>
          <a:p>
            <a:pPr>
              <a:buNone/>
            </a:pPr>
            <a:r>
              <a:rPr lang="en-US" dirty="0" smtClean="0"/>
              <a:t>	we need to show that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Now, L.H.S =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69985" name="Object 1"/>
          <p:cNvGraphicFramePr>
            <a:graphicFrameLocks noChangeAspect="1"/>
          </p:cNvGraphicFramePr>
          <p:nvPr/>
        </p:nvGraphicFramePr>
        <p:xfrm>
          <a:off x="2133600" y="1747921"/>
          <a:ext cx="5334000" cy="538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6" r:id="rId3" imgW="2895480" imgH="291960" progId="">
                  <p:embed/>
                </p:oleObj>
              </mc:Choice>
              <mc:Fallback>
                <p:oleObj r:id="rId3" imgW="2895480" imgH="29196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47921"/>
                        <a:ext cx="5334000" cy="5380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6" name="Object 2"/>
          <p:cNvGraphicFramePr>
            <a:graphicFrameLocks noChangeAspect="1"/>
          </p:cNvGraphicFramePr>
          <p:nvPr/>
        </p:nvGraphicFramePr>
        <p:xfrm>
          <a:off x="2590800" y="4651130"/>
          <a:ext cx="2743200" cy="60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7" r:id="rId5" imgW="1320480" imgH="291960" progId="">
                  <p:embed/>
                </p:oleObj>
              </mc:Choice>
              <mc:Fallback>
                <p:oleObj r:id="rId5" imgW="1320480" imgH="2919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651130"/>
                        <a:ext cx="2743200" cy="6066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7" name="Object 3"/>
          <p:cNvGraphicFramePr>
            <a:graphicFrameLocks noChangeAspect="1"/>
          </p:cNvGraphicFramePr>
          <p:nvPr/>
        </p:nvGraphicFramePr>
        <p:xfrm>
          <a:off x="3276599" y="5359399"/>
          <a:ext cx="2514601" cy="584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8" r:id="rId7" imgW="1257120" imgH="291960" progId="">
                  <p:embed/>
                </p:oleObj>
              </mc:Choice>
              <mc:Fallback>
                <p:oleObj r:id="rId7" imgW="1257120" imgH="2919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599" y="5359399"/>
                        <a:ext cx="2514601" cy="584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	 R.H.S = 0·2</a:t>
            </a:r>
            <a:r>
              <a:rPr lang="en-US" baseline="30000" dirty="0" smtClean="0"/>
              <a:t>2</a:t>
            </a:r>
            <a:r>
              <a:rPr lang="en-US" dirty="0" smtClean="0"/>
              <a:t> + 2 = 0 + 2 = 2</a:t>
            </a:r>
          </a:p>
          <a:p>
            <a:pPr>
              <a:buNone/>
            </a:pPr>
            <a:r>
              <a:rPr lang="en-US" dirty="0" smtClean="0"/>
              <a:t>		Hence the formula is true for n =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Step: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dirty="0" smtClean="0"/>
              <a:t>Suppose for some integer n=k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</a:t>
            </a:r>
          </a:p>
          <a:p>
            <a:pPr>
              <a:buNone/>
            </a:pPr>
            <a:r>
              <a:rPr lang="en-US" dirty="0" smtClean="0"/>
              <a:t>		                     			………(1)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We must show that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endParaRPr lang="en-US" dirty="0"/>
          </a:p>
        </p:txBody>
      </p:sp>
      <p:graphicFrame>
        <p:nvGraphicFramePr>
          <p:cNvPr id="168961" name="Object 1"/>
          <p:cNvGraphicFramePr>
            <a:graphicFrameLocks noChangeAspect="1"/>
          </p:cNvGraphicFramePr>
          <p:nvPr/>
        </p:nvGraphicFramePr>
        <p:xfrm>
          <a:off x="2806699" y="3594099"/>
          <a:ext cx="2603501" cy="5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5" r:id="rId3" imgW="1384200" imgH="291960" progId="">
                  <p:embed/>
                </p:oleObj>
              </mc:Choice>
              <mc:Fallback>
                <p:oleObj r:id="rId3" imgW="1384200" imgH="29196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699" y="3594099"/>
                        <a:ext cx="2603501" cy="5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1752600" y="5029198"/>
          <a:ext cx="6642101" cy="66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6" r:id="rId5" imgW="3288960" imgH="330120" progId="">
                  <p:embed/>
                </p:oleObj>
              </mc:Choice>
              <mc:Fallback>
                <p:oleObj r:id="rId5" imgW="3288960" imgH="3301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029198"/>
                        <a:ext cx="6642101" cy="666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LHS of (2)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the </a:t>
            </a:r>
            <a:r>
              <a:rPr lang="en-US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/>
              <a:t> is proved as well. Accordingly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the given formula is true 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0.</a:t>
            </a:r>
          </a:p>
        </p:txBody>
      </p:sp>
      <p:graphicFrame>
        <p:nvGraphicFramePr>
          <p:cNvPr id="214018" name="Object 2"/>
          <p:cNvGraphicFramePr>
            <a:graphicFrameLocks noChangeAspect="1"/>
          </p:cNvGraphicFramePr>
          <p:nvPr/>
        </p:nvGraphicFramePr>
        <p:xfrm>
          <a:off x="2057399" y="1646832"/>
          <a:ext cx="513397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9" r:id="rId3" imgW="2666880" imgH="1777680" progId="">
                  <p:embed/>
                </p:oleObj>
              </mc:Choice>
              <mc:Fallback>
                <p:oleObj r:id="rId3" imgW="2666880" imgH="1777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399" y="1646832"/>
                        <a:ext cx="5133975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572607"/>
              </p:ext>
            </p:extLst>
          </p:nvPr>
        </p:nvGraphicFramePr>
        <p:xfrm>
          <a:off x="1250949" y="180939"/>
          <a:ext cx="6642101" cy="66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30" r:id="rId5" imgW="3288960" imgH="330120" progId="">
                  <p:embed/>
                </p:oleObj>
              </mc:Choice>
              <mc:Fallback>
                <p:oleObj r:id="rId5" imgW="3288960" imgH="330120" progId="">
                  <p:embed/>
                  <p:pic>
                    <p:nvPicPr>
                      <p:cNvPr id="1689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49" y="180939"/>
                        <a:ext cx="6642101" cy="666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</a:t>
            </a:r>
          </a:p>
          <a:p>
            <a:pPr>
              <a:buNone/>
            </a:pPr>
            <a:r>
              <a:rPr lang="en-US" dirty="0" smtClean="0"/>
              <a:t>						    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2</a:t>
            </a:r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 lvl="0">
              <a:buNone/>
            </a:pP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67937" name="Object 1"/>
          <p:cNvGraphicFramePr>
            <a:graphicFrameLocks noChangeAspect="1"/>
          </p:cNvGraphicFramePr>
          <p:nvPr/>
        </p:nvGraphicFramePr>
        <p:xfrm>
          <a:off x="992838" y="1676399"/>
          <a:ext cx="426496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52" r:id="rId3" imgW="2197080" imgH="431640" progId="">
                  <p:embed/>
                </p:oleObj>
              </mc:Choice>
              <mc:Fallback>
                <p:oleObj r:id="rId3" imgW="219708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838" y="1676399"/>
                        <a:ext cx="426496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 to prove that</a:t>
            </a:r>
          </a:p>
          <a:p>
            <a:pPr>
              <a:buNone/>
            </a:pPr>
            <a:r>
              <a:rPr lang="en-US" dirty="0" smtClean="0"/>
              <a:t>						    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2</a:t>
            </a:r>
          </a:p>
          <a:p>
            <a:endParaRPr lang="en-US" b="1" u="sng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 lvl="0"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b="1" dirty="0" smtClean="0"/>
              <a:t>		 </a:t>
            </a:r>
            <a:r>
              <a:rPr lang="en-US" dirty="0" smtClean="0"/>
              <a:t>For n = 2</a:t>
            </a:r>
          </a:p>
          <a:p>
            <a:pPr>
              <a:buNone/>
            </a:pPr>
            <a:r>
              <a:rPr lang="en-US" dirty="0" smtClean="0"/>
              <a:t>		 L.H.S</a:t>
            </a:r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/>
              <a:t>		 R.H.S </a:t>
            </a:r>
          </a:p>
          <a:p>
            <a:pPr>
              <a:buNone/>
            </a:pPr>
            <a:r>
              <a:rPr lang="pt-BR" dirty="0" smtClean="0"/>
              <a:t>	</a:t>
            </a:r>
          </a:p>
          <a:p>
            <a:pPr>
              <a:buNone/>
            </a:pPr>
            <a:r>
              <a:rPr lang="en-US" dirty="0" smtClean="0"/>
              <a:t>	Hence the given formula is true for n = 2</a:t>
            </a:r>
            <a:endParaRPr lang="pt-BR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67937" name="Object 1"/>
          <p:cNvGraphicFramePr>
            <a:graphicFrameLocks noChangeAspect="1"/>
          </p:cNvGraphicFramePr>
          <p:nvPr/>
        </p:nvGraphicFramePr>
        <p:xfrm>
          <a:off x="992838" y="1676399"/>
          <a:ext cx="426496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71" r:id="rId3" imgW="2197080" imgH="431640" progId="">
                  <p:embed/>
                </p:oleObj>
              </mc:Choice>
              <mc:Fallback>
                <p:oleObj r:id="rId3" imgW="2197080" imgH="431640" progId="">
                  <p:embed/>
                  <p:pic>
                    <p:nvPicPr>
                      <p:cNvPr id="1679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838" y="1676399"/>
                        <a:ext cx="426496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8" name="Object 2"/>
          <p:cNvGraphicFramePr>
            <a:graphicFrameLocks noChangeAspect="1"/>
          </p:cNvGraphicFramePr>
          <p:nvPr/>
        </p:nvGraphicFramePr>
        <p:xfrm>
          <a:off x="2299648" y="3622344"/>
          <a:ext cx="2438400" cy="804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72" r:id="rId5" imgW="1193760" imgH="393480" progId="">
                  <p:embed/>
                </p:oleObj>
              </mc:Choice>
              <mc:Fallback>
                <p:oleObj r:id="rId5" imgW="1193760" imgH="393480" progId="">
                  <p:embed/>
                  <p:pic>
                    <p:nvPicPr>
                      <p:cNvPr id="1679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9648" y="3622344"/>
                        <a:ext cx="2438400" cy="8041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2356512" y="4521952"/>
          <a:ext cx="1287440" cy="772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73" r:id="rId7" imgW="698400" imgH="419040" progId="">
                  <p:embed/>
                </p:oleObj>
              </mc:Choice>
              <mc:Fallback>
                <p:oleObj r:id="rId7" imgW="698400" imgH="419040" progId="">
                  <p:embed/>
                  <p:pic>
                    <p:nvPicPr>
                      <p:cNvPr id="167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512" y="4521952"/>
                        <a:ext cx="1287440" cy="7724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988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Suppose for some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2</a:t>
            </a:r>
          </a:p>
          <a:p>
            <a:pPr>
              <a:buNone/>
            </a:pPr>
            <a:r>
              <a:rPr lang="en-US" dirty="0" smtClean="0"/>
              <a:t>							………….(1)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must show that</a:t>
            </a:r>
          </a:p>
          <a:p>
            <a:pPr>
              <a:buNone/>
            </a:pPr>
            <a:r>
              <a:rPr lang="en-US" dirty="0" smtClean="0"/>
              <a:t>								…..(2)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Consider </a:t>
            </a:r>
            <a:r>
              <a:rPr lang="en-US" dirty="0" smtClean="0">
                <a:solidFill>
                  <a:srgbClr val="C00000"/>
                </a:solidFill>
              </a:rPr>
              <a:t>L.H.S of (2)</a:t>
            </a:r>
          </a:p>
          <a:p>
            <a:endParaRPr lang="en-US" dirty="0"/>
          </a:p>
        </p:txBody>
      </p:sp>
      <p:graphicFrame>
        <p:nvGraphicFramePr>
          <p:cNvPr id="166913" name="Object 1"/>
          <p:cNvGraphicFramePr>
            <a:graphicFrameLocks noChangeAspect="1"/>
          </p:cNvGraphicFramePr>
          <p:nvPr/>
        </p:nvGraphicFramePr>
        <p:xfrm>
          <a:off x="1748112" y="2190463"/>
          <a:ext cx="3966888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7" r:id="rId3" imgW="2247840" imgH="431640" progId="">
                  <p:embed/>
                </p:oleObj>
              </mc:Choice>
              <mc:Fallback>
                <p:oleObj r:id="rId3" imgW="224784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8112" y="2190463"/>
                        <a:ext cx="3966888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4" name="Object 2"/>
          <p:cNvGraphicFramePr>
            <a:graphicFrameLocks noChangeAspect="1"/>
          </p:cNvGraphicFramePr>
          <p:nvPr/>
        </p:nvGraphicFramePr>
        <p:xfrm>
          <a:off x="1790700" y="3548416"/>
          <a:ext cx="4933100" cy="789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28" r:id="rId5" imgW="2857320" imgH="457200" progId="">
                  <p:embed/>
                </p:oleObj>
              </mc:Choice>
              <mc:Fallback>
                <p:oleObj r:id="rId5" imgW="285732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548416"/>
                        <a:ext cx="4933100" cy="7892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215042" name="Object 2"/>
          <p:cNvGraphicFramePr>
            <a:graphicFrameLocks noChangeAspect="1"/>
          </p:cNvGraphicFramePr>
          <p:nvPr/>
        </p:nvGraphicFramePr>
        <p:xfrm>
          <a:off x="1981200" y="349446"/>
          <a:ext cx="4953000" cy="4451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6" r:id="rId3" imgW="2882880" imgH="2590560" progId="">
                  <p:embed/>
                </p:oleObj>
              </mc:Choice>
              <mc:Fallback>
                <p:oleObj r:id="rId3" imgW="2882880" imgH="25905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9446"/>
                        <a:ext cx="4953000" cy="4451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3" name="Object 3"/>
          <p:cNvGraphicFramePr>
            <a:graphicFrameLocks noChangeAspect="1"/>
          </p:cNvGraphicFramePr>
          <p:nvPr/>
        </p:nvGraphicFramePr>
        <p:xfrm>
          <a:off x="2016456" y="4482151"/>
          <a:ext cx="2743200" cy="147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7" r:id="rId5" imgW="1650960" imgH="888840" progId="">
                  <p:embed/>
                </p:oleObj>
              </mc:Choice>
              <mc:Fallback>
                <p:oleObj r:id="rId5" imgW="1650960" imgH="8888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456" y="4482151"/>
                        <a:ext cx="2743200" cy="14771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6" name="Rectangle 6"/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219200"/>
            <a:ext cx="8487901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1200" dirty="0" smtClean="0">
              <a:solidFill>
                <a:srgbClr val="000000"/>
              </a:solidFill>
              <a:latin typeface="Times New Roman" pitchFamily="18" charset="0"/>
              <a:ea typeface="MS Mincho" pitchFamily="49" charset="-128"/>
              <a:cs typeface="Times New Roman" pitchFamily="18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MS Mincho" pitchFamily="49" charset="-128"/>
                <a:cs typeface="Times New Roman" pitchFamily="18" charset="0"/>
              </a:rPr>
              <a:t> Hence by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MS Mincho" pitchFamily="49" charset="-128"/>
                <a:cs typeface="Times New Roman" pitchFamily="18" charset="0"/>
              </a:rPr>
              <a:t> mathematical induction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MS Mincho" pitchFamily="49" charset="-128"/>
                <a:cs typeface="Times New Roman" pitchFamily="18" charset="0"/>
              </a:rPr>
              <a:t> the given equation is </a:t>
            </a:r>
            <a:r>
              <a:rPr kumimoji="0" lang="en-US" altLang="ja-JP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MS Mincho" pitchFamily="49" charset="-128"/>
                <a:cs typeface="Times New Roman" pitchFamily="18" charset="0"/>
              </a:rPr>
              <a:t>true</a:t>
            </a:r>
            <a:endParaRPr kumimoji="0" lang="en-US" altLang="ja-JP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Prove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</a:p>
          <a:p>
            <a:pPr>
              <a:buNone/>
            </a:pPr>
            <a:r>
              <a:rPr lang="en-US" dirty="0" smtClean="0"/>
              <a:t>							for all integers n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Basis step: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/>
              <a:t>	                For n = 1</a:t>
            </a:r>
          </a:p>
          <a:p>
            <a:pPr>
              <a:buNone/>
            </a:pPr>
            <a:r>
              <a:rPr lang="en-US" dirty="0" smtClean="0"/>
              <a:t>			L.H.S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R.H.S = (1+1)! - 1 = 2! - 1</a:t>
            </a:r>
          </a:p>
          <a:p>
            <a:pPr>
              <a:buNone/>
            </a:pPr>
            <a:r>
              <a:rPr lang="en-US" dirty="0" smtClean="0"/>
              <a:t>	            	         = 2 -1 = 1</a:t>
            </a:r>
          </a:p>
          <a:p>
            <a:pPr>
              <a:buNone/>
            </a:pPr>
            <a:r>
              <a:rPr lang="en-US" dirty="0" smtClean="0"/>
              <a:t>     		Hence</a:t>
            </a:r>
          </a:p>
          <a:p>
            <a:pPr>
              <a:buNone/>
            </a:pPr>
            <a:r>
              <a:rPr lang="en-US" dirty="0" smtClean="0"/>
              <a:t>					which proves the basis step.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2679699" y="1524000"/>
          <a:ext cx="2578101" cy="55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6" r:id="rId3" imgW="1358640" imgH="291960" progId="">
                  <p:embed/>
                </p:oleObj>
              </mc:Choice>
              <mc:Fallback>
                <p:oleObj r:id="rId3" imgW="1358640" imgH="2919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699" y="1524000"/>
                        <a:ext cx="2578101" cy="5541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3124200" y="3563620"/>
          <a:ext cx="2755900" cy="55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7" r:id="rId5" imgW="1460160" imgH="291960" progId="">
                  <p:embed/>
                </p:oleObj>
              </mc:Choice>
              <mc:Fallback>
                <p:oleObj r:id="rId5" imgW="1460160" imgH="2919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63620"/>
                        <a:ext cx="2755900" cy="551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3428998" y="5181600"/>
          <a:ext cx="2514602" cy="55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8" r:id="rId7" imgW="1320480" imgH="291960" progId="">
                  <p:embed/>
                </p:oleObj>
              </mc:Choice>
              <mc:Fallback>
                <p:oleObj r:id="rId7" imgW="1320480" imgH="29196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8" y="5181600"/>
                        <a:ext cx="2514602" cy="5561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>
                <a:solidFill>
                  <a:srgbClr val="C00000"/>
                </a:solidFill>
              </a:rPr>
              <a:t>:  </a:t>
            </a:r>
          </a:p>
          <a:p>
            <a:pPr>
              <a:buNone/>
            </a:pPr>
            <a:r>
              <a:rPr lang="en-US" dirty="0" smtClean="0"/>
              <a:t>	Suppose for any integer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/>
              <a:t>							………..(1)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prove that</a:t>
            </a:r>
          </a:p>
          <a:p>
            <a:pPr>
              <a:buNone/>
            </a:pPr>
            <a:r>
              <a:rPr lang="en-US" dirty="0" smtClean="0"/>
              <a:t>							..………(2)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Consider </a:t>
            </a:r>
            <a:r>
              <a:rPr lang="en-US" dirty="0" smtClean="0">
                <a:solidFill>
                  <a:srgbClr val="C00000"/>
                </a:solidFill>
              </a:rPr>
              <a:t>LHS of 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2133600" y="2174544"/>
          <a:ext cx="2743200" cy="589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1" r:id="rId3" imgW="1358640" imgH="291960" progId="">
                  <p:embed/>
                </p:oleObj>
              </mc:Choice>
              <mc:Fallback>
                <p:oleObj r:id="rId3" imgW="1358640" imgH="2919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74544"/>
                        <a:ext cx="2743200" cy="589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2168855" y="3665560"/>
          <a:ext cx="328653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2" r:id="rId5" imgW="1574640" imgH="291960" progId="">
                  <p:embed/>
                </p:oleObj>
              </mc:Choice>
              <mc:Fallback>
                <p:oleObj r:id="rId5" imgW="1574640" imgH="2919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855" y="3665560"/>
                        <a:ext cx="3286539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the </a:t>
            </a:r>
            <a:r>
              <a:rPr lang="en-US" dirty="0" smtClean="0">
                <a:solidFill>
                  <a:srgbClr val="C00000"/>
                </a:solidFill>
              </a:rPr>
              <a:t>inductive step</a:t>
            </a:r>
            <a:r>
              <a:rPr lang="en-US" dirty="0" smtClean="0"/>
              <a:t> is also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Accordingly, by </a:t>
            </a:r>
            <a:r>
              <a:rPr lang="en-US" dirty="0" smtClean="0">
                <a:solidFill>
                  <a:srgbClr val="C00000"/>
                </a:solidFill>
              </a:rPr>
              <a:t>mathematical induction</a:t>
            </a:r>
            <a:r>
              <a:rPr lang="en-US" dirty="0" smtClean="0"/>
              <a:t>, the given formula is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1.</a:t>
            </a:r>
          </a:p>
          <a:p>
            <a:endParaRPr lang="en-US" dirty="0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/>
        </p:nvGraphicFramePr>
        <p:xfrm>
          <a:off x="2171699" y="1295398"/>
          <a:ext cx="4502200" cy="3276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97" r:id="rId3" imgW="2286000" imgH="1663560" progId="">
                  <p:embed/>
                </p:oleObj>
              </mc:Choice>
              <mc:Fallback>
                <p:oleObj r:id="rId3" imgW="2286000" imgH="16635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1295398"/>
                        <a:ext cx="4502200" cy="3276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4961</TotalTime>
  <Words>493</Words>
  <Application>Microsoft Office PowerPoint</Application>
  <PresentationFormat>On-screen Show (4:3)</PresentationFormat>
  <Paragraphs>361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ＭＳ Ｐゴシック</vt:lpstr>
      <vt:lpstr>Arial</vt:lpstr>
      <vt:lpstr>Bookman Old Style</vt:lpstr>
      <vt:lpstr>Gill Sans MT</vt:lpstr>
      <vt:lpstr>MS Mincho</vt:lpstr>
      <vt:lpstr>Symbol</vt:lpstr>
      <vt:lpstr>Times New Roman</vt:lpstr>
      <vt:lpstr>Wingdings</vt:lpstr>
      <vt:lpstr>Wingdings 3</vt:lpstr>
      <vt:lpstr>Origin</vt:lpstr>
      <vt:lpstr>MATHEMATICAL INDUCTION Lecture # 19  </vt:lpstr>
      <vt:lpstr>INTRODUCTION</vt:lpstr>
      <vt:lpstr>PowerPoint Presentation</vt:lpstr>
      <vt:lpstr>PowerPoint Presentation</vt:lpstr>
      <vt:lpstr>PowerPoint Presentation</vt:lpstr>
      <vt:lpstr>PRINCIPLE OF MATHEMATICAL INDUCTION</vt:lpstr>
      <vt:lpstr>EXAMPLE</vt:lpstr>
      <vt:lpstr>PowerPoint Presentation</vt:lpstr>
      <vt:lpstr>PowerPoint Presentation</vt:lpstr>
      <vt:lpstr>EXERCISE</vt:lpstr>
      <vt:lpstr>EXERCISE</vt:lpstr>
      <vt:lpstr>PowerPoint Presentation</vt:lpstr>
      <vt:lpstr>PowerPoint Presentation</vt:lpstr>
      <vt:lpstr>EXERCISE</vt:lpstr>
      <vt:lpstr>EXERCISE</vt:lpstr>
      <vt:lpstr>PowerPoint Presentation</vt:lpstr>
      <vt:lpstr>PowerPoint Presentation</vt:lpstr>
      <vt:lpstr>EXERCISE</vt:lpstr>
      <vt:lpstr>EXERCISE</vt:lpstr>
      <vt:lpstr>PowerPoint Presentation</vt:lpstr>
      <vt:lpstr>PowerPoint Presentation</vt:lpstr>
      <vt:lpstr>EXERCISE</vt:lpstr>
      <vt:lpstr>EXERCISE</vt:lpstr>
      <vt:lpstr>PowerPoint Presentation</vt:lpstr>
      <vt:lpstr>Consider LHS of (2) </vt:lpstr>
      <vt:lpstr>PowerPoint Presentation</vt:lpstr>
      <vt:lpstr>EXERCISE</vt:lpstr>
      <vt:lpstr>PowerPoint Presentation</vt:lpstr>
      <vt:lpstr>PowerPoint Presentation</vt:lpstr>
      <vt:lpstr>EXERCISE</vt:lpstr>
      <vt:lpstr>EXERCISE</vt:lpstr>
      <vt:lpstr>PowerPoint Presentation</vt:lpstr>
      <vt:lpstr>PowerPoint Presentation</vt:lpstr>
      <vt:lpstr>EXERCISE</vt:lpstr>
      <vt:lpstr>PowerPoint Presentation</vt:lpstr>
      <vt:lpstr>PowerPoint Presentation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373</cp:revision>
  <dcterms:created xsi:type="dcterms:W3CDTF">2004-09-16T16:06:30Z</dcterms:created>
  <dcterms:modified xsi:type="dcterms:W3CDTF">2024-03-29T06:38:35Z</dcterms:modified>
</cp:coreProperties>
</file>
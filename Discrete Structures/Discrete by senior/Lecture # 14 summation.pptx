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4"/>
  </p:notesMasterIdLst>
  <p:sldIdLst>
    <p:sldId id="256" r:id="rId2"/>
    <p:sldId id="288" r:id="rId3"/>
    <p:sldId id="289" r:id="rId4"/>
    <p:sldId id="329" r:id="rId5"/>
    <p:sldId id="290" r:id="rId6"/>
    <p:sldId id="291" r:id="rId7"/>
    <p:sldId id="292" r:id="rId8"/>
    <p:sldId id="293" r:id="rId9"/>
    <p:sldId id="294" r:id="rId10"/>
    <p:sldId id="330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8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9" r:id="rId51"/>
    <p:sldId id="340" r:id="rId52"/>
    <p:sldId id="341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03" autoAdjust="0"/>
    <p:restoredTop sz="94660"/>
  </p:normalViewPr>
  <p:slideViewPr>
    <p:cSldViewPr>
      <p:cViewPr varScale="1">
        <p:scale>
          <a:sx n="69" d="100"/>
          <a:sy n="69" d="100"/>
        </p:scale>
        <p:origin x="13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10/23/2023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2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3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1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3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5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6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9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SUMMATION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# 14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SERIES: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terms of a </a:t>
            </a:r>
            <a:r>
              <a:rPr lang="en-US" dirty="0" smtClean="0">
                <a:solidFill>
                  <a:srgbClr val="C00000"/>
                </a:solidFill>
              </a:rPr>
              <a:t>sequence forms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. If</a:t>
            </a:r>
          </a:p>
          <a:p>
            <a:pPr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, …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represent a </a:t>
            </a:r>
            <a:r>
              <a:rPr lang="en-US" dirty="0" smtClean="0">
                <a:solidFill>
                  <a:srgbClr val="C00000"/>
                </a:solidFill>
              </a:rPr>
              <a:t>sequence of numbers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corresponding series</a:t>
            </a:r>
            <a:r>
              <a:rPr lang="en-US" dirty="0" smtClean="0"/>
              <a:t> is: </a:t>
            </a:r>
          </a:p>
          <a:p>
            <a:pPr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+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endParaRPr lang="en-US" dirty="0"/>
          </a:p>
        </p:txBody>
      </p:sp>
      <p:graphicFrame>
        <p:nvGraphicFramePr>
          <p:cNvPr id="76801" name="Object 1"/>
          <p:cNvGraphicFramePr>
            <a:graphicFrameLocks noChangeAspect="1"/>
          </p:cNvGraphicFramePr>
          <p:nvPr/>
        </p:nvGraphicFramePr>
        <p:xfrm>
          <a:off x="4508500" y="4572000"/>
          <a:ext cx="1054100" cy="89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2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4572000"/>
                        <a:ext cx="1054100" cy="8954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4168391" y="4814887"/>
            <a:ext cx="1013209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</a:rPr>
              <a:t>=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68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SUMMATION NOTATION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capital </a:t>
            </a:r>
            <a:r>
              <a:rPr lang="en-US" dirty="0" smtClean="0">
                <a:solidFill>
                  <a:srgbClr val="C00000"/>
                </a:solidFill>
              </a:rPr>
              <a:t>Greek letter sigma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</a:t>
            </a:r>
            <a:r>
              <a:rPr lang="en-US" dirty="0" smtClean="0"/>
              <a:t> is used to write a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C00000"/>
                </a:solidFill>
              </a:rPr>
              <a:t>short hand notation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Hence            represents the sum given in expanded form by</a:t>
            </a:r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	= a</a:t>
            </a:r>
            <a:r>
              <a:rPr lang="en-US" baseline="-25000" dirty="0" smtClean="0"/>
              <a:t>1</a:t>
            </a:r>
            <a:r>
              <a:rPr lang="en-US" dirty="0" smtClean="0"/>
              <a:t> + a</a:t>
            </a:r>
            <a:r>
              <a:rPr lang="en-US" baseline="-25000" dirty="0" smtClean="0"/>
              <a:t>2</a:t>
            </a:r>
            <a:r>
              <a:rPr lang="en-US" dirty="0" smtClean="0"/>
              <a:t> + a</a:t>
            </a:r>
            <a:r>
              <a:rPr lang="en-US" baseline="-25000" dirty="0" smtClean="0"/>
              <a:t>3</a:t>
            </a:r>
            <a:r>
              <a:rPr lang="en-US" dirty="0" smtClean="0"/>
              <a:t> + … + a</a:t>
            </a:r>
            <a:r>
              <a:rPr lang="en-US" baseline="-25000" dirty="0" smtClean="0"/>
              <a:t>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Here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index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;  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olidFill>
                  <a:srgbClr val="C00000"/>
                </a:solidFill>
              </a:rPr>
              <a:t>Lower limit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1.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Upper limit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   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1769808" y="2116392"/>
          <a:ext cx="1054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2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808" y="2116392"/>
                        <a:ext cx="10541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2286000" y="3371850"/>
          <a:ext cx="1054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3" r:id="rId5" imgW="368280" imgH="431640" progId="">
                  <p:embed/>
                </p:oleObj>
              </mc:Choice>
              <mc:Fallback>
                <p:oleObj r:id="rId5" imgW="36828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71850"/>
                        <a:ext cx="10541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120148" y="5513847"/>
          <a:ext cx="533400" cy="34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84" name="Equation" r:id="rId6" imgW="152280" imgH="126720" progId="Equation.3">
                  <p:embed/>
                </p:oleObj>
              </mc:Choice>
              <mc:Fallback>
                <p:oleObj name="Equation" r:id="rId6" imgW="152280" imgH="126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0148" y="5513847"/>
                        <a:ext cx="533400" cy="3407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More generally if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integers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m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</a:t>
            </a:r>
            <a:r>
              <a:rPr lang="en-US" dirty="0" smtClean="0">
                <a:solidFill>
                  <a:srgbClr val="C00000"/>
                </a:solidFill>
              </a:rPr>
              <a:t> n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equal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of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where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represents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given in expanded form by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59746" name="Object 2"/>
          <p:cNvGraphicFramePr>
            <a:graphicFrameLocks noChangeAspect="1"/>
          </p:cNvGraphicFramePr>
          <p:nvPr/>
        </p:nvGraphicFramePr>
        <p:xfrm>
          <a:off x="2086896" y="2364660"/>
          <a:ext cx="502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47" r:id="rId3" imgW="2006280" imgH="431640" progId="">
                  <p:embed/>
                </p:oleObj>
              </mc:Choice>
              <mc:Fallback>
                <p:oleObj r:id="rId3" imgW="20062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896" y="2364660"/>
                        <a:ext cx="5029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COMPUTING SUMMATIONS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Compute</a:t>
            </a:r>
            <a:r>
              <a:rPr lang="en-US" dirty="0" smtClean="0"/>
              <a:t> each of the </a:t>
            </a:r>
            <a:r>
              <a:rPr lang="en-US" dirty="0" smtClean="0">
                <a:solidFill>
                  <a:srgbClr val="C00000"/>
                </a:solidFill>
              </a:rPr>
              <a:t>summations</a:t>
            </a:r>
            <a:r>
              <a:rPr lang="en-US" dirty="0" smtClean="0"/>
              <a:t>:</a:t>
            </a: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4753" name="Object 1"/>
          <p:cNvGraphicFramePr>
            <a:graphicFrameLocks noChangeAspect="1"/>
          </p:cNvGraphicFramePr>
          <p:nvPr/>
        </p:nvGraphicFramePr>
        <p:xfrm>
          <a:off x="990600" y="2590800"/>
          <a:ext cx="66751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4" r:id="rId3" imgW="3124080" imgH="444240" progId="">
                  <p:embed/>
                </p:oleObj>
              </mc:Choice>
              <mc:Fallback>
                <p:oleObj r:id="rId3" imgW="3124080" imgH="4442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667512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6248400" y="2775156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0, 1, 2, 3, 4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1.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0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1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2 + 3 + (-2) + 1 + 0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3729" name="Object 1"/>
          <p:cNvGraphicFramePr>
            <a:graphicFrameLocks noChangeAspect="1"/>
          </p:cNvGraphicFramePr>
          <p:nvPr/>
        </p:nvGraphicFramePr>
        <p:xfrm>
          <a:off x="1844298" y="2408694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1" r:id="rId3" imgW="342720" imgH="431640" progId="">
                  <p:embed/>
                </p:oleObj>
              </mc:Choice>
              <mc:Fallback>
                <p:oleObj r:id="rId3" imgW="34272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298" y="2408694"/>
                        <a:ext cx="838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" name="Object 2"/>
          <p:cNvGraphicFramePr>
            <a:graphicFrameLocks noChangeAspect="1"/>
          </p:cNvGraphicFramePr>
          <p:nvPr/>
        </p:nvGraphicFramePr>
        <p:xfrm>
          <a:off x="1859796" y="3795792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2" r:id="rId5" imgW="342720" imgH="431640" progId="">
                  <p:embed/>
                </p:oleObj>
              </mc:Choice>
              <mc:Fallback>
                <p:oleObj r:id="rId5" imgW="34272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796" y="3795792"/>
                        <a:ext cx="838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0, 1, 2 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2.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0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2 + (-2) + 0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0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2884" name="Object 4"/>
          <p:cNvGraphicFramePr>
            <a:graphicFrameLocks noChangeAspect="1"/>
          </p:cNvGraphicFramePr>
          <p:nvPr/>
        </p:nvGraphicFramePr>
        <p:xfrm>
          <a:off x="1846846" y="2393196"/>
          <a:ext cx="879566" cy="932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6" r:id="rId3" imgW="419040" imgH="444240" progId="">
                  <p:embed/>
                </p:oleObj>
              </mc:Choice>
              <mc:Fallback>
                <p:oleObj r:id="rId3" imgW="419040" imgH="4442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846" y="2393196"/>
                        <a:ext cx="879566" cy="9328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5"/>
          <p:cNvGraphicFramePr>
            <a:graphicFrameLocks noChangeAspect="1"/>
          </p:cNvGraphicFramePr>
          <p:nvPr/>
        </p:nvGraphicFramePr>
        <p:xfrm>
          <a:off x="1844298" y="3809325"/>
          <a:ext cx="8794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87" r:id="rId5" imgW="419040" imgH="444240" progId="">
                  <p:embed/>
                </p:oleObj>
              </mc:Choice>
              <mc:Fallback>
                <p:oleObj r:id="rId5" imgW="419040" imgH="4442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298" y="3809325"/>
                        <a:ext cx="879475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3.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1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3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1737102" y="2377698"/>
          <a:ext cx="975102" cy="97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0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102" y="2377698"/>
                        <a:ext cx="975102" cy="9751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9" name="Object 5"/>
          <p:cNvGraphicFramePr>
            <a:graphicFrameLocks noChangeAspect="1"/>
          </p:cNvGraphicFramePr>
          <p:nvPr/>
        </p:nvGraphicFramePr>
        <p:xfrm>
          <a:off x="1676400" y="3764796"/>
          <a:ext cx="9747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1" r:id="rId5" imgW="368280" imgH="431640" progId="">
                  <p:embed/>
                </p:oleObj>
              </mc:Choice>
              <mc:Fallback>
                <p:oleObj r:id="rId5" imgW="36828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64796"/>
                        <a:ext cx="974725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Compute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summations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1066800" y="1828800"/>
          <a:ext cx="734785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1" r:id="rId3" imgW="3809880" imgH="1981080" progId="">
                  <p:embed/>
                </p:oleObj>
              </mc:Choice>
              <mc:Fallback>
                <p:oleObj r:id="rId3" imgW="3809880" imgH="19810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28800"/>
                        <a:ext cx="7347857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Note that in both the </a:t>
            </a:r>
            <a:r>
              <a:rPr lang="en-US" b="1" dirty="0" smtClean="0">
                <a:solidFill>
                  <a:srgbClr val="C00000"/>
                </a:solidFill>
              </a:rPr>
              <a:t>examples</a:t>
            </a:r>
            <a:r>
              <a:rPr lang="en-US" dirty="0" smtClean="0"/>
              <a:t> we have </a:t>
            </a:r>
            <a:r>
              <a:rPr lang="en-US" b="1" dirty="0" smtClean="0">
                <a:solidFill>
                  <a:srgbClr val="C00000"/>
                </a:solidFill>
              </a:rPr>
              <a:t>constants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First example we have </a:t>
            </a:r>
            <a:r>
              <a:rPr lang="en-US" b="1" dirty="0" smtClean="0">
                <a:solidFill>
                  <a:srgbClr val="C00000"/>
                </a:solidFill>
              </a:rPr>
              <a:t>constant ‘-1’</a:t>
            </a:r>
            <a:r>
              <a:rPr lang="en-US" dirty="0" smtClean="0"/>
              <a:t> that constant appear in all three terms.</a:t>
            </a:r>
          </a:p>
          <a:p>
            <a:endParaRPr lang="en-US" dirty="0" smtClean="0"/>
          </a:p>
          <a:p>
            <a:r>
              <a:rPr lang="en-US" dirty="0" smtClean="0"/>
              <a:t>Similarly </a:t>
            </a:r>
            <a:r>
              <a:rPr lang="en-US" b="1" dirty="0" smtClean="0">
                <a:solidFill>
                  <a:srgbClr val="C00000"/>
                </a:solidFill>
              </a:rPr>
              <a:t>‘+2’</a:t>
            </a:r>
            <a:r>
              <a:rPr lang="en-US" dirty="0" smtClean="0"/>
              <a:t> in the second example.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constant term</a:t>
            </a:r>
            <a:r>
              <a:rPr lang="en-US" dirty="0" smtClean="0"/>
              <a:t> in series keep on </a:t>
            </a:r>
            <a:r>
              <a:rPr lang="en-US" b="1" dirty="0" smtClean="0">
                <a:solidFill>
                  <a:srgbClr val="C00000"/>
                </a:solidFill>
              </a:rPr>
              <a:t>adding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SUMMATION NOTATION TO EXPANDED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summation               to expanded form: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Lower Limit = 0</a:t>
            </a:r>
            <a:r>
              <a:rPr lang="en-US" dirty="0" smtClean="0"/>
              <a:t>,	</a:t>
            </a:r>
            <a:r>
              <a:rPr lang="en-US" dirty="0" smtClean="0">
                <a:solidFill>
                  <a:srgbClr val="C00000"/>
                </a:solidFill>
              </a:rPr>
              <a:t>Upper Limit = n</a:t>
            </a:r>
          </a:p>
          <a:p>
            <a:pPr>
              <a:buNone/>
            </a:pPr>
            <a:r>
              <a:rPr lang="en-US" dirty="0" smtClean="0"/>
              <a:t>		Total number of terms will be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25954" name="Object 2"/>
          <p:cNvGraphicFramePr>
            <a:graphicFrameLocks noChangeAspect="1"/>
          </p:cNvGraphicFramePr>
          <p:nvPr/>
        </p:nvGraphicFramePr>
        <p:xfrm>
          <a:off x="3733800" y="1125792"/>
          <a:ext cx="1264596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7" r:id="rId3" imgW="545760" imgH="444240" progId="">
                  <p:embed/>
                </p:oleObj>
              </mc:Choice>
              <mc:Fallback>
                <p:oleObj r:id="rId3" imgW="545760" imgH="4442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125792"/>
                        <a:ext cx="1264596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5" name="Object 3"/>
          <p:cNvGraphicFramePr>
            <a:graphicFrameLocks noChangeAspect="1"/>
          </p:cNvGraphicFramePr>
          <p:nvPr/>
        </p:nvGraphicFramePr>
        <p:xfrm>
          <a:off x="1523999" y="3594098"/>
          <a:ext cx="6646821" cy="90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8" r:id="rId5" imgW="3276360" imgH="444240" progId="">
                  <p:embed/>
                </p:oleObj>
              </mc:Choice>
              <mc:Fallback>
                <p:oleObj r:id="rId5" imgW="3276360" imgH="4442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999" y="3594098"/>
                        <a:ext cx="6646821" cy="9017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2772696" y="4571999"/>
          <a:ext cx="4343400" cy="163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9" r:id="rId7" imgW="2070000" imgH="838080" progId="">
                  <p:embed/>
                </p:oleObj>
              </mc:Choice>
              <mc:Fallback>
                <p:oleObj r:id="rId7" imgW="2070000" imgH="8380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696" y="4571999"/>
                        <a:ext cx="4343400" cy="16307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EXPANDED FORM TO SUMMATION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Write the following using summation notation: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B050"/>
                </a:solidFill>
              </a:rPr>
              <a:t>SOLUTION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Terms</a:t>
            </a:r>
            <a:r>
              <a:rPr lang="en-US" b="1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Numerators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For first term				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For second term				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dirty="0" smtClean="0"/>
              <a:t>	For third term				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For last term			       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</a:p>
          <a:p>
            <a:endParaRPr lang="en-US" dirty="0"/>
          </a:p>
        </p:txBody>
      </p:sp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1219199" y="1752599"/>
          <a:ext cx="4419601" cy="801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79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199" y="1752599"/>
                        <a:ext cx="4419601" cy="8012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      Terms</a:t>
            </a:r>
            <a:r>
              <a:rPr lang="en-US" b="1" dirty="0" smtClean="0"/>
              <a:t>			        </a:t>
            </a:r>
            <a:r>
              <a:rPr lang="en-US" b="1" dirty="0" smtClean="0">
                <a:solidFill>
                  <a:srgbClr val="C00000"/>
                </a:solidFill>
              </a:rPr>
              <a:t>Denominator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For first term	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</a:p>
          <a:p>
            <a:pPr>
              <a:buNone/>
            </a:pPr>
            <a:r>
              <a:rPr lang="en-US" dirty="0" smtClean="0"/>
              <a:t>	For second term			      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</a:p>
          <a:p>
            <a:pPr>
              <a:buNone/>
            </a:pPr>
            <a:r>
              <a:rPr lang="en-US" dirty="0" smtClean="0"/>
              <a:t>	For third term			       </a:t>
            </a:r>
            <a:r>
              <a:rPr lang="en-US" dirty="0" smtClean="0">
                <a:solidFill>
                  <a:srgbClr val="C00000"/>
                </a:solidFill>
              </a:rPr>
              <a:t>n + 2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For last term			          </a:t>
            </a:r>
            <a:r>
              <a:rPr lang="en-US" dirty="0" smtClean="0">
                <a:solidFill>
                  <a:srgbClr val="C00000"/>
                </a:solidFill>
              </a:rPr>
              <a:t>2n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1, 2, 3,…, n+1 are </a:t>
            </a:r>
            <a:r>
              <a:rPr lang="en-US" dirty="0" smtClean="0">
                <a:solidFill>
                  <a:srgbClr val="C00000"/>
                </a:solidFill>
              </a:rPr>
              <a:t>Numerators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numerators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00B050"/>
                </a:solidFill>
              </a:rPr>
              <a:t>arithmetic sequence</a:t>
            </a:r>
          </a:p>
          <a:p>
            <a:pPr>
              <a:buNone/>
            </a:pPr>
            <a:r>
              <a:rPr lang="en-US" dirty="0" smtClean="0"/>
              <a:t>			  a =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		&amp;         d =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=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		 </a:t>
            </a:r>
            <a:r>
              <a:rPr lang="pt-BR" dirty="0" smtClean="0"/>
              <a:t>n, n+1, n+2, …, 2n are </a:t>
            </a:r>
            <a:r>
              <a:rPr lang="pt-BR" dirty="0" smtClean="0">
                <a:solidFill>
                  <a:srgbClr val="C00000"/>
                </a:solidFill>
              </a:rPr>
              <a:t>Denomenators</a:t>
            </a:r>
            <a:r>
              <a:rPr lang="pt-BR" dirty="0" smtClean="0"/>
              <a:t>.</a:t>
            </a:r>
            <a:endParaRPr lang="en-US" dirty="0" smtClean="0"/>
          </a:p>
          <a:p>
            <a:r>
              <a:rPr lang="en-US" dirty="0" smtClean="0"/>
              <a:t>Similarly, </a:t>
            </a:r>
            <a:r>
              <a:rPr lang="en-US" dirty="0" smtClean="0">
                <a:solidFill>
                  <a:srgbClr val="C00000"/>
                </a:solidFill>
              </a:rPr>
              <a:t>denominators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00B050"/>
                </a:solidFill>
              </a:rPr>
              <a:t>arithmetic sequence</a:t>
            </a:r>
            <a:r>
              <a:rPr lang="en-US" dirty="0" smtClean="0"/>
              <a:t>           </a:t>
            </a:r>
          </a:p>
          <a:p>
            <a:pPr>
              <a:buNone/>
            </a:pPr>
            <a:r>
              <a:rPr lang="en-US" dirty="0" smtClean="0"/>
              <a:t>			  a =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= n</a:t>
            </a:r>
          </a:p>
          <a:p>
            <a:pPr>
              <a:buNone/>
            </a:pPr>
            <a:r>
              <a:rPr lang="en-US" dirty="0" smtClean="0"/>
              <a:t>	                   d =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= 1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Numerator</a:t>
            </a:r>
            <a:r>
              <a:rPr lang="en-US" dirty="0" smtClean="0"/>
              <a:t> the </a:t>
            </a:r>
            <a:r>
              <a:rPr lang="en-US" dirty="0" err="1" smtClean="0">
                <a:solidFill>
                  <a:srgbClr val="C00000"/>
                </a:solidFill>
              </a:rPr>
              <a:t>k</a:t>
            </a:r>
            <a:r>
              <a:rPr lang="en-US" baseline="30000" dirty="0" err="1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will be:</a:t>
            </a:r>
          </a:p>
          <a:p>
            <a:pPr>
              <a:buNone/>
            </a:pPr>
            <a:r>
              <a:rPr lang="en-US" dirty="0" smtClean="0"/>
              <a:t>	 			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= a + (k - 1)d</a:t>
            </a:r>
          </a:p>
          <a:p>
            <a:pPr>
              <a:buNone/>
            </a:pPr>
            <a:r>
              <a:rPr lang="en-US" dirty="0" smtClean="0"/>
              <a:t>				    = 1 + (k - 1) (1)</a:t>
            </a:r>
          </a:p>
          <a:p>
            <a:pPr>
              <a:buNone/>
            </a:pPr>
            <a:r>
              <a:rPr lang="en-US" dirty="0" smtClean="0"/>
              <a:t>				    = 1 + k - 1 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For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 the </a:t>
            </a:r>
            <a:r>
              <a:rPr lang="en-US" dirty="0" err="1" smtClean="0">
                <a:solidFill>
                  <a:srgbClr val="C00000"/>
                </a:solidFill>
              </a:rPr>
              <a:t>k</a:t>
            </a:r>
            <a:r>
              <a:rPr lang="en-US" baseline="30000" dirty="0" err="1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will be: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= a + (k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    </a:t>
            </a:r>
            <a:r>
              <a:rPr lang="en-US" dirty="0" smtClean="0"/>
              <a:t>= n + (k - 1) (1)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k + n – 1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Hence the </a:t>
            </a:r>
            <a:r>
              <a:rPr lang="en-US" dirty="0" err="1" smtClean="0">
                <a:solidFill>
                  <a:srgbClr val="C00000"/>
                </a:solidFill>
              </a:rPr>
              <a:t>kth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And the </a:t>
            </a:r>
            <a:r>
              <a:rPr lang="en-US" dirty="0" smtClean="0">
                <a:solidFill>
                  <a:srgbClr val="C00000"/>
                </a:solidFill>
              </a:rPr>
              <a:t>expression</a:t>
            </a:r>
            <a:r>
              <a:rPr lang="en-US" dirty="0" smtClean="0"/>
              <a:t> for the series is given by 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9027" name="Object 3"/>
          <p:cNvGraphicFramePr>
            <a:graphicFrameLocks noChangeAspect="1"/>
          </p:cNvGraphicFramePr>
          <p:nvPr/>
        </p:nvGraphicFramePr>
        <p:xfrm>
          <a:off x="3733800" y="1676400"/>
          <a:ext cx="1295400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30" r:id="rId3" imgW="647640" imgH="419040" progId="">
                  <p:embed/>
                </p:oleObj>
              </mc:Choice>
              <mc:Fallback>
                <p:oleObj r:id="rId3" imgW="64764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295400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8" name="Object 4"/>
          <p:cNvGraphicFramePr>
            <a:graphicFrameLocks noChangeAspect="1"/>
          </p:cNvGraphicFramePr>
          <p:nvPr/>
        </p:nvGraphicFramePr>
        <p:xfrm>
          <a:off x="1600201" y="3200400"/>
          <a:ext cx="6400799" cy="962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31" r:id="rId5" imgW="2869920" imgH="431640" progId="">
                  <p:embed/>
                </p:oleObj>
              </mc:Choice>
              <mc:Fallback>
                <p:oleObj r:id="rId5" imgW="28699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1" y="3200400"/>
                        <a:ext cx="6400799" cy="9629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9" name="Object 5"/>
          <p:cNvGraphicFramePr>
            <a:graphicFrameLocks noChangeAspect="1"/>
          </p:cNvGraphicFramePr>
          <p:nvPr/>
        </p:nvGraphicFramePr>
        <p:xfrm>
          <a:off x="5989320" y="4191000"/>
          <a:ext cx="163068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32" r:id="rId7" imgW="672840" imgH="431640" progId="">
                  <p:embed/>
                </p:oleObj>
              </mc:Choice>
              <mc:Fallback>
                <p:oleObj r:id="rId7" imgW="67284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320" y="4191000"/>
                        <a:ext cx="163068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en-US" dirty="0" smtClean="0"/>
              <a:t>	Consider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And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index</a:t>
            </a:r>
            <a:r>
              <a:rPr lang="en-US" dirty="0" smtClean="0"/>
              <a:t> of a summation can be replaced by any  other symbol. The index of a summation is therefore  called a </a:t>
            </a:r>
            <a:r>
              <a:rPr lang="en-US" dirty="0" smtClean="0">
                <a:solidFill>
                  <a:srgbClr val="C00000"/>
                </a:solidFill>
              </a:rPr>
              <a:t>dummy variable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33122" name="Object 2"/>
          <p:cNvGraphicFramePr>
            <a:graphicFrameLocks noChangeAspect="1"/>
          </p:cNvGraphicFramePr>
          <p:nvPr/>
        </p:nvGraphicFramePr>
        <p:xfrm>
          <a:off x="2171699" y="1472942"/>
          <a:ext cx="3467101" cy="916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25" r:id="rId3" imgW="1168200" imgH="431640" progId="">
                  <p:embed/>
                </p:oleObj>
              </mc:Choice>
              <mc:Fallback>
                <p:oleObj r:id="rId3" imgW="116820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699" y="1472942"/>
                        <a:ext cx="3467101" cy="9162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3" name="Object 3"/>
          <p:cNvGraphicFramePr>
            <a:graphicFrameLocks noChangeAspect="1"/>
          </p:cNvGraphicFramePr>
          <p:nvPr/>
        </p:nvGraphicFramePr>
        <p:xfrm>
          <a:off x="2171699" y="2357737"/>
          <a:ext cx="3467101" cy="9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26" r:id="rId5" imgW="1130040" imgH="431640" progId="">
                  <p:embed/>
                </p:oleObj>
              </mc:Choice>
              <mc:Fallback>
                <p:oleObj r:id="rId5" imgW="113004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699" y="2357737"/>
                        <a:ext cx="3467101" cy="95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" name="Object 4"/>
          <p:cNvGraphicFramePr>
            <a:graphicFrameLocks noChangeAspect="1"/>
          </p:cNvGraphicFramePr>
          <p:nvPr/>
        </p:nvGraphicFramePr>
        <p:xfrm>
          <a:off x="2209800" y="3352800"/>
          <a:ext cx="2897403" cy="96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27" r:id="rId7" imgW="812520" imgH="431640" progId="">
                  <p:embed/>
                </p:oleObj>
              </mc:Choice>
              <mc:Fallback>
                <p:oleObj r:id="rId7" imgW="8125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352800"/>
                        <a:ext cx="2897403" cy="9611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Simplify the variables in summation as simplified as possible.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Consider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If we put </a:t>
            </a:r>
            <a:r>
              <a:rPr lang="en-US" dirty="0" smtClean="0">
                <a:solidFill>
                  <a:srgbClr val="C00000"/>
                </a:solidFill>
              </a:rPr>
              <a:t>k = j + 1</a:t>
            </a:r>
            <a:r>
              <a:rPr lang="en-US" dirty="0" smtClean="0"/>
              <a:t> then the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 simplifies.</a:t>
            </a:r>
          </a:p>
          <a:p>
            <a:pPr>
              <a:buNone/>
            </a:pPr>
            <a:r>
              <a:rPr lang="en-US" dirty="0" smtClean="0"/>
              <a:t>	Substituting </a:t>
            </a:r>
            <a:r>
              <a:rPr lang="en-US" dirty="0" smtClean="0">
                <a:solidFill>
                  <a:srgbClr val="C00000"/>
                </a:solidFill>
              </a:rPr>
              <a:t>k = j + 1</a:t>
            </a:r>
            <a:r>
              <a:rPr lang="en-US" dirty="0" smtClean="0"/>
              <a:t> so that </a:t>
            </a:r>
            <a:r>
              <a:rPr lang="en-US" dirty="0" smtClean="0">
                <a:solidFill>
                  <a:srgbClr val="C00000"/>
                </a:solidFill>
              </a:rPr>
              <a:t>j = k – 1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 = 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j = k - 1 = 1 - 1 = 0</a:t>
            </a: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 = n + 1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j = k - 1 = (n + 1) - 1 = n</a:t>
            </a: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0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34146" name="Object 2"/>
          <p:cNvGraphicFramePr>
            <a:graphicFrameLocks noChangeAspect="1"/>
          </p:cNvGraphicFramePr>
          <p:nvPr/>
        </p:nvGraphicFramePr>
        <p:xfrm>
          <a:off x="2158188" y="1836180"/>
          <a:ext cx="2286000" cy="846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47" r:id="rId3" imgW="838080" imgH="431640" progId="">
                  <p:embed/>
                </p:oleObj>
              </mc:Choice>
              <mc:Fallback>
                <p:oleObj r:id="rId3" imgW="8380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188" y="1836180"/>
                        <a:ext cx="2286000" cy="846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tabLst>
                <a:tab pos="1887538" algn="l"/>
              </a:tabLst>
            </a:pPr>
            <a:r>
              <a:rPr lang="en-US" dirty="0" smtClean="0"/>
              <a:t>We put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instead of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becomes:</a:t>
            </a:r>
            <a:endParaRPr lang="en-US" dirty="0"/>
          </a:p>
        </p:txBody>
      </p:sp>
      <p:graphicFrame>
        <p:nvGraphicFramePr>
          <p:cNvPr id="135170" name="Object 2"/>
          <p:cNvGraphicFramePr>
            <a:graphicFrameLocks noChangeAspect="1"/>
          </p:cNvGraphicFramePr>
          <p:nvPr/>
        </p:nvGraphicFramePr>
        <p:xfrm>
          <a:off x="2332704" y="1752600"/>
          <a:ext cx="458724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2" r:id="rId3" imgW="2145960" imgH="444240" progId="">
                  <p:embed/>
                </p:oleObj>
              </mc:Choice>
              <mc:Fallback>
                <p:oleObj r:id="rId3" imgW="2145960" imgH="4442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704" y="1752600"/>
                        <a:ext cx="458724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1" name="Object 3"/>
          <p:cNvGraphicFramePr>
            <a:graphicFrameLocks noChangeAspect="1"/>
          </p:cNvGraphicFramePr>
          <p:nvPr/>
        </p:nvGraphicFramePr>
        <p:xfrm>
          <a:off x="2831688" y="2819400"/>
          <a:ext cx="535577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3" r:id="rId5" imgW="2603160" imgH="444240" progId="">
                  <p:embed/>
                </p:oleObj>
              </mc:Choice>
              <mc:Fallback>
                <p:oleObj r:id="rId5" imgW="2603160" imgH="4442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688" y="2819400"/>
                        <a:ext cx="535577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Transform</a:t>
            </a:r>
            <a:r>
              <a:rPr lang="en-US" dirty="0" smtClean="0"/>
              <a:t> by making the change of </a:t>
            </a:r>
            <a:r>
              <a:rPr lang="en-US" dirty="0" smtClean="0">
                <a:solidFill>
                  <a:srgbClr val="C00000"/>
                </a:solidFill>
              </a:rPr>
              <a:t>variable j =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- 1</a:t>
            </a:r>
            <a:r>
              <a:rPr lang="en-US" dirty="0" smtClean="0"/>
              <a:t>, in the </a:t>
            </a:r>
            <a:r>
              <a:rPr lang="en-US" dirty="0" smtClean="0">
                <a:solidFill>
                  <a:srgbClr val="C00000"/>
                </a:solidFill>
              </a:rPr>
              <a:t>summation: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136194" name="Object 2"/>
          <p:cNvGraphicFramePr>
            <a:graphicFrameLocks noChangeAspect="1"/>
          </p:cNvGraphicFramePr>
          <p:nvPr/>
        </p:nvGraphicFramePr>
        <p:xfrm>
          <a:off x="3733800" y="2362199"/>
          <a:ext cx="1587501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5" r:id="rId3" imgW="672840" imgH="431640" progId="">
                  <p:embed/>
                </p:oleObj>
              </mc:Choice>
              <mc:Fallback>
                <p:oleObj r:id="rId3" imgW="67284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362199"/>
                        <a:ext cx="1587501" cy="762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37219" name="Object 3"/>
          <p:cNvGraphicFramePr>
            <a:graphicFrameLocks noChangeAspect="1"/>
          </p:cNvGraphicFramePr>
          <p:nvPr/>
        </p:nvGraphicFramePr>
        <p:xfrm>
          <a:off x="2057400" y="1605108"/>
          <a:ext cx="5503862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0" r:id="rId3" imgW="2247900" imgH="2044700" progId="">
                  <p:embed/>
                </p:oleObj>
              </mc:Choice>
              <mc:Fallback>
                <p:oleObj r:id="rId3" imgW="2247900" imgH="20447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5108"/>
                        <a:ext cx="5503862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PROPERTIES OF SUMMATIONS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87698" y="1371600"/>
            <a:ext cx="8229600" cy="51054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38242" name="Object 2"/>
          <p:cNvGraphicFramePr>
            <a:graphicFrameLocks noChangeAspect="1"/>
          </p:cNvGraphicFramePr>
          <p:nvPr/>
        </p:nvGraphicFramePr>
        <p:xfrm>
          <a:off x="1091376" y="1147920"/>
          <a:ext cx="5962146" cy="90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7" r:id="rId3" imgW="2679480" imgH="431640" progId="">
                  <p:embed/>
                </p:oleObj>
              </mc:Choice>
              <mc:Fallback>
                <p:oleObj r:id="rId3" imgW="26794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376" y="1147920"/>
                        <a:ext cx="5962146" cy="909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1063847" y="2057400"/>
          <a:ext cx="557784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8" r:id="rId5" imgW="2539800" imgH="431640" progId="">
                  <p:embed/>
                </p:oleObj>
              </mc:Choice>
              <mc:Fallback>
                <p:oleObj r:id="rId5" imgW="253980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847" y="2057400"/>
                        <a:ext cx="557784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4" name="Object 4"/>
          <p:cNvGraphicFramePr>
            <a:graphicFrameLocks noChangeAspect="1"/>
          </p:cNvGraphicFramePr>
          <p:nvPr/>
        </p:nvGraphicFramePr>
        <p:xfrm>
          <a:off x="1049592" y="3046363"/>
          <a:ext cx="5248275" cy="965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9" r:id="rId7" imgW="2184120" imgH="431640" progId="">
                  <p:embed/>
                </p:oleObj>
              </mc:Choice>
              <mc:Fallback>
                <p:oleObj r:id="rId7" imgW="21841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592" y="3046363"/>
                        <a:ext cx="5248275" cy="965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1042223" y="4009104"/>
          <a:ext cx="4904509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0" r:id="rId9" imgW="1981080" imgH="431640" progId="">
                  <p:embed/>
                </p:oleObj>
              </mc:Choice>
              <mc:Fallback>
                <p:oleObj r:id="rId9" imgW="198108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223" y="4009104"/>
                        <a:ext cx="4904509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1073366" y="4998068"/>
          <a:ext cx="4184434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51" r:id="rId11" imgW="1739880" imgH="431640" progId="">
                  <p:embed/>
                </p:oleObj>
              </mc:Choice>
              <mc:Fallback>
                <p:oleObj r:id="rId11" imgW="1739880" imgH="43164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366" y="4998068"/>
                        <a:ext cx="4184434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Express</a:t>
            </a:r>
            <a:r>
              <a:rPr lang="en-US" dirty="0" smtClean="0"/>
              <a:t> the following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more </a:t>
            </a:r>
            <a:r>
              <a:rPr lang="en-US" dirty="0" smtClean="0">
                <a:solidFill>
                  <a:srgbClr val="C00000"/>
                </a:solidFill>
              </a:rPr>
              <a:t>simply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dirty="0"/>
          </a:p>
        </p:txBody>
      </p:sp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9265" name="Object 1"/>
          <p:cNvGraphicFramePr>
            <a:graphicFrameLocks noChangeAspect="1"/>
          </p:cNvGraphicFramePr>
          <p:nvPr/>
        </p:nvGraphicFramePr>
        <p:xfrm>
          <a:off x="3124200" y="1628775"/>
          <a:ext cx="3057527" cy="792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69" r:id="rId3" imgW="1536700" imgH="431800" progId="">
                  <p:embed/>
                </p:oleObj>
              </mc:Choice>
              <mc:Fallback>
                <p:oleObj r:id="rId3" imgW="1536700" imgH="4318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28775"/>
                        <a:ext cx="3057527" cy="7926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3138948" y="3246437"/>
          <a:ext cx="30575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0" r:id="rId5" imgW="1536700" imgH="431800" progId="">
                  <p:embed/>
                </p:oleObj>
              </mc:Choice>
              <mc:Fallback>
                <p:oleObj r:id="rId5" imgW="1536700" imgH="4318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948" y="3246437"/>
                        <a:ext cx="3057525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40290" name="Object 2"/>
          <p:cNvGraphicFramePr>
            <a:graphicFrameLocks noChangeAspect="1"/>
          </p:cNvGraphicFramePr>
          <p:nvPr/>
        </p:nvGraphicFramePr>
        <p:xfrm>
          <a:off x="76200" y="1143000"/>
          <a:ext cx="7051729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92" r:id="rId3" imgW="3111480" imgH="2552400" progId="">
                  <p:embed/>
                </p:oleObj>
              </mc:Choice>
              <mc:Fallback>
                <p:oleObj r:id="rId3" imgW="3111480" imgH="2552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43000"/>
                        <a:ext cx="7051729" cy="457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/>
        </p:nvGraphicFramePr>
        <p:xfrm>
          <a:off x="3143676" y="5240592"/>
          <a:ext cx="1826532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93" r:id="rId5" imgW="736600" imgH="431800" progId="">
                  <p:embed/>
                </p:oleObj>
              </mc:Choice>
              <mc:Fallback>
                <p:oleObj r:id="rId5" imgW="736600" imgH="4318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6" y="5240592"/>
                        <a:ext cx="1826532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ARITHMETIC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terms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C00000"/>
                </a:solidFill>
              </a:rPr>
              <a:t>arithmetic series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C00000"/>
                </a:solidFill>
              </a:rPr>
              <a:t>A.S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For example: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 is    1 , 3 , 5 , 7 ,  …</a:t>
            </a:r>
          </a:p>
          <a:p>
            <a:pPr>
              <a:buNone/>
            </a:pPr>
            <a:r>
              <a:rPr lang="en-US" dirty="0" smtClean="0"/>
              <a:t>		Then</a:t>
            </a:r>
          </a:p>
          <a:p>
            <a:pPr>
              <a:buNone/>
            </a:pPr>
            <a:r>
              <a:rPr lang="en-US" dirty="0" smtClean="0"/>
              <a:t>				1 + 3 + 5 + 7 +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positive odd</a:t>
            </a:r>
            <a:r>
              <a:rPr lang="en-US" dirty="0" smtClean="0"/>
              <a:t> integers.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general, if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, then the series is given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a + (</a:t>
            </a:r>
            <a:r>
              <a:rPr lang="en-US" dirty="0" err="1" smtClean="0">
                <a:solidFill>
                  <a:srgbClr val="C00000"/>
                </a:solidFill>
              </a:rPr>
              <a:t>a+d</a:t>
            </a:r>
            <a:r>
              <a:rPr lang="en-US" dirty="0" smtClean="0">
                <a:solidFill>
                  <a:srgbClr val="C00000"/>
                </a:solidFill>
              </a:rPr>
              <a:t>) + (a+2d) +…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OF </a:t>
            </a:r>
            <a:r>
              <a:rPr lang="en-US" b="1" u="sng" dirty="0" smtClean="0">
                <a:solidFill>
                  <a:srgbClr val="FFC000"/>
                </a:solidFill>
              </a:rPr>
              <a:t>n</a:t>
            </a:r>
            <a:r>
              <a:rPr lang="en-US" b="1" u="sng" dirty="0" smtClean="0">
                <a:solidFill>
                  <a:srgbClr val="0070C0"/>
                </a:solidFill>
              </a:rPr>
              <a:t> TERMS OF AN ARITHMETIC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 Then its </a:t>
            </a:r>
            <a:r>
              <a:rPr lang="en-US" dirty="0" smtClean="0">
                <a:solidFill>
                  <a:srgbClr val="C00000"/>
                </a:solidFill>
              </a:rPr>
              <a:t>nth term</a:t>
            </a:r>
            <a:r>
              <a:rPr lang="en-US" dirty="0" smtClean="0"/>
              <a:t> is:</a:t>
            </a:r>
          </a:p>
          <a:p>
            <a:pPr>
              <a:buNone/>
            </a:pPr>
            <a:r>
              <a:rPr lang="en-US" dirty="0" smtClean="0"/>
              <a:t>				a</a:t>
            </a:r>
            <a:r>
              <a:rPr lang="en-US" baseline="-25000" dirty="0" smtClean="0"/>
              <a:t>n</a:t>
            </a:r>
            <a:r>
              <a:rPr lang="en-US" dirty="0" smtClean="0"/>
              <a:t> = a + (n - 1)d;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If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n</a:t>
            </a:r>
            <a:r>
              <a:rPr lang="en-US" dirty="0" smtClean="0"/>
              <a:t> denotes the sum of first n terms of the A.S, 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S</a:t>
            </a:r>
            <a:r>
              <a:rPr lang="pt-BR" baseline="-25000" dirty="0" smtClean="0"/>
              <a:t>n</a:t>
            </a:r>
            <a:r>
              <a:rPr lang="pt-BR" dirty="0" smtClean="0"/>
              <a:t> =  a + (a + d) + (a + 2d) + … + [a + (n-1) d]</a:t>
            </a:r>
          </a:p>
          <a:p>
            <a:pPr>
              <a:buNone/>
            </a:pPr>
            <a:r>
              <a:rPr lang="pt-BR" dirty="0" smtClean="0"/>
              <a:t>		    =  a + (a+d) + (a + 2d) + … + a</a:t>
            </a:r>
            <a:r>
              <a:rPr lang="pt-BR" baseline="-25000" dirty="0" smtClean="0"/>
              <a:t>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   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+ (n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   </a:t>
            </a:r>
            <a:r>
              <a:rPr lang="pt-BR" dirty="0" smtClean="0"/>
              <a:t> =  a + (a+d) + (a + 2d) + … </a:t>
            </a:r>
            <a:r>
              <a:rPr lang="en-US" dirty="0" smtClean="0"/>
              <a:t>+ (a</a:t>
            </a:r>
            <a:r>
              <a:rPr lang="en-US" baseline="-25000" dirty="0" smtClean="0"/>
              <a:t>n</a:t>
            </a:r>
            <a:r>
              <a:rPr lang="en-US" dirty="0" smtClean="0"/>
              <a:t> - d) + a</a:t>
            </a:r>
            <a:r>
              <a:rPr lang="en-US" baseline="-25000" dirty="0" smtClean="0"/>
              <a:t>n</a:t>
            </a:r>
            <a:r>
              <a:rPr lang="en-US" dirty="0" smtClean="0"/>
              <a:t> …(1)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Rewriting the terms in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C00000"/>
                </a:solidFill>
              </a:rPr>
              <a:t>reverse order.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pt-BR" dirty="0" smtClean="0"/>
              <a:t> S</a:t>
            </a:r>
            <a:r>
              <a:rPr lang="pt-BR" baseline="-25000" dirty="0" smtClean="0"/>
              <a:t>n </a:t>
            </a:r>
            <a:r>
              <a:rPr lang="en-US" dirty="0" smtClean="0"/>
              <a:t>= a</a:t>
            </a:r>
            <a:r>
              <a:rPr lang="en-US" baseline="-25000" dirty="0" smtClean="0"/>
              <a:t>n</a:t>
            </a:r>
            <a:r>
              <a:rPr lang="en-US" dirty="0" smtClean="0"/>
              <a:t> + (a</a:t>
            </a:r>
            <a:r>
              <a:rPr lang="en-US" baseline="-25000" dirty="0" smtClean="0"/>
              <a:t>n</a:t>
            </a:r>
            <a:r>
              <a:rPr lang="en-US" dirty="0" smtClean="0"/>
              <a:t> - d) + (a</a:t>
            </a:r>
            <a:r>
              <a:rPr lang="en-US" baseline="-25000" dirty="0" smtClean="0"/>
              <a:t>n</a:t>
            </a:r>
            <a:r>
              <a:rPr lang="en-US" dirty="0" smtClean="0"/>
              <a:t> - 2d) + … + (a + d) + a ……….(2)</a:t>
            </a:r>
          </a:p>
          <a:p>
            <a:pPr>
              <a:buNone/>
            </a:pPr>
            <a:r>
              <a:rPr lang="en-US" dirty="0" smtClean="0"/>
              <a:t>	 Adding (1) and (2) term by term, gives</a:t>
            </a:r>
          </a:p>
          <a:p>
            <a:pPr>
              <a:buNone/>
            </a:pPr>
            <a:r>
              <a:rPr lang="en-US" dirty="0" smtClean="0"/>
              <a:t>	 2S</a:t>
            </a:r>
            <a:r>
              <a:rPr lang="en-US" baseline="-25000" dirty="0" smtClean="0"/>
              <a:t>n</a:t>
            </a:r>
            <a:r>
              <a:rPr lang="en-US" dirty="0" smtClean="0"/>
              <a:t>	= (a + a</a:t>
            </a:r>
            <a:r>
              <a:rPr lang="en-US" baseline="-25000" dirty="0" smtClean="0"/>
              <a:t>n</a:t>
            </a:r>
            <a:r>
              <a:rPr lang="en-US" dirty="0" smtClean="0"/>
              <a:t>) + (a + a</a:t>
            </a:r>
            <a:r>
              <a:rPr lang="en-US" baseline="-25000" dirty="0" smtClean="0"/>
              <a:t>n</a:t>
            </a:r>
            <a:r>
              <a:rPr lang="en-US" dirty="0" smtClean="0"/>
              <a:t>) + (a + a</a:t>
            </a:r>
            <a:r>
              <a:rPr lang="en-US" baseline="-25000" dirty="0" smtClean="0"/>
              <a:t>n</a:t>
            </a:r>
            <a:r>
              <a:rPr lang="en-US" dirty="0" smtClean="0"/>
              <a:t>) + … + (a + a</a:t>
            </a:r>
            <a:r>
              <a:rPr lang="en-US" baseline="-25000" dirty="0" smtClean="0"/>
              <a:t>n</a:t>
            </a:r>
            <a:r>
              <a:rPr lang="en-US" dirty="0" smtClean="0"/>
              <a:t>)       </a:t>
            </a:r>
          </a:p>
          <a:p>
            <a:pPr>
              <a:buNone/>
            </a:pPr>
            <a:r>
              <a:rPr lang="en-US" dirty="0" smtClean="0"/>
              <a:t>								</a:t>
            </a:r>
            <a:r>
              <a:rPr lang="en-US" dirty="0" smtClean="0">
                <a:solidFill>
                  <a:srgbClr val="C00000"/>
                </a:solidFill>
              </a:rPr>
              <a:t>(n terms)</a:t>
            </a:r>
          </a:p>
          <a:p>
            <a:pPr>
              <a:buNone/>
            </a:pPr>
            <a:r>
              <a:rPr lang="en-US" dirty="0" smtClean="0"/>
              <a:t>	 2S</a:t>
            </a:r>
            <a:r>
              <a:rPr lang="en-US" baseline="-25000" dirty="0" smtClean="0"/>
              <a:t>n</a:t>
            </a:r>
            <a:r>
              <a:rPr lang="en-US" dirty="0" smtClean="0"/>
              <a:t>	= n(a + a</a:t>
            </a:r>
            <a:r>
              <a:rPr lang="en-US" baseline="-25000" dirty="0" smtClean="0"/>
              <a:t>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  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n</a:t>
            </a:r>
            <a:r>
              <a:rPr lang="en-US" baseline="-25000" dirty="0" smtClean="0"/>
              <a:t> </a:t>
            </a:r>
            <a:r>
              <a:rPr lang="en-US" dirty="0" smtClean="0"/>
              <a:t>= n(a + a</a:t>
            </a:r>
            <a:r>
              <a:rPr lang="en-US" baseline="-25000" dirty="0" smtClean="0"/>
              <a:t>n</a:t>
            </a:r>
            <a:r>
              <a:rPr lang="en-US" dirty="0" smtClean="0"/>
              <a:t>)/2</a:t>
            </a:r>
          </a:p>
          <a:p>
            <a:pPr>
              <a:buNone/>
            </a:pPr>
            <a:r>
              <a:rPr lang="en-US" dirty="0" smtClean="0"/>
              <a:t>	 If we write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+ (n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</a:t>
            </a:r>
            <a:r>
              <a:rPr lang="en-US" b="1" dirty="0" err="1" smtClean="0">
                <a:solidFill>
                  <a:srgbClr val="C00000"/>
                </a:solidFill>
              </a:rPr>
              <a:t>S</a:t>
            </a:r>
            <a:r>
              <a:rPr lang="en-US" b="1" baseline="-25000" dirty="0" err="1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n(a + l)/2</a:t>
            </a:r>
            <a:r>
              <a:rPr lang="en-US" dirty="0" smtClean="0"/>
              <a:t>…………………..(3)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pt-BR" dirty="0" smtClean="0"/>
              <a:t>Therefore	</a:t>
            </a:r>
          </a:p>
          <a:p>
            <a:pPr>
              <a:buNone/>
            </a:pPr>
            <a:r>
              <a:rPr lang="pt-BR" dirty="0" smtClean="0"/>
              <a:t>	   S</a:t>
            </a:r>
            <a:r>
              <a:rPr lang="pt-BR" baseline="-25000" dirty="0" smtClean="0"/>
              <a:t>n</a:t>
            </a:r>
            <a:r>
              <a:rPr lang="pt-BR" dirty="0" smtClean="0"/>
              <a:t>=  n/2 [a + a + (n - 1) d]	</a:t>
            </a:r>
          </a:p>
          <a:p>
            <a:pPr>
              <a:buNone/>
            </a:pPr>
            <a:r>
              <a:rPr lang="pt-BR" dirty="0" smtClean="0"/>
              <a:t>	   </a:t>
            </a:r>
            <a:r>
              <a:rPr lang="pt-BR" b="1" dirty="0" smtClean="0">
                <a:solidFill>
                  <a:srgbClr val="C00000"/>
                </a:solidFill>
              </a:rPr>
              <a:t>S</a:t>
            </a:r>
            <a:r>
              <a:rPr lang="pt-BR" b="1" baseline="-25000" dirty="0" smtClean="0">
                <a:solidFill>
                  <a:srgbClr val="C00000"/>
                </a:solidFill>
              </a:rPr>
              <a:t>n</a:t>
            </a:r>
            <a:r>
              <a:rPr lang="pt-BR" b="1" dirty="0" smtClean="0">
                <a:solidFill>
                  <a:srgbClr val="C00000"/>
                </a:solidFill>
              </a:rPr>
              <a:t> = n/2 [2 a + (n - 1) d]</a:t>
            </a:r>
            <a:r>
              <a:rPr lang="pt-BR" dirty="0" smtClean="0"/>
              <a:t>……….(4)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have t</a:t>
            </a:r>
            <a:r>
              <a:rPr lang="en-US" dirty="0" smtClean="0">
                <a:solidFill>
                  <a:srgbClr val="C00000"/>
                </a:solidFill>
              </a:rPr>
              <a:t>wo formulas</a:t>
            </a:r>
            <a:r>
              <a:rPr lang="en-US" dirty="0" smtClean="0"/>
              <a:t> for finding a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n(a + </a:t>
            </a:r>
            <a:r>
              <a:rPr lang="en-US" i="1" dirty="0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)/2 		</a:t>
            </a:r>
            <a:r>
              <a:rPr lang="en-US" dirty="0" smtClean="0"/>
              <a:t>…………..(1)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use it when we are given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C00000"/>
                </a:solidFill>
              </a:rPr>
              <a:t>last term </a:t>
            </a:r>
            <a:r>
              <a:rPr lang="en-US" i="1" dirty="0" smtClean="0">
                <a:solidFill>
                  <a:srgbClr val="00B050"/>
                </a:solidFill>
              </a:rPr>
              <a:t>l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pt-BR" dirty="0" smtClean="0">
                <a:solidFill>
                  <a:srgbClr val="C00000"/>
                </a:solidFill>
              </a:rPr>
              <a:t>			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n/2 [2a + (n - 1) d]     </a:t>
            </a:r>
            <a:r>
              <a:rPr lang="pt-BR" dirty="0" smtClean="0"/>
              <a:t>...................(2)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We will use it when </a:t>
            </a:r>
            <a:r>
              <a:rPr lang="pt-BR" dirty="0" smtClean="0">
                <a:solidFill>
                  <a:srgbClr val="C00000"/>
                </a:solidFill>
              </a:rPr>
              <a:t>first term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C00000"/>
                </a:solidFill>
              </a:rPr>
              <a:t>common difference</a:t>
            </a:r>
            <a:r>
              <a:rPr lang="pt-BR" dirty="0" smtClean="0"/>
              <a:t> is given.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first n natural numbers</a:t>
            </a:r>
            <a:r>
              <a:rPr lang="en-US" dirty="0" smtClean="0"/>
              <a:t>.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Let 		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1 + 2 + 3 + … + n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Clearly the </a:t>
            </a:r>
            <a:r>
              <a:rPr lang="en-US" dirty="0" smtClean="0">
                <a:solidFill>
                  <a:srgbClr val="C00000"/>
                </a:solidFill>
              </a:rPr>
              <a:t>right hand side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C00000"/>
                </a:solidFill>
              </a:rPr>
              <a:t>arithmetic series </a:t>
            </a:r>
            <a:r>
              <a:rPr lang="en-US" dirty="0" smtClean="0"/>
              <a:t>with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a = 1</a:t>
            </a:r>
            <a:r>
              <a:rPr lang="pt-BR" dirty="0" smtClean="0"/>
              <a:t>,   </a:t>
            </a:r>
            <a:r>
              <a:rPr lang="pt-BR" dirty="0" smtClean="0">
                <a:solidFill>
                  <a:srgbClr val="C00000"/>
                </a:solidFill>
              </a:rPr>
              <a:t>d = 2 - 1 = 1</a:t>
            </a:r>
            <a:r>
              <a:rPr lang="pt-BR" dirty="0" smtClean="0"/>
              <a:t>	  and	</a:t>
            </a:r>
            <a:r>
              <a:rPr lang="pt-BR" dirty="0" smtClean="0">
                <a:solidFill>
                  <a:srgbClr val="C00000"/>
                </a:solidFill>
              </a:rPr>
              <a:t>n = n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41314" name="Object 2"/>
          <p:cNvGraphicFramePr>
            <a:graphicFrameLocks noChangeAspect="1"/>
          </p:cNvGraphicFramePr>
          <p:nvPr/>
        </p:nvGraphicFramePr>
        <p:xfrm>
          <a:off x="2044699" y="1524000"/>
          <a:ext cx="4872704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15" r:id="rId3" imgW="2527200" imgH="1625400" progId="">
                  <p:embed/>
                </p:oleObj>
              </mc:Choice>
              <mc:Fallback>
                <p:oleObj r:id="rId3" imgW="2527200" imgH="1625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699" y="1524000"/>
                        <a:ext cx="4872704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all two digit </a:t>
            </a:r>
            <a:r>
              <a:rPr lang="en-US" dirty="0" smtClean="0">
                <a:solidFill>
                  <a:srgbClr val="C00000"/>
                </a:solidFill>
              </a:rPr>
              <a:t>positive integers</a:t>
            </a:r>
            <a:r>
              <a:rPr lang="en-US" dirty="0" smtClean="0"/>
              <a:t> which are </a:t>
            </a:r>
            <a:r>
              <a:rPr lang="en-US" dirty="0" smtClean="0">
                <a:solidFill>
                  <a:srgbClr val="C00000"/>
                </a:solidFill>
              </a:rPr>
              <a:t>neither divisible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5 nor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</a:t>
            </a: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to be </a:t>
            </a:r>
            <a:r>
              <a:rPr lang="en-US" dirty="0" smtClean="0">
                <a:solidFill>
                  <a:srgbClr val="C00000"/>
                </a:solidFill>
              </a:rPr>
              <a:t>summed</a:t>
            </a:r>
            <a:r>
              <a:rPr lang="en-US" dirty="0" smtClean="0"/>
              <a:t> is:</a:t>
            </a:r>
          </a:p>
          <a:p>
            <a:pPr>
              <a:buNone/>
            </a:pPr>
            <a:r>
              <a:rPr lang="en-US" dirty="0" smtClean="0"/>
              <a:t>	11 + 13 + 17 + 19 + 21 + 23 + 27 + 29 + … + 91 + 93 + 97 + 99</a:t>
            </a:r>
          </a:p>
          <a:p>
            <a:pPr>
              <a:buNone/>
            </a:pPr>
            <a:r>
              <a:rPr lang="en-US" dirty="0" smtClean="0"/>
              <a:t>	which is not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11 + 21 + 31 + ……… + 91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with </a:t>
            </a:r>
            <a:r>
              <a:rPr lang="en-US" dirty="0" smtClean="0">
                <a:solidFill>
                  <a:srgbClr val="C00000"/>
                </a:solidFill>
              </a:rPr>
              <a:t>a = 11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13 + 23 + 33 + ……… + 93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17 + 27 + 37 + ……… + 97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17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r>
              <a:rPr lang="en-US" dirty="0" smtClean="0"/>
              <a:t>	19 + 29 + 39 + ……… + 99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19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If we make </a:t>
            </a:r>
            <a:r>
              <a:rPr lang="en-US" dirty="0" smtClean="0">
                <a:solidFill>
                  <a:srgbClr val="C00000"/>
                </a:solidFill>
              </a:rPr>
              <a:t>group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four terms</a:t>
            </a:r>
            <a:r>
              <a:rPr lang="en-US" dirty="0" smtClean="0"/>
              <a:t> we get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(11 + 13 + 17 + 19) + (21 + 23 + 27 + 29) + (31 + 33 + 37 + 39) + … + (91 + 93 + 97 + 99)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= 60 + 100 + 140 + … + 380</a:t>
            </a:r>
          </a:p>
          <a:p>
            <a:pPr>
              <a:buNone/>
            </a:pPr>
            <a:r>
              <a:rPr lang="en-US" dirty="0" smtClean="0"/>
              <a:t>	which now forms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 in which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 = 60</a:t>
            </a:r>
            <a:r>
              <a:rPr lang="en-US" dirty="0" smtClean="0"/>
              <a:t>;	</a:t>
            </a:r>
            <a:r>
              <a:rPr lang="en-US" dirty="0" smtClean="0">
                <a:solidFill>
                  <a:srgbClr val="C00000"/>
                </a:solidFill>
              </a:rPr>
              <a:t>d = 100 - 60 = 40</a:t>
            </a:r>
            <a:r>
              <a:rPr lang="en-US" dirty="0" smtClean="0"/>
              <a:t>	and 	</a:t>
            </a:r>
            <a:r>
              <a:rPr lang="en-US" dirty="0" smtClean="0">
                <a:solidFill>
                  <a:srgbClr val="C00000"/>
                </a:solidFill>
              </a:rPr>
              <a:t>l = 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380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find n, we use the formula</a:t>
            </a:r>
          </a:p>
          <a:p>
            <a:pPr>
              <a:buNone/>
            </a:pPr>
            <a:r>
              <a:rPr lang="pt-BR" dirty="0" smtClean="0"/>
              <a:t>				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+ (n - 1) d</a:t>
            </a:r>
          </a:p>
          <a:p>
            <a:pPr>
              <a:buNone/>
            </a:pPr>
            <a:r>
              <a:rPr lang="pt-BR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	380 =	60 + (n - 1) (40)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 	380 - 60 = (n - 1) (40)</a:t>
            </a:r>
          </a:p>
          <a:p>
            <a:pPr>
              <a:buNone/>
            </a:pPr>
            <a:r>
              <a:rPr lang="pt-BR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 	320 = (n - 1) (40)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pt-BR" dirty="0" smtClean="0"/>
              <a:t>     8 = n - 1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	     </a:t>
            </a:r>
            <a:r>
              <a:rPr lang="pt-BR" dirty="0" smtClean="0">
                <a:solidFill>
                  <a:srgbClr val="C00000"/>
                </a:solidFill>
              </a:rPr>
              <a:t>n = 9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42338" name="Object 2"/>
          <p:cNvGraphicFramePr>
            <a:graphicFrameLocks noChangeAspect="1"/>
          </p:cNvGraphicFramePr>
          <p:nvPr/>
        </p:nvGraphicFramePr>
        <p:xfrm>
          <a:off x="3175823" y="3682176"/>
          <a:ext cx="2012957" cy="77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39" r:id="rId3" imgW="888840" imgH="393480" progId="">
                  <p:embed/>
                </p:oleObj>
              </mc:Choice>
              <mc:Fallback>
                <p:oleObj r:id="rId3" imgW="88884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823" y="3682176"/>
                        <a:ext cx="2012957" cy="779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Now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 = 60		1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380		n = 9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143362" name="Object 2"/>
          <p:cNvGraphicFramePr>
            <a:graphicFrameLocks noChangeAspect="1"/>
          </p:cNvGraphicFramePr>
          <p:nvPr/>
        </p:nvGraphicFramePr>
        <p:xfrm>
          <a:off x="1143000" y="2387599"/>
          <a:ext cx="7162800" cy="173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63" r:id="rId3" imgW="3085920" imgH="812520" progId="">
                  <p:embed/>
                </p:oleObj>
              </mc:Choice>
              <mc:Fallback>
                <p:oleObj r:id="rId3" imgW="3085920" imgH="8125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87599"/>
                        <a:ext cx="7162800" cy="17325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GEOMETRIC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terms of a 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  <a:r>
              <a:rPr lang="en-US" dirty="0" smtClean="0"/>
              <a:t> forms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C00000"/>
                </a:solidFill>
              </a:rPr>
              <a:t>G.S.</a:t>
            </a:r>
            <a:r>
              <a:rPr lang="en-US" dirty="0" smtClean="0"/>
              <a:t>). </a:t>
            </a:r>
          </a:p>
          <a:p>
            <a:endParaRPr lang="en-US" dirty="0" smtClean="0"/>
          </a:p>
          <a:p>
            <a:r>
              <a:rPr lang="en-US" dirty="0" smtClean="0"/>
              <a:t>For example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</a:p>
          <a:p>
            <a:pPr>
              <a:buNone/>
            </a:pPr>
            <a:r>
              <a:rPr lang="en-US" dirty="0" smtClean="0"/>
              <a:t>				1, 2, 4, 8, 16, …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</a:p>
          <a:p>
            <a:pPr algn="ctr">
              <a:buNone/>
            </a:pPr>
            <a:r>
              <a:rPr lang="en-US" dirty="0" smtClean="0"/>
              <a:t>	 1 + 2 + 4 + 8 + 16 + …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general, if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common ratio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is given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a +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>
                <a:solidFill>
                  <a:srgbClr val="C00000"/>
                </a:solidFill>
              </a:rPr>
              <a:t> + 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ar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OF </a:t>
            </a:r>
            <a:r>
              <a:rPr lang="en-US" b="1" u="sng" dirty="0" smtClean="0">
                <a:solidFill>
                  <a:srgbClr val="FFC000"/>
                </a:solidFill>
              </a:rPr>
              <a:t>n</a:t>
            </a:r>
            <a:r>
              <a:rPr lang="en-US" b="1" u="sng" dirty="0" smtClean="0">
                <a:solidFill>
                  <a:srgbClr val="0070C0"/>
                </a:solidFill>
              </a:rPr>
              <a:t> TERMS OF A GEOMETRIC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ratio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. Then its </a:t>
            </a:r>
            <a:r>
              <a:rPr lang="en-US" dirty="0" smtClean="0">
                <a:solidFill>
                  <a:srgbClr val="C00000"/>
                </a:solidFill>
              </a:rPr>
              <a:t>nth</a:t>
            </a:r>
            <a:r>
              <a:rPr lang="en-US" dirty="0" smtClean="0"/>
              <a:t> term is: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;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If </a:t>
            </a:r>
            <a:r>
              <a:rPr lang="pt-BR" dirty="0" smtClean="0"/>
              <a:t>S</a:t>
            </a:r>
            <a:r>
              <a:rPr lang="pt-BR" baseline="-25000" dirty="0" smtClean="0"/>
              <a:t>n</a:t>
            </a:r>
            <a:r>
              <a:rPr lang="en-US" dirty="0" smtClean="0"/>
              <a:t> denotes the sum of first n terms of the G.S. then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+ ar + ar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… + ar</a:t>
            </a:r>
            <a:r>
              <a:rPr lang="pt-BR" baseline="30000" dirty="0" smtClean="0">
                <a:solidFill>
                  <a:srgbClr val="C00000"/>
                </a:solidFill>
              </a:rPr>
              <a:t>n-2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n-1</a:t>
            </a:r>
            <a:r>
              <a:rPr lang="pt-BR" dirty="0" smtClean="0"/>
              <a:t>….(1)</a:t>
            </a:r>
          </a:p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Multiplying</a:t>
            </a:r>
            <a:r>
              <a:rPr lang="en-US" dirty="0" smtClean="0"/>
              <a:t> both sides by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we get.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r 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C00000"/>
                </a:solidFill>
              </a:rPr>
              <a:t>ar + ar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… + ar</a:t>
            </a:r>
            <a:r>
              <a:rPr lang="pt-BR" baseline="30000" dirty="0" smtClean="0">
                <a:solidFill>
                  <a:srgbClr val="C00000"/>
                </a:solidFill>
              </a:rPr>
              <a:t>n-1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n</a:t>
            </a:r>
            <a:r>
              <a:rPr lang="pt-BR" dirty="0" smtClean="0"/>
              <a:t>….(2)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Subtracting (2) from (1) we get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– </a:t>
            </a:r>
            <a:r>
              <a:rPr lang="en-US" dirty="0" err="1" smtClean="0">
                <a:solidFill>
                  <a:srgbClr val="C00000"/>
                </a:solidFill>
              </a:rPr>
              <a:t>rS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–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baseline="30000" dirty="0" err="1" smtClean="0">
                <a:solidFill>
                  <a:srgbClr val="C00000"/>
                </a:solidFill>
              </a:rPr>
              <a:t>n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 </a:t>
            </a:r>
            <a:r>
              <a:rPr lang="pt-BR" dirty="0" smtClean="0">
                <a:sym typeface="Symbol"/>
              </a:rPr>
              <a:t>     </a:t>
            </a:r>
            <a:r>
              <a:rPr lang="pt-BR" dirty="0" smtClean="0">
                <a:solidFill>
                  <a:srgbClr val="C00000"/>
                </a:solidFill>
              </a:rPr>
              <a:t>(1 - r) 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(1 - r</a:t>
            </a:r>
            <a:r>
              <a:rPr lang="pt-BR" baseline="30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53602" name="Object 2"/>
          <p:cNvGraphicFramePr>
            <a:graphicFrameLocks noChangeAspect="1"/>
          </p:cNvGraphicFramePr>
          <p:nvPr/>
        </p:nvGraphicFramePr>
        <p:xfrm>
          <a:off x="2420620" y="3429000"/>
          <a:ext cx="466598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3" r:id="rId3" imgW="2260440" imgH="419040" progId="">
                  <p:embed/>
                </p:oleObj>
              </mc:Choice>
              <mc:Fallback>
                <p:oleObj r:id="rId3" imgW="226044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620" y="3429000"/>
                        <a:ext cx="466598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r>
              <a:rPr lang="en-US" dirty="0" smtClean="0"/>
              <a:t>Find the sum of the geometric series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b="1" u="sng" dirty="0" smtClean="0">
              <a:solidFill>
                <a:srgbClr val="C00000"/>
              </a:solidFill>
            </a:endParaRP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154626" name="Object 2"/>
          <p:cNvGraphicFramePr>
            <a:graphicFrameLocks noChangeAspect="1"/>
          </p:cNvGraphicFramePr>
          <p:nvPr/>
        </p:nvGraphicFramePr>
        <p:xfrm>
          <a:off x="2438400" y="1828800"/>
          <a:ext cx="4495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28" r:id="rId3" imgW="1968480" imgH="393480" progId="">
                  <p:embed/>
                </p:oleObj>
              </mc:Choice>
              <mc:Fallback>
                <p:oleObj r:id="rId3" imgW="19684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28800"/>
                        <a:ext cx="4495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27" name="Object 3"/>
          <p:cNvGraphicFramePr>
            <a:graphicFrameLocks noChangeAspect="1"/>
          </p:cNvGraphicFramePr>
          <p:nvPr/>
        </p:nvGraphicFramePr>
        <p:xfrm>
          <a:off x="2514600" y="3886200"/>
          <a:ext cx="4495800" cy="817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29" r:id="rId5" imgW="2057400" imgH="393480" progId="">
                  <p:embed/>
                </p:oleObj>
              </mc:Choice>
              <mc:Fallback>
                <p:oleObj r:id="rId5" imgW="205740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86200"/>
                        <a:ext cx="4495800" cy="8174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55650" name="Object 2"/>
          <p:cNvGraphicFramePr>
            <a:graphicFrameLocks noChangeAspect="1"/>
          </p:cNvGraphicFramePr>
          <p:nvPr/>
        </p:nvGraphicFramePr>
        <p:xfrm>
          <a:off x="2133599" y="1329816"/>
          <a:ext cx="5358583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51" r:id="rId3" imgW="2768400" imgH="1968480" progId="">
                  <p:embed/>
                </p:oleObj>
              </mc:Choice>
              <mc:Fallback>
                <p:oleObj r:id="rId3" imgW="2768400" imgH="1968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599" y="1329816"/>
                        <a:ext cx="5358583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RECURRENCE 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for a sequence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. . .</a:t>
            </a:r>
            <a:r>
              <a:rPr lang="en-US" dirty="0" smtClean="0"/>
              <a:t> , is a formula that relates each term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to certain of its </a:t>
            </a:r>
            <a:r>
              <a:rPr lang="en-US" dirty="0" smtClean="0">
                <a:solidFill>
                  <a:srgbClr val="C00000"/>
                </a:solidFill>
              </a:rPr>
              <a:t>predecessors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k-1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k-2</a:t>
            </a:r>
            <a:r>
              <a:rPr lang="en-US" dirty="0" smtClean="0">
                <a:solidFill>
                  <a:srgbClr val="C00000"/>
                </a:solidFill>
              </a:rPr>
              <a:t>, . . . ,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k-i</a:t>
            </a:r>
            <a:r>
              <a:rPr lang="en-US" dirty="0" smtClean="0"/>
              <a:t> , where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 is a fixed integer and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 any integer greater than or equal to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initial conditions </a:t>
            </a:r>
            <a:r>
              <a:rPr lang="en-US" dirty="0" smtClean="0"/>
              <a:t>for such a </a:t>
            </a:r>
            <a:r>
              <a:rPr lang="en-US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specify the values of 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. . . , a</a:t>
            </a:r>
            <a:r>
              <a:rPr lang="en-US" baseline="-25000" dirty="0" smtClean="0">
                <a:solidFill>
                  <a:srgbClr val="C00000"/>
                </a:solidFill>
              </a:rPr>
              <a:t>i-1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 be a sequence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n-1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+3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1, 2, 3, …, and suppose that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0</a:t>
            </a:r>
            <a:r>
              <a:rPr lang="en-US" b="1" dirty="0" smtClean="0">
                <a:solidFill>
                  <a:srgbClr val="C00000"/>
                </a:solidFill>
              </a:rPr>
              <a:t> =</a:t>
            </a:r>
            <a:r>
              <a:rPr lang="en-US" sz="2200" b="1" dirty="0" smtClean="0">
                <a:solidFill>
                  <a:srgbClr val="C00000"/>
                </a:solidFill>
              </a:rPr>
              <a:t> 2</a:t>
            </a:r>
            <a:r>
              <a:rPr lang="en-US" b="1" dirty="0" smtClean="0"/>
              <a:t>.</a:t>
            </a:r>
            <a:r>
              <a:rPr lang="en-US" dirty="0" smtClean="0"/>
              <a:t> What are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a</a:t>
            </a:r>
            <a:r>
              <a:rPr lang="en-US" b="1" baseline="-25000" dirty="0" smtClean="0"/>
              <a:t>n-1</a:t>
            </a:r>
            <a:r>
              <a:rPr lang="en-US" b="1" dirty="0" smtClean="0"/>
              <a:t> </a:t>
            </a:r>
            <a:r>
              <a:rPr lang="en-US" sz="2200" b="1" dirty="0" smtClean="0"/>
              <a:t>+3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0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+3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2 +3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 </a:t>
            </a:r>
            <a:r>
              <a:rPr lang="en-US" b="1" dirty="0" smtClean="0"/>
              <a:t>a</a:t>
            </a:r>
            <a:r>
              <a:rPr lang="en-US" b="1" baseline="-25000" dirty="0" smtClean="0"/>
              <a:t>2</a:t>
            </a:r>
            <a:r>
              <a:rPr lang="en-US" b="1" dirty="0" smtClean="0"/>
              <a:t> = a</a:t>
            </a:r>
            <a:r>
              <a:rPr lang="en-US" b="1" baseline="-25000" dirty="0" smtClean="0"/>
              <a:t>1</a:t>
            </a:r>
            <a:r>
              <a:rPr lang="en-US" b="1" dirty="0" smtClean="0"/>
              <a:t> </a:t>
            </a:r>
            <a:r>
              <a:rPr lang="en-US" sz="2200" b="1" dirty="0" smtClean="0"/>
              <a:t>+3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 +3 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8 </a:t>
            </a:r>
          </a:p>
          <a:p>
            <a:pPr algn="ctr"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   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3</a:t>
            </a:r>
            <a:r>
              <a:rPr lang="en-US" b="1" dirty="0" smtClean="0"/>
              <a:t> = a</a:t>
            </a:r>
            <a:r>
              <a:rPr lang="en-US" b="1" baseline="-25000" dirty="0" smtClean="0"/>
              <a:t>2</a:t>
            </a:r>
            <a:r>
              <a:rPr lang="en-US" b="1" dirty="0" smtClean="0"/>
              <a:t> </a:t>
            </a:r>
            <a:r>
              <a:rPr lang="en-US" sz="2200" b="1" dirty="0" smtClean="0"/>
              <a:t>+3 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8 +3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11</a:t>
            </a:r>
          </a:p>
          <a:p>
            <a:pPr algn="ctr"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 be a sequence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and suppose that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  <a:r>
              <a:rPr lang="en-US" sz="2200" dirty="0" smtClean="0">
                <a:solidFill>
                  <a:srgbClr val="C00000"/>
                </a:solidFill>
              </a:rPr>
              <a:t> 3 </a:t>
            </a:r>
            <a:r>
              <a:rPr lang="en-US" dirty="0" smtClean="0"/>
              <a:t>and</a:t>
            </a:r>
            <a:r>
              <a:rPr lang="en-US" sz="22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  <a:r>
              <a:rPr lang="en-US" sz="2200" dirty="0" smtClean="0">
                <a:solidFill>
                  <a:srgbClr val="C00000"/>
                </a:solidFill>
              </a:rPr>
              <a:t> 5</a:t>
            </a:r>
            <a:r>
              <a:rPr lang="en-US" dirty="0" smtClean="0"/>
              <a:t>. What are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,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</a:t>
            </a:r>
            <a:r>
              <a:rPr lang="en-US" sz="2400" b="1" dirty="0" smtClean="0"/>
              <a:t>=</a:t>
            </a:r>
            <a:r>
              <a:rPr lang="en-US" b="1" dirty="0" smtClean="0"/>
              <a:t>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</a:t>
            </a:r>
            <a:r>
              <a:rPr lang="en-US" sz="2800" b="1" dirty="0" smtClean="0"/>
              <a:t>–</a:t>
            </a:r>
            <a:r>
              <a:rPr lang="en-US" b="1" dirty="0" smtClean="0"/>
              <a:t>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b="1" dirty="0" smtClean="0"/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800" b="1" dirty="0" smtClean="0">
                <a:solidFill>
                  <a:srgbClr val="C00000"/>
                </a:solidFill>
              </a:rPr>
              <a:t> –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0</a:t>
            </a:r>
            <a:endParaRPr lang="en-US" sz="22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                     </a:t>
            </a:r>
            <a:r>
              <a:rPr lang="en-US" b="1" dirty="0" smtClean="0"/>
              <a:t>a</a:t>
            </a:r>
            <a:r>
              <a:rPr lang="en-US" sz="2200" b="1" baseline="-25000" dirty="0" smtClean="0"/>
              <a:t>2</a:t>
            </a:r>
            <a:r>
              <a:rPr lang="en-US" b="1" dirty="0" smtClean="0"/>
              <a:t> </a:t>
            </a:r>
            <a:r>
              <a:rPr lang="en-US" sz="2400" b="1" dirty="0" smtClean="0"/>
              <a:t>=</a:t>
            </a:r>
            <a:r>
              <a:rPr lang="en-US" b="1" dirty="0" smtClean="0"/>
              <a:t> </a:t>
            </a:r>
            <a:r>
              <a:rPr lang="en-US" sz="2200" b="1" dirty="0" smtClean="0"/>
              <a:t>5 – 3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</a:rPr>
              <a:t>–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endParaRPr lang="en-US" sz="22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		</a:t>
            </a:r>
            <a:r>
              <a:rPr lang="en-US" sz="2400" dirty="0" smtClean="0"/>
              <a:t> </a:t>
            </a:r>
            <a:r>
              <a:rPr lang="en-US" sz="2400" b="1" dirty="0" smtClean="0"/>
              <a:t>a</a:t>
            </a:r>
            <a:r>
              <a:rPr lang="en-US" sz="2400" b="1" baseline="-25000" dirty="0" smtClean="0"/>
              <a:t>3</a:t>
            </a:r>
            <a:r>
              <a:rPr lang="en-US" sz="2400" b="1" dirty="0" smtClean="0"/>
              <a:t> = </a:t>
            </a:r>
            <a:r>
              <a:rPr lang="en-US" sz="2200" b="1" dirty="0" smtClean="0"/>
              <a:t>2 – 5</a:t>
            </a:r>
            <a:r>
              <a:rPr lang="en-US" sz="2400" b="1" dirty="0" smtClean="0">
                <a:solidFill>
                  <a:srgbClr val="C00000"/>
                </a:solidFill>
              </a:rPr>
              <a:t> = – </a:t>
            </a:r>
            <a:r>
              <a:rPr lang="en-US" sz="2200" b="1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FIBONACCI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Fibonacci sequence</a:t>
            </a:r>
            <a:r>
              <a:rPr lang="en-US" dirty="0" smtClean="0"/>
              <a:t> is defined as follows.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lang="en-US" dirty="0" smtClean="0">
                <a:solidFill>
                  <a:srgbClr val="C00000"/>
                </a:solidFill>
              </a:rPr>
              <a:t>BASE</a:t>
            </a:r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0</a:t>
            </a:r>
            <a:r>
              <a:rPr lang="en-US" dirty="0" smtClean="0"/>
              <a:t> = 0, F</a:t>
            </a:r>
            <a:r>
              <a:rPr lang="en-US" baseline="-25000" dirty="0" smtClean="0"/>
              <a:t>1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lang="en-US" dirty="0" smtClean="0">
                <a:solidFill>
                  <a:srgbClr val="C00000"/>
                </a:solidFill>
              </a:rPr>
              <a:t>Recursion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/>
              <a:t>		</a:t>
            </a:r>
            <a:r>
              <a:rPr lang="en-US" dirty="0" err="1" smtClean="0"/>
              <a:t>F</a:t>
            </a:r>
            <a:r>
              <a:rPr lang="en-US" baseline="-25000" dirty="0" err="1" smtClean="0"/>
              <a:t>k</a:t>
            </a:r>
            <a:r>
              <a:rPr lang="en-US" dirty="0" smtClean="0"/>
              <a:t> = F</a:t>
            </a:r>
            <a:r>
              <a:rPr lang="en-US" baseline="-25000" dirty="0" smtClean="0"/>
              <a:t>k-1</a:t>
            </a:r>
            <a:r>
              <a:rPr lang="en-US" dirty="0" smtClean="0"/>
              <a:t> + F</a:t>
            </a:r>
            <a:r>
              <a:rPr lang="en-US" baseline="-25000" dirty="0" smtClean="0"/>
              <a:t>k-2</a:t>
            </a:r>
            <a:r>
              <a:rPr lang="en-US" dirty="0" smtClean="0"/>
              <a:t> 	for all integers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2</a:t>
            </a:r>
            <a:r>
              <a:rPr lang="en-US" dirty="0" smtClean="0"/>
              <a:t> = F</a:t>
            </a:r>
            <a:r>
              <a:rPr lang="en-US" baseline="-25000" dirty="0" smtClean="0"/>
              <a:t>1</a:t>
            </a:r>
            <a:r>
              <a:rPr lang="en-US" dirty="0" smtClean="0"/>
              <a:t> + F</a:t>
            </a:r>
            <a:r>
              <a:rPr lang="en-US" baseline="-25000" dirty="0" smtClean="0"/>
              <a:t>0</a:t>
            </a:r>
            <a:r>
              <a:rPr lang="en-US" dirty="0" smtClean="0"/>
              <a:t> = 1 + 0 = 1</a:t>
            </a:r>
            <a:br>
              <a:rPr lang="en-US" dirty="0" smtClean="0"/>
            </a:br>
            <a:r>
              <a:rPr lang="en-US" dirty="0" smtClean="0"/>
              <a:t>		F</a:t>
            </a:r>
            <a:r>
              <a:rPr lang="en-US" baseline="-25000" dirty="0" smtClean="0"/>
              <a:t>3</a:t>
            </a:r>
            <a:r>
              <a:rPr lang="en-US" dirty="0" smtClean="0"/>
              <a:t> = F</a:t>
            </a:r>
            <a:r>
              <a:rPr lang="en-US" baseline="-25000" dirty="0" smtClean="0"/>
              <a:t>2</a:t>
            </a:r>
            <a:r>
              <a:rPr lang="en-US" dirty="0" smtClean="0"/>
              <a:t> + F</a:t>
            </a:r>
            <a:r>
              <a:rPr lang="en-US" baseline="-25000" dirty="0" smtClean="0"/>
              <a:t>1</a:t>
            </a:r>
            <a:r>
              <a:rPr lang="en-US" dirty="0" smtClean="0"/>
              <a:t> = 1 + 1 = 2</a:t>
            </a:r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4</a:t>
            </a:r>
            <a:r>
              <a:rPr lang="en-US" dirty="0" smtClean="0"/>
              <a:t> = F</a:t>
            </a:r>
            <a:r>
              <a:rPr lang="en-US" baseline="-25000" dirty="0" smtClean="0"/>
              <a:t>3</a:t>
            </a:r>
            <a:r>
              <a:rPr lang="en-US" dirty="0" smtClean="0"/>
              <a:t> + F</a:t>
            </a:r>
            <a:r>
              <a:rPr lang="en-US" baseline="-25000" dirty="0" smtClean="0"/>
              <a:t>2</a:t>
            </a:r>
            <a:r>
              <a:rPr lang="en-US" dirty="0" smtClean="0"/>
              <a:t> = 2 + 1 = 3</a:t>
            </a:r>
            <a:br>
              <a:rPr lang="en-US" dirty="0" smtClean="0"/>
            </a:br>
            <a:r>
              <a:rPr lang="en-US" dirty="0" smtClean="0"/>
              <a:t>		F</a:t>
            </a:r>
            <a:r>
              <a:rPr lang="en-US" baseline="-25000" dirty="0" smtClean="0"/>
              <a:t>5</a:t>
            </a:r>
            <a:r>
              <a:rPr lang="en-US" dirty="0" smtClean="0"/>
              <a:t> = F</a:t>
            </a:r>
            <a:r>
              <a:rPr lang="en-US" baseline="-25000" dirty="0" smtClean="0"/>
              <a:t>4</a:t>
            </a:r>
            <a:r>
              <a:rPr lang="en-US" dirty="0" smtClean="0"/>
              <a:t> + F</a:t>
            </a:r>
            <a:r>
              <a:rPr lang="en-US" baseline="-25000" dirty="0" smtClean="0"/>
              <a:t>3</a:t>
            </a:r>
            <a:r>
              <a:rPr lang="en-US" dirty="0" smtClean="0"/>
              <a:t> = 3 + 2 = 5</a:t>
            </a:r>
          </a:p>
          <a:p>
            <a:pPr>
              <a:buNone/>
            </a:pPr>
            <a:r>
              <a:rPr lang="en-US" dirty="0" smtClean="0"/>
              <a:t>				      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3n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3n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3(n-1)</a:t>
            </a: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200" b="1" dirty="0" smtClean="0">
                <a:solidFill>
                  <a:srgbClr val="C00000"/>
                </a:solidFill>
              </a:rPr>
              <a:t>3(n-2)</a:t>
            </a: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2(3(n – 1)) – 3(n – 2) 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2(3n – 3) – 3n + 6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6n – 6 – 3n + 6</a:t>
            </a:r>
          </a:p>
          <a:p>
            <a:pPr>
              <a:buNone/>
            </a:pPr>
            <a:r>
              <a:rPr lang="en-US" b="1" dirty="0" smtClean="0"/>
              <a:t>		a</a:t>
            </a:r>
            <a:r>
              <a:rPr lang="en-US" b="1" baseline="-25000" dirty="0" smtClean="0"/>
              <a:t>n</a:t>
            </a:r>
            <a:r>
              <a:rPr lang="en-US" b="1" dirty="0" smtClean="0"/>
              <a:t> = 3n</a:t>
            </a: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3n</a:t>
            </a:r>
            <a:r>
              <a:rPr lang="en-US" dirty="0" smtClean="0"/>
              <a:t> is solution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n-1 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   	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2.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b="1" dirty="0" smtClean="0">
                <a:solidFill>
                  <a:srgbClr val="C00000"/>
                </a:solidFill>
              </a:rPr>
              <a:t> –</a:t>
            </a:r>
            <a:r>
              <a:rPr lang="en-US" sz="2800" b="1" dirty="0" smtClean="0">
                <a:solidFill>
                  <a:srgbClr val="C00000"/>
                </a:solidFill>
              </a:rPr>
              <a:t>2</a:t>
            </a:r>
            <a:r>
              <a:rPr lang="en-US" sz="2800" b="1" baseline="30000" dirty="0" smtClean="0">
                <a:solidFill>
                  <a:srgbClr val="C00000"/>
                </a:solidFill>
              </a:rPr>
              <a:t>n-2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n-1+1 </a:t>
            </a:r>
            <a:r>
              <a:rPr lang="en-US" b="1" dirty="0" smtClean="0">
                <a:solidFill>
                  <a:srgbClr val="C00000"/>
                </a:solidFill>
              </a:rPr>
              <a:t> –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 </a:t>
            </a:r>
            <a:r>
              <a:rPr lang="en-US" b="1" dirty="0" smtClean="0">
                <a:solidFill>
                  <a:srgbClr val="C00000"/>
                </a:solidFill>
              </a:rPr>
              <a:t> –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  <a:endParaRPr lang="en-US" b="1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not a solution</a:t>
            </a:r>
            <a:r>
              <a:rPr lang="en-US" dirty="0" smtClean="0"/>
              <a:t>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5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5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 .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5</a:t>
            </a:r>
            <a:r>
              <a:rPr lang="en-US" b="1" dirty="0" smtClean="0">
                <a:solidFill>
                  <a:srgbClr val="C00000"/>
                </a:solidFill>
              </a:rPr>
              <a:t> – 5</a:t>
            </a:r>
            <a:endParaRPr lang="en-US" sz="2800" b="1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10</a:t>
            </a:r>
            <a:r>
              <a:rPr lang="en-US" b="1" baseline="30000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 – 5</a:t>
            </a:r>
            <a:endParaRPr lang="en-US" sz="2400" b="1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5</a:t>
            </a: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5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a solution</a:t>
            </a:r>
            <a:r>
              <a:rPr lang="en-US" dirty="0" smtClean="0"/>
              <a:t>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2759</TotalTime>
  <Words>781</Words>
  <Application>Microsoft Office PowerPoint</Application>
  <PresentationFormat>On-screen Show (4:3)</PresentationFormat>
  <Paragraphs>374</Paragraphs>
  <Slides>52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Origin</vt:lpstr>
      <vt:lpstr>Equation</vt:lpstr>
      <vt:lpstr>SUMMATION Lecture # 14</vt:lpstr>
      <vt:lpstr>INTRODUCTION</vt:lpstr>
      <vt:lpstr>SUMMATION NOTATION</vt:lpstr>
      <vt:lpstr>PowerPoint Presentation</vt:lpstr>
      <vt:lpstr>COMPUTING SUMMATIONS</vt:lpstr>
      <vt:lpstr>SOLUTION</vt:lpstr>
      <vt:lpstr>SOLUTION</vt:lpstr>
      <vt:lpstr>SOLUTION</vt:lpstr>
      <vt:lpstr>EXERCISE</vt:lpstr>
      <vt:lpstr>NOTE</vt:lpstr>
      <vt:lpstr>SUMMATION NOTATION TO EXPANDED FORM</vt:lpstr>
      <vt:lpstr>EXPANDED FORM TO SUMMATION NOTATION</vt:lpstr>
      <vt:lpstr>PowerPoint Presentation</vt:lpstr>
      <vt:lpstr>PowerPoint Presentation</vt:lpstr>
      <vt:lpstr>PowerPoint Presentation</vt:lpstr>
      <vt:lpstr>PowerPoint Presentation</vt:lpstr>
      <vt:lpstr>REMARK</vt:lpstr>
      <vt:lpstr>EXERCISE</vt:lpstr>
      <vt:lpstr>PowerPoint Presentation</vt:lpstr>
      <vt:lpstr>EXERCISE</vt:lpstr>
      <vt:lpstr>SOLUTION</vt:lpstr>
      <vt:lpstr>PROPERTIES OF SUMMATIONS</vt:lpstr>
      <vt:lpstr>EXERCISE</vt:lpstr>
      <vt:lpstr>PowerPoint Presentation</vt:lpstr>
      <vt:lpstr>ARITHMETIC SERIES</vt:lpstr>
      <vt:lpstr>PowerPoint Presentation</vt:lpstr>
      <vt:lpstr>SUM OF n TERMS OF AN ARITHMETIC SERIES</vt:lpstr>
      <vt:lpstr>PowerPoint Presentation</vt:lpstr>
      <vt:lpstr>PowerPoint Presentation</vt:lpstr>
      <vt:lpstr>EXERCISE</vt:lpstr>
      <vt:lpstr>PowerPoint Presentation</vt:lpstr>
      <vt:lpstr>EXERCISE</vt:lpstr>
      <vt:lpstr>PowerPoint Presentation</vt:lpstr>
      <vt:lpstr>PowerPoint Presentation</vt:lpstr>
      <vt:lpstr>PowerPoint Presentation</vt:lpstr>
      <vt:lpstr>GEOMETRIC SERIES</vt:lpstr>
      <vt:lpstr>PowerPoint Presentation</vt:lpstr>
      <vt:lpstr>SUM OF n TERMS OF A GEOMETRIC SERIES</vt:lpstr>
      <vt:lpstr>PowerPoint Presentation</vt:lpstr>
      <vt:lpstr>EXERCISE</vt:lpstr>
      <vt:lpstr>PowerPoint Presentation</vt:lpstr>
      <vt:lpstr>RECURRENCE RELATION</vt:lpstr>
      <vt:lpstr>EXAMPLE</vt:lpstr>
      <vt:lpstr>PowerPoint Presentation</vt:lpstr>
      <vt:lpstr>EXAMPLE</vt:lpstr>
      <vt:lpstr>THE FIBONACCI SEQUENCE</vt:lpstr>
      <vt:lpstr>EXAMPLE</vt:lpstr>
      <vt:lpstr>PowerPoint Presentation</vt:lpstr>
      <vt:lpstr>EXAMPLE</vt:lpstr>
      <vt:lpstr>PowerPoint Presentation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Nibhan Aziz | BMS Technician | Engineering</cp:lastModifiedBy>
  <cp:revision>307</cp:revision>
  <dcterms:created xsi:type="dcterms:W3CDTF">2013-10-15T06:26:31Z</dcterms:created>
  <dcterms:modified xsi:type="dcterms:W3CDTF">2023-10-23T10:01:27Z</dcterms:modified>
</cp:coreProperties>
</file>
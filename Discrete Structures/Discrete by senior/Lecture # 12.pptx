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47"/>
  </p:notesMasterIdLst>
  <p:sldIdLst>
    <p:sldId id="256" r:id="rId2"/>
    <p:sldId id="288" r:id="rId3"/>
    <p:sldId id="289" r:id="rId4"/>
    <p:sldId id="290" r:id="rId5"/>
    <p:sldId id="291" r:id="rId6"/>
    <p:sldId id="292" r:id="rId7"/>
    <p:sldId id="293" r:id="rId8"/>
    <p:sldId id="295" r:id="rId9"/>
    <p:sldId id="294" r:id="rId10"/>
    <p:sldId id="296" r:id="rId11"/>
    <p:sldId id="297" r:id="rId12"/>
    <p:sldId id="298" r:id="rId13"/>
    <p:sldId id="299" r:id="rId14"/>
    <p:sldId id="300" r:id="rId15"/>
    <p:sldId id="301" r:id="rId16"/>
    <p:sldId id="302" r:id="rId17"/>
    <p:sldId id="303" r:id="rId18"/>
    <p:sldId id="304" r:id="rId19"/>
    <p:sldId id="306" r:id="rId20"/>
    <p:sldId id="307" r:id="rId21"/>
    <p:sldId id="308" r:id="rId22"/>
    <p:sldId id="309" r:id="rId23"/>
    <p:sldId id="310" r:id="rId24"/>
    <p:sldId id="311" r:id="rId25"/>
    <p:sldId id="312" r:id="rId26"/>
    <p:sldId id="313" r:id="rId27"/>
    <p:sldId id="314" r:id="rId28"/>
    <p:sldId id="315" r:id="rId29"/>
    <p:sldId id="316" r:id="rId30"/>
    <p:sldId id="317" r:id="rId31"/>
    <p:sldId id="318" r:id="rId32"/>
    <p:sldId id="319" r:id="rId33"/>
    <p:sldId id="320" r:id="rId34"/>
    <p:sldId id="321" r:id="rId35"/>
    <p:sldId id="322" r:id="rId36"/>
    <p:sldId id="323" r:id="rId37"/>
    <p:sldId id="324" r:id="rId38"/>
    <p:sldId id="325" r:id="rId39"/>
    <p:sldId id="326" r:id="rId40"/>
    <p:sldId id="327" r:id="rId41"/>
    <p:sldId id="328" r:id="rId42"/>
    <p:sldId id="329" r:id="rId43"/>
    <p:sldId id="330" r:id="rId44"/>
    <p:sldId id="331" r:id="rId45"/>
    <p:sldId id="332" r:id="rId4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08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.wmf"/><Relationship Id="rId1" Type="http://schemas.openxmlformats.org/officeDocument/2006/relationships/image" Target="../media/image12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.wmf"/><Relationship Id="rId1" Type="http://schemas.openxmlformats.org/officeDocument/2006/relationships/image" Target="../media/image16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image" Target="../media/image19.wmf"/><Relationship Id="rId1" Type="http://schemas.openxmlformats.org/officeDocument/2006/relationships/image" Target="../media/image18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22.wmf"/><Relationship Id="rId1" Type="http://schemas.openxmlformats.org/officeDocument/2006/relationships/image" Target="../media/image21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7.wmf"/><Relationship Id="rId1" Type="http://schemas.openxmlformats.org/officeDocument/2006/relationships/image" Target="../media/image26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.wmf"/><Relationship Id="rId2" Type="http://schemas.openxmlformats.org/officeDocument/2006/relationships/image" Target="../media/image26.wmf"/><Relationship Id="rId1" Type="http://schemas.openxmlformats.org/officeDocument/2006/relationships/image" Target="../media/image2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9EC208-CBD2-4BB3-BC72-DCDC3D7B8183}" type="datetimeFigureOut">
              <a:rPr lang="en-US" smtClean="0"/>
              <a:pPr/>
              <a:t>10/16/2023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9421D0-6215-4261-B64C-7470A97F18E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9421D0-6215-4261-B64C-7470A97F18E7}" type="slidenum">
              <a:rPr lang="en-US" smtClean="0"/>
              <a:pPr/>
              <a:t>15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fld id="{C547385E-8BC5-4441-A857-FF4014F161FF}" type="datetimeFigureOut">
              <a:rPr lang="en-US" smtClean="0"/>
              <a:pPr/>
              <a:t>10/16/2023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869461FC-DF4C-4548-A1F9-450F06AED95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7385E-8BC5-4441-A857-FF4014F161FF}" type="datetimeFigureOut">
              <a:rPr lang="en-US" smtClean="0"/>
              <a:pPr/>
              <a:t>10/16/2023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461FC-DF4C-4548-A1F9-450F06AED95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fld id="{C547385E-8BC5-4441-A857-FF4014F161FF}" type="datetimeFigureOut">
              <a:rPr lang="en-US" smtClean="0"/>
              <a:pPr/>
              <a:t>10/16/2023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869461FC-DF4C-4548-A1F9-450F06AED95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7385E-8BC5-4441-A857-FF4014F161FF}" type="datetimeFigureOut">
              <a:rPr lang="en-US" smtClean="0"/>
              <a:pPr/>
              <a:t>10/16/2023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461FC-DF4C-4548-A1F9-450F06AED95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7385E-8BC5-4441-A857-FF4014F161FF}" type="datetimeFigureOut">
              <a:rPr lang="en-US" smtClean="0"/>
              <a:pPr/>
              <a:t>10/16/2023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461FC-DF4C-4548-A1F9-450F06AED95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7385E-8BC5-4441-A857-FF4014F161FF}" type="datetimeFigureOut">
              <a:rPr lang="en-US" smtClean="0"/>
              <a:pPr/>
              <a:t>10/16/2023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461FC-DF4C-4548-A1F9-450F06AED95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7385E-8BC5-4441-A857-FF4014F161FF}" type="datetimeFigureOut">
              <a:rPr lang="en-US" smtClean="0"/>
              <a:pPr/>
              <a:t>10/16/2023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461FC-DF4C-4548-A1F9-450F06AED95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7385E-8BC5-4441-A857-FF4014F161FF}" type="datetimeFigureOut">
              <a:rPr lang="en-US" smtClean="0"/>
              <a:pPr/>
              <a:t>10/16/2023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461FC-DF4C-4548-A1F9-450F06AED95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 dirty="0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7385E-8BC5-4441-A857-FF4014F161FF}" type="datetimeFigureOut">
              <a:rPr lang="en-US" smtClean="0"/>
              <a:pPr/>
              <a:t>10/16/2023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461FC-DF4C-4548-A1F9-450F06AED95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7385E-8BC5-4441-A857-FF4014F161FF}" type="datetimeFigureOut">
              <a:rPr lang="en-US" smtClean="0"/>
              <a:pPr/>
              <a:t>10/16/2023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461FC-DF4C-4548-A1F9-450F06AED952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7385E-8BC5-4441-A857-FF4014F161FF}" type="datetimeFigureOut">
              <a:rPr lang="en-US" smtClean="0"/>
              <a:pPr/>
              <a:t>10/16/2023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461FC-DF4C-4548-A1F9-450F06AED95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C547385E-8BC5-4441-A857-FF4014F161FF}" type="datetimeFigureOut">
              <a:rPr lang="en-US" smtClean="0"/>
              <a:pPr/>
              <a:t>10/16/2023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869461FC-DF4C-4548-A1F9-450F06AED95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oleObject" Target="../embeddings/oleObject2.bin"/><Relationship Id="rId4" Type="http://schemas.openxmlformats.org/officeDocument/2006/relationships/image" Target="../media/image2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3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4.w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openxmlformats.org/officeDocument/2006/relationships/image" Target="../media/image13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12.wmf"/><Relationship Id="rId4" Type="http://schemas.openxmlformats.org/officeDocument/2006/relationships/oleObject" Target="../embeddings/oleObject5.bin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14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15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7" Type="http://schemas.openxmlformats.org/officeDocument/2006/relationships/image" Target="../media/image1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11.bin"/><Relationship Id="rId5" Type="http://schemas.openxmlformats.org/officeDocument/2006/relationships/oleObject" Target="../embeddings/oleObject10.bin"/><Relationship Id="rId4" Type="http://schemas.openxmlformats.org/officeDocument/2006/relationships/image" Target="../media/image16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wmf"/><Relationship Id="rId3" Type="http://schemas.openxmlformats.org/officeDocument/2006/relationships/oleObject" Target="../embeddings/oleObject12.bin"/><Relationship Id="rId7" Type="http://schemas.openxmlformats.org/officeDocument/2006/relationships/oleObject" Target="../embeddings/oleObject1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19.w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18.wmf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7" Type="http://schemas.openxmlformats.org/officeDocument/2006/relationships/image" Target="../media/image2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17.bin"/><Relationship Id="rId5" Type="http://schemas.openxmlformats.org/officeDocument/2006/relationships/oleObject" Target="../embeddings/oleObject16.bin"/><Relationship Id="rId4" Type="http://schemas.openxmlformats.org/officeDocument/2006/relationships/image" Target="../media/image21.w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5" Type="http://schemas.openxmlformats.org/officeDocument/2006/relationships/oleObject" Target="../embeddings/oleObject19.bin"/><Relationship Id="rId4" Type="http://schemas.openxmlformats.org/officeDocument/2006/relationships/image" Target="../media/image23.wmf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27.wmf"/><Relationship Id="rId5" Type="http://schemas.openxmlformats.org/officeDocument/2006/relationships/oleObject" Target="../embeddings/oleObject21.bin"/><Relationship Id="rId4" Type="http://schemas.openxmlformats.org/officeDocument/2006/relationships/image" Target="../media/image26.wmf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wmf"/><Relationship Id="rId3" Type="http://schemas.openxmlformats.org/officeDocument/2006/relationships/oleObject" Target="../embeddings/oleObject22.bin"/><Relationship Id="rId7" Type="http://schemas.openxmlformats.org/officeDocument/2006/relationships/oleObject" Target="../embeddings/oleObject2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26.wmf"/><Relationship Id="rId5" Type="http://schemas.openxmlformats.org/officeDocument/2006/relationships/oleObject" Target="../embeddings/oleObject23.bin"/><Relationship Id="rId4" Type="http://schemas.openxmlformats.org/officeDocument/2006/relationships/image" Target="../media/image28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b="1" u="sng" dirty="0" smtClean="0">
                <a:solidFill>
                  <a:srgbClr val="C00000"/>
                </a:solidFill>
              </a:rPr>
              <a:t>INVERSE &amp; COMPOSITIONS OF FUNCTIONS</a:t>
            </a:r>
            <a:br>
              <a:rPr lang="en-US" b="1" u="sng" dirty="0" smtClean="0">
                <a:solidFill>
                  <a:srgbClr val="C00000"/>
                </a:solidFill>
              </a:rPr>
            </a:br>
            <a:endParaRPr lang="en-US" sz="2900" b="1" dirty="0">
              <a:solidFill>
                <a:srgbClr val="0070C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b="1" dirty="0" smtClean="0">
                <a:solidFill>
                  <a:srgbClr val="0070C0"/>
                </a:solidFill>
              </a:rPr>
              <a:t>Lecture # 12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EQUALITY OF FUNCTIONS</a:t>
            </a:r>
            <a:endParaRPr lang="en-US" b="1" dirty="0" smtClean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Suppose </a:t>
            </a:r>
            <a:r>
              <a:rPr lang="en-US" b="1" dirty="0" smtClean="0">
                <a:solidFill>
                  <a:srgbClr val="C00000"/>
                </a:solidFill>
              </a:rPr>
              <a:t>f</a:t>
            </a:r>
            <a:r>
              <a:rPr lang="en-US" dirty="0" smtClean="0"/>
              <a:t> and </a:t>
            </a:r>
            <a:r>
              <a:rPr lang="en-US" b="1" dirty="0" smtClean="0">
                <a:solidFill>
                  <a:srgbClr val="C00000"/>
                </a:solidFill>
              </a:rPr>
              <a:t>g</a:t>
            </a:r>
            <a:r>
              <a:rPr lang="en-US" dirty="0" smtClean="0"/>
              <a:t> are functions from </a:t>
            </a:r>
            <a:r>
              <a:rPr lang="en-US" b="1" dirty="0" smtClean="0">
                <a:solidFill>
                  <a:srgbClr val="C00000"/>
                </a:solidFill>
              </a:rPr>
              <a:t>X</a:t>
            </a:r>
            <a:r>
              <a:rPr lang="en-US" dirty="0" smtClean="0"/>
              <a:t> to </a:t>
            </a:r>
            <a:r>
              <a:rPr lang="en-US" b="1" dirty="0" smtClean="0">
                <a:solidFill>
                  <a:srgbClr val="C00000"/>
                </a:solidFill>
              </a:rPr>
              <a:t>Y</a:t>
            </a:r>
            <a:r>
              <a:rPr lang="en-US" dirty="0" smtClean="0"/>
              <a:t>.  Then </a:t>
            </a:r>
            <a:r>
              <a:rPr lang="en-US" b="1" dirty="0" smtClean="0">
                <a:solidFill>
                  <a:srgbClr val="C00000"/>
                </a:solidFill>
              </a:rPr>
              <a:t>f equals g,</a:t>
            </a:r>
            <a:r>
              <a:rPr lang="en-US" dirty="0" smtClean="0"/>
              <a:t> written  </a:t>
            </a:r>
            <a:r>
              <a:rPr lang="en-US" b="1" dirty="0" smtClean="0">
                <a:solidFill>
                  <a:srgbClr val="C00000"/>
                </a:solidFill>
              </a:rPr>
              <a:t>f = g</a:t>
            </a:r>
            <a:r>
              <a:rPr lang="en-US" dirty="0" smtClean="0"/>
              <a:t>, if, and only if, 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smtClean="0">
                <a:solidFill>
                  <a:srgbClr val="C00000"/>
                </a:solidFill>
              </a:rPr>
              <a:t>f(x) = g(x)    </a:t>
            </a:r>
            <a:r>
              <a:rPr lang="en-US" dirty="0" smtClean="0"/>
              <a:t>for all    </a:t>
            </a:r>
            <a:r>
              <a:rPr lang="en-US" dirty="0" smtClean="0">
                <a:solidFill>
                  <a:srgbClr val="C00000"/>
                </a:solidFill>
              </a:rPr>
              <a:t>x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 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</a:p>
          <a:p>
            <a:r>
              <a:rPr lang="en-US" dirty="0" smtClean="0"/>
              <a:t>i.e. 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	image of x under f </a:t>
            </a:r>
            <a:r>
              <a:rPr lang="en-US" dirty="0" smtClean="0"/>
              <a:t>=</a:t>
            </a:r>
            <a:r>
              <a:rPr lang="en-US" dirty="0" smtClean="0">
                <a:solidFill>
                  <a:srgbClr val="C00000"/>
                </a:solidFill>
              </a:rPr>
              <a:t> image of x under g</a:t>
            </a:r>
          </a:p>
          <a:p>
            <a:pPr>
              <a:buNone/>
            </a:pPr>
            <a:endParaRPr lang="en-US" dirty="0" smtClean="0">
              <a:solidFill>
                <a:srgbClr val="C00000"/>
              </a:solidFill>
            </a:endParaRPr>
          </a:p>
          <a:p>
            <a:r>
              <a:rPr lang="en-US" b="1" u="sng" dirty="0" smtClean="0"/>
              <a:t>Note: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   For functions to be equal, their </a:t>
            </a:r>
            <a:r>
              <a:rPr lang="en-US" b="1" i="1" dirty="0" smtClean="0">
                <a:solidFill>
                  <a:srgbClr val="00B050"/>
                </a:solidFill>
              </a:rPr>
              <a:t>domain</a:t>
            </a:r>
            <a:r>
              <a:rPr lang="en-US" dirty="0" smtClean="0">
                <a:solidFill>
                  <a:srgbClr val="C00000"/>
                </a:solidFill>
              </a:rPr>
              <a:t> and </a:t>
            </a:r>
            <a:r>
              <a:rPr lang="en-US" b="1" i="1" dirty="0" smtClean="0">
                <a:solidFill>
                  <a:srgbClr val="00B050"/>
                </a:solidFill>
              </a:rPr>
              <a:t>co-domain</a:t>
            </a:r>
            <a:r>
              <a:rPr lang="en-US" dirty="0" smtClean="0">
                <a:solidFill>
                  <a:srgbClr val="C00000"/>
                </a:solidFill>
              </a:rPr>
              <a:t> must be the </a:t>
            </a:r>
            <a:r>
              <a:rPr lang="en-US" b="1" i="1" dirty="0" smtClean="0">
                <a:solidFill>
                  <a:srgbClr val="00B050"/>
                </a:solidFill>
              </a:rPr>
              <a:t>same</a:t>
            </a:r>
            <a:r>
              <a:rPr lang="en-US" dirty="0" smtClean="0">
                <a:solidFill>
                  <a:srgbClr val="C00000"/>
                </a:solidFill>
              </a:rPr>
              <a:t>. If domain and co-domain are not equal then their functions equality is not possible.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Define </a:t>
            </a:r>
            <a:r>
              <a:rPr lang="en-US" b="1" dirty="0" smtClean="0">
                <a:solidFill>
                  <a:srgbClr val="C00000"/>
                </a:solidFill>
              </a:rPr>
              <a:t>f: R →R </a:t>
            </a:r>
            <a:r>
              <a:rPr lang="en-US" dirty="0" smtClean="0"/>
              <a:t>and </a:t>
            </a:r>
            <a:r>
              <a:rPr lang="en-US" b="1" dirty="0" smtClean="0">
                <a:solidFill>
                  <a:srgbClr val="C00000"/>
                </a:solidFill>
              </a:rPr>
              <a:t>g: R→R </a:t>
            </a:r>
            <a:r>
              <a:rPr lang="en-US" dirty="0" smtClean="0"/>
              <a:t>by formulas:</a:t>
            </a:r>
          </a:p>
          <a:p>
            <a:pPr>
              <a:buNone/>
            </a:pPr>
            <a:r>
              <a:rPr lang="en-US" dirty="0" smtClean="0"/>
              <a:t>				</a:t>
            </a:r>
          </a:p>
          <a:p>
            <a:pPr>
              <a:buNone/>
            </a:pPr>
            <a:r>
              <a:rPr lang="en-US" dirty="0" smtClean="0"/>
              <a:t>			    </a:t>
            </a:r>
            <a:r>
              <a:rPr lang="en-US" b="1" dirty="0" smtClean="0">
                <a:solidFill>
                  <a:srgbClr val="C00000"/>
                </a:solidFill>
              </a:rPr>
              <a:t>f(x) =</a:t>
            </a:r>
            <a:r>
              <a:rPr lang="en-US" dirty="0" smtClean="0"/>
              <a:t> |x|		for all x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 </a:t>
            </a:r>
            <a:r>
              <a:rPr lang="en-US" dirty="0" smtClean="0"/>
              <a:t>R</a:t>
            </a:r>
          </a:p>
          <a:p>
            <a:pPr>
              <a:buNone/>
            </a:pPr>
            <a:r>
              <a:rPr lang="en-US" dirty="0" smtClean="0"/>
              <a:t>                       </a:t>
            </a:r>
            <a:r>
              <a:rPr lang="en-US" b="1" dirty="0" smtClean="0">
                <a:solidFill>
                  <a:srgbClr val="C00000"/>
                </a:solidFill>
              </a:rPr>
              <a:t>g(x) =      </a:t>
            </a:r>
            <a:r>
              <a:rPr lang="en-US" dirty="0" smtClean="0"/>
              <a:t>		for all x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 </a:t>
            </a:r>
            <a:r>
              <a:rPr lang="en-US" dirty="0" smtClean="0"/>
              <a:t>R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Since the </a:t>
            </a:r>
            <a:r>
              <a:rPr lang="en-US" dirty="0" smtClean="0">
                <a:solidFill>
                  <a:srgbClr val="C00000"/>
                </a:solidFill>
              </a:rPr>
              <a:t>absolute value</a:t>
            </a:r>
            <a:r>
              <a:rPr lang="en-US" dirty="0" smtClean="0"/>
              <a:t> of a </a:t>
            </a:r>
            <a:r>
              <a:rPr lang="en-US" dirty="0" smtClean="0">
                <a:solidFill>
                  <a:srgbClr val="C00000"/>
                </a:solidFill>
              </a:rPr>
              <a:t>real number </a:t>
            </a:r>
            <a:r>
              <a:rPr lang="en-US" dirty="0" smtClean="0"/>
              <a:t>equals to </a:t>
            </a:r>
            <a:r>
              <a:rPr lang="en-US" dirty="0" smtClean="0">
                <a:solidFill>
                  <a:srgbClr val="C00000"/>
                </a:solidFill>
              </a:rPr>
              <a:t>square root </a:t>
            </a:r>
            <a:r>
              <a:rPr lang="en-US" dirty="0" smtClean="0"/>
              <a:t>of its </a:t>
            </a:r>
            <a:r>
              <a:rPr lang="en-US" dirty="0" smtClean="0">
                <a:solidFill>
                  <a:srgbClr val="C00000"/>
                </a:solidFill>
              </a:rPr>
              <a:t>square.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i.e., 	 |x| = 	       for all x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 </a:t>
            </a:r>
            <a:r>
              <a:rPr lang="en-US" dirty="0" smtClean="0"/>
              <a:t>R</a:t>
            </a:r>
          </a:p>
          <a:p>
            <a:pPr>
              <a:buNone/>
            </a:pPr>
            <a:r>
              <a:rPr lang="en-US" dirty="0" smtClean="0"/>
              <a:t>	Therefore  </a:t>
            </a:r>
            <a:r>
              <a:rPr lang="en-US" b="1" dirty="0" smtClean="0">
                <a:solidFill>
                  <a:srgbClr val="C00000"/>
                </a:solidFill>
              </a:rPr>
              <a:t>f(x) = g(x) </a:t>
            </a:r>
            <a:r>
              <a:rPr lang="en-US" dirty="0" smtClean="0"/>
              <a:t>for all x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 </a:t>
            </a:r>
            <a:r>
              <a:rPr lang="en-US" dirty="0" smtClean="0"/>
              <a:t>R</a:t>
            </a:r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  <p:graphicFrame>
        <p:nvGraphicFramePr>
          <p:cNvPr id="35842" name="Object 2"/>
          <p:cNvGraphicFramePr>
            <a:graphicFrameLocks noChangeAspect="1"/>
          </p:cNvGraphicFramePr>
          <p:nvPr/>
        </p:nvGraphicFramePr>
        <p:xfrm>
          <a:off x="3581400" y="2667000"/>
          <a:ext cx="6858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46" name="Equation" r:id="rId3" imgW="304560" imgH="253800" progId="Equation.3">
                  <p:embed/>
                </p:oleObj>
              </mc:Choice>
              <mc:Fallback>
                <p:oleObj name="Equation" r:id="rId3" imgW="304560" imgH="25380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2667000"/>
                        <a:ext cx="6858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3" name="Object 3"/>
          <p:cNvGraphicFramePr>
            <a:graphicFrameLocks noChangeAspect="1"/>
          </p:cNvGraphicFramePr>
          <p:nvPr/>
        </p:nvGraphicFramePr>
        <p:xfrm>
          <a:off x="2118852" y="4987404"/>
          <a:ext cx="6858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47" name="Equation" r:id="rId5" imgW="304560" imgH="253800" progId="Equation.3">
                  <p:embed/>
                </p:oleObj>
              </mc:Choice>
              <mc:Fallback>
                <p:oleObj name="Equation" r:id="rId5" imgW="304560" imgH="25380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8852" y="4987404"/>
                        <a:ext cx="6858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5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5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Define functions </a:t>
            </a:r>
            <a:r>
              <a:rPr lang="en-US" dirty="0" smtClean="0">
                <a:solidFill>
                  <a:srgbClr val="C00000"/>
                </a:solidFill>
              </a:rPr>
              <a:t>f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C00000"/>
                </a:solidFill>
              </a:rPr>
              <a:t>g</a:t>
            </a:r>
            <a:r>
              <a:rPr lang="en-US" dirty="0" smtClean="0"/>
              <a:t> from </a:t>
            </a:r>
            <a:r>
              <a:rPr lang="en-US" dirty="0" smtClean="0">
                <a:solidFill>
                  <a:srgbClr val="C00000"/>
                </a:solidFill>
              </a:rPr>
              <a:t>R</a:t>
            </a:r>
            <a:r>
              <a:rPr lang="en-US" dirty="0" smtClean="0"/>
              <a:t> to</a:t>
            </a:r>
            <a:r>
              <a:rPr lang="en-US" dirty="0" smtClean="0">
                <a:solidFill>
                  <a:srgbClr val="C00000"/>
                </a:solidFill>
              </a:rPr>
              <a:t> R </a:t>
            </a:r>
            <a:r>
              <a:rPr lang="en-US" dirty="0" smtClean="0"/>
              <a:t>by formulas: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	f(x) = 2x 	and 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	for all </a:t>
            </a:r>
            <a:r>
              <a:rPr lang="en-US" dirty="0" smtClean="0">
                <a:solidFill>
                  <a:srgbClr val="C00000"/>
                </a:solidFill>
              </a:rPr>
              <a:t>x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 </a:t>
            </a:r>
            <a:r>
              <a:rPr lang="en-US" dirty="0" smtClean="0">
                <a:solidFill>
                  <a:srgbClr val="C00000"/>
                </a:solidFill>
              </a:rPr>
              <a:t>R</a:t>
            </a:r>
            <a:r>
              <a:rPr lang="en-US" dirty="0" smtClean="0"/>
              <a:t>. </a:t>
            </a:r>
          </a:p>
          <a:p>
            <a:pPr>
              <a:buNone/>
            </a:pPr>
            <a:r>
              <a:rPr lang="en-US" dirty="0" smtClean="0"/>
              <a:t>		Show that </a:t>
            </a:r>
          </a:p>
          <a:p>
            <a:pPr>
              <a:buNone/>
            </a:pPr>
            <a:r>
              <a:rPr lang="en-US" dirty="0" smtClean="0"/>
              <a:t>					</a:t>
            </a:r>
            <a:r>
              <a:rPr lang="en-US" b="1" dirty="0" smtClean="0">
                <a:solidFill>
                  <a:srgbClr val="C00000"/>
                </a:solidFill>
              </a:rPr>
              <a:t>f = g</a:t>
            </a:r>
          </a:p>
          <a:p>
            <a:endParaRPr lang="en-US" dirty="0"/>
          </a:p>
        </p:txBody>
      </p:sp>
      <p:graphicFrame>
        <p:nvGraphicFramePr>
          <p:cNvPr id="36866" name="Object 2"/>
          <p:cNvGraphicFramePr>
            <a:graphicFrameLocks noChangeAspect="1"/>
          </p:cNvGraphicFramePr>
          <p:nvPr/>
        </p:nvGraphicFramePr>
        <p:xfrm>
          <a:off x="4191000" y="2057400"/>
          <a:ext cx="1847273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68" r:id="rId3" imgW="1015920" imgH="419040" progId="">
                  <p:embed/>
                </p:oleObj>
              </mc:Choice>
              <mc:Fallback>
                <p:oleObj r:id="rId3" imgW="1015920" imgH="41904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2057400"/>
                        <a:ext cx="1847273" cy="762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6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			Accordingly  </a:t>
            </a:r>
            <a:r>
              <a:rPr lang="en-US" b="1" dirty="0" smtClean="0">
                <a:solidFill>
                  <a:srgbClr val="C00000"/>
                </a:solidFill>
              </a:rPr>
              <a:t>f = g</a:t>
            </a:r>
            <a:endParaRPr lang="en-US" b="1" dirty="0">
              <a:solidFill>
                <a:srgbClr val="C00000"/>
              </a:solidFill>
            </a:endParaRPr>
          </a:p>
        </p:txBody>
      </p:sp>
      <p:graphicFrame>
        <p:nvGraphicFramePr>
          <p:cNvPr id="37890" name="Object 2"/>
          <p:cNvGraphicFramePr>
            <a:graphicFrameLocks noChangeAspect="1"/>
          </p:cNvGraphicFramePr>
          <p:nvPr/>
        </p:nvGraphicFramePr>
        <p:xfrm>
          <a:off x="2286000" y="1371600"/>
          <a:ext cx="6172200" cy="31914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892" r:id="rId3" imgW="2603160" imgH="1346040" progId="">
                  <p:embed/>
                </p:oleObj>
              </mc:Choice>
              <mc:Fallback>
                <p:oleObj r:id="rId3" imgW="2603160" imgH="134604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1371600"/>
                        <a:ext cx="6172200" cy="319147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37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INVERSE OF A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pPr algn="ctr">
              <a:buNone/>
            </a:pPr>
            <a:r>
              <a:rPr lang="en-US" b="1" dirty="0" smtClean="0">
                <a:solidFill>
                  <a:srgbClr val="C00000"/>
                </a:solidFill>
              </a:rPr>
              <a:t>Inverse</a:t>
            </a:r>
            <a:r>
              <a:rPr lang="en-US" dirty="0" smtClean="0"/>
              <a:t> of a </a:t>
            </a:r>
            <a:r>
              <a:rPr lang="en-US" b="1" dirty="0" smtClean="0">
                <a:solidFill>
                  <a:srgbClr val="C00000"/>
                </a:solidFill>
              </a:rPr>
              <a:t>function</a:t>
            </a:r>
            <a:r>
              <a:rPr lang="en-US" dirty="0" smtClean="0"/>
              <a:t> may not be a </a:t>
            </a:r>
            <a:r>
              <a:rPr lang="en-US" b="1" dirty="0" smtClean="0">
                <a:solidFill>
                  <a:srgbClr val="C00000"/>
                </a:solidFill>
              </a:rPr>
              <a:t>function</a:t>
            </a:r>
            <a:r>
              <a:rPr lang="en-US" dirty="0" smtClean="0"/>
              <a:t>.</a:t>
            </a:r>
            <a:endParaRPr lang="en-US" dirty="0"/>
          </a:p>
        </p:txBody>
      </p:sp>
      <p:pic>
        <p:nvPicPr>
          <p:cNvPr id="3891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38200" y="1219200"/>
            <a:ext cx="7315200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INVERSE OF INJECTIVE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b="1" dirty="0" smtClean="0">
                <a:solidFill>
                  <a:srgbClr val="C00000"/>
                </a:solidFill>
              </a:rPr>
              <a:t>Inverse</a:t>
            </a:r>
            <a:r>
              <a:rPr lang="en-US" dirty="0" smtClean="0"/>
              <a:t> of </a:t>
            </a:r>
            <a:r>
              <a:rPr lang="en-US" b="1" dirty="0" smtClean="0">
                <a:solidFill>
                  <a:srgbClr val="C00000"/>
                </a:solidFill>
              </a:rPr>
              <a:t>Injective function</a:t>
            </a:r>
            <a:r>
              <a:rPr lang="en-US" dirty="0" smtClean="0"/>
              <a:t> may not be a </a:t>
            </a:r>
            <a:r>
              <a:rPr lang="en-US" b="1" dirty="0" smtClean="0">
                <a:solidFill>
                  <a:srgbClr val="C00000"/>
                </a:solidFill>
              </a:rPr>
              <a:t>function</a:t>
            </a:r>
            <a:r>
              <a:rPr lang="en-US" dirty="0" smtClean="0"/>
              <a:t>.</a:t>
            </a:r>
            <a:endParaRPr lang="en-US" dirty="0"/>
          </a:p>
        </p:txBody>
      </p:sp>
      <p:pic>
        <p:nvPicPr>
          <p:cNvPr id="3993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14400" y="1295400"/>
            <a:ext cx="7467600" cy="396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INVERSE OF SURJECTIVE FUNCTION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b="1" dirty="0" smtClean="0">
                <a:solidFill>
                  <a:srgbClr val="C00000"/>
                </a:solidFill>
              </a:rPr>
              <a:t>Inverse</a:t>
            </a:r>
            <a:r>
              <a:rPr lang="en-US" dirty="0" smtClean="0"/>
              <a:t> of </a:t>
            </a:r>
            <a:r>
              <a:rPr lang="en-US" b="1" dirty="0" err="1" smtClean="0">
                <a:solidFill>
                  <a:srgbClr val="C00000"/>
                </a:solidFill>
              </a:rPr>
              <a:t>Surjective</a:t>
            </a:r>
            <a:r>
              <a:rPr lang="en-US" b="1" dirty="0" smtClean="0">
                <a:solidFill>
                  <a:srgbClr val="C00000"/>
                </a:solidFill>
              </a:rPr>
              <a:t> function</a:t>
            </a:r>
            <a:r>
              <a:rPr lang="en-US" dirty="0" smtClean="0"/>
              <a:t> may not be a </a:t>
            </a:r>
            <a:r>
              <a:rPr lang="en-US" b="1" dirty="0" smtClean="0">
                <a:solidFill>
                  <a:srgbClr val="C00000"/>
                </a:solidFill>
              </a:rPr>
              <a:t>function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4198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0" y="1295400"/>
            <a:ext cx="7848600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INVERSE OF BIJECTIVE FUNCTION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81000" y="1143000"/>
            <a:ext cx="8229600" cy="5257800"/>
          </a:xfrm>
        </p:spPr>
        <p:txBody>
          <a:bodyPr/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4096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9600" y="1219200"/>
            <a:ext cx="7924800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958644" y="5933748"/>
            <a:ext cx="6629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Note: </a:t>
            </a:r>
            <a:r>
              <a:rPr lang="en-US" b="1" i="1" dirty="0" smtClean="0">
                <a:solidFill>
                  <a:srgbClr val="C00000"/>
                </a:solidFill>
              </a:rPr>
              <a:t>Inverse of a </a:t>
            </a:r>
            <a:r>
              <a:rPr lang="en-US" b="1" i="1" dirty="0" err="1" smtClean="0">
                <a:solidFill>
                  <a:srgbClr val="C00000"/>
                </a:solidFill>
              </a:rPr>
              <a:t>Bijective</a:t>
            </a:r>
            <a:r>
              <a:rPr lang="en-US" b="1" i="1" dirty="0" smtClean="0">
                <a:solidFill>
                  <a:srgbClr val="C00000"/>
                </a:solidFill>
              </a:rPr>
              <a:t> function will always be a function.</a:t>
            </a:r>
            <a:endParaRPr 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INVERSE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Suppose </a:t>
            </a:r>
            <a:r>
              <a:rPr lang="en-US" b="1" dirty="0" smtClean="0">
                <a:solidFill>
                  <a:srgbClr val="C00000"/>
                </a:solidFill>
              </a:rPr>
              <a:t>f: X</a:t>
            </a:r>
            <a:r>
              <a:rPr lang="en-US" b="1" dirty="0" smtClean="0">
                <a:solidFill>
                  <a:srgbClr val="C00000"/>
                </a:solidFill>
                <a:sym typeface="Symbol"/>
              </a:rPr>
              <a:t></a:t>
            </a:r>
            <a:r>
              <a:rPr lang="en-US" b="1" dirty="0" smtClean="0">
                <a:solidFill>
                  <a:srgbClr val="C00000"/>
                </a:solidFill>
              </a:rPr>
              <a:t>Y</a:t>
            </a:r>
            <a:r>
              <a:rPr lang="en-US" dirty="0" smtClean="0"/>
              <a:t> is a </a:t>
            </a:r>
            <a:r>
              <a:rPr lang="en-US" dirty="0" err="1" smtClean="0">
                <a:solidFill>
                  <a:srgbClr val="C00000"/>
                </a:solidFill>
              </a:rPr>
              <a:t>Bijective</a:t>
            </a:r>
            <a:r>
              <a:rPr lang="en-US" dirty="0" smtClean="0">
                <a:solidFill>
                  <a:srgbClr val="C00000"/>
                </a:solidFill>
              </a:rPr>
              <a:t> function</a:t>
            </a:r>
            <a:r>
              <a:rPr lang="en-US" dirty="0" smtClean="0"/>
              <a:t>. Then the </a:t>
            </a:r>
            <a:r>
              <a:rPr lang="en-US" dirty="0" smtClean="0">
                <a:solidFill>
                  <a:srgbClr val="C00000"/>
                </a:solidFill>
              </a:rPr>
              <a:t>inverse function</a:t>
            </a:r>
            <a:r>
              <a:rPr lang="en-US" dirty="0" smtClean="0"/>
              <a:t> </a:t>
            </a:r>
            <a:r>
              <a:rPr lang="en-US" b="1" dirty="0" smtClean="0">
                <a:solidFill>
                  <a:srgbClr val="C00000"/>
                </a:solidFill>
              </a:rPr>
              <a:t>f</a:t>
            </a:r>
            <a:r>
              <a:rPr lang="en-US" b="1" baseline="30000" dirty="0" smtClean="0">
                <a:solidFill>
                  <a:srgbClr val="C00000"/>
                </a:solidFill>
              </a:rPr>
              <a:t>-1</a:t>
            </a:r>
            <a:r>
              <a:rPr lang="en-US" b="1" dirty="0" smtClean="0">
                <a:solidFill>
                  <a:srgbClr val="C00000"/>
                </a:solidFill>
              </a:rPr>
              <a:t>: Y</a:t>
            </a:r>
            <a:r>
              <a:rPr lang="en-US" b="1" dirty="0" smtClean="0">
                <a:solidFill>
                  <a:srgbClr val="C00000"/>
                </a:solidFill>
                <a:sym typeface="Symbol"/>
              </a:rPr>
              <a:t></a:t>
            </a:r>
            <a:r>
              <a:rPr lang="en-US" b="1" dirty="0" smtClean="0">
                <a:solidFill>
                  <a:srgbClr val="C00000"/>
                </a:solidFill>
              </a:rPr>
              <a:t>X </a:t>
            </a:r>
            <a:r>
              <a:rPr lang="en-US" dirty="0" smtClean="0"/>
              <a:t>is defined as: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>
                <a:sym typeface="Symbol"/>
              </a:rPr>
              <a:t>			</a:t>
            </a:r>
            <a:r>
              <a:rPr lang="en-US" dirty="0" smtClean="0">
                <a:solidFill>
                  <a:srgbClr val="C00000"/>
                </a:solidFill>
              </a:rPr>
              <a:t>f</a:t>
            </a:r>
            <a:r>
              <a:rPr lang="en-US" baseline="30000" dirty="0" smtClean="0">
                <a:solidFill>
                  <a:srgbClr val="C00000"/>
                </a:solidFill>
              </a:rPr>
              <a:t>-1</a:t>
            </a:r>
            <a:r>
              <a:rPr lang="en-US" dirty="0" smtClean="0">
                <a:solidFill>
                  <a:srgbClr val="C00000"/>
                </a:solidFill>
              </a:rPr>
              <a:t>(y) = x 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</a:t>
            </a:r>
            <a:r>
              <a:rPr lang="en-US" dirty="0" smtClean="0">
                <a:solidFill>
                  <a:srgbClr val="C00000"/>
                </a:solidFill>
              </a:rPr>
              <a:t> y = f(x) 	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  </a:t>
            </a:r>
            <a:r>
              <a:rPr lang="en-US" dirty="0" smtClean="0">
                <a:solidFill>
                  <a:srgbClr val="C00000"/>
                </a:solidFill>
              </a:rPr>
              <a:t> y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 </a:t>
            </a:r>
            <a:r>
              <a:rPr lang="en-US" dirty="0" smtClean="0">
                <a:solidFill>
                  <a:srgbClr val="C00000"/>
                </a:solidFill>
              </a:rPr>
              <a:t>Y</a:t>
            </a:r>
          </a:p>
          <a:p>
            <a:endParaRPr lang="en-US" dirty="0" smtClean="0"/>
          </a:p>
          <a:p>
            <a:r>
              <a:rPr lang="en-US" dirty="0" smtClean="0"/>
              <a:t>That is, </a:t>
            </a:r>
            <a:r>
              <a:rPr lang="en-US" b="1" dirty="0" smtClean="0">
                <a:solidFill>
                  <a:srgbClr val="C00000"/>
                </a:solidFill>
              </a:rPr>
              <a:t>f</a:t>
            </a:r>
            <a:r>
              <a:rPr lang="en-US" b="1" baseline="30000" dirty="0" smtClean="0">
                <a:solidFill>
                  <a:srgbClr val="C00000"/>
                </a:solidFill>
              </a:rPr>
              <a:t>-1</a:t>
            </a:r>
            <a:r>
              <a:rPr lang="en-US" dirty="0" smtClean="0"/>
              <a:t> sends </a:t>
            </a:r>
            <a:r>
              <a:rPr lang="en-US" b="1" dirty="0" smtClean="0">
                <a:solidFill>
                  <a:srgbClr val="C00000"/>
                </a:solidFill>
              </a:rPr>
              <a:t>each element </a:t>
            </a:r>
            <a:r>
              <a:rPr lang="en-US" dirty="0" smtClean="0"/>
              <a:t>of </a:t>
            </a:r>
            <a:r>
              <a:rPr lang="en-US" b="1" dirty="0" smtClean="0">
                <a:solidFill>
                  <a:srgbClr val="C00000"/>
                </a:solidFill>
              </a:rPr>
              <a:t>Y</a:t>
            </a:r>
            <a:r>
              <a:rPr lang="en-US" dirty="0" smtClean="0"/>
              <a:t> back to the element of </a:t>
            </a:r>
            <a:r>
              <a:rPr lang="en-US" b="1" dirty="0" smtClean="0">
                <a:solidFill>
                  <a:srgbClr val="C00000"/>
                </a:solidFill>
              </a:rPr>
              <a:t>X</a:t>
            </a:r>
            <a:r>
              <a:rPr lang="en-US" dirty="0" smtClean="0"/>
              <a:t> that it came from under </a:t>
            </a:r>
            <a:r>
              <a:rPr lang="en-US" b="1" dirty="0" smtClean="0">
                <a:solidFill>
                  <a:srgbClr val="C00000"/>
                </a:solidFill>
              </a:rPr>
              <a:t>f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ARROW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301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" y="1524000"/>
            <a:ext cx="8305800" cy="419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 smtClean="0">
                <a:solidFill>
                  <a:srgbClr val="0070C0"/>
                </a:solidFill>
              </a:rPr>
              <a:t>REMARK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A </a:t>
            </a:r>
            <a:r>
              <a:rPr lang="en-US" dirty="0" smtClean="0">
                <a:solidFill>
                  <a:srgbClr val="C00000"/>
                </a:solidFill>
              </a:rPr>
              <a:t>function</a:t>
            </a:r>
            <a:r>
              <a:rPr lang="en-US" dirty="0" smtClean="0"/>
              <a:t> whose </a:t>
            </a:r>
            <a:r>
              <a:rPr lang="en-US" dirty="0" smtClean="0">
                <a:solidFill>
                  <a:srgbClr val="C00000"/>
                </a:solidFill>
              </a:rPr>
              <a:t>inverse function </a:t>
            </a:r>
            <a:r>
              <a:rPr lang="en-US" dirty="0" smtClean="0"/>
              <a:t>exists is called an </a:t>
            </a:r>
            <a:r>
              <a:rPr lang="en-US" b="1" dirty="0" smtClean="0">
                <a:solidFill>
                  <a:srgbClr val="C00000"/>
                </a:solidFill>
              </a:rPr>
              <a:t>invertible function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Only </a:t>
            </a:r>
            <a:r>
              <a:rPr lang="en-US" b="1" dirty="0" err="1" smtClean="0">
                <a:solidFill>
                  <a:srgbClr val="C00000"/>
                </a:solidFill>
              </a:rPr>
              <a:t>Bijective</a:t>
            </a:r>
            <a:r>
              <a:rPr lang="en-US" b="1" dirty="0" smtClean="0">
                <a:solidFill>
                  <a:srgbClr val="C00000"/>
                </a:solidFill>
              </a:rPr>
              <a:t> functions </a:t>
            </a:r>
            <a:r>
              <a:rPr lang="en-US" dirty="0" smtClean="0"/>
              <a:t>are </a:t>
            </a:r>
            <a:r>
              <a:rPr lang="en-US" b="1" dirty="0" smtClean="0">
                <a:solidFill>
                  <a:srgbClr val="C00000"/>
                </a:solidFill>
              </a:rPr>
              <a:t>invertible functions</a:t>
            </a:r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INVERSE FUNCTION FROM AN ARROW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410200"/>
          </a:xfrm>
        </p:spPr>
        <p:txBody>
          <a:bodyPr>
            <a:normAutofit fontScale="92500" lnSpcReduction="10000"/>
          </a:bodyPr>
          <a:lstStyle/>
          <a:p>
            <a:r>
              <a:rPr lang="en-US" sz="3200" dirty="0" smtClean="0"/>
              <a:t>Let the </a:t>
            </a:r>
            <a:r>
              <a:rPr lang="en-US" sz="3200" dirty="0" err="1" smtClean="0">
                <a:solidFill>
                  <a:srgbClr val="C00000"/>
                </a:solidFill>
              </a:rPr>
              <a:t>bijection</a:t>
            </a:r>
            <a:r>
              <a:rPr lang="en-US" sz="3200" dirty="0" smtClean="0">
                <a:solidFill>
                  <a:srgbClr val="C00000"/>
                </a:solidFill>
              </a:rPr>
              <a:t> f:X</a:t>
            </a:r>
            <a:r>
              <a:rPr lang="en-US" sz="3200" dirty="0" smtClean="0">
                <a:solidFill>
                  <a:srgbClr val="C00000"/>
                </a:solidFill>
                <a:sym typeface="Symbol"/>
              </a:rPr>
              <a:t></a:t>
            </a:r>
            <a:r>
              <a:rPr lang="en-US" sz="3200" dirty="0" smtClean="0">
                <a:solidFill>
                  <a:srgbClr val="C00000"/>
                </a:solidFill>
              </a:rPr>
              <a:t>Y </a:t>
            </a:r>
            <a:r>
              <a:rPr lang="en-US" sz="3200" dirty="0" smtClean="0"/>
              <a:t>be defined by the arrow diagram.</a:t>
            </a:r>
          </a:p>
          <a:p>
            <a:endParaRPr lang="en-US" sz="3200" dirty="0" smtClean="0"/>
          </a:p>
          <a:p>
            <a:endParaRPr lang="en-US" sz="3200" dirty="0" smtClean="0"/>
          </a:p>
          <a:p>
            <a:endParaRPr lang="en-US" sz="3200" dirty="0" smtClean="0"/>
          </a:p>
          <a:p>
            <a:endParaRPr lang="en-US" sz="3200" dirty="0" smtClean="0"/>
          </a:p>
          <a:p>
            <a:endParaRPr lang="en-US" sz="3200" dirty="0" smtClean="0"/>
          </a:p>
          <a:p>
            <a:endParaRPr lang="en-US" sz="3200" dirty="0" smtClean="0"/>
          </a:p>
          <a:p>
            <a:endParaRPr lang="en-US" sz="3200" dirty="0" smtClean="0"/>
          </a:p>
          <a:p>
            <a:r>
              <a:rPr lang="en-US" sz="3200" dirty="0" smtClean="0"/>
              <a:t>The inverse function </a:t>
            </a:r>
            <a:r>
              <a:rPr lang="en-US" sz="3200" b="1" dirty="0" smtClean="0">
                <a:solidFill>
                  <a:srgbClr val="C00000"/>
                </a:solidFill>
              </a:rPr>
              <a:t>f</a:t>
            </a:r>
            <a:r>
              <a:rPr lang="en-US" sz="3200" b="1" baseline="30000" dirty="0" smtClean="0">
                <a:solidFill>
                  <a:srgbClr val="C00000"/>
                </a:solidFill>
              </a:rPr>
              <a:t>-1</a:t>
            </a:r>
            <a:r>
              <a:rPr lang="en-US" sz="3200" b="1" dirty="0" smtClean="0">
                <a:solidFill>
                  <a:srgbClr val="C00000"/>
                </a:solidFill>
              </a:rPr>
              <a:t>:Y</a:t>
            </a:r>
            <a:r>
              <a:rPr lang="en-US" sz="3200" b="1" dirty="0" smtClean="0">
                <a:solidFill>
                  <a:srgbClr val="C00000"/>
                </a:solidFill>
                <a:sym typeface="Symbol"/>
              </a:rPr>
              <a:t></a:t>
            </a:r>
            <a:r>
              <a:rPr lang="en-US" sz="3200" b="1" dirty="0" smtClean="0">
                <a:solidFill>
                  <a:srgbClr val="C00000"/>
                </a:solidFill>
              </a:rPr>
              <a:t>X </a:t>
            </a:r>
            <a:r>
              <a:rPr lang="en-US" sz="3200" dirty="0" smtClean="0"/>
              <a:t>is represented below by the arrow diagram.</a:t>
            </a:r>
          </a:p>
          <a:p>
            <a:endParaRPr lang="en-US" sz="3200" dirty="0" smtClean="0"/>
          </a:p>
          <a:p>
            <a:endParaRPr lang="en-US" sz="3200" b="1" u="sng" dirty="0" smtClean="0">
              <a:solidFill>
                <a:srgbClr val="0070C0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403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14400" y="1769808"/>
            <a:ext cx="3248025" cy="365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403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73432" y="1524000"/>
            <a:ext cx="2971800" cy="381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8915400" cy="990600"/>
          </a:xfrm>
        </p:spPr>
        <p:txBody>
          <a:bodyPr>
            <a:no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INVERSE FUNCTION FROM A FORMULA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Let </a:t>
            </a:r>
            <a:r>
              <a:rPr lang="en-US" b="1" dirty="0" smtClean="0">
                <a:solidFill>
                  <a:srgbClr val="C00000"/>
                </a:solidFill>
              </a:rPr>
              <a:t>f: R</a:t>
            </a:r>
            <a:r>
              <a:rPr lang="en-US" b="1" dirty="0" smtClean="0">
                <a:solidFill>
                  <a:srgbClr val="C00000"/>
                </a:solidFill>
                <a:sym typeface="Symbol"/>
              </a:rPr>
              <a:t></a:t>
            </a:r>
            <a:r>
              <a:rPr lang="en-US" b="1" dirty="0" smtClean="0">
                <a:solidFill>
                  <a:srgbClr val="C00000"/>
                </a:solidFill>
              </a:rPr>
              <a:t>R</a:t>
            </a:r>
            <a:r>
              <a:rPr lang="en-US" dirty="0" smtClean="0"/>
              <a:t> be defined by the formula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		f(x) = 4x-1 	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      </a:t>
            </a:r>
            <a:r>
              <a:rPr lang="en-US" dirty="0" smtClean="0">
                <a:solidFill>
                  <a:srgbClr val="C00000"/>
                </a:solidFill>
              </a:rPr>
              <a:t>x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 </a:t>
            </a:r>
            <a:r>
              <a:rPr lang="en-US" dirty="0" smtClean="0">
                <a:solidFill>
                  <a:srgbClr val="C00000"/>
                </a:solidFill>
              </a:rPr>
              <a:t>R</a:t>
            </a:r>
          </a:p>
          <a:p>
            <a:pPr>
              <a:buNone/>
            </a:pP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dirty="0" smtClean="0"/>
              <a:t>	f</a:t>
            </a:r>
            <a:r>
              <a:rPr lang="en-US" baseline="30000" dirty="0" smtClean="0"/>
              <a:t>-1</a:t>
            </a:r>
            <a:r>
              <a:rPr lang="en-US" dirty="0" smtClean="0"/>
              <a:t> exists ???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We have to prove that </a:t>
            </a:r>
            <a:r>
              <a:rPr lang="en-US" dirty="0" smtClean="0">
                <a:solidFill>
                  <a:srgbClr val="C00000"/>
                </a:solidFill>
              </a:rPr>
              <a:t>f </a:t>
            </a:r>
            <a:r>
              <a:rPr lang="en-US" dirty="0" smtClean="0"/>
              <a:t>is </a:t>
            </a:r>
            <a:r>
              <a:rPr lang="en-US" dirty="0" err="1" smtClean="0">
                <a:solidFill>
                  <a:srgbClr val="C00000"/>
                </a:solidFill>
              </a:rPr>
              <a:t>bijective</a:t>
            </a:r>
            <a:r>
              <a:rPr lang="en-US" dirty="0" smtClean="0">
                <a:solidFill>
                  <a:srgbClr val="C00000"/>
                </a:solidFill>
              </a:rPr>
              <a:t>.</a:t>
            </a:r>
          </a:p>
          <a:p>
            <a:pPr>
              <a:buNone/>
            </a:pP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We have already proved that this function is </a:t>
            </a:r>
            <a:r>
              <a:rPr lang="en-US" dirty="0" err="1" smtClean="0">
                <a:solidFill>
                  <a:srgbClr val="C00000"/>
                </a:solidFill>
              </a:rPr>
              <a:t>bijective</a:t>
            </a:r>
            <a:r>
              <a:rPr lang="en-US" dirty="0" smtClean="0">
                <a:solidFill>
                  <a:srgbClr val="C00000"/>
                </a:solidFill>
              </a:rPr>
              <a:t>.</a:t>
            </a:r>
            <a:endParaRPr 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By definition of </a:t>
            </a:r>
            <a:r>
              <a:rPr lang="en-US" dirty="0" smtClean="0">
                <a:solidFill>
                  <a:srgbClr val="C00000"/>
                </a:solidFill>
              </a:rPr>
              <a:t>f</a:t>
            </a:r>
            <a:r>
              <a:rPr lang="en-US" baseline="30000" dirty="0" smtClean="0">
                <a:solidFill>
                  <a:srgbClr val="C00000"/>
                </a:solidFill>
              </a:rPr>
              <a:t>-1</a:t>
            </a:r>
            <a:r>
              <a:rPr lang="en-US" dirty="0" smtClean="0"/>
              <a:t>,</a:t>
            </a:r>
          </a:p>
          <a:p>
            <a:pPr>
              <a:buNone/>
            </a:pPr>
            <a:r>
              <a:rPr lang="en-US" dirty="0" smtClean="0"/>
              <a:t>		             </a:t>
            </a:r>
            <a:r>
              <a:rPr lang="en-US" dirty="0" smtClean="0">
                <a:solidFill>
                  <a:srgbClr val="C00000"/>
                </a:solidFill>
              </a:rPr>
              <a:t>f</a:t>
            </a:r>
            <a:r>
              <a:rPr lang="en-US" baseline="30000" dirty="0" smtClean="0">
                <a:solidFill>
                  <a:srgbClr val="C00000"/>
                </a:solidFill>
              </a:rPr>
              <a:t>-1</a:t>
            </a:r>
            <a:r>
              <a:rPr lang="en-US" dirty="0" smtClean="0">
                <a:solidFill>
                  <a:srgbClr val="C00000"/>
                </a:solidFill>
              </a:rPr>
              <a:t> (y) = x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</a:t>
            </a:r>
            <a:r>
              <a:rPr lang="en-US" dirty="0" smtClean="0">
                <a:solidFill>
                  <a:srgbClr val="C00000"/>
                </a:solidFill>
              </a:rPr>
              <a:t> f(x) = y</a:t>
            </a:r>
          </a:p>
          <a:p>
            <a:pPr>
              <a:buNone/>
            </a:pPr>
            <a:r>
              <a:rPr lang="en-US" dirty="0" smtClean="0"/>
              <a:t>	Now solving    </a:t>
            </a:r>
            <a:r>
              <a:rPr lang="en-US" dirty="0" smtClean="0">
                <a:solidFill>
                  <a:srgbClr val="C00000"/>
                </a:solidFill>
              </a:rPr>
              <a:t>f(x) = y    </a:t>
            </a:r>
            <a:r>
              <a:rPr lang="en-US" dirty="0" smtClean="0"/>
              <a:t>for 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ym typeface="Symbol"/>
              </a:rPr>
              <a:t> </a:t>
            </a: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4x-1 = y</a:t>
            </a:r>
            <a:r>
              <a:rPr lang="en-US" dirty="0" smtClean="0"/>
              <a:t>	(by definition of </a:t>
            </a:r>
            <a:r>
              <a:rPr lang="en-US" dirty="0" smtClean="0">
                <a:solidFill>
                  <a:srgbClr val="C00000"/>
                </a:solidFill>
              </a:rPr>
              <a:t>f</a:t>
            </a:r>
            <a:r>
              <a:rPr lang="en-US" dirty="0" smtClean="0"/>
              <a:t>)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ym typeface="Symbol"/>
              </a:rPr>
              <a:t> </a:t>
            </a: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4x = y + 1</a:t>
            </a:r>
          </a:p>
          <a:p>
            <a:pPr>
              <a:buNone/>
            </a:pPr>
            <a:r>
              <a:rPr lang="en-US" dirty="0" smtClean="0">
                <a:sym typeface="Symbol"/>
              </a:rPr>
              <a:t>	 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Hence, f</a:t>
            </a:r>
            <a:r>
              <a:rPr lang="en-US" baseline="30000" dirty="0" smtClean="0"/>
              <a:t>-1</a:t>
            </a:r>
            <a:r>
              <a:rPr lang="en-US" dirty="0" smtClean="0"/>
              <a:t> (y) =          is the inverse of f(x)=4x-1</a:t>
            </a:r>
          </a:p>
          <a:p>
            <a:pPr>
              <a:buNone/>
            </a:pPr>
            <a:r>
              <a:rPr lang="en-US" dirty="0" smtClean="0"/>
              <a:t>	 which defines </a:t>
            </a:r>
            <a:r>
              <a:rPr lang="en-US" dirty="0" smtClean="0">
                <a:solidFill>
                  <a:srgbClr val="C00000"/>
                </a:solidFill>
              </a:rPr>
              <a:t>f</a:t>
            </a:r>
            <a:r>
              <a:rPr lang="en-US" baseline="30000" dirty="0" smtClean="0">
                <a:solidFill>
                  <a:srgbClr val="C00000"/>
                </a:solidFill>
              </a:rPr>
              <a:t>-1</a:t>
            </a:r>
            <a:r>
              <a:rPr lang="en-US" dirty="0" smtClean="0">
                <a:solidFill>
                  <a:srgbClr val="C00000"/>
                </a:solidFill>
              </a:rPr>
              <a:t> : R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</a:t>
            </a:r>
            <a:r>
              <a:rPr lang="en-US" dirty="0" smtClean="0">
                <a:solidFill>
                  <a:srgbClr val="C00000"/>
                </a:solidFill>
              </a:rPr>
              <a:t>R</a:t>
            </a:r>
            <a:r>
              <a:rPr lang="en-US" dirty="0" smtClean="0"/>
              <a:t>.</a:t>
            </a:r>
          </a:p>
          <a:p>
            <a:pPr>
              <a:buNone/>
            </a:pPr>
            <a:r>
              <a:rPr lang="en-US" dirty="0" smtClean="0"/>
              <a:t> </a:t>
            </a:r>
          </a:p>
          <a:p>
            <a:pPr>
              <a:buNone/>
            </a:pPr>
            <a:endParaRPr lang="en-US" dirty="0" smtClean="0"/>
          </a:p>
        </p:txBody>
      </p:sp>
      <p:graphicFrame>
        <p:nvGraphicFramePr>
          <p:cNvPr id="45058" name="Object 2"/>
          <p:cNvGraphicFramePr>
            <a:graphicFrameLocks noChangeAspect="1"/>
          </p:cNvGraphicFramePr>
          <p:nvPr/>
        </p:nvGraphicFramePr>
        <p:xfrm>
          <a:off x="1447800" y="3522408"/>
          <a:ext cx="995516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62" r:id="rId4" imgW="571320" imgH="393480" progId="">
                  <p:embed/>
                </p:oleObj>
              </mc:Choice>
              <mc:Fallback>
                <p:oleObj r:id="rId4" imgW="571320" imgH="39348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3522408"/>
                        <a:ext cx="995516" cy="685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59" name="Object 3"/>
          <p:cNvGraphicFramePr>
            <a:graphicFrameLocks noChangeAspect="1"/>
          </p:cNvGraphicFramePr>
          <p:nvPr/>
        </p:nvGraphicFramePr>
        <p:xfrm>
          <a:off x="2971800" y="4495800"/>
          <a:ext cx="609600" cy="6999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63" r:id="rId6" imgW="342720" imgH="393480" progId="">
                  <p:embed/>
                </p:oleObj>
              </mc:Choice>
              <mc:Fallback>
                <p:oleObj r:id="rId6" imgW="342720" imgH="393480" progId="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4495800"/>
                        <a:ext cx="609600" cy="69991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5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45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WORKING RULE TO FIND INVERSE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First we write the function </a:t>
            </a:r>
            <a:r>
              <a:rPr lang="en-US" dirty="0" smtClean="0">
                <a:solidFill>
                  <a:srgbClr val="C00000"/>
                </a:solidFill>
              </a:rPr>
              <a:t>f(x)</a:t>
            </a:r>
            <a:r>
              <a:rPr lang="en-US" dirty="0" smtClean="0"/>
              <a:t> and solve </a:t>
            </a:r>
            <a:r>
              <a:rPr lang="en-US" dirty="0" smtClean="0">
                <a:solidFill>
                  <a:srgbClr val="C00000"/>
                </a:solidFill>
              </a:rPr>
              <a:t>f(x) = y </a:t>
            </a:r>
            <a:r>
              <a:rPr lang="en-US" dirty="0" smtClean="0"/>
              <a:t>for 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dirty="0" smtClean="0"/>
              <a:t> (after putting the value of </a:t>
            </a:r>
            <a:r>
              <a:rPr lang="en-US" dirty="0" smtClean="0">
                <a:solidFill>
                  <a:srgbClr val="C00000"/>
                </a:solidFill>
              </a:rPr>
              <a:t>f(x)</a:t>
            </a:r>
            <a:r>
              <a:rPr lang="en-US" dirty="0" smtClean="0"/>
              <a:t>).</a:t>
            </a:r>
          </a:p>
          <a:p>
            <a:endParaRPr lang="en-US" dirty="0" smtClean="0"/>
          </a:p>
          <a:p>
            <a:r>
              <a:rPr lang="en-US" dirty="0" smtClean="0"/>
              <a:t>Then we write </a:t>
            </a:r>
            <a:r>
              <a:rPr lang="en-US" dirty="0" smtClean="0">
                <a:solidFill>
                  <a:srgbClr val="C00000"/>
                </a:solidFill>
              </a:rPr>
              <a:t>f</a:t>
            </a:r>
            <a:r>
              <a:rPr lang="en-US" baseline="30000" dirty="0" smtClean="0">
                <a:solidFill>
                  <a:srgbClr val="C00000"/>
                </a:solidFill>
              </a:rPr>
              <a:t>-1</a:t>
            </a:r>
            <a:r>
              <a:rPr lang="en-US" dirty="0" smtClean="0">
                <a:solidFill>
                  <a:srgbClr val="C00000"/>
                </a:solidFill>
              </a:rPr>
              <a:t> (y) = </a:t>
            </a:r>
            <a:r>
              <a:rPr lang="en-US" b="1" dirty="0" smtClean="0">
                <a:solidFill>
                  <a:srgbClr val="C00000"/>
                </a:solidFill>
              </a:rPr>
              <a:t>Right hand side of our  </a:t>
            </a:r>
          </a:p>
          <a:p>
            <a:pPr>
              <a:buNone/>
            </a:pPr>
            <a:r>
              <a:rPr lang="en-US" b="1" dirty="0" smtClean="0">
                <a:solidFill>
                  <a:srgbClr val="C00000"/>
                </a:solidFill>
              </a:rPr>
              <a:t>                                      equation</a:t>
            </a:r>
            <a:r>
              <a:rPr lang="en-US" dirty="0" smtClean="0"/>
              <a:t>.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Let a function </a:t>
            </a:r>
            <a:r>
              <a:rPr lang="en-US" b="1" dirty="0" smtClean="0">
                <a:solidFill>
                  <a:srgbClr val="C00000"/>
                </a:solidFill>
              </a:rPr>
              <a:t>f</a:t>
            </a:r>
            <a:r>
              <a:rPr lang="en-US" dirty="0" smtClean="0"/>
              <a:t> be defined on a set of real numbers as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			 for all real numbers </a:t>
            </a:r>
            <a:r>
              <a:rPr lang="en-US" dirty="0" smtClean="0">
                <a:solidFill>
                  <a:srgbClr val="C00000"/>
                </a:solidFill>
              </a:rPr>
              <a:t>x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</a:t>
            </a:r>
            <a:r>
              <a:rPr lang="en-US" dirty="0" smtClean="0">
                <a:solidFill>
                  <a:srgbClr val="C00000"/>
                </a:solidFill>
              </a:rPr>
              <a:t>1</a:t>
            </a:r>
            <a:r>
              <a:rPr lang="en-US" dirty="0" smtClean="0"/>
              <a:t>. 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</a:t>
            </a:r>
            <a:r>
              <a:rPr lang="en-US" b="1" dirty="0" smtClean="0"/>
              <a:t>1.</a:t>
            </a:r>
            <a:r>
              <a:rPr lang="en-US" dirty="0" smtClean="0"/>
              <a:t>	Show that </a:t>
            </a:r>
            <a:r>
              <a:rPr lang="en-US" dirty="0" smtClean="0">
                <a:solidFill>
                  <a:srgbClr val="C00000"/>
                </a:solidFill>
              </a:rPr>
              <a:t>f </a:t>
            </a:r>
            <a:r>
              <a:rPr lang="en-US" dirty="0" smtClean="0"/>
              <a:t>is a </a:t>
            </a:r>
            <a:r>
              <a:rPr lang="en-US" dirty="0" err="1" smtClean="0">
                <a:solidFill>
                  <a:srgbClr val="C00000"/>
                </a:solidFill>
              </a:rPr>
              <a:t>bijective</a:t>
            </a:r>
            <a:r>
              <a:rPr lang="en-US" dirty="0" smtClean="0">
                <a:solidFill>
                  <a:srgbClr val="C00000"/>
                </a:solidFill>
              </a:rPr>
              <a:t> function </a:t>
            </a:r>
            <a:r>
              <a:rPr lang="en-US" dirty="0" smtClean="0"/>
              <a:t>on </a:t>
            </a:r>
            <a:r>
              <a:rPr lang="en-US" dirty="0" smtClean="0">
                <a:solidFill>
                  <a:srgbClr val="C00000"/>
                </a:solidFill>
              </a:rPr>
              <a:t>R - {1}.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b="1" dirty="0" smtClean="0"/>
              <a:t>2.</a:t>
            </a:r>
            <a:r>
              <a:rPr lang="en-US" dirty="0" smtClean="0"/>
              <a:t>	Find the </a:t>
            </a:r>
            <a:r>
              <a:rPr lang="en-US" dirty="0" smtClean="0">
                <a:solidFill>
                  <a:srgbClr val="C00000"/>
                </a:solidFill>
              </a:rPr>
              <a:t>inverse function f</a:t>
            </a:r>
            <a:r>
              <a:rPr lang="en-US" baseline="30000" dirty="0" smtClean="0">
                <a:solidFill>
                  <a:srgbClr val="C00000"/>
                </a:solidFill>
              </a:rPr>
              <a:t>-1</a:t>
            </a: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  <p:graphicFrame>
        <p:nvGraphicFramePr>
          <p:cNvPr id="46082" name="Object 2"/>
          <p:cNvGraphicFramePr>
            <a:graphicFrameLocks noChangeAspect="1"/>
          </p:cNvGraphicFramePr>
          <p:nvPr/>
        </p:nvGraphicFramePr>
        <p:xfrm>
          <a:off x="1737852" y="2044909"/>
          <a:ext cx="1524000" cy="7744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084" r:id="rId3" imgW="774360" imgH="393480" progId="">
                  <p:embed/>
                </p:oleObj>
              </mc:Choice>
              <mc:Fallback>
                <p:oleObj r:id="rId3" imgW="774360" imgH="39348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7852" y="2044909"/>
                        <a:ext cx="1524000" cy="77449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81600"/>
          </a:xfrm>
        </p:spPr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lphaLcParenR"/>
            </a:pPr>
            <a:r>
              <a:rPr lang="en-US" b="1" dirty="0" smtClean="0">
                <a:solidFill>
                  <a:srgbClr val="C00000"/>
                </a:solidFill>
              </a:rPr>
              <a:t>f is injective</a:t>
            </a:r>
          </a:p>
          <a:p>
            <a:pPr marL="514350" indent="-514350">
              <a:buNone/>
            </a:pPr>
            <a:r>
              <a:rPr lang="en-US" b="1" dirty="0" smtClean="0"/>
              <a:t>	</a:t>
            </a:r>
            <a:r>
              <a:rPr lang="en-US" dirty="0" smtClean="0"/>
              <a:t> Let 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>
                <a:solidFill>
                  <a:srgbClr val="C00000"/>
                </a:solidFill>
              </a:rPr>
              <a:t>, x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dirty="0" smtClean="0">
                <a:solidFill>
                  <a:srgbClr val="C00000"/>
                </a:solidFill>
              </a:rPr>
              <a:t>R - {1} </a:t>
            </a:r>
            <a:r>
              <a:rPr lang="en-US" dirty="0" smtClean="0"/>
              <a:t>and</a:t>
            </a:r>
          </a:p>
          <a:p>
            <a:pPr marL="514350" indent="-514350">
              <a:buNone/>
            </a:pPr>
            <a:r>
              <a:rPr lang="en-US" dirty="0" smtClean="0"/>
              <a:t>	 suppose</a:t>
            </a:r>
          </a:p>
          <a:p>
            <a:pPr marL="514350" indent="-514350">
              <a:buNone/>
            </a:pPr>
            <a:r>
              <a:rPr lang="en-US" dirty="0" smtClean="0"/>
              <a:t>		</a:t>
            </a:r>
            <a:r>
              <a:rPr lang="en-US" dirty="0" smtClean="0">
                <a:solidFill>
                  <a:srgbClr val="C00000"/>
                </a:solidFill>
              </a:rPr>
              <a:t> f(x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>
                <a:solidFill>
                  <a:srgbClr val="C00000"/>
                </a:solidFill>
              </a:rPr>
              <a:t>) = f(x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) </a:t>
            </a:r>
            <a:r>
              <a:rPr lang="en-US" dirty="0" smtClean="0"/>
              <a:t>we have to show that</a:t>
            </a:r>
          </a:p>
          <a:p>
            <a:pPr marL="514350" indent="-514350">
              <a:buNone/>
            </a:pPr>
            <a:r>
              <a:rPr lang="en-US" dirty="0" smtClean="0"/>
              <a:t>				 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>
                <a:solidFill>
                  <a:srgbClr val="C00000"/>
                </a:solidFill>
              </a:rPr>
              <a:t>=x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</a:p>
          <a:p>
            <a:pPr marL="514350" indent="-514350">
              <a:buNone/>
            </a:pPr>
            <a:r>
              <a:rPr lang="en-US" dirty="0" smtClean="0"/>
              <a:t>						</a:t>
            </a:r>
            <a:r>
              <a:rPr lang="en-US" dirty="0" smtClean="0">
                <a:solidFill>
                  <a:srgbClr val="C00000"/>
                </a:solidFill>
              </a:rPr>
              <a:t>(by definition of f)</a:t>
            </a:r>
          </a:p>
          <a:p>
            <a:pPr marL="514350" indent="-514350">
              <a:buNone/>
            </a:pPr>
            <a:endParaRPr lang="en-US" baseline="-25000" dirty="0" smtClean="0"/>
          </a:p>
          <a:p>
            <a:pPr marL="514350" indent="-514350">
              <a:buNone/>
            </a:pPr>
            <a:r>
              <a:rPr lang="en-US" baseline="-25000" dirty="0" smtClean="0"/>
              <a:t>		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</a:t>
            </a:r>
            <a:r>
              <a:rPr lang="en-US" dirty="0" smtClean="0"/>
              <a:t> (x</a:t>
            </a:r>
            <a:r>
              <a:rPr lang="en-US" baseline="-25000" dirty="0" smtClean="0"/>
              <a:t>1</a:t>
            </a:r>
            <a:r>
              <a:rPr lang="en-US" dirty="0" smtClean="0"/>
              <a:t> + 1) (x</a:t>
            </a:r>
            <a:r>
              <a:rPr lang="en-US" baseline="-25000" dirty="0" smtClean="0"/>
              <a:t>2</a:t>
            </a:r>
            <a:r>
              <a:rPr lang="en-US" dirty="0" smtClean="0"/>
              <a:t> - 1) = (x</a:t>
            </a:r>
            <a:r>
              <a:rPr lang="en-US" baseline="-25000" dirty="0" smtClean="0"/>
              <a:t>2</a:t>
            </a:r>
            <a:r>
              <a:rPr lang="en-US" dirty="0" smtClean="0"/>
              <a:t> + 1) (x</a:t>
            </a:r>
            <a:r>
              <a:rPr lang="en-US" baseline="-25000" dirty="0" smtClean="0"/>
              <a:t>1</a:t>
            </a:r>
            <a:r>
              <a:rPr lang="en-US" dirty="0" smtClean="0"/>
              <a:t> - 1) </a:t>
            </a:r>
          </a:p>
          <a:p>
            <a:pPr marL="514350" indent="-514350">
              <a:buNone/>
            </a:pPr>
            <a:r>
              <a:rPr lang="en-US" dirty="0" smtClean="0">
                <a:sym typeface="Symbol"/>
              </a:rPr>
              <a:t>		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</a:t>
            </a:r>
            <a:r>
              <a:rPr lang="en-US" dirty="0" smtClean="0"/>
              <a:t> x</a:t>
            </a:r>
            <a:r>
              <a:rPr lang="en-US" baseline="-25000" dirty="0" smtClean="0"/>
              <a:t>1</a:t>
            </a:r>
            <a:r>
              <a:rPr lang="en-US" dirty="0" smtClean="0"/>
              <a:t>x</a:t>
            </a:r>
            <a:r>
              <a:rPr lang="en-US" baseline="-25000" dirty="0" smtClean="0"/>
              <a:t>2</a:t>
            </a:r>
            <a:r>
              <a:rPr lang="en-US" dirty="0" smtClean="0"/>
              <a:t> - x</a:t>
            </a:r>
            <a:r>
              <a:rPr lang="en-US" baseline="-25000" dirty="0" smtClean="0"/>
              <a:t>1</a:t>
            </a:r>
            <a:r>
              <a:rPr lang="en-US" dirty="0" smtClean="0"/>
              <a:t> + x</a:t>
            </a:r>
            <a:r>
              <a:rPr lang="en-US" baseline="-25000" dirty="0" smtClean="0"/>
              <a:t>2</a:t>
            </a:r>
            <a:r>
              <a:rPr lang="en-US" dirty="0" smtClean="0"/>
              <a:t> - 1 = x</a:t>
            </a:r>
            <a:r>
              <a:rPr lang="en-US" baseline="-25000" dirty="0" smtClean="0"/>
              <a:t>1</a:t>
            </a:r>
            <a:r>
              <a:rPr lang="en-US" dirty="0" smtClean="0"/>
              <a:t>x</a:t>
            </a:r>
            <a:r>
              <a:rPr lang="en-US" baseline="-25000" dirty="0" smtClean="0"/>
              <a:t>2</a:t>
            </a:r>
            <a:r>
              <a:rPr lang="en-US" dirty="0" smtClean="0"/>
              <a:t> - x</a:t>
            </a:r>
            <a:r>
              <a:rPr lang="en-US" baseline="-25000" dirty="0" smtClean="0"/>
              <a:t>2</a:t>
            </a:r>
            <a:r>
              <a:rPr lang="en-US" dirty="0" smtClean="0"/>
              <a:t> + x</a:t>
            </a:r>
            <a:r>
              <a:rPr lang="en-US" baseline="-25000" dirty="0" smtClean="0"/>
              <a:t>1</a:t>
            </a:r>
            <a:r>
              <a:rPr lang="en-US" dirty="0" smtClean="0"/>
              <a:t> – 1</a:t>
            </a:r>
          </a:p>
          <a:p>
            <a:pPr marL="514350" indent="-514350">
              <a:buNone/>
            </a:pPr>
            <a:r>
              <a:rPr lang="en-US" dirty="0" smtClean="0">
                <a:sym typeface="Symbol"/>
              </a:rPr>
              <a:t>		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</a:t>
            </a:r>
            <a:r>
              <a:rPr lang="en-US" dirty="0" smtClean="0"/>
              <a:t> - x</a:t>
            </a:r>
            <a:r>
              <a:rPr lang="en-US" baseline="-25000" dirty="0" smtClean="0"/>
              <a:t>1</a:t>
            </a:r>
            <a:r>
              <a:rPr lang="en-US" dirty="0" smtClean="0"/>
              <a:t> + x</a:t>
            </a:r>
            <a:r>
              <a:rPr lang="en-US" baseline="-25000" dirty="0" smtClean="0"/>
              <a:t>2</a:t>
            </a:r>
            <a:r>
              <a:rPr lang="en-US" dirty="0" smtClean="0"/>
              <a:t> = - x</a:t>
            </a:r>
            <a:r>
              <a:rPr lang="en-US" baseline="-25000" dirty="0" smtClean="0"/>
              <a:t>2</a:t>
            </a:r>
            <a:r>
              <a:rPr lang="en-US" dirty="0" smtClean="0"/>
              <a:t> + x</a:t>
            </a:r>
            <a:r>
              <a:rPr lang="en-US" baseline="-25000" dirty="0" smtClean="0"/>
              <a:t>1</a:t>
            </a:r>
          </a:p>
          <a:p>
            <a:pPr marL="514350" indent="-514350">
              <a:buNone/>
            </a:pPr>
            <a:r>
              <a:rPr lang="en-US" dirty="0" smtClean="0">
                <a:sym typeface="Symbol"/>
              </a:rPr>
              <a:t>		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</a:t>
            </a:r>
            <a:r>
              <a:rPr lang="en-US" dirty="0" smtClean="0"/>
              <a:t> x</a:t>
            </a:r>
            <a:r>
              <a:rPr lang="en-US" baseline="-25000" dirty="0" smtClean="0"/>
              <a:t>2</a:t>
            </a:r>
            <a:r>
              <a:rPr lang="en-US" dirty="0" smtClean="0"/>
              <a:t> + x</a:t>
            </a:r>
            <a:r>
              <a:rPr lang="en-US" baseline="-25000" dirty="0" smtClean="0"/>
              <a:t>2</a:t>
            </a:r>
            <a:r>
              <a:rPr lang="en-US" dirty="0" smtClean="0"/>
              <a:t> = x</a:t>
            </a:r>
            <a:r>
              <a:rPr lang="en-US" baseline="-25000" dirty="0" smtClean="0"/>
              <a:t>1</a:t>
            </a:r>
            <a:r>
              <a:rPr lang="en-US" dirty="0" smtClean="0"/>
              <a:t> + x</a:t>
            </a:r>
            <a:r>
              <a:rPr lang="en-US" baseline="-25000" dirty="0" smtClean="0"/>
              <a:t>1</a:t>
            </a:r>
          </a:p>
          <a:p>
            <a:pPr marL="514350" indent="-514350">
              <a:buNone/>
            </a:pPr>
            <a:r>
              <a:rPr lang="en-US" dirty="0" smtClean="0">
                <a:sym typeface="Symbol"/>
              </a:rPr>
              <a:t>		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</a:t>
            </a:r>
            <a:r>
              <a:rPr lang="en-US" dirty="0" smtClean="0"/>
              <a:t> 2x</a:t>
            </a:r>
            <a:r>
              <a:rPr lang="en-US" baseline="-25000" dirty="0" smtClean="0"/>
              <a:t>2</a:t>
            </a:r>
            <a:r>
              <a:rPr lang="en-US" dirty="0" smtClean="0"/>
              <a:t> = 2x</a:t>
            </a:r>
            <a:r>
              <a:rPr lang="en-US" baseline="-25000" dirty="0" smtClean="0"/>
              <a:t>1</a:t>
            </a:r>
          </a:p>
          <a:p>
            <a:pPr marL="514350" indent="-514350">
              <a:buNone/>
            </a:pPr>
            <a:r>
              <a:rPr lang="en-US" dirty="0" smtClean="0">
                <a:sym typeface="Symbol"/>
              </a:rPr>
              <a:t>		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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x</a:t>
            </a:r>
            <a:r>
              <a:rPr lang="en-US" baseline="-25000" dirty="0" smtClean="0"/>
              <a:t>2</a:t>
            </a:r>
            <a:r>
              <a:rPr lang="en-US" dirty="0" smtClean="0"/>
              <a:t> = x</a:t>
            </a:r>
            <a:r>
              <a:rPr lang="en-US" baseline="-25000" dirty="0" smtClean="0"/>
              <a:t>1</a:t>
            </a:r>
          </a:p>
          <a:p>
            <a:pPr marL="514350" indent="-514350">
              <a:buNone/>
            </a:pPr>
            <a:r>
              <a:rPr lang="en-US" dirty="0" smtClean="0"/>
              <a:t>		Hence </a:t>
            </a:r>
            <a:r>
              <a:rPr lang="en-US" b="1" dirty="0" smtClean="0">
                <a:solidFill>
                  <a:srgbClr val="C00000"/>
                </a:solidFill>
              </a:rPr>
              <a:t>f</a:t>
            </a:r>
            <a:r>
              <a:rPr lang="en-US" dirty="0" smtClean="0"/>
              <a:t> is </a:t>
            </a:r>
            <a:r>
              <a:rPr lang="en-US" b="1" dirty="0" smtClean="0">
                <a:solidFill>
                  <a:srgbClr val="C00000"/>
                </a:solidFill>
              </a:rPr>
              <a:t>injective</a:t>
            </a:r>
            <a:r>
              <a:rPr lang="en-US" dirty="0" smtClean="0"/>
              <a:t>.</a:t>
            </a:r>
          </a:p>
          <a:p>
            <a:pPr marL="514350" indent="-514350">
              <a:buNone/>
            </a:pPr>
            <a:endParaRPr lang="en-US" dirty="0" smtClean="0"/>
          </a:p>
          <a:p>
            <a:pPr marL="514350" indent="-514350">
              <a:buNone/>
            </a:pPr>
            <a:endParaRPr lang="en-US" dirty="0" smtClean="0"/>
          </a:p>
          <a:p>
            <a:pPr marL="514350" indent="-514350">
              <a:buNone/>
            </a:pPr>
            <a:endParaRPr lang="en-US" dirty="0" smtClean="0"/>
          </a:p>
          <a:p>
            <a:pPr marL="514350" indent="-514350">
              <a:buNone/>
            </a:pPr>
            <a:endParaRPr lang="en-US" baseline="-25000" dirty="0" smtClean="0"/>
          </a:p>
          <a:p>
            <a:pPr marL="514350" indent="-514350">
              <a:buNone/>
            </a:pPr>
            <a:endParaRPr lang="en-US" baseline="-25000" dirty="0" smtClean="0"/>
          </a:p>
          <a:p>
            <a:pPr marL="514350" indent="-514350">
              <a:buNone/>
            </a:pPr>
            <a:endParaRPr lang="en-US" dirty="0" smtClean="0"/>
          </a:p>
          <a:p>
            <a:pPr marL="514350" indent="-514350">
              <a:buNone/>
            </a:pPr>
            <a:endParaRPr lang="en-US" dirty="0"/>
          </a:p>
        </p:txBody>
      </p:sp>
      <p:graphicFrame>
        <p:nvGraphicFramePr>
          <p:cNvPr id="47106" name="Object 2"/>
          <p:cNvGraphicFramePr>
            <a:graphicFrameLocks noChangeAspect="1"/>
          </p:cNvGraphicFramePr>
          <p:nvPr/>
        </p:nvGraphicFramePr>
        <p:xfrm>
          <a:off x="2578500" y="2949672"/>
          <a:ext cx="2362201" cy="7506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08" r:id="rId3" imgW="1054080" imgH="431640" progId="">
                  <p:embed/>
                </p:oleObj>
              </mc:Choice>
              <mc:Fallback>
                <p:oleObj r:id="rId3" imgW="1054080" imgH="43164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8500" y="2949672"/>
                        <a:ext cx="2362201" cy="75060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7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0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81600"/>
          </a:xfrm>
        </p:spPr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lphaLcParenR" startAt="2"/>
            </a:pPr>
            <a:r>
              <a:rPr lang="en-US" b="1" dirty="0" smtClean="0">
                <a:solidFill>
                  <a:srgbClr val="C00000"/>
                </a:solidFill>
              </a:rPr>
              <a:t>f is </a:t>
            </a:r>
            <a:r>
              <a:rPr lang="en-US" b="1" dirty="0" err="1" smtClean="0">
                <a:solidFill>
                  <a:srgbClr val="C00000"/>
                </a:solidFill>
              </a:rPr>
              <a:t>surjective</a:t>
            </a:r>
            <a:endParaRPr lang="en-US" b="1" dirty="0" smtClean="0">
              <a:solidFill>
                <a:srgbClr val="C00000"/>
              </a:solidFill>
            </a:endParaRPr>
          </a:p>
          <a:p>
            <a:pPr marL="514350" indent="-514350">
              <a:buNone/>
            </a:pPr>
            <a:r>
              <a:rPr lang="en-US" b="1" dirty="0" smtClean="0"/>
              <a:t>	</a:t>
            </a:r>
            <a:r>
              <a:rPr lang="en-US" dirty="0" smtClean="0"/>
              <a:t> Let </a:t>
            </a:r>
            <a:r>
              <a:rPr lang="en-US" dirty="0" smtClean="0">
                <a:solidFill>
                  <a:srgbClr val="C00000"/>
                </a:solidFill>
              </a:rPr>
              <a:t>y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 </a:t>
            </a:r>
            <a:r>
              <a:rPr lang="en-US" dirty="0" smtClean="0">
                <a:solidFill>
                  <a:srgbClr val="C00000"/>
                </a:solidFill>
              </a:rPr>
              <a:t>R - {1} </a:t>
            </a:r>
            <a:r>
              <a:rPr lang="en-US" dirty="0" smtClean="0"/>
              <a:t>. We look for an</a:t>
            </a:r>
            <a:r>
              <a:rPr lang="en-US" dirty="0" smtClean="0">
                <a:solidFill>
                  <a:srgbClr val="C00000"/>
                </a:solidFill>
              </a:rPr>
              <a:t> x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  </a:t>
            </a:r>
            <a:r>
              <a:rPr lang="en-US" dirty="0" smtClean="0">
                <a:solidFill>
                  <a:srgbClr val="C00000"/>
                </a:solidFill>
              </a:rPr>
              <a:t>R - {1}</a:t>
            </a:r>
            <a:endParaRPr lang="en-US" dirty="0" smtClean="0"/>
          </a:p>
          <a:p>
            <a:pPr marL="514350" indent="-514350">
              <a:buNone/>
            </a:pPr>
            <a:r>
              <a:rPr lang="en-US" dirty="0" smtClean="0"/>
              <a:t>	 such that</a:t>
            </a:r>
          </a:p>
          <a:p>
            <a:pPr marL="514350" indent="-514350">
              <a:buNone/>
            </a:pPr>
            <a:r>
              <a:rPr lang="en-US" dirty="0" smtClean="0"/>
              <a:t>		</a:t>
            </a:r>
            <a:r>
              <a:rPr lang="en-US" dirty="0" smtClean="0">
                <a:solidFill>
                  <a:srgbClr val="C00000"/>
                </a:solidFill>
              </a:rPr>
              <a:t> f(x) = y </a:t>
            </a:r>
          </a:p>
          <a:p>
            <a:pPr marL="514350" lvl="0" indent="-514350">
              <a:buNone/>
            </a:pPr>
            <a:r>
              <a:rPr lang="en-US" baseline="-25000" dirty="0" smtClean="0"/>
              <a:t>		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</a:t>
            </a:r>
            <a:r>
              <a:rPr lang="en-US" dirty="0" smtClean="0"/>
              <a:t> </a:t>
            </a:r>
            <a:r>
              <a:rPr lang="es-ES" dirty="0" smtClean="0"/>
              <a:t>x + 1= y(x-1)</a:t>
            </a:r>
            <a:endParaRPr lang="en-US" dirty="0" smtClean="0"/>
          </a:p>
          <a:p>
            <a:pPr marL="514350" lvl="0" indent="-514350">
              <a:buNone/>
            </a:pPr>
            <a:r>
              <a:rPr lang="en-US" dirty="0" smtClean="0">
                <a:sym typeface="Symbol"/>
              </a:rPr>
              <a:t>		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</a:t>
            </a:r>
            <a:r>
              <a:rPr lang="en-US" dirty="0" smtClean="0"/>
              <a:t> </a:t>
            </a:r>
            <a:r>
              <a:rPr lang="es-ES" dirty="0" smtClean="0"/>
              <a:t>x+1= </a:t>
            </a:r>
            <a:r>
              <a:rPr lang="es-ES" dirty="0" err="1" smtClean="0"/>
              <a:t>yx</a:t>
            </a:r>
            <a:r>
              <a:rPr lang="es-ES" dirty="0" smtClean="0"/>
              <a:t>-y</a:t>
            </a:r>
            <a:endParaRPr lang="en-US" dirty="0" smtClean="0"/>
          </a:p>
          <a:p>
            <a:pPr marL="514350" indent="-514350">
              <a:buNone/>
            </a:pPr>
            <a:r>
              <a:rPr lang="en-US" dirty="0" smtClean="0">
                <a:sym typeface="Symbol"/>
              </a:rPr>
              <a:t>		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</a:t>
            </a:r>
            <a:r>
              <a:rPr lang="en-US" dirty="0" smtClean="0"/>
              <a:t> </a:t>
            </a:r>
            <a:r>
              <a:rPr lang="es-ES" dirty="0" smtClean="0"/>
              <a:t>1+ y = </a:t>
            </a:r>
            <a:r>
              <a:rPr lang="es-ES" dirty="0" err="1" smtClean="0"/>
              <a:t>xy</a:t>
            </a:r>
            <a:r>
              <a:rPr lang="es-ES" dirty="0" smtClean="0"/>
              <a:t> - x</a:t>
            </a:r>
            <a:endParaRPr lang="en-US" baseline="-25000" dirty="0" smtClean="0"/>
          </a:p>
          <a:p>
            <a:pPr marL="514350" indent="-514350">
              <a:buNone/>
            </a:pPr>
            <a:r>
              <a:rPr lang="en-US" dirty="0" smtClean="0">
                <a:sym typeface="Symbol"/>
              </a:rPr>
              <a:t>		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</a:t>
            </a:r>
            <a:r>
              <a:rPr lang="en-US" dirty="0" smtClean="0"/>
              <a:t> </a:t>
            </a:r>
            <a:r>
              <a:rPr lang="es-ES" dirty="0" smtClean="0"/>
              <a:t>1 + y = x(y-1)</a:t>
            </a:r>
            <a:endParaRPr lang="en-US" baseline="-25000" dirty="0" smtClean="0"/>
          </a:p>
          <a:p>
            <a:pPr marL="514350" indent="-514350">
              <a:buNone/>
            </a:pPr>
            <a:r>
              <a:rPr lang="en-US" dirty="0" smtClean="0">
                <a:sym typeface="Symbol"/>
              </a:rPr>
              <a:t>		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</a:t>
            </a:r>
            <a:r>
              <a:rPr lang="en-US" dirty="0" smtClean="0"/>
              <a:t> </a:t>
            </a:r>
            <a:endParaRPr lang="en-US" baseline="-25000" dirty="0" smtClean="0"/>
          </a:p>
          <a:p>
            <a:pPr>
              <a:buNone/>
            </a:pPr>
            <a:r>
              <a:rPr lang="en-US" dirty="0" smtClean="0">
                <a:sym typeface="Symbol"/>
              </a:rPr>
              <a:t>	</a:t>
            </a:r>
            <a:r>
              <a:rPr lang="en-US" dirty="0" smtClean="0"/>
              <a:t> </a:t>
            </a:r>
          </a:p>
          <a:p>
            <a:pPr>
              <a:buNone/>
            </a:pPr>
            <a:r>
              <a:rPr lang="en-US" dirty="0" smtClean="0"/>
              <a:t>	Thus for each y </a:t>
            </a:r>
            <a:r>
              <a:rPr lang="en-US" dirty="0" smtClean="0">
                <a:sym typeface="Symbol"/>
              </a:rPr>
              <a:t></a:t>
            </a:r>
            <a:r>
              <a:rPr lang="en-US" dirty="0" smtClean="0"/>
              <a:t> R - {1}, there exists                   </a:t>
            </a:r>
            <a:r>
              <a:rPr lang="en-US" dirty="0" smtClean="0">
                <a:sym typeface="Symbol"/>
              </a:rPr>
              <a:t></a:t>
            </a:r>
            <a:r>
              <a:rPr lang="en-US" dirty="0" smtClean="0"/>
              <a:t> R - {1}</a:t>
            </a:r>
          </a:p>
          <a:p>
            <a:pPr>
              <a:buNone/>
            </a:pPr>
            <a:r>
              <a:rPr lang="en-US" baseline="-25000" dirty="0" smtClean="0"/>
              <a:t>	</a:t>
            </a:r>
            <a:r>
              <a:rPr lang="en-US" dirty="0" smtClean="0"/>
              <a:t> such that   </a:t>
            </a:r>
            <a:endParaRPr lang="en-US" baseline="-25000" dirty="0" smtClean="0"/>
          </a:p>
          <a:p>
            <a:pPr marL="514350" indent="-514350">
              <a:buNone/>
            </a:pPr>
            <a:r>
              <a:rPr lang="en-US" dirty="0" smtClean="0"/>
              <a:t>					Hence </a:t>
            </a:r>
            <a:r>
              <a:rPr lang="en-US" b="1" dirty="0" smtClean="0">
                <a:solidFill>
                  <a:srgbClr val="C00000"/>
                </a:solidFill>
              </a:rPr>
              <a:t>f</a:t>
            </a:r>
            <a:r>
              <a:rPr lang="en-US" dirty="0" smtClean="0"/>
              <a:t> is </a:t>
            </a:r>
            <a:r>
              <a:rPr lang="en-US" b="1" dirty="0" err="1" smtClean="0">
                <a:solidFill>
                  <a:srgbClr val="C00000"/>
                </a:solidFill>
              </a:rPr>
              <a:t>surjective</a:t>
            </a:r>
            <a:r>
              <a:rPr lang="en-US" dirty="0" smtClean="0"/>
              <a:t>.</a:t>
            </a:r>
          </a:p>
          <a:p>
            <a:pPr marL="514350" indent="-514350">
              <a:buNone/>
            </a:pPr>
            <a:endParaRPr lang="en-US" dirty="0" smtClean="0"/>
          </a:p>
          <a:p>
            <a:pPr marL="514350" indent="-514350">
              <a:buNone/>
            </a:pPr>
            <a:endParaRPr lang="en-US" dirty="0" smtClean="0"/>
          </a:p>
          <a:p>
            <a:pPr marL="514350" indent="-514350">
              <a:buNone/>
            </a:pPr>
            <a:endParaRPr lang="en-US" dirty="0" smtClean="0"/>
          </a:p>
          <a:p>
            <a:pPr marL="514350" indent="-514350">
              <a:buNone/>
            </a:pPr>
            <a:endParaRPr lang="en-US" baseline="-25000" dirty="0" smtClean="0"/>
          </a:p>
          <a:p>
            <a:pPr marL="514350" indent="-514350">
              <a:buNone/>
            </a:pPr>
            <a:endParaRPr lang="en-US" baseline="-25000" dirty="0" smtClean="0"/>
          </a:p>
          <a:p>
            <a:pPr marL="514350" indent="-514350">
              <a:buNone/>
            </a:pPr>
            <a:endParaRPr lang="en-US" dirty="0" smtClean="0"/>
          </a:p>
          <a:p>
            <a:pPr marL="514350" indent="-514350">
              <a:buNone/>
            </a:pPr>
            <a:endParaRPr lang="en-US" dirty="0"/>
          </a:p>
        </p:txBody>
      </p:sp>
      <p:graphicFrame>
        <p:nvGraphicFramePr>
          <p:cNvPr id="48131" name="Object 3"/>
          <p:cNvGraphicFramePr>
            <a:graphicFrameLocks noChangeAspect="1"/>
          </p:cNvGraphicFramePr>
          <p:nvPr/>
        </p:nvGraphicFramePr>
        <p:xfrm>
          <a:off x="1832187" y="4097592"/>
          <a:ext cx="1321509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38" r:id="rId3" imgW="571320" imgH="419040" progId="">
                  <p:embed/>
                </p:oleObj>
              </mc:Choice>
              <mc:Fallback>
                <p:oleObj r:id="rId3" imgW="571320" imgH="419040" progId="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2187" y="4097592"/>
                        <a:ext cx="1321509" cy="609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3" name="Object 5"/>
          <p:cNvGraphicFramePr>
            <a:graphicFrameLocks noChangeAspect="1"/>
          </p:cNvGraphicFramePr>
          <p:nvPr/>
        </p:nvGraphicFramePr>
        <p:xfrm>
          <a:off x="5628148" y="4815347"/>
          <a:ext cx="13208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39" r:id="rId5" imgW="571320" imgH="419040" progId="">
                  <p:embed/>
                </p:oleObj>
              </mc:Choice>
              <mc:Fallback>
                <p:oleObj r:id="rId5" imgW="571320" imgH="419040" progId="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28148" y="4815347"/>
                        <a:ext cx="1320800" cy="609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4" name="Object 6"/>
          <p:cNvGraphicFramePr>
            <a:graphicFrameLocks noChangeAspect="1"/>
          </p:cNvGraphicFramePr>
          <p:nvPr/>
        </p:nvGraphicFramePr>
        <p:xfrm>
          <a:off x="2175384" y="5179140"/>
          <a:ext cx="1924048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40" name="Equation" r:id="rId6" imgW="1282680" imgH="457200" progId="Equation.3">
                  <p:embed/>
                </p:oleObj>
              </mc:Choice>
              <mc:Fallback>
                <p:oleObj name="Equation" r:id="rId6" imgW="1282680" imgH="45720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5384" y="5179140"/>
                        <a:ext cx="1924048" cy="685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48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48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2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48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 startAt="2"/>
            </a:pPr>
            <a:r>
              <a:rPr lang="en-US" b="1" dirty="0" smtClean="0">
                <a:solidFill>
                  <a:srgbClr val="C00000"/>
                </a:solidFill>
              </a:rPr>
              <a:t>inverse function of f</a:t>
            </a:r>
          </a:p>
          <a:p>
            <a:pPr marL="514350" indent="-514350">
              <a:buNone/>
            </a:pPr>
            <a:r>
              <a:rPr lang="en-US" b="1" dirty="0" smtClean="0"/>
              <a:t>	</a:t>
            </a:r>
            <a:r>
              <a:rPr lang="en-US" dirty="0" smtClean="0"/>
              <a:t>The </a:t>
            </a:r>
            <a:r>
              <a:rPr lang="en-US" dirty="0" smtClean="0">
                <a:solidFill>
                  <a:srgbClr val="C00000"/>
                </a:solidFill>
              </a:rPr>
              <a:t>given function</a:t>
            </a:r>
            <a:r>
              <a:rPr lang="en-US" dirty="0" smtClean="0"/>
              <a:t> f is defined by the </a:t>
            </a:r>
            <a:r>
              <a:rPr lang="en-US" dirty="0" smtClean="0">
                <a:solidFill>
                  <a:srgbClr val="C00000"/>
                </a:solidFill>
              </a:rPr>
              <a:t>rule</a:t>
            </a:r>
          </a:p>
          <a:p>
            <a:pPr marL="514350" indent="-514350"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	</a:t>
            </a:r>
          </a:p>
          <a:p>
            <a:pPr>
              <a:buNone/>
            </a:pPr>
            <a:r>
              <a:rPr lang="en-US" dirty="0" smtClean="0">
                <a:sym typeface="Symbol"/>
              </a:rPr>
              <a:t>			</a:t>
            </a:r>
            <a:r>
              <a:rPr lang="es-ES" dirty="0" smtClean="0"/>
              <a:t>	</a:t>
            </a:r>
            <a:r>
              <a:rPr lang="es-ES" dirty="0" smtClean="0">
                <a:solidFill>
                  <a:srgbClr val="C00000"/>
                </a:solidFill>
              </a:rPr>
              <a:t>x + 1 = y (x-1)</a:t>
            </a: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dirty="0" smtClean="0">
                <a:sym typeface="Symbol"/>
              </a:rPr>
              <a:t>			</a:t>
            </a:r>
            <a:r>
              <a:rPr lang="es-ES" dirty="0" smtClean="0"/>
              <a:t>	</a:t>
            </a:r>
            <a:r>
              <a:rPr lang="es-ES" dirty="0" smtClean="0">
                <a:solidFill>
                  <a:srgbClr val="C00000"/>
                </a:solidFill>
              </a:rPr>
              <a:t>x + 1 = </a:t>
            </a:r>
            <a:r>
              <a:rPr lang="es-ES" dirty="0" err="1" smtClean="0">
                <a:solidFill>
                  <a:srgbClr val="C00000"/>
                </a:solidFill>
              </a:rPr>
              <a:t>yx</a:t>
            </a:r>
            <a:r>
              <a:rPr lang="es-ES" dirty="0" smtClean="0">
                <a:solidFill>
                  <a:srgbClr val="C00000"/>
                </a:solidFill>
              </a:rPr>
              <a:t>-y</a:t>
            </a: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dirty="0" smtClean="0">
                <a:sym typeface="Symbol"/>
              </a:rPr>
              <a:t>			</a:t>
            </a:r>
            <a:r>
              <a:rPr lang="es-ES" dirty="0" smtClean="0"/>
              <a:t>	</a:t>
            </a:r>
            <a:r>
              <a:rPr lang="es-ES" dirty="0" smtClean="0">
                <a:solidFill>
                  <a:srgbClr val="C00000"/>
                </a:solidFill>
              </a:rPr>
              <a:t>y + 1 = </a:t>
            </a:r>
            <a:r>
              <a:rPr lang="es-ES" dirty="0" err="1" smtClean="0">
                <a:solidFill>
                  <a:srgbClr val="C00000"/>
                </a:solidFill>
              </a:rPr>
              <a:t>yx</a:t>
            </a:r>
            <a:r>
              <a:rPr lang="es-ES" dirty="0" smtClean="0">
                <a:solidFill>
                  <a:srgbClr val="C00000"/>
                </a:solidFill>
              </a:rPr>
              <a:t>-x</a:t>
            </a: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dirty="0" smtClean="0">
                <a:sym typeface="Symbol"/>
              </a:rPr>
              <a:t>			</a:t>
            </a: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y + 1 = x(y-1)</a:t>
            </a:r>
          </a:p>
          <a:p>
            <a:pPr>
              <a:buNone/>
            </a:pPr>
            <a:r>
              <a:rPr lang="en-US" dirty="0" smtClean="0">
                <a:sym typeface="Symbol"/>
              </a:rPr>
              <a:t>			</a:t>
            </a:r>
          </a:p>
          <a:p>
            <a:pPr>
              <a:buNone/>
            </a:pPr>
            <a:endParaRPr lang="en-US" dirty="0" smtClean="0">
              <a:sym typeface="Symbol"/>
            </a:endParaRPr>
          </a:p>
          <a:p>
            <a:pPr>
              <a:buNone/>
            </a:pPr>
            <a:r>
              <a:rPr lang="en-US" dirty="0" smtClean="0"/>
              <a:t>			Hence </a:t>
            </a:r>
            <a:r>
              <a:rPr lang="en-US" b="1" dirty="0" smtClean="0">
                <a:solidFill>
                  <a:srgbClr val="C00000"/>
                </a:solidFill>
              </a:rPr>
              <a:t>f</a:t>
            </a:r>
            <a:r>
              <a:rPr lang="en-US" b="1" baseline="30000" dirty="0" smtClean="0">
                <a:solidFill>
                  <a:srgbClr val="C00000"/>
                </a:solidFill>
              </a:rPr>
              <a:t>-1</a:t>
            </a:r>
            <a:r>
              <a:rPr lang="en-US" b="1" dirty="0" smtClean="0">
                <a:solidFill>
                  <a:srgbClr val="C00000"/>
                </a:solidFill>
              </a:rPr>
              <a:t>(y) =</a:t>
            </a:r>
            <a:r>
              <a:rPr lang="en-US" dirty="0" smtClean="0"/>
              <a:t> </a:t>
            </a:r>
          </a:p>
          <a:p>
            <a:pPr marL="514350" indent="-514350">
              <a:buNone/>
            </a:pPr>
            <a:endParaRPr lang="en-US" dirty="0" smtClean="0"/>
          </a:p>
          <a:p>
            <a:pPr marL="514350" indent="-514350">
              <a:buNone/>
            </a:pPr>
            <a:endParaRPr lang="en-US" dirty="0"/>
          </a:p>
        </p:txBody>
      </p:sp>
      <p:graphicFrame>
        <p:nvGraphicFramePr>
          <p:cNvPr id="69634" name="Object 2"/>
          <p:cNvGraphicFramePr>
            <a:graphicFrameLocks noChangeAspect="1"/>
          </p:cNvGraphicFramePr>
          <p:nvPr/>
        </p:nvGraphicFramePr>
        <p:xfrm>
          <a:off x="3314700" y="2116392"/>
          <a:ext cx="3242510" cy="7792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40" r:id="rId3" imgW="1638000" imgH="393480" progId="">
                  <p:embed/>
                </p:oleObj>
              </mc:Choice>
              <mc:Fallback>
                <p:oleObj r:id="rId3" imgW="1638000" imgH="39348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4700" y="2116392"/>
                        <a:ext cx="3242510" cy="77920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35" name="Object 3"/>
          <p:cNvGraphicFramePr>
            <a:graphicFrameLocks noChangeAspect="1"/>
          </p:cNvGraphicFramePr>
          <p:nvPr/>
        </p:nvGraphicFramePr>
        <p:xfrm>
          <a:off x="3810000" y="4599940"/>
          <a:ext cx="1104900" cy="8102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41" r:id="rId5" imgW="571320" imgH="419040" progId="">
                  <p:embed/>
                </p:oleObj>
              </mc:Choice>
              <mc:Fallback>
                <p:oleObj r:id="rId5" imgW="571320" imgH="419040" progId="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4599940"/>
                        <a:ext cx="1104900" cy="8102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36" name="Object 4"/>
          <p:cNvGraphicFramePr>
            <a:graphicFrameLocks noChangeAspect="1"/>
          </p:cNvGraphicFramePr>
          <p:nvPr/>
        </p:nvGraphicFramePr>
        <p:xfrm>
          <a:off x="4370293" y="5363496"/>
          <a:ext cx="2792507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42" r:id="rId7" imgW="1269720" imgH="419040" progId="">
                  <p:embed/>
                </p:oleObj>
              </mc:Choice>
              <mc:Fallback>
                <p:oleObj r:id="rId7" imgW="1269720" imgH="419040" progId="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70293" y="5363496"/>
                        <a:ext cx="2792507" cy="800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9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69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69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Let </a:t>
            </a:r>
            <a:r>
              <a:rPr lang="en-US" b="1" dirty="0" smtClean="0">
                <a:solidFill>
                  <a:srgbClr val="C00000"/>
                </a:solidFill>
              </a:rPr>
              <a:t>f: R</a:t>
            </a:r>
            <a:r>
              <a:rPr lang="en-US" b="1" dirty="0" smtClean="0">
                <a:solidFill>
                  <a:srgbClr val="C00000"/>
                </a:solidFill>
                <a:sym typeface="Symbol"/>
              </a:rPr>
              <a:t></a:t>
            </a:r>
            <a:r>
              <a:rPr lang="en-US" b="1" dirty="0" smtClean="0">
                <a:solidFill>
                  <a:srgbClr val="C00000"/>
                </a:solidFill>
              </a:rPr>
              <a:t>R</a:t>
            </a:r>
            <a:r>
              <a:rPr lang="en-US" dirty="0" smtClean="0"/>
              <a:t> be defined by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			</a:t>
            </a:r>
            <a:r>
              <a:rPr lang="en-US" b="1" dirty="0" smtClean="0">
                <a:solidFill>
                  <a:srgbClr val="C00000"/>
                </a:solidFill>
              </a:rPr>
              <a:t>f(x) = x</a:t>
            </a:r>
            <a:r>
              <a:rPr lang="en-US" b="1" baseline="30000" dirty="0" smtClean="0">
                <a:solidFill>
                  <a:srgbClr val="C00000"/>
                </a:solidFill>
              </a:rPr>
              <a:t>3</a:t>
            </a:r>
            <a:r>
              <a:rPr lang="en-US" b="1" dirty="0" smtClean="0">
                <a:solidFill>
                  <a:srgbClr val="C00000"/>
                </a:solidFill>
              </a:rPr>
              <a:t> + 5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Show that </a:t>
            </a:r>
            <a:r>
              <a:rPr lang="en-US" b="1" dirty="0" smtClean="0">
                <a:solidFill>
                  <a:srgbClr val="C00000"/>
                </a:solidFill>
              </a:rPr>
              <a:t>f</a:t>
            </a:r>
            <a:r>
              <a:rPr lang="en-US" dirty="0" smtClean="0"/>
              <a:t> is </a:t>
            </a:r>
            <a:r>
              <a:rPr lang="en-US" b="1" dirty="0" smtClean="0">
                <a:solidFill>
                  <a:srgbClr val="C00000"/>
                </a:solidFill>
              </a:rPr>
              <a:t>one-to-one</a:t>
            </a:r>
            <a:r>
              <a:rPr lang="en-US" dirty="0" smtClean="0"/>
              <a:t> and </a:t>
            </a:r>
            <a:r>
              <a:rPr lang="en-US" b="1" dirty="0" smtClean="0">
                <a:solidFill>
                  <a:srgbClr val="C00000"/>
                </a:solidFill>
              </a:rPr>
              <a:t>onto</a:t>
            </a:r>
            <a:r>
              <a:rPr lang="en-US" dirty="0" smtClean="0"/>
              <a:t>. </a:t>
            </a:r>
          </a:p>
          <a:p>
            <a:pPr>
              <a:buNone/>
            </a:pPr>
            <a:r>
              <a:rPr lang="en-US" dirty="0" smtClean="0"/>
              <a:t>	Find a formula that defines the </a:t>
            </a:r>
            <a:r>
              <a:rPr lang="en-US" b="1" dirty="0" smtClean="0">
                <a:solidFill>
                  <a:srgbClr val="C00000"/>
                </a:solidFill>
              </a:rPr>
              <a:t>inverse function f</a:t>
            </a:r>
            <a:r>
              <a:rPr lang="en-US" b="1" baseline="30000" dirty="0" smtClean="0">
                <a:solidFill>
                  <a:srgbClr val="C00000"/>
                </a:solidFill>
              </a:rPr>
              <a:t>-1</a:t>
            </a:r>
            <a:r>
              <a:rPr lang="en-US" dirty="0" smtClean="0"/>
              <a:t>.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f</a:t>
            </a:r>
            <a:r>
              <a:rPr lang="en-US" b="1" dirty="0" smtClean="0"/>
              <a:t> is </a:t>
            </a:r>
            <a:r>
              <a:rPr lang="en-US" b="1" dirty="0" smtClean="0">
                <a:solidFill>
                  <a:srgbClr val="C00000"/>
                </a:solidFill>
              </a:rPr>
              <a:t>one-to-one</a:t>
            </a:r>
          </a:p>
          <a:p>
            <a:pPr>
              <a:buNone/>
            </a:pP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dirty="0" smtClean="0"/>
              <a:t>	Let </a:t>
            </a:r>
            <a:r>
              <a:rPr lang="en-US" dirty="0" smtClean="0">
                <a:solidFill>
                  <a:srgbClr val="C00000"/>
                </a:solidFill>
              </a:rPr>
              <a:t>f(x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>
                <a:solidFill>
                  <a:srgbClr val="C00000"/>
                </a:solidFill>
              </a:rPr>
              <a:t>) = f(x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)</a:t>
            </a:r>
            <a:r>
              <a:rPr lang="en-US" dirty="0" smtClean="0"/>
              <a:t>	for    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>
                <a:solidFill>
                  <a:srgbClr val="C00000"/>
                </a:solidFill>
              </a:rPr>
              <a:t>, x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 </a:t>
            </a:r>
            <a:r>
              <a:rPr lang="en-US" dirty="0" smtClean="0">
                <a:solidFill>
                  <a:srgbClr val="C00000"/>
                </a:solidFill>
              </a:rPr>
              <a:t>R</a:t>
            </a:r>
          </a:p>
          <a:p>
            <a:pPr>
              <a:buNone/>
            </a:pP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dirty="0" smtClean="0">
                <a:sym typeface="Symbol"/>
              </a:rPr>
              <a:t>	</a:t>
            </a: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baseline="30000" dirty="0" smtClean="0">
                <a:solidFill>
                  <a:srgbClr val="C00000"/>
                </a:solidFill>
              </a:rPr>
              <a:t>3</a:t>
            </a:r>
            <a:r>
              <a:rPr lang="en-US" dirty="0" smtClean="0">
                <a:solidFill>
                  <a:srgbClr val="C00000"/>
                </a:solidFill>
              </a:rPr>
              <a:t> + 5 = x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r>
              <a:rPr lang="en-US" baseline="30000" dirty="0" smtClean="0">
                <a:solidFill>
                  <a:srgbClr val="C00000"/>
                </a:solidFill>
              </a:rPr>
              <a:t>3</a:t>
            </a:r>
            <a:r>
              <a:rPr lang="en-US" dirty="0" smtClean="0">
                <a:solidFill>
                  <a:srgbClr val="C00000"/>
                </a:solidFill>
              </a:rPr>
              <a:t> + 5</a:t>
            </a:r>
            <a:r>
              <a:rPr lang="en-US" dirty="0" smtClean="0"/>
              <a:t>	(by definition of f)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ym typeface="Symbol"/>
              </a:rPr>
              <a:t></a:t>
            </a:r>
            <a:r>
              <a:rPr lang="en-US" dirty="0" smtClean="0"/>
              <a:t>	      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baseline="30000" dirty="0" smtClean="0">
                <a:solidFill>
                  <a:srgbClr val="C00000"/>
                </a:solidFill>
              </a:rPr>
              <a:t>3</a:t>
            </a:r>
            <a:r>
              <a:rPr lang="en-US" dirty="0" smtClean="0">
                <a:solidFill>
                  <a:srgbClr val="C00000"/>
                </a:solidFill>
              </a:rPr>
              <a:t> = x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r>
              <a:rPr lang="en-US" baseline="30000" dirty="0" smtClean="0">
                <a:solidFill>
                  <a:srgbClr val="C00000"/>
                </a:solidFill>
              </a:rPr>
              <a:t>3</a:t>
            </a:r>
            <a:r>
              <a:rPr lang="en-US" dirty="0" smtClean="0"/>
              <a:t>		(subtracting 5 on both sides)</a:t>
            </a:r>
          </a:p>
          <a:p>
            <a:pPr>
              <a:buNone/>
            </a:pPr>
            <a:r>
              <a:rPr lang="en-US" dirty="0" smtClean="0">
                <a:sym typeface="Symbol"/>
              </a:rPr>
              <a:t>	</a:t>
            </a:r>
            <a:r>
              <a:rPr lang="en-US" dirty="0" smtClean="0"/>
              <a:t>	       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baseline="-25000" dirty="0" smtClean="0">
                <a:solidFill>
                  <a:srgbClr val="C00000"/>
                </a:solidFill>
              </a:rPr>
              <a:t>1</a:t>
            </a:r>
            <a:r>
              <a:rPr lang="en-US" dirty="0" smtClean="0">
                <a:solidFill>
                  <a:srgbClr val="C00000"/>
                </a:solidFill>
              </a:rPr>
              <a:t> = x</a:t>
            </a:r>
            <a:r>
              <a:rPr lang="en-US" baseline="-25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/>
              <a:t> </a:t>
            </a:r>
          </a:p>
          <a:p>
            <a:pPr>
              <a:buNone/>
            </a:pPr>
            <a:r>
              <a:rPr lang="en-US" dirty="0" smtClean="0"/>
              <a:t>					Hence </a:t>
            </a:r>
            <a:r>
              <a:rPr lang="en-US" dirty="0" smtClean="0">
                <a:solidFill>
                  <a:srgbClr val="C00000"/>
                </a:solidFill>
              </a:rPr>
              <a:t>f</a:t>
            </a:r>
            <a:r>
              <a:rPr lang="en-US" dirty="0" smtClean="0"/>
              <a:t> is </a:t>
            </a:r>
            <a:r>
              <a:rPr lang="en-US" dirty="0" smtClean="0">
                <a:solidFill>
                  <a:srgbClr val="C00000"/>
                </a:solidFill>
              </a:rPr>
              <a:t>one-to-one</a:t>
            </a:r>
            <a:r>
              <a:rPr lang="en-US" dirty="0" smtClean="0"/>
              <a:t>.</a:t>
            </a:r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105400"/>
          </a:xfrm>
        </p:spPr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f</a:t>
            </a:r>
            <a:r>
              <a:rPr lang="en-US" b="1" dirty="0" smtClean="0"/>
              <a:t> is </a:t>
            </a:r>
            <a:r>
              <a:rPr lang="en-US" b="1" dirty="0" smtClean="0">
                <a:solidFill>
                  <a:srgbClr val="C00000"/>
                </a:solidFill>
              </a:rPr>
              <a:t>onto</a:t>
            </a:r>
          </a:p>
          <a:p>
            <a:pPr>
              <a:buNone/>
            </a:pPr>
            <a:r>
              <a:rPr lang="en-US" dirty="0" smtClean="0"/>
              <a:t>	Let </a:t>
            </a:r>
            <a:r>
              <a:rPr lang="en-US" dirty="0" smtClean="0">
                <a:solidFill>
                  <a:srgbClr val="C00000"/>
                </a:solidFill>
              </a:rPr>
              <a:t>y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dirty="0" smtClean="0">
                <a:solidFill>
                  <a:srgbClr val="C00000"/>
                </a:solidFill>
              </a:rPr>
              <a:t>R.</a:t>
            </a:r>
            <a:r>
              <a:rPr lang="en-US" dirty="0" smtClean="0"/>
              <a:t> We search for an </a:t>
            </a:r>
            <a:r>
              <a:rPr lang="en-US" dirty="0" smtClean="0">
                <a:solidFill>
                  <a:srgbClr val="C00000"/>
                </a:solidFill>
              </a:rPr>
              <a:t>x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dirty="0" smtClean="0">
                <a:solidFill>
                  <a:srgbClr val="C00000"/>
                </a:solidFill>
              </a:rPr>
              <a:t>R</a:t>
            </a:r>
            <a:r>
              <a:rPr lang="en-US" dirty="0" smtClean="0"/>
              <a:t> such that </a:t>
            </a:r>
            <a:r>
              <a:rPr lang="en-US" dirty="0" smtClean="0">
                <a:solidFill>
                  <a:srgbClr val="C00000"/>
                </a:solidFill>
              </a:rPr>
              <a:t>f(x) = y</a:t>
            </a:r>
            <a:r>
              <a:rPr lang="en-US" dirty="0" smtClean="0"/>
              <a:t>.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>
                <a:sym typeface="Symbol"/>
              </a:rPr>
              <a:t>		</a:t>
            </a: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baseline="30000" dirty="0" smtClean="0">
                <a:solidFill>
                  <a:srgbClr val="C00000"/>
                </a:solidFill>
              </a:rPr>
              <a:t>3</a:t>
            </a:r>
            <a:r>
              <a:rPr lang="en-US" dirty="0" smtClean="0">
                <a:solidFill>
                  <a:srgbClr val="C00000"/>
                </a:solidFill>
              </a:rPr>
              <a:t> + 5 = y</a:t>
            </a:r>
            <a:r>
              <a:rPr lang="en-US" dirty="0" smtClean="0"/>
              <a:t>	(by definition of f)</a:t>
            </a:r>
          </a:p>
          <a:p>
            <a:pPr>
              <a:buNone/>
            </a:pPr>
            <a:r>
              <a:rPr lang="en-US" dirty="0" smtClean="0"/>
              <a:t>		</a:t>
            </a:r>
            <a:r>
              <a:rPr lang="en-US" dirty="0" smtClean="0">
                <a:sym typeface="Symbol"/>
              </a:rPr>
              <a:t></a:t>
            </a: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baseline="30000" dirty="0" smtClean="0">
                <a:solidFill>
                  <a:srgbClr val="C00000"/>
                </a:solidFill>
              </a:rPr>
              <a:t>3</a:t>
            </a:r>
            <a:r>
              <a:rPr lang="en-US" dirty="0" smtClean="0">
                <a:solidFill>
                  <a:srgbClr val="C00000"/>
                </a:solidFill>
              </a:rPr>
              <a:t> = y - 5</a:t>
            </a:r>
          </a:p>
          <a:p>
            <a:pPr>
              <a:buNone/>
            </a:pPr>
            <a:r>
              <a:rPr lang="en-US" dirty="0" smtClean="0">
                <a:sym typeface="Symbol"/>
              </a:rPr>
              <a:t>		</a:t>
            </a: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x =</a:t>
            </a:r>
            <a:r>
              <a:rPr lang="en-US" dirty="0" smtClean="0"/>
              <a:t> </a:t>
            </a:r>
          </a:p>
          <a:p>
            <a:r>
              <a:rPr lang="en-US" dirty="0" smtClean="0"/>
              <a:t>Thus for each </a:t>
            </a:r>
            <a:r>
              <a:rPr lang="en-US" dirty="0" smtClean="0">
                <a:solidFill>
                  <a:srgbClr val="C00000"/>
                </a:solidFill>
              </a:rPr>
              <a:t>y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dirty="0" smtClean="0">
                <a:solidFill>
                  <a:srgbClr val="C00000"/>
                </a:solidFill>
              </a:rPr>
              <a:t>R</a:t>
            </a:r>
            <a:r>
              <a:rPr lang="en-US" dirty="0" smtClean="0"/>
              <a:t>, there exists </a:t>
            </a:r>
            <a:r>
              <a:rPr lang="en-US" dirty="0" smtClean="0">
                <a:solidFill>
                  <a:srgbClr val="C00000"/>
                </a:solidFill>
              </a:rPr>
              <a:t>x =</a:t>
            </a:r>
            <a:r>
              <a:rPr lang="en-US" dirty="0" smtClean="0"/>
              <a:t>           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en-US" dirty="0" smtClean="0">
                <a:solidFill>
                  <a:srgbClr val="C00000"/>
                </a:solidFill>
              </a:rPr>
              <a:t>R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such that</a:t>
            </a:r>
            <a:r>
              <a:rPr lang="en-US" dirty="0" smtClean="0"/>
              <a:t> </a:t>
            </a:r>
          </a:p>
          <a:p>
            <a:endParaRPr lang="en-US" dirty="0"/>
          </a:p>
        </p:txBody>
      </p:sp>
      <p:graphicFrame>
        <p:nvGraphicFramePr>
          <p:cNvPr id="70658" name="Object 2"/>
          <p:cNvGraphicFramePr>
            <a:graphicFrameLocks noChangeAspect="1"/>
          </p:cNvGraphicFramePr>
          <p:nvPr/>
        </p:nvGraphicFramePr>
        <p:xfrm>
          <a:off x="2819400" y="3657600"/>
          <a:ext cx="990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665" r:id="rId3" imgW="457200" imgH="253800" progId="">
                  <p:embed/>
                </p:oleObj>
              </mc:Choice>
              <mc:Fallback>
                <p:oleObj r:id="rId3" imgW="457200" imgH="25380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3657600"/>
                        <a:ext cx="9906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60" name="Object 4"/>
          <p:cNvGraphicFramePr>
            <a:graphicFrameLocks noChangeAspect="1"/>
          </p:cNvGraphicFramePr>
          <p:nvPr/>
        </p:nvGraphicFramePr>
        <p:xfrm>
          <a:off x="5715000" y="4089400"/>
          <a:ext cx="990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666" r:id="rId5" imgW="457200" imgH="253800" progId="">
                  <p:embed/>
                </p:oleObj>
              </mc:Choice>
              <mc:Fallback>
                <p:oleObj r:id="rId5" imgW="457200" imgH="253800" progId="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4089400"/>
                        <a:ext cx="9906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61" name="Object 5"/>
          <p:cNvGraphicFramePr>
            <a:graphicFrameLocks noChangeAspect="1"/>
          </p:cNvGraphicFramePr>
          <p:nvPr/>
        </p:nvGraphicFramePr>
        <p:xfrm>
          <a:off x="2743199" y="4495800"/>
          <a:ext cx="5778457" cy="180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667" r:id="rId6" imgW="3124080" imgH="888840" progId="">
                  <p:embed/>
                </p:oleObj>
              </mc:Choice>
              <mc:Fallback>
                <p:oleObj r:id="rId6" imgW="3124080" imgH="888840" progId="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199" y="4495800"/>
                        <a:ext cx="5778457" cy="180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/>
          <p:cNvSpPr/>
          <p:nvPr/>
        </p:nvSpPr>
        <p:spPr>
          <a:xfrm>
            <a:off x="3505200" y="6324600"/>
            <a:ext cx="251460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 smtClean="0">
                <a:solidFill>
                  <a:schemeClr val="tx1"/>
                </a:solidFill>
              </a:rPr>
              <a:t>Hence</a:t>
            </a:r>
            <a:r>
              <a:rPr lang="en-US" sz="2400" b="1" dirty="0" smtClean="0">
                <a:solidFill>
                  <a:srgbClr val="C00000"/>
                </a:solidFill>
              </a:rPr>
              <a:t> f </a:t>
            </a:r>
            <a:r>
              <a:rPr lang="en-US" sz="2400" b="1" dirty="0" smtClean="0">
                <a:solidFill>
                  <a:schemeClr val="tx1"/>
                </a:solidFill>
              </a:rPr>
              <a:t>is</a:t>
            </a:r>
            <a:r>
              <a:rPr lang="en-US" sz="2400" b="1" dirty="0" smtClean="0">
                <a:solidFill>
                  <a:srgbClr val="C00000"/>
                </a:solidFill>
              </a:rPr>
              <a:t> onto.</a:t>
            </a:r>
            <a:endParaRPr lang="en-US" sz="2400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0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70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70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 smtClean="0"/>
              <a:t>formula for </a:t>
            </a:r>
            <a:r>
              <a:rPr lang="en-US" b="1" dirty="0" smtClean="0">
                <a:solidFill>
                  <a:srgbClr val="C00000"/>
                </a:solidFill>
              </a:rPr>
              <a:t>f</a:t>
            </a:r>
            <a:r>
              <a:rPr lang="en-US" baseline="30000" dirty="0" smtClean="0">
                <a:solidFill>
                  <a:srgbClr val="C00000"/>
                </a:solidFill>
              </a:rPr>
              <a:t>-1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f</a:t>
            </a:r>
            <a:r>
              <a:rPr lang="en-US" dirty="0" smtClean="0"/>
              <a:t> is defined by </a:t>
            </a:r>
            <a:r>
              <a:rPr lang="en-US" dirty="0" smtClean="0">
                <a:solidFill>
                  <a:srgbClr val="C00000"/>
                </a:solidFill>
              </a:rPr>
              <a:t>y = f(x) = x</a:t>
            </a:r>
            <a:r>
              <a:rPr lang="en-US" baseline="30000" dirty="0" smtClean="0">
                <a:solidFill>
                  <a:srgbClr val="C00000"/>
                </a:solidFill>
              </a:rPr>
              <a:t>3</a:t>
            </a:r>
            <a:r>
              <a:rPr lang="en-US" dirty="0" smtClean="0">
                <a:solidFill>
                  <a:srgbClr val="C00000"/>
                </a:solidFill>
              </a:rPr>
              <a:t> + 5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ym typeface="Symbol"/>
              </a:rPr>
              <a:t> </a:t>
            </a: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y-5 = x</a:t>
            </a:r>
            <a:r>
              <a:rPr lang="en-US" baseline="30000" dirty="0" smtClean="0">
                <a:solidFill>
                  <a:srgbClr val="C00000"/>
                </a:solidFill>
              </a:rPr>
              <a:t>3</a:t>
            </a: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n-US" dirty="0" smtClean="0"/>
              <a:t>	or	</a:t>
            </a:r>
            <a:r>
              <a:rPr lang="en-US" dirty="0" smtClean="0">
                <a:solidFill>
                  <a:srgbClr val="C00000"/>
                </a:solidFill>
              </a:rPr>
              <a:t>x =</a:t>
            </a:r>
          </a:p>
          <a:p>
            <a:pPr>
              <a:buNone/>
            </a:pPr>
            <a:r>
              <a:rPr lang="en-US" dirty="0" smtClean="0"/>
              <a:t>	</a:t>
            </a:r>
          </a:p>
          <a:p>
            <a:pPr>
              <a:buNone/>
            </a:pPr>
            <a:r>
              <a:rPr lang="en-US" dirty="0" smtClean="0"/>
              <a:t>	 Hence </a:t>
            </a:r>
            <a:r>
              <a:rPr lang="en-US" dirty="0" smtClean="0">
                <a:solidFill>
                  <a:srgbClr val="C00000"/>
                </a:solidFill>
              </a:rPr>
              <a:t>f</a:t>
            </a:r>
            <a:r>
              <a:rPr lang="en-US" baseline="30000" dirty="0" smtClean="0">
                <a:solidFill>
                  <a:srgbClr val="C00000"/>
                </a:solidFill>
              </a:rPr>
              <a:t>-1</a:t>
            </a:r>
            <a:r>
              <a:rPr lang="en-US" dirty="0" smtClean="0">
                <a:solidFill>
                  <a:srgbClr val="C00000"/>
                </a:solidFill>
              </a:rPr>
              <a:t>(y) = </a:t>
            </a:r>
            <a:r>
              <a:rPr lang="en-US" dirty="0" smtClean="0"/>
              <a:t> </a:t>
            </a:r>
          </a:p>
          <a:p>
            <a:pPr>
              <a:buNone/>
            </a:pPr>
            <a:r>
              <a:rPr lang="en-US" dirty="0" smtClean="0"/>
              <a:t>	 which defines the </a:t>
            </a:r>
            <a:r>
              <a:rPr lang="en-US" dirty="0" smtClean="0">
                <a:solidFill>
                  <a:srgbClr val="C00000"/>
                </a:solidFill>
              </a:rPr>
              <a:t>inverse function</a:t>
            </a:r>
            <a:r>
              <a:rPr lang="en-US" dirty="0" smtClean="0"/>
              <a:t>.</a:t>
            </a:r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  <p:graphicFrame>
        <p:nvGraphicFramePr>
          <p:cNvPr id="71682" name="Object 2"/>
          <p:cNvGraphicFramePr>
            <a:graphicFrameLocks noChangeAspect="1"/>
          </p:cNvGraphicFramePr>
          <p:nvPr/>
        </p:nvGraphicFramePr>
        <p:xfrm>
          <a:off x="1966452" y="3153696"/>
          <a:ext cx="1066800" cy="4310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686" name="Equation" r:id="rId3" imgW="457200" imgH="253800" progId="Equation.3">
                  <p:embed/>
                </p:oleObj>
              </mc:Choice>
              <mc:Fallback>
                <p:oleObj name="Equation" r:id="rId3" imgW="457200" imgH="25380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6452" y="3153696"/>
                        <a:ext cx="1066800" cy="43103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683" name="Object 3"/>
          <p:cNvGraphicFramePr>
            <a:graphicFrameLocks noChangeAspect="1"/>
          </p:cNvGraphicFramePr>
          <p:nvPr/>
        </p:nvGraphicFramePr>
        <p:xfrm>
          <a:off x="2819400" y="4109832"/>
          <a:ext cx="1066800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687" name="Equation" r:id="rId5" imgW="457200" imgH="253800" progId="Equation.3">
                  <p:embed/>
                </p:oleObj>
              </mc:Choice>
              <mc:Fallback>
                <p:oleObj name="Equation" r:id="rId5" imgW="457200" imgH="25380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4109832"/>
                        <a:ext cx="1066800" cy="4302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1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71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COMPOSITION OF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029200"/>
          </a:xfrm>
        </p:spPr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Note:</a:t>
            </a:r>
          </a:p>
          <a:p>
            <a:pPr marL="788670" lvl="1" indent="-514350">
              <a:buFont typeface="+mj-lt"/>
              <a:buAutoNum type="alphaLcParenR"/>
            </a:pPr>
            <a:r>
              <a:rPr lang="en-US" dirty="0" smtClean="0"/>
              <a:t>Composition of function is always a function.</a:t>
            </a:r>
          </a:p>
          <a:p>
            <a:pPr marL="788670" lvl="1" indent="-514350">
              <a:buNone/>
            </a:pPr>
            <a:endParaRPr lang="en-US" dirty="0" smtClean="0"/>
          </a:p>
          <a:p>
            <a:pPr marL="788670" lvl="1" indent="-514350">
              <a:buFont typeface="+mj-lt"/>
              <a:buAutoNum type="alphaLcParenR"/>
            </a:pPr>
            <a:r>
              <a:rPr lang="en-US" dirty="0" smtClean="0"/>
              <a:t>The condition to apply composition of function is </a:t>
            </a:r>
            <a:r>
              <a:rPr lang="en-US" b="1" dirty="0" smtClean="0">
                <a:solidFill>
                  <a:srgbClr val="C00000"/>
                </a:solidFill>
              </a:rPr>
              <a:t>1</a:t>
            </a:r>
            <a:r>
              <a:rPr lang="en-US" b="1" baseline="30000" dirty="0" smtClean="0">
                <a:solidFill>
                  <a:srgbClr val="C00000"/>
                </a:solidFill>
              </a:rPr>
              <a:t>st</a:t>
            </a:r>
            <a:r>
              <a:rPr lang="en-US" b="1" dirty="0" smtClean="0">
                <a:solidFill>
                  <a:srgbClr val="C00000"/>
                </a:solidFill>
              </a:rPr>
              <a:t> function range</a:t>
            </a:r>
            <a:r>
              <a:rPr lang="en-US" dirty="0" smtClean="0"/>
              <a:t> is </a:t>
            </a:r>
            <a:r>
              <a:rPr lang="en-US" b="1" dirty="0" smtClean="0">
                <a:solidFill>
                  <a:srgbClr val="C00000"/>
                </a:solidFill>
              </a:rPr>
              <a:t>2</a:t>
            </a:r>
            <a:r>
              <a:rPr lang="en-US" b="1" baseline="30000" dirty="0" smtClean="0">
                <a:solidFill>
                  <a:srgbClr val="C00000"/>
                </a:solidFill>
              </a:rPr>
              <a:t>nd</a:t>
            </a:r>
            <a:r>
              <a:rPr lang="en-US" b="1" dirty="0" smtClean="0">
                <a:solidFill>
                  <a:srgbClr val="C00000"/>
                </a:solidFill>
              </a:rPr>
              <a:t> function domain’s subset</a:t>
            </a:r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COMPOSITION OF FUNCTIONS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Let </a:t>
            </a:r>
            <a:r>
              <a:rPr lang="en-US" b="1" dirty="0" smtClean="0">
                <a:solidFill>
                  <a:srgbClr val="C00000"/>
                </a:solidFill>
              </a:rPr>
              <a:t>f: X </a:t>
            </a:r>
            <a:r>
              <a:rPr lang="en-US" b="1" dirty="0" smtClean="0">
                <a:solidFill>
                  <a:srgbClr val="C00000"/>
                </a:solidFill>
                <a:sym typeface="Symbol"/>
              </a:rPr>
              <a:t></a:t>
            </a:r>
            <a:r>
              <a:rPr lang="en-US" b="1" dirty="0" smtClean="0">
                <a:solidFill>
                  <a:srgbClr val="C00000"/>
                </a:solidFill>
              </a:rPr>
              <a:t>Y</a:t>
            </a:r>
            <a:r>
              <a:rPr lang="en-US" b="1" dirty="0" smtClean="0">
                <a:solidFill>
                  <a:srgbClr val="C00000"/>
                </a:solidFill>
                <a:sym typeface="Symbol"/>
              </a:rPr>
              <a:t></a:t>
            </a:r>
            <a:r>
              <a:rPr lang="en-US" dirty="0" smtClean="0"/>
              <a:t> and </a:t>
            </a:r>
            <a:r>
              <a:rPr lang="en-US" b="1" dirty="0" smtClean="0">
                <a:solidFill>
                  <a:srgbClr val="C00000"/>
                </a:solidFill>
              </a:rPr>
              <a:t>g: Y </a:t>
            </a:r>
            <a:r>
              <a:rPr lang="en-US" b="1" dirty="0" smtClean="0">
                <a:solidFill>
                  <a:srgbClr val="C00000"/>
                </a:solidFill>
                <a:sym typeface="Symbol"/>
              </a:rPr>
              <a:t></a:t>
            </a:r>
            <a:r>
              <a:rPr lang="en-US" b="1" dirty="0" smtClean="0">
                <a:solidFill>
                  <a:srgbClr val="C00000"/>
                </a:solidFill>
              </a:rPr>
              <a:t>Z</a:t>
            </a:r>
            <a:r>
              <a:rPr lang="en-US" dirty="0" smtClean="0"/>
              <a:t> be functions with the property that the </a:t>
            </a:r>
            <a:r>
              <a:rPr lang="en-US" b="1" dirty="0" smtClean="0">
                <a:solidFill>
                  <a:srgbClr val="C00000"/>
                </a:solidFill>
              </a:rPr>
              <a:t>range</a:t>
            </a:r>
            <a:r>
              <a:rPr lang="en-US" dirty="0" smtClean="0"/>
              <a:t> of </a:t>
            </a:r>
            <a:r>
              <a:rPr lang="en-US" b="1" dirty="0" smtClean="0">
                <a:solidFill>
                  <a:srgbClr val="C00000"/>
                </a:solidFill>
              </a:rPr>
              <a:t>f</a:t>
            </a:r>
            <a:r>
              <a:rPr lang="en-US" dirty="0" smtClean="0"/>
              <a:t> is a </a:t>
            </a:r>
            <a:r>
              <a:rPr lang="en-US" b="1" dirty="0" smtClean="0">
                <a:solidFill>
                  <a:srgbClr val="C00000"/>
                </a:solidFill>
              </a:rPr>
              <a:t>subset</a:t>
            </a:r>
            <a:r>
              <a:rPr lang="en-US" dirty="0" smtClean="0"/>
              <a:t> of the </a:t>
            </a:r>
            <a:r>
              <a:rPr lang="en-US" b="1" dirty="0" smtClean="0">
                <a:solidFill>
                  <a:srgbClr val="C00000"/>
                </a:solidFill>
              </a:rPr>
              <a:t>domain</a:t>
            </a:r>
            <a:r>
              <a:rPr lang="en-US" dirty="0" smtClean="0"/>
              <a:t> of </a:t>
            </a:r>
            <a:r>
              <a:rPr lang="en-US" b="1" dirty="0" smtClean="0">
                <a:solidFill>
                  <a:srgbClr val="C00000"/>
                </a:solidFill>
              </a:rPr>
              <a:t>g </a:t>
            </a:r>
            <a:r>
              <a:rPr lang="en-US" dirty="0" smtClean="0"/>
              <a:t>i.e. </a:t>
            </a:r>
            <a:r>
              <a:rPr lang="en-US" b="1" dirty="0" smtClean="0">
                <a:solidFill>
                  <a:srgbClr val="C00000"/>
                </a:solidFill>
              </a:rPr>
              <a:t>f(X) </a:t>
            </a:r>
            <a:r>
              <a:rPr lang="en-US" b="1" dirty="0" smtClean="0">
                <a:solidFill>
                  <a:srgbClr val="C00000"/>
                </a:solidFill>
                <a:sym typeface="Symbol"/>
              </a:rPr>
              <a:t> </a:t>
            </a:r>
            <a:r>
              <a:rPr lang="en-US" b="1" dirty="0" smtClean="0">
                <a:solidFill>
                  <a:srgbClr val="C00000"/>
                </a:solidFill>
              </a:rPr>
              <a:t>Y</a:t>
            </a:r>
            <a:r>
              <a:rPr lang="en-US" dirty="0" smtClean="0"/>
              <a:t>.</a:t>
            </a:r>
          </a:p>
          <a:p>
            <a:r>
              <a:rPr lang="en-US" dirty="0" smtClean="0"/>
              <a:t>Define a new function </a:t>
            </a:r>
            <a:r>
              <a:rPr lang="en-US" b="1" dirty="0" err="1" smtClean="0">
                <a:solidFill>
                  <a:srgbClr val="C00000"/>
                </a:solidFill>
              </a:rPr>
              <a:t>gof</a:t>
            </a:r>
            <a:r>
              <a:rPr lang="en-US" b="1" dirty="0" smtClean="0">
                <a:solidFill>
                  <a:srgbClr val="C00000"/>
                </a:solidFill>
              </a:rPr>
              <a:t>: X </a:t>
            </a:r>
            <a:r>
              <a:rPr lang="en-US" b="1" dirty="0" smtClean="0">
                <a:solidFill>
                  <a:srgbClr val="C00000"/>
                </a:solidFill>
                <a:sym typeface="Symbol"/>
              </a:rPr>
              <a:t></a:t>
            </a:r>
            <a:r>
              <a:rPr lang="en-US" b="1" dirty="0" smtClean="0">
                <a:solidFill>
                  <a:srgbClr val="C00000"/>
                </a:solidFill>
              </a:rPr>
              <a:t>Z</a:t>
            </a:r>
            <a:r>
              <a:rPr lang="en-US" dirty="0" smtClean="0"/>
              <a:t> as follows:</a:t>
            </a:r>
          </a:p>
          <a:p>
            <a:pPr>
              <a:buNone/>
            </a:pPr>
            <a:r>
              <a:rPr lang="en-US" dirty="0" smtClean="0"/>
              <a:t>	 		</a:t>
            </a:r>
            <a:r>
              <a:rPr lang="en-US" dirty="0" smtClean="0">
                <a:solidFill>
                  <a:srgbClr val="C00000"/>
                </a:solidFill>
              </a:rPr>
              <a:t>(</a:t>
            </a:r>
            <a:r>
              <a:rPr lang="en-US" dirty="0" err="1" smtClean="0">
                <a:solidFill>
                  <a:srgbClr val="C00000"/>
                </a:solidFill>
              </a:rPr>
              <a:t>gof</a:t>
            </a:r>
            <a:r>
              <a:rPr lang="en-US" dirty="0" smtClean="0">
                <a:solidFill>
                  <a:srgbClr val="C00000"/>
                </a:solidFill>
              </a:rPr>
              <a:t>)(x)</a:t>
            </a:r>
            <a:r>
              <a:rPr lang="en-US" dirty="0" smtClean="0"/>
              <a:t> = </a:t>
            </a:r>
            <a:r>
              <a:rPr lang="en-US" dirty="0" smtClean="0">
                <a:solidFill>
                  <a:srgbClr val="C00000"/>
                </a:solidFill>
              </a:rPr>
              <a:t>g(f(x))</a:t>
            </a:r>
            <a:r>
              <a:rPr lang="en-US" dirty="0" smtClean="0"/>
              <a:t>	for all </a:t>
            </a:r>
            <a:r>
              <a:rPr lang="en-US" dirty="0" smtClean="0">
                <a:solidFill>
                  <a:srgbClr val="C00000"/>
                </a:solidFill>
              </a:rPr>
              <a:t>x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 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</a:t>
            </a:r>
            <a:r>
              <a:rPr lang="en-US" dirty="0" smtClean="0"/>
              <a:t>The function </a:t>
            </a:r>
            <a:r>
              <a:rPr lang="en-US" dirty="0" err="1" smtClean="0">
                <a:solidFill>
                  <a:srgbClr val="C00000"/>
                </a:solidFill>
              </a:rPr>
              <a:t>gof</a:t>
            </a:r>
            <a:r>
              <a:rPr lang="en-US" dirty="0" smtClean="0"/>
              <a:t> is called the </a:t>
            </a:r>
            <a:r>
              <a:rPr lang="en-US" dirty="0" smtClean="0">
                <a:solidFill>
                  <a:srgbClr val="C00000"/>
                </a:solidFill>
              </a:rPr>
              <a:t>composition</a:t>
            </a:r>
            <a:r>
              <a:rPr lang="en-US" dirty="0" smtClean="0"/>
              <a:t> of </a:t>
            </a:r>
            <a:r>
              <a:rPr lang="en-US" dirty="0" smtClean="0">
                <a:solidFill>
                  <a:srgbClr val="C00000"/>
                </a:solidFill>
              </a:rPr>
              <a:t>f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C00000"/>
                </a:solidFill>
              </a:rPr>
              <a:t>g</a:t>
            </a:r>
            <a:r>
              <a:rPr lang="en-US" dirty="0" smtClean="0"/>
              <a:t>.</a:t>
            </a:r>
          </a:p>
          <a:p>
            <a:pPr>
              <a:buNone/>
            </a:pP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endParaRPr lang="en-US" dirty="0"/>
          </a:p>
        </p:txBody>
      </p:sp>
      <p:pic>
        <p:nvPicPr>
          <p:cNvPr id="7270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90600" y="3924300"/>
            <a:ext cx="7239000" cy="2552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sz="3600" b="1" u="sng" dirty="0" smtClean="0">
                <a:solidFill>
                  <a:srgbClr val="0070C0"/>
                </a:solidFill>
              </a:rPr>
              <a:t>COMPOSITION OF FUNCTIONS DEFINED BY ARROW DIAGRAMS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029200"/>
          </a:xfrm>
        </p:spPr>
        <p:txBody>
          <a:bodyPr/>
          <a:lstStyle/>
          <a:p>
            <a:r>
              <a:rPr lang="en-US" dirty="0" smtClean="0"/>
              <a:t>Let </a:t>
            </a:r>
          </a:p>
          <a:p>
            <a:pPr>
              <a:buNone/>
            </a:pPr>
            <a:r>
              <a:rPr lang="en-US" dirty="0" smtClean="0"/>
              <a:t>		</a:t>
            </a:r>
            <a:r>
              <a:rPr lang="en-US" dirty="0" smtClean="0">
                <a:solidFill>
                  <a:srgbClr val="C00000"/>
                </a:solidFill>
              </a:rPr>
              <a:t>X = {1, 2, 3}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C00000"/>
                </a:solidFill>
              </a:rPr>
              <a:t>Y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</a:t>
            </a:r>
            <a:r>
              <a:rPr lang="en-US" dirty="0" smtClean="0">
                <a:solidFill>
                  <a:srgbClr val="C00000"/>
                </a:solidFill>
              </a:rPr>
              <a:t>= {a, b, c, d}</a:t>
            </a:r>
          </a:p>
          <a:p>
            <a:pPr>
              <a:buNone/>
            </a:pPr>
            <a:r>
              <a:rPr lang="en-US" dirty="0" smtClean="0"/>
              <a:t>		</a:t>
            </a:r>
            <a:r>
              <a:rPr lang="en-US" dirty="0" smtClean="0">
                <a:solidFill>
                  <a:srgbClr val="C00000"/>
                </a:solidFill>
              </a:rPr>
              <a:t>Y = {a, b, c, d, e}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C00000"/>
                </a:solidFill>
              </a:rPr>
              <a:t>Z = {x, y, z}.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</a:t>
            </a:r>
            <a:r>
              <a:rPr lang="en-US" dirty="0" smtClean="0"/>
              <a:t>Define functions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	 </a:t>
            </a:r>
            <a:r>
              <a:rPr lang="en-US" dirty="0" smtClean="0">
                <a:solidFill>
                  <a:srgbClr val="C00000"/>
                </a:solidFill>
              </a:rPr>
              <a:t>f: X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</a:t>
            </a:r>
            <a:r>
              <a:rPr lang="en-US" dirty="0" smtClean="0">
                <a:solidFill>
                  <a:srgbClr val="C00000"/>
                </a:solidFill>
              </a:rPr>
              <a:t>Y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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C00000"/>
                </a:solidFill>
              </a:rPr>
              <a:t>g: Y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</a:t>
            </a:r>
            <a:r>
              <a:rPr lang="en-US" dirty="0" smtClean="0">
                <a:solidFill>
                  <a:srgbClr val="C00000"/>
                </a:solidFill>
              </a:rPr>
              <a:t>Z 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by the arrow diagrams:</a:t>
            </a:r>
          </a:p>
          <a:p>
            <a:pPr>
              <a:buNone/>
            </a:pPr>
            <a:endParaRPr 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373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96301" y="45720"/>
            <a:ext cx="8190499" cy="65836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Let </a:t>
            </a:r>
            <a:r>
              <a:rPr lang="en-US" dirty="0" smtClean="0">
                <a:solidFill>
                  <a:srgbClr val="C00000"/>
                </a:solidFill>
              </a:rPr>
              <a:t>A = {1, 2, 3, 4, 5}</a:t>
            </a:r>
            <a:r>
              <a:rPr lang="en-US" dirty="0" smtClean="0"/>
              <a:t> and we define functions </a:t>
            </a:r>
            <a:r>
              <a:rPr lang="en-US" dirty="0" smtClean="0">
                <a:solidFill>
                  <a:srgbClr val="C00000"/>
                </a:solidFill>
              </a:rPr>
              <a:t>f: A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</a:t>
            </a:r>
            <a:r>
              <a:rPr lang="en-US" dirty="0" smtClean="0">
                <a:solidFill>
                  <a:srgbClr val="C00000"/>
                </a:solidFill>
              </a:rPr>
              <a:t>A</a:t>
            </a:r>
            <a:r>
              <a:rPr lang="en-US" dirty="0" smtClean="0"/>
              <a:t> and then </a:t>
            </a:r>
            <a:r>
              <a:rPr lang="en-US" dirty="0" smtClean="0">
                <a:solidFill>
                  <a:srgbClr val="C00000"/>
                </a:solidFill>
              </a:rPr>
              <a:t>g: A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</a:t>
            </a:r>
            <a:r>
              <a:rPr lang="en-US" dirty="0" smtClean="0">
                <a:solidFill>
                  <a:srgbClr val="C00000"/>
                </a:solidFill>
              </a:rPr>
              <a:t>A </a:t>
            </a:r>
            <a:r>
              <a:rPr lang="en-US" dirty="0" smtClean="0"/>
              <a:t>: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f(1)=3</a:t>
            </a:r>
            <a:r>
              <a:rPr lang="en-US" dirty="0" smtClean="0"/>
              <a:t>,     </a:t>
            </a:r>
            <a:r>
              <a:rPr lang="en-US" dirty="0" smtClean="0">
                <a:solidFill>
                  <a:srgbClr val="C00000"/>
                </a:solidFill>
              </a:rPr>
              <a:t>f(2)=5</a:t>
            </a:r>
            <a:r>
              <a:rPr lang="en-US" dirty="0" smtClean="0"/>
              <a:t>,     </a:t>
            </a:r>
            <a:r>
              <a:rPr lang="en-US" dirty="0" smtClean="0">
                <a:solidFill>
                  <a:srgbClr val="C00000"/>
                </a:solidFill>
              </a:rPr>
              <a:t>f(3)=3</a:t>
            </a:r>
            <a:r>
              <a:rPr lang="en-US" dirty="0" smtClean="0"/>
              <a:t>,      </a:t>
            </a:r>
            <a:r>
              <a:rPr lang="en-US" dirty="0" smtClean="0">
                <a:solidFill>
                  <a:srgbClr val="C00000"/>
                </a:solidFill>
              </a:rPr>
              <a:t>f(4)=1</a:t>
            </a:r>
            <a:r>
              <a:rPr lang="en-US" dirty="0" smtClean="0"/>
              <a:t>,	  </a:t>
            </a:r>
            <a:r>
              <a:rPr lang="en-US" dirty="0" smtClean="0">
                <a:solidFill>
                  <a:srgbClr val="C00000"/>
                </a:solidFill>
              </a:rPr>
              <a:t>f(5)=2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C00000"/>
                </a:solidFill>
              </a:rPr>
              <a:t>g(1)=4</a:t>
            </a:r>
            <a:r>
              <a:rPr lang="en-US" dirty="0" smtClean="0"/>
              <a:t>,    </a:t>
            </a:r>
            <a:r>
              <a:rPr lang="en-US" dirty="0" smtClean="0">
                <a:solidFill>
                  <a:srgbClr val="C00000"/>
                </a:solidFill>
              </a:rPr>
              <a:t>g(2)=1</a:t>
            </a:r>
            <a:r>
              <a:rPr lang="en-US" dirty="0" smtClean="0"/>
              <a:t>,     </a:t>
            </a:r>
            <a:r>
              <a:rPr lang="en-US" dirty="0" smtClean="0">
                <a:solidFill>
                  <a:srgbClr val="C00000"/>
                </a:solidFill>
              </a:rPr>
              <a:t>g(3)=1</a:t>
            </a:r>
            <a:r>
              <a:rPr lang="en-US" dirty="0" smtClean="0"/>
              <a:t>,     </a:t>
            </a:r>
            <a:r>
              <a:rPr lang="en-US" dirty="0" smtClean="0">
                <a:solidFill>
                  <a:srgbClr val="C00000"/>
                </a:solidFill>
              </a:rPr>
              <a:t>g(4)=2</a:t>
            </a:r>
            <a:r>
              <a:rPr lang="en-US" dirty="0" smtClean="0"/>
              <a:t>,     </a:t>
            </a:r>
            <a:r>
              <a:rPr lang="en-US" dirty="0" smtClean="0">
                <a:solidFill>
                  <a:srgbClr val="C00000"/>
                </a:solidFill>
              </a:rPr>
              <a:t>g(5)=3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Find the composition functions </a:t>
            </a:r>
            <a:r>
              <a:rPr lang="en-US" b="1" dirty="0" smtClean="0">
                <a:solidFill>
                  <a:srgbClr val="C00000"/>
                </a:solidFill>
              </a:rPr>
              <a:t>fog</a:t>
            </a:r>
            <a:r>
              <a:rPr lang="en-US" dirty="0" smtClean="0"/>
              <a:t> and </a:t>
            </a:r>
            <a:r>
              <a:rPr lang="en-US" b="1" dirty="0" err="1" smtClean="0">
                <a:solidFill>
                  <a:srgbClr val="C00000"/>
                </a:solidFill>
              </a:rPr>
              <a:t>gof</a:t>
            </a:r>
            <a:r>
              <a:rPr lang="en-US" dirty="0" smtClean="0"/>
              <a:t>.</a:t>
            </a:r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 smtClean="0"/>
              <a:t> </a:t>
            </a:r>
            <a:br>
              <a:rPr lang="en-US" dirty="0" smtClean="0"/>
            </a:br>
            <a:r>
              <a:rPr lang="en-US" sz="3600" b="1" u="sng" dirty="0" smtClean="0">
                <a:solidFill>
                  <a:srgbClr val="0070C0"/>
                </a:solidFill>
              </a:rP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We have the definition of the </a:t>
            </a:r>
            <a:r>
              <a:rPr lang="en-US" dirty="0" smtClean="0">
                <a:solidFill>
                  <a:srgbClr val="C00000"/>
                </a:solidFill>
              </a:rPr>
              <a:t>composition of functions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C00000"/>
                </a:solidFill>
              </a:rPr>
              <a:t>compute</a:t>
            </a:r>
            <a:r>
              <a:rPr lang="en-US" dirty="0" smtClean="0"/>
              <a:t>:</a:t>
            </a:r>
          </a:p>
          <a:p>
            <a:pPr>
              <a:buNone/>
            </a:pPr>
            <a:r>
              <a:rPr lang="en-US" dirty="0" smtClean="0"/>
              <a:t>	f(1)=3,	f(2)=5,	       f(3)=3,	   f(4)=1,	f(5)=2</a:t>
            </a:r>
          </a:p>
          <a:p>
            <a:pPr>
              <a:buNone/>
            </a:pPr>
            <a:r>
              <a:rPr lang="en-US" dirty="0" smtClean="0"/>
              <a:t>	g(1)=4,       g(2)=1,       g(3)=1,      g(4)=2,       g(5)=3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smtClean="0">
                <a:solidFill>
                  <a:srgbClr val="C00000"/>
                </a:solidFill>
              </a:rPr>
              <a:t>(fog) (1) = f(g(1)) = f(4) = 1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smtClean="0">
                <a:solidFill>
                  <a:srgbClr val="C00000"/>
                </a:solidFill>
              </a:rPr>
              <a:t>(fog) (2) = f(g(2)) = f(1) = 3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smtClean="0">
                <a:solidFill>
                  <a:srgbClr val="C00000"/>
                </a:solidFill>
              </a:rPr>
              <a:t>(fog) (3) = f(g(3)) = f(1) = 3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smtClean="0">
                <a:solidFill>
                  <a:srgbClr val="C00000"/>
                </a:solidFill>
              </a:rPr>
              <a:t>(fog) (4) = f(g(4)) = f(2) = 5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smtClean="0">
                <a:solidFill>
                  <a:srgbClr val="C00000"/>
                </a:solidFill>
              </a:rPr>
              <a:t>(fog) (5) = f(g(5)) = f(3) = 3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Also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smtClean="0">
                <a:solidFill>
                  <a:srgbClr val="C00000"/>
                </a:solidFill>
              </a:rPr>
              <a:t>(</a:t>
            </a:r>
            <a:r>
              <a:rPr lang="en-US" dirty="0" err="1" smtClean="0">
                <a:solidFill>
                  <a:srgbClr val="C00000"/>
                </a:solidFill>
              </a:rPr>
              <a:t>gof</a:t>
            </a:r>
            <a:r>
              <a:rPr lang="en-US" dirty="0" smtClean="0">
                <a:solidFill>
                  <a:srgbClr val="C00000"/>
                </a:solidFill>
              </a:rPr>
              <a:t>) (1) = g(f(1)) = g(3) = 1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		(</a:t>
            </a:r>
            <a:r>
              <a:rPr lang="en-US" dirty="0" err="1" smtClean="0">
                <a:solidFill>
                  <a:srgbClr val="C00000"/>
                </a:solidFill>
              </a:rPr>
              <a:t>gof</a:t>
            </a:r>
            <a:r>
              <a:rPr lang="en-US" dirty="0" smtClean="0">
                <a:solidFill>
                  <a:srgbClr val="C00000"/>
                </a:solidFill>
              </a:rPr>
              <a:t>) (2) = g(f(2)) = g(5) = 3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		(</a:t>
            </a:r>
            <a:r>
              <a:rPr lang="en-US" dirty="0" err="1" smtClean="0">
                <a:solidFill>
                  <a:srgbClr val="C00000"/>
                </a:solidFill>
              </a:rPr>
              <a:t>gof</a:t>
            </a:r>
            <a:r>
              <a:rPr lang="en-US" dirty="0" smtClean="0">
                <a:solidFill>
                  <a:srgbClr val="C00000"/>
                </a:solidFill>
              </a:rPr>
              <a:t>) (3) = g(f(3)) = g(3) = 1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		(</a:t>
            </a:r>
            <a:r>
              <a:rPr lang="en-US" dirty="0" err="1" smtClean="0">
                <a:solidFill>
                  <a:srgbClr val="C00000"/>
                </a:solidFill>
              </a:rPr>
              <a:t>gof</a:t>
            </a:r>
            <a:r>
              <a:rPr lang="en-US" dirty="0" smtClean="0">
                <a:solidFill>
                  <a:srgbClr val="C00000"/>
                </a:solidFill>
              </a:rPr>
              <a:t>) (4) = g(f(4)) = g(1) = 4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</a:rPr>
              <a:t>			(</a:t>
            </a:r>
            <a:r>
              <a:rPr lang="en-US" dirty="0" err="1" smtClean="0">
                <a:solidFill>
                  <a:srgbClr val="C00000"/>
                </a:solidFill>
              </a:rPr>
              <a:t>gof</a:t>
            </a:r>
            <a:r>
              <a:rPr lang="en-US" dirty="0" smtClean="0">
                <a:solidFill>
                  <a:srgbClr val="C00000"/>
                </a:solidFill>
              </a:rPr>
              <a:t>) (5) = g(f(5)) = g(2) = 1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b="1" dirty="0" smtClean="0"/>
              <a:t>	</a:t>
            </a:r>
            <a:r>
              <a:rPr lang="en-US" b="1" u="sng" dirty="0" smtClean="0">
                <a:solidFill>
                  <a:srgbClr val="C00000"/>
                </a:solidFill>
              </a:rPr>
              <a:t>REMARK:</a:t>
            </a:r>
            <a:r>
              <a:rPr lang="en-US" dirty="0" smtClean="0"/>
              <a:t> The functions </a:t>
            </a:r>
            <a:r>
              <a:rPr lang="en-US" dirty="0" smtClean="0">
                <a:solidFill>
                  <a:srgbClr val="C00000"/>
                </a:solidFill>
              </a:rPr>
              <a:t>fog</a:t>
            </a:r>
            <a:r>
              <a:rPr lang="en-US" dirty="0" smtClean="0"/>
              <a:t> and </a:t>
            </a:r>
            <a:r>
              <a:rPr lang="en-US" dirty="0" err="1" smtClean="0">
                <a:solidFill>
                  <a:srgbClr val="C00000"/>
                </a:solidFill>
              </a:rPr>
              <a:t>gof</a:t>
            </a:r>
            <a:r>
              <a:rPr lang="en-US" dirty="0" smtClean="0"/>
              <a:t> are not equal.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COMPOSITION OF FUNCTIONS DEFINED BY FORMULAS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Let </a:t>
            </a:r>
            <a:r>
              <a:rPr lang="en-US" dirty="0" smtClean="0">
                <a:solidFill>
                  <a:srgbClr val="C00000"/>
                </a:solidFill>
              </a:rPr>
              <a:t>f: Z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</a:t>
            </a:r>
            <a:r>
              <a:rPr lang="en-US" dirty="0" smtClean="0">
                <a:solidFill>
                  <a:srgbClr val="C00000"/>
                </a:solidFill>
              </a:rPr>
              <a:t>Z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C00000"/>
                </a:solidFill>
              </a:rPr>
              <a:t>g: Z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</a:t>
            </a:r>
            <a:r>
              <a:rPr lang="en-US" dirty="0" smtClean="0">
                <a:solidFill>
                  <a:srgbClr val="C00000"/>
                </a:solidFill>
              </a:rPr>
              <a:t> Z </a:t>
            </a:r>
            <a:r>
              <a:rPr lang="en-US" dirty="0" smtClean="0"/>
              <a:t>be defined by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		</a:t>
            </a:r>
            <a:r>
              <a:rPr lang="pt-BR" dirty="0" smtClean="0">
                <a:solidFill>
                  <a:srgbClr val="C00000"/>
                </a:solidFill>
              </a:rPr>
              <a:t>f(n) = n+1</a:t>
            </a:r>
            <a:r>
              <a:rPr lang="pt-BR" dirty="0" smtClean="0"/>
              <a:t>	for </a:t>
            </a:r>
            <a:r>
              <a:rPr lang="pt-BR" dirty="0" smtClean="0">
                <a:solidFill>
                  <a:srgbClr val="C00000"/>
                </a:solidFill>
              </a:rPr>
              <a:t>n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pt-BR" dirty="0" smtClean="0">
                <a:solidFill>
                  <a:srgbClr val="C00000"/>
                </a:solidFill>
              </a:rPr>
              <a:t>Z</a:t>
            </a: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pt-BR" dirty="0" smtClean="0"/>
              <a:t>	and 		</a:t>
            </a:r>
            <a:r>
              <a:rPr lang="pt-BR" dirty="0" smtClean="0">
                <a:solidFill>
                  <a:srgbClr val="C00000"/>
                </a:solidFill>
              </a:rPr>
              <a:t>g(n) = n</a:t>
            </a:r>
            <a:r>
              <a:rPr lang="pt-BR" baseline="30000" dirty="0" smtClean="0">
                <a:solidFill>
                  <a:srgbClr val="C00000"/>
                </a:solidFill>
              </a:rPr>
              <a:t>2</a:t>
            </a:r>
            <a:r>
              <a:rPr lang="pt-BR" dirty="0" smtClean="0"/>
              <a:t>	for </a:t>
            </a:r>
            <a:r>
              <a:rPr lang="pt-BR" dirty="0" smtClean="0">
                <a:solidFill>
                  <a:srgbClr val="C00000"/>
                </a:solidFill>
              </a:rPr>
              <a:t>n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</a:t>
            </a:r>
            <a:r>
              <a:rPr lang="pt-BR" dirty="0" smtClean="0">
                <a:solidFill>
                  <a:srgbClr val="C00000"/>
                </a:solidFill>
              </a:rPr>
              <a:t>Z</a:t>
            </a: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a.	Find the compositions </a:t>
            </a:r>
            <a:r>
              <a:rPr lang="en-US" dirty="0" err="1" smtClean="0">
                <a:solidFill>
                  <a:srgbClr val="C00000"/>
                </a:solidFill>
              </a:rPr>
              <a:t>gof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C00000"/>
                </a:solidFill>
              </a:rPr>
              <a:t>fog</a:t>
            </a:r>
            <a:r>
              <a:rPr lang="en-US" dirty="0" smtClean="0"/>
              <a:t>.</a:t>
            </a:r>
          </a:p>
          <a:p>
            <a:pPr>
              <a:buNone/>
            </a:pPr>
            <a:r>
              <a:rPr lang="en-US" dirty="0" smtClean="0"/>
              <a:t>	b.	Is </a:t>
            </a:r>
            <a:r>
              <a:rPr lang="en-US" dirty="0" err="1" smtClean="0">
                <a:solidFill>
                  <a:srgbClr val="C00000"/>
                </a:solidFill>
              </a:rPr>
              <a:t>gof</a:t>
            </a:r>
            <a:r>
              <a:rPr lang="en-US" dirty="0" smtClean="0">
                <a:solidFill>
                  <a:srgbClr val="C00000"/>
                </a:solidFill>
              </a:rPr>
              <a:t> = fog</a:t>
            </a:r>
            <a:r>
              <a:rPr lang="en-US" dirty="0" smtClean="0"/>
              <a:t>?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514350" indent="-514350">
              <a:buAutoNum type="alphaLcPeriod"/>
            </a:pPr>
            <a:r>
              <a:rPr lang="en-US" dirty="0" smtClean="0"/>
              <a:t>By definition of the composition of functions</a:t>
            </a:r>
          </a:p>
          <a:p>
            <a:pPr marL="514350" indent="-514350"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            </a:t>
            </a:r>
            <a:r>
              <a:rPr lang="pt-BR" dirty="0" smtClean="0"/>
              <a:t>(gof) (n) = </a:t>
            </a:r>
            <a:r>
              <a:rPr lang="pt-BR" dirty="0" smtClean="0">
                <a:solidFill>
                  <a:srgbClr val="C00000"/>
                </a:solidFill>
              </a:rPr>
              <a:t>g(f(n))</a:t>
            </a:r>
          </a:p>
          <a:p>
            <a:pPr>
              <a:buNone/>
            </a:pPr>
            <a:r>
              <a:rPr lang="pt-BR" dirty="0" smtClean="0"/>
              <a:t>			     = </a:t>
            </a:r>
            <a:r>
              <a:rPr lang="pt-BR" dirty="0" smtClean="0">
                <a:solidFill>
                  <a:srgbClr val="C00000"/>
                </a:solidFill>
              </a:rPr>
              <a:t>g(n+1)</a:t>
            </a:r>
            <a:r>
              <a:rPr lang="pt-BR" dirty="0" smtClean="0"/>
              <a:t> 		(Since </a:t>
            </a:r>
            <a:r>
              <a:rPr lang="pt-BR" dirty="0" smtClean="0">
                <a:solidFill>
                  <a:srgbClr val="C00000"/>
                </a:solidFill>
              </a:rPr>
              <a:t>f(n) = n+1</a:t>
            </a:r>
            <a:r>
              <a:rPr lang="pt-BR" dirty="0" smtClean="0"/>
              <a:t>)</a:t>
            </a:r>
          </a:p>
          <a:p>
            <a:pPr>
              <a:buNone/>
            </a:pPr>
            <a:r>
              <a:rPr lang="pt-BR" dirty="0" smtClean="0"/>
              <a:t>			     = </a:t>
            </a:r>
            <a:r>
              <a:rPr lang="pt-BR" dirty="0" smtClean="0">
                <a:solidFill>
                  <a:srgbClr val="C00000"/>
                </a:solidFill>
              </a:rPr>
              <a:t>(n+1)</a:t>
            </a:r>
            <a:r>
              <a:rPr lang="pt-BR" baseline="30000" dirty="0" smtClean="0">
                <a:solidFill>
                  <a:srgbClr val="C00000"/>
                </a:solidFill>
              </a:rPr>
              <a:t>2</a:t>
            </a:r>
            <a:r>
              <a:rPr lang="pt-BR" dirty="0" smtClean="0">
                <a:solidFill>
                  <a:srgbClr val="C00000"/>
                </a:solidFill>
              </a:rPr>
              <a:t> </a:t>
            </a:r>
            <a:r>
              <a:rPr lang="pt-BR" dirty="0" smtClean="0"/>
              <a:t>		(Since </a:t>
            </a:r>
            <a:r>
              <a:rPr lang="pt-BR" dirty="0" smtClean="0">
                <a:solidFill>
                  <a:srgbClr val="C00000"/>
                </a:solidFill>
              </a:rPr>
              <a:t>g(n) = n</a:t>
            </a:r>
            <a:r>
              <a:rPr lang="pt-BR" baseline="30000" dirty="0" smtClean="0">
                <a:solidFill>
                  <a:srgbClr val="C00000"/>
                </a:solidFill>
              </a:rPr>
              <a:t>2</a:t>
            </a:r>
            <a:r>
              <a:rPr lang="pt-BR" dirty="0" smtClean="0"/>
              <a:t>)</a:t>
            </a:r>
          </a:p>
          <a:p>
            <a:pPr>
              <a:buNone/>
            </a:pPr>
            <a:endParaRPr lang="pt-BR" dirty="0" smtClean="0"/>
          </a:p>
          <a:p>
            <a:pPr>
              <a:buNone/>
            </a:pPr>
            <a:r>
              <a:rPr lang="pt-BR" dirty="0" smtClean="0"/>
              <a:t>		 </a:t>
            </a:r>
            <a:r>
              <a:rPr lang="pt-BR" dirty="0" smtClean="0">
                <a:solidFill>
                  <a:srgbClr val="C00000"/>
                </a:solidFill>
              </a:rPr>
              <a:t>(gof) (n) =</a:t>
            </a:r>
            <a:r>
              <a:rPr lang="pt-BR" dirty="0" smtClean="0"/>
              <a:t> </a:t>
            </a:r>
            <a:r>
              <a:rPr lang="pt-BR" dirty="0" smtClean="0">
                <a:solidFill>
                  <a:srgbClr val="C00000"/>
                </a:solidFill>
              </a:rPr>
              <a:t>(n+1)</a:t>
            </a:r>
            <a:r>
              <a:rPr lang="pt-BR" baseline="30000" dirty="0" smtClean="0">
                <a:solidFill>
                  <a:srgbClr val="C00000"/>
                </a:solidFill>
              </a:rPr>
              <a:t>2 </a:t>
            </a:r>
            <a:r>
              <a:rPr lang="pt-BR" dirty="0" smtClean="0"/>
              <a:t>		for all n </a:t>
            </a:r>
            <a:r>
              <a:rPr lang="en-US" dirty="0" smtClean="0">
                <a:sym typeface="Symbol"/>
              </a:rPr>
              <a:t></a:t>
            </a:r>
            <a:r>
              <a:rPr lang="pt-BR" dirty="0" smtClean="0"/>
              <a:t>Z and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pt-BR" dirty="0" smtClean="0"/>
              <a:t>		</a:t>
            </a:r>
            <a:r>
              <a:rPr lang="pt-BR" dirty="0" smtClean="0">
                <a:solidFill>
                  <a:srgbClr val="C00000"/>
                </a:solidFill>
              </a:rPr>
              <a:t>(fog) (n) = f(g(n)) </a:t>
            </a:r>
          </a:p>
          <a:p>
            <a:pPr>
              <a:buNone/>
            </a:pPr>
            <a:r>
              <a:rPr lang="pt-BR" dirty="0" smtClean="0"/>
              <a:t>			(By definition of composition of function)</a:t>
            </a:r>
          </a:p>
          <a:p>
            <a:pPr>
              <a:buNone/>
            </a:pPr>
            <a:r>
              <a:rPr lang="pt-BR" dirty="0" smtClean="0"/>
              <a:t>			   </a:t>
            </a:r>
            <a:r>
              <a:rPr lang="pt-BR" dirty="0" smtClean="0">
                <a:solidFill>
                  <a:srgbClr val="C00000"/>
                </a:solidFill>
              </a:rPr>
              <a:t>= f(n</a:t>
            </a:r>
            <a:r>
              <a:rPr lang="pt-BR" baseline="30000" dirty="0" smtClean="0">
                <a:solidFill>
                  <a:srgbClr val="C00000"/>
                </a:solidFill>
              </a:rPr>
              <a:t>2</a:t>
            </a:r>
            <a:r>
              <a:rPr lang="pt-BR" dirty="0" smtClean="0">
                <a:solidFill>
                  <a:srgbClr val="C00000"/>
                </a:solidFill>
              </a:rPr>
              <a:t>)</a:t>
            </a:r>
            <a:r>
              <a:rPr lang="pt-BR" dirty="0" smtClean="0"/>
              <a:t>	(Since </a:t>
            </a:r>
            <a:r>
              <a:rPr lang="pt-BR" dirty="0" smtClean="0">
                <a:solidFill>
                  <a:srgbClr val="C00000"/>
                </a:solidFill>
              </a:rPr>
              <a:t>g(n) = n</a:t>
            </a:r>
            <a:r>
              <a:rPr lang="pt-BR" baseline="30000" dirty="0" smtClean="0">
                <a:solidFill>
                  <a:srgbClr val="C00000"/>
                </a:solidFill>
              </a:rPr>
              <a:t>2</a:t>
            </a:r>
            <a:r>
              <a:rPr lang="pt-BR" dirty="0" smtClean="0"/>
              <a:t>)</a:t>
            </a:r>
          </a:p>
          <a:p>
            <a:pPr>
              <a:buNone/>
            </a:pPr>
            <a:r>
              <a:rPr lang="pt-BR" dirty="0" smtClean="0"/>
              <a:t>                       </a:t>
            </a:r>
            <a:r>
              <a:rPr lang="pt-BR" dirty="0" smtClean="0">
                <a:solidFill>
                  <a:srgbClr val="C00000"/>
                </a:solidFill>
              </a:rPr>
              <a:t>= n</a:t>
            </a:r>
            <a:r>
              <a:rPr lang="pt-BR" baseline="30000" dirty="0" smtClean="0">
                <a:solidFill>
                  <a:srgbClr val="C00000"/>
                </a:solidFill>
              </a:rPr>
              <a:t>2</a:t>
            </a:r>
            <a:r>
              <a:rPr lang="pt-BR" dirty="0" smtClean="0">
                <a:solidFill>
                  <a:srgbClr val="C00000"/>
                </a:solidFill>
              </a:rPr>
              <a:t>+1 </a:t>
            </a:r>
            <a:r>
              <a:rPr lang="pt-BR" dirty="0" smtClean="0"/>
              <a:t>	(Since </a:t>
            </a:r>
            <a:r>
              <a:rPr lang="pt-BR" dirty="0" smtClean="0">
                <a:solidFill>
                  <a:srgbClr val="C00000"/>
                </a:solidFill>
              </a:rPr>
              <a:t>f(n) = n+1</a:t>
            </a:r>
            <a:r>
              <a:rPr lang="pt-BR" dirty="0" smtClean="0"/>
              <a:t>)</a:t>
            </a:r>
          </a:p>
          <a:p>
            <a:pPr>
              <a:buNone/>
            </a:pPr>
            <a:endParaRPr lang="pt-BR" dirty="0" smtClean="0"/>
          </a:p>
          <a:p>
            <a:pPr>
              <a:buNone/>
            </a:pPr>
            <a:r>
              <a:rPr lang="pt-BR" dirty="0" smtClean="0"/>
              <a:t>		</a:t>
            </a:r>
            <a:r>
              <a:rPr lang="pt-BR" dirty="0" smtClean="0">
                <a:solidFill>
                  <a:srgbClr val="C00000"/>
                </a:solidFill>
              </a:rPr>
              <a:t> (fog) (n) = n</a:t>
            </a:r>
            <a:r>
              <a:rPr lang="pt-BR" baseline="30000" dirty="0" smtClean="0">
                <a:solidFill>
                  <a:srgbClr val="C00000"/>
                </a:solidFill>
              </a:rPr>
              <a:t>2</a:t>
            </a:r>
            <a:r>
              <a:rPr lang="pt-BR" dirty="0" smtClean="0">
                <a:solidFill>
                  <a:srgbClr val="C00000"/>
                </a:solidFill>
              </a:rPr>
              <a:t>+1</a:t>
            </a:r>
            <a:r>
              <a:rPr lang="pt-BR" dirty="0" smtClean="0"/>
              <a:t>		for all n </a:t>
            </a:r>
            <a:r>
              <a:rPr lang="en-US" dirty="0" smtClean="0">
                <a:sym typeface="Symbol"/>
              </a:rPr>
              <a:t></a:t>
            </a:r>
            <a:r>
              <a:rPr lang="pt-BR" dirty="0" smtClean="0"/>
              <a:t>Z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514350" indent="-514350">
              <a:buFont typeface="Wingdings 3"/>
              <a:buAutoNum type="alphaLcPeriod" startAt="2"/>
            </a:pPr>
            <a:r>
              <a:rPr lang="en-US" dirty="0" smtClean="0"/>
              <a:t>Is </a:t>
            </a:r>
            <a:r>
              <a:rPr lang="en-US" dirty="0" err="1" smtClean="0">
                <a:solidFill>
                  <a:srgbClr val="C00000"/>
                </a:solidFill>
              </a:rPr>
              <a:t>gof</a:t>
            </a:r>
            <a:r>
              <a:rPr lang="en-US" dirty="0" smtClean="0">
                <a:solidFill>
                  <a:srgbClr val="C00000"/>
                </a:solidFill>
              </a:rPr>
              <a:t> = fog</a:t>
            </a:r>
            <a:r>
              <a:rPr lang="en-US" dirty="0" smtClean="0"/>
              <a:t>?</a:t>
            </a:r>
          </a:p>
          <a:p>
            <a:pPr marL="514350" indent="-514350">
              <a:buNone/>
            </a:pPr>
            <a:r>
              <a:rPr lang="en-US" dirty="0" smtClean="0"/>
              <a:t>	In this case,</a:t>
            </a:r>
          </a:p>
          <a:p>
            <a:pPr marL="514350" indent="-514350">
              <a:buNone/>
            </a:pPr>
            <a:r>
              <a:rPr lang="en-US" dirty="0" smtClean="0"/>
              <a:t>	For </a:t>
            </a:r>
            <a:r>
              <a:rPr lang="en-US" dirty="0" smtClean="0">
                <a:solidFill>
                  <a:srgbClr val="C00000"/>
                </a:solidFill>
              </a:rPr>
              <a:t>n = 1</a:t>
            </a:r>
          </a:p>
          <a:p>
            <a:pPr marL="514350" indent="-514350">
              <a:buNone/>
            </a:pPr>
            <a:r>
              <a:rPr lang="en-US" dirty="0" smtClean="0"/>
              <a:t>			</a:t>
            </a:r>
            <a:r>
              <a:rPr lang="en-US" dirty="0" smtClean="0">
                <a:solidFill>
                  <a:srgbClr val="C00000"/>
                </a:solidFill>
              </a:rPr>
              <a:t>(</a:t>
            </a:r>
            <a:r>
              <a:rPr lang="en-US" dirty="0" err="1" smtClean="0">
                <a:solidFill>
                  <a:srgbClr val="C00000"/>
                </a:solidFill>
              </a:rPr>
              <a:t>gof</a:t>
            </a:r>
            <a:r>
              <a:rPr lang="en-US" dirty="0" smtClean="0">
                <a:solidFill>
                  <a:srgbClr val="C00000"/>
                </a:solidFill>
              </a:rPr>
              <a:t>)(1) = g(f(1))</a:t>
            </a:r>
          </a:p>
          <a:p>
            <a:pPr marL="514350" indent="-514350">
              <a:buNone/>
            </a:pPr>
            <a:r>
              <a:rPr lang="en-US" dirty="0" smtClean="0"/>
              <a:t>				  </a:t>
            </a:r>
            <a:r>
              <a:rPr lang="en-US" dirty="0" smtClean="0">
                <a:solidFill>
                  <a:srgbClr val="C00000"/>
                </a:solidFill>
              </a:rPr>
              <a:t>= g(1 + 1)</a:t>
            </a:r>
            <a:r>
              <a:rPr lang="en-US" baseline="30000" dirty="0" smtClean="0"/>
              <a:t> 	</a:t>
            </a:r>
            <a:r>
              <a:rPr lang="pt-BR" dirty="0" smtClean="0"/>
              <a:t>(Since </a:t>
            </a:r>
            <a:r>
              <a:rPr lang="pt-BR" dirty="0" smtClean="0">
                <a:solidFill>
                  <a:srgbClr val="C00000"/>
                </a:solidFill>
              </a:rPr>
              <a:t>f(n) = n+1</a:t>
            </a:r>
            <a:r>
              <a:rPr lang="pt-BR" dirty="0" smtClean="0"/>
              <a:t>)</a:t>
            </a:r>
            <a:endParaRPr lang="en-US" baseline="30000" dirty="0" smtClean="0"/>
          </a:p>
          <a:p>
            <a:pPr marL="514350" indent="-514350">
              <a:buNone/>
            </a:pPr>
            <a:r>
              <a:rPr lang="en-US" baseline="30000" dirty="0" smtClean="0"/>
              <a:t>				 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C00000"/>
                </a:solidFill>
              </a:rPr>
              <a:t>= (1 + 1)</a:t>
            </a:r>
            <a:r>
              <a:rPr lang="en-US" baseline="30000" dirty="0" smtClean="0">
                <a:solidFill>
                  <a:srgbClr val="C00000"/>
                </a:solidFill>
              </a:rPr>
              <a:t> 2</a:t>
            </a:r>
            <a:r>
              <a:rPr lang="en-US" baseline="30000" dirty="0" smtClean="0"/>
              <a:t>	</a:t>
            </a:r>
            <a:r>
              <a:rPr lang="pt-BR" dirty="0" smtClean="0"/>
              <a:t>(Since </a:t>
            </a:r>
            <a:r>
              <a:rPr lang="pt-BR" dirty="0" smtClean="0">
                <a:solidFill>
                  <a:srgbClr val="C00000"/>
                </a:solidFill>
              </a:rPr>
              <a:t>g(n) = n</a:t>
            </a:r>
            <a:r>
              <a:rPr lang="pt-BR" baseline="30000" dirty="0" smtClean="0">
                <a:solidFill>
                  <a:srgbClr val="C00000"/>
                </a:solidFill>
              </a:rPr>
              <a:t>2</a:t>
            </a:r>
            <a:r>
              <a:rPr lang="pt-BR" dirty="0" smtClean="0"/>
              <a:t>)</a:t>
            </a:r>
          </a:p>
          <a:p>
            <a:pPr marL="514350" indent="-514350">
              <a:buNone/>
            </a:pPr>
            <a:endParaRPr lang="en-US" baseline="30000" dirty="0" smtClean="0"/>
          </a:p>
          <a:p>
            <a:pPr marL="514350" indent="-514350">
              <a:buNone/>
            </a:pPr>
            <a:r>
              <a:rPr lang="en-US" baseline="30000" dirty="0" smtClean="0"/>
              <a:t>				</a:t>
            </a:r>
            <a:r>
              <a:rPr lang="en-US" dirty="0" smtClean="0"/>
              <a:t>  </a:t>
            </a:r>
            <a:r>
              <a:rPr lang="en-US" dirty="0" smtClean="0">
                <a:solidFill>
                  <a:srgbClr val="C00000"/>
                </a:solidFill>
              </a:rPr>
              <a:t>= 4</a:t>
            </a:r>
            <a:r>
              <a:rPr lang="en-US" dirty="0" smtClean="0"/>
              <a:t>  where as</a:t>
            </a:r>
          </a:p>
          <a:p>
            <a:pPr marL="514350" indent="-514350">
              <a:buNone/>
            </a:pPr>
            <a:r>
              <a:rPr lang="en-US" dirty="0" smtClean="0"/>
              <a:t> 			</a:t>
            </a:r>
            <a:r>
              <a:rPr lang="en-US" dirty="0" smtClean="0">
                <a:solidFill>
                  <a:srgbClr val="C00000"/>
                </a:solidFill>
              </a:rPr>
              <a:t>(fog)(1) = f(g(1))=1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+ 1 = 2</a:t>
            </a:r>
          </a:p>
          <a:p>
            <a:pPr marL="514350" indent="-514350">
              <a:buNone/>
            </a:pPr>
            <a:r>
              <a:rPr lang="en-US" dirty="0" smtClean="0"/>
              <a:t>	 		Thus 	</a:t>
            </a:r>
            <a:r>
              <a:rPr lang="en-US" dirty="0" smtClean="0">
                <a:solidFill>
                  <a:srgbClr val="C00000"/>
                </a:solidFill>
              </a:rPr>
              <a:t>fog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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err="1" smtClean="0">
                <a:solidFill>
                  <a:srgbClr val="C00000"/>
                </a:solidFill>
              </a:rPr>
              <a:t>gof</a:t>
            </a:r>
            <a:endParaRPr lang="en-US" dirty="0" smtClean="0">
              <a:solidFill>
                <a:srgbClr val="C00000"/>
              </a:solidFill>
            </a:endParaRPr>
          </a:p>
          <a:p>
            <a:pPr marL="514350" indent="-514350">
              <a:buNone/>
            </a:pPr>
            <a:endParaRPr lang="en-US" dirty="0" smtClean="0"/>
          </a:p>
          <a:p>
            <a:pPr marL="514350" indent="-514350">
              <a:buNone/>
            </a:pP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 smtClean="0">
                <a:solidFill>
                  <a:srgbClr val="0070C0"/>
                </a:solidFill>
              </a:rPr>
              <a:t>REMARK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b="1" dirty="0" smtClean="0">
                <a:solidFill>
                  <a:srgbClr val="C00000"/>
                </a:solidFill>
              </a:rPr>
              <a:t>composition</a:t>
            </a:r>
            <a:r>
              <a:rPr lang="en-US" dirty="0" smtClean="0"/>
              <a:t> of functions is </a:t>
            </a:r>
            <a:r>
              <a:rPr lang="en-US" b="1" dirty="0" smtClean="0">
                <a:solidFill>
                  <a:srgbClr val="C00000"/>
                </a:solidFill>
              </a:rPr>
              <a:t>not</a:t>
            </a:r>
            <a:r>
              <a:rPr lang="en-US" dirty="0" smtClean="0"/>
              <a:t> a </a:t>
            </a:r>
            <a:r>
              <a:rPr lang="en-US" b="1" dirty="0" smtClean="0">
                <a:solidFill>
                  <a:srgbClr val="C00000"/>
                </a:solidFill>
              </a:rPr>
              <a:t>commutative</a:t>
            </a:r>
            <a:r>
              <a:rPr lang="en-US" dirty="0" smtClean="0"/>
              <a:t> operation.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OPERATIONS ON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SUM OF FUNCTIONS</a:t>
            </a:r>
          </a:p>
          <a:p>
            <a:r>
              <a:rPr lang="en-US" b="1" dirty="0" smtClean="0">
                <a:solidFill>
                  <a:srgbClr val="C00000"/>
                </a:solidFill>
              </a:rPr>
              <a:t>DIFFERENCE OF FUNCTIONS</a:t>
            </a:r>
          </a:p>
          <a:p>
            <a:r>
              <a:rPr lang="en-US" b="1" dirty="0" smtClean="0">
                <a:solidFill>
                  <a:srgbClr val="C00000"/>
                </a:solidFill>
              </a:rPr>
              <a:t>PRODUCT OF FUNCTIONS</a:t>
            </a:r>
          </a:p>
          <a:p>
            <a:r>
              <a:rPr lang="en-US" b="1" dirty="0" smtClean="0">
                <a:solidFill>
                  <a:srgbClr val="C00000"/>
                </a:solidFill>
              </a:rPr>
              <a:t>QUOTIENT OF FUNCTIONS</a:t>
            </a:r>
            <a:endParaRPr 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SUM OF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Let </a:t>
            </a:r>
            <a:r>
              <a:rPr lang="en-US" b="1" dirty="0" smtClean="0">
                <a:solidFill>
                  <a:srgbClr val="C00000"/>
                </a:solidFill>
              </a:rPr>
              <a:t>f</a:t>
            </a:r>
            <a:r>
              <a:rPr lang="en-US" dirty="0" smtClean="0"/>
              <a:t> and </a:t>
            </a:r>
            <a:r>
              <a:rPr lang="en-US" b="1" dirty="0" smtClean="0">
                <a:solidFill>
                  <a:srgbClr val="C00000"/>
                </a:solidFill>
              </a:rPr>
              <a:t>g</a:t>
            </a:r>
            <a:r>
              <a:rPr lang="en-US" dirty="0" smtClean="0"/>
              <a:t> be real valued functions with the </a:t>
            </a:r>
            <a:r>
              <a:rPr lang="en-US" b="1" dirty="0" smtClean="0">
                <a:solidFill>
                  <a:srgbClr val="C00000"/>
                </a:solidFill>
              </a:rPr>
              <a:t>same domain</a:t>
            </a:r>
            <a:r>
              <a:rPr lang="en-US" dirty="0" smtClean="0"/>
              <a:t> </a:t>
            </a:r>
            <a:r>
              <a:rPr lang="en-US" b="1" dirty="0" smtClean="0">
                <a:solidFill>
                  <a:srgbClr val="C00000"/>
                </a:solidFill>
              </a:rPr>
              <a:t>X.</a:t>
            </a:r>
            <a:r>
              <a:rPr lang="en-US" dirty="0" smtClean="0"/>
              <a:t> </a:t>
            </a:r>
          </a:p>
          <a:p>
            <a:pPr>
              <a:buNone/>
            </a:pPr>
            <a:r>
              <a:rPr lang="en-US" dirty="0" smtClean="0"/>
              <a:t>	That is </a:t>
            </a:r>
            <a:r>
              <a:rPr lang="en-US" dirty="0" smtClean="0">
                <a:solidFill>
                  <a:srgbClr val="C00000"/>
                </a:solidFill>
              </a:rPr>
              <a:t>f: X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 </a:t>
            </a:r>
            <a:r>
              <a:rPr lang="en-US" dirty="0" smtClean="0">
                <a:solidFill>
                  <a:srgbClr val="C00000"/>
                </a:solidFill>
              </a:rPr>
              <a:t>R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C00000"/>
                </a:solidFill>
              </a:rPr>
              <a:t>g: X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 </a:t>
            </a:r>
            <a:r>
              <a:rPr lang="en-US" dirty="0" smtClean="0">
                <a:solidFill>
                  <a:srgbClr val="C00000"/>
                </a:solidFill>
              </a:rPr>
              <a:t>R</a:t>
            </a:r>
            <a:r>
              <a:rPr lang="en-US" dirty="0" smtClean="0"/>
              <a:t>. 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 The </a:t>
            </a:r>
            <a:r>
              <a:rPr lang="en-US" dirty="0" smtClean="0">
                <a:solidFill>
                  <a:srgbClr val="C00000"/>
                </a:solidFill>
              </a:rPr>
              <a:t>sum</a:t>
            </a:r>
            <a:r>
              <a:rPr lang="en-US" dirty="0" smtClean="0"/>
              <a:t> of </a:t>
            </a:r>
            <a:r>
              <a:rPr lang="en-US" dirty="0" smtClean="0">
                <a:solidFill>
                  <a:srgbClr val="C00000"/>
                </a:solidFill>
              </a:rPr>
              <a:t>f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C00000"/>
                </a:solidFill>
              </a:rPr>
              <a:t>g</a:t>
            </a:r>
            <a:r>
              <a:rPr lang="en-US" dirty="0" smtClean="0"/>
              <a:t> denoted </a:t>
            </a:r>
            <a:r>
              <a:rPr lang="en-US" dirty="0" smtClean="0">
                <a:solidFill>
                  <a:srgbClr val="C00000"/>
                </a:solidFill>
              </a:rPr>
              <a:t>f + g</a:t>
            </a:r>
            <a:r>
              <a:rPr lang="en-US" dirty="0" smtClean="0"/>
              <a:t> is a real valued function with the </a:t>
            </a:r>
            <a:r>
              <a:rPr lang="en-US" dirty="0" smtClean="0">
                <a:solidFill>
                  <a:srgbClr val="C00000"/>
                </a:solidFill>
              </a:rPr>
              <a:t>same domain X </a:t>
            </a:r>
          </a:p>
          <a:p>
            <a:pPr>
              <a:buNone/>
            </a:pPr>
            <a:r>
              <a:rPr lang="en-US" dirty="0" smtClean="0"/>
              <a:t>	i.e. </a:t>
            </a:r>
            <a:r>
              <a:rPr lang="en-US" dirty="0" err="1" smtClean="0">
                <a:solidFill>
                  <a:srgbClr val="C00000"/>
                </a:solidFill>
              </a:rPr>
              <a:t>f+g</a:t>
            </a:r>
            <a:r>
              <a:rPr lang="en-US" dirty="0" smtClean="0">
                <a:solidFill>
                  <a:srgbClr val="C00000"/>
                </a:solidFill>
              </a:rPr>
              <a:t>: X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</a:t>
            </a:r>
            <a:r>
              <a:rPr lang="en-US" dirty="0" smtClean="0">
                <a:solidFill>
                  <a:srgbClr val="C00000"/>
                </a:solidFill>
              </a:rPr>
              <a:t>R</a:t>
            </a:r>
            <a:r>
              <a:rPr lang="en-US" dirty="0" smtClean="0"/>
              <a:t> defined by</a:t>
            </a:r>
          </a:p>
          <a:p>
            <a:pPr>
              <a:buNone/>
            </a:pPr>
            <a:r>
              <a:rPr lang="en-US" dirty="0" smtClean="0"/>
              <a:t>			 </a:t>
            </a:r>
            <a:r>
              <a:rPr lang="en-US" dirty="0" smtClean="0">
                <a:solidFill>
                  <a:srgbClr val="C00000"/>
                </a:solidFill>
              </a:rPr>
              <a:t>(</a:t>
            </a:r>
            <a:r>
              <a:rPr lang="en-US" dirty="0" err="1" smtClean="0">
                <a:solidFill>
                  <a:srgbClr val="C00000"/>
                </a:solidFill>
              </a:rPr>
              <a:t>f+g</a:t>
            </a:r>
            <a:r>
              <a:rPr lang="en-US" dirty="0" smtClean="0">
                <a:solidFill>
                  <a:srgbClr val="C00000"/>
                </a:solidFill>
              </a:rPr>
              <a:t>)(x) = f(x) + g(x)</a:t>
            </a:r>
            <a:r>
              <a:rPr lang="en-US" dirty="0" smtClean="0"/>
              <a:t>	</a:t>
            </a:r>
            <a:r>
              <a:rPr lang="en-US" dirty="0" smtClean="0">
                <a:sym typeface="Symbol"/>
              </a:rPr>
              <a:t></a:t>
            </a:r>
            <a:r>
              <a:rPr lang="en-US" dirty="0" smtClean="0"/>
              <a:t> x </a:t>
            </a:r>
            <a:r>
              <a:rPr lang="en-US" dirty="0" smtClean="0">
                <a:sym typeface="Symbol"/>
              </a:rPr>
              <a:t> </a:t>
            </a:r>
            <a:r>
              <a:rPr lang="en-US" dirty="0" smtClean="0"/>
              <a:t>X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Let </a:t>
            </a:r>
            <a:r>
              <a:rPr lang="en-US" dirty="0" smtClean="0">
                <a:solidFill>
                  <a:srgbClr val="C00000"/>
                </a:solidFill>
              </a:rPr>
              <a:t>f(x) = x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+ 1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C00000"/>
                </a:solidFill>
              </a:rPr>
              <a:t>g(x) = x + 2</a:t>
            </a:r>
            <a:r>
              <a:rPr lang="en-US" dirty="0" smtClean="0"/>
              <a:t> defines functions </a:t>
            </a:r>
            <a:r>
              <a:rPr lang="en-US" dirty="0" smtClean="0">
                <a:solidFill>
                  <a:srgbClr val="C00000"/>
                </a:solidFill>
              </a:rPr>
              <a:t>f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C00000"/>
                </a:solidFill>
              </a:rPr>
              <a:t>g</a:t>
            </a:r>
            <a:r>
              <a:rPr lang="en-US" dirty="0" smtClean="0"/>
              <a:t> from </a:t>
            </a:r>
            <a:r>
              <a:rPr lang="en-US" dirty="0" smtClean="0">
                <a:solidFill>
                  <a:srgbClr val="C00000"/>
                </a:solidFill>
              </a:rPr>
              <a:t>R</a:t>
            </a:r>
            <a:r>
              <a:rPr lang="en-US" dirty="0" smtClean="0"/>
              <a:t> to </a:t>
            </a:r>
            <a:r>
              <a:rPr lang="en-US" dirty="0" smtClean="0">
                <a:solidFill>
                  <a:srgbClr val="C00000"/>
                </a:solidFill>
              </a:rPr>
              <a:t>R</a:t>
            </a:r>
            <a:r>
              <a:rPr lang="en-US" dirty="0" smtClean="0"/>
              <a:t>.</a:t>
            </a:r>
          </a:p>
          <a:p>
            <a:pPr>
              <a:buNone/>
            </a:pPr>
            <a:r>
              <a:rPr lang="en-US" dirty="0" smtClean="0"/>
              <a:t>	 Then		  </a:t>
            </a:r>
          </a:p>
          <a:p>
            <a:pPr>
              <a:buNone/>
            </a:pPr>
            <a:r>
              <a:rPr lang="en-US" dirty="0" smtClean="0"/>
              <a:t>				</a:t>
            </a:r>
            <a:r>
              <a:rPr lang="en-US" dirty="0" smtClean="0">
                <a:solidFill>
                  <a:srgbClr val="C00000"/>
                </a:solidFill>
              </a:rPr>
              <a:t>(</a:t>
            </a:r>
            <a:r>
              <a:rPr lang="en-US" dirty="0" err="1" smtClean="0">
                <a:solidFill>
                  <a:srgbClr val="C00000"/>
                </a:solidFill>
              </a:rPr>
              <a:t>f+g</a:t>
            </a:r>
            <a:r>
              <a:rPr lang="en-US" dirty="0" smtClean="0">
                <a:solidFill>
                  <a:srgbClr val="C00000"/>
                </a:solidFill>
              </a:rPr>
              <a:t>) (x) =  f(x) + g(x)</a:t>
            </a:r>
          </a:p>
          <a:p>
            <a:pPr>
              <a:buNone/>
            </a:pPr>
            <a:r>
              <a:rPr lang="en-US" dirty="0" smtClean="0"/>
              <a:t>                                           </a:t>
            </a:r>
            <a:r>
              <a:rPr lang="en-US" dirty="0" smtClean="0">
                <a:solidFill>
                  <a:srgbClr val="C00000"/>
                </a:solidFill>
              </a:rPr>
              <a:t>= (x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+ 1) + (x + 2)</a:t>
            </a:r>
          </a:p>
          <a:p>
            <a:pPr>
              <a:buNone/>
            </a:pPr>
            <a:r>
              <a:rPr lang="en-US" dirty="0" smtClean="0"/>
              <a:t>                                           </a:t>
            </a:r>
            <a:r>
              <a:rPr lang="en-US" dirty="0" smtClean="0">
                <a:solidFill>
                  <a:srgbClr val="C00000"/>
                </a:solidFill>
              </a:rPr>
              <a:t>= x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+ x + 3</a:t>
            </a:r>
            <a:r>
              <a:rPr lang="en-US" dirty="0" smtClean="0"/>
              <a:t>	</a:t>
            </a:r>
            <a:r>
              <a:rPr lang="en-US" dirty="0" smtClean="0">
                <a:sym typeface="Symbol"/>
              </a:rPr>
              <a:t> </a:t>
            </a:r>
            <a:r>
              <a:rPr lang="en-US" dirty="0" smtClean="0"/>
              <a:t>x </a:t>
            </a:r>
            <a:r>
              <a:rPr lang="en-US" dirty="0" smtClean="0">
                <a:sym typeface="Symbol"/>
              </a:rPr>
              <a:t> </a:t>
            </a:r>
            <a:r>
              <a:rPr lang="en-US" dirty="0" smtClean="0"/>
              <a:t>R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 which defines the </a:t>
            </a:r>
            <a:r>
              <a:rPr lang="en-US" dirty="0" smtClean="0">
                <a:solidFill>
                  <a:srgbClr val="C00000"/>
                </a:solidFill>
              </a:rPr>
              <a:t>sum functions </a:t>
            </a:r>
            <a:r>
              <a:rPr lang="en-US" dirty="0" err="1" smtClean="0">
                <a:solidFill>
                  <a:srgbClr val="C00000"/>
                </a:solidFill>
              </a:rPr>
              <a:t>f+g</a:t>
            </a:r>
            <a:r>
              <a:rPr lang="en-US" dirty="0" smtClean="0">
                <a:solidFill>
                  <a:srgbClr val="C00000"/>
                </a:solidFill>
              </a:rPr>
              <a:t>: X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</a:t>
            </a:r>
            <a:r>
              <a:rPr lang="en-US" dirty="0" smtClean="0">
                <a:solidFill>
                  <a:srgbClr val="C00000"/>
                </a:solidFill>
              </a:rPr>
              <a:t>R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DIFFERENCE OF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Let </a:t>
            </a:r>
            <a:r>
              <a:rPr lang="en-US" dirty="0" smtClean="0">
                <a:solidFill>
                  <a:srgbClr val="C00000"/>
                </a:solidFill>
              </a:rPr>
              <a:t>f: X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</a:t>
            </a:r>
            <a:r>
              <a:rPr lang="en-US" dirty="0" smtClean="0">
                <a:solidFill>
                  <a:srgbClr val="C00000"/>
                </a:solidFill>
              </a:rPr>
              <a:t>R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C00000"/>
                </a:solidFill>
              </a:rPr>
              <a:t>g:X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</a:t>
            </a:r>
            <a:r>
              <a:rPr lang="en-US" dirty="0" smtClean="0">
                <a:solidFill>
                  <a:srgbClr val="C00000"/>
                </a:solidFill>
              </a:rPr>
              <a:t>R</a:t>
            </a:r>
            <a:r>
              <a:rPr lang="en-US" dirty="0" smtClean="0"/>
              <a:t> be real valued functions. The </a:t>
            </a:r>
            <a:r>
              <a:rPr lang="en-US" dirty="0" smtClean="0">
                <a:solidFill>
                  <a:srgbClr val="C00000"/>
                </a:solidFill>
              </a:rPr>
              <a:t>difference</a:t>
            </a:r>
            <a:r>
              <a:rPr lang="en-US" dirty="0" smtClean="0"/>
              <a:t> of </a:t>
            </a:r>
            <a:r>
              <a:rPr lang="en-US" dirty="0" smtClean="0">
                <a:solidFill>
                  <a:srgbClr val="C00000"/>
                </a:solidFill>
              </a:rPr>
              <a:t>f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C00000"/>
                </a:solidFill>
              </a:rPr>
              <a:t>g</a:t>
            </a:r>
            <a:r>
              <a:rPr lang="en-US" dirty="0" smtClean="0"/>
              <a:t> denoted by </a:t>
            </a:r>
            <a:r>
              <a:rPr lang="en-US" dirty="0" smtClean="0">
                <a:solidFill>
                  <a:srgbClr val="C00000"/>
                </a:solidFill>
              </a:rPr>
              <a:t>f-g</a:t>
            </a:r>
            <a:r>
              <a:rPr lang="en-US" dirty="0" smtClean="0"/>
              <a:t> which is a function from 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dirty="0" smtClean="0"/>
              <a:t> to </a:t>
            </a:r>
            <a:r>
              <a:rPr lang="en-US" dirty="0" smtClean="0">
                <a:solidFill>
                  <a:srgbClr val="C00000"/>
                </a:solidFill>
              </a:rPr>
              <a:t>R</a:t>
            </a:r>
            <a:r>
              <a:rPr lang="en-US" dirty="0" smtClean="0"/>
              <a:t> defined by: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smtClean="0">
                <a:solidFill>
                  <a:srgbClr val="C00000"/>
                </a:solidFill>
              </a:rPr>
              <a:t>(f-g)(x) = f(x) - g(x)</a:t>
            </a:r>
            <a:r>
              <a:rPr lang="en-US" dirty="0" smtClean="0"/>
              <a:t>	   </a:t>
            </a:r>
            <a:r>
              <a:rPr lang="en-US" dirty="0" smtClean="0">
                <a:sym typeface="Symbol"/>
              </a:rPr>
              <a:t></a:t>
            </a:r>
            <a:r>
              <a:rPr lang="en-US" dirty="0" smtClean="0"/>
              <a:t> 	x </a:t>
            </a:r>
            <a:r>
              <a:rPr lang="en-US" dirty="0" smtClean="0">
                <a:sym typeface="Symbol"/>
              </a:rPr>
              <a:t> </a:t>
            </a:r>
            <a:r>
              <a:rPr lang="en-US" dirty="0" smtClean="0"/>
              <a:t>X</a:t>
            </a:r>
          </a:p>
          <a:p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Let </a:t>
            </a:r>
            <a:r>
              <a:rPr lang="en-US" dirty="0" smtClean="0">
                <a:solidFill>
                  <a:srgbClr val="C00000"/>
                </a:solidFill>
              </a:rPr>
              <a:t>f(x) = x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+ 1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C00000"/>
                </a:solidFill>
              </a:rPr>
              <a:t>g(x) = x + 2</a:t>
            </a:r>
            <a:r>
              <a:rPr lang="en-US" dirty="0" smtClean="0"/>
              <a:t> define functions </a:t>
            </a:r>
            <a:r>
              <a:rPr lang="en-US" dirty="0" smtClean="0">
                <a:solidFill>
                  <a:srgbClr val="C00000"/>
                </a:solidFill>
              </a:rPr>
              <a:t>f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C00000"/>
                </a:solidFill>
              </a:rPr>
              <a:t>g</a:t>
            </a:r>
            <a:r>
              <a:rPr lang="en-US" dirty="0" smtClean="0"/>
              <a:t> from </a:t>
            </a:r>
            <a:r>
              <a:rPr lang="en-US" dirty="0" smtClean="0">
                <a:solidFill>
                  <a:srgbClr val="C00000"/>
                </a:solidFill>
              </a:rPr>
              <a:t>R</a:t>
            </a:r>
            <a:r>
              <a:rPr lang="en-US" dirty="0" smtClean="0"/>
              <a:t> to </a:t>
            </a:r>
            <a:r>
              <a:rPr lang="en-US" dirty="0" smtClean="0">
                <a:solidFill>
                  <a:srgbClr val="C00000"/>
                </a:solidFill>
              </a:rPr>
              <a:t>R</a:t>
            </a:r>
            <a:r>
              <a:rPr lang="en-US" dirty="0" smtClean="0"/>
              <a:t>.</a:t>
            </a:r>
          </a:p>
          <a:p>
            <a:pPr>
              <a:buNone/>
            </a:pPr>
            <a:r>
              <a:rPr lang="en-US" dirty="0" smtClean="0"/>
              <a:t>	 Then</a:t>
            </a:r>
          </a:p>
          <a:p>
            <a:pPr>
              <a:buNone/>
            </a:pPr>
            <a:r>
              <a:rPr lang="en-US" dirty="0" smtClean="0"/>
              <a:t>		</a:t>
            </a:r>
            <a:r>
              <a:rPr lang="pt-BR" dirty="0" smtClean="0"/>
              <a:t> 	</a:t>
            </a:r>
            <a:r>
              <a:rPr lang="pt-BR" dirty="0" smtClean="0">
                <a:solidFill>
                  <a:srgbClr val="C00000"/>
                </a:solidFill>
              </a:rPr>
              <a:t>(f-g) (x) =  f(x) - g(x)</a:t>
            </a:r>
          </a:p>
          <a:p>
            <a:pPr>
              <a:buNone/>
            </a:pPr>
            <a:r>
              <a:rPr lang="pt-BR" dirty="0" smtClean="0"/>
              <a:t>         			  </a:t>
            </a:r>
            <a:r>
              <a:rPr lang="pt-BR" dirty="0" smtClean="0">
                <a:solidFill>
                  <a:srgbClr val="C00000"/>
                </a:solidFill>
              </a:rPr>
              <a:t>=  (x</a:t>
            </a:r>
            <a:r>
              <a:rPr lang="pt-BR" baseline="30000" dirty="0" smtClean="0">
                <a:solidFill>
                  <a:srgbClr val="C00000"/>
                </a:solidFill>
              </a:rPr>
              <a:t>2</a:t>
            </a:r>
            <a:r>
              <a:rPr lang="pt-BR" dirty="0" smtClean="0">
                <a:solidFill>
                  <a:srgbClr val="C00000"/>
                </a:solidFill>
              </a:rPr>
              <a:t> + 1) - (x + 2)</a:t>
            </a:r>
          </a:p>
          <a:p>
            <a:pPr>
              <a:buNone/>
            </a:pPr>
            <a:r>
              <a:rPr lang="pt-BR" dirty="0" smtClean="0"/>
              <a:t>				  </a:t>
            </a:r>
            <a:r>
              <a:rPr lang="pt-BR" dirty="0" smtClean="0">
                <a:solidFill>
                  <a:srgbClr val="C00000"/>
                </a:solidFill>
              </a:rPr>
              <a:t>= x</a:t>
            </a:r>
            <a:r>
              <a:rPr lang="pt-BR" baseline="30000" dirty="0" smtClean="0">
                <a:solidFill>
                  <a:srgbClr val="C00000"/>
                </a:solidFill>
              </a:rPr>
              <a:t>2</a:t>
            </a:r>
            <a:r>
              <a:rPr lang="pt-BR" dirty="0" smtClean="0">
                <a:solidFill>
                  <a:srgbClr val="C00000"/>
                </a:solidFill>
              </a:rPr>
              <a:t> - x – 1</a:t>
            </a:r>
            <a:r>
              <a:rPr lang="pt-BR" dirty="0" smtClean="0"/>
              <a:t>  </a:t>
            </a:r>
            <a:r>
              <a:rPr lang="en-US" dirty="0" smtClean="0">
                <a:sym typeface="Symbol"/>
              </a:rPr>
              <a:t>   </a:t>
            </a:r>
            <a:r>
              <a:rPr lang="pt-BR" dirty="0" smtClean="0"/>
              <a:t>x </a:t>
            </a:r>
            <a:r>
              <a:rPr lang="en-US" dirty="0" smtClean="0">
                <a:sym typeface="Symbol"/>
              </a:rPr>
              <a:t> </a:t>
            </a:r>
            <a:r>
              <a:rPr lang="pt-BR" dirty="0" smtClean="0"/>
              <a:t>R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</a:t>
            </a:r>
          </a:p>
          <a:p>
            <a:pPr>
              <a:buNone/>
            </a:pPr>
            <a:r>
              <a:rPr lang="en-US" dirty="0" smtClean="0"/>
              <a:t>	 which defines the </a:t>
            </a:r>
            <a:r>
              <a:rPr lang="en-US" dirty="0" smtClean="0">
                <a:solidFill>
                  <a:srgbClr val="C00000"/>
                </a:solidFill>
              </a:rPr>
              <a:t>difference function f-g: X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</a:t>
            </a:r>
            <a:r>
              <a:rPr lang="en-US" dirty="0" smtClean="0">
                <a:solidFill>
                  <a:srgbClr val="C00000"/>
                </a:solidFill>
              </a:rPr>
              <a:t>R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PRODUCT OF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Let </a:t>
            </a:r>
            <a:r>
              <a:rPr lang="en-US" dirty="0" smtClean="0">
                <a:solidFill>
                  <a:srgbClr val="C00000"/>
                </a:solidFill>
              </a:rPr>
              <a:t>f: X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</a:t>
            </a:r>
            <a:r>
              <a:rPr lang="en-US" dirty="0" smtClean="0">
                <a:solidFill>
                  <a:srgbClr val="C00000"/>
                </a:solidFill>
              </a:rPr>
              <a:t>R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C00000"/>
                </a:solidFill>
              </a:rPr>
              <a:t>g: X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</a:t>
            </a:r>
            <a:r>
              <a:rPr lang="en-US" dirty="0" smtClean="0">
                <a:solidFill>
                  <a:srgbClr val="C00000"/>
                </a:solidFill>
              </a:rPr>
              <a:t>R</a:t>
            </a:r>
            <a:r>
              <a:rPr lang="en-US" dirty="0" smtClean="0"/>
              <a:t> be real valued functions. The </a:t>
            </a:r>
            <a:r>
              <a:rPr lang="en-US" dirty="0" smtClean="0">
                <a:solidFill>
                  <a:srgbClr val="C00000"/>
                </a:solidFill>
              </a:rPr>
              <a:t>product</a:t>
            </a:r>
            <a:r>
              <a:rPr lang="en-US" dirty="0" smtClean="0"/>
              <a:t> of </a:t>
            </a:r>
            <a:r>
              <a:rPr lang="en-US" dirty="0" smtClean="0">
                <a:solidFill>
                  <a:srgbClr val="C00000"/>
                </a:solidFill>
              </a:rPr>
              <a:t>f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C00000"/>
                </a:solidFill>
              </a:rPr>
              <a:t>g</a:t>
            </a:r>
            <a:r>
              <a:rPr lang="en-US" dirty="0" smtClean="0"/>
              <a:t> denoted </a:t>
            </a:r>
            <a:r>
              <a:rPr lang="en-US" dirty="0" err="1" smtClean="0">
                <a:solidFill>
                  <a:srgbClr val="C00000"/>
                </a:solidFill>
              </a:rPr>
              <a:t>f</a:t>
            </a:r>
            <a:r>
              <a:rPr lang="en-US" b="1" dirty="0" err="1" smtClean="0">
                <a:solidFill>
                  <a:srgbClr val="C00000"/>
                </a:solidFill>
              </a:rPr>
              <a:t>.</a:t>
            </a:r>
            <a:r>
              <a:rPr lang="en-US" dirty="0" err="1" smtClean="0">
                <a:solidFill>
                  <a:srgbClr val="C00000"/>
                </a:solidFill>
              </a:rPr>
              <a:t>g</a:t>
            </a:r>
            <a:r>
              <a:rPr lang="en-US" dirty="0" smtClean="0"/>
              <a:t>  or simply </a:t>
            </a:r>
            <a:r>
              <a:rPr lang="en-US" dirty="0" err="1" smtClean="0">
                <a:solidFill>
                  <a:srgbClr val="C00000"/>
                </a:solidFill>
              </a:rPr>
              <a:t>fg</a:t>
            </a:r>
            <a:r>
              <a:rPr lang="en-US" dirty="0" smtClean="0"/>
              <a:t> is a function from 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dirty="0" smtClean="0"/>
              <a:t> to </a:t>
            </a:r>
            <a:r>
              <a:rPr lang="en-US" dirty="0" smtClean="0">
                <a:solidFill>
                  <a:srgbClr val="C00000"/>
                </a:solidFill>
              </a:rPr>
              <a:t>R</a:t>
            </a:r>
            <a:r>
              <a:rPr lang="en-US" dirty="0" smtClean="0"/>
              <a:t> defined by: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		 </a:t>
            </a:r>
            <a:r>
              <a:rPr lang="en-US" dirty="0" smtClean="0">
                <a:solidFill>
                  <a:srgbClr val="C00000"/>
                </a:solidFill>
              </a:rPr>
              <a:t>(f </a:t>
            </a:r>
            <a:r>
              <a:rPr lang="en-US" b="1" dirty="0" smtClean="0">
                <a:solidFill>
                  <a:srgbClr val="C00000"/>
                </a:solidFill>
              </a:rPr>
              <a:t>.</a:t>
            </a:r>
            <a:r>
              <a:rPr lang="en-US" dirty="0" smtClean="0">
                <a:solidFill>
                  <a:srgbClr val="C00000"/>
                </a:solidFill>
              </a:rPr>
              <a:t> g)(x) = f(x) </a:t>
            </a:r>
            <a:r>
              <a:rPr lang="en-US" b="1" dirty="0" smtClean="0">
                <a:solidFill>
                  <a:srgbClr val="C00000"/>
                </a:solidFill>
              </a:rPr>
              <a:t>.</a:t>
            </a:r>
            <a:r>
              <a:rPr lang="en-US" dirty="0" smtClean="0">
                <a:solidFill>
                  <a:srgbClr val="C00000"/>
                </a:solidFill>
              </a:rPr>
              <a:t> g(x)</a:t>
            </a:r>
            <a:r>
              <a:rPr lang="en-US" dirty="0" smtClean="0"/>
              <a:t>	</a:t>
            </a:r>
            <a:r>
              <a:rPr lang="en-US" dirty="0" smtClean="0">
                <a:sym typeface="Symbol"/>
              </a:rPr>
              <a:t></a:t>
            </a:r>
            <a:r>
              <a:rPr lang="en-US" dirty="0" smtClean="0"/>
              <a:t>       x </a:t>
            </a:r>
            <a:r>
              <a:rPr lang="en-US" dirty="0" smtClean="0">
                <a:sym typeface="Symbol"/>
              </a:rPr>
              <a:t> </a:t>
            </a:r>
            <a:r>
              <a:rPr lang="en-US" dirty="0" smtClean="0"/>
              <a:t>X</a:t>
            </a:r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Let </a:t>
            </a:r>
            <a:r>
              <a:rPr lang="en-US" dirty="0" smtClean="0">
                <a:solidFill>
                  <a:srgbClr val="C00000"/>
                </a:solidFill>
              </a:rPr>
              <a:t>f(x) = x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+ 1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C00000"/>
                </a:solidFill>
              </a:rPr>
              <a:t>g(x) = x + 2</a:t>
            </a:r>
            <a:r>
              <a:rPr lang="en-US" dirty="0" smtClean="0"/>
              <a:t> define functions </a:t>
            </a:r>
            <a:r>
              <a:rPr lang="en-US" dirty="0" smtClean="0">
                <a:solidFill>
                  <a:srgbClr val="C00000"/>
                </a:solidFill>
              </a:rPr>
              <a:t>f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C00000"/>
                </a:solidFill>
              </a:rPr>
              <a:t>g</a:t>
            </a:r>
            <a:r>
              <a:rPr lang="en-US" dirty="0" smtClean="0"/>
              <a:t> from </a:t>
            </a:r>
            <a:r>
              <a:rPr lang="en-US" dirty="0" smtClean="0">
                <a:solidFill>
                  <a:srgbClr val="C00000"/>
                </a:solidFill>
              </a:rPr>
              <a:t>R</a:t>
            </a:r>
            <a:r>
              <a:rPr lang="en-US" dirty="0" smtClean="0"/>
              <a:t> to </a:t>
            </a:r>
            <a:r>
              <a:rPr lang="en-US" dirty="0" smtClean="0">
                <a:solidFill>
                  <a:srgbClr val="C00000"/>
                </a:solidFill>
              </a:rPr>
              <a:t>R</a:t>
            </a:r>
            <a:r>
              <a:rPr lang="en-US" dirty="0" smtClean="0"/>
              <a:t>.</a:t>
            </a:r>
          </a:p>
          <a:p>
            <a:pPr>
              <a:buNone/>
            </a:pPr>
            <a:r>
              <a:rPr lang="en-US" dirty="0" smtClean="0"/>
              <a:t>	 Then	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dirty="0" smtClean="0">
                <a:solidFill>
                  <a:srgbClr val="C00000"/>
                </a:solidFill>
              </a:rPr>
              <a:t>(f </a:t>
            </a:r>
            <a:r>
              <a:rPr lang="en-US" b="1" dirty="0" smtClean="0">
                <a:solidFill>
                  <a:srgbClr val="C00000"/>
                </a:solidFill>
              </a:rPr>
              <a:t>.</a:t>
            </a:r>
            <a:r>
              <a:rPr lang="en-US" dirty="0" smtClean="0">
                <a:solidFill>
                  <a:srgbClr val="C00000"/>
                </a:solidFill>
              </a:rPr>
              <a:t> g) (x) = f(x) </a:t>
            </a:r>
            <a:r>
              <a:rPr lang="en-US" b="1" dirty="0" smtClean="0">
                <a:solidFill>
                  <a:srgbClr val="C00000"/>
                </a:solidFill>
              </a:rPr>
              <a:t>.</a:t>
            </a:r>
            <a:r>
              <a:rPr lang="en-US" dirty="0" smtClean="0">
                <a:solidFill>
                  <a:srgbClr val="C00000"/>
                </a:solidFill>
              </a:rPr>
              <a:t> g(x)</a:t>
            </a:r>
          </a:p>
          <a:p>
            <a:pPr>
              <a:buNone/>
            </a:pPr>
            <a:r>
              <a:rPr lang="en-US" dirty="0" smtClean="0"/>
              <a:t>				    </a:t>
            </a:r>
            <a:r>
              <a:rPr lang="en-US" dirty="0" smtClean="0">
                <a:solidFill>
                  <a:srgbClr val="C00000"/>
                </a:solidFill>
              </a:rPr>
              <a:t>= (x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+ 1) </a:t>
            </a:r>
            <a:r>
              <a:rPr lang="en-US" b="1" dirty="0" smtClean="0">
                <a:solidFill>
                  <a:srgbClr val="C00000"/>
                </a:solidFill>
              </a:rPr>
              <a:t>.</a:t>
            </a:r>
            <a:r>
              <a:rPr lang="en-US" dirty="0" smtClean="0">
                <a:solidFill>
                  <a:srgbClr val="C00000"/>
                </a:solidFill>
              </a:rPr>
              <a:t> (x + 2)</a:t>
            </a:r>
          </a:p>
          <a:p>
            <a:pPr>
              <a:buNone/>
            </a:pPr>
            <a:r>
              <a:rPr lang="en-US" dirty="0" smtClean="0"/>
              <a:t>				    </a:t>
            </a:r>
            <a:r>
              <a:rPr lang="en-US" dirty="0" smtClean="0">
                <a:solidFill>
                  <a:srgbClr val="C00000"/>
                </a:solidFill>
              </a:rPr>
              <a:t>= x</a:t>
            </a:r>
            <a:r>
              <a:rPr lang="en-US" baseline="30000" dirty="0" smtClean="0">
                <a:solidFill>
                  <a:srgbClr val="C00000"/>
                </a:solidFill>
              </a:rPr>
              <a:t>3</a:t>
            </a:r>
            <a:r>
              <a:rPr lang="en-US" dirty="0" smtClean="0">
                <a:solidFill>
                  <a:srgbClr val="C00000"/>
                </a:solidFill>
              </a:rPr>
              <a:t> + 2x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+ x + 2</a:t>
            </a:r>
            <a:r>
              <a:rPr lang="en-US" dirty="0" smtClean="0"/>
              <a:t>	</a:t>
            </a:r>
            <a:r>
              <a:rPr lang="en-US" dirty="0" smtClean="0">
                <a:sym typeface="Symbol"/>
              </a:rPr>
              <a:t> </a:t>
            </a:r>
            <a:r>
              <a:rPr lang="en-US" dirty="0" smtClean="0"/>
              <a:t>x </a:t>
            </a:r>
            <a:r>
              <a:rPr lang="en-US" dirty="0" smtClean="0">
                <a:sym typeface="Symbol"/>
              </a:rPr>
              <a:t> </a:t>
            </a:r>
            <a:r>
              <a:rPr lang="en-US" dirty="0" smtClean="0"/>
              <a:t>R</a:t>
            </a:r>
          </a:p>
          <a:p>
            <a:pPr>
              <a:buNone/>
            </a:pPr>
            <a:r>
              <a:rPr lang="en-US" dirty="0" smtClean="0"/>
              <a:t>	</a:t>
            </a:r>
          </a:p>
          <a:p>
            <a:pPr>
              <a:buNone/>
            </a:pPr>
            <a:r>
              <a:rPr lang="en-US" dirty="0" smtClean="0"/>
              <a:t>	 which defines the </a:t>
            </a:r>
            <a:r>
              <a:rPr lang="en-US" dirty="0" smtClean="0">
                <a:solidFill>
                  <a:srgbClr val="C00000"/>
                </a:solidFill>
              </a:rPr>
              <a:t>product function f </a:t>
            </a:r>
            <a:r>
              <a:rPr lang="en-US" b="1" dirty="0" smtClean="0">
                <a:solidFill>
                  <a:srgbClr val="C00000"/>
                </a:solidFill>
              </a:rPr>
              <a:t>.</a:t>
            </a:r>
            <a:r>
              <a:rPr lang="en-US" dirty="0" smtClean="0">
                <a:solidFill>
                  <a:srgbClr val="C00000"/>
                </a:solidFill>
              </a:rPr>
              <a:t> g: X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</a:t>
            </a:r>
            <a:r>
              <a:rPr lang="en-US" dirty="0" smtClean="0">
                <a:solidFill>
                  <a:srgbClr val="C00000"/>
                </a:solidFill>
              </a:rPr>
              <a:t>R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QUOTIENT OF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Let </a:t>
            </a:r>
            <a:r>
              <a:rPr lang="en-US" dirty="0" smtClean="0">
                <a:solidFill>
                  <a:srgbClr val="C00000"/>
                </a:solidFill>
              </a:rPr>
              <a:t>f: X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</a:t>
            </a:r>
            <a:r>
              <a:rPr lang="en-US" dirty="0" smtClean="0">
                <a:solidFill>
                  <a:srgbClr val="C00000"/>
                </a:solidFill>
              </a:rPr>
              <a:t>R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C00000"/>
                </a:solidFill>
              </a:rPr>
              <a:t>g: X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</a:t>
            </a:r>
            <a:r>
              <a:rPr lang="en-US" dirty="0" smtClean="0">
                <a:solidFill>
                  <a:srgbClr val="C00000"/>
                </a:solidFill>
              </a:rPr>
              <a:t>R </a:t>
            </a:r>
            <a:r>
              <a:rPr lang="en-US" dirty="0" smtClean="0"/>
              <a:t>be real valued functions. The </a:t>
            </a:r>
            <a:r>
              <a:rPr lang="en-US" dirty="0" smtClean="0">
                <a:solidFill>
                  <a:srgbClr val="C00000"/>
                </a:solidFill>
              </a:rPr>
              <a:t>quotient</a:t>
            </a:r>
            <a:r>
              <a:rPr lang="en-US" dirty="0" smtClean="0"/>
              <a:t> of </a:t>
            </a:r>
            <a:r>
              <a:rPr lang="en-US" dirty="0" smtClean="0">
                <a:solidFill>
                  <a:srgbClr val="C00000"/>
                </a:solidFill>
              </a:rPr>
              <a:t>f</a:t>
            </a:r>
            <a:r>
              <a:rPr lang="en-US" dirty="0" smtClean="0"/>
              <a:t> by </a:t>
            </a:r>
            <a:r>
              <a:rPr lang="en-US" dirty="0" smtClean="0">
                <a:solidFill>
                  <a:srgbClr val="C00000"/>
                </a:solidFill>
              </a:rPr>
              <a:t>g</a:t>
            </a:r>
            <a:r>
              <a:rPr lang="en-US" dirty="0" smtClean="0"/>
              <a:t> denoted       is a function from </a:t>
            </a:r>
            <a:r>
              <a:rPr lang="en-US" dirty="0" smtClean="0">
                <a:solidFill>
                  <a:srgbClr val="C00000"/>
                </a:solidFill>
              </a:rPr>
              <a:t>X</a:t>
            </a:r>
            <a:r>
              <a:rPr lang="en-US" dirty="0" smtClean="0"/>
              <a:t> to </a:t>
            </a:r>
            <a:r>
              <a:rPr lang="en-US" dirty="0" smtClean="0">
                <a:solidFill>
                  <a:srgbClr val="C00000"/>
                </a:solidFill>
              </a:rPr>
              <a:t>R</a:t>
            </a:r>
            <a:r>
              <a:rPr lang="en-US" dirty="0" smtClean="0"/>
              <a:t> defined by:</a:t>
            </a:r>
          </a:p>
          <a:p>
            <a:pPr>
              <a:buNone/>
            </a:pPr>
            <a:r>
              <a:rPr lang="en-US" dirty="0" smtClean="0"/>
              <a:t>	</a:t>
            </a:r>
          </a:p>
        </p:txBody>
      </p:sp>
      <p:sp>
        <p:nvSpPr>
          <p:cNvPr id="7475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74753" name="Object 1"/>
          <p:cNvGraphicFramePr>
            <a:graphicFrameLocks noChangeAspect="1"/>
          </p:cNvGraphicFramePr>
          <p:nvPr/>
        </p:nvGraphicFramePr>
        <p:xfrm>
          <a:off x="4267200" y="1541207"/>
          <a:ext cx="652923" cy="7895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758" r:id="rId3" imgW="177723" imgH="418918" progId="">
                  <p:embed/>
                </p:oleObj>
              </mc:Choice>
              <mc:Fallback>
                <p:oleObj r:id="rId3" imgW="177723" imgH="418918" progId="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1541207"/>
                        <a:ext cx="652923" cy="78957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755" name="Object 3"/>
          <p:cNvGraphicFramePr>
            <a:graphicFrameLocks noChangeAspect="1"/>
          </p:cNvGraphicFramePr>
          <p:nvPr/>
        </p:nvGraphicFramePr>
        <p:xfrm>
          <a:off x="1595966" y="2895600"/>
          <a:ext cx="6328834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759" r:id="rId5" imgW="2920680" imgH="457200" progId="">
                  <p:embed/>
                </p:oleObj>
              </mc:Choice>
              <mc:Fallback>
                <p:oleObj r:id="rId5" imgW="2920680" imgH="457200" progId="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5966" y="2895600"/>
                        <a:ext cx="6328834" cy="990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>
                <a:solidFill>
                  <a:srgbClr val="0070C0"/>
                </a:solidFill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Let </a:t>
            </a:r>
            <a:r>
              <a:rPr lang="en-US" dirty="0" smtClean="0">
                <a:solidFill>
                  <a:srgbClr val="C00000"/>
                </a:solidFill>
              </a:rPr>
              <a:t>f(x) = x</a:t>
            </a:r>
            <a:r>
              <a:rPr lang="en-US" baseline="30000" dirty="0" smtClean="0">
                <a:solidFill>
                  <a:srgbClr val="C00000"/>
                </a:solidFill>
              </a:rPr>
              <a:t>2</a:t>
            </a:r>
            <a:r>
              <a:rPr lang="en-US" dirty="0" smtClean="0">
                <a:solidFill>
                  <a:srgbClr val="C00000"/>
                </a:solidFill>
              </a:rPr>
              <a:t> + 1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C00000"/>
                </a:solidFill>
              </a:rPr>
              <a:t>g(x) = x + 2</a:t>
            </a:r>
            <a:r>
              <a:rPr lang="en-US" dirty="0" smtClean="0"/>
              <a:t> defines functions </a:t>
            </a:r>
            <a:r>
              <a:rPr lang="en-US" dirty="0" smtClean="0">
                <a:solidFill>
                  <a:srgbClr val="C00000"/>
                </a:solidFill>
              </a:rPr>
              <a:t>f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C00000"/>
                </a:solidFill>
              </a:rPr>
              <a:t>g</a:t>
            </a:r>
            <a:r>
              <a:rPr lang="en-US" dirty="0" smtClean="0"/>
              <a:t> from </a:t>
            </a:r>
            <a:r>
              <a:rPr lang="en-US" dirty="0" smtClean="0">
                <a:solidFill>
                  <a:srgbClr val="C00000"/>
                </a:solidFill>
              </a:rPr>
              <a:t>R</a:t>
            </a:r>
            <a:r>
              <a:rPr lang="en-US" dirty="0" smtClean="0"/>
              <a:t> to </a:t>
            </a:r>
            <a:r>
              <a:rPr lang="en-US" dirty="0" smtClean="0">
                <a:solidFill>
                  <a:srgbClr val="C00000"/>
                </a:solidFill>
              </a:rPr>
              <a:t>R</a:t>
            </a:r>
            <a:r>
              <a:rPr lang="en-US" dirty="0" smtClean="0"/>
              <a:t>.</a:t>
            </a:r>
          </a:p>
          <a:p>
            <a:pPr>
              <a:buNone/>
            </a:pPr>
            <a:r>
              <a:rPr lang="en-US" dirty="0" smtClean="0"/>
              <a:t>	 Then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 which defines the </a:t>
            </a:r>
            <a:r>
              <a:rPr lang="en-US" dirty="0" smtClean="0">
                <a:solidFill>
                  <a:srgbClr val="C00000"/>
                </a:solidFill>
              </a:rPr>
              <a:t>quotient function</a:t>
            </a:r>
            <a:r>
              <a:rPr lang="en-US" dirty="0" smtClean="0"/>
              <a:t>        : X </a:t>
            </a:r>
            <a:r>
              <a:rPr lang="en-US" dirty="0" smtClean="0">
                <a:sym typeface="Symbol"/>
              </a:rPr>
              <a:t></a:t>
            </a:r>
            <a:r>
              <a:rPr lang="en-US" dirty="0" smtClean="0"/>
              <a:t>R.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</p:txBody>
      </p:sp>
      <p:graphicFrame>
        <p:nvGraphicFramePr>
          <p:cNvPr id="95234" name="Object 2"/>
          <p:cNvGraphicFramePr>
            <a:graphicFrameLocks noChangeAspect="1"/>
          </p:cNvGraphicFramePr>
          <p:nvPr/>
        </p:nvGraphicFramePr>
        <p:xfrm>
          <a:off x="2400300" y="2362200"/>
          <a:ext cx="5067300" cy="9906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243" r:id="rId3" imgW="2552400" imgH="457200" progId="">
                  <p:embed/>
                </p:oleObj>
              </mc:Choice>
              <mc:Fallback>
                <p:oleObj r:id="rId3" imgW="2552400" imgH="45720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0300" y="2362200"/>
                        <a:ext cx="5067300" cy="99060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237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95238" name="Object 6"/>
          <p:cNvGraphicFramePr>
            <a:graphicFrameLocks noChangeAspect="1"/>
          </p:cNvGraphicFramePr>
          <p:nvPr/>
        </p:nvGraphicFramePr>
        <p:xfrm>
          <a:off x="5716381" y="4331161"/>
          <a:ext cx="652463" cy="788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244" r:id="rId5" imgW="177723" imgH="418918" progId="">
                  <p:embed/>
                </p:oleObj>
              </mc:Choice>
              <mc:Fallback>
                <p:oleObj r:id="rId5" imgW="177723" imgH="418918" progId="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6381" y="4331161"/>
                        <a:ext cx="652463" cy="7889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3481388" y="3429000"/>
          <a:ext cx="963612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245" name="Equation" r:id="rId7" imgW="545760" imgH="457200" progId="Equation.3">
                  <p:embed/>
                </p:oleObj>
              </mc:Choice>
              <mc:Fallback>
                <p:oleObj name="Equation" r:id="rId7" imgW="545760" imgH="45720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1388" y="3429000"/>
                        <a:ext cx="963612" cy="958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2037</TotalTime>
  <Words>766</Words>
  <Application>Microsoft Office PowerPoint</Application>
  <PresentationFormat>On-screen Show (4:3)</PresentationFormat>
  <Paragraphs>371</Paragraphs>
  <Slides>45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3" baseType="lpstr">
      <vt:lpstr>Bookman Old Style</vt:lpstr>
      <vt:lpstr>Calibri</vt:lpstr>
      <vt:lpstr>Gill Sans MT</vt:lpstr>
      <vt:lpstr>Symbol</vt:lpstr>
      <vt:lpstr>Wingdings</vt:lpstr>
      <vt:lpstr>Wingdings 3</vt:lpstr>
      <vt:lpstr>Origin</vt:lpstr>
      <vt:lpstr>Equation</vt:lpstr>
      <vt:lpstr>INVERSE &amp; COMPOSITIONS OF FUNCTIONS </vt:lpstr>
      <vt:lpstr>EQUALITY OF FUNCTIONS</vt:lpstr>
      <vt:lpstr>EXAMPLE</vt:lpstr>
      <vt:lpstr>EXERCISE</vt:lpstr>
      <vt:lpstr>SOLUTION</vt:lpstr>
      <vt:lpstr>INVERSE OF A FUNCTION</vt:lpstr>
      <vt:lpstr>INVERSE OF INJECTIVE FUNCTION</vt:lpstr>
      <vt:lpstr>INVERSE OF SURJECTIVE FUNCTION</vt:lpstr>
      <vt:lpstr>INVERSE OF BIJECTIVE FUNCTION</vt:lpstr>
      <vt:lpstr>INVERSE FUNCTION</vt:lpstr>
      <vt:lpstr>ARROW DIAGRAM</vt:lpstr>
      <vt:lpstr>REMARK</vt:lpstr>
      <vt:lpstr>INVERSE FUNCTION FROM AN ARROW DIAGRAM</vt:lpstr>
      <vt:lpstr>INVERSE FUNCTION FROM A FORMULA</vt:lpstr>
      <vt:lpstr>PowerPoint Presentation</vt:lpstr>
      <vt:lpstr>WORKING RULE TO FIND INVERSE FUNCTION</vt:lpstr>
      <vt:lpstr>EXAMPLE</vt:lpstr>
      <vt:lpstr>SOLUTION</vt:lpstr>
      <vt:lpstr>SOLUTION</vt:lpstr>
      <vt:lpstr>PowerPoint Presentation</vt:lpstr>
      <vt:lpstr>EXERCISE</vt:lpstr>
      <vt:lpstr>SOLUTION</vt:lpstr>
      <vt:lpstr>PowerPoint Presentation</vt:lpstr>
      <vt:lpstr>PowerPoint Presentation</vt:lpstr>
      <vt:lpstr>COMPOSITION OF FUNCTIONS</vt:lpstr>
      <vt:lpstr>COMPOSITION OF FUNCTIONS</vt:lpstr>
      <vt:lpstr>COMPOSITION OF FUNCTIONS DEFINED BY ARROW DIAGRAMS</vt:lpstr>
      <vt:lpstr> </vt:lpstr>
      <vt:lpstr>EXERCISE</vt:lpstr>
      <vt:lpstr>  SOLUTION</vt:lpstr>
      <vt:lpstr>PowerPoint Presentation</vt:lpstr>
      <vt:lpstr>COMPOSITION OF FUNCTIONS DEFINED BY FORMULAS</vt:lpstr>
      <vt:lpstr>SOLUTION</vt:lpstr>
      <vt:lpstr>PowerPoint Presentation</vt:lpstr>
      <vt:lpstr>PowerPoint Presentation</vt:lpstr>
      <vt:lpstr>REMARK</vt:lpstr>
      <vt:lpstr>OPERATIONS ON FUNCTIONS</vt:lpstr>
      <vt:lpstr>SUM OF FUNCTIONS</vt:lpstr>
      <vt:lpstr>EXAMPLE</vt:lpstr>
      <vt:lpstr>DIFFERENCE OF FUNCTIONS</vt:lpstr>
      <vt:lpstr>EXAMPLE</vt:lpstr>
      <vt:lpstr>PRODUCT OF FUNCTIONS</vt:lpstr>
      <vt:lpstr>EXAMPLE</vt:lpstr>
      <vt:lpstr>QUOTIENT OF FUNCTIONS</vt:lpstr>
      <vt:lpstr>EXAMPLE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RULES OF INFERENCE Lecture # 08</dc:title>
  <dc:creator>C &amp; M</dc:creator>
  <cp:lastModifiedBy>Tehseen Fatima</cp:lastModifiedBy>
  <cp:revision>209</cp:revision>
  <dcterms:created xsi:type="dcterms:W3CDTF">2013-10-15T06:26:31Z</dcterms:created>
  <dcterms:modified xsi:type="dcterms:W3CDTF">2023-10-16T09:20:42Z</dcterms:modified>
</cp:coreProperties>
</file>
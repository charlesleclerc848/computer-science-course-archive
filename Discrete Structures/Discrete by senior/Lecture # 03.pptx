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48"/>
  </p:notesMasterIdLst>
  <p:handoutMasterIdLst>
    <p:handoutMasterId r:id="rId49"/>
  </p:handoutMasterIdLst>
  <p:sldIdLst>
    <p:sldId id="256" r:id="rId2"/>
    <p:sldId id="257" r:id="rId3"/>
    <p:sldId id="258" r:id="rId4"/>
    <p:sldId id="259" r:id="rId5"/>
    <p:sldId id="260" r:id="rId6"/>
    <p:sldId id="261" r:id="rId7"/>
    <p:sldId id="300" r:id="rId8"/>
    <p:sldId id="262" r:id="rId9"/>
    <p:sldId id="263" r:id="rId10"/>
    <p:sldId id="264" r:id="rId11"/>
    <p:sldId id="265" r:id="rId12"/>
    <p:sldId id="266" r:id="rId13"/>
    <p:sldId id="288" r:id="rId14"/>
    <p:sldId id="267" r:id="rId15"/>
    <p:sldId id="268" r:id="rId16"/>
    <p:sldId id="269" r:id="rId17"/>
    <p:sldId id="270" r:id="rId18"/>
    <p:sldId id="289" r:id="rId19"/>
    <p:sldId id="271" r:id="rId20"/>
    <p:sldId id="272" r:id="rId21"/>
    <p:sldId id="290" r:id="rId22"/>
    <p:sldId id="273" r:id="rId23"/>
    <p:sldId id="274" r:id="rId24"/>
    <p:sldId id="291" r:id="rId25"/>
    <p:sldId id="275" r:id="rId26"/>
    <p:sldId id="292" r:id="rId27"/>
    <p:sldId id="276" r:id="rId28"/>
    <p:sldId id="293" r:id="rId29"/>
    <p:sldId id="277" r:id="rId30"/>
    <p:sldId id="294" r:id="rId31"/>
    <p:sldId id="278" r:id="rId32"/>
    <p:sldId id="279" r:id="rId33"/>
    <p:sldId id="280" r:id="rId34"/>
    <p:sldId id="295" r:id="rId35"/>
    <p:sldId id="281" r:id="rId36"/>
    <p:sldId id="296" r:id="rId37"/>
    <p:sldId id="282" r:id="rId38"/>
    <p:sldId id="297" r:id="rId39"/>
    <p:sldId id="283" r:id="rId40"/>
    <p:sldId id="298" r:id="rId41"/>
    <p:sldId id="284" r:id="rId42"/>
    <p:sldId id="301" r:id="rId43"/>
    <p:sldId id="302" r:id="rId44"/>
    <p:sldId id="286" r:id="rId45"/>
    <p:sldId id="287" r:id="rId46"/>
    <p:sldId id="303" r:id="rId4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92" autoAdjust="0"/>
    <p:restoredTop sz="94660"/>
  </p:normalViewPr>
  <p:slideViewPr>
    <p:cSldViewPr>
      <p:cViewPr varScale="1">
        <p:scale>
          <a:sx n="66" d="100"/>
          <a:sy n="66" d="100"/>
        </p:scale>
        <p:origin x="114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36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D30988-2994-4D9B-8C7A-C6493D91B00B}" type="datetimeFigureOut">
              <a:rPr lang="en-US" smtClean="0"/>
              <a:t>1/28/2024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C22068-C487-4EF5-9765-D6CDB5CAF5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9420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32FFEF-1113-4E60-88FE-EA47470A374B}" type="datetimeFigureOut">
              <a:rPr lang="en-US" smtClean="0"/>
              <a:pPr/>
              <a:t>1/28/2024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9CEA7A-0DCF-4742-BD22-DF14B59E452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CEA7A-0DCF-4742-BD22-DF14B59E4523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65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73AE37AA-4ADA-4492-8893-14EEC95ADC5E}" type="datetimeFigureOut">
              <a:rPr lang="en-US" smtClean="0"/>
              <a:pPr/>
              <a:t>1/28/2024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CB2CFDAD-2A26-4686-9CA8-B01433D3CF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  <a:pPr/>
              <a:t>1/28/2024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73AE37AA-4ADA-4492-8893-14EEC95ADC5E}" type="datetimeFigureOut">
              <a:rPr lang="en-US" smtClean="0"/>
              <a:pPr/>
              <a:t>1/28/2024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CB2CFDAD-2A26-4686-9CA8-B01433D3CF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  <a:pPr/>
              <a:t>1/28/2024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  <a:pPr/>
              <a:t>1/28/2024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  <a:pPr/>
              <a:t>1/28/2024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  <a:pPr/>
              <a:t>1/28/2024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  <a:pPr/>
              <a:t>1/28/2024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  <a:pPr/>
              <a:t>1/28/2024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  <a:pPr/>
              <a:t>1/28/2024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  <a:pPr/>
              <a:t>1/28/2024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73AE37AA-4ADA-4492-8893-14EEC95ADC5E}" type="datetimeFigureOut">
              <a:rPr lang="en-US" smtClean="0"/>
              <a:pPr/>
              <a:t>1/28/2024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CB2CFDAD-2A26-4686-9CA8-B01433D3CF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4000" b="1" u="sng" dirty="0" smtClean="0">
                <a:solidFill>
                  <a:srgbClr val="C00000"/>
                </a:solidFill>
              </a:rPr>
              <a:t>LAWS OF LOGIC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/>
            </a:r>
            <a:b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Lecture # 03</a:t>
            </a:r>
            <a:b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Applying Laws of Logic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Using laws of logic simplify the statement form.</a:t>
            </a:r>
          </a:p>
          <a:p>
            <a:pPr>
              <a:buNone/>
            </a:pPr>
            <a:r>
              <a:rPr lang="en-US" dirty="0" smtClean="0"/>
              <a:t>				p </a:t>
            </a:r>
            <a:r>
              <a:rPr lang="en-US" dirty="0" smtClean="0">
                <a:sym typeface="Symbol"/>
              </a:rPr>
              <a:t></a:t>
            </a:r>
            <a:r>
              <a:rPr lang="en-US" dirty="0" smtClean="0"/>
              <a:t> [~(~p </a:t>
            </a:r>
            <a:r>
              <a:rPr lang="en-US" dirty="0" smtClean="0">
                <a:sym typeface="Symbol"/>
              </a:rPr>
              <a:t></a:t>
            </a:r>
            <a:r>
              <a:rPr lang="en-US" dirty="0" smtClean="0"/>
              <a:t> q)] </a:t>
            </a:r>
          </a:p>
          <a:p>
            <a:r>
              <a:rPr lang="en-US" b="1" u="sng" dirty="0" smtClean="0"/>
              <a:t>Solution: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 p  [~(~p)  (~q)] </a:t>
            </a:r>
            <a:r>
              <a:rPr lang="en-US" dirty="0" smtClean="0"/>
              <a:t>		</a:t>
            </a:r>
            <a:r>
              <a:rPr lang="en-US" dirty="0" err="1" smtClean="0"/>
              <a:t>DeMorgan’s</a:t>
            </a:r>
            <a:r>
              <a:rPr lang="en-US" dirty="0" smtClean="0"/>
              <a:t> Law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 p  [p(~q)]</a:t>
            </a:r>
            <a:r>
              <a:rPr lang="en-US" dirty="0" smtClean="0"/>
              <a:t>			Double Negative Law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 [p  p](~q)</a:t>
            </a:r>
            <a:r>
              <a:rPr lang="en-US" dirty="0" smtClean="0"/>
              <a:t>			Associative Law for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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 </a:t>
            </a:r>
            <a:r>
              <a:rPr lang="en-US" dirty="0" smtClean="0">
                <a:solidFill>
                  <a:srgbClr val="C00000"/>
                </a:solidFill>
              </a:rPr>
              <a:t>p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</a:t>
            </a:r>
            <a:r>
              <a:rPr lang="en-US" dirty="0" smtClean="0">
                <a:solidFill>
                  <a:srgbClr val="C00000"/>
                </a:solidFill>
              </a:rPr>
              <a:t> (~q)</a:t>
            </a:r>
            <a:r>
              <a:rPr lang="en-US" dirty="0" smtClean="0"/>
              <a:t>				</a:t>
            </a:r>
            <a:r>
              <a:rPr lang="en-US" dirty="0" err="1" smtClean="0"/>
              <a:t>Indempotent</a:t>
            </a:r>
            <a:r>
              <a:rPr lang="en-US" dirty="0" smtClean="0"/>
              <a:t> Law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	This is the simplified statement form.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EXAMPLE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458200" cy="4937760"/>
          </a:xfrm>
        </p:spPr>
        <p:txBody>
          <a:bodyPr/>
          <a:lstStyle/>
          <a:p>
            <a:r>
              <a:rPr lang="en-US" dirty="0" smtClean="0"/>
              <a:t>Using Laws of Logic, verify the logical equivalence.</a:t>
            </a:r>
          </a:p>
          <a:p>
            <a:pPr>
              <a:buNone/>
            </a:pPr>
            <a:r>
              <a:rPr lang="en-US" dirty="0" smtClean="0"/>
              <a:t>			~ (~ p  </a:t>
            </a:r>
            <a:r>
              <a:rPr lang="en-US" dirty="0" smtClean="0">
                <a:sym typeface="Symbol"/>
              </a:rPr>
              <a:t></a:t>
            </a:r>
            <a:r>
              <a:rPr lang="en-US" dirty="0" smtClean="0"/>
              <a:t> q) </a:t>
            </a:r>
            <a:r>
              <a:rPr lang="en-US" dirty="0" smtClean="0">
                <a:sym typeface="Symbol"/>
              </a:rPr>
              <a:t></a:t>
            </a:r>
            <a:r>
              <a:rPr lang="en-US" dirty="0" smtClean="0"/>
              <a:t> (p </a:t>
            </a:r>
            <a:r>
              <a:rPr lang="en-US" dirty="0" smtClean="0">
                <a:sym typeface="Symbol"/>
              </a:rPr>
              <a:t></a:t>
            </a:r>
            <a:r>
              <a:rPr lang="en-US" dirty="0" smtClean="0"/>
              <a:t> q) </a:t>
            </a:r>
            <a:r>
              <a:rPr lang="en-US" dirty="0" smtClean="0">
                <a:sym typeface="Symbol"/>
              </a:rPr>
              <a:t> </a:t>
            </a:r>
            <a:r>
              <a:rPr lang="en-US" dirty="0" smtClean="0"/>
              <a:t>p</a:t>
            </a:r>
          </a:p>
          <a:p>
            <a:pPr>
              <a:buNone/>
            </a:pPr>
            <a:r>
              <a:rPr lang="en-US" b="1" u="sng" dirty="0" smtClean="0"/>
              <a:t>Solution: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</a:t>
            </a:r>
            <a:r>
              <a:rPr lang="en-US" dirty="0" smtClean="0">
                <a:solidFill>
                  <a:srgbClr val="C00000"/>
                </a:solidFill>
              </a:rPr>
              <a:t> (~(~p)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</a:t>
            </a:r>
            <a:r>
              <a:rPr lang="en-US" dirty="0" smtClean="0">
                <a:solidFill>
                  <a:srgbClr val="C00000"/>
                </a:solidFill>
              </a:rPr>
              <a:t> ~q)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</a:t>
            </a:r>
            <a:r>
              <a:rPr lang="en-US" dirty="0" smtClean="0">
                <a:solidFill>
                  <a:srgbClr val="C00000"/>
                </a:solidFill>
              </a:rPr>
              <a:t>(p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</a:t>
            </a:r>
            <a:r>
              <a:rPr lang="en-US" dirty="0" smtClean="0">
                <a:solidFill>
                  <a:srgbClr val="C00000"/>
                </a:solidFill>
              </a:rPr>
              <a:t> q)</a:t>
            </a:r>
            <a:r>
              <a:rPr lang="en-US" dirty="0" smtClean="0"/>
              <a:t>		</a:t>
            </a:r>
            <a:r>
              <a:rPr lang="en-US" dirty="0" err="1" smtClean="0"/>
              <a:t>DeMorgan’s</a:t>
            </a:r>
            <a:r>
              <a:rPr lang="en-US" dirty="0" smtClean="0"/>
              <a:t> Law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 (p  ~q)  (p  q)</a:t>
            </a:r>
            <a:r>
              <a:rPr lang="en-US" dirty="0" smtClean="0"/>
              <a:t>		Double Negative Law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 p  (~q  q)</a:t>
            </a:r>
            <a:r>
              <a:rPr lang="en-US" dirty="0" smtClean="0"/>
              <a:t>			Distributive Law in reverse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 p  c</a:t>
            </a:r>
            <a:r>
              <a:rPr lang="en-US" dirty="0" smtClean="0"/>
              <a:t>				Negation Law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 p	</a:t>
            </a:r>
            <a:r>
              <a:rPr lang="en-US" dirty="0" smtClean="0"/>
              <a:t>				Identity Law	 </a:t>
            </a:r>
          </a:p>
          <a:p>
            <a:pPr>
              <a:buNone/>
            </a:pPr>
            <a:r>
              <a:rPr lang="en-US" dirty="0" smtClean="0"/>
              <a:t> 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/>
              <a:t>SIMPLIFYING A STATEMENT: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“You will get an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A</a:t>
            </a:r>
            <a:r>
              <a:rPr lang="en-US" dirty="0" smtClean="0"/>
              <a:t> if you are hardworking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and</a:t>
            </a:r>
            <a:r>
              <a:rPr lang="en-US" dirty="0" smtClean="0"/>
              <a:t> the sun shines,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or</a:t>
            </a:r>
            <a:r>
              <a:rPr lang="en-US" dirty="0" smtClean="0"/>
              <a:t> you are hardworking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and </a:t>
            </a:r>
            <a:r>
              <a:rPr lang="en-US" dirty="0" smtClean="0"/>
              <a:t>it rains.”</a:t>
            </a:r>
          </a:p>
          <a:p>
            <a:endParaRPr lang="en-US" dirty="0" smtClean="0"/>
          </a:p>
          <a:p>
            <a:r>
              <a:rPr lang="en-US" b="1" u="sng" dirty="0" smtClean="0"/>
              <a:t>Solution:</a:t>
            </a:r>
          </a:p>
          <a:p>
            <a:pPr>
              <a:buNone/>
            </a:pPr>
            <a:r>
              <a:rPr lang="en-US" dirty="0" smtClean="0"/>
              <a:t>	Let</a:t>
            </a:r>
          </a:p>
          <a:p>
            <a:pPr>
              <a:buNone/>
            </a:pPr>
            <a:r>
              <a:rPr lang="en-US" dirty="0" smtClean="0"/>
              <a:t>			p = “You are hardworking’</a:t>
            </a:r>
          </a:p>
          <a:p>
            <a:pPr>
              <a:buNone/>
            </a:pPr>
            <a:r>
              <a:rPr lang="en-US" dirty="0" smtClean="0"/>
              <a:t>			q = “The sun shines”</a:t>
            </a:r>
          </a:p>
          <a:p>
            <a:pPr>
              <a:buNone/>
            </a:pPr>
            <a:r>
              <a:rPr lang="en-US" dirty="0" smtClean="0"/>
              <a:t>			r = “It rains”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The condition is </a:t>
            </a:r>
            <a:r>
              <a:rPr lang="en-US" dirty="0" smtClean="0">
                <a:sym typeface="Symbol"/>
              </a:rPr>
              <a:t>then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(p  q)  (p  r)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sym typeface="Symbol"/>
              </a:rPr>
              <a:t>				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(p  q)  (p  r)</a:t>
            </a:r>
          </a:p>
          <a:p>
            <a:r>
              <a:rPr lang="en-US" dirty="0" smtClean="0">
                <a:solidFill>
                  <a:srgbClr val="C00000"/>
                </a:solidFill>
                <a:sym typeface="Symbol"/>
              </a:rPr>
              <a:t> p  (q  r)  </a:t>
            </a:r>
            <a:r>
              <a:rPr lang="en-US" dirty="0" smtClean="0">
                <a:sym typeface="Symbol"/>
              </a:rPr>
              <a:t>Distributive law in reverse</a:t>
            </a:r>
          </a:p>
          <a:p>
            <a:endParaRPr lang="en-US" dirty="0" smtClean="0">
              <a:sym typeface="Symbol"/>
            </a:endParaRPr>
          </a:p>
          <a:p>
            <a:r>
              <a:rPr lang="en-US" dirty="0" smtClean="0"/>
              <a:t>Putting p </a:t>
            </a:r>
            <a:r>
              <a:rPr lang="en-US" dirty="0" smtClean="0">
                <a:sym typeface="Symbol"/>
              </a:rPr>
              <a:t></a:t>
            </a:r>
            <a:r>
              <a:rPr lang="en-US" dirty="0" smtClean="0"/>
              <a:t> (q </a:t>
            </a:r>
            <a:r>
              <a:rPr lang="en-US" dirty="0" smtClean="0">
                <a:sym typeface="Symbol"/>
              </a:rPr>
              <a:t></a:t>
            </a:r>
            <a:r>
              <a:rPr lang="en-US" dirty="0" smtClean="0"/>
              <a:t> r) back into English, we can rephrase the given sentence as</a:t>
            </a:r>
          </a:p>
          <a:p>
            <a:endParaRPr lang="en-US" dirty="0" smtClean="0"/>
          </a:p>
          <a:p>
            <a:r>
              <a:rPr lang="en-US" b="1" dirty="0" smtClean="0"/>
              <a:t>“You will get an A if you are hardworking and the sun shines or it rains.”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/>
              <a:t>EXERCISE: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Use Logical Equivalence to rewrite each of the following sentences more simply.</a:t>
            </a:r>
          </a:p>
          <a:p>
            <a:endParaRPr lang="en-US" dirty="0" smtClean="0"/>
          </a:p>
          <a:p>
            <a:r>
              <a:rPr lang="en-US" b="1" dirty="0" smtClean="0"/>
              <a:t>1. It is not true that I am tired and you are smart.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{I am not tired or you are not smart.} </a:t>
            </a:r>
          </a:p>
          <a:p>
            <a:r>
              <a:rPr lang="en-US" b="1" dirty="0" smtClean="0"/>
              <a:t>2. It is not true that I am tired or you are smart.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{I am not tired and you are not smart.}</a:t>
            </a:r>
          </a:p>
          <a:p>
            <a:r>
              <a:rPr lang="en-US" b="1" dirty="0"/>
              <a:t>3. I forgot my pen or my bag and I forgot my pen or my glasses.</a:t>
            </a:r>
            <a:endParaRPr lang="en-US" dirty="0"/>
          </a:p>
          <a:p>
            <a:pPr>
              <a:buNone/>
            </a:pPr>
            <a:r>
              <a:rPr lang="en-US" dirty="0"/>
              <a:t>	</a:t>
            </a:r>
            <a:r>
              <a:rPr lang="en-US" b="1" dirty="0" smtClean="0"/>
              <a:t>4</a:t>
            </a:r>
            <a:r>
              <a:rPr lang="en-US" b="1" dirty="0"/>
              <a:t>. It is raining and I have forgotten my umbrella, or it is raining and I have forgotten my hat.</a:t>
            </a:r>
            <a:endParaRPr lang="en-US" dirty="0"/>
          </a:p>
          <a:p>
            <a:pPr>
              <a:buNone/>
            </a:pPr>
            <a:r>
              <a:rPr lang="en-US" dirty="0"/>
              <a:t>		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/>
              <a:t>EXERCISE: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Use Logical Equivalence to rewrite each of the following sentences more simply.</a:t>
            </a:r>
          </a:p>
          <a:p>
            <a:endParaRPr lang="en-US" dirty="0" smtClean="0"/>
          </a:p>
          <a:p>
            <a:r>
              <a:rPr lang="en-US" b="1" dirty="0" smtClean="0"/>
              <a:t>1. It is not true that I am tired and you are smart.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{I am not tired or you are not smart.} </a:t>
            </a:r>
          </a:p>
          <a:p>
            <a:r>
              <a:rPr lang="en-US" b="1" dirty="0" smtClean="0"/>
              <a:t>2. It is not true that I am tired or you are smart.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{I am not tired and you are not smart.}</a:t>
            </a:r>
          </a:p>
          <a:p>
            <a:r>
              <a:rPr lang="en-US" b="1" dirty="0"/>
              <a:t>3. I forgot my pen or my bag and I forgot my pen or my glasses.</a:t>
            </a:r>
            <a:endParaRPr lang="en-US" dirty="0"/>
          </a:p>
          <a:p>
            <a:pPr>
              <a:buNone/>
            </a:pPr>
            <a:r>
              <a:rPr lang="en-US" dirty="0"/>
              <a:t>		{I forgot my pen or I forgot my bag and glasses.</a:t>
            </a:r>
          </a:p>
          <a:p>
            <a:r>
              <a:rPr lang="en-US" b="1" dirty="0"/>
              <a:t>4. It is raining and I have forgotten my umbrella, or it is raining and I have forgotten my hat.</a:t>
            </a:r>
            <a:endParaRPr lang="en-US" dirty="0"/>
          </a:p>
          <a:p>
            <a:pPr>
              <a:buNone/>
            </a:pPr>
            <a:r>
              <a:rPr lang="en-US" dirty="0"/>
              <a:t>		{It is raining and I have forgotten my umbrella or my hat.}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29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CONDITIONAL STATEMENT or IMPLICATION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en-US" b="1" u="sng" dirty="0" smtClean="0"/>
              <a:t>Introduction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Consider the statement:</a:t>
            </a:r>
          </a:p>
          <a:p>
            <a:pPr>
              <a:buNone/>
            </a:pPr>
            <a:r>
              <a:rPr lang="en-US" dirty="0" smtClean="0"/>
              <a:t>	"</a:t>
            </a:r>
            <a:r>
              <a:rPr lang="en-US" b="1" dirty="0" smtClean="0"/>
              <a:t>If you earn an A in Math, then I'll buy you a computer</a:t>
            </a:r>
            <a:r>
              <a:rPr lang="en-US" dirty="0" smtClean="0"/>
              <a:t>." 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This statement is made up of two simpler statements: </a:t>
            </a: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dirty="0" smtClean="0">
                <a:solidFill>
                  <a:srgbClr val="C00000"/>
                </a:solidFill>
              </a:rPr>
              <a:t>p: "You earn an A in Math,"</a:t>
            </a:r>
            <a:r>
              <a:rPr lang="en-US" dirty="0" smtClean="0"/>
              <a:t> and </a:t>
            </a: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dirty="0" smtClean="0">
                <a:solidFill>
                  <a:srgbClr val="C00000"/>
                </a:solidFill>
              </a:rPr>
              <a:t>q: "I will buy you a computer."</a:t>
            </a:r>
            <a:r>
              <a:rPr lang="en-US" dirty="0" smtClean="0"/>
              <a:t>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 </a:t>
            </a:r>
            <a:r>
              <a:rPr lang="en-US" i="1" dirty="0" smtClean="0"/>
              <a:t>if p is true, then q is true,</a:t>
            </a:r>
            <a:r>
              <a:rPr lang="en-US" dirty="0" smtClean="0"/>
              <a:t> or, more simply, </a:t>
            </a:r>
            <a:r>
              <a:rPr lang="en-US" b="1" dirty="0" smtClean="0"/>
              <a:t>if</a:t>
            </a:r>
            <a:r>
              <a:rPr lang="en-US" dirty="0" smtClean="0"/>
              <a:t> p, </a:t>
            </a:r>
            <a:r>
              <a:rPr lang="en-US" b="1" dirty="0" smtClean="0"/>
              <a:t>then</a:t>
            </a:r>
            <a:r>
              <a:rPr lang="en-US" dirty="0" smtClean="0"/>
              <a:t> q.</a:t>
            </a:r>
          </a:p>
          <a:p>
            <a:pPr>
              <a:buNone/>
            </a:pPr>
            <a:r>
              <a:rPr lang="en-US" dirty="0" smtClean="0"/>
              <a:t>	 We can also phrase this as p </a:t>
            </a:r>
            <a:r>
              <a:rPr lang="en-US" b="1" dirty="0" smtClean="0"/>
              <a:t>implies</a:t>
            </a:r>
            <a:r>
              <a:rPr lang="en-US" dirty="0" smtClean="0"/>
              <a:t> q, and we write </a:t>
            </a:r>
            <a:r>
              <a:rPr lang="en-US" b="1" dirty="0" smtClean="0"/>
              <a:t>p </a:t>
            </a:r>
            <a:r>
              <a:rPr lang="en-US" b="1" dirty="0" smtClean="0">
                <a:sym typeface="Symbol"/>
              </a:rPr>
              <a:t></a:t>
            </a:r>
            <a:r>
              <a:rPr lang="en-US" b="1" dirty="0" smtClean="0"/>
              <a:t> q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686800" cy="493776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	The original statement is then saying: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i="1" dirty="0" smtClean="0"/>
              <a:t>			</a:t>
            </a:r>
            <a:r>
              <a:rPr lang="en-US" i="1" dirty="0" smtClean="0">
                <a:solidFill>
                  <a:srgbClr val="C00000"/>
                </a:solidFill>
              </a:rPr>
              <a:t>if p is true, then q is true</a:t>
            </a:r>
          </a:p>
          <a:p>
            <a:pPr>
              <a:buNone/>
            </a:pPr>
            <a:r>
              <a:rPr lang="en-US" i="1" dirty="0" smtClean="0"/>
              <a:t>					Or</a:t>
            </a:r>
          </a:p>
          <a:p>
            <a:pPr>
              <a:buNone/>
            </a:pPr>
            <a:endParaRPr lang="en-US" i="1" dirty="0" smtClean="0"/>
          </a:p>
          <a:p>
            <a:pPr>
              <a:buNone/>
            </a:pPr>
            <a:r>
              <a:rPr lang="en-US" dirty="0" smtClean="0"/>
              <a:t>	more simply,	 </a:t>
            </a:r>
            <a:r>
              <a:rPr lang="en-US" b="1" dirty="0" smtClean="0">
                <a:solidFill>
                  <a:srgbClr val="C00000"/>
                </a:solidFill>
              </a:rPr>
              <a:t>if</a:t>
            </a:r>
            <a:r>
              <a:rPr lang="en-US" dirty="0" smtClean="0">
                <a:solidFill>
                  <a:srgbClr val="C00000"/>
                </a:solidFill>
              </a:rPr>
              <a:t> p, </a:t>
            </a:r>
            <a:r>
              <a:rPr lang="en-US" b="1" dirty="0" smtClean="0">
                <a:solidFill>
                  <a:srgbClr val="C00000"/>
                </a:solidFill>
              </a:rPr>
              <a:t>then</a:t>
            </a:r>
            <a:r>
              <a:rPr lang="en-US" dirty="0" smtClean="0">
                <a:solidFill>
                  <a:srgbClr val="C00000"/>
                </a:solidFill>
              </a:rPr>
              <a:t> q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We can also phrase this as </a:t>
            </a:r>
            <a:r>
              <a:rPr lang="en-US" dirty="0" smtClean="0">
                <a:solidFill>
                  <a:srgbClr val="C00000"/>
                </a:solidFill>
              </a:rPr>
              <a:t>p</a:t>
            </a:r>
            <a:r>
              <a:rPr lang="en-US" dirty="0" smtClean="0"/>
              <a:t> </a:t>
            </a:r>
            <a:r>
              <a:rPr lang="en-US" b="1" dirty="0" smtClean="0"/>
              <a:t>implies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q</a:t>
            </a:r>
            <a:r>
              <a:rPr lang="en-US" dirty="0" smtClean="0"/>
              <a:t>, and we write </a:t>
            </a:r>
            <a:r>
              <a:rPr lang="en-US" b="1" dirty="0" smtClean="0">
                <a:solidFill>
                  <a:srgbClr val="C00000"/>
                </a:solidFill>
              </a:rPr>
              <a:t>p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b="1" dirty="0" smtClean="0">
                <a:solidFill>
                  <a:srgbClr val="C00000"/>
                </a:solidFill>
              </a:rPr>
              <a:t> q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smtClean="0"/>
              <a:t>TRUTH TABLE for p </a:t>
            </a:r>
            <a:r>
              <a:rPr lang="en-US" b="1" dirty="0" smtClean="0">
                <a:sym typeface="Symbol"/>
              </a:rPr>
              <a:t></a:t>
            </a:r>
            <a:r>
              <a:rPr lang="en-US" b="1" dirty="0" smtClean="0"/>
              <a:t> q</a:t>
            </a:r>
            <a:endParaRPr lang="en-US" dirty="0"/>
          </a:p>
        </p:txBody>
      </p:sp>
      <p:graphicFrame>
        <p:nvGraphicFramePr>
          <p:cNvPr id="1026" name="Group 2"/>
          <p:cNvGraphicFramePr>
            <a:graphicFrameLocks noGrp="1"/>
          </p:cNvGraphicFramePr>
          <p:nvPr/>
        </p:nvGraphicFramePr>
        <p:xfrm>
          <a:off x="1676400" y="1600200"/>
          <a:ext cx="5372100" cy="2286000"/>
        </p:xfrm>
        <a:graphic>
          <a:graphicData uri="http://schemas.openxmlformats.org/drawingml/2006/table">
            <a:tbl>
              <a:tblPr/>
              <a:tblGrid>
                <a:gridCol w="182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32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32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p </a:t>
                      </a: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  <a:sym typeface="Symbol" pitchFamily="18" charset="2"/>
                        </a:rPr>
                        <a:t></a:t>
                      </a: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 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u="sng" dirty="0" smtClean="0"/>
              <a:t>CONDITIONAL STATEMENTS OR IMPLICATIONS: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u="sng" dirty="0" smtClean="0"/>
              <a:t>Definition:</a:t>
            </a:r>
          </a:p>
          <a:p>
            <a:r>
              <a:rPr lang="en-US" dirty="0" smtClean="0"/>
              <a:t>If </a:t>
            </a:r>
            <a:r>
              <a:rPr lang="en-US" dirty="0" smtClean="0">
                <a:solidFill>
                  <a:srgbClr val="C00000"/>
                </a:solidFill>
              </a:rPr>
              <a:t>p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q</a:t>
            </a:r>
            <a:r>
              <a:rPr lang="en-US" dirty="0" smtClean="0"/>
              <a:t> are statement variables, the conditional of </a:t>
            </a:r>
            <a:r>
              <a:rPr lang="en-US" dirty="0" smtClean="0">
                <a:solidFill>
                  <a:srgbClr val="C00000"/>
                </a:solidFill>
              </a:rPr>
              <a:t>q</a:t>
            </a:r>
            <a:r>
              <a:rPr lang="en-US" dirty="0" smtClean="0"/>
              <a:t> by </a:t>
            </a:r>
            <a:r>
              <a:rPr lang="en-US" dirty="0" smtClean="0">
                <a:solidFill>
                  <a:srgbClr val="C00000"/>
                </a:solidFill>
              </a:rPr>
              <a:t>p</a:t>
            </a:r>
            <a:r>
              <a:rPr lang="en-US" dirty="0" smtClean="0"/>
              <a:t> is  </a:t>
            </a:r>
            <a:r>
              <a:rPr lang="en-US" dirty="0" smtClean="0">
                <a:solidFill>
                  <a:srgbClr val="C00000"/>
                </a:solidFill>
              </a:rPr>
              <a:t>“If p then q”</a:t>
            </a:r>
            <a:r>
              <a:rPr lang="en-US" dirty="0" smtClean="0"/>
              <a:t> or </a:t>
            </a:r>
            <a:r>
              <a:rPr lang="en-US" dirty="0" smtClean="0">
                <a:solidFill>
                  <a:srgbClr val="C00000"/>
                </a:solidFill>
              </a:rPr>
              <a:t>“p implies q”</a:t>
            </a:r>
            <a:r>
              <a:rPr lang="en-US" dirty="0" smtClean="0"/>
              <a:t> and is denoted </a:t>
            </a:r>
            <a:r>
              <a:rPr lang="en-US" dirty="0" smtClean="0">
                <a:solidFill>
                  <a:srgbClr val="C00000"/>
                </a:solidFill>
              </a:rPr>
              <a:t>p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>
                <a:solidFill>
                  <a:srgbClr val="C00000"/>
                </a:solidFill>
              </a:rPr>
              <a:t> q</a:t>
            </a:r>
            <a:r>
              <a:rPr lang="en-US" dirty="0" smtClean="0"/>
              <a:t>.</a:t>
            </a:r>
          </a:p>
          <a:p>
            <a:r>
              <a:rPr lang="en-US" dirty="0" smtClean="0"/>
              <a:t>It is false when p is true and q is false; otherwise it is true.</a:t>
            </a:r>
          </a:p>
          <a:p>
            <a:endParaRPr lang="en-US" dirty="0" smtClean="0"/>
          </a:p>
          <a:p>
            <a:r>
              <a:rPr lang="en-US" dirty="0" smtClean="0"/>
              <a:t>The arrow </a:t>
            </a:r>
            <a:r>
              <a:rPr lang="en-US" dirty="0" smtClean="0">
                <a:solidFill>
                  <a:srgbClr val="C00000"/>
                </a:solidFill>
              </a:rPr>
              <a:t>"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>
                <a:solidFill>
                  <a:srgbClr val="C00000"/>
                </a:solidFill>
              </a:rPr>
              <a:t> " </a:t>
            </a:r>
            <a:r>
              <a:rPr lang="en-US" dirty="0" smtClean="0"/>
              <a:t>is the </a:t>
            </a:r>
            <a:r>
              <a:rPr lang="en-US" b="1" dirty="0" smtClean="0">
                <a:solidFill>
                  <a:srgbClr val="C00000"/>
                </a:solidFill>
              </a:rPr>
              <a:t>conditional</a:t>
            </a:r>
            <a:r>
              <a:rPr lang="en-US" dirty="0" smtClean="0"/>
              <a:t> operator</a:t>
            </a:r>
          </a:p>
          <a:p>
            <a:r>
              <a:rPr lang="en-US" dirty="0" smtClean="0"/>
              <a:t>and in p </a:t>
            </a:r>
            <a:r>
              <a:rPr lang="en-US" b="1" dirty="0" smtClean="0">
                <a:sym typeface="Symbol"/>
              </a:rPr>
              <a:t></a:t>
            </a:r>
            <a:r>
              <a:rPr lang="en-US" dirty="0" smtClean="0"/>
              <a:t> q the statement </a:t>
            </a:r>
            <a:r>
              <a:rPr lang="en-US" b="1" dirty="0" smtClean="0">
                <a:solidFill>
                  <a:srgbClr val="C00000"/>
                </a:solidFill>
              </a:rPr>
              <a:t>p</a:t>
            </a:r>
            <a:r>
              <a:rPr lang="en-US" b="1" dirty="0" smtClean="0"/>
              <a:t> </a:t>
            </a:r>
            <a:r>
              <a:rPr lang="en-US" dirty="0" smtClean="0"/>
              <a:t>is called</a:t>
            </a:r>
            <a:r>
              <a:rPr lang="en-US" b="1" dirty="0" smtClean="0"/>
              <a:t> </a:t>
            </a:r>
            <a:r>
              <a:rPr lang="en-US" dirty="0" smtClean="0"/>
              <a:t>the</a:t>
            </a:r>
            <a:r>
              <a:rPr lang="en-US" b="1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hypothesis </a:t>
            </a:r>
            <a:endParaRPr lang="en-US" dirty="0" smtClean="0">
              <a:solidFill>
                <a:srgbClr val="C00000"/>
              </a:solidFill>
            </a:endParaRPr>
          </a:p>
          <a:p>
            <a:r>
              <a:rPr lang="en-US" b="1" dirty="0" smtClean="0"/>
              <a:t>(or </a:t>
            </a:r>
            <a:r>
              <a:rPr lang="en-US" b="1" dirty="0" smtClean="0">
                <a:solidFill>
                  <a:srgbClr val="C00000"/>
                </a:solidFill>
              </a:rPr>
              <a:t>antecedent</a:t>
            </a:r>
            <a:r>
              <a:rPr lang="en-US" b="1" dirty="0" smtClean="0"/>
              <a:t>)</a:t>
            </a:r>
          </a:p>
          <a:p>
            <a:r>
              <a:rPr lang="en-US" dirty="0" smtClean="0">
                <a:solidFill>
                  <a:srgbClr val="C00000"/>
                </a:solidFill>
              </a:rPr>
              <a:t>q</a:t>
            </a:r>
            <a:r>
              <a:rPr lang="en-US" dirty="0" smtClean="0"/>
              <a:t> is called the </a:t>
            </a:r>
            <a:r>
              <a:rPr lang="en-US" dirty="0" smtClean="0">
                <a:solidFill>
                  <a:srgbClr val="C00000"/>
                </a:solidFill>
              </a:rPr>
              <a:t>conclusion</a:t>
            </a:r>
            <a:r>
              <a:rPr lang="en-US" dirty="0" smtClean="0"/>
              <a:t> (or </a:t>
            </a:r>
            <a:r>
              <a:rPr lang="en-US" dirty="0" smtClean="0">
                <a:solidFill>
                  <a:srgbClr val="C00000"/>
                </a:solidFill>
              </a:rPr>
              <a:t>consequent</a:t>
            </a:r>
            <a:r>
              <a:rPr lang="en-US" dirty="0" smtClean="0"/>
              <a:t>).</a:t>
            </a:r>
          </a:p>
          <a:p>
            <a:endParaRPr lang="en-US" dirty="0" smtClean="0"/>
          </a:p>
          <a:p>
            <a:pPr>
              <a:buNone/>
            </a:pPr>
            <a:endParaRPr lang="en-US" u="sng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u="sng" dirty="0" smtClean="0"/>
              <a:t>PRACTICE WITH CONDITIONAL STATEMENTS: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Determine the truth value of each of the following conditional statements:</a:t>
            </a:r>
          </a:p>
          <a:p>
            <a:endParaRPr lang="en-US" dirty="0" smtClean="0"/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dirty="0" smtClean="0"/>
              <a:t>“If 1 = 1, then 3 = 3.”			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 </a:t>
            </a: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dirty="0" smtClean="0"/>
              <a:t>“If 1 = 1, then 2 = 3.”			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 </a:t>
            </a: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dirty="0" smtClean="0"/>
              <a:t>“If 1 = 0, then 3 = 3.” 			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dirty="0" smtClean="0"/>
              <a:t>“If 1 = 2, then 2 = 3.”			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dirty="0" smtClean="0"/>
              <a:t>“If 1 = 1, then 1 = 2 and 2 = 3.”		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dirty="0" smtClean="0"/>
              <a:t>“If 1 = 3 or 1 = 2 then 3 = 3.”		</a:t>
            </a:r>
            <a:endParaRPr lang="en-US" dirty="0" smtClean="0">
              <a:solidFill>
                <a:srgbClr val="C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u="sng" dirty="0" smtClean="0"/>
              <a:t>PRACTICE WITH CONDITIONAL STATEMENTS: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Determine the truth value of each of the following conditional statements:</a:t>
            </a:r>
          </a:p>
          <a:p>
            <a:endParaRPr lang="en-US" dirty="0" smtClean="0"/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dirty="0" smtClean="0"/>
              <a:t>“If 1 = 1, then 3 = 3.”			</a:t>
            </a:r>
            <a:r>
              <a:rPr lang="en-US" b="1" dirty="0" smtClean="0">
                <a:solidFill>
                  <a:srgbClr val="C00000"/>
                </a:solidFill>
              </a:rPr>
              <a:t>TRUE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 </a:t>
            </a: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dirty="0" smtClean="0"/>
              <a:t>“If 1 = 1, then 2 = 3.”			</a:t>
            </a:r>
            <a:r>
              <a:rPr lang="en-US" b="1" dirty="0" smtClean="0">
                <a:solidFill>
                  <a:srgbClr val="C00000"/>
                </a:solidFill>
              </a:rPr>
              <a:t>FALSE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 </a:t>
            </a: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dirty="0" smtClean="0"/>
              <a:t>“If 1 = 0, then 3 = 3.” 			</a:t>
            </a:r>
            <a:r>
              <a:rPr lang="en-US" b="1" dirty="0" smtClean="0">
                <a:solidFill>
                  <a:srgbClr val="C00000"/>
                </a:solidFill>
              </a:rPr>
              <a:t>TRUE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dirty="0" smtClean="0"/>
              <a:t>“If 1 = 2, then 2 = 3.”			</a:t>
            </a:r>
            <a:r>
              <a:rPr lang="en-US" b="1" dirty="0" smtClean="0">
                <a:solidFill>
                  <a:srgbClr val="C00000"/>
                </a:solidFill>
              </a:rPr>
              <a:t>TRUE</a:t>
            </a:r>
            <a:r>
              <a:rPr lang="en-US" dirty="0" smtClean="0">
                <a:solidFill>
                  <a:srgbClr val="C00000"/>
                </a:solidFill>
              </a:rPr>
              <a:t> </a:t>
            </a: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dirty="0" smtClean="0"/>
              <a:t>“If 1 = 1, then 1 = 2 and 2 = 3.”		</a:t>
            </a:r>
            <a:r>
              <a:rPr lang="en-US" b="1" dirty="0" smtClean="0">
                <a:solidFill>
                  <a:srgbClr val="C00000"/>
                </a:solidFill>
              </a:rPr>
              <a:t>FALSE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dirty="0" smtClean="0"/>
              <a:t>“If 1 = 3 or 1 = 2 then 3 = 3.”		</a:t>
            </a:r>
            <a:r>
              <a:rPr lang="en-US" b="1" dirty="0" smtClean="0">
                <a:solidFill>
                  <a:srgbClr val="C00000"/>
                </a:solidFill>
              </a:rPr>
              <a:t>TRUE</a:t>
            </a:r>
            <a:endParaRPr lang="en-US" dirty="0" smtClean="0">
              <a:solidFill>
                <a:srgbClr val="C0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097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u="sng" dirty="0" smtClean="0"/>
              <a:t>ALTERNATIVE WAYS OF EXPRESSING IMPLICATIONS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The implication </a:t>
            </a:r>
            <a:r>
              <a:rPr lang="en-US" b="1" dirty="0" smtClean="0"/>
              <a:t>p </a:t>
            </a:r>
            <a:r>
              <a:rPr lang="en-US" b="1" dirty="0" smtClean="0">
                <a:sym typeface="Symbol"/>
              </a:rPr>
              <a:t></a:t>
            </a:r>
            <a:r>
              <a:rPr lang="en-US" b="1" dirty="0" smtClean="0"/>
              <a:t> q </a:t>
            </a:r>
            <a:r>
              <a:rPr lang="en-US" dirty="0" smtClean="0"/>
              <a:t>could be expressed in many alternative ways as: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“if p then q”                      “not p unless q”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“p implies q”		“q follows from p”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“if p, q”			“q if p”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“p only if q”			“q whenever p”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“p is sufficient for q”</a:t>
            </a:r>
            <a:r>
              <a:rPr lang="en-US" smtClean="0"/>
              <a:t>	“</a:t>
            </a:r>
            <a:r>
              <a:rPr lang="en-US" dirty="0" smtClean="0"/>
              <a:t>q is necessary for p”</a:t>
            </a:r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/>
              <a:t>EXERCISE: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Write the following statements in the form “</a:t>
            </a:r>
            <a:r>
              <a:rPr lang="en-US" b="1" dirty="0" smtClean="0">
                <a:solidFill>
                  <a:srgbClr val="FF0000"/>
                </a:solidFill>
              </a:rPr>
              <a:t>if p, then q</a:t>
            </a:r>
            <a:r>
              <a:rPr lang="en-US" dirty="0" smtClean="0"/>
              <a:t>” in English.</a:t>
            </a:r>
          </a:p>
          <a:p>
            <a:pPr>
              <a:buNone/>
            </a:pPr>
            <a:r>
              <a:rPr lang="en-US" b="1" i="1" dirty="0" smtClean="0"/>
              <a:t>	a) Your guarantee is good </a:t>
            </a:r>
            <a:r>
              <a:rPr lang="en-US" b="1" i="1" dirty="0" smtClean="0">
                <a:solidFill>
                  <a:srgbClr val="00B050"/>
                </a:solidFill>
              </a:rPr>
              <a:t>only if</a:t>
            </a:r>
            <a:r>
              <a:rPr lang="en-US" b="1" i="1" dirty="0" smtClean="0"/>
              <a:t> you bought your CD less than 90 days ago.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</a:t>
            </a:r>
            <a:r>
              <a:rPr lang="en-US" b="1" dirty="0" smtClean="0">
                <a:solidFill>
                  <a:srgbClr val="C00000"/>
                </a:solidFill>
              </a:rPr>
              <a:t>If</a:t>
            </a:r>
            <a:r>
              <a:rPr lang="en-US" dirty="0" smtClean="0"/>
              <a:t> your guarantee is good, </a:t>
            </a:r>
            <a:r>
              <a:rPr lang="en-US" b="1" dirty="0" smtClean="0">
                <a:solidFill>
                  <a:srgbClr val="C00000"/>
                </a:solidFill>
              </a:rPr>
              <a:t>then</a:t>
            </a:r>
            <a:r>
              <a:rPr lang="en-US" dirty="0" smtClean="0"/>
              <a:t> you must have bought your CD less than 90 days ago.</a:t>
            </a:r>
          </a:p>
          <a:p>
            <a:endParaRPr lang="en-US" dirty="0" smtClean="0"/>
          </a:p>
          <a:p>
            <a:pPr>
              <a:buNone/>
            </a:pPr>
            <a:r>
              <a:rPr lang="en-US" b="1" i="1" dirty="0" smtClean="0"/>
              <a:t>	b) To get tenure as a professor, </a:t>
            </a:r>
            <a:r>
              <a:rPr lang="en-US" b="1" i="1" dirty="0" smtClean="0">
                <a:solidFill>
                  <a:srgbClr val="00B050"/>
                </a:solidFill>
              </a:rPr>
              <a:t>it is sufficient</a:t>
            </a:r>
            <a:r>
              <a:rPr lang="en-US" b="1" i="1" dirty="0" smtClean="0"/>
              <a:t> to be world-famous.</a:t>
            </a:r>
            <a:endParaRPr lang="en-US" dirty="0" smtClean="0"/>
          </a:p>
          <a:p>
            <a:pPr>
              <a:buNone/>
            </a:pPr>
            <a:r>
              <a:rPr lang="en-US" b="1" i="1" dirty="0" smtClean="0"/>
              <a:t>		</a:t>
            </a:r>
            <a:r>
              <a:rPr lang="en-US" b="1" dirty="0" smtClean="0">
                <a:solidFill>
                  <a:srgbClr val="C00000"/>
                </a:solidFill>
              </a:rPr>
              <a:t>If</a:t>
            </a:r>
            <a:r>
              <a:rPr lang="en-US" dirty="0" smtClean="0"/>
              <a:t> you are world-famous, </a:t>
            </a:r>
            <a:r>
              <a:rPr lang="en-US" b="1" dirty="0" smtClean="0">
                <a:solidFill>
                  <a:srgbClr val="C00000"/>
                </a:solidFill>
              </a:rPr>
              <a:t>then</a:t>
            </a:r>
            <a:r>
              <a:rPr lang="en-US" dirty="0" smtClean="0"/>
              <a:t> you will get tenure as a professor.</a:t>
            </a:r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b="1" i="1" dirty="0" smtClean="0"/>
              <a:t>	c) That you get the job </a:t>
            </a:r>
            <a:r>
              <a:rPr lang="en-US" b="1" i="1" dirty="0" smtClean="0">
                <a:solidFill>
                  <a:srgbClr val="00B050"/>
                </a:solidFill>
              </a:rPr>
              <a:t>implies</a:t>
            </a:r>
            <a:r>
              <a:rPr lang="en-US" b="1" i="1" dirty="0" smtClean="0"/>
              <a:t> that you have the best credentials.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</a:t>
            </a:r>
            <a:r>
              <a:rPr lang="en-US" b="1" dirty="0" smtClean="0">
                <a:solidFill>
                  <a:srgbClr val="C00000"/>
                </a:solidFill>
              </a:rPr>
              <a:t>If</a:t>
            </a:r>
            <a:r>
              <a:rPr lang="en-US" dirty="0" smtClean="0"/>
              <a:t> you get the job, </a:t>
            </a:r>
            <a:r>
              <a:rPr lang="en-US" b="1" dirty="0" smtClean="0">
                <a:solidFill>
                  <a:srgbClr val="C00000"/>
                </a:solidFill>
              </a:rPr>
              <a:t>then</a:t>
            </a:r>
            <a:r>
              <a:rPr lang="en-US" dirty="0" smtClean="0"/>
              <a:t> you have the best credentials.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i="1" dirty="0" smtClean="0"/>
              <a:t>	d) It is </a:t>
            </a:r>
            <a:r>
              <a:rPr lang="en-US" b="1" i="1" dirty="0" smtClean="0">
                <a:solidFill>
                  <a:srgbClr val="00B050"/>
                </a:solidFill>
              </a:rPr>
              <a:t>necessary</a:t>
            </a:r>
            <a:r>
              <a:rPr lang="en-US" b="1" i="1" dirty="0" smtClean="0"/>
              <a:t> to walk 8 miles to get to the top of the Peak.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b="1" dirty="0" smtClean="0">
                <a:solidFill>
                  <a:srgbClr val="C00000"/>
                </a:solidFill>
              </a:rPr>
              <a:t>If</a:t>
            </a:r>
            <a:r>
              <a:rPr lang="en-US" dirty="0" smtClean="0"/>
              <a:t> you get to the top of the peak, </a:t>
            </a:r>
            <a:r>
              <a:rPr lang="en-US" b="1" dirty="0" smtClean="0">
                <a:solidFill>
                  <a:srgbClr val="C00000"/>
                </a:solidFill>
              </a:rPr>
              <a:t>then</a:t>
            </a:r>
            <a:r>
              <a:rPr lang="en-US" dirty="0" smtClean="0"/>
              <a:t> you must have walked  8 miles.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TRANSLATING ENGLISH SENTENCES TO SYMBOLS: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Let </a:t>
            </a:r>
            <a:r>
              <a:rPr lang="en-US" b="1" dirty="0" smtClean="0">
                <a:solidFill>
                  <a:srgbClr val="C00000"/>
                </a:solidFill>
              </a:rPr>
              <a:t>p</a:t>
            </a:r>
            <a:r>
              <a:rPr lang="en-US" b="1" dirty="0" smtClean="0"/>
              <a:t> and </a:t>
            </a:r>
            <a:r>
              <a:rPr lang="en-US" b="1" dirty="0" smtClean="0">
                <a:solidFill>
                  <a:srgbClr val="C00000"/>
                </a:solidFill>
              </a:rPr>
              <a:t>q</a:t>
            </a:r>
            <a:r>
              <a:rPr lang="en-US" b="1" dirty="0" smtClean="0"/>
              <a:t> be propositions:</a:t>
            </a:r>
          </a:p>
          <a:p>
            <a:pPr>
              <a:buNone/>
            </a:pPr>
            <a:r>
              <a:rPr lang="en-US" dirty="0" smtClean="0"/>
              <a:t>			p = “you get an A on the final exam”</a:t>
            </a:r>
          </a:p>
          <a:p>
            <a:pPr>
              <a:buNone/>
            </a:pPr>
            <a:r>
              <a:rPr lang="en-US" dirty="0" smtClean="0"/>
              <a:t>			q = “you do every exercise in this book”</a:t>
            </a:r>
          </a:p>
          <a:p>
            <a:pPr>
              <a:buNone/>
            </a:pPr>
            <a:r>
              <a:rPr lang="en-US" dirty="0" smtClean="0"/>
              <a:t>			r = “you get an A in this class”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Write the following propositions using p, q, and r and logical connectives.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To get an A in this class it is necessary for you to get an A on the final.</a:t>
            </a: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u="sng" dirty="0" smtClean="0"/>
              <a:t>SOLUTION</a:t>
            </a:r>
            <a:r>
              <a:rPr lang="en-US" dirty="0" smtClean="0"/>
              <a:t>		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r </a:t>
            </a:r>
            <a:r>
              <a:rPr lang="en-US" b="1" dirty="0">
                <a:solidFill>
                  <a:srgbClr val="C00000"/>
                </a:solidFill>
                <a:sym typeface="Symbol"/>
              </a:rPr>
              <a:t> </a:t>
            </a:r>
            <a:r>
              <a:rPr lang="en-US" b="1" dirty="0">
                <a:solidFill>
                  <a:srgbClr val="C00000"/>
                </a:solidFill>
              </a:rPr>
              <a:t>p </a:t>
            </a:r>
            <a:endParaRPr lang="en-US" b="1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You do every exercise in this book; You get an A on the final, implies, you  get an A in the class.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u="sng" dirty="0" smtClean="0"/>
              <a:t>SOLUTION</a:t>
            </a:r>
            <a:r>
              <a:rPr lang="en-US" dirty="0" smtClean="0"/>
              <a:t>		</a:t>
            </a:r>
            <a:r>
              <a:rPr lang="en-US" b="1" dirty="0">
                <a:solidFill>
                  <a:srgbClr val="C00000"/>
                </a:solidFill>
              </a:rPr>
              <a:t>?</a:t>
            </a:r>
            <a:endParaRPr lang="en-US" b="1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Getting an A on the final and doing every exercise in this book is sufficient for getting an A in this class.</a:t>
            </a: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u="sng" dirty="0" smtClean="0"/>
              <a:t>SOLUTION</a:t>
            </a:r>
            <a:r>
              <a:rPr lang="en-US" dirty="0" smtClean="0"/>
              <a:t>		</a:t>
            </a:r>
            <a:r>
              <a:rPr lang="en-US" b="1" dirty="0">
                <a:solidFill>
                  <a:srgbClr val="C00000"/>
                </a:solidFill>
              </a:rPr>
              <a:t>?</a:t>
            </a:r>
            <a:endParaRPr lang="en-US" dirty="0" smtClean="0">
              <a:solidFill>
                <a:srgbClr val="C00000"/>
              </a:solidFill>
            </a:endParaRP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186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To get an A in this class it is necessary for you to get an A on the final.</a:t>
            </a: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u="sng" dirty="0" smtClean="0"/>
              <a:t>SOLUTION</a:t>
            </a:r>
            <a:r>
              <a:rPr lang="en-US" dirty="0" smtClean="0"/>
              <a:t>		</a:t>
            </a:r>
            <a:r>
              <a:rPr lang="en-US" b="1" dirty="0" smtClean="0">
                <a:solidFill>
                  <a:srgbClr val="C00000"/>
                </a:solidFill>
              </a:rPr>
              <a:t> r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 </a:t>
            </a:r>
            <a:r>
              <a:rPr lang="en-US" b="1" dirty="0" smtClean="0">
                <a:solidFill>
                  <a:srgbClr val="C00000"/>
                </a:solidFill>
              </a:rPr>
              <a:t>p 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You do every exercise in this book; You get an A on the final, implies, you  get an A in the class.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u="sng" dirty="0" smtClean="0"/>
              <a:t>SOLUTION</a:t>
            </a:r>
            <a:r>
              <a:rPr lang="en-US" dirty="0" smtClean="0"/>
              <a:t>		</a:t>
            </a:r>
            <a:r>
              <a:rPr lang="en-US" b="1" dirty="0">
                <a:solidFill>
                  <a:srgbClr val="C00000"/>
                </a:solidFill>
              </a:rPr>
              <a:t>q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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C00000"/>
                </a:solidFill>
              </a:rPr>
              <a:t>p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b="1" dirty="0" smtClean="0">
                <a:solidFill>
                  <a:srgbClr val="C00000"/>
                </a:solidFill>
              </a:rPr>
              <a:t> r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Getting an A on the final and doing every exercise in this book is sufficient for getting an A in this class.</a:t>
            </a: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u="sng" dirty="0" smtClean="0"/>
              <a:t>SOLUTION</a:t>
            </a:r>
            <a:r>
              <a:rPr lang="en-US" dirty="0" smtClean="0"/>
              <a:t>		</a:t>
            </a:r>
            <a:r>
              <a:rPr lang="en-US" b="1" dirty="0" smtClean="0">
                <a:solidFill>
                  <a:srgbClr val="C00000"/>
                </a:solidFill>
              </a:rPr>
              <a:t>p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</a:t>
            </a:r>
            <a:r>
              <a:rPr lang="en-US" b="1" dirty="0" smtClean="0">
                <a:solidFill>
                  <a:srgbClr val="C00000"/>
                </a:solidFill>
              </a:rPr>
              <a:t> q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b="1" dirty="0" smtClean="0">
                <a:solidFill>
                  <a:srgbClr val="C00000"/>
                </a:solidFill>
              </a:rPr>
              <a:t> r</a:t>
            </a:r>
            <a:endParaRPr lang="en-US" dirty="0" smtClean="0">
              <a:solidFill>
                <a:srgbClr val="C00000"/>
              </a:solidFill>
            </a:endParaRP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TRANSLATING SYMBOLIC PROPOSITIONS TO ENGLISH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b="1" dirty="0" smtClean="0"/>
              <a:t>p</a:t>
            </a:r>
            <a:r>
              <a:rPr lang="en-US" dirty="0" smtClean="0"/>
              <a:t>, </a:t>
            </a:r>
            <a:r>
              <a:rPr lang="en-US" b="1" dirty="0" smtClean="0"/>
              <a:t>q</a:t>
            </a:r>
            <a:r>
              <a:rPr lang="en-US" dirty="0" smtClean="0"/>
              <a:t>, and </a:t>
            </a:r>
            <a:r>
              <a:rPr lang="en-US" b="1" dirty="0" smtClean="0"/>
              <a:t>r</a:t>
            </a:r>
            <a:r>
              <a:rPr lang="en-US" dirty="0" smtClean="0"/>
              <a:t> be the propositions: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</a:t>
            </a:r>
            <a:r>
              <a:rPr lang="en-US" b="1" dirty="0" smtClean="0">
                <a:solidFill>
                  <a:srgbClr val="C00000"/>
                </a:solidFill>
              </a:rPr>
              <a:t>p</a:t>
            </a:r>
            <a:r>
              <a:rPr lang="en-US" dirty="0" smtClean="0"/>
              <a:t> = “you have the flu”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b="1" dirty="0" smtClean="0">
                <a:solidFill>
                  <a:srgbClr val="C00000"/>
                </a:solidFill>
              </a:rPr>
              <a:t>q</a:t>
            </a:r>
            <a:r>
              <a:rPr lang="en-US" dirty="0" smtClean="0"/>
              <a:t> = “you miss the final exam”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b="1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= “you pass the course”</a:t>
            </a:r>
          </a:p>
          <a:p>
            <a:endParaRPr lang="en-US" dirty="0" smtClean="0"/>
          </a:p>
          <a:p>
            <a:r>
              <a:rPr lang="en-US" dirty="0" smtClean="0"/>
              <a:t>Express the following propositions as an English sentence.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 p </a:t>
            </a:r>
            <a:r>
              <a:rPr lang="en-US" b="1" dirty="0" smtClean="0">
                <a:sym typeface="Symbol"/>
              </a:rPr>
              <a:t></a:t>
            </a:r>
            <a:r>
              <a:rPr lang="en-US" b="1" dirty="0" smtClean="0"/>
              <a:t> q 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r>
              <a:rPr lang="en-US" b="1" dirty="0" smtClean="0"/>
              <a:t>~q </a:t>
            </a:r>
            <a:r>
              <a:rPr lang="en-US" b="1" dirty="0" smtClean="0">
                <a:sym typeface="Symbol"/>
              </a:rPr>
              <a:t></a:t>
            </a:r>
            <a:r>
              <a:rPr lang="en-US" b="1" dirty="0" smtClean="0"/>
              <a:t> r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r>
              <a:rPr lang="en-US" b="1" dirty="0" smtClean="0"/>
              <a:t>~p </a:t>
            </a:r>
            <a:r>
              <a:rPr lang="en-US" b="1" dirty="0" smtClean="0">
                <a:sym typeface="Symbol"/>
              </a:rPr>
              <a:t></a:t>
            </a:r>
            <a:r>
              <a:rPr lang="en-US" b="1" dirty="0" smtClean="0"/>
              <a:t> ~q</a:t>
            </a:r>
            <a:r>
              <a:rPr lang="en-US" b="1" dirty="0" smtClean="0">
                <a:sym typeface="Symbol"/>
              </a:rPr>
              <a:t></a:t>
            </a:r>
            <a:r>
              <a:rPr lang="en-US" b="1" dirty="0" smtClean="0"/>
              <a:t> r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500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 p </a:t>
            </a:r>
            <a:r>
              <a:rPr lang="en-US" b="1" dirty="0" smtClean="0">
                <a:sym typeface="Symbol"/>
              </a:rPr>
              <a:t></a:t>
            </a:r>
            <a:r>
              <a:rPr lang="en-US" b="1" dirty="0" smtClean="0"/>
              <a:t> q 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If you have flu, then you will miss the final exam.</a:t>
            </a:r>
          </a:p>
          <a:p>
            <a:pPr>
              <a:buNone/>
            </a:pPr>
            <a:endParaRPr lang="en-US" dirty="0" smtClean="0"/>
          </a:p>
          <a:p>
            <a:r>
              <a:rPr lang="en-US" b="1" dirty="0" smtClean="0"/>
              <a:t>~q </a:t>
            </a:r>
            <a:r>
              <a:rPr lang="en-US" b="1" dirty="0" smtClean="0">
                <a:sym typeface="Symbol"/>
              </a:rPr>
              <a:t></a:t>
            </a:r>
            <a:r>
              <a:rPr lang="en-US" b="1" dirty="0" smtClean="0"/>
              <a:t> r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If you don’t miss the final exam, you will pass the course.</a:t>
            </a:r>
          </a:p>
          <a:p>
            <a:pPr>
              <a:buNone/>
            </a:pPr>
            <a:endParaRPr lang="en-US" dirty="0" smtClean="0"/>
          </a:p>
          <a:p>
            <a:r>
              <a:rPr lang="en-US" b="1" dirty="0" smtClean="0"/>
              <a:t>~p </a:t>
            </a:r>
            <a:r>
              <a:rPr lang="en-US" b="1" dirty="0" smtClean="0">
                <a:sym typeface="Symbol"/>
              </a:rPr>
              <a:t></a:t>
            </a:r>
            <a:r>
              <a:rPr lang="en-US" b="1" dirty="0" smtClean="0"/>
              <a:t> ~q</a:t>
            </a:r>
            <a:r>
              <a:rPr lang="en-US" b="1" dirty="0" smtClean="0">
                <a:sym typeface="Symbol"/>
              </a:rPr>
              <a:t></a:t>
            </a:r>
            <a:r>
              <a:rPr lang="en-US" b="1" dirty="0" smtClean="0"/>
              <a:t> r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If you neither have flu nor miss the final exam, then you will pass the course.</a:t>
            </a:r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HIERARCHY OF OPERATIONS</a:t>
            </a:r>
            <a:br>
              <a:rPr lang="en-US" b="1" dirty="0" smtClean="0"/>
            </a:br>
            <a:r>
              <a:rPr lang="en-US" b="1" dirty="0" smtClean="0"/>
              <a:t>FOR LOGICAL CONNECTIVES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			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b="1" dirty="0" smtClean="0">
                <a:solidFill>
                  <a:srgbClr val="C00000"/>
                </a:solidFill>
              </a:rPr>
              <a:t>~</a:t>
            </a:r>
            <a:r>
              <a:rPr lang="en-US" dirty="0" smtClean="0"/>
              <a:t> (negation)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			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</a:t>
            </a:r>
            <a:r>
              <a:rPr lang="en-US" dirty="0" smtClean="0"/>
              <a:t> (conjunction)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			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</a:t>
            </a:r>
            <a:r>
              <a:rPr lang="en-US" dirty="0" smtClean="0"/>
              <a:t> (disjunction)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			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/>
              <a:t> (conditional)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0"/>
            <a:ext cx="8229600" cy="9906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Construct a truth table for the statement form </a:t>
            </a:r>
            <a:r>
              <a:rPr lang="en-US" b="1" dirty="0" smtClean="0"/>
              <a:t>(p </a:t>
            </a:r>
            <a:r>
              <a:rPr lang="en-US" b="1" dirty="0" smtClean="0">
                <a:sym typeface="Symbol"/>
              </a:rPr>
              <a:t></a:t>
            </a:r>
            <a:r>
              <a:rPr lang="en-US" b="1" dirty="0" smtClean="0"/>
              <a:t> ~ q) </a:t>
            </a:r>
            <a:r>
              <a:rPr lang="en-US" b="1" dirty="0" smtClean="0">
                <a:sym typeface="Symbol"/>
              </a:rPr>
              <a:t></a:t>
            </a:r>
            <a:r>
              <a:rPr lang="en-US" b="1" dirty="0" smtClean="0"/>
              <a:t> ~ 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952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smtClean="0"/>
              <a:t>Construct a truth table for the statement form </a:t>
            </a:r>
            <a:r>
              <a:rPr lang="en-US" b="1" dirty="0" smtClean="0"/>
              <a:t>(p </a:t>
            </a:r>
            <a:r>
              <a:rPr lang="en-US" b="1" dirty="0" smtClean="0">
                <a:sym typeface="Symbol"/>
              </a:rPr>
              <a:t></a:t>
            </a:r>
            <a:r>
              <a:rPr lang="en-US" b="1" dirty="0" smtClean="0"/>
              <a:t> ~ q) </a:t>
            </a:r>
            <a:r>
              <a:rPr lang="en-US" b="1" dirty="0" smtClean="0">
                <a:sym typeface="Symbol"/>
              </a:rPr>
              <a:t></a:t>
            </a:r>
            <a:r>
              <a:rPr lang="en-US" b="1" dirty="0" smtClean="0"/>
              <a:t> ~ p</a:t>
            </a:r>
            <a:endParaRPr lang="en-US" dirty="0"/>
          </a:p>
        </p:txBody>
      </p:sp>
      <p:graphicFrame>
        <p:nvGraphicFramePr>
          <p:cNvPr id="1026" name="Group 2"/>
          <p:cNvGraphicFramePr>
            <a:graphicFrameLocks noGrp="1"/>
          </p:cNvGraphicFramePr>
          <p:nvPr/>
        </p:nvGraphicFramePr>
        <p:xfrm>
          <a:off x="1447800" y="1447800"/>
          <a:ext cx="6553200" cy="2344738"/>
        </p:xfrm>
        <a:graphic>
          <a:graphicData uri="http://schemas.openxmlformats.org/drawingml/2006/table">
            <a:tbl>
              <a:tblPr/>
              <a:tblGrid>
                <a:gridCol w="47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89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94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62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5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~q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~p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p  ~q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(p  ~ q)  ~ 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590800"/>
            <a:ext cx="8229600" cy="9906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Construct a truth table for the statement form (</a:t>
            </a:r>
            <a:r>
              <a:rPr lang="en-US" b="1" dirty="0" smtClean="0"/>
              <a:t>p </a:t>
            </a:r>
            <a:r>
              <a:rPr lang="en-US" b="1" dirty="0" smtClean="0">
                <a:sym typeface="Symbol"/>
              </a:rPr>
              <a:t></a:t>
            </a:r>
            <a:r>
              <a:rPr lang="en-US" b="1" dirty="0" smtClean="0"/>
              <a:t>q)</a:t>
            </a:r>
            <a:r>
              <a:rPr lang="en-US" b="1" dirty="0" smtClean="0">
                <a:sym typeface="Symbol"/>
              </a:rPr>
              <a:t></a:t>
            </a:r>
            <a:r>
              <a:rPr lang="en-US" b="1" dirty="0" smtClean="0"/>
              <a:t>(~ p </a:t>
            </a:r>
            <a:r>
              <a:rPr lang="en-US" b="1" dirty="0" smtClean="0">
                <a:sym typeface="Symbol"/>
              </a:rPr>
              <a:t></a:t>
            </a:r>
            <a:r>
              <a:rPr lang="en-US" b="1" dirty="0" smtClean="0"/>
              <a:t> r)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095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smtClean="0"/>
              <a:t>Construct a truth table for the statement form (</a:t>
            </a:r>
            <a:r>
              <a:rPr lang="en-US" b="1" dirty="0" smtClean="0"/>
              <a:t>p </a:t>
            </a:r>
            <a:r>
              <a:rPr lang="en-US" b="1" dirty="0" smtClean="0">
                <a:sym typeface="Symbol"/>
              </a:rPr>
              <a:t></a:t>
            </a:r>
            <a:r>
              <a:rPr lang="en-US" b="1" dirty="0" smtClean="0"/>
              <a:t>q)</a:t>
            </a:r>
            <a:r>
              <a:rPr lang="en-US" b="1" dirty="0" smtClean="0">
                <a:sym typeface="Symbol"/>
              </a:rPr>
              <a:t></a:t>
            </a:r>
            <a:r>
              <a:rPr lang="en-US" b="1" dirty="0" smtClean="0"/>
              <a:t>(~ p </a:t>
            </a:r>
            <a:r>
              <a:rPr lang="en-US" b="1" dirty="0" smtClean="0">
                <a:sym typeface="Symbol"/>
              </a:rPr>
              <a:t></a:t>
            </a:r>
            <a:r>
              <a:rPr lang="en-US" b="1" dirty="0" smtClean="0"/>
              <a:t> r)</a:t>
            </a:r>
            <a:endParaRPr lang="en-US" dirty="0"/>
          </a:p>
        </p:txBody>
      </p:sp>
      <p:graphicFrame>
        <p:nvGraphicFramePr>
          <p:cNvPr id="2050" name="Group 2"/>
          <p:cNvGraphicFramePr>
            <a:graphicFrameLocks noGrp="1"/>
          </p:cNvGraphicFramePr>
          <p:nvPr/>
        </p:nvGraphicFramePr>
        <p:xfrm>
          <a:off x="914401" y="1295400"/>
          <a:ext cx="7696199" cy="4114800"/>
        </p:xfrm>
        <a:graphic>
          <a:graphicData uri="http://schemas.openxmlformats.org/drawingml/2006/table">
            <a:tbl>
              <a:tblPr/>
              <a:tblGrid>
                <a:gridCol w="425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6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95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43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03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pq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~p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~pr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(p  q)  (~ p r)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u="sng" dirty="0" smtClean="0"/>
              <a:t>LOGICAL EQUIVALENCE INVOLVING IMPLICATION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8229600" cy="4937760"/>
          </a:xfrm>
        </p:spPr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Use truth table to show </a:t>
            </a:r>
            <a:r>
              <a:rPr lang="en-US" b="1" dirty="0" smtClean="0"/>
              <a:t>p </a:t>
            </a:r>
            <a:r>
              <a:rPr lang="en-US" b="1" dirty="0" smtClean="0">
                <a:sym typeface="Symbol"/>
              </a:rPr>
              <a:t> </a:t>
            </a:r>
            <a:r>
              <a:rPr lang="en-US" b="1" dirty="0" smtClean="0"/>
              <a:t>q </a:t>
            </a:r>
            <a:r>
              <a:rPr lang="en-US" b="1" dirty="0" smtClean="0">
                <a:sym typeface="Symbol"/>
              </a:rPr>
              <a:t></a:t>
            </a:r>
            <a:r>
              <a:rPr lang="en-US" b="1" dirty="0" smtClean="0"/>
              <a:t> ~q </a:t>
            </a:r>
            <a:r>
              <a:rPr lang="en-US" b="1" dirty="0" smtClean="0">
                <a:sym typeface="Symbol"/>
              </a:rPr>
              <a:t></a:t>
            </a:r>
            <a:r>
              <a:rPr lang="en-US" b="1" dirty="0" smtClean="0"/>
              <a:t> ~p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65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u="sng" dirty="0" smtClean="0"/>
              <a:t>LOGICAL EQUIVALENCE INVOLVING IMPLICATION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8229600" cy="4937760"/>
          </a:xfrm>
        </p:spPr>
        <p:txBody>
          <a:bodyPr/>
          <a:lstStyle/>
          <a:p>
            <a:r>
              <a:rPr lang="en-US" dirty="0" smtClean="0"/>
              <a:t>Use truth table to show </a:t>
            </a:r>
            <a:r>
              <a:rPr lang="en-US" b="1" dirty="0" smtClean="0"/>
              <a:t>p </a:t>
            </a:r>
            <a:r>
              <a:rPr lang="en-US" b="1" dirty="0" smtClean="0">
                <a:sym typeface="Symbol"/>
              </a:rPr>
              <a:t> </a:t>
            </a:r>
            <a:r>
              <a:rPr lang="en-US" b="1" dirty="0" smtClean="0"/>
              <a:t>q </a:t>
            </a:r>
            <a:r>
              <a:rPr lang="en-US" b="1" dirty="0" smtClean="0">
                <a:sym typeface="Symbol"/>
              </a:rPr>
              <a:t></a:t>
            </a:r>
            <a:r>
              <a:rPr lang="en-US" b="1" dirty="0" smtClean="0"/>
              <a:t> ~q </a:t>
            </a:r>
            <a:r>
              <a:rPr lang="en-US" b="1" dirty="0" smtClean="0">
                <a:sym typeface="Symbol"/>
              </a:rPr>
              <a:t></a:t>
            </a:r>
            <a:r>
              <a:rPr lang="en-US" b="1" dirty="0" smtClean="0"/>
              <a:t> ~p</a:t>
            </a:r>
            <a:endParaRPr lang="en-US" dirty="0"/>
          </a:p>
        </p:txBody>
      </p:sp>
      <p:graphicFrame>
        <p:nvGraphicFramePr>
          <p:cNvPr id="38914" name="Group 2"/>
          <p:cNvGraphicFramePr>
            <a:graphicFrameLocks noGrp="1"/>
          </p:cNvGraphicFramePr>
          <p:nvPr/>
        </p:nvGraphicFramePr>
        <p:xfrm>
          <a:off x="1371600" y="1905000"/>
          <a:ext cx="5867400" cy="2286000"/>
        </p:xfrm>
        <a:graphic>
          <a:graphicData uri="http://schemas.openxmlformats.org/drawingml/2006/table">
            <a:tbl>
              <a:tblPr/>
              <a:tblGrid>
                <a:gridCol w="8055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44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49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83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980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6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~q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~p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p  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~q  ~p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5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38960" name="Group 48"/>
          <p:cNvGrpSpPr>
            <a:grpSpLocks/>
          </p:cNvGrpSpPr>
          <p:nvPr/>
        </p:nvGrpSpPr>
        <p:grpSpPr bwMode="auto">
          <a:xfrm>
            <a:off x="5181600" y="4191000"/>
            <a:ext cx="838200" cy="609600"/>
            <a:chOff x="2400" y="3840"/>
            <a:chExt cx="528" cy="384"/>
          </a:xfrm>
        </p:grpSpPr>
        <p:sp>
          <p:nvSpPr>
            <p:cNvPr id="38961" name="Line 49"/>
            <p:cNvSpPr>
              <a:spLocks noChangeShapeType="1"/>
            </p:cNvSpPr>
            <p:nvPr/>
          </p:nvSpPr>
          <p:spPr bwMode="auto">
            <a:xfrm>
              <a:off x="2400" y="3840"/>
              <a:ext cx="0" cy="3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962" name="Line 50"/>
            <p:cNvSpPr>
              <a:spLocks noChangeShapeType="1"/>
            </p:cNvSpPr>
            <p:nvPr/>
          </p:nvSpPr>
          <p:spPr bwMode="auto">
            <a:xfrm>
              <a:off x="2928" y="3840"/>
              <a:ext cx="0" cy="3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4" name="Rectangle 53"/>
          <p:cNvSpPr/>
          <p:nvPr/>
        </p:nvSpPr>
        <p:spPr>
          <a:xfrm>
            <a:off x="4648200" y="4800600"/>
            <a:ext cx="18277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same truth values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8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IMPLICATION LAW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r>
              <a:rPr lang="en-US" b="1" dirty="0" smtClean="0"/>
              <a:t>p </a:t>
            </a:r>
            <a:r>
              <a:rPr lang="en-US" b="1" dirty="0" smtClean="0">
                <a:sym typeface="Symbol"/>
              </a:rPr>
              <a:t> </a:t>
            </a:r>
            <a:r>
              <a:rPr lang="en-US" b="1" dirty="0" smtClean="0"/>
              <a:t>q </a:t>
            </a:r>
            <a:r>
              <a:rPr lang="en-US" b="1" dirty="0" smtClean="0">
                <a:sym typeface="Symbol"/>
              </a:rPr>
              <a:t></a:t>
            </a:r>
            <a:r>
              <a:rPr lang="en-US" b="1" dirty="0" smtClean="0"/>
              <a:t> ~p </a:t>
            </a:r>
            <a:r>
              <a:rPr lang="en-US" b="1" dirty="0" smtClean="0">
                <a:sym typeface="Symbol"/>
              </a:rPr>
              <a:t> </a:t>
            </a:r>
            <a:r>
              <a:rPr lang="en-US" b="1" dirty="0" smtClean="0"/>
              <a:t>q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326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IMPLICATION LAW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p </a:t>
            </a:r>
            <a:r>
              <a:rPr lang="en-US" b="1" dirty="0" smtClean="0">
                <a:sym typeface="Symbol"/>
              </a:rPr>
              <a:t> </a:t>
            </a:r>
            <a:r>
              <a:rPr lang="en-US" b="1" dirty="0" smtClean="0"/>
              <a:t>q </a:t>
            </a:r>
            <a:r>
              <a:rPr lang="en-US" b="1" dirty="0" smtClean="0">
                <a:sym typeface="Symbol"/>
              </a:rPr>
              <a:t></a:t>
            </a:r>
            <a:r>
              <a:rPr lang="en-US" b="1" dirty="0" smtClean="0"/>
              <a:t> ~p </a:t>
            </a:r>
            <a:r>
              <a:rPr lang="en-US" b="1" dirty="0" smtClean="0">
                <a:sym typeface="Symbol"/>
              </a:rPr>
              <a:t> </a:t>
            </a:r>
            <a:r>
              <a:rPr lang="en-US" b="1" dirty="0" smtClean="0"/>
              <a:t>q</a:t>
            </a:r>
            <a:endParaRPr lang="en-US" dirty="0"/>
          </a:p>
        </p:txBody>
      </p:sp>
      <p:graphicFrame>
        <p:nvGraphicFramePr>
          <p:cNvPr id="39938" name="Group 2"/>
          <p:cNvGraphicFramePr>
            <a:graphicFrameLocks noGrp="1"/>
          </p:cNvGraphicFramePr>
          <p:nvPr/>
        </p:nvGraphicFramePr>
        <p:xfrm>
          <a:off x="1447800" y="2057400"/>
          <a:ext cx="5486400" cy="2286000"/>
        </p:xfrm>
        <a:graphic>
          <a:graphicData uri="http://schemas.openxmlformats.org/drawingml/2006/table">
            <a:tbl>
              <a:tblPr/>
              <a:tblGrid>
                <a:gridCol w="1096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6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8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69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69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pq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~p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~p  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u="sng" dirty="0" smtClean="0"/>
              <a:t>NEGATION OF A CONDITIONAL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Since p </a:t>
            </a:r>
            <a:r>
              <a:rPr lang="en-US" dirty="0" smtClean="0">
                <a:sym typeface="Symbol"/>
              </a:rPr>
              <a:t> </a:t>
            </a:r>
            <a:r>
              <a:rPr lang="en-US" dirty="0" smtClean="0"/>
              <a:t>q </a:t>
            </a:r>
            <a:r>
              <a:rPr lang="en-US" dirty="0" smtClean="0">
                <a:sym typeface="Symbol"/>
              </a:rPr>
              <a:t></a:t>
            </a:r>
            <a:r>
              <a:rPr lang="en-US" dirty="0" smtClean="0"/>
              <a:t> ~p </a:t>
            </a:r>
            <a:r>
              <a:rPr lang="en-US" dirty="0" smtClean="0">
                <a:sym typeface="Symbol"/>
              </a:rPr>
              <a:t> </a:t>
            </a:r>
            <a:r>
              <a:rPr lang="en-US" dirty="0" smtClean="0"/>
              <a:t>q therefore</a:t>
            </a:r>
          </a:p>
          <a:p>
            <a:r>
              <a:rPr lang="en-US" dirty="0" smtClean="0"/>
              <a:t>~ (p </a:t>
            </a:r>
            <a:r>
              <a:rPr lang="en-US" dirty="0" smtClean="0">
                <a:sym typeface="Symbol"/>
              </a:rPr>
              <a:t></a:t>
            </a:r>
            <a:r>
              <a:rPr lang="en-US" dirty="0" smtClean="0"/>
              <a:t> q) 	</a:t>
            </a:r>
            <a:r>
              <a:rPr lang="en-US" dirty="0" smtClean="0">
                <a:sym typeface="Symbol"/>
              </a:rPr>
              <a:t></a:t>
            </a:r>
            <a:r>
              <a:rPr lang="en-US" dirty="0" smtClean="0"/>
              <a:t> ~ (~ p </a:t>
            </a:r>
            <a:r>
              <a:rPr lang="en-US" dirty="0" smtClean="0">
                <a:sym typeface="Symbol"/>
              </a:rPr>
              <a:t></a:t>
            </a:r>
            <a:r>
              <a:rPr lang="en-US" dirty="0" smtClean="0"/>
              <a:t> q)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		</a:t>
            </a:r>
            <a:r>
              <a:rPr lang="en-US" dirty="0" smtClean="0"/>
              <a:t> ~ (~ p) </a:t>
            </a:r>
            <a:r>
              <a:rPr lang="en-US" dirty="0" smtClean="0">
                <a:sym typeface="Symbol"/>
              </a:rPr>
              <a:t></a:t>
            </a:r>
            <a:r>
              <a:rPr lang="en-US" dirty="0" smtClean="0"/>
              <a:t> (~ q)	by De Morgan’s law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		</a:t>
            </a:r>
            <a:r>
              <a:rPr lang="en-US" dirty="0" smtClean="0"/>
              <a:t>  p </a:t>
            </a:r>
            <a:r>
              <a:rPr lang="en-US" dirty="0" smtClean="0">
                <a:sym typeface="Symbol"/>
              </a:rPr>
              <a:t></a:t>
            </a:r>
            <a:r>
              <a:rPr lang="en-US" dirty="0" smtClean="0"/>
              <a:t> ~ q 	by the Double Negative law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Thus the negation of “</a:t>
            </a:r>
            <a:r>
              <a:rPr lang="en-US" b="1" dirty="0" smtClean="0">
                <a:solidFill>
                  <a:srgbClr val="C00000"/>
                </a:solidFill>
              </a:rPr>
              <a:t>if p then q</a:t>
            </a:r>
            <a:r>
              <a:rPr lang="en-US" dirty="0" smtClean="0"/>
              <a:t>” is logically equivalent to </a:t>
            </a:r>
            <a:r>
              <a:rPr lang="en-US" dirty="0" smtClean="0">
                <a:solidFill>
                  <a:srgbClr val="C00000"/>
                </a:solidFill>
              </a:rPr>
              <a:t>“</a:t>
            </a:r>
            <a:r>
              <a:rPr lang="en-US" b="1" dirty="0" smtClean="0">
                <a:solidFill>
                  <a:srgbClr val="C00000"/>
                </a:solidFill>
              </a:rPr>
              <a:t>p and not q</a:t>
            </a:r>
            <a:r>
              <a:rPr lang="en-US" dirty="0" smtClean="0"/>
              <a:t>”.</a:t>
            </a:r>
          </a:p>
          <a:p>
            <a:endParaRPr lang="en-US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Note:</a:t>
            </a:r>
          </a:p>
          <a:p>
            <a:pPr>
              <a:buNone/>
            </a:pPr>
            <a:r>
              <a:rPr lang="en-US" dirty="0" smtClean="0"/>
              <a:t>	Accordingly, the negation of an if-then statement does not start with the word if.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/>
              <a:t>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Write negations of each of the following statements:</a:t>
            </a:r>
          </a:p>
          <a:p>
            <a:pPr marL="0" indent="0">
              <a:buNone/>
            </a:pPr>
            <a:endParaRPr lang="en-US" b="1" dirty="0" smtClean="0"/>
          </a:p>
          <a:p>
            <a:r>
              <a:rPr lang="en-US" dirty="0" smtClean="0"/>
              <a:t>If Ali lives in Pakistan then he lives in Lahore.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 Ali lives in Pakistan and he does not live in Lahore.</a:t>
            </a:r>
          </a:p>
          <a:p>
            <a:endParaRPr lang="en-US" dirty="0" smtClean="0"/>
          </a:p>
          <a:p>
            <a:r>
              <a:rPr lang="en-US" dirty="0" smtClean="0"/>
              <a:t>If my car is in the repair shop, then I cannot get to class.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/>
              <a:t>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en-US" b="1" dirty="0" smtClean="0"/>
          </a:p>
          <a:p>
            <a:r>
              <a:rPr lang="en-US" dirty="0" smtClean="0"/>
              <a:t>If Ali lives in Pakistan then he lives in Lahore.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 Ali lives in Pakistan and he does not live in Lahore.</a:t>
            </a:r>
          </a:p>
          <a:p>
            <a:endParaRPr lang="en-US" dirty="0" smtClean="0"/>
          </a:p>
          <a:p>
            <a:r>
              <a:rPr lang="en-US" dirty="0" smtClean="0"/>
              <a:t>If my car is in the repair shop, then I cannot get to class.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My car is in the repair shop and I can get to class.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743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Write negations of each of the following statements: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556760"/>
          </a:xfrm>
        </p:spPr>
        <p:txBody>
          <a:bodyPr/>
          <a:lstStyle/>
          <a:p>
            <a:r>
              <a:rPr lang="en-US" dirty="0" smtClean="0"/>
              <a:t>If x is prime then x is odd </a:t>
            </a:r>
            <a:r>
              <a:rPr lang="en-US" b="1" dirty="0" smtClean="0"/>
              <a:t>or</a:t>
            </a:r>
            <a:r>
              <a:rPr lang="en-US" dirty="0" smtClean="0"/>
              <a:t> x is 2.</a:t>
            </a:r>
          </a:p>
          <a:p>
            <a:pPr>
              <a:buNone/>
            </a:pPr>
            <a:r>
              <a:rPr lang="en-US" dirty="0" smtClean="0"/>
              <a:t>	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If n is divisible by 6, then n is divisible by 2 </a:t>
            </a:r>
            <a:r>
              <a:rPr lang="en-US" b="1" dirty="0" smtClean="0"/>
              <a:t>and</a:t>
            </a:r>
            <a:r>
              <a:rPr lang="en-US" dirty="0" smtClean="0"/>
              <a:t> n is divisible by 3.</a:t>
            </a:r>
          </a:p>
          <a:p>
            <a:pPr>
              <a:buNone/>
            </a:pPr>
            <a:r>
              <a:rPr lang="en-US" dirty="0" smtClean="0"/>
              <a:t>	</a:t>
            </a:r>
            <a:endParaRPr lang="en-US" dirty="0" smtClean="0">
              <a:solidFill>
                <a:srgbClr val="C00000"/>
              </a:solidFill>
            </a:endParaRP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If x is prime then x is odd </a:t>
            </a:r>
            <a:r>
              <a:rPr lang="en-US" b="1" dirty="0" smtClean="0"/>
              <a:t>or</a:t>
            </a:r>
            <a:r>
              <a:rPr lang="en-US" dirty="0" smtClean="0"/>
              <a:t> x is 2.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x is prime but x is not odd </a:t>
            </a:r>
            <a:r>
              <a:rPr lang="en-US" b="1" dirty="0" smtClean="0">
                <a:solidFill>
                  <a:srgbClr val="C00000"/>
                </a:solidFill>
              </a:rPr>
              <a:t>and</a:t>
            </a:r>
            <a:r>
              <a:rPr lang="en-US" dirty="0" smtClean="0">
                <a:solidFill>
                  <a:srgbClr val="C00000"/>
                </a:solidFill>
              </a:rPr>
              <a:t> x is not 2.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If n is divisible by 6, then n is divisible by 2 </a:t>
            </a:r>
            <a:r>
              <a:rPr lang="en-US" b="1" dirty="0" smtClean="0"/>
              <a:t>and</a:t>
            </a:r>
            <a:r>
              <a:rPr lang="en-US" dirty="0" smtClean="0"/>
              <a:t> n is divisible by 3.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n is divisible by 6 but n is not divisible by 2 </a:t>
            </a:r>
            <a:r>
              <a:rPr lang="en-US" b="1" dirty="0" smtClean="0">
                <a:solidFill>
                  <a:srgbClr val="C00000"/>
                </a:solidFill>
              </a:rPr>
              <a:t>or</a:t>
            </a:r>
            <a:r>
              <a:rPr lang="en-US" dirty="0" smtClean="0">
                <a:solidFill>
                  <a:srgbClr val="C00000"/>
                </a:solidFill>
              </a:rPr>
              <a:t> by 3.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546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INVERSE OF A CONDITIONAL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inverse of the conditional statement </a:t>
            </a:r>
            <a:r>
              <a:rPr lang="en-US" b="1" dirty="0" smtClean="0"/>
              <a:t>p </a:t>
            </a:r>
            <a:r>
              <a:rPr lang="en-US" b="1" dirty="0" smtClean="0">
                <a:sym typeface="Symbol"/>
              </a:rPr>
              <a:t></a:t>
            </a:r>
            <a:r>
              <a:rPr lang="en-US" b="1" dirty="0" smtClean="0"/>
              <a:t> q</a:t>
            </a:r>
            <a:r>
              <a:rPr lang="en-US" dirty="0" smtClean="0"/>
              <a:t> is </a:t>
            </a:r>
          </a:p>
          <a:p>
            <a:pPr>
              <a:buNone/>
            </a:pPr>
            <a:r>
              <a:rPr lang="en-US" b="1" dirty="0" smtClean="0"/>
              <a:t>	~p </a:t>
            </a:r>
            <a:r>
              <a:rPr lang="en-US" b="1" dirty="0" smtClean="0">
                <a:sym typeface="Symbol"/>
              </a:rPr>
              <a:t></a:t>
            </a:r>
            <a:r>
              <a:rPr lang="en-US" b="1" dirty="0" smtClean="0"/>
              <a:t> ~q</a:t>
            </a:r>
            <a:r>
              <a:rPr lang="en-US" dirty="0" smtClean="0"/>
              <a:t> </a:t>
            </a:r>
          </a:p>
          <a:p>
            <a:r>
              <a:rPr lang="en-US" dirty="0" smtClean="0"/>
              <a:t>A conditional and its inverse are not equivalent as could be seen from the truth table.</a:t>
            </a:r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INVERSE OF A CONDITIONAL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inverse of the conditional statement </a:t>
            </a:r>
            <a:r>
              <a:rPr lang="en-US" b="1" dirty="0" smtClean="0"/>
              <a:t>p </a:t>
            </a:r>
            <a:r>
              <a:rPr lang="en-US" b="1" dirty="0" smtClean="0">
                <a:sym typeface="Symbol"/>
              </a:rPr>
              <a:t></a:t>
            </a:r>
            <a:r>
              <a:rPr lang="en-US" b="1" dirty="0" smtClean="0"/>
              <a:t> q</a:t>
            </a:r>
            <a:r>
              <a:rPr lang="en-US" dirty="0" smtClean="0"/>
              <a:t> is </a:t>
            </a:r>
          </a:p>
          <a:p>
            <a:pPr>
              <a:buNone/>
            </a:pPr>
            <a:r>
              <a:rPr lang="en-US" b="1" dirty="0" smtClean="0"/>
              <a:t>	~p </a:t>
            </a:r>
            <a:r>
              <a:rPr lang="en-US" b="1" dirty="0" smtClean="0">
                <a:sym typeface="Symbol"/>
              </a:rPr>
              <a:t></a:t>
            </a:r>
            <a:r>
              <a:rPr lang="en-US" b="1" dirty="0" smtClean="0"/>
              <a:t> ~q</a:t>
            </a:r>
            <a:r>
              <a:rPr lang="en-US" dirty="0" smtClean="0"/>
              <a:t> </a:t>
            </a:r>
          </a:p>
          <a:p>
            <a:r>
              <a:rPr lang="en-US" dirty="0" smtClean="0"/>
              <a:t>A conditional and its inverse are not equivalent as could be seen from the truth table.</a:t>
            </a:r>
          </a:p>
          <a:p>
            <a:pPr>
              <a:buNone/>
            </a:pPr>
            <a:endParaRPr lang="en-US" dirty="0" smtClean="0"/>
          </a:p>
        </p:txBody>
      </p:sp>
      <p:graphicFrame>
        <p:nvGraphicFramePr>
          <p:cNvPr id="40962" name="Group 2"/>
          <p:cNvGraphicFramePr>
            <a:graphicFrameLocks noGrp="1"/>
          </p:cNvGraphicFramePr>
          <p:nvPr/>
        </p:nvGraphicFramePr>
        <p:xfrm>
          <a:off x="1828800" y="3352800"/>
          <a:ext cx="5867400" cy="2286000"/>
        </p:xfrm>
        <a:graphic>
          <a:graphicData uri="http://schemas.openxmlformats.org/drawingml/2006/table">
            <a:tbl>
              <a:tblPr/>
              <a:tblGrid>
                <a:gridCol w="585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8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69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69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19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p  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~p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~q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~p ~q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8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41008" name="Group 48"/>
          <p:cNvGrpSpPr>
            <a:grpSpLocks/>
          </p:cNvGrpSpPr>
          <p:nvPr/>
        </p:nvGrpSpPr>
        <p:grpSpPr bwMode="auto">
          <a:xfrm>
            <a:off x="3733800" y="5642430"/>
            <a:ext cx="3200400" cy="304800"/>
            <a:chOff x="1536" y="1872"/>
            <a:chExt cx="2112" cy="192"/>
          </a:xfrm>
        </p:grpSpPr>
        <p:sp>
          <p:nvSpPr>
            <p:cNvPr id="41009" name="Line 49"/>
            <p:cNvSpPr>
              <a:spLocks noChangeShapeType="1"/>
            </p:cNvSpPr>
            <p:nvPr/>
          </p:nvSpPr>
          <p:spPr bwMode="auto">
            <a:xfrm flipV="1">
              <a:off x="1554" y="1872"/>
              <a:ext cx="0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010" name="Line 50"/>
            <p:cNvSpPr>
              <a:spLocks noChangeShapeType="1"/>
            </p:cNvSpPr>
            <p:nvPr/>
          </p:nvSpPr>
          <p:spPr bwMode="auto">
            <a:xfrm flipV="1">
              <a:off x="3648" y="1872"/>
              <a:ext cx="0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011" name="Line 51"/>
            <p:cNvSpPr>
              <a:spLocks noChangeShapeType="1"/>
            </p:cNvSpPr>
            <p:nvPr/>
          </p:nvSpPr>
          <p:spPr bwMode="auto">
            <a:xfrm>
              <a:off x="1536" y="2064"/>
              <a:ext cx="211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5" name="Rectangle 54"/>
          <p:cNvSpPr/>
          <p:nvPr/>
        </p:nvSpPr>
        <p:spPr>
          <a:xfrm>
            <a:off x="3519714" y="5987142"/>
            <a:ext cx="36483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different truth values in rows 2 and 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978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0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41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/>
              <a:t>WRITING INVERSE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i="1" dirty="0" smtClean="0"/>
              <a:t>If today is Friday, then 2 + 3 = 5.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If today is not Friday, then 2 + 3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</a:t>
            </a:r>
            <a:r>
              <a:rPr lang="en-US" dirty="0" smtClean="0">
                <a:solidFill>
                  <a:srgbClr val="C00000"/>
                </a:solidFill>
              </a:rPr>
              <a:t> 5.</a:t>
            </a:r>
          </a:p>
          <a:p>
            <a:r>
              <a:rPr lang="en-US" b="1" i="1" dirty="0" smtClean="0"/>
              <a:t>If it snows today, I will ski tomorrow.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i="1" dirty="0" smtClean="0"/>
              <a:t>If P is a square, then P is a rectangle.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>
                <a:solidFill>
                  <a:srgbClr val="C00000"/>
                </a:solidFill>
              </a:rPr>
              <a:t>	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i="1" dirty="0" smtClean="0"/>
              <a:t>If my car is in the repair shop, then I cannot get to class.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/>
              <a:t>WRITING INVERSE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i="1" dirty="0" smtClean="0"/>
              <a:t>If today is Friday, then 2 + 3 = 5.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If today is not Friday, then 2 + 3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</a:t>
            </a:r>
            <a:r>
              <a:rPr lang="en-US" dirty="0" smtClean="0">
                <a:solidFill>
                  <a:srgbClr val="C00000"/>
                </a:solidFill>
              </a:rPr>
              <a:t> 5.</a:t>
            </a:r>
          </a:p>
          <a:p>
            <a:r>
              <a:rPr lang="en-US" b="1" i="1" dirty="0" smtClean="0"/>
              <a:t>If it snows today, I will ski tomorrow.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If it does not snow today I will not ski tomorrow.</a:t>
            </a:r>
          </a:p>
          <a:p>
            <a:r>
              <a:rPr lang="en-US" b="1" i="1" dirty="0" smtClean="0"/>
              <a:t>If P is a square, then P is a rectangle.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If P is not a square then P is not a rectangle.</a:t>
            </a:r>
          </a:p>
          <a:p>
            <a:r>
              <a:rPr lang="en-US" b="1" i="1" dirty="0" smtClean="0"/>
              <a:t>If my car is in the repair shop, then I cannot get to class.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If my car is not in the repair shop, then I shall get to the class.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146914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u="sng" dirty="0" smtClean="0"/>
              <a:t>CONVERSE OF A CONDITIONAL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34440"/>
            <a:ext cx="8229600" cy="4937760"/>
          </a:xfrm>
        </p:spPr>
        <p:txBody>
          <a:bodyPr/>
          <a:lstStyle/>
          <a:p>
            <a:r>
              <a:rPr lang="en-US" dirty="0" smtClean="0"/>
              <a:t>The converse of the conditional statement </a:t>
            </a:r>
            <a:r>
              <a:rPr lang="en-US" b="1" dirty="0" smtClean="0"/>
              <a:t>p </a:t>
            </a:r>
            <a:r>
              <a:rPr lang="en-US" b="1" dirty="0" smtClean="0">
                <a:sym typeface="Symbol"/>
              </a:rPr>
              <a:t></a:t>
            </a:r>
            <a:r>
              <a:rPr lang="en-US" b="1" dirty="0" smtClean="0"/>
              <a:t> q</a:t>
            </a:r>
            <a:r>
              <a:rPr lang="en-US" dirty="0" smtClean="0"/>
              <a:t> is </a:t>
            </a:r>
          </a:p>
          <a:p>
            <a:pPr>
              <a:buNone/>
            </a:pPr>
            <a:r>
              <a:rPr lang="en-US" b="1" dirty="0" smtClean="0"/>
              <a:t>	q </a:t>
            </a:r>
            <a:r>
              <a:rPr lang="en-US" b="1" dirty="0" smtClean="0">
                <a:sym typeface="Symbol"/>
              </a:rPr>
              <a:t>	</a:t>
            </a:r>
            <a:r>
              <a:rPr lang="en-US" b="1" dirty="0" smtClean="0"/>
              <a:t>p</a:t>
            </a:r>
            <a:r>
              <a:rPr lang="en-US" dirty="0" smtClean="0"/>
              <a:t> </a:t>
            </a:r>
          </a:p>
          <a:p>
            <a:r>
              <a:rPr lang="en-US" dirty="0" smtClean="0"/>
              <a:t>A conditional and its converse are not equivalent.</a:t>
            </a:r>
          </a:p>
          <a:p>
            <a:r>
              <a:rPr lang="en-US" dirty="0" smtClean="0"/>
              <a:t>i.e., </a:t>
            </a:r>
            <a:r>
              <a:rPr lang="en-US" b="1" dirty="0" smtClean="0">
                <a:sym typeface="Symbol"/>
              </a:rPr>
              <a:t></a:t>
            </a:r>
            <a:r>
              <a:rPr lang="en-US" b="1" dirty="0" smtClean="0"/>
              <a:t>  </a:t>
            </a:r>
            <a:r>
              <a:rPr lang="en-US" dirty="0" smtClean="0"/>
              <a:t>is not a commutative operator.</a:t>
            </a:r>
          </a:p>
          <a:p>
            <a:endParaRPr lang="en-US" dirty="0"/>
          </a:p>
        </p:txBody>
      </p:sp>
      <p:graphicFrame>
        <p:nvGraphicFramePr>
          <p:cNvPr id="41986" name="Group 2"/>
          <p:cNvGraphicFramePr>
            <a:graphicFrameLocks noGrp="1"/>
          </p:cNvGraphicFramePr>
          <p:nvPr/>
        </p:nvGraphicFramePr>
        <p:xfrm>
          <a:off x="2514600" y="3276600"/>
          <a:ext cx="3428999" cy="2286000"/>
        </p:xfrm>
        <a:graphic>
          <a:graphicData uri="http://schemas.openxmlformats.org/drawingml/2006/table">
            <a:tbl>
              <a:tblPr/>
              <a:tblGrid>
                <a:gridCol w="5333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30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30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p  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q  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42018" name="Group 34"/>
          <p:cNvGrpSpPr>
            <a:grpSpLocks/>
          </p:cNvGrpSpPr>
          <p:nvPr/>
        </p:nvGrpSpPr>
        <p:grpSpPr bwMode="auto">
          <a:xfrm>
            <a:off x="4343400" y="5551716"/>
            <a:ext cx="762000" cy="304800"/>
            <a:chOff x="2160" y="1515"/>
            <a:chExt cx="480" cy="192"/>
          </a:xfrm>
        </p:grpSpPr>
        <p:sp>
          <p:nvSpPr>
            <p:cNvPr id="42019" name="Line 35"/>
            <p:cNvSpPr>
              <a:spLocks noChangeShapeType="1"/>
            </p:cNvSpPr>
            <p:nvPr/>
          </p:nvSpPr>
          <p:spPr bwMode="auto">
            <a:xfrm flipV="1">
              <a:off x="2184" y="1515"/>
              <a:ext cx="0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020" name="Line 36"/>
            <p:cNvSpPr>
              <a:spLocks noChangeShapeType="1"/>
            </p:cNvSpPr>
            <p:nvPr/>
          </p:nvSpPr>
          <p:spPr bwMode="auto">
            <a:xfrm flipV="1">
              <a:off x="2640" y="1515"/>
              <a:ext cx="0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021" name="Line 37"/>
            <p:cNvSpPr>
              <a:spLocks noChangeShapeType="1"/>
            </p:cNvSpPr>
            <p:nvPr/>
          </p:nvSpPr>
          <p:spPr bwMode="auto">
            <a:xfrm>
              <a:off x="2160" y="1680"/>
              <a:ext cx="4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1" name="Rectangle 40"/>
          <p:cNvSpPr/>
          <p:nvPr/>
        </p:nvSpPr>
        <p:spPr>
          <a:xfrm>
            <a:off x="4038600" y="5867400"/>
            <a:ext cx="14093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not the same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smtClean="0"/>
              <a:t> </a:t>
            </a:r>
            <a:r>
              <a:rPr lang="en-US" b="1" u="sng" dirty="0" smtClean="0"/>
              <a:t>WRITING CONVERSE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i="1" dirty="0" smtClean="0"/>
              <a:t>If today is Friday, then 2 + 3 = 5.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If 2 + 3 = 5, then today is Friday.</a:t>
            </a:r>
          </a:p>
          <a:p>
            <a:r>
              <a:rPr lang="en-US" b="1" i="1" dirty="0" smtClean="0"/>
              <a:t>If it snows today, I will ski tomorrow.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</a:t>
            </a:r>
          </a:p>
          <a:p>
            <a:r>
              <a:rPr lang="en-US" b="1" i="1" dirty="0" smtClean="0"/>
              <a:t>If P is a square, then P is a rectangle.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</a:t>
            </a:r>
          </a:p>
          <a:p>
            <a:r>
              <a:rPr lang="en-US" b="1" i="1" dirty="0" smtClean="0"/>
              <a:t>If my car is in the repair shop, then I cannot get to class.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413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smtClean="0"/>
              <a:t> </a:t>
            </a:r>
            <a:r>
              <a:rPr lang="en-US" b="1" u="sng" dirty="0" smtClean="0"/>
              <a:t>WRITING CONVERSE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i="1" dirty="0" smtClean="0"/>
              <a:t>If today is Friday, then 2 + 3 = 5.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If 2 + 3 = 5, then today is Friday.</a:t>
            </a:r>
          </a:p>
          <a:p>
            <a:r>
              <a:rPr lang="en-US" b="1" i="1" dirty="0" smtClean="0"/>
              <a:t>If it snows today, I will ski tomorrow.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I will ski tomorrow only if it snows today.</a:t>
            </a:r>
          </a:p>
          <a:p>
            <a:r>
              <a:rPr lang="en-US" b="1" i="1" dirty="0" smtClean="0"/>
              <a:t>If P is a square, then P is a rectangle.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If P is a rectangle then P is a square.</a:t>
            </a:r>
          </a:p>
          <a:p>
            <a:r>
              <a:rPr lang="en-US" b="1" i="1" dirty="0" smtClean="0"/>
              <a:t>If my car is in the repair shop, then I cannot get to class.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If I cannot get to the class, then my car is in the  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          repair shop.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596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u="sng" dirty="0" smtClean="0"/>
              <a:t>CONTRAPOSITIVE OF A CONDITIONAL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err="1" smtClean="0"/>
              <a:t>contrapositive</a:t>
            </a:r>
            <a:r>
              <a:rPr lang="en-US" dirty="0" smtClean="0"/>
              <a:t> of the conditional statement </a:t>
            </a:r>
            <a:r>
              <a:rPr lang="en-US" b="1" dirty="0" smtClean="0"/>
              <a:t>p </a:t>
            </a:r>
            <a:r>
              <a:rPr lang="en-US" b="1" dirty="0" smtClean="0">
                <a:sym typeface="Symbol"/>
              </a:rPr>
              <a:t></a:t>
            </a:r>
            <a:r>
              <a:rPr lang="en-US" b="1" dirty="0" smtClean="0"/>
              <a:t> q</a:t>
            </a:r>
            <a:r>
              <a:rPr lang="en-US" dirty="0" smtClean="0"/>
              <a:t> is </a:t>
            </a:r>
            <a:r>
              <a:rPr lang="en-US" b="1" dirty="0" smtClean="0"/>
              <a:t>~ q </a:t>
            </a:r>
            <a:r>
              <a:rPr lang="en-US" b="1" dirty="0" smtClean="0">
                <a:sym typeface="Symbol"/>
              </a:rPr>
              <a:t></a:t>
            </a:r>
            <a:r>
              <a:rPr lang="en-US" b="1" dirty="0" smtClean="0"/>
              <a:t> ~ p</a:t>
            </a:r>
            <a:r>
              <a:rPr lang="en-US" dirty="0" smtClean="0"/>
              <a:t> </a:t>
            </a:r>
          </a:p>
          <a:p>
            <a:endParaRPr lang="en-US" dirty="0" smtClean="0"/>
          </a:p>
          <a:p>
            <a:r>
              <a:rPr lang="en-US" dirty="0" smtClean="0"/>
              <a:t>A conditional and its </a:t>
            </a:r>
            <a:r>
              <a:rPr lang="en-US" dirty="0" err="1" smtClean="0"/>
              <a:t>contrapositive</a:t>
            </a:r>
            <a:r>
              <a:rPr lang="en-US" dirty="0" smtClean="0"/>
              <a:t> are equivalent. Symbolically </a:t>
            </a:r>
            <a:r>
              <a:rPr lang="en-US" b="1" dirty="0" smtClean="0"/>
              <a:t>p </a:t>
            </a:r>
            <a:r>
              <a:rPr lang="en-US" b="1" dirty="0" smtClean="0">
                <a:sym typeface="Symbol"/>
              </a:rPr>
              <a:t> </a:t>
            </a:r>
            <a:r>
              <a:rPr lang="en-US" b="1" dirty="0" smtClean="0"/>
              <a:t>q </a:t>
            </a:r>
            <a:r>
              <a:rPr lang="en-US" b="1" dirty="0" smtClean="0">
                <a:sym typeface="Symbol"/>
              </a:rPr>
              <a:t></a:t>
            </a:r>
            <a:r>
              <a:rPr lang="en-US" b="1" dirty="0" smtClean="0"/>
              <a:t> ~q </a:t>
            </a:r>
            <a:r>
              <a:rPr lang="en-US" b="1" dirty="0" smtClean="0">
                <a:sym typeface="Symbol"/>
              </a:rPr>
              <a:t></a:t>
            </a:r>
            <a:r>
              <a:rPr lang="en-US" b="1" dirty="0" smtClean="0"/>
              <a:t> ~p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i="1" dirty="0" smtClean="0"/>
              <a:t>If today is Friday, then 2 + 3 = 5.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If 2 + 3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</a:t>
            </a:r>
            <a:r>
              <a:rPr lang="en-US" dirty="0" smtClean="0">
                <a:solidFill>
                  <a:srgbClr val="C00000"/>
                </a:solidFill>
              </a:rPr>
              <a:t> 5, then today is not Friday.</a:t>
            </a:r>
          </a:p>
          <a:p>
            <a:r>
              <a:rPr lang="en-US" b="1" i="1" dirty="0" smtClean="0"/>
              <a:t>If it snows today, I will ski tomorrow.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endParaRPr lang="en-US" dirty="0" smtClean="0">
              <a:solidFill>
                <a:srgbClr val="C00000"/>
              </a:solidFill>
            </a:endParaRPr>
          </a:p>
          <a:p>
            <a:r>
              <a:rPr lang="en-US" b="1" i="1" dirty="0" smtClean="0"/>
              <a:t>If P is a square, then P is a rectangle.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endParaRPr lang="en-US" dirty="0" smtClean="0">
              <a:solidFill>
                <a:srgbClr val="C00000"/>
              </a:solidFill>
            </a:endParaRPr>
          </a:p>
          <a:p>
            <a:r>
              <a:rPr lang="en-US" b="1" i="1" dirty="0" smtClean="0"/>
              <a:t>If my car is in the repair shop, then I cannot get to class.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</a:t>
            </a:r>
            <a:endParaRPr lang="en-US" dirty="0" smtClean="0">
              <a:solidFill>
                <a:srgbClr val="C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smtClean="0"/>
              <a:t> </a:t>
            </a:r>
            <a:r>
              <a:rPr lang="en-US" b="1" u="sng" dirty="0" smtClean="0"/>
              <a:t>WRITING CONVERSE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i="1" dirty="0" smtClean="0"/>
              <a:t>If today is Friday, then 2 + 3 = 5.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</a:t>
            </a:r>
            <a:r>
              <a:rPr lang="en-US" dirty="0">
                <a:solidFill>
                  <a:srgbClr val="C00000"/>
                </a:solidFill>
              </a:rPr>
              <a:t>If 2 + 3 </a:t>
            </a:r>
            <a:r>
              <a:rPr lang="en-US" dirty="0">
                <a:solidFill>
                  <a:srgbClr val="C00000"/>
                </a:solidFill>
                <a:sym typeface="Symbol"/>
              </a:rPr>
              <a:t></a:t>
            </a:r>
            <a:r>
              <a:rPr lang="en-US" dirty="0">
                <a:solidFill>
                  <a:srgbClr val="C00000"/>
                </a:solidFill>
              </a:rPr>
              <a:t> 5, then today is not Friday.</a:t>
            </a:r>
          </a:p>
          <a:p>
            <a:r>
              <a:rPr lang="en-US" b="1" i="1" dirty="0" smtClean="0"/>
              <a:t>If </a:t>
            </a:r>
            <a:r>
              <a:rPr lang="en-US" b="1" i="1" dirty="0" smtClean="0"/>
              <a:t>it snows today, I will ski tomorrow.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I will </a:t>
            </a:r>
            <a:r>
              <a:rPr lang="en-US" dirty="0" smtClean="0">
                <a:solidFill>
                  <a:srgbClr val="C00000"/>
                </a:solidFill>
              </a:rPr>
              <a:t>not ski </a:t>
            </a:r>
            <a:r>
              <a:rPr lang="en-US" dirty="0" smtClean="0">
                <a:solidFill>
                  <a:srgbClr val="C00000"/>
                </a:solidFill>
              </a:rPr>
              <a:t>tomorrow only if it </a:t>
            </a:r>
            <a:r>
              <a:rPr lang="en-US" dirty="0" smtClean="0">
                <a:solidFill>
                  <a:srgbClr val="C00000"/>
                </a:solidFill>
              </a:rPr>
              <a:t>not snows </a:t>
            </a:r>
            <a:r>
              <a:rPr lang="en-US" dirty="0" smtClean="0">
                <a:solidFill>
                  <a:srgbClr val="C00000"/>
                </a:solidFill>
              </a:rPr>
              <a:t>today.</a:t>
            </a:r>
          </a:p>
          <a:p>
            <a:r>
              <a:rPr lang="en-US" b="1" i="1" dirty="0" smtClean="0"/>
              <a:t>If P is a square, then P is a rectangle.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If P is </a:t>
            </a:r>
            <a:r>
              <a:rPr lang="en-US" dirty="0" smtClean="0">
                <a:solidFill>
                  <a:srgbClr val="C00000"/>
                </a:solidFill>
              </a:rPr>
              <a:t>not a </a:t>
            </a:r>
            <a:r>
              <a:rPr lang="en-US" dirty="0" smtClean="0">
                <a:solidFill>
                  <a:srgbClr val="C00000"/>
                </a:solidFill>
              </a:rPr>
              <a:t>rectangle then P is </a:t>
            </a:r>
            <a:r>
              <a:rPr lang="en-US" dirty="0" smtClean="0">
                <a:solidFill>
                  <a:srgbClr val="C00000"/>
                </a:solidFill>
              </a:rPr>
              <a:t>not a </a:t>
            </a:r>
            <a:r>
              <a:rPr lang="en-US" dirty="0" smtClean="0">
                <a:solidFill>
                  <a:srgbClr val="C00000"/>
                </a:solidFill>
              </a:rPr>
              <a:t>square.</a:t>
            </a:r>
          </a:p>
          <a:p>
            <a:r>
              <a:rPr lang="en-US" b="1" i="1" dirty="0" smtClean="0"/>
              <a:t>If my car is in the repair shop, then I cannot get to class.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If I </a:t>
            </a:r>
            <a:r>
              <a:rPr lang="en-US" dirty="0" smtClean="0">
                <a:solidFill>
                  <a:srgbClr val="C00000"/>
                </a:solidFill>
              </a:rPr>
              <a:t>can </a:t>
            </a:r>
            <a:r>
              <a:rPr lang="en-US" dirty="0" smtClean="0">
                <a:solidFill>
                  <a:srgbClr val="C00000"/>
                </a:solidFill>
              </a:rPr>
              <a:t>get to the class, then my car is </a:t>
            </a:r>
            <a:r>
              <a:rPr lang="en-US" dirty="0" smtClean="0">
                <a:solidFill>
                  <a:srgbClr val="C00000"/>
                </a:solidFill>
              </a:rPr>
              <a:t>not </a:t>
            </a:r>
            <a:r>
              <a:rPr lang="en-US" dirty="0" smtClean="0">
                <a:solidFill>
                  <a:srgbClr val="C00000"/>
                </a:solidFill>
              </a:rPr>
              <a:t>in </a:t>
            </a:r>
            <a:r>
              <a:rPr lang="en-US" dirty="0" smtClean="0">
                <a:solidFill>
                  <a:srgbClr val="C00000"/>
                </a:solidFill>
              </a:rPr>
              <a:t>the  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          repair shop.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0840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1682</TotalTime>
  <Words>1032</Words>
  <Application>Microsoft Office PowerPoint</Application>
  <PresentationFormat>On-screen Show (4:3)</PresentationFormat>
  <Paragraphs>533</Paragraphs>
  <Slides>46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5" baseType="lpstr">
      <vt:lpstr>Bell MT</vt:lpstr>
      <vt:lpstr>Bookman Old Style</vt:lpstr>
      <vt:lpstr>Calibri</vt:lpstr>
      <vt:lpstr>Gill Sans MT</vt:lpstr>
      <vt:lpstr>Symbol</vt:lpstr>
      <vt:lpstr>Times New Roman</vt:lpstr>
      <vt:lpstr>Wingdings</vt:lpstr>
      <vt:lpstr>Wingdings 3</vt:lpstr>
      <vt:lpstr>Origin</vt:lpstr>
      <vt:lpstr>LAWS OF LOGIC Lecture # 03 </vt:lpstr>
      <vt:lpstr>Applying Laws of Logic</vt:lpstr>
      <vt:lpstr>EXAMPLE</vt:lpstr>
      <vt:lpstr>SIMPLIFYING A STATEMENT:</vt:lpstr>
      <vt:lpstr>PowerPoint Presentation</vt:lpstr>
      <vt:lpstr>EXERCISE:</vt:lpstr>
      <vt:lpstr>EXERCISE:</vt:lpstr>
      <vt:lpstr>CONDITIONAL STATEMENT or IMPLICATION</vt:lpstr>
      <vt:lpstr>PowerPoint Presentation</vt:lpstr>
      <vt:lpstr>TRUTH TABLE for p  q</vt:lpstr>
      <vt:lpstr>CONDITIONAL STATEMENTS OR IMPLICATIONS:</vt:lpstr>
      <vt:lpstr>PRACTICE WITH CONDITIONAL STATEMENTS:</vt:lpstr>
      <vt:lpstr>PRACTICE WITH CONDITIONAL STATEMENTS:</vt:lpstr>
      <vt:lpstr>ALTERNATIVE WAYS OF EXPRESSING IMPLICATIONS</vt:lpstr>
      <vt:lpstr>EXERCISE:</vt:lpstr>
      <vt:lpstr>PowerPoint Presentation</vt:lpstr>
      <vt:lpstr>TRANSLATING ENGLISH SENTENCES TO SYMBOLS:</vt:lpstr>
      <vt:lpstr>PowerPoint Presentation</vt:lpstr>
      <vt:lpstr>PowerPoint Presentation</vt:lpstr>
      <vt:lpstr>TRANSLATING SYMBOLIC PROPOSITIONS TO ENGLISH</vt:lpstr>
      <vt:lpstr>PowerPoint Presentation</vt:lpstr>
      <vt:lpstr>PowerPoint Presentation</vt:lpstr>
      <vt:lpstr>HIERARCHY OF OPERATIONS FOR LOGICAL CONNECTIVES</vt:lpstr>
      <vt:lpstr>Construct a truth table for the statement form (p  ~ q)  ~ p</vt:lpstr>
      <vt:lpstr>Construct a truth table for the statement form (p  ~ q)  ~ p</vt:lpstr>
      <vt:lpstr>Construct a truth table for the statement form (p q)(~ p  r)</vt:lpstr>
      <vt:lpstr>Construct a truth table for the statement form (p q)(~ p  r)</vt:lpstr>
      <vt:lpstr>LOGICAL EQUIVALENCE INVOLVING IMPLICATION</vt:lpstr>
      <vt:lpstr>LOGICAL EQUIVALENCE INVOLVING IMPLICATION</vt:lpstr>
      <vt:lpstr>IMPLICATION LAW</vt:lpstr>
      <vt:lpstr>IMPLICATION LAW</vt:lpstr>
      <vt:lpstr>NEGATION OF A CONDITIONAL STATEMENT</vt:lpstr>
      <vt:lpstr>EXAMPLES</vt:lpstr>
      <vt:lpstr>EXAMPLES</vt:lpstr>
      <vt:lpstr>      Write negations of each of the following statements: </vt:lpstr>
      <vt:lpstr>PowerPoint Presentation</vt:lpstr>
      <vt:lpstr>INVERSE OF A CONDITIONAL STATEMENT</vt:lpstr>
      <vt:lpstr>INVERSE OF A CONDITIONAL STATEMENT</vt:lpstr>
      <vt:lpstr>WRITING INVERSE</vt:lpstr>
      <vt:lpstr>WRITING INVERSE</vt:lpstr>
      <vt:lpstr>CONVERSE OF A CONDITIONAL STATEMENT</vt:lpstr>
      <vt:lpstr> WRITING CONVERSE</vt:lpstr>
      <vt:lpstr> WRITING CONVERSE</vt:lpstr>
      <vt:lpstr>CONTRAPOSITIVE OF A CONDITIONAL STATEMENT</vt:lpstr>
      <vt:lpstr>PowerPoint Presentation</vt:lpstr>
      <vt:lpstr> WRITING CONVERSE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Discrete Structures </dc:title>
  <dc:creator>C &amp; M</dc:creator>
  <cp:lastModifiedBy>Tehseen Fatima</cp:lastModifiedBy>
  <cp:revision>159</cp:revision>
  <dcterms:created xsi:type="dcterms:W3CDTF">2013-09-11T16:39:38Z</dcterms:created>
  <dcterms:modified xsi:type="dcterms:W3CDTF">2024-01-28T06:28:34Z</dcterms:modified>
</cp:coreProperties>
</file>
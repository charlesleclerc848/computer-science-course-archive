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21" r:id="rId10"/>
    <p:sldId id="264" r:id="rId11"/>
    <p:sldId id="265" r:id="rId12"/>
    <p:sldId id="322" r:id="rId13"/>
    <p:sldId id="266" r:id="rId14"/>
    <p:sldId id="267" r:id="rId15"/>
    <p:sldId id="268" r:id="rId16"/>
    <p:sldId id="269" r:id="rId17"/>
    <p:sldId id="270" r:id="rId18"/>
    <p:sldId id="323" r:id="rId19"/>
    <p:sldId id="330" r:id="rId20"/>
    <p:sldId id="331" r:id="rId21"/>
    <p:sldId id="332" r:id="rId22"/>
    <p:sldId id="333" r:id="rId23"/>
    <p:sldId id="308" r:id="rId24"/>
    <p:sldId id="324" r:id="rId25"/>
    <p:sldId id="309" r:id="rId26"/>
    <p:sldId id="325" r:id="rId27"/>
    <p:sldId id="326" r:id="rId28"/>
    <p:sldId id="311" r:id="rId29"/>
    <p:sldId id="312" r:id="rId30"/>
    <p:sldId id="327" r:id="rId31"/>
    <p:sldId id="328" r:id="rId32"/>
    <p:sldId id="271" r:id="rId33"/>
    <p:sldId id="273" r:id="rId34"/>
    <p:sldId id="274" r:id="rId35"/>
    <p:sldId id="275" r:id="rId36"/>
    <p:sldId id="276" r:id="rId37"/>
    <p:sldId id="277" r:id="rId38"/>
    <p:sldId id="329" r:id="rId39"/>
    <p:sldId id="278" r:id="rId40"/>
    <p:sldId id="310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3" r:id="rId55"/>
    <p:sldId id="294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0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7939-79AF-4A32-AB9F-5BF5911533C4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E571A-A855-4B32-A55C-36747286D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0" lang="en-US" sz="2400" b="1" kern="1200" dirty="0" smtClean="0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E571A-A855-4B32-A55C-36747286D09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E571A-A855-4B32-A55C-36747286D090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D386AA-E25C-4F5A-84F7-0B9C1ACAE6A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SET THEORY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Lecture # 08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SETS</a:t>
            </a:r>
            <a:r>
              <a:rPr lang="en-US" dirty="0" smtClean="0"/>
              <a:t>	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well defined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collection</a:t>
            </a:r>
            <a:r>
              <a:rPr lang="en-US" dirty="0" smtClean="0"/>
              <a:t> of {distinct} objects is called a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objects</a:t>
            </a:r>
            <a:r>
              <a:rPr lang="en-US" sz="2400" dirty="0" smtClean="0"/>
              <a:t> are called the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elements</a:t>
            </a:r>
            <a:r>
              <a:rPr lang="en-US" sz="2400" dirty="0" smtClean="0"/>
              <a:t> or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members</a:t>
            </a:r>
            <a:r>
              <a:rPr lang="en-US" sz="2400" dirty="0" smtClean="0"/>
              <a:t> of the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set</a:t>
            </a:r>
            <a:r>
              <a:rPr lang="en-US" sz="2400" dirty="0" smtClean="0"/>
              <a:t>.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	Sets are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denoted by </a:t>
            </a:r>
            <a:r>
              <a:rPr lang="en-US" sz="2400" dirty="0" smtClean="0"/>
              <a:t>capital letters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A, B, C …, X, Y, Z.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	The elements of a set are represented by lower case letters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a, b, c, … , x, y, z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400" dirty="0" smtClean="0"/>
              <a:t>If an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object</a:t>
            </a:r>
            <a:r>
              <a:rPr lang="en-US" sz="2400" dirty="0" smtClean="0"/>
              <a:t> x is a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member</a:t>
            </a:r>
            <a:r>
              <a:rPr lang="en-US" sz="2400" dirty="0" smtClean="0"/>
              <a:t> of a set A we write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A</a:t>
            </a:r>
            <a:r>
              <a:rPr lang="en-US" sz="2400" dirty="0" smtClean="0"/>
              <a:t>, which 	reads 	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belongs to A</a:t>
            </a:r>
            <a:r>
              <a:rPr lang="en-US" sz="2400" dirty="0" smtClean="0"/>
              <a:t>” or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in A</a:t>
            </a:r>
            <a:r>
              <a:rPr lang="en-US" sz="2400" dirty="0" smtClean="0"/>
              <a:t>” or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an element of A</a:t>
            </a:r>
            <a:r>
              <a:rPr lang="en-US" sz="2400" dirty="0" smtClean="0"/>
              <a:t>”, 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otherwise we write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az-Cyrl-AZ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US" sz="2400" dirty="0" smtClean="0"/>
              <a:t>, which reads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does not belong to A</a:t>
            </a:r>
            <a:r>
              <a:rPr lang="en-US" sz="2400" dirty="0" smtClean="0"/>
              <a:t>” or 	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not in A</a:t>
            </a:r>
            <a:r>
              <a:rPr lang="en-US" sz="2400" dirty="0" smtClean="0"/>
              <a:t>” or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not an element of A</a:t>
            </a:r>
            <a:r>
              <a:rPr lang="en-US" sz="2400" dirty="0" smtClean="0"/>
              <a:t>”.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rot="5400000">
            <a:off x="4150440" y="3624408"/>
            <a:ext cx="381000" cy="1524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TABULAR FORM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Listing all the elements of a set, separated by commas and enclosed within braces or curly brackets{ }.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EXAMPLES</a:t>
            </a:r>
          </a:p>
          <a:p>
            <a:pPr>
              <a:buNone/>
            </a:pPr>
            <a:r>
              <a:rPr lang="en-US" b="1" dirty="0" smtClean="0"/>
              <a:t>			</a:t>
            </a:r>
            <a:r>
              <a:rPr lang="en-US" dirty="0" smtClean="0"/>
              <a:t>In the following examples we write the sets in Tabular Form.</a:t>
            </a:r>
          </a:p>
          <a:p>
            <a:pPr>
              <a:buNone/>
            </a:pPr>
            <a:r>
              <a:rPr lang="en-US" dirty="0" smtClean="0"/>
              <a:t>			A = {1, 2, 3, 4, 5}	is the set of first five </a:t>
            </a:r>
            <a:r>
              <a:rPr lang="en-US" b="1" dirty="0" smtClean="0"/>
              <a:t>Natural Numbers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B = {2, 4, 6, 8, …, 50} is the set of </a:t>
            </a:r>
            <a:r>
              <a:rPr lang="en-US" b="1" dirty="0" smtClean="0"/>
              <a:t>Even numbers </a:t>
            </a:r>
            <a:r>
              <a:rPr lang="en-US" dirty="0" smtClean="0"/>
              <a:t>up to 50.	</a:t>
            </a:r>
          </a:p>
          <a:p>
            <a:pPr>
              <a:buNone/>
            </a:pPr>
            <a:r>
              <a:rPr lang="en-US" dirty="0" smtClean="0"/>
              <a:t>			C = {1, 3, 5, 7, 9, …} is the set of </a:t>
            </a:r>
            <a:r>
              <a:rPr lang="en-US" b="1" dirty="0" smtClean="0"/>
              <a:t>positive odd numbers.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		The symbol “…” is called an ellipsis. It is a 	short for “and so fort”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DESCRIPTIVE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Stating in words the elements of a set.</a:t>
            </a:r>
          </a:p>
          <a:p>
            <a:r>
              <a:rPr lang="en-US" b="1" u="sng" dirty="0" smtClean="0"/>
              <a:t>EXAMPLES</a:t>
            </a:r>
            <a:r>
              <a:rPr lang="en-US" dirty="0" smtClean="0"/>
              <a:t>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	</a:t>
            </a:r>
            <a:r>
              <a:rPr lang="en-US" b="1" dirty="0" smtClean="0"/>
              <a:t>A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 of first five Natural Numbers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	</a:t>
            </a:r>
            <a:r>
              <a:rPr lang="en-US" b="1" dirty="0" smtClean="0"/>
              <a:t>B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 of positive even integers less or equal to fifty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C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 of positive odd integers</a:t>
            </a:r>
            <a:r>
              <a:rPr lang="en-US" dirty="0" smtClean="0"/>
              <a:t>. 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SET BUILDER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Writing in symbolic form the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common characteristics</a:t>
            </a:r>
            <a:r>
              <a:rPr lang="en-US" dirty="0" smtClean="0"/>
              <a:t> shared by all the elements of the set.</a:t>
            </a:r>
          </a:p>
          <a:p>
            <a:endParaRPr lang="en-US" dirty="0" smtClean="0"/>
          </a:p>
          <a:p>
            <a:r>
              <a:rPr lang="en-US" b="1" u="sng" dirty="0" smtClean="0"/>
              <a:t>EXAMPLES: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A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{x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N / x&lt;=5}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B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{x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E / 0 &lt; x &lt;=50}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C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{x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O / 0 &lt; x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SETS OF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buNone/>
            </a:pPr>
            <a:r>
              <a:rPr lang="en-US" sz="2400" b="1" dirty="0" smtClean="0"/>
              <a:t>Set of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Natural Numbers</a:t>
            </a:r>
          </a:p>
          <a:p>
            <a:pPr>
              <a:buNone/>
            </a:pPr>
            <a:r>
              <a:rPr lang="en-US" dirty="0" smtClean="0"/>
              <a:t>			N = {1, 2, 3, … 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Whole Numbers</a:t>
            </a:r>
          </a:p>
          <a:p>
            <a:pPr>
              <a:buNone/>
            </a:pPr>
            <a:r>
              <a:rPr lang="en-US" dirty="0" smtClean="0"/>
              <a:t>			W = {0, 1, 2, 3, … 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Integers</a:t>
            </a:r>
          </a:p>
          <a:p>
            <a:pPr>
              <a:buNone/>
            </a:pPr>
            <a:r>
              <a:rPr lang="en-US" dirty="0" smtClean="0"/>
              <a:t>			Z = {…, -3, -2, -1, 0, +1, +2, +3, …}</a:t>
            </a:r>
          </a:p>
          <a:p>
            <a:pPr>
              <a:buNone/>
            </a:pPr>
            <a:r>
              <a:rPr lang="en-US" dirty="0" smtClean="0"/>
              <a:t>	   		   = {0,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1,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2,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3, …}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Even Integers</a:t>
            </a:r>
          </a:p>
          <a:p>
            <a:pPr>
              <a:buNone/>
            </a:pPr>
            <a:r>
              <a:rPr lang="en-US" dirty="0" smtClean="0"/>
              <a:t>			E = {0,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2,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4,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6, …}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Odd Integers</a:t>
            </a:r>
            <a:r>
              <a:rPr lang="en-US" b="1" dirty="0" smtClean="0"/>
              <a:t>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O = {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1,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3,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5, …}</a:t>
            </a:r>
          </a:p>
          <a:p>
            <a:pPr>
              <a:buNone/>
            </a:pPr>
            <a:r>
              <a:rPr lang="en-US" b="1" dirty="0" smtClean="0"/>
              <a:t>	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Boolean Numbers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B = {</a:t>
            </a:r>
            <a:r>
              <a:rPr lang="en-US" i="1" dirty="0" smtClean="0"/>
              <a:t>true, false</a:t>
            </a: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600200"/>
            <a:ext cx="7467600" cy="4873625"/>
          </a:xfrm>
        </p:spPr>
        <p:txBody>
          <a:bodyPr>
            <a:normAutofit lnSpcReduction="10000"/>
          </a:bodyPr>
          <a:lstStyle/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Prime Numbers</a:t>
            </a:r>
          </a:p>
          <a:p>
            <a:pPr>
              <a:buNone/>
            </a:pPr>
            <a:r>
              <a:rPr lang="en-US" dirty="0" smtClean="0"/>
              <a:t>			P = {2, 3, 5, 7, 11, 13, 17, 19, …}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Rational Numbers </a:t>
            </a:r>
            <a:r>
              <a:rPr lang="en-US" b="1" dirty="0" smtClean="0"/>
              <a:t>(or Quotient of Integers)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Q = {x | x = p/q ; p, q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Z, q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0}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Irrational Numbers</a:t>
            </a:r>
          </a:p>
          <a:p>
            <a:pPr>
              <a:buNone/>
            </a:pPr>
            <a:r>
              <a:rPr lang="en-US" dirty="0" smtClean="0"/>
              <a:t>			 = Q</a:t>
            </a:r>
            <a:r>
              <a:rPr lang="en-US" baseline="30000" dirty="0" smtClean="0"/>
              <a:t>/ </a:t>
            </a:r>
            <a:r>
              <a:rPr lang="en-US" dirty="0" smtClean="0"/>
              <a:t>= { x | x is not rational}</a:t>
            </a:r>
          </a:p>
          <a:p>
            <a:pPr>
              <a:buNone/>
            </a:pPr>
            <a:r>
              <a:rPr lang="en-US" dirty="0" smtClean="0"/>
              <a:t>		For example, </a:t>
            </a:r>
            <a:r>
              <a:rPr lang="en-US" dirty="0" smtClean="0">
                <a:sym typeface="Symbol"/>
              </a:rPr>
              <a:t></a:t>
            </a:r>
            <a:r>
              <a:rPr lang="en-US" dirty="0" smtClean="0"/>
              <a:t>2, </a:t>
            </a:r>
            <a:r>
              <a:rPr lang="en-US" dirty="0" smtClean="0">
                <a:sym typeface="Symbol"/>
              </a:rPr>
              <a:t></a:t>
            </a:r>
            <a:r>
              <a:rPr lang="en-US" dirty="0" smtClean="0"/>
              <a:t>3, </a:t>
            </a:r>
            <a:r>
              <a:rPr lang="en-US" dirty="0" smtClean="0">
                <a:sym typeface="Symbol"/>
              </a:rPr>
              <a:t></a:t>
            </a:r>
            <a:r>
              <a:rPr lang="en-US" dirty="0" smtClean="0"/>
              <a:t>, e, etc.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Real Numbers</a:t>
            </a:r>
          </a:p>
          <a:p>
            <a:pPr>
              <a:buNone/>
            </a:pPr>
            <a:r>
              <a:rPr lang="en-US" dirty="0" smtClean="0"/>
              <a:t>			R = Q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Q</a:t>
            </a:r>
            <a:r>
              <a:rPr lang="en-US" baseline="30000" dirty="0" smtClean="0"/>
              <a:t>/ 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10.	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Complex Numbers</a:t>
            </a:r>
            <a:r>
              <a:rPr lang="en-US" b="1" dirty="0" smtClean="0"/>
              <a:t>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s-ES" dirty="0" smtClean="0"/>
              <a:t>C = {z | z = x + </a:t>
            </a:r>
            <a:r>
              <a:rPr lang="es-ES" i="1" dirty="0" err="1" smtClean="0"/>
              <a:t>i</a:t>
            </a:r>
            <a:r>
              <a:rPr lang="es-ES" dirty="0" err="1" smtClean="0"/>
              <a:t>y</a:t>
            </a:r>
            <a:r>
              <a:rPr lang="es-ES" dirty="0" smtClean="0"/>
              <a:t>;  x, y </a:t>
            </a:r>
            <a:r>
              <a:rPr lang="en-US" dirty="0" smtClean="0">
                <a:sym typeface="Symbol"/>
              </a:rPr>
              <a:t></a:t>
            </a:r>
            <a:r>
              <a:rPr lang="es-ES" dirty="0" smtClean="0"/>
              <a:t> R}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al Number System - Venn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8534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3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SUBSET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A &amp; B are two sets, A is called a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</a:t>
            </a:r>
            <a:r>
              <a:rPr lang="en-US" dirty="0" smtClean="0"/>
              <a:t> of B, written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</a:t>
            </a:r>
            <a:r>
              <a:rPr lang="en-US" dirty="0" smtClean="0"/>
              <a:t>, if, and only if,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 element </a:t>
            </a:r>
            <a:r>
              <a:rPr lang="en-US" dirty="0" smtClean="0"/>
              <a:t>of A is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also an element</a:t>
            </a:r>
            <a:r>
              <a:rPr lang="en-US" dirty="0" smtClean="0"/>
              <a:t> of B.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Symbolically:</a:t>
            </a:r>
          </a:p>
          <a:p>
            <a:pPr>
              <a:buNone/>
            </a:pPr>
            <a:r>
              <a:rPr lang="en-US" dirty="0" smtClean="0"/>
              <a:t>	 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if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 A </a:t>
            </a:r>
            <a:r>
              <a:rPr lang="en-US" dirty="0" smtClean="0"/>
              <a:t>then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 B</a:t>
            </a:r>
          </a:p>
          <a:p>
            <a:r>
              <a:rPr lang="en-US" b="1" u="sng" dirty="0" smtClean="0"/>
              <a:t>REMARK:</a:t>
            </a:r>
            <a:endParaRPr lang="en-US" dirty="0" smtClean="0"/>
          </a:p>
          <a:p>
            <a:pPr lvl="1"/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When A  B</a:t>
            </a:r>
            <a:r>
              <a:rPr lang="en-US" sz="2400" dirty="0" smtClean="0"/>
              <a:t>, then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sz="2400" dirty="0" smtClean="0"/>
              <a:t> is called a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superset</a:t>
            </a:r>
            <a:r>
              <a:rPr lang="en-US" sz="2400" dirty="0" smtClean="0"/>
              <a:t> of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When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is not subset of B</a:t>
            </a:r>
            <a:r>
              <a:rPr lang="en-US" sz="2400" dirty="0" smtClean="0"/>
              <a:t>, then there exist at least one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  A </a:t>
            </a:r>
            <a:r>
              <a:rPr lang="en-US" sz="2400" dirty="0" smtClean="0"/>
              <a:t>such that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B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Every set is a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</a:t>
            </a:r>
            <a:r>
              <a:rPr lang="en-US" sz="2400" dirty="0" smtClean="0"/>
              <a:t> of itself.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	A = {1, 3, 5}		B = {1, 2, 3, 4, 5}</a:t>
            </a:r>
          </a:p>
          <a:p>
            <a:pPr>
              <a:buNone/>
            </a:pPr>
            <a:r>
              <a:rPr lang="en-US" dirty="0" smtClean="0"/>
              <a:t>		C = {1, 2, 3, 4}	D = {3, 1, 5}</a:t>
            </a:r>
          </a:p>
          <a:p>
            <a:pPr>
              <a:buNone/>
            </a:pPr>
            <a:r>
              <a:rPr lang="en-US" dirty="0" smtClean="0"/>
              <a:t>	Then 	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C  B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D </a:t>
            </a:r>
            <a:endParaRPr lang="en-US" dirty="0">
              <a:sym typeface="Symbol"/>
            </a:endParaRPr>
          </a:p>
          <a:p>
            <a:pPr>
              <a:buNone/>
            </a:pP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         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 A </a:t>
            </a:r>
            <a:endParaRPr lang="en-US" dirty="0">
              <a:sym typeface="Symbol"/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         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C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	A = {1, 3, 5}		B = {1, 2, 3, 4, 5}</a:t>
            </a:r>
          </a:p>
          <a:p>
            <a:pPr>
              <a:buNone/>
            </a:pPr>
            <a:r>
              <a:rPr lang="en-US" dirty="0" smtClean="0"/>
              <a:t>		C = {1, 2, 3, 4}	D = {3, 1, 5}</a:t>
            </a:r>
          </a:p>
          <a:p>
            <a:pPr>
              <a:buNone/>
            </a:pPr>
            <a:r>
              <a:rPr lang="en-US" dirty="0" smtClean="0"/>
              <a:t>	Then 	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 </a:t>
            </a:r>
            <a:r>
              <a:rPr lang="en-US" dirty="0" smtClean="0"/>
              <a:t>( Because every element of A is in B )</a:t>
            </a:r>
          </a:p>
          <a:p>
            <a:pPr>
              <a:buNone/>
            </a:pPr>
            <a:r>
              <a:rPr lang="en-US" dirty="0" smtClean="0"/>
              <a:t> 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C  B  </a:t>
            </a:r>
            <a:r>
              <a:rPr lang="en-US" dirty="0" smtClean="0"/>
              <a:t>( Because every element of  C is also an element of B )</a:t>
            </a:r>
          </a:p>
          <a:p>
            <a:pPr>
              <a:buNone/>
            </a:pPr>
            <a:r>
              <a:rPr lang="en-US" dirty="0" smtClean="0"/>
              <a:t> 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D </a:t>
            </a:r>
            <a:r>
              <a:rPr lang="en-US" dirty="0" smtClean="0"/>
              <a:t>( Because every element of  A is also an element of D and also note that every element of D is in A so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D  A </a:t>
            </a:r>
            <a:r>
              <a:rPr lang="en-US" dirty="0" smtClean="0"/>
              <a:t>)and A is not subset of C .</a:t>
            </a:r>
          </a:p>
          <a:p>
            <a:pPr>
              <a:buNone/>
            </a:pPr>
            <a:r>
              <a:rPr lang="en-US" dirty="0" smtClean="0"/>
              <a:t>( Because there is an element 5 of A which is not in C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2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EXAMPLE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set of integers “Z” is a subset of the set of Rational Number “Q”, since every integer ‘n’ could be written as: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</a:p>
          <a:p>
            <a:r>
              <a:rPr lang="en-US" dirty="0" smtClean="0"/>
              <a:t>Hence Z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 Q.</a:t>
            </a:r>
          </a:p>
          <a:p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886199" y="3072163"/>
          <a:ext cx="1143001" cy="708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r:id="rId3" imgW="634680" imgH="393480" progId="">
                  <p:embed/>
                </p:oleObj>
              </mc:Choice>
              <mc:Fallback>
                <p:oleObj r:id="rId3" imgW="6346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199" y="3072163"/>
                        <a:ext cx="1143001" cy="7086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PROPER SUBSET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A </a:t>
            </a:r>
            <a:r>
              <a:rPr lang="en-US" dirty="0" smtClean="0"/>
              <a:t>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be sets. A is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proper subset </a:t>
            </a:r>
            <a:r>
              <a:rPr lang="en-US" dirty="0" smtClean="0"/>
              <a:t>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, if, and only if,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</a:t>
            </a:r>
            <a:r>
              <a:rPr lang="en-US" dirty="0" smtClean="0"/>
              <a:t> element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is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but there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at least </a:t>
            </a:r>
            <a:r>
              <a:rPr lang="en-US" dirty="0" smtClean="0"/>
              <a:t>one element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that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not</a:t>
            </a:r>
            <a:r>
              <a:rPr lang="en-US" dirty="0" smtClean="0"/>
              <a:t>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, and is denoted as:</a:t>
            </a:r>
          </a:p>
          <a:p>
            <a:endParaRPr lang="en-US" dirty="0" smtClean="0"/>
          </a:p>
          <a:p>
            <a:r>
              <a:rPr lang="en-US" dirty="0" smtClean="0"/>
              <a:t>Symbolically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 B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A = {1, 3, 5}	B = {1, 2, 3, 5}</a:t>
            </a:r>
          </a:p>
          <a:p>
            <a:pPr>
              <a:buNone/>
            </a:pPr>
            <a:r>
              <a:rPr lang="en-US" dirty="0" smtClean="0"/>
              <a:t>   then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 B </a:t>
            </a:r>
            <a:r>
              <a:rPr lang="en-US" dirty="0" smtClean="0"/>
              <a:t>( Because there is an element 2 of  B which is not in A)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N  W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	 W  Z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	 Z  Q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	 Q  R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 N   W   Z  Q  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EQUAL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sets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equal</a:t>
            </a:r>
            <a:r>
              <a:rPr lang="en-US" dirty="0" smtClean="0"/>
              <a:t> if, and only if,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 element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is in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is in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is denoted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= B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Symbolically:</a:t>
            </a:r>
          </a:p>
          <a:p>
            <a:pPr>
              <a:buNone/>
            </a:pPr>
            <a:r>
              <a:rPr lang="en-US" dirty="0" smtClean="0"/>
              <a:t>   	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</a:t>
            </a:r>
            <a:r>
              <a:rPr lang="en-US" dirty="0" smtClean="0">
                <a:sym typeface="Symbol"/>
              </a:rPr>
              <a:t>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 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</a:p>
          <a:p>
            <a:pPr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r>
              <a:rPr lang="pt-BR" dirty="0"/>
              <a:t>A = {1, 2, 3, 4}</a:t>
            </a:r>
          </a:p>
          <a:p>
            <a:r>
              <a:rPr lang="pt-BR" dirty="0"/>
              <a:t>B = {2, 4, 1, 3</a:t>
            </a:r>
            <a:r>
              <a:rPr lang="pt-BR" dirty="0" smtClean="0"/>
              <a:t>}         A = B</a:t>
            </a:r>
            <a:endParaRPr lang="pt-BR" dirty="0"/>
          </a:p>
          <a:p>
            <a:pPr>
              <a:buNone/>
            </a:pPr>
            <a:endParaRPr lang="en-US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A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6}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b="1" dirty="0" smtClean="0"/>
              <a:t>B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the set of positive divisors of 6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C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{3, 1, 6, 2}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D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2, 3, 6, 6, 6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}</a:t>
            </a:r>
          </a:p>
          <a:p>
            <a:pPr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Are A,B,C,D Equal sets?</a:t>
            </a:r>
            <a:endParaRPr lang="en-US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A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6}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b="1" dirty="0" smtClean="0"/>
              <a:t>B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the set of positive divisors of 6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C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{3, 1, 6, 2}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D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2, 3, 6, 6, 6}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Then A, B, C, and D are all equal sets.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38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Determine which of the following sets are equal sets:</a:t>
            </a:r>
          </a:p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A = {55, 32, 77, 1} and B = {1, 32, 55, 77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(ii) X = {x : x is a prime number and 2&lt;x&lt;11} and Y = {7, 3, 5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(iii) S = {2, 4, 6, 8} and T = {2, 4, 6}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132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To determine the set equality, we have </a:t>
            </a:r>
            <a:r>
              <a:rPr lang="en-US" dirty="0" smtClean="0"/>
              <a:t>to consider </a:t>
            </a:r>
            <a:r>
              <a:rPr lang="en-US" dirty="0"/>
              <a:t>two things; set elements and set cardinality. The cardinality of set A and B:</a:t>
            </a:r>
          </a:p>
          <a:p>
            <a:pPr marL="0" indent="0">
              <a:buNone/>
            </a:pPr>
            <a:r>
              <a:rPr lang="en-US" dirty="0"/>
              <a:t>|A| = 4</a:t>
            </a:r>
          </a:p>
          <a:p>
            <a:pPr marL="0" indent="0">
              <a:buNone/>
            </a:pPr>
            <a:r>
              <a:rPr lang="en-US" dirty="0"/>
              <a:t>And,</a:t>
            </a:r>
          </a:p>
          <a:p>
            <a:pPr marL="0" indent="0">
              <a:buNone/>
            </a:pPr>
            <a:r>
              <a:rPr lang="en-US" dirty="0"/>
              <a:t>|B| = 4</a:t>
            </a:r>
          </a:p>
          <a:p>
            <a:pPr marL="0" indent="0">
              <a:buNone/>
            </a:pPr>
            <a:r>
              <a:rPr lang="en-US" dirty="0"/>
              <a:t>So,</a:t>
            </a:r>
          </a:p>
          <a:p>
            <a:pPr marL="0" indent="0">
              <a:buNone/>
            </a:pPr>
            <a:r>
              <a:rPr lang="en-US" dirty="0"/>
              <a:t>|A| = |B</a:t>
            </a:r>
            <a:r>
              <a:rPr lang="en-US" dirty="0" smtClean="0"/>
              <a:t>|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Both </a:t>
            </a:r>
            <a:r>
              <a:rPr lang="en-US" dirty="0"/>
              <a:t>sets A and B have the same elements, which are 1, 32, 55, and 7.</a:t>
            </a:r>
          </a:p>
          <a:p>
            <a:pPr marL="0" indent="0">
              <a:buNone/>
            </a:pPr>
            <a:r>
              <a:rPr lang="en-US" dirty="0"/>
              <a:t>Hence, sets A and B are equal sets.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45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4176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(</a:t>
            </a:r>
            <a:r>
              <a:rPr lang="en-US" dirty="0"/>
              <a:t>ii) To determine set equality, let’s first simplify set X.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X </a:t>
            </a:r>
            <a:r>
              <a:rPr lang="en-US" dirty="0"/>
              <a:t>= {x : x is a prime number and 2&lt;x&lt;11}</a:t>
            </a:r>
          </a:p>
          <a:p>
            <a:pPr marL="0" indent="0">
              <a:buNone/>
            </a:pPr>
            <a:r>
              <a:rPr lang="en-US" dirty="0"/>
              <a:t>So,</a:t>
            </a:r>
          </a:p>
          <a:p>
            <a:pPr marL="0" indent="0">
              <a:buNone/>
            </a:pPr>
            <a:r>
              <a:rPr lang="en-US" dirty="0"/>
              <a:t>X = {3, 5, 7}</a:t>
            </a:r>
          </a:p>
          <a:p>
            <a:pPr marL="0" indent="0">
              <a:buNone/>
            </a:pPr>
            <a:r>
              <a:rPr lang="en-US" dirty="0"/>
              <a:t>Now, let’s find the cardinality.</a:t>
            </a:r>
          </a:p>
          <a:p>
            <a:pPr marL="0" indent="0">
              <a:buNone/>
            </a:pPr>
            <a:r>
              <a:rPr lang="en-US" dirty="0"/>
              <a:t>|X| = 3</a:t>
            </a:r>
          </a:p>
          <a:p>
            <a:pPr marL="0" indent="0">
              <a:buNone/>
            </a:pPr>
            <a:r>
              <a:rPr lang="en-US" dirty="0"/>
              <a:t>And,</a:t>
            </a:r>
          </a:p>
          <a:p>
            <a:pPr marL="0" indent="0">
              <a:buNone/>
            </a:pPr>
            <a:r>
              <a:rPr lang="en-US" dirty="0"/>
              <a:t>|Y| = 3</a:t>
            </a:r>
          </a:p>
          <a:p>
            <a:pPr marL="0" indent="0">
              <a:buNone/>
            </a:pPr>
            <a:r>
              <a:rPr lang="en-US" dirty="0"/>
              <a:t>So,</a:t>
            </a:r>
          </a:p>
          <a:p>
            <a:pPr marL="0" indent="0">
              <a:buNone/>
            </a:pPr>
            <a:r>
              <a:rPr lang="en-US" dirty="0"/>
              <a:t>|X| = |Y|</a:t>
            </a:r>
          </a:p>
          <a:p>
            <a:pPr marL="0" indent="0">
              <a:buNone/>
            </a:pPr>
            <a:r>
              <a:rPr lang="en-US" dirty="0" smtClean="0"/>
              <a:t>Also, both sets have the same elements, which are 3, 5, and 7. </a:t>
            </a:r>
            <a:r>
              <a:rPr lang="en-US" dirty="0"/>
              <a:t>Hence, sets X and Y are equal sets.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63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(iii) To determine set equality, let’s calculate the cardinality first.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1" y="2051929"/>
            <a:ext cx="8229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3333D"/>
                </a:solidFill>
                <a:effectLst/>
                <a:latin typeface="open sans"/>
              </a:rPr>
              <a:t>|S| = 4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3333D"/>
                </a:solidFill>
                <a:effectLst/>
                <a:latin typeface="open sans"/>
              </a:rPr>
              <a:t>And,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3333D"/>
                </a:solidFill>
                <a:effectLst/>
                <a:latin typeface="open sans"/>
              </a:rPr>
              <a:t>|T| = 3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3333D"/>
                </a:solidFill>
                <a:effectLst/>
                <a:latin typeface="open sans"/>
              </a:rPr>
              <a:t>As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3333D"/>
                </a:solidFill>
                <a:effectLst/>
                <a:latin typeface="open sans"/>
              </a:rPr>
              <a:t>|S| ≠ |T|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23333D"/>
                </a:solidFill>
                <a:effectLst/>
                <a:latin typeface="open sans"/>
              </a:rPr>
              <a:t>So the two sets, S and T, are not equal sets.</a:t>
            </a:r>
            <a:endParaRPr kumimoji="0" lang="en-US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55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POWER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a set S, the power set of S is the set of all subsets of the set.</a:t>
            </a:r>
          </a:p>
          <a:p>
            <a:endParaRPr lang="en-US" dirty="0" smtClean="0"/>
          </a:p>
          <a:p>
            <a:r>
              <a:rPr lang="en-US" dirty="0" smtClean="0"/>
              <a:t>The power set of S is denoted by </a:t>
            </a:r>
            <a:r>
              <a:rPr lang="en-US" i="1" dirty="0" smtClean="0"/>
              <a:t>P(S)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979738" y="3962400"/>
            <a:ext cx="3116262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r>
              <a:rPr lang="en-US" altLang="zh-TW" b="1" dirty="0"/>
              <a:t>If |</a:t>
            </a:r>
            <a:r>
              <a:rPr lang="en-US" altLang="zh-TW" b="1" i="1" dirty="0"/>
              <a:t>A</a:t>
            </a:r>
            <a:r>
              <a:rPr lang="en-US" altLang="zh-TW" b="1" dirty="0"/>
              <a:t>|=</a:t>
            </a:r>
            <a:r>
              <a:rPr lang="en-US" altLang="zh-TW" b="1" i="1" dirty="0"/>
              <a:t>n</a:t>
            </a:r>
            <a:r>
              <a:rPr lang="en-US" altLang="zh-TW" b="1" dirty="0"/>
              <a:t>, then |</a:t>
            </a:r>
            <a:r>
              <a:rPr lang="en-US" altLang="zh-TW" b="1" i="1" dirty="0"/>
              <a:t>P</a:t>
            </a:r>
            <a:r>
              <a:rPr lang="en-US" altLang="zh-TW" b="1" dirty="0"/>
              <a:t>(</a:t>
            </a:r>
            <a:r>
              <a:rPr lang="en-US" altLang="zh-TW" b="1" i="1" dirty="0"/>
              <a:t>A</a:t>
            </a:r>
            <a:r>
              <a:rPr lang="en-US" altLang="zh-TW" b="1" dirty="0"/>
              <a:t>)|=2</a:t>
            </a:r>
            <a:r>
              <a:rPr lang="en-US" altLang="zh-TW" b="1" i="1" baseline="30000" dirty="0"/>
              <a:t>n</a:t>
            </a:r>
            <a:r>
              <a:rPr lang="en-US" altLang="zh-TW"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POWER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/>
              <a:t>If A = {1, 2}, then P(A) = { { }, {1}, {2}, {1, 2} }</a:t>
            </a:r>
            <a:br>
              <a:rPr lang="en-US" dirty="0"/>
            </a:b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Observe </a:t>
            </a:r>
            <a:r>
              <a:rPr lang="en-US" dirty="0"/>
              <a:t>that A has 2 elements and P(A) has 2</a:t>
            </a:r>
            <a:r>
              <a:rPr lang="en-US" baseline="30000" dirty="0"/>
              <a:t>2</a:t>
            </a:r>
            <a:r>
              <a:rPr lang="en-US" dirty="0"/>
              <a:t> = 4 elements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If A = {a, b, c}, then P(A) = { { }, {a}, {b}, {c}, {a, b}, {b, c}, {c, a}, {a, b, c} }</a:t>
            </a:r>
            <a:br>
              <a:rPr lang="en-US" dirty="0"/>
            </a:b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Observe </a:t>
            </a:r>
            <a:r>
              <a:rPr lang="en-US" dirty="0"/>
              <a:t>that A has 3 elements and P(A) has 2</a:t>
            </a:r>
            <a:r>
              <a:rPr lang="en-US" baseline="30000" dirty="0"/>
              <a:t>3</a:t>
            </a:r>
            <a:r>
              <a:rPr lang="en-US" dirty="0"/>
              <a:t> = 8 elements.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594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power set of the set {0, 1, 2}?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r>
              <a:rPr lang="en-US" b="1" u="sng" dirty="0" smtClean="0">
                <a:solidFill>
                  <a:srgbClr val="C00000"/>
                </a:solidFill>
              </a:rPr>
              <a:t>: ?</a:t>
            </a:r>
            <a:endParaRPr lang="en-US" b="1" u="sng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power set of the set {0, 1, 2}?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P({0, 1, 2}) = { </a:t>
            </a:r>
            <a:r>
              <a:rPr lang="en-US" dirty="0" smtClean="0">
                <a:sym typeface="Symbol"/>
              </a:rPr>
              <a:t>, </a:t>
            </a:r>
            <a:r>
              <a:rPr lang="en-US" dirty="0" smtClean="0"/>
              <a:t>{0}, {1}, {2}, {0, 1}, {0, 2}, {1, 2}, {0, 1, 2}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16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is the power set of an empty set?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Solution</a:t>
            </a:r>
            <a:r>
              <a:rPr lang="en-US" dirty="0" smtClean="0"/>
              <a:t>:</a:t>
            </a: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power set of the empty set is an empty set only.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  <a:endParaRPr lang="en-US" dirty="0" smtClean="0"/>
          </a:p>
          <a:p>
            <a:pPr>
              <a:buNone/>
            </a:pPr>
            <a:r>
              <a:rPr lang="en-US" dirty="0"/>
              <a:t> </a:t>
            </a:r>
            <a:r>
              <a:rPr lang="en-US" dirty="0"/>
              <a:t>Therefore, the power set of the empty set is </a:t>
            </a:r>
            <a:r>
              <a:rPr lang="en-US" dirty="0" smtClean="0"/>
              <a:t>an empty </a:t>
            </a:r>
            <a:r>
              <a:rPr lang="en-US" dirty="0"/>
              <a:t>set with one element, i.e., 2</a:t>
            </a:r>
            <a:r>
              <a:rPr lang="en-US" baseline="30000" dirty="0"/>
              <a:t>0</a:t>
            </a:r>
            <a:r>
              <a:rPr lang="en-US" dirty="0"/>
              <a:t> = 1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/>
              <a:t>So, P(E) = {}.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961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CARTESIAN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i="1" dirty="0" smtClean="0"/>
              <a:t>A</a:t>
            </a:r>
            <a:r>
              <a:rPr lang="en-US" dirty="0" smtClean="0"/>
              <a:t> and </a:t>
            </a:r>
            <a:r>
              <a:rPr lang="en-US" i="1" dirty="0" smtClean="0"/>
              <a:t>B</a:t>
            </a:r>
            <a:r>
              <a:rPr lang="en-US" dirty="0" smtClean="0"/>
              <a:t> be sets. The </a:t>
            </a:r>
            <a:r>
              <a:rPr lang="en-US" dirty="0" smtClean="0">
                <a:solidFill>
                  <a:srgbClr val="C00000"/>
                </a:solidFill>
              </a:rPr>
              <a:t>Cartesian Product</a:t>
            </a:r>
            <a:r>
              <a:rPr lang="en-US" dirty="0" smtClean="0"/>
              <a:t> of </a:t>
            </a:r>
            <a:r>
              <a:rPr lang="en-US" i="1" dirty="0" smtClean="0"/>
              <a:t>A</a:t>
            </a:r>
            <a:r>
              <a:rPr lang="en-US" dirty="0" smtClean="0"/>
              <a:t> and </a:t>
            </a:r>
            <a:r>
              <a:rPr lang="en-US" i="1" dirty="0" smtClean="0"/>
              <a:t>B</a:t>
            </a:r>
            <a:r>
              <a:rPr lang="en-US" dirty="0" smtClean="0"/>
              <a:t>, denoted by </a:t>
            </a:r>
            <a:r>
              <a:rPr lang="en-US" i="1" dirty="0" smtClean="0"/>
              <a:t>A</a:t>
            </a:r>
            <a:r>
              <a:rPr lang="en-US" dirty="0" smtClean="0"/>
              <a:t> x </a:t>
            </a:r>
            <a:r>
              <a:rPr lang="en-US" i="1" dirty="0" smtClean="0"/>
              <a:t>B</a:t>
            </a:r>
            <a:r>
              <a:rPr lang="en-US" dirty="0" smtClean="0"/>
              <a:t>, is the set of all order pairs (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), where </a:t>
            </a:r>
            <a:r>
              <a:rPr lang="en-US" i="1" dirty="0" err="1" smtClean="0"/>
              <a:t>a</a:t>
            </a:r>
            <a:r>
              <a:rPr lang="en-US" i="1" dirty="0" err="1" smtClean="0">
                <a:sym typeface="Symbol"/>
              </a:rPr>
              <a:t>A</a:t>
            </a:r>
            <a:r>
              <a:rPr lang="en-US" dirty="0" smtClean="0">
                <a:sym typeface="Symbol"/>
              </a:rPr>
              <a:t> and </a:t>
            </a:r>
            <a:r>
              <a:rPr lang="en-US" i="1" dirty="0" err="1" smtClean="0">
                <a:sym typeface="Symbol"/>
              </a:rPr>
              <a:t>bB</a:t>
            </a:r>
            <a:r>
              <a:rPr lang="en-US" dirty="0" smtClean="0">
                <a:sym typeface="Symbol"/>
              </a:rPr>
              <a:t>. Hence,</a:t>
            </a:r>
          </a:p>
          <a:p>
            <a:endParaRPr lang="en-US" dirty="0" smtClean="0">
              <a:sym typeface="Symbol"/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A x B </a:t>
            </a:r>
            <a:r>
              <a:rPr lang="en-US" dirty="0" smtClean="0">
                <a:sym typeface="Symbol"/>
              </a:rPr>
              <a:t>= </a:t>
            </a:r>
            <a:r>
              <a:rPr lang="en-US" dirty="0" smtClean="0"/>
              <a:t>{ (a, b) | </a:t>
            </a:r>
            <a:r>
              <a:rPr lang="en-US" dirty="0" err="1" smtClean="0"/>
              <a:t>a</a:t>
            </a:r>
            <a:r>
              <a:rPr lang="en-US" dirty="0" err="1" smtClean="0">
                <a:sym typeface="Symbol"/>
              </a:rPr>
              <a:t>A</a:t>
            </a:r>
            <a:r>
              <a:rPr lang="en-US" dirty="0" smtClean="0"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 </a:t>
            </a:r>
            <a:r>
              <a:rPr lang="en-US" dirty="0" err="1" smtClean="0">
                <a:sym typeface="Symbol"/>
              </a:rPr>
              <a:t>bB</a:t>
            </a:r>
            <a:r>
              <a:rPr lang="en-US" dirty="0" smtClean="0"/>
              <a:t> 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sz="2800" b="1" u="sng" dirty="0" smtClean="0">
                <a:solidFill>
                  <a:srgbClr val="C00000"/>
                </a:solidFill>
              </a:rPr>
              <a:t>Note:</a:t>
            </a:r>
          </a:p>
          <a:p>
            <a:pPr lvl="1"/>
            <a:r>
              <a:rPr lang="en-US" dirty="0" smtClean="0"/>
              <a:t>The Cartesian Product A x B and B x A are not equals, unless A =</a:t>
            </a:r>
            <a:r>
              <a:rPr lang="en-US" sz="2000" dirty="0" smtClean="0">
                <a:sym typeface="Symbol"/>
              </a:rPr>
              <a:t>  or B = . So A x B = 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Cartesian Product</a:t>
            </a:r>
            <a:r>
              <a:rPr lang="en-US" dirty="0" smtClean="0"/>
              <a:t> of A = {1, 2} and </a:t>
            </a:r>
          </a:p>
          <a:p>
            <a:pPr>
              <a:buNone/>
            </a:pPr>
            <a:r>
              <a:rPr lang="en-US" dirty="0" smtClean="0"/>
              <a:t>	B = {a, b, c}?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The Cartesian Product of A x B is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A x B </a:t>
            </a:r>
            <a:r>
              <a:rPr lang="en-US" dirty="0" smtClean="0"/>
              <a:t>= { (1, </a:t>
            </a:r>
            <a:r>
              <a:rPr lang="en-US" i="1" dirty="0" smtClean="0"/>
              <a:t>a</a:t>
            </a:r>
            <a:r>
              <a:rPr lang="en-US" dirty="0" smtClean="0"/>
              <a:t>), (1, </a:t>
            </a:r>
            <a:r>
              <a:rPr lang="en-US" i="1" dirty="0" smtClean="0"/>
              <a:t>b</a:t>
            </a:r>
            <a:r>
              <a:rPr lang="en-US" dirty="0" smtClean="0"/>
              <a:t>), (1, </a:t>
            </a:r>
            <a:r>
              <a:rPr lang="en-US" i="1" dirty="0" smtClean="0"/>
              <a:t>c</a:t>
            </a:r>
            <a:r>
              <a:rPr lang="en-US" dirty="0" smtClean="0"/>
              <a:t>). (2, </a:t>
            </a:r>
            <a:r>
              <a:rPr lang="en-US" i="1" dirty="0" smtClean="0"/>
              <a:t>a</a:t>
            </a:r>
            <a:r>
              <a:rPr lang="en-US" dirty="0" smtClean="0"/>
              <a:t>), (2, </a:t>
            </a:r>
            <a:r>
              <a:rPr lang="en-US" i="1" dirty="0" smtClean="0"/>
              <a:t>b</a:t>
            </a:r>
            <a:r>
              <a:rPr lang="en-US" dirty="0" smtClean="0"/>
              <a:t>), (2, </a:t>
            </a:r>
            <a:r>
              <a:rPr lang="en-US" i="1" dirty="0" smtClean="0"/>
              <a:t>c</a:t>
            </a:r>
            <a:r>
              <a:rPr lang="en-US" dirty="0" smtClean="0"/>
              <a:t>) }.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smtClean="0"/>
              <a:t> </a:t>
            </a:r>
            <a:r>
              <a:rPr lang="en-US" dirty="0"/>
              <a:t>Find the Cartesian product of A × B </a:t>
            </a:r>
            <a:endParaRPr lang="en-US" dirty="0" smtClean="0"/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A </a:t>
            </a:r>
            <a:r>
              <a:rPr lang="en-US" i="1" dirty="0"/>
              <a:t>= {1, 2} and B = {4, 5, 6</a:t>
            </a:r>
            <a:r>
              <a:rPr lang="en-US" i="1" dirty="0" smtClean="0"/>
              <a:t>}</a:t>
            </a:r>
          </a:p>
          <a:p>
            <a:endParaRPr lang="en-US" i="1" dirty="0"/>
          </a:p>
          <a:p>
            <a:r>
              <a:rPr lang="en-US" dirty="0" smtClean="0"/>
              <a:t>Find </a:t>
            </a:r>
            <a:r>
              <a:rPr lang="en-US" dirty="0"/>
              <a:t>the </a:t>
            </a:r>
            <a:r>
              <a:rPr lang="en-US" dirty="0" smtClean="0"/>
              <a:t>Cartesian </a:t>
            </a:r>
            <a:r>
              <a:rPr lang="en-US" dirty="0"/>
              <a:t>product of A × B × </a:t>
            </a:r>
            <a:r>
              <a:rPr lang="en-US" dirty="0" smtClean="0"/>
              <a:t>C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 smtClean="0"/>
              <a:t>       A </a:t>
            </a:r>
            <a:r>
              <a:rPr lang="en-US" dirty="0"/>
              <a:t>= {2,3} , B = {</a:t>
            </a:r>
            <a:r>
              <a:rPr lang="en-US" dirty="0" err="1"/>
              <a:t>x,y</a:t>
            </a:r>
            <a:r>
              <a:rPr lang="en-US" dirty="0"/>
              <a:t>}, and C = {5,6}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651361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Let A = {1, 2} and B = {4, 5, 6</a:t>
            </a:r>
            <a:r>
              <a:rPr lang="en-US" i="1" dirty="0" smtClean="0"/>
              <a:t>}</a:t>
            </a:r>
          </a:p>
          <a:p>
            <a:endParaRPr lang="pt-BR" i="1" dirty="0" smtClean="0"/>
          </a:p>
          <a:p>
            <a:r>
              <a:rPr lang="pt-BR" i="1" dirty="0" smtClean="0"/>
              <a:t>A </a:t>
            </a:r>
            <a:r>
              <a:rPr lang="pt-BR" i="1" dirty="0"/>
              <a:t>× B = {(1, 4), (1, 5), (1, 6), (2, 4), (2, 5), (2, 6</a:t>
            </a:r>
            <a:r>
              <a:rPr lang="pt-BR" i="1" dirty="0" smtClean="0"/>
              <a:t>)}</a:t>
            </a:r>
          </a:p>
          <a:p>
            <a:pPr marL="0" indent="0">
              <a:buNone/>
            </a:pPr>
            <a:endParaRPr lang="pt-BR" i="1" dirty="0" smtClean="0"/>
          </a:p>
          <a:p>
            <a:r>
              <a:rPr lang="en-US" dirty="0"/>
              <a:t>A = {2,3} , B = {</a:t>
            </a:r>
            <a:r>
              <a:rPr lang="en-US" dirty="0" err="1"/>
              <a:t>x,y</a:t>
            </a:r>
            <a:r>
              <a:rPr lang="en-US" dirty="0"/>
              <a:t>}, and C = {5,6</a:t>
            </a:r>
            <a:r>
              <a:rPr lang="en-US" dirty="0" smtClean="0"/>
              <a:t>}</a:t>
            </a:r>
            <a:endParaRPr lang="pt-BR" i="1" dirty="0"/>
          </a:p>
          <a:p>
            <a:pPr fontAlgn="base"/>
            <a:r>
              <a:rPr lang="en-US" dirty="0" smtClean="0"/>
              <a:t>Cartesian </a:t>
            </a:r>
            <a:r>
              <a:rPr lang="en-US" dirty="0"/>
              <a:t>product of A × B × </a:t>
            </a:r>
            <a:r>
              <a:rPr lang="en-US" dirty="0" smtClean="0"/>
              <a:t>C</a:t>
            </a:r>
          </a:p>
          <a:p>
            <a:pPr fontAlgn="base"/>
            <a:r>
              <a:rPr lang="en-US" dirty="0" smtClean="0"/>
              <a:t> </a:t>
            </a:r>
            <a:r>
              <a:rPr lang="en-US" dirty="0"/>
              <a:t>let us find the </a:t>
            </a:r>
            <a:r>
              <a:rPr lang="en-US" dirty="0" smtClean="0"/>
              <a:t>Cartesian </a:t>
            </a:r>
            <a:r>
              <a:rPr lang="en-US" dirty="0"/>
              <a:t>product of A × B first.</a:t>
            </a:r>
          </a:p>
          <a:p>
            <a:pPr fontAlgn="base"/>
            <a:r>
              <a:rPr lang="en-US" dirty="0"/>
              <a:t>A × B = {(2,x), (2,y),(3,x),(3,y)}.</a:t>
            </a:r>
          </a:p>
          <a:p>
            <a:pPr fontAlgn="base"/>
            <a:r>
              <a:rPr lang="en-US" dirty="0"/>
              <a:t>A × B × C = {(2,x,5), (2,x,6), (2,y,5), (2,y,6), (3,x,5), (3,x,6), (3,y,5), (3,y,6)}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61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NULL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set</a:t>
            </a:r>
            <a:r>
              <a:rPr lang="en-US" dirty="0" smtClean="0"/>
              <a:t> which contains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 element </a:t>
            </a:r>
            <a:r>
              <a:rPr lang="en-US" dirty="0" smtClean="0"/>
              <a:t>is called a </a:t>
            </a:r>
            <a:r>
              <a:rPr lang="en-US" b="1" dirty="0" smtClean="0"/>
              <a:t>null set</a:t>
            </a:r>
            <a:r>
              <a:rPr lang="en-US" dirty="0" smtClean="0"/>
              <a:t>, or an </a:t>
            </a:r>
            <a:r>
              <a:rPr lang="en-US" b="1" dirty="0" smtClean="0"/>
              <a:t>empty set</a:t>
            </a:r>
            <a:r>
              <a:rPr lang="en-US" dirty="0" smtClean="0"/>
              <a:t> or a </a:t>
            </a:r>
            <a:r>
              <a:rPr lang="en-US" b="1" dirty="0" smtClean="0"/>
              <a:t>void set</a:t>
            </a:r>
            <a:r>
              <a:rPr lang="en-US" dirty="0" smtClean="0"/>
              <a:t>. 	</a:t>
            </a:r>
          </a:p>
          <a:p>
            <a:endParaRPr lang="en-US" dirty="0" smtClean="0"/>
          </a:p>
          <a:p>
            <a:r>
              <a:rPr lang="en-US" dirty="0" smtClean="0"/>
              <a:t>It is denoted by the Greek letter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 (phi) </a:t>
            </a:r>
            <a:r>
              <a:rPr lang="en-US" dirty="0" smtClean="0"/>
              <a:t>or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 }.</a:t>
            </a:r>
          </a:p>
          <a:p>
            <a:r>
              <a:rPr lang="en-US" b="1" u="sng" dirty="0" smtClean="0"/>
              <a:t>EXAMPLE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   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</a:t>
            </a:r>
            <a:r>
              <a:rPr lang="en-US" sz="2600" b="1" dirty="0" err="1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x|x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is a person taller than 10 feet} </a:t>
            </a:r>
          </a:p>
          <a:p>
            <a:pPr>
              <a:buNone/>
            </a:pPr>
            <a:r>
              <a:rPr lang="en-US" dirty="0" smtClean="0"/>
              <a:t>   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</a:t>
            </a:r>
            <a:r>
              <a:rPr lang="en-US" dirty="0" smtClean="0"/>
              <a:t> ( Because there does not exist any human being which is taller then 10 feet )</a:t>
            </a:r>
          </a:p>
          <a:p>
            <a:pPr>
              <a:buNone/>
            </a:pPr>
            <a:r>
              <a:rPr lang="en-US" dirty="0" smtClean="0"/>
              <a:t>  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{x|x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latin typeface="Arial"/>
                <a:cs typeface="Arial"/>
                <a:sym typeface="Symbol"/>
              </a:rPr>
              <a:t>²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= 4, x is odd} </a:t>
            </a:r>
          </a:p>
          <a:p>
            <a:pPr>
              <a:buNone/>
            </a:pPr>
            <a:r>
              <a:rPr lang="en-US" dirty="0" smtClean="0"/>
              <a:t>  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</a:t>
            </a:r>
            <a:r>
              <a:rPr lang="en-US" dirty="0" smtClean="0"/>
              <a:t> (Because we know that there does not exist any 	odd whose square is 4)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UNIVERSAL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set of all elements under consideration is called the Universal Set.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The Universal Set is usually denoted by U.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VENN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Venn diagram </a:t>
            </a:r>
            <a:r>
              <a:rPr lang="en-US" dirty="0" smtClean="0"/>
              <a:t>is a graphical representation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sets by regions </a:t>
            </a:r>
            <a:r>
              <a:rPr lang="en-US" dirty="0" smtClean="0"/>
              <a:t>in the plane.</a:t>
            </a:r>
          </a:p>
          <a:p>
            <a:endParaRPr lang="en-US" dirty="0" smtClean="0"/>
          </a:p>
          <a:p>
            <a:r>
              <a:rPr lang="en-US" dirty="0" smtClean="0"/>
              <a:t>In Venn diagram the Universal Set U, which contains all the objects under consideration, is represented by rectangle.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676400" y="4301580"/>
            <a:ext cx="548640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4606380"/>
            <a:ext cx="1676400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210668" y="4579344"/>
            <a:ext cx="1676400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9000" y="506358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96348" y="5034084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3200" y="4225380"/>
            <a:ext cx="533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U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1" animBg="1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FINITE AND INFINITE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</a:t>
            </a:r>
            <a:r>
              <a:rPr lang="en-US" dirty="0" smtClean="0"/>
              <a:t> is said to be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r>
              <a:rPr lang="en-US" dirty="0" smtClean="0"/>
              <a:t> if it contains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exactly</a:t>
            </a:r>
            <a:r>
              <a:rPr lang="en-US" dirty="0" smtClean="0"/>
              <a:t>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</a:t>
            </a:r>
            <a:r>
              <a:rPr lang="en-US" dirty="0" smtClean="0"/>
              <a:t> distinct elements where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</a:t>
            </a:r>
            <a:r>
              <a:rPr lang="en-US" dirty="0" smtClean="0"/>
              <a:t> denotes some non negative integer. </a:t>
            </a:r>
          </a:p>
          <a:p>
            <a:endParaRPr lang="en-US" dirty="0" smtClean="0"/>
          </a:p>
          <a:p>
            <a:r>
              <a:rPr lang="en-US" dirty="0" smtClean="0"/>
              <a:t>In such case we write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S =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or n(S) =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>
                <a:solidFill>
                  <a:srgbClr val="002060"/>
                </a:solidFill>
              </a:rPr>
              <a:t>CARDINALITY:</a:t>
            </a:r>
          </a:p>
          <a:p>
            <a:pPr>
              <a:buNone/>
            </a:pPr>
            <a:r>
              <a:rPr lang="en-US" dirty="0" smtClean="0"/>
              <a:t>	The cardinality of a finite set S, denoted by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S</a:t>
            </a:r>
            <a:r>
              <a:rPr lang="en-US" dirty="0" smtClean="0">
                <a:sym typeface="Symbol"/>
              </a:rPr>
              <a:t>, is the number of (distinct) element of 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400" dirty="0" smtClean="0"/>
              <a:t>The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</a:t>
            </a:r>
            <a:r>
              <a:rPr lang="en-US" sz="2400" dirty="0" smtClean="0"/>
              <a:t> of letters of English alphabets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r>
              <a:rPr lang="en-US" sz="2400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S = 26 (Cardinality)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null set  </a:t>
            </a:r>
            <a:r>
              <a:rPr lang="en-US" sz="2400" dirty="0" smtClean="0"/>
              <a:t>has no elements, is finite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 = 0 (Cardinality)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set</a:t>
            </a:r>
            <a:r>
              <a:rPr lang="en-US" sz="2400" dirty="0" smtClean="0"/>
              <a:t> of positive integers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3,…} </a:t>
            </a:r>
            <a:r>
              <a:rPr lang="en-US" sz="2400" dirty="0" smtClean="0"/>
              <a:t>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r>
              <a:rPr lang="en-US" sz="24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400" b="1" dirty="0" smtClean="0"/>
              <a:t>A</a:t>
            </a:r>
            <a:r>
              <a:rPr lang="en-US" sz="2400" dirty="0" smtClean="0"/>
              <a:t> = {month in the year}		</a:t>
            </a:r>
          </a:p>
          <a:p>
            <a:pPr lvl="1"/>
            <a:r>
              <a:rPr lang="en-US" sz="2400" b="1" dirty="0" smtClean="0"/>
              <a:t>B</a:t>
            </a:r>
            <a:r>
              <a:rPr lang="en-US" sz="2400" dirty="0" smtClean="0"/>
              <a:t> = {even integers}			</a:t>
            </a:r>
          </a:p>
          <a:p>
            <a:pPr lvl="1"/>
            <a:r>
              <a:rPr lang="en-US" sz="2400" b="1" dirty="0" smtClean="0"/>
              <a:t>C</a:t>
            </a:r>
            <a:r>
              <a:rPr lang="en-US" sz="2400" dirty="0" smtClean="0"/>
              <a:t> = {positive integers less than 1}	</a:t>
            </a:r>
          </a:p>
          <a:p>
            <a:pPr lvl="1"/>
            <a:r>
              <a:rPr lang="en-US" sz="2400" b="1" dirty="0" smtClean="0"/>
              <a:t>D</a:t>
            </a:r>
            <a:r>
              <a:rPr lang="en-US" sz="2400" dirty="0" smtClean="0"/>
              <a:t> = {animals living on the earth}	</a:t>
            </a:r>
          </a:p>
          <a:p>
            <a:pPr lvl="1"/>
            <a:r>
              <a:rPr lang="en-US" sz="2400" b="1" dirty="0" smtClean="0"/>
              <a:t>E</a:t>
            </a:r>
            <a:r>
              <a:rPr lang="en-US" sz="2400" dirty="0" smtClean="0"/>
              <a:t> = {lines parallel to x-axis}		</a:t>
            </a:r>
          </a:p>
          <a:p>
            <a:pPr lvl="1"/>
            <a:r>
              <a:rPr lang="pt-BR" sz="2400" b="1" dirty="0" smtClean="0"/>
              <a:t>F</a:t>
            </a:r>
            <a:r>
              <a:rPr lang="pt-BR" sz="2400" dirty="0" smtClean="0"/>
              <a:t> = {x </a:t>
            </a:r>
            <a:r>
              <a:rPr lang="en-US" sz="2400" dirty="0" smtClean="0">
                <a:sym typeface="Symbol"/>
              </a:rPr>
              <a:t></a:t>
            </a:r>
            <a:r>
              <a:rPr lang="pt-BR" sz="2400" b="1" dirty="0" smtClean="0"/>
              <a:t>R </a:t>
            </a:r>
            <a:r>
              <a:rPr lang="en-US" sz="2400" dirty="0" smtClean="0">
                <a:sym typeface="Symbol"/>
              </a:rPr>
              <a:t></a:t>
            </a:r>
            <a:r>
              <a:rPr lang="pt-BR" sz="2400" dirty="0" smtClean="0"/>
              <a:t> x</a:t>
            </a:r>
            <a:r>
              <a:rPr lang="pt-BR" sz="2400" baseline="30000" dirty="0" smtClean="0"/>
              <a:t>100</a:t>
            </a:r>
            <a:r>
              <a:rPr lang="pt-BR" sz="2400" dirty="0" smtClean="0"/>
              <a:t> + 29x</a:t>
            </a:r>
            <a:r>
              <a:rPr lang="pt-BR" sz="2400" baseline="30000" dirty="0" smtClean="0"/>
              <a:t>50</a:t>
            </a:r>
            <a:r>
              <a:rPr lang="pt-BR" sz="2400" dirty="0" smtClean="0"/>
              <a:t> – 1 = 0}	</a:t>
            </a:r>
            <a:endParaRPr lang="en-US" sz="2400" dirty="0" smtClean="0"/>
          </a:p>
          <a:p>
            <a:pPr lvl="1"/>
            <a:r>
              <a:rPr lang="en-US" sz="2400" b="1" dirty="0" smtClean="0"/>
              <a:t>G</a:t>
            </a:r>
            <a:r>
              <a:rPr lang="en-US" sz="2400" dirty="0" smtClean="0"/>
              <a:t> = {circles through origin}	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400" b="1" dirty="0" smtClean="0"/>
              <a:t>A</a:t>
            </a:r>
            <a:r>
              <a:rPr lang="en-US" sz="2400" dirty="0" smtClean="0"/>
              <a:t> = {month in the year}		</a:t>
            </a:r>
          </a:p>
          <a:p>
            <a:pPr lvl="1"/>
            <a:r>
              <a:rPr lang="en-US" sz="2400" b="1" dirty="0" smtClean="0"/>
              <a:t>B</a:t>
            </a:r>
            <a:r>
              <a:rPr lang="en-US" sz="2400" dirty="0" smtClean="0"/>
              <a:t> = {even integers}			</a:t>
            </a:r>
          </a:p>
          <a:p>
            <a:pPr lvl="1"/>
            <a:r>
              <a:rPr lang="en-US" sz="2400" b="1" dirty="0" smtClean="0"/>
              <a:t>C</a:t>
            </a:r>
            <a:r>
              <a:rPr lang="en-US" sz="2400" dirty="0" smtClean="0"/>
              <a:t> = {positive integers less than 1}	</a:t>
            </a:r>
          </a:p>
          <a:p>
            <a:pPr lvl="1"/>
            <a:r>
              <a:rPr lang="en-US" sz="2400" b="1" dirty="0" smtClean="0"/>
              <a:t>D</a:t>
            </a:r>
            <a:r>
              <a:rPr lang="en-US" sz="2400" dirty="0" smtClean="0"/>
              <a:t> = {animals living on the earth}	</a:t>
            </a:r>
          </a:p>
          <a:p>
            <a:pPr lvl="1"/>
            <a:r>
              <a:rPr lang="en-US" sz="2400" b="1" dirty="0" smtClean="0"/>
              <a:t>E</a:t>
            </a:r>
            <a:r>
              <a:rPr lang="en-US" sz="2400" dirty="0" smtClean="0"/>
              <a:t> = {lines parallel to x-axis}		</a:t>
            </a:r>
          </a:p>
          <a:p>
            <a:pPr lvl="1"/>
            <a:r>
              <a:rPr lang="pt-BR" sz="2400" b="1" dirty="0" smtClean="0"/>
              <a:t>F</a:t>
            </a:r>
            <a:r>
              <a:rPr lang="pt-BR" sz="2400" dirty="0" smtClean="0"/>
              <a:t> = {x </a:t>
            </a:r>
            <a:r>
              <a:rPr lang="en-US" sz="2400" dirty="0" smtClean="0">
                <a:sym typeface="Symbol"/>
              </a:rPr>
              <a:t></a:t>
            </a:r>
            <a:r>
              <a:rPr lang="pt-BR" sz="2400" b="1" dirty="0" smtClean="0"/>
              <a:t>R </a:t>
            </a:r>
            <a:r>
              <a:rPr lang="en-US" sz="2400" dirty="0" smtClean="0">
                <a:sym typeface="Symbol"/>
              </a:rPr>
              <a:t></a:t>
            </a:r>
            <a:r>
              <a:rPr lang="pt-BR" sz="2400" dirty="0" smtClean="0"/>
              <a:t> x</a:t>
            </a:r>
            <a:r>
              <a:rPr lang="pt-BR" sz="2400" baseline="30000" dirty="0" smtClean="0"/>
              <a:t>100</a:t>
            </a:r>
            <a:r>
              <a:rPr lang="pt-BR" sz="2400" dirty="0" smtClean="0"/>
              <a:t> + 29x</a:t>
            </a:r>
            <a:r>
              <a:rPr lang="pt-BR" sz="2400" baseline="30000" dirty="0" smtClean="0"/>
              <a:t>50</a:t>
            </a:r>
            <a:r>
              <a:rPr lang="pt-BR" sz="2400" dirty="0" smtClean="0"/>
              <a:t> – 1 = 0}	</a:t>
            </a:r>
            <a:endParaRPr lang="en-US" sz="2400" dirty="0" smtClean="0"/>
          </a:p>
          <a:p>
            <a:pPr lvl="1"/>
            <a:r>
              <a:rPr lang="en-US" sz="2400" b="1" dirty="0" smtClean="0"/>
              <a:t>G</a:t>
            </a:r>
            <a:r>
              <a:rPr lang="en-US" sz="2400" dirty="0" smtClean="0"/>
              <a:t> = {circles through origin}		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13120" y="167640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5943600" y="2072640"/>
            <a:ext cx="185928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928360" y="246888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5928360" y="294132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5928360" y="3383280"/>
            <a:ext cx="185928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5928360" y="4251960"/>
            <a:ext cx="185928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5928360" y="381000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394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MEMBERSHIP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table</a:t>
            </a:r>
            <a:r>
              <a:rPr lang="en-US" dirty="0" smtClean="0"/>
              <a:t> displaying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membership</a:t>
            </a:r>
            <a:r>
              <a:rPr lang="en-US" dirty="0" smtClean="0"/>
              <a:t> of elements in sets.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indicate</a:t>
            </a:r>
            <a:r>
              <a:rPr lang="en-US" dirty="0" smtClean="0"/>
              <a:t> that an element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 a set</a:t>
            </a:r>
            <a:r>
              <a:rPr lang="en-US" dirty="0" smtClean="0"/>
              <a:t>,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1</a:t>
            </a:r>
            <a:r>
              <a:rPr lang="en-US" dirty="0" smtClean="0"/>
              <a:t> is used; </a:t>
            </a:r>
            <a:r>
              <a:rPr lang="en-US" dirty="0" smtClean="0">
                <a:sym typeface="Symbol"/>
              </a:rPr>
              <a:t>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indicate </a:t>
            </a:r>
            <a:r>
              <a:rPr lang="en-US" dirty="0" smtClean="0"/>
              <a:t>that an element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not in a set</a:t>
            </a:r>
            <a:r>
              <a:rPr lang="en-US" dirty="0" smtClean="0"/>
              <a:t>, a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0 </a:t>
            </a:r>
            <a:r>
              <a:rPr lang="en-US" dirty="0" smtClean="0"/>
              <a:t>is used.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0" y="3718560"/>
          <a:ext cx="1600200" cy="92964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  <a:r>
                        <a:rPr lang="en-US" sz="1800" b="1" baseline="30000" dirty="0">
                          <a:latin typeface="Times New Roman"/>
                          <a:ea typeface="MS Mincho"/>
                        </a:rPr>
                        <a:t>c</a:t>
                      </a:r>
                      <a:endParaRPr lang="en-US" sz="1800" b="1" dirty="0">
                        <a:latin typeface="Times New Roman"/>
                        <a:ea typeface="MS Minch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62200" y="3048000"/>
            <a:ext cx="42672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002060"/>
                </a:solidFill>
              </a:rPr>
              <a:t>SET OPERATIONS</a:t>
            </a:r>
            <a:endParaRPr lang="en-US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2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be subsets of a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union</a:t>
            </a:r>
            <a:r>
              <a:rPr lang="en-US" dirty="0" smtClean="0"/>
              <a:t> of sets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is the set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all elements </a:t>
            </a:r>
            <a:r>
              <a:rPr lang="en-US" dirty="0" smtClean="0"/>
              <a:t>in U that belong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or </a:t>
            </a:r>
            <a:r>
              <a:rPr lang="en-US" dirty="0" smtClean="0"/>
              <a:t>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or to both, and is denoted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 B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ym typeface="Symbol"/>
              </a:rPr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dirty="0" smtClean="0"/>
              <a:t> B = {x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or</a:t>
            </a:r>
            <a:r>
              <a:rPr lang="en-US" dirty="0" smtClean="0"/>
              <a:t>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 B}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EMAMPLE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endParaRPr lang="es-ES" dirty="0" smtClean="0"/>
          </a:p>
          <a:p>
            <a:pPr>
              <a:buNone/>
            </a:pPr>
            <a:r>
              <a:rPr lang="es-ES" dirty="0" smtClean="0"/>
              <a:t>   </a:t>
            </a:r>
          </a:p>
          <a:p>
            <a:pPr>
              <a:buNone/>
            </a:pPr>
            <a:r>
              <a:rPr lang="es-ES" dirty="0" smtClean="0"/>
              <a:t>	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g},</a:t>
            </a:r>
          </a:p>
          <a:p>
            <a:pPr>
              <a:buNone/>
            </a:pPr>
            <a:r>
              <a:rPr lang="es-ES" dirty="0" smtClean="0"/>
              <a:t>		B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 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dirty="0" smtClean="0"/>
              <a:t> B = {x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A or 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B}</a:t>
            </a:r>
          </a:p>
          <a:p>
            <a:pPr>
              <a:buNone/>
            </a:pPr>
            <a:r>
              <a:rPr lang="en-US" dirty="0" smtClean="0"/>
              <a:t>			 	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d, e, f, g}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VENN DIAGRAM FOR UNION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REMARK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b="1" dirty="0" smtClean="0"/>
              <a:t>1.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  (that is union is commutative)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2. </a:t>
            </a:r>
            <a:r>
              <a:rPr lang="en-US" dirty="0" smtClean="0"/>
              <a:t>A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 and 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</a:t>
            </a:r>
          </a:p>
          <a:p>
            <a:pPr>
              <a:buNone/>
            </a:pPr>
            <a:r>
              <a:rPr lang="en-US" b="1" dirty="0" smtClean="0"/>
              <a:t>  </a:t>
            </a:r>
          </a:p>
          <a:p>
            <a:endParaRPr lang="en-US" b="1" dirty="0" smtClean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8520" y="1600200"/>
            <a:ext cx="2936512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MEMBERSHIP TABLE FOR UNION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2895601" y="1676400"/>
          <a:ext cx="2743199" cy="2895599"/>
        </p:xfrm>
        <a:graphic>
          <a:graphicData uri="http://schemas.openxmlformats.org/drawingml/2006/table">
            <a:tbl>
              <a:tblPr/>
              <a:tblGrid>
                <a:gridCol w="89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5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A </a:t>
                      </a: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  <a:sym typeface="Symbol"/>
                        </a:rPr>
                        <a:t></a:t>
                      </a: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73">
                <a:tc>
                  <a:txBody>
                    <a:bodyPr/>
                    <a:lstStyle/>
                    <a:p>
                      <a:pPr marL="0" marR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2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INTERSECTION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subsets of a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intersection</a:t>
            </a:r>
            <a:r>
              <a:rPr lang="en-US" dirty="0" smtClean="0"/>
              <a:t> of sets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is the set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all elements</a:t>
            </a:r>
            <a:r>
              <a:rPr lang="en-US" dirty="0" smtClean="0"/>
              <a:t>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 that belong to both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and is denoted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 B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r>
              <a:rPr lang="en-US" dirty="0" smtClean="0"/>
              <a:t>		A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</a:t>
            </a:r>
            <a:r>
              <a:rPr lang="en-US" dirty="0" smtClean="0"/>
              <a:t> B = {x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 A and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B}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EXMAPLE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r>
              <a:rPr lang="es-ES" dirty="0" smtClean="0"/>
              <a:t>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</a:t>
            </a:r>
            <a:r>
              <a:rPr lang="es-ES" dirty="0" smtClean="0"/>
              <a:t>,</a:t>
            </a:r>
          </a:p>
          <a:p>
            <a:pPr>
              <a:buNone/>
            </a:pPr>
            <a:r>
              <a:rPr lang="es-ES" dirty="0" smtClean="0"/>
              <a:t>		B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</a:t>
            </a:r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   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{e, g}</a:t>
            </a:r>
          </a:p>
          <a:p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9848" y="4080384"/>
            <a:ext cx="2438400" cy="2154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400" dirty="0" smtClean="0"/>
              <a:t>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= B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A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</a:t>
            </a:r>
            <a:r>
              <a:rPr lang="en-US" sz="2400" dirty="0" smtClean="0">
                <a:sym typeface="Symbol"/>
              </a:rPr>
              <a:t></a:t>
            </a:r>
            <a:r>
              <a:rPr lang="en-US" sz="2400" dirty="0" smtClean="0"/>
              <a:t> A and	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</a:t>
            </a:r>
            <a:r>
              <a:rPr lang="en-US" sz="2400" dirty="0" smtClean="0">
                <a:sym typeface="Symbol"/>
              </a:rPr>
              <a:t></a:t>
            </a:r>
            <a:r>
              <a:rPr lang="en-US" sz="2400" dirty="0" smtClean="0"/>
              <a:t> B</a:t>
            </a:r>
          </a:p>
          <a:p>
            <a:pPr lvl="1"/>
            <a:r>
              <a:rPr lang="en-US" sz="2400" dirty="0" smtClean="0"/>
              <a:t>If 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= </a:t>
            </a:r>
            <a:r>
              <a:rPr lang="en-US" sz="2400" dirty="0" smtClean="0">
                <a:sym typeface="Symbol"/>
              </a:rPr>
              <a:t></a:t>
            </a:r>
            <a:r>
              <a:rPr lang="en-US" sz="2400" dirty="0" smtClean="0"/>
              <a:t>,	then A &amp; B are called disjoint sets.</a:t>
            </a:r>
          </a:p>
          <a:p>
            <a:pPr lvl="1"/>
            <a:endParaRPr lang="en-US" sz="2400" dirty="0" smtClean="0"/>
          </a:p>
          <a:p>
            <a:r>
              <a:rPr lang="en-US" b="1" u="sng" dirty="0" smtClean="0"/>
              <a:t>MEMBERSHIP TABLE FOR INTERSECTION: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REMARK: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This membership table is similar to the truth table for logical 	connective, conjunction (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33800" y="3699396"/>
          <a:ext cx="1828799" cy="1600200"/>
        </p:xfrm>
        <a:graphic>
          <a:graphicData uri="http://schemas.openxmlformats.org/drawingml/2006/table">
            <a:tbl>
              <a:tblPr/>
              <a:tblGrid>
                <a:gridCol w="41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 </a:t>
                      </a:r>
                      <a:r>
                        <a:rPr lang="en-US" sz="1800" b="1" dirty="0">
                          <a:latin typeface="Times New Roman"/>
                          <a:ea typeface="MS Mincho"/>
                          <a:sym typeface="Symbol"/>
                        </a:rPr>
                        <a:t></a:t>
                      </a: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DIFFERENCE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be subsets of a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difference</a:t>
            </a:r>
            <a:r>
              <a:rPr lang="en-US" dirty="0" smtClean="0"/>
              <a:t> of “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and B</a:t>
            </a:r>
            <a:r>
              <a:rPr lang="en-US" dirty="0" smtClean="0"/>
              <a:t>” (or relative complement of B in A) is the set of all elements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 </a:t>
            </a:r>
            <a:r>
              <a:rPr lang="en-US" dirty="0" smtClean="0"/>
              <a:t>that belong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but not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, and is denoted </a:t>
            </a:r>
          </a:p>
          <a:p>
            <a:pPr>
              <a:buNone/>
            </a:pP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  A – B </a:t>
            </a:r>
            <a:r>
              <a:rPr lang="en-US" dirty="0" smtClean="0"/>
              <a:t>or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A\B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r>
              <a:rPr lang="en-US" dirty="0" smtClean="0"/>
              <a:t>			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–</a:t>
            </a:r>
            <a:r>
              <a:rPr lang="en-US" dirty="0" smtClean="0"/>
              <a:t> B = {x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U | 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 </a:t>
            </a:r>
            <a:r>
              <a:rPr lang="en-US" dirty="0" smtClean="0"/>
              <a:t>A and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</a:t>
            </a:r>
            <a:r>
              <a:rPr lang="en-US" dirty="0" smtClean="0"/>
              <a:t>B}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r>
              <a:rPr lang="es-ES" dirty="0" smtClean="0"/>
              <a:t>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g},</a:t>
            </a:r>
            <a:r>
              <a:rPr lang="es-ES" dirty="0" smtClean="0"/>
              <a:t>	</a:t>
            </a:r>
          </a:p>
          <a:p>
            <a:pPr>
              <a:buNone/>
            </a:pPr>
            <a:r>
              <a:rPr lang="es-ES" dirty="0" smtClean="0"/>
              <a:t>		B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	A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– </a:t>
            </a:r>
            <a:r>
              <a:rPr lang="en-US" dirty="0" smtClean="0"/>
              <a:t>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c}</a:t>
            </a:r>
          </a:p>
          <a:p>
            <a:r>
              <a:rPr lang="en-US" b="1" u="sng" dirty="0" smtClean="0"/>
              <a:t>VENN DIAGRAM FOR SET DIFFERENCE: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962400"/>
            <a:ext cx="243590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/>
          <a:lstStyle/>
          <a:p>
            <a:pPr lvl="1"/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– B  B – A </a:t>
            </a:r>
            <a:r>
              <a:rPr lang="en-US" sz="2400" dirty="0" smtClean="0"/>
              <a:t>set difference is not commutative.</a:t>
            </a:r>
          </a:p>
          <a:p>
            <a:pPr lvl="1"/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– B  A</a:t>
            </a:r>
          </a:p>
          <a:p>
            <a:pPr lvl="1"/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– B, A  B </a:t>
            </a:r>
            <a:r>
              <a:rPr lang="en-US" sz="2400" dirty="0" smtClean="0"/>
              <a:t>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 – A </a:t>
            </a:r>
            <a:r>
              <a:rPr lang="en-US" sz="2400" dirty="0" smtClean="0"/>
              <a:t>are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mutually disjoint </a:t>
            </a:r>
            <a:r>
              <a:rPr lang="en-US" sz="2400" dirty="0" smtClean="0"/>
              <a:t>sets.</a:t>
            </a:r>
          </a:p>
          <a:p>
            <a:r>
              <a:rPr lang="en-US" b="1" u="sng" dirty="0" smtClean="0"/>
              <a:t>MEMBERSHIP TABLE FOR SET DIFFERENCE: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REMARK: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The membership table is similar to the truth table for ~ (p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q).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33800" y="3962400"/>
          <a:ext cx="1905000" cy="1524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MS Mincho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 –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be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</a:t>
            </a:r>
            <a:r>
              <a:rPr lang="en-US" dirty="0" smtClean="0"/>
              <a:t> of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complement</a:t>
            </a:r>
            <a:r>
              <a:rPr lang="en-US" dirty="0" smtClean="0"/>
              <a:t>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is the set of all element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 that do not belong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, and is denoted A</a:t>
            </a:r>
            <a:r>
              <a:rPr lang="en-US" dirty="0" smtClean="0">
                <a:latin typeface="Arial"/>
                <a:cs typeface="Arial"/>
                <a:sym typeface="Symbol"/>
              </a:rPr>
              <a:t>׳</a:t>
            </a:r>
            <a:r>
              <a:rPr lang="en-US" dirty="0" smtClean="0"/>
              <a:t>, A or A</a:t>
            </a:r>
            <a:r>
              <a:rPr lang="en-US" baseline="30000" dirty="0" smtClean="0"/>
              <a:t>c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r>
              <a:rPr lang="en-US" dirty="0" smtClean="0"/>
              <a:t>			A</a:t>
            </a:r>
            <a:r>
              <a:rPr lang="en-US" baseline="30000" dirty="0" smtClean="0"/>
              <a:t>c</a:t>
            </a:r>
            <a:r>
              <a:rPr lang="en-US" dirty="0" smtClean="0"/>
              <a:t> = {x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dirty="0" smtClean="0">
                <a:sym typeface="Symbol"/>
              </a:rPr>
              <a:t></a:t>
            </a:r>
            <a:r>
              <a:rPr lang="en-US" dirty="0" smtClean="0"/>
              <a:t>A}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828504" y="2485104"/>
            <a:ext cx="2286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r>
              <a:rPr lang="es-ES" dirty="0" smtClean="0"/>
              <a:t> 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 	A</a:t>
            </a:r>
            <a:r>
              <a:rPr lang="en-US" baseline="30000" dirty="0" smtClean="0"/>
              <a:t>c</a:t>
            </a:r>
            <a:r>
              <a:rPr lang="en-US" dirty="0" smtClean="0"/>
              <a:t> = {b, d, f}	 </a:t>
            </a:r>
          </a:p>
          <a:p>
            <a:r>
              <a:rPr lang="en-US" b="1" u="sng" dirty="0" smtClean="0"/>
              <a:t>VENN DIAGRAM FOR COMPLEMENT: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4038600"/>
            <a:ext cx="2660072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/>
          <a:lstStyle/>
          <a:p>
            <a:pPr lvl="0"/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= U – A</a:t>
            </a:r>
          </a:p>
          <a:p>
            <a:pPr lvl="0"/>
            <a:r>
              <a:rPr lang="en-US" dirty="0" smtClean="0"/>
              <a:t>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= </a:t>
            </a:r>
            <a:r>
              <a:rPr lang="en-US" dirty="0" smtClean="0">
                <a:sym typeface="Symbol"/>
              </a:rPr>
              <a:t></a:t>
            </a:r>
            <a:r>
              <a:rPr lang="en-US" dirty="0" smtClean="0"/>
              <a:t>	</a:t>
            </a:r>
          </a:p>
          <a:p>
            <a:r>
              <a:rPr lang="en-US" dirty="0" smtClean="0"/>
              <a:t>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= U</a:t>
            </a:r>
          </a:p>
          <a:p>
            <a:r>
              <a:rPr lang="en-US" b="1" u="sng" dirty="0" smtClean="0"/>
              <a:t>MEMBERSHIP TABLE FOR COMPLEMENT: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REMARK</a:t>
            </a:r>
          </a:p>
          <a:p>
            <a:pPr>
              <a:buNone/>
            </a:pPr>
            <a:r>
              <a:rPr lang="en-US" dirty="0" smtClean="0"/>
              <a:t>   This membership table is similar to the truth table for logical connective negation (~).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38600" y="3505200"/>
          <a:ext cx="1447800" cy="838200"/>
        </p:xfrm>
        <a:graphic>
          <a:graphicData uri="http://schemas.openxmlformats.org/drawingml/2006/table">
            <a:tbl>
              <a:tblPr/>
              <a:tblGrid>
                <a:gridCol w="723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  <a:r>
                        <a:rPr lang="en-US" sz="1800" b="1" baseline="30000" dirty="0">
                          <a:latin typeface="Times New Roman"/>
                          <a:ea typeface="MS Mincho"/>
                        </a:rPr>
                        <a:t>c</a:t>
                      </a:r>
                      <a:endParaRPr lang="en-US" sz="1800" b="1" dirty="0">
                        <a:latin typeface="Times New Roman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the following universal set U and its two</a:t>
            </a:r>
            <a:r>
              <a:rPr lang="en-US" u="sng" dirty="0" smtClean="0"/>
              <a:t> </a:t>
            </a:r>
            <a:r>
              <a:rPr lang="en-US" sz="2600" b="1" u="sng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subsets</a:t>
            </a:r>
            <a:r>
              <a:rPr lang="en-US" dirty="0" smtClean="0"/>
              <a:t> P and Q, where</a:t>
            </a:r>
          </a:p>
          <a:p>
            <a:pPr>
              <a:buNone/>
            </a:pPr>
            <a:r>
              <a:rPr lang="en-US" dirty="0" smtClean="0"/>
              <a:t>		U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 | x  Z, 0  x  10}</a:t>
            </a:r>
          </a:p>
          <a:p>
            <a:pPr>
              <a:buNone/>
            </a:pPr>
            <a:r>
              <a:rPr lang="en-US" dirty="0" smtClean="0"/>
              <a:t>		P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 | x is a prime number}</a:t>
            </a:r>
          </a:p>
          <a:p>
            <a:pPr>
              <a:buNone/>
            </a:pPr>
            <a:r>
              <a:rPr lang="en-US" dirty="0" smtClean="0"/>
              <a:t>		Q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 | 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latin typeface="Arial"/>
                <a:cs typeface="Arial"/>
                <a:sym typeface="Symbol"/>
              </a:rPr>
              <a:t>²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&lt; 70}</a:t>
            </a:r>
          </a:p>
          <a:p>
            <a:pPr>
              <a:buNone/>
            </a:pPr>
            <a:endParaRPr lang="en-US" dirty="0" smtClean="0"/>
          </a:p>
          <a:p>
            <a:pPr marL="1348740" lvl="3" indent="-342900">
              <a:buFont typeface="+mj-lt"/>
              <a:buAutoNum type="arabicPeriod"/>
            </a:pPr>
            <a:r>
              <a:rPr lang="en-US" sz="2400" dirty="0" smtClean="0"/>
              <a:t>Draw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Venn diagram </a:t>
            </a:r>
            <a:r>
              <a:rPr lang="en-US" sz="2400" dirty="0" smtClean="0"/>
              <a:t>for the above</a:t>
            </a:r>
          </a:p>
          <a:p>
            <a:pPr marL="1348740" lvl="3" indent="-342900">
              <a:buFont typeface="+mj-lt"/>
              <a:buAutoNum type="arabicPeriod"/>
            </a:pPr>
            <a:r>
              <a:rPr lang="en-US" sz="2400" dirty="0" smtClean="0"/>
              <a:t>List the elements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</a:t>
            </a:r>
            <a:r>
              <a:rPr lang="he-IL" sz="40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׳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 Q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 = {x | 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Z,  0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x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10}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U= {0, 1, 2, 3, …, 10}</a:t>
            </a:r>
          </a:p>
          <a:p>
            <a:endParaRPr lang="en-US" dirty="0" smtClean="0"/>
          </a:p>
          <a:p>
            <a:r>
              <a:rPr lang="en-US" dirty="0" smtClean="0"/>
              <a:t>P = {x | x is a prime number}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 = {2, 3, 5, 7}</a:t>
            </a:r>
          </a:p>
          <a:p>
            <a:endParaRPr lang="en-US" dirty="0" smtClean="0"/>
          </a:p>
          <a:p>
            <a:r>
              <a:rPr lang="en-US" dirty="0" smtClean="0"/>
              <a:t>Q = {x | x</a:t>
            </a:r>
            <a:r>
              <a:rPr lang="en-US" baseline="30000" dirty="0" smtClean="0"/>
              <a:t>2</a:t>
            </a:r>
            <a:r>
              <a:rPr lang="en-US" dirty="0" smtClean="0"/>
              <a:t> &lt; 70}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Q= {0, 1, 2, 3, 4, 5, 6, 7, 8}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VENN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b="1" dirty="0" smtClean="0"/>
              <a:t>P</a:t>
            </a:r>
            <a:r>
              <a:rPr lang="en-US" sz="2400" b="1" baseline="30000" dirty="0" smtClean="0"/>
              <a:t>c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/>
              </a:rPr>
              <a:t></a:t>
            </a:r>
            <a:r>
              <a:rPr lang="en-US" sz="2400" b="1" dirty="0" smtClean="0"/>
              <a:t> Q = ?</a:t>
            </a:r>
          </a:p>
          <a:p>
            <a:pPr>
              <a:buNone/>
            </a:pPr>
            <a:r>
              <a:rPr lang="en-US" dirty="0" smtClean="0"/>
              <a:t>	P</a:t>
            </a:r>
            <a:r>
              <a:rPr lang="en-US" b="1" baseline="30000" dirty="0" smtClean="0"/>
              <a:t>c</a:t>
            </a:r>
            <a:r>
              <a:rPr lang="en-US" dirty="0" smtClean="0"/>
              <a:t> = U – P = {0, 1, 2, 3, …, 10}- {2, 3, 5, 7}</a:t>
            </a:r>
          </a:p>
          <a:p>
            <a:pPr>
              <a:buNone/>
            </a:pPr>
            <a:r>
              <a:rPr lang="en-US" dirty="0" smtClean="0"/>
              <a:t>			= {0, 1, 4, 6, 8, 9, 10}</a:t>
            </a:r>
          </a:p>
          <a:p>
            <a:pPr>
              <a:buNone/>
            </a:pPr>
            <a:r>
              <a:rPr lang="en-US" dirty="0" smtClean="0"/>
              <a:t>	and		     </a:t>
            </a:r>
          </a:p>
          <a:p>
            <a:pPr>
              <a:buNone/>
            </a:pPr>
            <a:r>
              <a:rPr lang="en-US" dirty="0" smtClean="0"/>
              <a:t>	P</a:t>
            </a:r>
            <a:r>
              <a:rPr lang="en-US" b="1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Q = {0, 1, 4, 6, 8, 9, 10}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{0, 1, 2, 3, 4, 5, 6, 7, 8}</a:t>
            </a:r>
          </a:p>
          <a:p>
            <a:pPr>
              <a:buNone/>
            </a:pPr>
            <a:r>
              <a:rPr lang="en-US" dirty="0" smtClean="0"/>
              <a:t>		    = {0, 1, 4, 6, 8}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8120" y="1676400"/>
            <a:ext cx="345297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	</a:t>
            </a:r>
          </a:p>
          <a:p>
            <a:pPr>
              <a:buNone/>
            </a:pPr>
            <a:r>
              <a:rPr lang="en-US" dirty="0" smtClean="0"/>
              <a:t>		U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4, 5},</a:t>
            </a:r>
            <a:r>
              <a:rPr lang="en-US" dirty="0" smtClean="0"/>
              <a:t>	C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3}</a:t>
            </a:r>
          </a:p>
          <a:p>
            <a:pPr>
              <a:buNone/>
            </a:pPr>
            <a:r>
              <a:rPr lang="en-US" dirty="0" smtClean="0"/>
              <a:t>	Where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are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non empty </a:t>
            </a:r>
            <a:r>
              <a:rPr lang="en-US" dirty="0" smtClean="0"/>
              <a:t>sets. Find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in each of the following: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U,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sz="2400" dirty="0" smtClean="0"/>
              <a:t>	and	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{1}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</a:t>
            </a:r>
            <a:r>
              <a:rPr lang="en-US" sz="2400" dirty="0" smtClean="0"/>
              <a:t> B	and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{4, 5}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{3},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{2, 3, 4}	and 	        B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C = {1,2,3}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and B are disjoint, B and C are disjoint, and the union of A and B is the set {1, 2}.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eriod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U,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sz="2400" dirty="0" smtClean="0"/>
              <a:t>	and	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{1}</a:t>
            </a:r>
          </a:p>
          <a:p>
            <a:pPr>
              <a:buNone/>
            </a:pPr>
            <a:r>
              <a:rPr lang="en-US" dirty="0" smtClean="0"/>
              <a:t>	  Since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 </a:t>
            </a:r>
            <a:r>
              <a:rPr lang="en-US" dirty="0" smtClean="0"/>
              <a:t>B = U</a:t>
            </a:r>
          </a:p>
          <a:p>
            <a:pPr>
              <a:buNone/>
            </a:pPr>
            <a:r>
              <a:rPr lang="en-US" dirty="0" smtClean="0"/>
              <a:t>			    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4, 5}</a:t>
            </a:r>
          </a:p>
          <a:p>
            <a:pPr>
              <a:buNone/>
            </a:pPr>
            <a:r>
              <a:rPr lang="en-US" dirty="0" smtClean="0"/>
              <a:t>	     and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 </a:t>
            </a:r>
            <a:r>
              <a:rPr lang="en-US" dirty="0" smtClean="0"/>
              <a:t>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dirty="0" smtClean="0"/>
              <a:t>,	</a:t>
            </a:r>
          </a:p>
          <a:p>
            <a:pPr>
              <a:buNone/>
            </a:pPr>
            <a:r>
              <a:rPr lang="en-US" dirty="0" smtClean="0"/>
              <a:t>	     Therefore </a:t>
            </a:r>
          </a:p>
          <a:p>
            <a:pPr>
              <a:buNone/>
            </a:pPr>
            <a:r>
              <a:rPr lang="en-US" dirty="0" smtClean="0"/>
              <a:t>  			</a:t>
            </a:r>
            <a:r>
              <a:rPr lang="en-US" b="1" dirty="0" smtClean="0"/>
              <a:t>A = </a:t>
            </a:r>
            <a:r>
              <a:rPr lang="en-US" b="1" dirty="0" err="1" smtClean="0"/>
              <a:t>B</a:t>
            </a:r>
            <a:r>
              <a:rPr lang="en-US" b="1" baseline="30000" dirty="0" err="1" smtClean="0"/>
              <a:t>c</a:t>
            </a:r>
            <a:r>
              <a:rPr lang="en-US" b="1" dirty="0" smtClean="0"/>
              <a:t> </a:t>
            </a:r>
          </a:p>
          <a:p>
            <a:pPr>
              <a:buNone/>
            </a:pPr>
            <a:r>
              <a:rPr lang="en-US" b="1" dirty="0" smtClean="0"/>
              <a:t>			    = {1}</a:t>
            </a:r>
            <a:r>
              <a:rPr lang="en-US" b="1" baseline="30000" dirty="0" smtClean="0"/>
              <a:t>c</a:t>
            </a:r>
            <a:r>
              <a:rPr lang="en-US" b="1" dirty="0" smtClean="0"/>
              <a:t> </a:t>
            </a:r>
          </a:p>
          <a:p>
            <a:pPr>
              <a:buNone/>
            </a:pPr>
            <a:r>
              <a:rPr lang="en-US" b="1" dirty="0" smtClean="0"/>
              <a:t>			   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{2, 3, 4, 5}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arenR" startAt="2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</a:t>
            </a:r>
            <a:r>
              <a:rPr lang="en-US" sz="2400" dirty="0" smtClean="0"/>
              <a:t> B	and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{4, 5}</a:t>
            </a:r>
          </a:p>
          <a:p>
            <a:pPr>
              <a:buNone/>
            </a:pPr>
            <a:r>
              <a:rPr lang="en-US" dirty="0" smtClean="0"/>
              <a:t>	  When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</a:t>
            </a:r>
            <a:r>
              <a:rPr lang="en-US" dirty="0" smtClean="0"/>
              <a:t> B, </a:t>
            </a:r>
          </a:p>
          <a:p>
            <a:pPr>
              <a:buNone/>
            </a:pPr>
            <a:r>
              <a:rPr lang="en-US" dirty="0" smtClean="0"/>
              <a:t>      then 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dirty="0" smtClean="0"/>
              <a:t> B = </a:t>
            </a:r>
          </a:p>
          <a:p>
            <a:pPr>
              <a:buNone/>
            </a:pPr>
            <a:r>
              <a:rPr lang="en-US" dirty="0" smtClean="0"/>
              <a:t>			    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{4, 5}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      Also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being </a:t>
            </a:r>
            <a:r>
              <a:rPr lang="en-US" dirty="0" smtClean="0">
                <a:sym typeface="Symbol"/>
              </a:rPr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proper subset </a:t>
            </a:r>
            <a:r>
              <a:rPr lang="en-US" dirty="0" smtClean="0"/>
              <a:t>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implies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{4}</a:t>
            </a:r>
            <a:r>
              <a:rPr lang="en-US" b="1" dirty="0" smtClean="0"/>
              <a:t>	</a:t>
            </a:r>
            <a:r>
              <a:rPr lang="en-US" dirty="0" smtClean="0"/>
              <a:t>or</a:t>
            </a:r>
            <a:r>
              <a:rPr lang="en-US" b="1" dirty="0" smtClean="0"/>
              <a:t>	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{5}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eriod" startAt="3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{3},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{2, 3, 4}	and 	        B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C = {1,2,3}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  So </a:t>
            </a:r>
          </a:p>
          <a:p>
            <a:pPr>
              <a:buNone/>
            </a:pPr>
            <a:r>
              <a:rPr lang="en-US" dirty="0" smtClean="0"/>
              <a:t>		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{3, 4} </a:t>
            </a:r>
            <a:r>
              <a:rPr lang="en-US" dirty="0" smtClean="0"/>
              <a:t>and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{2, 3}</a:t>
            </a:r>
          </a:p>
          <a:p>
            <a:endParaRPr lang="en-US" dirty="0" smtClean="0"/>
          </a:p>
        </p:txBody>
      </p:sp>
      <p:pic>
        <p:nvPicPr>
          <p:cNvPr id="5" name="Picture 4" descr="1.bmp"/>
          <p:cNvPicPr>
            <a:picLocks noChangeAspect="1"/>
          </p:cNvPicPr>
          <p:nvPr/>
        </p:nvPicPr>
        <p:blipFill>
          <a:blip r:embed="rId2"/>
          <a:srcRect l="2941" b="53115"/>
          <a:stretch>
            <a:fillRect/>
          </a:stretch>
        </p:blipFill>
        <p:spPr>
          <a:xfrm>
            <a:off x="2209800" y="2514600"/>
            <a:ext cx="4274820" cy="259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11924" y="28956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19252" y="33036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40524" y="457197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24400" y="34560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B050"/>
                </a:solidFill>
              </a:rPr>
              <a:t>2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33800" y="31242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accent2"/>
                </a:solidFill>
              </a:rPr>
              <a:t>4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30444" y="433602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10" grpId="0"/>
      <p:bldP spid="11" grpId="0"/>
      <p:bldP spid="1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arenR" startAt="4"/>
            </a:pPr>
            <a:r>
              <a:rPr lang="en-US" sz="2400" dirty="0" smtClean="0"/>
              <a:t>A and B are disjoint, B and C are disjoint, and the union of A and B is the set {1, 2}.</a:t>
            </a:r>
          </a:p>
          <a:p>
            <a:pPr>
              <a:buNone/>
            </a:pPr>
            <a:r>
              <a:rPr lang="en-US" b="1" dirty="0" smtClean="0"/>
              <a:t>		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b="1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b="1" dirty="0" smtClean="0"/>
              <a:t>,	 B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b="1" dirty="0" smtClean="0"/>
              <a:t> C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b="1" dirty="0" smtClean="0"/>
              <a:t>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b="1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2}.</a:t>
            </a:r>
          </a:p>
          <a:p>
            <a:pPr>
              <a:buNone/>
            </a:pPr>
            <a:r>
              <a:rPr lang="en-US" dirty="0" smtClean="0"/>
              <a:t>				Also</a:t>
            </a:r>
            <a:r>
              <a:rPr lang="en-US" b="1" dirty="0" smtClean="0"/>
              <a:t> C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3}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		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{1}</a:t>
            </a:r>
          </a:p>
        </p:txBody>
      </p:sp>
      <p:pic>
        <p:nvPicPr>
          <p:cNvPr id="4" name="Picture 3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1447800" y="3429000"/>
            <a:ext cx="2057400" cy="1600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76400" y="3483072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46556" y="456216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8" name="Picture 7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3657600" y="3429000"/>
            <a:ext cx="2057400" cy="160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765756" y="3443748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530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24400" y="4572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52104" y="391815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3" name="Picture 12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5867400" y="3431460"/>
            <a:ext cx="2057400" cy="1600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866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34200" y="4572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59444" y="39132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71304" y="4542492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0" name="Picture 19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3657600" y="5105400"/>
            <a:ext cx="2057400" cy="1600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810000" y="51054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67748" y="51054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94904" y="62754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34896" y="5589624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59044" y="61992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02940" y="6277896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4,5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9" grpId="0"/>
      <p:bldP spid="10" grpId="0"/>
      <p:bldP spid="11" grpId="0"/>
      <p:bldP spid="12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a Venn diagram to represent the following:</a:t>
            </a:r>
          </a:p>
          <a:p>
            <a:pPr lvl="1"/>
            <a:r>
              <a:rPr lang="en-US" sz="2400" dirty="0" smtClean="0"/>
              <a:t>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C</a:t>
            </a:r>
            <a:r>
              <a:rPr lang="en-US" sz="2400" baseline="30000" dirty="0" smtClean="0"/>
              <a:t>c</a:t>
            </a:r>
            <a:endParaRPr lang="en-US" sz="2400" dirty="0" smtClean="0"/>
          </a:p>
          <a:p>
            <a:pPr lvl="1"/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(B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C)</a:t>
            </a:r>
          </a:p>
          <a:p>
            <a:pPr lvl="1"/>
            <a:r>
              <a:rPr lang="en-US" sz="2400" dirty="0" smtClean="0"/>
              <a:t>(A – B)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C</a:t>
            </a:r>
          </a:p>
          <a:p>
            <a:pPr lvl="1"/>
            <a:r>
              <a:rPr lang="en-US" sz="2400" dirty="0" smtClean="0"/>
              <a:t>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C</a:t>
            </a:r>
            <a:r>
              <a:rPr lang="en-US" sz="2400" baseline="30000" dirty="0" smtClean="0"/>
              <a:t>c</a:t>
            </a:r>
            <a:endParaRPr lang="en-US" sz="2400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9850" y="3876213"/>
            <a:ext cx="3714750" cy="252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1). 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1392" y="1676400"/>
            <a:ext cx="3837008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2).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(B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C)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A</a:t>
            </a:r>
            <a:r>
              <a:rPr lang="en-US" b="1" baseline="30000" dirty="0" smtClean="0"/>
              <a:t>c</a:t>
            </a:r>
            <a:r>
              <a:rPr lang="en-US" b="1" dirty="0" smtClean="0"/>
              <a:t>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(B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C) is shaded.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209800"/>
            <a:ext cx="3828081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n-US" sz="2400" b="1" dirty="0" smtClean="0"/>
              <a:t>3). </a:t>
            </a:r>
            <a:r>
              <a:rPr lang="en-US" sz="2400" b="1" dirty="0" smtClean="0">
                <a:solidFill>
                  <a:srgbClr val="C00000"/>
                </a:solidFill>
              </a:rPr>
              <a:t>(A </a:t>
            </a:r>
            <a:r>
              <a:rPr lang="en-US" sz="2400" b="1" dirty="0">
                <a:solidFill>
                  <a:srgbClr val="C00000"/>
                </a:solidFill>
              </a:rPr>
              <a:t>– B)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7346" name="Picture 2" descr="Pictur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99" y="1676400"/>
            <a:ext cx="3918857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 smtClean="0"/>
              <a:t>4). 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C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(A </a:t>
            </a:r>
            <a:r>
              <a:rPr lang="en-US" b="1" dirty="0" smtClean="0">
                <a:sym typeface="Symbol"/>
              </a:rPr>
              <a:t></a:t>
            </a:r>
            <a:r>
              <a:rPr lang="en-US" b="1" dirty="0" smtClean="0"/>
              <a:t> </a:t>
            </a:r>
            <a:r>
              <a:rPr lang="en-US" b="1" dirty="0" err="1" smtClean="0"/>
              <a:t>B</a:t>
            </a:r>
            <a:r>
              <a:rPr lang="en-US" b="1" baseline="30000" dirty="0" err="1" smtClean="0"/>
              <a:t>c</a:t>
            </a:r>
            <a:r>
              <a:rPr lang="en-US" b="1" dirty="0" smtClean="0"/>
              <a:t>)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C</a:t>
            </a:r>
            <a:r>
              <a:rPr lang="en-US" b="1" baseline="30000" dirty="0" smtClean="0"/>
              <a:t>c</a:t>
            </a:r>
            <a:r>
              <a:rPr lang="en-US" b="1" dirty="0" smtClean="0"/>
              <a:t> is shaded.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266950"/>
            <a:ext cx="3582918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PROVING SET IDENTITIES BY VENN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the following using Venn Diagrams: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A – (A – B) =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</a:t>
            </a:r>
          </a:p>
          <a:p>
            <a:pPr lvl="1"/>
            <a:r>
              <a:rPr lang="en-US" sz="2400" dirty="0" smtClean="0"/>
              <a:t>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B)</a:t>
            </a:r>
            <a:r>
              <a:rPr lang="en-US" sz="2400" baseline="30000" dirty="0" smtClean="0"/>
              <a:t>c </a:t>
            </a:r>
            <a:r>
              <a:rPr lang="en-US" sz="2400" dirty="0" smtClean="0"/>
              <a:t>= A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 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B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 </a:t>
            </a:r>
          </a:p>
          <a:p>
            <a:pPr lvl="1"/>
            <a:r>
              <a:rPr lang="en-US" sz="2400" dirty="0" smtClean="0"/>
              <a:t>A – B =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     </a:t>
            </a:r>
            <a:r>
              <a:rPr lang="en-US" b="1" dirty="0" smtClean="0">
                <a:solidFill>
                  <a:srgbClr val="C00000"/>
                </a:solidFill>
              </a:rPr>
              <a:t>A - (A – B)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2879" y="2305050"/>
            <a:ext cx="7679121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7543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362200"/>
            <a:ext cx="480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4016" y="1828800"/>
            <a:ext cx="691281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924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 diagrams (b) and (e) are same hence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	RESULT:	 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	A – B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7010401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From diagrams (a) and (b) we can say</a:t>
            </a:r>
          </a:p>
          <a:p>
            <a:pPr>
              <a:buNone/>
            </a:pPr>
            <a:r>
              <a:rPr lang="en-US" b="1" dirty="0" smtClean="0"/>
              <a:t>				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	RESULT:	 </a:t>
            </a:r>
            <a:r>
              <a:rPr lang="en-US" b="1" dirty="0" smtClean="0">
                <a:solidFill>
                  <a:srgbClr val="C00000"/>
                </a:solidFill>
              </a:rPr>
              <a:t>A – B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3807</TotalTime>
  <Words>1767</Words>
  <Application>Microsoft Office PowerPoint</Application>
  <PresentationFormat>On-screen Show (4:3)</PresentationFormat>
  <Paragraphs>572</Paragraphs>
  <Slides>76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76</vt:i4>
      </vt:variant>
    </vt:vector>
  </HeadingPairs>
  <TitlesOfParts>
    <vt:vector size="87" baseType="lpstr">
      <vt:lpstr>Arial</vt:lpstr>
      <vt:lpstr>Calibri</vt:lpstr>
      <vt:lpstr>Century Schoolbook</vt:lpstr>
      <vt:lpstr>MS Mincho</vt:lpstr>
      <vt:lpstr>open sans</vt:lpstr>
      <vt:lpstr>新細明體</vt:lpstr>
      <vt:lpstr>Symbol</vt:lpstr>
      <vt:lpstr>Times New Roman</vt:lpstr>
      <vt:lpstr>Wingdings</vt:lpstr>
      <vt:lpstr>Wingdings 2</vt:lpstr>
      <vt:lpstr>Oriel</vt:lpstr>
      <vt:lpstr>SET THEORY</vt:lpstr>
      <vt:lpstr>SETS  </vt:lpstr>
      <vt:lpstr>PowerPoint Presentation</vt:lpstr>
      <vt:lpstr>TABULAR FORM</vt:lpstr>
      <vt:lpstr>DESCRIPTIVE FORM</vt:lpstr>
      <vt:lpstr>SET BUILDER FORM</vt:lpstr>
      <vt:lpstr>SETS OF NUMBERS</vt:lpstr>
      <vt:lpstr>PowerPoint Presentation</vt:lpstr>
      <vt:lpstr>PowerPoint Presentation</vt:lpstr>
      <vt:lpstr>SUBSET</vt:lpstr>
      <vt:lpstr>EXAMPLES</vt:lpstr>
      <vt:lpstr>EXAMPLES</vt:lpstr>
      <vt:lpstr>EXAMPLE</vt:lpstr>
      <vt:lpstr>PROPER SUBSET</vt:lpstr>
      <vt:lpstr>EXAMPLE</vt:lpstr>
      <vt:lpstr>EQUAL SETS</vt:lpstr>
      <vt:lpstr>EXAMPLE</vt:lpstr>
      <vt:lpstr>EXAMPLE</vt:lpstr>
      <vt:lpstr>Example</vt:lpstr>
      <vt:lpstr>Solution</vt:lpstr>
      <vt:lpstr>  (ii) To determine set equality, let’s first simplify set X. </vt:lpstr>
      <vt:lpstr>(iii) To determine set equality, let’s calculate the cardinality first.</vt:lpstr>
      <vt:lpstr>POWER SET</vt:lpstr>
      <vt:lpstr>POWER SET</vt:lpstr>
      <vt:lpstr>Example</vt:lpstr>
      <vt:lpstr>Example</vt:lpstr>
      <vt:lpstr>What is the power set of an empty set?</vt:lpstr>
      <vt:lpstr>CARTESIAN PRODUCT</vt:lpstr>
      <vt:lpstr>EXAMPLE</vt:lpstr>
      <vt:lpstr>EXAMPLE</vt:lpstr>
      <vt:lpstr>Example</vt:lpstr>
      <vt:lpstr>NULL SET</vt:lpstr>
      <vt:lpstr>UNIVERSAL SET</vt:lpstr>
      <vt:lpstr>VENN DIAGRAM</vt:lpstr>
      <vt:lpstr>FINITE AND INFINITE SETS</vt:lpstr>
      <vt:lpstr>EXAMPLES:</vt:lpstr>
      <vt:lpstr>EXERCISE:</vt:lpstr>
      <vt:lpstr>EXERCISE:</vt:lpstr>
      <vt:lpstr>MEMBERSHIP TABLE</vt:lpstr>
      <vt:lpstr>PowerPoint Presentation</vt:lpstr>
      <vt:lpstr>UNION</vt:lpstr>
      <vt:lpstr>EMAMPLE</vt:lpstr>
      <vt:lpstr>VENN DIAGRAM FOR UNION</vt:lpstr>
      <vt:lpstr>MEMBERSHIP TABLE FOR UNION</vt:lpstr>
      <vt:lpstr>INTERSECTION</vt:lpstr>
      <vt:lpstr>EXMAPLE</vt:lpstr>
      <vt:lpstr>REMARK</vt:lpstr>
      <vt:lpstr>DIFFERENCE</vt:lpstr>
      <vt:lpstr>EXAMPLE:</vt:lpstr>
      <vt:lpstr>REMARK:</vt:lpstr>
      <vt:lpstr>COMPLEMENT</vt:lpstr>
      <vt:lpstr>EXAMPLE</vt:lpstr>
      <vt:lpstr>REMARK</vt:lpstr>
      <vt:lpstr>EXERCISE </vt:lpstr>
      <vt:lpstr>SOLUTION</vt:lpstr>
      <vt:lpstr>VENN DIAGRAM</vt:lpstr>
      <vt:lpstr>EXERCISE</vt:lpstr>
      <vt:lpstr>SOLUTION </vt:lpstr>
      <vt:lpstr>SOLUTION</vt:lpstr>
      <vt:lpstr>SOLUTION</vt:lpstr>
      <vt:lpstr>SOLUTION</vt:lpstr>
      <vt:lpstr>EXERCISE:</vt:lpstr>
      <vt:lpstr>1). (A  B)  Cc</vt:lpstr>
      <vt:lpstr>     2). Ac  (B  C) </vt:lpstr>
      <vt:lpstr>3). (A – B)  C</vt:lpstr>
      <vt:lpstr>4). (A  Bc)  Cc</vt:lpstr>
      <vt:lpstr>PROVING SET IDENTITIES BY VENN DIAGRAMS</vt:lpstr>
      <vt:lpstr>SOLUTION</vt:lpstr>
      <vt:lpstr>PowerPoint Presentation</vt:lpstr>
      <vt:lpstr>SOLUTION (ii)</vt:lpstr>
      <vt:lpstr>PowerPoint Presentation</vt:lpstr>
      <vt:lpstr>PowerPoint Presentation</vt:lpstr>
      <vt:lpstr>PowerPoint Presentation</vt:lpstr>
      <vt:lpstr>SOLUTION (iii)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Theory</dc:title>
  <dc:creator>C &amp; M</dc:creator>
  <cp:lastModifiedBy>Tehseen Fatima</cp:lastModifiedBy>
  <cp:revision>149</cp:revision>
  <dcterms:created xsi:type="dcterms:W3CDTF">2013-03-28T16:10:02Z</dcterms:created>
  <dcterms:modified xsi:type="dcterms:W3CDTF">2023-09-28T06:13:19Z</dcterms:modified>
</cp:coreProperties>
</file>
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0"/>
  </p:notesMasterIdLst>
  <p:sldIdLst>
    <p:sldId id="256" r:id="rId2"/>
    <p:sldId id="288" r:id="rId3"/>
    <p:sldId id="289" r:id="rId4"/>
    <p:sldId id="290" r:id="rId5"/>
    <p:sldId id="291" r:id="rId6"/>
    <p:sldId id="293" r:id="rId7"/>
    <p:sldId id="292" r:id="rId8"/>
    <p:sldId id="334" r:id="rId9"/>
    <p:sldId id="294" r:id="rId10"/>
    <p:sldId id="335" r:id="rId11"/>
    <p:sldId id="295" r:id="rId12"/>
    <p:sldId id="326" r:id="rId13"/>
    <p:sldId id="296" r:id="rId14"/>
    <p:sldId id="327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29" r:id="rId24"/>
    <p:sldId id="328" r:id="rId25"/>
    <p:sldId id="330" r:id="rId26"/>
    <p:sldId id="306" r:id="rId27"/>
    <p:sldId id="331" r:id="rId28"/>
    <p:sldId id="307" r:id="rId29"/>
    <p:sldId id="308" r:id="rId30"/>
    <p:sldId id="309" r:id="rId31"/>
    <p:sldId id="332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33" r:id="rId43"/>
    <p:sldId id="320" r:id="rId44"/>
    <p:sldId id="321" r:id="rId45"/>
    <p:sldId id="322" r:id="rId46"/>
    <p:sldId id="323" r:id="rId47"/>
    <p:sldId id="324" r:id="rId48"/>
    <p:sldId id="32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 varScale="1">
        <p:scale>
          <a:sx n="66" d="100"/>
          <a:sy n="66" d="100"/>
        </p:scale>
        <p:origin x="11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3/29/2024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7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SEQUENCES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13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SEQUENCE: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A sequence is just a list of elements usually written in a row.</a:t>
            </a:r>
          </a:p>
          <a:p>
            <a:r>
              <a:rPr lang="en-US" b="1" u="sng" dirty="0" smtClean="0"/>
              <a:t>EXAMPLES: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dirty="0" smtClean="0">
                <a:solidFill>
                  <a:srgbClr val="C00000"/>
                </a:solidFill>
              </a:rPr>
              <a:t>1, 2, 3, 4, 5, …</a:t>
            </a:r>
          </a:p>
          <a:p>
            <a:pPr>
              <a:buNone/>
            </a:pPr>
            <a:r>
              <a:rPr lang="en-US" dirty="0" smtClean="0"/>
              <a:t>	2).	</a:t>
            </a:r>
            <a:r>
              <a:rPr lang="en-US" dirty="0" smtClean="0">
                <a:solidFill>
                  <a:srgbClr val="C00000"/>
                </a:solidFill>
              </a:rPr>
              <a:t>4, 8, 12, 16, 20,…</a:t>
            </a:r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dirty="0" smtClean="0">
                <a:solidFill>
                  <a:srgbClr val="C00000"/>
                </a:solidFill>
              </a:rPr>
              <a:t>2, 4, 8, 16, 32, …</a:t>
            </a:r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dirty="0" smtClean="0">
                <a:solidFill>
                  <a:srgbClr val="C00000"/>
                </a:solidFill>
              </a:rPr>
              <a:t>1, 1/2, 1/3, 1/4, 1/5, …</a:t>
            </a:r>
          </a:p>
          <a:p>
            <a:pPr>
              <a:buNone/>
            </a:pPr>
            <a:r>
              <a:rPr lang="en-US" dirty="0" smtClean="0"/>
              <a:t>	5).	</a:t>
            </a:r>
            <a:r>
              <a:rPr lang="en-US" dirty="0" smtClean="0">
                <a:solidFill>
                  <a:srgbClr val="C00000"/>
                </a:solidFill>
              </a:rPr>
              <a:t>1, 4, 9, 16, 25, …</a:t>
            </a:r>
          </a:p>
          <a:p>
            <a:pPr>
              <a:buNone/>
            </a:pPr>
            <a:r>
              <a:rPr lang="en-US" dirty="0" smtClean="0"/>
              <a:t>	6).	</a:t>
            </a:r>
            <a:r>
              <a:rPr lang="en-US" dirty="0" smtClean="0">
                <a:solidFill>
                  <a:srgbClr val="C00000"/>
                </a:solidFill>
              </a:rPr>
              <a:t>1, -1, 1, -1, 1, -1, …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10200" y="4648200"/>
            <a:ext cx="28956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rgbClr val="C00000"/>
                </a:solidFill>
              </a:rPr>
              <a:t>Note: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symbol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b="1" dirty="0" smtClean="0">
                <a:solidFill>
                  <a:srgbClr val="C00000"/>
                </a:solidFill>
              </a:rPr>
              <a:t>…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r>
              <a:rPr lang="en-US" dirty="0" smtClean="0">
                <a:solidFill>
                  <a:schemeClr val="tx1"/>
                </a:solidFill>
              </a:rPr>
              <a:t> is called ellipsis, and reads “so forth”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 are kind of </a:t>
            </a:r>
            <a:r>
              <a:rPr lang="en-US" b="1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Second Sequence is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4, 8, 12, 16, 20,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(1)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(2)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(3) = </a:t>
            </a:r>
            <a:r>
              <a:rPr lang="en-US" dirty="0" smtClean="0">
                <a:solidFill>
                  <a:srgbClr val="C00000"/>
                </a:solidFill>
              </a:rPr>
              <a:t>12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(4) = </a:t>
            </a:r>
            <a:r>
              <a:rPr lang="en-US" dirty="0" smtClean="0">
                <a:solidFill>
                  <a:srgbClr val="C00000"/>
                </a:solidFill>
              </a:rPr>
              <a:t>16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(5)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FORMAL DEFINITION OF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a function whose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is the set of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greater than or equal to a particular </a:t>
            </a:r>
            <a:r>
              <a:rPr lang="en-US" dirty="0" smtClean="0">
                <a:solidFill>
                  <a:srgbClr val="C00000"/>
                </a:solidFill>
              </a:rPr>
              <a:t>integer n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Usually this set is the set of </a:t>
            </a:r>
            <a:r>
              <a:rPr lang="en-US" dirty="0" smtClean="0">
                <a:solidFill>
                  <a:srgbClr val="C00000"/>
                </a:solidFill>
              </a:rPr>
              <a:t>Natural numbers {1, 2, 3, …} </a:t>
            </a:r>
            <a:r>
              <a:rPr lang="en-US" dirty="0" smtClean="0"/>
              <a:t>or the set of </a:t>
            </a:r>
            <a:r>
              <a:rPr lang="en-US" dirty="0" smtClean="0">
                <a:solidFill>
                  <a:srgbClr val="C00000"/>
                </a:solidFill>
              </a:rPr>
              <a:t>whole numbers {0, 1, 2, 3, …}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We use the notation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to denote the </a:t>
            </a:r>
            <a:r>
              <a:rPr lang="en-US" b="1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integer n</a:t>
            </a:r>
            <a:r>
              <a:rPr lang="en-US" dirty="0" smtClean="0"/>
              <a:t>, and call it a </a:t>
            </a:r>
            <a:r>
              <a:rPr lang="en-US" b="1" dirty="0" smtClean="0">
                <a:solidFill>
                  <a:srgbClr val="C00000"/>
                </a:solidFill>
              </a:rPr>
              <a:t>term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 Thus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4</a:t>
            </a:r>
            <a:r>
              <a:rPr lang="en-US" b="1" dirty="0" smtClean="0">
                <a:solidFill>
                  <a:srgbClr val="C00000"/>
                </a:solidFill>
              </a:rPr>
              <a:t> …,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 the 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on the set of </a:t>
            </a:r>
            <a:r>
              <a:rPr lang="en-US" b="1" dirty="0" smtClean="0">
                <a:solidFill>
                  <a:srgbClr val="C00000"/>
                </a:solidFill>
              </a:rPr>
              <a:t>natural numbers 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That a sequence is described by listing the terms of the sequence in order of increasing subscripts.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FINDING TERMS OF A SEQUENCE GIVEN BY AN EXPLICIT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C00000"/>
                </a:solidFill>
              </a:rPr>
              <a:t>explicit formula </a:t>
            </a:r>
            <a:r>
              <a:rPr lang="en-US" dirty="0" smtClean="0"/>
              <a:t>or general formula for a </a:t>
            </a:r>
            <a:r>
              <a:rPr lang="en-US" b="1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rule</a:t>
            </a:r>
            <a:r>
              <a:rPr lang="en-US" dirty="0" smtClean="0"/>
              <a:t> that shows how the values of </a:t>
            </a:r>
            <a:r>
              <a:rPr lang="en-US" b="1" dirty="0" err="1" smtClean="0">
                <a:solidFill>
                  <a:srgbClr val="C00000"/>
                </a:solidFill>
              </a:rPr>
              <a:t>a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depends on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9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find the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just replace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so on…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0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1644444" y="3662508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1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444" y="3662508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19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FF0000"/>
                </a:solidFill>
              </a:rPr>
              <a:t>first four terms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-25000" dirty="0" err="1" smtClean="0">
                <a:solidFill>
                  <a:srgbClr val="C00000"/>
                </a:solidFill>
              </a:rPr>
              <a:t>j</a:t>
            </a:r>
            <a:r>
              <a:rPr lang="en-US" dirty="0" smtClean="0">
                <a:solidFill>
                  <a:srgbClr val="C00000"/>
                </a:solidFill>
              </a:rPr>
              <a:t> = 1 + 2</a:t>
            </a:r>
            <a:r>
              <a:rPr lang="en-US" baseline="30000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, for all integers </a:t>
            </a:r>
            <a:r>
              <a:rPr lang="en-US" dirty="0" smtClean="0">
                <a:solidFill>
                  <a:srgbClr val="C00000"/>
                </a:solidFill>
              </a:rPr>
              <a:t>j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find the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just replace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so on…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4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1644444" y="3662508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5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444" y="3662508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69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 the </a:t>
            </a:r>
            <a:r>
              <a:rPr lang="en-US" dirty="0" smtClean="0">
                <a:solidFill>
                  <a:srgbClr val="C00000"/>
                </a:solidFill>
              </a:rPr>
              <a:t>first six terms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1+ (-1)</a:t>
            </a:r>
            <a:r>
              <a:rPr lang="en-US" baseline="30000" dirty="0" smtClean="0">
                <a:solidFill>
                  <a:srgbClr val="C00000"/>
                </a:solidFill>
              </a:rPr>
              <a:t> 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fr-FR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dirty="0" smtClean="0"/>
              <a:t>				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 the </a:t>
            </a:r>
            <a:r>
              <a:rPr lang="en-US" dirty="0" smtClean="0">
                <a:solidFill>
                  <a:srgbClr val="C00000"/>
                </a:solidFill>
              </a:rPr>
              <a:t>first six terms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1+ (-1)</a:t>
            </a:r>
            <a:r>
              <a:rPr lang="en-US" baseline="30000" dirty="0" smtClean="0">
                <a:solidFill>
                  <a:srgbClr val="C00000"/>
                </a:solidFill>
              </a:rPr>
              <a:t> 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fr-FR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0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0  </a:t>
            </a:r>
            <a:r>
              <a:rPr lang="fr-FR" dirty="0" smtClean="0">
                <a:solidFill>
                  <a:srgbClr val="C00000"/>
                </a:solidFill>
              </a:rPr>
              <a:t>= 1 + 1 = 2	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1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2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2</a:t>
            </a:r>
            <a:r>
              <a:rPr lang="fr-FR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3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5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1 + (-1) = 0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7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7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8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143000" y="3298728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9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8728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73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explicit formulas for sequences with the initial terms given: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2).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1504332" y="3370008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0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332" y="3370008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Its an alternating sequence. In alternating sequence always take the power of (-1)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n+1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	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when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odd the term will become positive.</a:t>
            </a:r>
          </a:p>
          <a:p>
            <a:pPr>
              <a:buNone/>
            </a:pPr>
            <a:r>
              <a:rPr lang="en-US" dirty="0" smtClean="0"/>
              <a:t>	Check: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0+1.</a:t>
            </a:r>
            <a:r>
              <a:rPr lang="en-US" dirty="0" smtClean="0">
                <a:solidFill>
                  <a:srgbClr val="C00000"/>
                </a:solidFill>
              </a:rPr>
              <a:t>0  = 0,	 </a:t>
            </a:r>
            <a:r>
              <a:rPr lang="en-US" dirty="0" smtClean="0">
                <a:solidFill>
                  <a:srgbClr val="C00000"/>
                </a:solidFill>
              </a:rPr>
              <a:t>        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= (-1)</a:t>
            </a:r>
            <a:r>
              <a:rPr lang="en-US" baseline="30000" dirty="0" smtClean="0">
                <a:solidFill>
                  <a:srgbClr val="C00000"/>
                </a:solidFill>
              </a:rPr>
              <a:t> 1+1</a:t>
            </a:r>
            <a:r>
              <a:rPr lang="en-US" dirty="0" smtClean="0">
                <a:solidFill>
                  <a:srgbClr val="C00000"/>
                </a:solidFill>
              </a:rPr>
              <a:t>1  = 1, 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2+1.</a:t>
            </a:r>
            <a:r>
              <a:rPr lang="en-US" dirty="0" smtClean="0">
                <a:solidFill>
                  <a:srgbClr val="C00000"/>
                </a:solidFill>
              </a:rPr>
              <a:t>2  = -2,	 </a:t>
            </a:r>
            <a:r>
              <a:rPr lang="en-US" dirty="0" smtClean="0">
                <a:solidFill>
                  <a:srgbClr val="C00000"/>
                </a:solidFill>
              </a:rPr>
              <a:t>        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= (-1)</a:t>
            </a:r>
            <a:r>
              <a:rPr lang="en-US" baseline="30000" dirty="0" smtClean="0">
                <a:solidFill>
                  <a:srgbClr val="C00000"/>
                </a:solidFill>
              </a:rPr>
              <a:t> 3+1.</a:t>
            </a:r>
            <a:r>
              <a:rPr lang="en-US" dirty="0" smtClean="0">
                <a:solidFill>
                  <a:srgbClr val="C00000"/>
                </a:solidFill>
              </a:rPr>
              <a:t>3  = 3,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4+1.</a:t>
            </a:r>
            <a:r>
              <a:rPr lang="en-US" dirty="0" smtClean="0">
                <a:solidFill>
                  <a:srgbClr val="C00000"/>
                </a:solidFill>
              </a:rPr>
              <a:t>4  = -4,	</a:t>
            </a:r>
            <a:r>
              <a:rPr lang="en-US" dirty="0" smtClean="0">
                <a:solidFill>
                  <a:srgbClr val="C00000"/>
                </a:solidFill>
              </a:rPr>
              <a:t>        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5+1.</a:t>
            </a:r>
            <a:r>
              <a:rPr lang="en-US" dirty="0" smtClean="0">
                <a:solidFill>
                  <a:srgbClr val="C00000"/>
                </a:solidFill>
              </a:rPr>
              <a:t>5  = 5,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r>
              <a:rPr lang="en-US" dirty="0" smtClean="0"/>
              <a:t>	Every term has two parts: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              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                 b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General term is: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600200" y="1066800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1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09800" y="3508375"/>
          <a:ext cx="838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2" name="Equation" r:id="rId5" imgW="368280" imgH="393480" progId="Equation.3">
                  <p:embed/>
                </p:oleObj>
              </mc:Choice>
              <mc:Fallback>
                <p:oleObj name="Equation" r:id="rId5" imgW="368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08375"/>
                        <a:ext cx="838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903035" y="3502534"/>
          <a:ext cx="88613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3" name="Equation" r:id="rId7" imgW="380880" imgH="393480" progId="Equation.3">
                  <p:embed/>
                </p:oleObj>
              </mc:Choice>
              <mc:Fallback>
                <p:oleObj name="Equation" r:id="rId7" imgW="3808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035" y="3502534"/>
                        <a:ext cx="886133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000500" y="3959940"/>
          <a:ext cx="876300" cy="66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4" name="Equation" r:id="rId9" imgW="380880" imgH="393480" progId="Equation.3">
                  <p:embed/>
                </p:oleObj>
              </mc:Choice>
              <mc:Fallback>
                <p:oleObj name="Equation" r:id="rId9" imgW="380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959940"/>
                        <a:ext cx="876300" cy="669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3352800" y="5105400"/>
          <a:ext cx="5029200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5" r:id="rId11" imgW="2171520" imgH="393480" progId="">
                  <p:embed/>
                </p:oleObj>
              </mc:Choice>
              <mc:Fallback>
                <p:oleObj r:id="rId11" imgW="2171520" imgH="3934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5029200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 	Note that we can write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C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1.2 = 2		 C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2.3 = 6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C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3.4 = 12	 C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4.5 = 20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In general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n.(n+1) </a:t>
            </a:r>
            <a:r>
              <a:rPr lang="en-US" dirty="0" smtClean="0"/>
              <a:t>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240"/>
            <a:ext cx="8229600" cy="54711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Every term has two parts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OR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Both defined the same </a:t>
            </a:r>
            <a:r>
              <a:rPr lang="en-US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.	 </a:t>
            </a: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1371598" y="3200400"/>
          <a:ext cx="472440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2" r:id="rId3" imgW="2209680" imgH="419040" progId="">
                  <p:embed/>
                </p:oleObj>
              </mc:Choice>
              <mc:Fallback>
                <p:oleObj r:id="rId3" imgW="220968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598" y="3200400"/>
                        <a:ext cx="472440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428132" y="4572000"/>
          <a:ext cx="487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3" r:id="rId5" imgW="2234880" imgH="419040" progId="">
                  <p:embed/>
                </p:oleObj>
              </mc:Choice>
              <mc:Fallback>
                <p:oleObj r:id="rId5" imgW="223488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132" y="4572000"/>
                        <a:ext cx="4876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 term </a:t>
            </a:r>
            <a:r>
              <a:rPr lang="en-US" dirty="0" smtClean="0"/>
              <a:t>by </a:t>
            </a:r>
            <a:r>
              <a:rPr lang="en-US" dirty="0" smtClean="0">
                <a:solidFill>
                  <a:srgbClr val="C00000"/>
                </a:solidFill>
              </a:rPr>
              <a:t>adding a constant number </a:t>
            </a:r>
            <a:r>
              <a:rPr lang="en-US" dirty="0" smtClean="0"/>
              <a:t>is called an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arithmetic progression (A.P.)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difference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A.P</a:t>
            </a:r>
            <a:r>
              <a:rPr lang="en-US" dirty="0" smtClean="0"/>
              <a:t>., commonly denoted by </a:t>
            </a:r>
            <a:r>
              <a:rPr lang="en-US" dirty="0" smtClean="0">
                <a:solidFill>
                  <a:srgbClr val="C00000"/>
                </a:solidFill>
              </a:rPr>
              <a:t>“d”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5, 9, 13, 17,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5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	</a:t>
            </a:r>
            <a:r>
              <a:rPr lang="en-US" b="1" dirty="0" smtClean="0">
                <a:solidFill>
                  <a:srgbClr val="C00000"/>
                </a:solidFill>
              </a:rPr>
              <a:t>0, -5, -10, -15, …</a:t>
            </a: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	</a:t>
            </a:r>
            <a:r>
              <a:rPr lang="en-US" b="1" dirty="0" smtClean="0">
                <a:solidFill>
                  <a:srgbClr val="C00000"/>
                </a:solidFill>
              </a:rPr>
              <a:t>0, -5, -10, -15, …</a:t>
            </a: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0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-5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83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9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54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6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143000" y="3298728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7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8728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019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   x + a , x + 3a , x + 5a , … 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add </a:t>
            </a:r>
            <a:r>
              <a:rPr lang="en-US" dirty="0" smtClean="0">
                <a:solidFill>
                  <a:srgbClr val="C00000"/>
                </a:solidFill>
              </a:rPr>
              <a:t>2a</a:t>
            </a:r>
            <a:r>
              <a:rPr lang="en-US" dirty="0" smtClean="0"/>
              <a:t> every time to get the next term in the preceding term.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   x + a , x + 3a , x + 5a , … 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x + a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2a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add </a:t>
            </a:r>
            <a:r>
              <a:rPr lang="en-US" dirty="0" smtClean="0">
                <a:solidFill>
                  <a:srgbClr val="C00000"/>
                </a:solidFill>
              </a:rPr>
              <a:t>2a</a:t>
            </a:r>
            <a:r>
              <a:rPr lang="en-US" dirty="0" smtClean="0"/>
              <a:t> every time to get the next term in the preceding term.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AN 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difference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 = a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 = </a:t>
            </a:r>
            <a:r>
              <a:rPr lang="en-US" dirty="0" err="1" smtClean="0"/>
              <a:t>a+d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3</a:t>
            </a:r>
            <a:r>
              <a:rPr lang="en-US" dirty="0" smtClean="0"/>
              <a:t> = a+2d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4</a:t>
            </a:r>
            <a:r>
              <a:rPr lang="en-US" dirty="0" smtClean="0"/>
              <a:t> = a+3d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 + (1-1)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 </a:t>
            </a:r>
            <a:r>
              <a:rPr lang="en-US" dirty="0" smtClean="0">
                <a:solidFill>
                  <a:srgbClr val="C00000"/>
                </a:solidFill>
              </a:rPr>
              <a:t>a + 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(2-1)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 + 2d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(3 -1) d</a:t>
            </a:r>
          </a:p>
          <a:p>
            <a:pPr>
              <a:buNone/>
            </a:pPr>
            <a:r>
              <a:rPr lang="en-US" dirty="0" smtClean="0"/>
              <a:t>	By symmetry</a:t>
            </a:r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>
                <a:solidFill>
                  <a:srgbClr val="00B050"/>
                </a:solidFill>
              </a:rPr>
              <a:t>a</a:t>
            </a:r>
            <a:r>
              <a:rPr lang="en-US" b="1" baseline="-25000" dirty="0" smtClean="0">
                <a:solidFill>
                  <a:srgbClr val="00B050"/>
                </a:solidFill>
              </a:rPr>
              <a:t>n</a:t>
            </a:r>
            <a:r>
              <a:rPr lang="en-US" b="1" dirty="0" smtClean="0">
                <a:solidFill>
                  <a:srgbClr val="00B050"/>
                </a:solidFill>
              </a:rPr>
              <a:t> = n</a:t>
            </a:r>
            <a:r>
              <a:rPr lang="en-US" b="1" baseline="30000" dirty="0" smtClean="0">
                <a:solidFill>
                  <a:srgbClr val="00B050"/>
                </a:solidFill>
              </a:rPr>
              <a:t>th</a:t>
            </a:r>
            <a:r>
              <a:rPr lang="en-US" b="1" dirty="0" smtClean="0">
                <a:solidFill>
                  <a:srgbClr val="00B050"/>
                </a:solidFill>
              </a:rPr>
              <a:t> term = a + (n - 1)d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Find the 20th term of the arithmetic sequence</a:t>
            </a:r>
          </a:p>
          <a:p>
            <a:pPr algn="ctr">
              <a:buNone/>
            </a:pPr>
            <a:r>
              <a:rPr lang="en-US" dirty="0" smtClean="0"/>
              <a:t>	3, 9, 15, 21, …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= common difference = </a:t>
            </a:r>
            <a:r>
              <a:rPr lang="en-US" dirty="0" smtClean="0">
                <a:solidFill>
                  <a:srgbClr val="C00000"/>
                </a:solidFill>
              </a:rPr>
              <a:t>9 - 3 = 6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term number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20</a:t>
            </a:r>
            <a:r>
              <a:rPr lang="en-US" b="1" dirty="0" smtClean="0">
                <a:solidFill>
                  <a:srgbClr val="C00000"/>
                </a:solidFill>
              </a:rPr>
              <a:t> = value of 20th term = ?</a:t>
            </a:r>
          </a:p>
          <a:p>
            <a:r>
              <a:rPr lang="en-US" dirty="0" smtClean="0"/>
              <a:t>Since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 + (n - 1) d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b="1" dirty="0" smtClean="0">
                <a:sym typeface="Symbol"/>
              </a:rPr>
              <a:t>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20</a:t>
            </a:r>
            <a:r>
              <a:rPr lang="en-US" dirty="0" smtClean="0"/>
              <a:t> = 3 + (20 - 1) 6</a:t>
            </a:r>
          </a:p>
          <a:p>
            <a:pPr>
              <a:buNone/>
            </a:pPr>
            <a:r>
              <a:rPr lang="en-US" dirty="0" smtClean="0"/>
              <a:t>			     = 3 + 114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dirty="0" smtClean="0">
                <a:solidFill>
                  <a:srgbClr val="C00000"/>
                </a:solidFill>
              </a:rPr>
              <a:t>117</a:t>
            </a: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4, 1, -2</a:t>
            </a:r>
            <a:r>
              <a:rPr lang="en-US" dirty="0" smtClean="0"/>
              <a:t>, …,	is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/>
              <a:t>= common difference = </a:t>
            </a:r>
            <a:r>
              <a:rPr lang="en-US" dirty="0" smtClean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nth term =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Since 	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4, 1, -2</a:t>
            </a:r>
            <a:r>
              <a:rPr lang="en-US" dirty="0" smtClean="0"/>
              <a:t>, …,	is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/>
              <a:t>= common difference = </a:t>
            </a:r>
            <a:r>
              <a:rPr lang="en-US" dirty="0" smtClean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nth term =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Since 	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 d		</a:t>
            </a:r>
            <a:r>
              <a:rPr lang="pt-BR" dirty="0" smtClean="0"/>
              <a:t> 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pt-BR" dirty="0" smtClean="0"/>
              <a:t>      </a:t>
            </a:r>
            <a:r>
              <a:rPr lang="pt-BR" dirty="0" smtClean="0">
                <a:solidFill>
                  <a:srgbClr val="C00000"/>
                </a:solidFill>
              </a:rPr>
              <a:t>-77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4 + (n - 1) (-3)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   	</a:t>
            </a:r>
            <a:r>
              <a:rPr lang="pt-BR" dirty="0" smtClean="0">
                <a:solidFill>
                  <a:srgbClr val="C00000"/>
                </a:solidFill>
              </a:rPr>
              <a:t>-77 - 4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(n - 1) (-3)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4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pPr>
              <a:buNone/>
            </a:pPr>
            <a:r>
              <a:rPr lang="en-US" sz="2800" dirty="0" smtClean="0"/>
              <a:t>		</a:t>
            </a:r>
            <a:r>
              <a:rPr lang="en-US" dirty="0" smtClean="0"/>
              <a:t>27 = n – 1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b="1" dirty="0" smtClean="0">
                <a:solidFill>
                  <a:srgbClr val="C00000"/>
                </a:solidFill>
              </a:rPr>
              <a:t>n = 28</a:t>
            </a:r>
          </a:p>
          <a:p>
            <a:pPr lvl="3"/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–77 </a:t>
            </a:r>
            <a:r>
              <a:rPr lang="en-US" dirty="0" smtClean="0"/>
              <a:t>is the </a:t>
            </a:r>
            <a:r>
              <a:rPr lang="en-US" dirty="0" smtClean="0">
                <a:solidFill>
                  <a:srgbClr val="C00000"/>
                </a:solidFill>
              </a:rPr>
              <a:t>28th term </a:t>
            </a:r>
            <a:r>
              <a:rPr lang="en-US" dirty="0" smtClean="0"/>
              <a:t>of the given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1676399" y="1676400"/>
          <a:ext cx="18288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2" r:id="rId3" imgW="711000" imgH="393480" progId="">
                  <p:embed/>
                </p:oleObj>
              </mc:Choice>
              <mc:Fallback>
                <p:oleObj r:id="rId3" imgW="7110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399" y="1676400"/>
                        <a:ext cx="182880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C00000"/>
                </a:solidFill>
              </a:rPr>
              <a:t>36th</a:t>
            </a:r>
            <a:r>
              <a:rPr lang="en-US" dirty="0" smtClean="0"/>
              <a:t>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whose </a:t>
            </a:r>
            <a:r>
              <a:rPr lang="en-US" b="1" dirty="0" smtClean="0">
                <a:solidFill>
                  <a:srgbClr val="C00000"/>
                </a:solidFill>
              </a:rPr>
              <a:t>3rd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7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17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Then	</a:t>
            </a:r>
          </a:p>
          <a:p>
            <a:pPr>
              <a:buNone/>
            </a:pPr>
            <a:r>
              <a:rPr lang="en-US" dirty="0" smtClean="0"/>
              <a:t>	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- 1)d 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     a</a:t>
            </a:r>
            <a:r>
              <a:rPr lang="en-US" baseline="-25000" dirty="0" smtClean="0"/>
              <a:t>3</a:t>
            </a:r>
            <a:r>
              <a:rPr lang="en-US" dirty="0" smtClean="0"/>
              <a:t> = a + (3 - 1) d</a:t>
            </a:r>
          </a:p>
          <a:p>
            <a:pPr>
              <a:buNone/>
            </a:pPr>
            <a:r>
              <a:rPr lang="en-US" dirty="0" smtClean="0"/>
              <a:t>	 and	      a</a:t>
            </a:r>
            <a:r>
              <a:rPr lang="en-US" baseline="-25000" dirty="0" smtClean="0"/>
              <a:t>8</a:t>
            </a:r>
            <a:r>
              <a:rPr lang="en-US" dirty="0" smtClean="0"/>
              <a:t> = a + (8 - 1) 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Given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7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17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Therefore,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7 = a + 2d</a:t>
            </a:r>
            <a:r>
              <a:rPr lang="en-US" dirty="0" smtClean="0"/>
              <a:t>……………………(1)</a:t>
            </a:r>
          </a:p>
          <a:p>
            <a:pPr>
              <a:buNone/>
            </a:pPr>
            <a:r>
              <a:rPr lang="en-US" dirty="0" smtClean="0"/>
              <a:t>	and           </a:t>
            </a:r>
            <a:r>
              <a:rPr lang="en-US" dirty="0" smtClean="0">
                <a:solidFill>
                  <a:srgbClr val="C00000"/>
                </a:solidFill>
              </a:rPr>
              <a:t>17 = a + 7d</a:t>
            </a:r>
            <a:r>
              <a:rPr lang="en-US" dirty="0" smtClean="0"/>
              <a:t>………….………..(2)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Subtracting (1) from (2), we get,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10 = 5d</a:t>
            </a:r>
            <a:r>
              <a:rPr lang="en-US" dirty="0" smtClean="0"/>
              <a:t>		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  </a:t>
            </a:r>
            <a:r>
              <a:rPr lang="en-US" dirty="0" smtClean="0">
                <a:solidFill>
                  <a:srgbClr val="C00000"/>
                </a:solidFill>
              </a:rPr>
              <a:t>d = 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Substituting </a:t>
            </a:r>
            <a:r>
              <a:rPr lang="en-US" dirty="0" smtClean="0">
                <a:solidFill>
                  <a:srgbClr val="C00000"/>
                </a:solidFill>
              </a:rPr>
              <a:t>d = 2 </a:t>
            </a:r>
            <a:r>
              <a:rPr lang="en-US" dirty="0" smtClean="0"/>
              <a:t>in (1) we have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 7 = a + 2(2)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which gives </a:t>
            </a:r>
            <a:r>
              <a:rPr lang="en-US" dirty="0" smtClean="0">
                <a:solidFill>
                  <a:srgbClr val="C00000"/>
                </a:solidFill>
              </a:rPr>
              <a:t>a = 3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Thus,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en-US" sz="3100" dirty="0" smtClean="0"/>
              <a:t>	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3 + (n - 1) 2</a:t>
            </a:r>
            <a:r>
              <a:rPr lang="en-US" sz="3100" dirty="0" smtClean="0"/>
              <a:t>	(using values of a and d)</a:t>
            </a:r>
          </a:p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	Hence the value of </a:t>
            </a:r>
            <a:r>
              <a:rPr lang="en-US" sz="3100" dirty="0" smtClean="0">
                <a:solidFill>
                  <a:srgbClr val="C00000"/>
                </a:solidFill>
              </a:rPr>
              <a:t>36th</a:t>
            </a:r>
            <a:r>
              <a:rPr lang="en-US" sz="3100" dirty="0" smtClean="0"/>
              <a:t> term is</a:t>
            </a:r>
          </a:p>
          <a:p>
            <a:pPr>
              <a:buNone/>
            </a:pPr>
            <a:endParaRPr lang="en-US" sz="3100" dirty="0" smtClean="0"/>
          </a:p>
          <a:p>
            <a:pPr>
              <a:buNone/>
            </a:pPr>
            <a:r>
              <a:rPr lang="en-US" sz="3100" dirty="0" smtClean="0"/>
              <a:t>	 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36</a:t>
            </a:r>
            <a:r>
              <a:rPr lang="en-US" sz="3100" dirty="0" smtClean="0">
                <a:solidFill>
                  <a:srgbClr val="C00000"/>
                </a:solidFill>
              </a:rPr>
              <a:t> </a:t>
            </a:r>
            <a:r>
              <a:rPr lang="en-US" sz="3100" dirty="0" smtClean="0"/>
              <a:t>=</a:t>
            </a:r>
            <a:r>
              <a:rPr lang="en-US" sz="3100" dirty="0" smtClean="0">
                <a:solidFill>
                  <a:srgbClr val="C00000"/>
                </a:solidFill>
              </a:rPr>
              <a:t> 3 + (36 - 1) 2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3 + 70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73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</a:t>
            </a:r>
            <a:r>
              <a:rPr lang="en-US" dirty="0" smtClean="0"/>
              <a:t> term by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it with a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geometric progression (G.P.)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ratio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ratio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G.P.</a:t>
            </a:r>
            <a:r>
              <a:rPr lang="en-US" dirty="0" smtClean="0"/>
              <a:t> commonly denoted by “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”.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1).		</a:t>
            </a:r>
            <a:r>
              <a:rPr lang="en-US" b="1" dirty="0" smtClean="0">
                <a:solidFill>
                  <a:srgbClr val="C00000"/>
                </a:solidFill>
              </a:rPr>
              <a:t>1, 2, 4, 8, 16,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a</a:t>
            </a:r>
            <a:r>
              <a:rPr lang="en-US" sz="2800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=</a:t>
            </a:r>
            <a:r>
              <a:rPr lang="en-US" sz="2800" dirty="0" smtClean="0">
                <a:solidFill>
                  <a:srgbClr val="C00000"/>
                </a:solidFill>
              </a:rPr>
              <a:t> 1, 	</a:t>
            </a:r>
            <a:r>
              <a:rPr lang="en-US" sz="2400" dirty="0" smtClean="0">
                <a:solidFill>
                  <a:srgbClr val="C00000"/>
                </a:solidFill>
              </a:rPr>
              <a:t>a</a:t>
            </a:r>
            <a:r>
              <a:rPr lang="en-US" sz="2400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(1)(2)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2, 	a</a:t>
            </a:r>
            <a:r>
              <a:rPr lang="en-US" sz="2400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(2)(2)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(4)(2)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8, 	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(8)(2)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16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2).		 </a:t>
            </a:r>
            <a:r>
              <a:rPr lang="en-US" b="1" dirty="0" smtClean="0">
                <a:solidFill>
                  <a:srgbClr val="C00000"/>
                </a:solidFill>
              </a:rPr>
              <a:t>3, -3/2, 3/4, -3/8, …	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3,       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(1)(-1/2)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-3/2,     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(-3/2)(-1/2)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3/4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(3/4)(-1/2)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-3/8,   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-1/2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3).		 </a:t>
            </a:r>
            <a:r>
              <a:rPr lang="en-US" b="1" dirty="0" smtClean="0">
                <a:solidFill>
                  <a:srgbClr val="C00000"/>
                </a:solidFill>
              </a:rPr>
              <a:t>0.1, 0.01, 0.001, 0.0001,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0.1, 	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0.0001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0.1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0.1 = 1/10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 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ratio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,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/>
              <a:t> 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, …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first term </a:t>
            </a:r>
            <a:r>
              <a:rPr lang="en-US" dirty="0" smtClean="0">
                <a:solidFill>
                  <a:srgbClr val="C00000"/>
                </a:solidFill>
              </a:rPr>
              <a:t>= a = ar</a:t>
            </a:r>
            <a:r>
              <a:rPr lang="en-US" baseline="30000" dirty="0" smtClean="0">
                <a:solidFill>
                  <a:srgbClr val="C00000"/>
                </a:solidFill>
              </a:rPr>
              <a:t>1-1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= second term </a:t>
            </a:r>
            <a:r>
              <a:rPr lang="en-US" dirty="0" smtClean="0">
                <a:solidFill>
                  <a:srgbClr val="C00000"/>
                </a:solidFill>
              </a:rPr>
              <a:t>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2-1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third term </a:t>
            </a:r>
            <a:r>
              <a:rPr lang="en-US" dirty="0" smtClean="0">
                <a:solidFill>
                  <a:srgbClr val="C00000"/>
                </a:solidFill>
              </a:rPr>
              <a:t>=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3-1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nth term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>
                <a:solidFill>
                  <a:srgbClr val="C00000"/>
                </a:solidFill>
              </a:rPr>
              <a:t>;</a:t>
            </a:r>
            <a:r>
              <a:rPr lang="en-US" dirty="0" smtClean="0"/>
              <a:t>	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of the following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4, 12, 36, 108, …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Here 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common ratio =   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= term number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Since		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6096000" y="3048000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6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048000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of the following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4, 12, 36, 108, …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Here 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common ratio =   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= term number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/>
              <a:t> = (4)(3)</a:t>
            </a:r>
            <a:r>
              <a:rPr lang="en-US" baseline="30000" dirty="0" smtClean="0"/>
              <a:t>8-1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    = 4 .(2187)</a:t>
            </a:r>
          </a:p>
          <a:p>
            <a:pPr>
              <a:buNone/>
            </a:pPr>
            <a:r>
              <a:rPr lang="en-US" dirty="0" smtClean="0"/>
              <a:t>			              =</a:t>
            </a:r>
            <a:r>
              <a:rPr lang="en-US" dirty="0" smtClean="0">
                <a:solidFill>
                  <a:srgbClr val="C00000"/>
                </a:solidFill>
              </a:rPr>
              <a:t> 8748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6096000" y="3048000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972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048000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78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anchor="b"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  <a:r>
              <a:rPr lang="en-US" dirty="0" smtClean="0"/>
              <a:t> if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  <a:r>
              <a:rPr lang="en-US" dirty="0" smtClean="0"/>
              <a:t> and common ratio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Given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common ratio =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the nth term =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bases are same so powers must be equal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– 1 = 5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= 6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1/8 </a:t>
            </a:r>
            <a:r>
              <a:rPr lang="en-US" dirty="0" smtClean="0"/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6th</a:t>
            </a:r>
            <a:r>
              <a:rPr lang="en-US" dirty="0" smtClean="0"/>
              <a:t> term of the given </a:t>
            </a:r>
            <a:r>
              <a:rPr lang="en-US" b="1" dirty="0" smtClean="0">
                <a:solidFill>
                  <a:srgbClr val="C00000"/>
                </a:solidFill>
              </a:rPr>
              <a:t>G.P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2649792" y="1610040"/>
          <a:ext cx="3417094" cy="266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4" r:id="rId3" imgW="1917360" imgH="1625400" progId="">
                  <p:embed/>
                </p:oleObj>
              </mc:Choice>
              <mc:Fallback>
                <p:oleObj r:id="rId3" imgW="191736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792" y="1610040"/>
                        <a:ext cx="3417094" cy="2667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positive terms </a:t>
            </a:r>
            <a:r>
              <a:rPr lang="en-US" dirty="0" smtClean="0"/>
              <a:t>whose </a:t>
            </a:r>
            <a:r>
              <a:rPr lang="en-US" dirty="0" smtClean="0">
                <a:solidFill>
                  <a:srgbClr val="C00000"/>
                </a:solidFill>
              </a:rPr>
              <a:t>second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9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fourth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General Formula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</a:t>
            </a:r>
            <a:r>
              <a:rPr lang="pt-BR" b="1" dirty="0" smtClean="0">
                <a:solidFill>
                  <a:srgbClr val="C00000"/>
                </a:solidFill>
              </a:rPr>
              <a:t>a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ar</a:t>
            </a:r>
            <a:r>
              <a:rPr lang="pt-BR" b="1" baseline="30000" dirty="0" smtClean="0">
                <a:solidFill>
                  <a:srgbClr val="C00000"/>
                </a:solidFill>
              </a:rPr>
              <a:t> n-1</a:t>
            </a:r>
            <a:r>
              <a:rPr lang="pt-BR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Now	</a:t>
            </a:r>
          </a:p>
          <a:p>
            <a:pPr>
              <a:buNone/>
            </a:pPr>
            <a:r>
              <a:rPr lang="pt-BR" dirty="0" smtClean="0"/>
              <a:t>   	          	 </a:t>
            </a:r>
            <a:r>
              <a:rPr lang="pt-BR" b="1" dirty="0" smtClean="0"/>
              <a:t>a</a:t>
            </a:r>
            <a:r>
              <a:rPr lang="pt-BR" b="1" baseline="-25000" dirty="0" smtClean="0"/>
              <a:t>2</a:t>
            </a:r>
            <a:r>
              <a:rPr lang="pt-BR" b="1" dirty="0" smtClean="0"/>
              <a:t> = ar</a:t>
            </a:r>
            <a:r>
              <a:rPr lang="pt-BR" b="1" baseline="30000" dirty="0" smtClean="0"/>
              <a:t> 2-1</a:t>
            </a:r>
          </a:p>
          <a:p>
            <a:pPr>
              <a:buNone/>
            </a:pPr>
            <a:r>
              <a:rPr lang="pt-BR" baseline="30000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/>
              <a:t>	 </a:t>
            </a:r>
            <a:r>
              <a:rPr lang="pt-BR" dirty="0" smtClean="0">
                <a:solidFill>
                  <a:srgbClr val="C00000"/>
                </a:solidFill>
              </a:rPr>
              <a:t>9  = ar     </a:t>
            </a:r>
            <a:r>
              <a:rPr lang="pt-BR" dirty="0" smtClean="0"/>
              <a:t>……………….(1)</a:t>
            </a:r>
          </a:p>
          <a:p>
            <a:pPr>
              <a:buNone/>
            </a:pPr>
            <a:r>
              <a:rPr lang="pt-BR" dirty="0" smtClean="0"/>
              <a:t>	 Also		 </a:t>
            </a:r>
            <a:r>
              <a:rPr lang="pt-BR" b="1" dirty="0" smtClean="0"/>
              <a:t>a</a:t>
            </a:r>
            <a:r>
              <a:rPr lang="pt-BR" b="1" baseline="-25000" dirty="0" smtClean="0"/>
              <a:t>4</a:t>
            </a:r>
            <a:r>
              <a:rPr lang="pt-BR" b="1" dirty="0" smtClean="0"/>
              <a:t> = ar</a:t>
            </a:r>
            <a:r>
              <a:rPr lang="pt-BR" b="1" baseline="30000" dirty="0" smtClean="0"/>
              <a:t>4-1</a:t>
            </a:r>
          </a:p>
          <a:p>
            <a:pPr>
              <a:buNone/>
            </a:pPr>
            <a:r>
              <a:rPr lang="pt-BR" baseline="30000" dirty="0" smtClean="0"/>
              <a:t>	</a:t>
            </a:r>
            <a:r>
              <a:rPr lang="en-US" dirty="0" smtClean="0"/>
              <a:t> 	</a:t>
            </a:r>
            <a:r>
              <a:rPr lang="en-US" dirty="0" smtClean="0">
                <a:sym typeface="Symbol"/>
              </a:rPr>
              <a:t> 	 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1  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 3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dirty="0" smtClean="0"/>
              <a:t>………………(2)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Dividing (2) by (1), </a:t>
            </a:r>
            <a:r>
              <a:rPr lang="en-US" dirty="0" smtClean="0"/>
              <a:t>we get,</a:t>
            </a:r>
          </a:p>
          <a:p>
            <a:endParaRPr lang="en-US" dirty="0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1905000" y="2096724"/>
          <a:ext cx="5562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8" r:id="rId3" imgW="3022560" imgH="1269720" progId="">
                  <p:embed/>
                </p:oleObj>
              </mc:Choice>
              <mc:Fallback>
                <p:oleObj r:id="rId3" imgW="3022560" imgH="12697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96724"/>
                        <a:ext cx="55626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Substituting </a:t>
            </a:r>
            <a:r>
              <a:rPr lang="en-US" b="1" dirty="0" smtClean="0">
                <a:solidFill>
                  <a:srgbClr val="C00000"/>
                </a:solidFill>
              </a:rPr>
              <a:t>r = 1/3 </a:t>
            </a:r>
            <a:r>
              <a:rPr lang="en-US" dirty="0" smtClean="0"/>
              <a:t>in (1), we get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b="1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b="1" dirty="0" smtClean="0">
                <a:solidFill>
                  <a:srgbClr val="C00000"/>
                </a:solidFill>
              </a:rPr>
              <a:t>27, 9, 3, 1, 1/3, 1/9, …	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01378" name="Object 2"/>
          <p:cNvGraphicFramePr>
            <a:graphicFrameLocks noChangeAspect="1"/>
          </p:cNvGraphicFramePr>
          <p:nvPr/>
        </p:nvGraphicFramePr>
        <p:xfrm>
          <a:off x="1143000" y="1905000"/>
          <a:ext cx="3124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2" r:id="rId3" imgW="1765080" imgH="634680" progId="">
                  <p:embed/>
                </p:oleObj>
              </mc:Choice>
              <mc:Fallback>
                <p:oleObj r:id="rId3" imgW="1765080" imgH="634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31242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SEQUENCES IN COMPUTER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</a:t>
            </a:r>
            <a:r>
              <a:rPr lang="en-US" dirty="0" smtClean="0">
                <a:solidFill>
                  <a:srgbClr val="C00000"/>
                </a:solidFill>
              </a:rPr>
              <a:t>data type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computer programming </a:t>
            </a:r>
            <a:r>
              <a:rPr lang="en-US" dirty="0" smtClean="0"/>
              <a:t>consists of </a:t>
            </a:r>
            <a:r>
              <a:rPr lang="en-US" dirty="0" smtClean="0">
                <a:solidFill>
                  <a:srgbClr val="C00000"/>
                </a:solidFill>
              </a:rPr>
              <a:t>finite sequences </a:t>
            </a:r>
            <a:r>
              <a:rPr lang="en-US" dirty="0" smtClean="0"/>
              <a:t>known as </a:t>
            </a:r>
            <a:r>
              <a:rPr lang="en-US" dirty="0" smtClean="0">
                <a:solidFill>
                  <a:srgbClr val="C00000"/>
                </a:solidFill>
              </a:rPr>
              <a:t>one-dimensional arrays</a:t>
            </a:r>
            <a:r>
              <a:rPr lang="en-US" dirty="0" smtClean="0"/>
              <a:t>; a single variable in which a sequence of variables may be stored.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2094</TotalTime>
  <Words>797</Words>
  <Application>Microsoft Office PowerPoint</Application>
  <PresentationFormat>On-screen Show (4:3)</PresentationFormat>
  <Paragraphs>429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Bookman Old Style</vt:lpstr>
      <vt:lpstr>Calibri</vt:lpstr>
      <vt:lpstr>Gill Sans MT</vt:lpstr>
      <vt:lpstr>Symbol</vt:lpstr>
      <vt:lpstr>Wingdings</vt:lpstr>
      <vt:lpstr>Wingdings 3</vt:lpstr>
      <vt:lpstr>Origin</vt:lpstr>
      <vt:lpstr>Equation</vt:lpstr>
      <vt:lpstr>SEQUENCES Lecture # 13</vt:lpstr>
      <vt:lpstr>INTRODUCTION</vt:lpstr>
      <vt:lpstr>PowerPoint Presentation</vt:lpstr>
      <vt:lpstr>FORMAL DEFINITION OF SEQUENCE</vt:lpstr>
      <vt:lpstr>NOTATION</vt:lpstr>
      <vt:lpstr>FINDING TERMS OF A SEQUENCE GIVEN BY AN EXPLICIT FORMULA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EXERCISE</vt:lpstr>
      <vt:lpstr>PowerPoint Presentation</vt:lpstr>
      <vt:lpstr>PowerPoint Presentation</vt:lpstr>
      <vt:lpstr>PowerPoint Presentation</vt:lpstr>
      <vt:lpstr>PowerPoint Presentation</vt:lpstr>
      <vt:lpstr>ARITHMETIC SEQUENCE</vt:lpstr>
      <vt:lpstr>EXAMPLES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GENERAL TERM OF AN ARITHMETIC SEQUENCE</vt:lpstr>
      <vt:lpstr>EXAMPLE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GEOMETRIC SEQUENCE</vt:lpstr>
      <vt:lpstr>EXAMPLE</vt:lpstr>
      <vt:lpstr>EXAMPLE</vt:lpstr>
      <vt:lpstr>EXAMPLE</vt:lpstr>
      <vt:lpstr>GENERAL TERM OF A GEOMETRIC SEQUENCE</vt:lpstr>
      <vt:lpstr>EXAMPLE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SEQUENCES IN COMPUTER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239</cp:revision>
  <dcterms:created xsi:type="dcterms:W3CDTF">2013-10-15T06:26:31Z</dcterms:created>
  <dcterms:modified xsi:type="dcterms:W3CDTF">2024-03-29T08:07:08Z</dcterms:modified>
</cp:coreProperties>
</file>
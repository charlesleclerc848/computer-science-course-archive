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5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0" d="100"/>
          <a:sy n="70" d="100"/>
        </p:scale>
        <p:origin x="-528" y="-7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574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C19E2A7-2174-452B-9BED-C410D2434D57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FBF5012-E6F5-495C-A541-6B7E71D3D4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BF5012-E6F5-495C-A541-6B7E71D3D4A6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55DAD-523A-4D93-913A-309E85F914FE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84869-B25C-4578-8BC2-8D4E9232F6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een.gi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429625" y="5562600"/>
            <a:ext cx="714375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hand.gif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115050"/>
            <a:ext cx="119062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reeform 5"/>
          <p:cNvSpPr/>
          <p:nvPr userDrawn="1"/>
        </p:nvSpPr>
        <p:spPr>
          <a:xfrm>
            <a:off x="1171575" y="6124575"/>
            <a:ext cx="7286625" cy="219075"/>
          </a:xfrm>
          <a:custGeom>
            <a:avLst/>
            <a:gdLst>
              <a:gd name="connsiteX0" fmla="*/ 0 w 7286625"/>
              <a:gd name="connsiteY0" fmla="*/ 219075 h 219075"/>
              <a:gd name="connsiteX1" fmla="*/ 190500 w 7286625"/>
              <a:gd name="connsiteY1" fmla="*/ 180975 h 219075"/>
              <a:gd name="connsiteX2" fmla="*/ 2790825 w 7286625"/>
              <a:gd name="connsiteY2" fmla="*/ 171450 h 219075"/>
              <a:gd name="connsiteX3" fmla="*/ 2924175 w 7286625"/>
              <a:gd name="connsiteY3" fmla="*/ 152400 h 219075"/>
              <a:gd name="connsiteX4" fmla="*/ 3267075 w 7286625"/>
              <a:gd name="connsiteY4" fmla="*/ 133350 h 219075"/>
              <a:gd name="connsiteX5" fmla="*/ 3390900 w 7286625"/>
              <a:gd name="connsiteY5" fmla="*/ 123825 h 219075"/>
              <a:gd name="connsiteX6" fmla="*/ 3667125 w 7286625"/>
              <a:gd name="connsiteY6" fmla="*/ 85725 h 219075"/>
              <a:gd name="connsiteX7" fmla="*/ 3838575 w 7286625"/>
              <a:gd name="connsiteY7" fmla="*/ 76200 h 219075"/>
              <a:gd name="connsiteX8" fmla="*/ 4381500 w 7286625"/>
              <a:gd name="connsiteY8" fmla="*/ 47625 h 219075"/>
              <a:gd name="connsiteX9" fmla="*/ 4552950 w 7286625"/>
              <a:gd name="connsiteY9" fmla="*/ 38100 h 219075"/>
              <a:gd name="connsiteX10" fmla="*/ 4686300 w 7286625"/>
              <a:gd name="connsiteY10" fmla="*/ 28575 h 219075"/>
              <a:gd name="connsiteX11" fmla="*/ 5562600 w 7286625"/>
              <a:gd name="connsiteY11" fmla="*/ 0 h 219075"/>
              <a:gd name="connsiteX12" fmla="*/ 6486525 w 7286625"/>
              <a:gd name="connsiteY12" fmla="*/ 9525 h 219075"/>
              <a:gd name="connsiteX13" fmla="*/ 6581775 w 7286625"/>
              <a:gd name="connsiteY13" fmla="*/ 19050 h 219075"/>
              <a:gd name="connsiteX14" fmla="*/ 6715125 w 7286625"/>
              <a:gd name="connsiteY14" fmla="*/ 47625 h 219075"/>
              <a:gd name="connsiteX15" fmla="*/ 7210425 w 7286625"/>
              <a:gd name="connsiteY15" fmla="*/ 66675 h 219075"/>
              <a:gd name="connsiteX16" fmla="*/ 7286625 w 7286625"/>
              <a:gd name="connsiteY16" fmla="*/ 7620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86625" h="219075">
                <a:moveTo>
                  <a:pt x="0" y="219075"/>
                </a:moveTo>
                <a:cubicBezTo>
                  <a:pt x="67827" y="173857"/>
                  <a:pt x="45538" y="182475"/>
                  <a:pt x="190500" y="180975"/>
                </a:cubicBezTo>
                <a:lnTo>
                  <a:pt x="2790825" y="171450"/>
                </a:lnTo>
                <a:cubicBezTo>
                  <a:pt x="2835275" y="165100"/>
                  <a:pt x="2879529" y="157183"/>
                  <a:pt x="2924175" y="152400"/>
                </a:cubicBezTo>
                <a:cubicBezTo>
                  <a:pt x="3020054" y="142127"/>
                  <a:pt x="3181234" y="138255"/>
                  <a:pt x="3267075" y="133350"/>
                </a:cubicBezTo>
                <a:cubicBezTo>
                  <a:pt x="3308405" y="130988"/>
                  <a:pt x="3349625" y="127000"/>
                  <a:pt x="3390900" y="123825"/>
                </a:cubicBezTo>
                <a:cubicBezTo>
                  <a:pt x="3496096" y="104698"/>
                  <a:pt x="3551356" y="92157"/>
                  <a:pt x="3667125" y="85725"/>
                </a:cubicBezTo>
                <a:lnTo>
                  <a:pt x="3838575" y="76200"/>
                </a:lnTo>
                <a:cubicBezTo>
                  <a:pt x="4421283" y="38197"/>
                  <a:pt x="3784538" y="73028"/>
                  <a:pt x="4381500" y="47625"/>
                </a:cubicBezTo>
                <a:cubicBezTo>
                  <a:pt x="4438686" y="45192"/>
                  <a:pt x="4495823" y="41670"/>
                  <a:pt x="4552950" y="38100"/>
                </a:cubicBezTo>
                <a:cubicBezTo>
                  <a:pt x="4597426" y="35320"/>
                  <a:pt x="4641768" y="30255"/>
                  <a:pt x="4686300" y="28575"/>
                </a:cubicBezTo>
                <a:lnTo>
                  <a:pt x="5562600" y="0"/>
                </a:lnTo>
                <a:lnTo>
                  <a:pt x="6486525" y="9525"/>
                </a:lnTo>
                <a:cubicBezTo>
                  <a:pt x="6518428" y="10121"/>
                  <a:pt x="6550352" y="13505"/>
                  <a:pt x="6581775" y="19050"/>
                </a:cubicBezTo>
                <a:cubicBezTo>
                  <a:pt x="6696351" y="39269"/>
                  <a:pt x="6600009" y="39686"/>
                  <a:pt x="6715125" y="47625"/>
                </a:cubicBezTo>
                <a:cubicBezTo>
                  <a:pt x="6818795" y="54775"/>
                  <a:pt x="7128867" y="63956"/>
                  <a:pt x="7210425" y="66675"/>
                </a:cubicBezTo>
                <a:cubicBezTo>
                  <a:pt x="7254060" y="81220"/>
                  <a:pt x="7228960" y="76200"/>
                  <a:pt x="7286625" y="762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7" name="Picture 9" descr="top.gif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 rot="18850181">
            <a:off x="-155575" y="330200"/>
            <a:ext cx="20002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  <a:ln>
            <a:noFill/>
          </a:ln>
        </p:spPr>
        <p:txBody>
          <a:bodyPr/>
          <a:lstStyle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5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-9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"/>
                          </p:val>
                        </p:tav>
                        <p:tav tm="100000">
                          <p:val>
                            <p:strVal val="#ppt_w*.05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strVal val="#ppt_w*.05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.4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decel="50000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2"/>
                          </p:val>
                        </p:tav>
                        <p:tav tm="100000">
                          <p:val>
                            <p:strVal val="#ppt_y+.1"/>
                          </p:val>
                        </p:tav>
                      </p:tavLst>
                    </p:anim>
                    <p:anim calcmode="lin" valueType="num">
                      <p:cBhvr>
                        <p:cTn dur="500" accel="50000" fill="hold">
                          <p:stCondLst>
                            <p:cond delay="500"/>
                          </p:stCondLst>
                        </p:cTn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  <p:animEffect transition="in" filter="fade">
                      <p:cBhvr>
                        <p:cTn dur="1000" decel="50000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EF95E-8170-4B8F-9F2B-868618BF1688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F1C51-8566-4549-A1BC-4215581B4B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5577D5-CE87-409F-B11E-E4AAFA458694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382D0-6287-4D06-8660-66459861A2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AB541C-39E2-4ABD-8F26-B054FDDF66A4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966AC-1F3B-4B3D-973B-B23837B044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E1D48-728D-4D8C-A393-20E76C4AE54B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41592-6554-482E-89C6-70009B5655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6BC3C-719B-42BE-BB90-45DEAD4A49BF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A038-A212-40E3-97EA-B3C2AAB298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D828D-3325-4AE7-B947-FD6CE0C77806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FDD09-5401-43DD-9D21-39E6F6F5F8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48362F-C984-499B-A5AD-CCC7A2DF7F3D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50F2F0-C1E0-4407-97E8-C859ED725D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44AA8-12BA-404B-91B1-5792E60D08F7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20D82-ADCE-4DF0-BB8C-D438A455B4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8F0ED-C657-4D15-8B18-3D7673C71715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DC7F0D-6920-4708-9B29-4BBAA354F1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412CC-97EE-49DD-9A8B-0C3AE89F16C7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58EC8E-1171-46D3-BB9C-E76E2EDA8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A8192-F19D-4D3E-A320-9FA6BC4ED825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218911-2E00-4AF1-A4F5-64BB56B771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2DBC42-8A0F-4C56-87A9-861B12363C09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735068-BD0A-4769-B0ED-BC9178C28D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F5960E-B2F4-4222-B34F-37B317FCED92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12D202-9CB7-4AA3-8392-91713E932C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43AE6D-F035-42D0-A08C-6AF318ED7ECA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BEC64-3B96-40E2-BB51-2BFA4C7324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C9054-A1E2-44C3-BDAA-F71D32FF0031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A33BB-380D-4808-B45C-DF9583064D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3D7FD-AC18-441B-93D1-7E1CBC7A088C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C68AA-9F9C-4D36-A856-C77A640380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00F255-8746-49B3-8D07-6620A1F1FC32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14CD6E-A0B3-4429-9019-071CBE34D6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0D90C3-402D-483E-8AA7-AB60BBE1AC05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93133-C805-422B-9705-D56F310862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B47B0-2ECC-4E1B-B552-DF2EDC1D421D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609671-C39D-4B40-9BE0-D936833A2F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CEC188-96E0-4868-A8FA-49FE779E336A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07808-BABC-4730-BF31-D5862FFC7F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C66A413-49FB-4888-9F11-441202D20B06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DF6211F-5278-4B8E-96CF-461F9E543A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63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0BE7AC0-50A6-4DB1-AE0D-F4A2731C8663}" type="datetimeFigureOut">
              <a:rPr lang="en-US"/>
              <a:pPr>
                <a:defRPr/>
              </a:pPr>
              <a:t>4/3/2008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EBEA4FE-042C-4C31-965A-79D3153CB5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6" descr="transparent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0463" y="1676400"/>
            <a:ext cx="4046537" cy="423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Title 1"/>
          <p:cNvSpPr>
            <a:spLocks noGrp="1"/>
          </p:cNvSpPr>
          <p:nvPr>
            <p:ph type="ctrTitle"/>
          </p:nvPr>
        </p:nvSpPr>
        <p:spPr>
          <a:xfrm>
            <a:off x="228600" y="2644775"/>
            <a:ext cx="8610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3</a:t>
            </a:r>
            <a:br>
              <a:rPr lang="en-US" smtClean="0"/>
            </a:br>
            <a:r>
              <a:rPr lang="en-US" smtClean="0"/>
              <a:t>Process Description and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"/>
            <a:ext cx="6400800" cy="1752600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i="1" dirty="0" smtClean="0"/>
              <a:t>Operating Systems:</a:t>
            </a:r>
            <a:br>
              <a:rPr lang="en-US" i="1" dirty="0" smtClean="0"/>
            </a:br>
            <a:r>
              <a:rPr lang="en-US" i="1" dirty="0" smtClean="0"/>
              <a:t>Internals and Design Principles, 6/E</a:t>
            </a:r>
            <a:br>
              <a:rPr lang="en-US" i="1" dirty="0" smtClean="0"/>
            </a:br>
            <a:r>
              <a:rPr lang="en-US" dirty="0" smtClean="0"/>
              <a:t>William Stallings</a:t>
            </a:r>
            <a:endParaRPr lang="en-US" i="1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67000" y="6096000"/>
            <a:ext cx="3352800" cy="625475"/>
          </a:xfrm>
        </p:spPr>
        <p:txBody>
          <a:bodyPr/>
          <a:lstStyle/>
          <a:p>
            <a:pPr>
              <a:defRPr/>
            </a:pPr>
            <a:r>
              <a:rPr lang="en-US" dirty="0"/>
              <a:t>Patricia Roy</a:t>
            </a:r>
            <a:br>
              <a:rPr lang="en-US" dirty="0"/>
            </a:br>
            <a:r>
              <a:rPr lang="en-US" dirty="0"/>
              <a:t>Manatee Community College, Venice, FL</a:t>
            </a:r>
            <a:br>
              <a:rPr lang="en-US" dirty="0"/>
            </a:br>
            <a:r>
              <a:rPr lang="en-US" dirty="0"/>
              <a:t>©2008, Prentice Hall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Requirements of an</a:t>
            </a:r>
            <a:br>
              <a:rPr lang="en-US" smtClean="0"/>
            </a:br>
            <a:r>
              <a:rPr lang="en-US" smtClean="0"/>
              <a:t>Operating System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Interleave the execution of multiple processes, to maximize processor utilization while providing reasonable response time</a:t>
            </a:r>
          </a:p>
          <a:p>
            <a:r>
              <a:rPr lang="en-US" dirty="0" smtClean="0"/>
              <a:t>Allocate resources to processes</a:t>
            </a:r>
          </a:p>
          <a:p>
            <a:r>
              <a:rPr lang="en-US" dirty="0" smtClean="0"/>
              <a:t>Support </a:t>
            </a:r>
            <a:r>
              <a:rPr lang="en-US" dirty="0" err="1" smtClean="0"/>
              <a:t>interprocess</a:t>
            </a:r>
            <a:r>
              <a:rPr lang="en-US" dirty="0" smtClean="0"/>
              <a:t> communication and user creation of processes</a:t>
            </a:r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Concepts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mtClean="0"/>
              <a:t>Computer platform consists of a collection of hardware resources</a:t>
            </a:r>
          </a:p>
          <a:p>
            <a:pPr>
              <a:lnSpc>
                <a:spcPct val="80000"/>
              </a:lnSpc>
            </a:pPr>
            <a:r>
              <a:rPr lang="en-US" smtClean="0"/>
              <a:t>Computer applications are developed to perform some task</a:t>
            </a:r>
          </a:p>
          <a:p>
            <a:pPr>
              <a:lnSpc>
                <a:spcPct val="80000"/>
              </a:lnSpc>
            </a:pPr>
            <a:r>
              <a:rPr lang="en-US" smtClean="0"/>
              <a:t>Inefficient for applications to be written directly for a given hardware platform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Concepts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mtClean="0"/>
              <a:t>OS provides a convenient, feature rich, secure, and consistent interface for applications to use</a:t>
            </a:r>
          </a:p>
          <a:p>
            <a:pPr>
              <a:lnSpc>
                <a:spcPct val="80000"/>
              </a:lnSpc>
            </a:pPr>
            <a:r>
              <a:rPr lang="en-US" smtClean="0"/>
              <a:t>OS provides a uniform, abstract representation of resources that can be requested and accessed by application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Manage Execution of Applications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Resources made available to multiple applications</a:t>
            </a:r>
          </a:p>
          <a:p>
            <a:r>
              <a:rPr lang="en-US" smtClean="0"/>
              <a:t>Processor is switched among multiptle application</a:t>
            </a:r>
          </a:p>
          <a:p>
            <a:r>
              <a:rPr lang="en-US" smtClean="0"/>
              <a:t>The processor and I/O devices can be used efficiently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A program in execution</a:t>
            </a:r>
          </a:p>
          <a:p>
            <a:pPr>
              <a:lnSpc>
                <a:spcPct val="90000"/>
              </a:lnSpc>
            </a:pPr>
            <a:r>
              <a:rPr lang="en-US" smtClean="0"/>
              <a:t>An instance of a program running on a computer</a:t>
            </a:r>
          </a:p>
          <a:p>
            <a:pPr>
              <a:lnSpc>
                <a:spcPct val="90000"/>
              </a:lnSpc>
            </a:pPr>
            <a:r>
              <a:rPr lang="en-US" smtClean="0"/>
              <a:t>The entity that can be assigned to and executed on a processor</a:t>
            </a:r>
          </a:p>
          <a:p>
            <a:pPr>
              <a:lnSpc>
                <a:spcPct val="90000"/>
              </a:lnSpc>
            </a:pPr>
            <a:r>
              <a:rPr lang="en-US" smtClean="0"/>
              <a:t>A unit of activity characterized by the execution of a sequence of instructions, a current state, and an associated set of system instructions</a:t>
            </a:r>
          </a:p>
        </p:txBody>
      </p:sp>
    </p:spTree>
  </p:cSld>
  <p:clrMapOvr>
    <a:masterClrMapping/>
  </p:clrMapOvr>
  <p:transition>
    <p:pull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Elements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Identifier</a:t>
            </a:r>
          </a:p>
          <a:p>
            <a:pPr>
              <a:lnSpc>
                <a:spcPct val="90000"/>
              </a:lnSpc>
            </a:pPr>
            <a:r>
              <a:rPr lang="en-US" smtClean="0"/>
              <a:t>State</a:t>
            </a:r>
          </a:p>
          <a:p>
            <a:pPr>
              <a:lnSpc>
                <a:spcPct val="90000"/>
              </a:lnSpc>
            </a:pPr>
            <a:r>
              <a:rPr lang="en-US" smtClean="0"/>
              <a:t>Priority</a:t>
            </a:r>
          </a:p>
          <a:p>
            <a:pPr>
              <a:lnSpc>
                <a:spcPct val="90000"/>
              </a:lnSpc>
            </a:pPr>
            <a:r>
              <a:rPr lang="en-US" smtClean="0"/>
              <a:t>Program counter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Elements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Memory pointers</a:t>
            </a:r>
          </a:p>
          <a:p>
            <a:pPr>
              <a:lnSpc>
                <a:spcPct val="90000"/>
              </a:lnSpc>
            </a:pPr>
            <a:r>
              <a:rPr lang="en-US" smtClean="0"/>
              <a:t>Context data</a:t>
            </a:r>
          </a:p>
          <a:p>
            <a:pPr>
              <a:lnSpc>
                <a:spcPct val="90000"/>
              </a:lnSpc>
            </a:pPr>
            <a:r>
              <a:rPr lang="en-US" smtClean="0"/>
              <a:t>I/O status information</a:t>
            </a:r>
          </a:p>
          <a:p>
            <a:pPr>
              <a:lnSpc>
                <a:spcPct val="90000"/>
              </a:lnSpc>
            </a:pPr>
            <a:r>
              <a:rPr lang="en-US" smtClean="0"/>
              <a:t>Accounting information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Control Block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Contains the process elements</a:t>
            </a:r>
          </a:p>
          <a:p>
            <a:r>
              <a:rPr lang="en-US" smtClean="0"/>
              <a:t>Created and manage by the operating system</a:t>
            </a:r>
          </a:p>
          <a:p>
            <a:r>
              <a:rPr lang="en-US" smtClean="0"/>
              <a:t>Allows support for multiple processes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Control Block</a:t>
            </a:r>
          </a:p>
        </p:txBody>
      </p:sp>
      <p:pic>
        <p:nvPicPr>
          <p:cNvPr id="13315" name="Content Placeholder 3" descr="Fig03_01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008313" y="1092200"/>
            <a:ext cx="3544887" cy="5613400"/>
          </a:xfrm>
        </p:spPr>
      </p:pic>
    </p:spTree>
  </p:cSld>
  <p:clrMapOvr>
    <a:masterClrMapping/>
  </p:clrMapOvr>
  <p:transition>
    <p:pull dir="r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Trace of the Process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Sequence of instruction that execute for a process</a:t>
            </a:r>
          </a:p>
          <a:p>
            <a:r>
              <a:rPr lang="en-US" smtClean="0"/>
              <a:t>Dispatcher switches the processor from one process to another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 Execution</a:t>
            </a:r>
          </a:p>
        </p:txBody>
      </p:sp>
      <p:pic>
        <p:nvPicPr>
          <p:cNvPr id="15363" name="Content Placeholder 3" descr="Fig03_02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273300" y="1219200"/>
            <a:ext cx="4584700" cy="5548313"/>
          </a:xfrm>
        </p:spPr>
      </p:pic>
    </p:spTree>
  </p:cSld>
  <p:clrMapOvr>
    <a:masterClrMapping/>
  </p:clrMapOvr>
  <p:transition>
    <p:pull dir="r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Trace of Process</a:t>
            </a:r>
          </a:p>
        </p:txBody>
      </p:sp>
      <p:pic>
        <p:nvPicPr>
          <p:cNvPr id="16387" name="Content Placeholder 3" descr="Fig03_03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981200" y="1295400"/>
            <a:ext cx="5556250" cy="4514850"/>
          </a:xfrm>
        </p:spPr>
      </p:pic>
    </p:spTree>
  </p:cSld>
  <p:clrMapOvr>
    <a:masterClrMapping/>
  </p:clrMapOvr>
  <p:transition>
    <p:pull dir="r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Combined Trace of Process</a:t>
            </a:r>
          </a:p>
        </p:txBody>
      </p:sp>
      <p:pic>
        <p:nvPicPr>
          <p:cNvPr id="17411" name="Content Placeholder 3" descr="Fig03_04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819400" y="1211263"/>
            <a:ext cx="3657600" cy="5502275"/>
          </a:xfrm>
        </p:spPr>
      </p:pic>
    </p:spTree>
  </p:cSld>
  <p:clrMapOvr>
    <a:masterClrMapping/>
  </p:clrMapOvr>
  <p:transition>
    <p:pull dir="r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Two-State Process Model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Process may be in one of two states</a:t>
            </a:r>
          </a:p>
          <a:p>
            <a:pPr lvl="1"/>
            <a:r>
              <a:rPr lang="en-US" sz="2400" smtClean="0"/>
              <a:t>Running</a:t>
            </a:r>
          </a:p>
          <a:p>
            <a:pPr lvl="1"/>
            <a:r>
              <a:rPr lang="en-US" sz="2400" smtClean="0"/>
              <a:t>Not-running</a:t>
            </a:r>
          </a:p>
          <a:p>
            <a:endParaRPr lang="en-US" smtClean="0"/>
          </a:p>
        </p:txBody>
      </p:sp>
      <p:pic>
        <p:nvPicPr>
          <p:cNvPr id="18436" name="Picture 3" descr="Fig03_05a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44613" y="3295650"/>
            <a:ext cx="6199187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Queuing Diagram</a:t>
            </a:r>
          </a:p>
        </p:txBody>
      </p:sp>
      <p:pic>
        <p:nvPicPr>
          <p:cNvPr id="19459" name="Content Placeholder 3" descr="Fig03_05b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752600" y="2209800"/>
            <a:ext cx="6080125" cy="2257425"/>
          </a:xfrm>
        </p:spPr>
      </p:pic>
    </p:spTree>
  </p:cSld>
  <p:clrMapOvr>
    <a:masterClrMapping/>
  </p:clrMapOvr>
  <p:transition>
    <p:pull dir="r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Creation</a:t>
            </a:r>
          </a:p>
        </p:txBody>
      </p:sp>
      <p:pic>
        <p:nvPicPr>
          <p:cNvPr id="20483" name="Content Placeholder 3" descr="Table03_01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876300" y="1447800"/>
            <a:ext cx="7950200" cy="4343400"/>
          </a:xfrm>
        </p:spPr>
      </p:pic>
    </p:spTree>
  </p:cSld>
  <p:clrMapOvr>
    <a:masterClrMapping/>
  </p:clrMapOvr>
  <p:transition>
    <p:pull dir="r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Termination</a:t>
            </a:r>
          </a:p>
        </p:txBody>
      </p:sp>
      <p:pic>
        <p:nvPicPr>
          <p:cNvPr id="21507" name="Content Placeholder 3" descr="Table03_02a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773113" y="1219200"/>
            <a:ext cx="8218487" cy="4605338"/>
          </a:xfrm>
        </p:spPr>
      </p:pic>
    </p:spTree>
  </p:cSld>
  <p:clrMapOvr>
    <a:masterClrMapping/>
  </p:clrMapOvr>
  <p:transition>
    <p:pull dir="r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Termination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447800"/>
            <a:ext cx="7924800" cy="447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Queuing 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Processes</a:t>
            </a:r>
          </a:p>
          <a:p>
            <a:pPr lvl="1"/>
            <a:r>
              <a:rPr lang="en-US" smtClean="0"/>
              <a:t>Not-running ready to execute</a:t>
            </a:r>
          </a:p>
          <a:p>
            <a:pPr lvl="1"/>
            <a:r>
              <a:rPr lang="en-US" smtClean="0"/>
              <a:t>Not-running block</a:t>
            </a:r>
          </a:p>
          <a:p>
            <a:pPr lvl="1"/>
            <a:r>
              <a:rPr lang="en-US" smtClean="0"/>
              <a:t>Dispatcher must scan list to find process not-running, ready, and in queue the longest</a:t>
            </a:r>
          </a:p>
        </p:txBody>
      </p:sp>
    </p:spTree>
  </p:cSld>
  <p:clrMapOvr>
    <a:masterClrMapping/>
  </p:clrMapOvr>
  <p:transition>
    <p:pull dir="r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 Five-State Model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Running</a:t>
            </a:r>
          </a:p>
          <a:p>
            <a:r>
              <a:rPr lang="en-US" smtClean="0"/>
              <a:t>Ready</a:t>
            </a:r>
          </a:p>
          <a:p>
            <a:r>
              <a:rPr lang="en-US" smtClean="0"/>
              <a:t>Blocked</a:t>
            </a:r>
          </a:p>
          <a:p>
            <a:r>
              <a:rPr lang="en-US" smtClean="0"/>
              <a:t>New</a:t>
            </a:r>
          </a:p>
          <a:p>
            <a:r>
              <a:rPr lang="en-US" smtClean="0"/>
              <a:t>Exit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Five-State Process Model</a:t>
            </a:r>
          </a:p>
        </p:txBody>
      </p:sp>
      <p:pic>
        <p:nvPicPr>
          <p:cNvPr id="25603" name="Content Placeholder 3" descr="Fig03_06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066800" y="1524000"/>
            <a:ext cx="7065963" cy="4019550"/>
          </a:xfrm>
        </p:spPr>
      </p:pic>
    </p:spTree>
  </p:cSld>
  <p:clrMapOvr>
    <a:masterClrMapping/>
  </p:clrMapOvr>
  <p:transition>
    <p:pull dir="r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States</a:t>
            </a:r>
          </a:p>
        </p:txBody>
      </p:sp>
      <p:pic>
        <p:nvPicPr>
          <p:cNvPr id="26627" name="Content Placeholder 3" descr="Fig03_07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838200" y="1219200"/>
            <a:ext cx="8001000" cy="4619625"/>
          </a:xfrm>
        </p:spPr>
      </p:pic>
    </p:spTree>
  </p:cSld>
  <p:clrMapOvr>
    <a:masterClrMapping/>
  </p:clrMapOvr>
  <p:transition>
    <p:pull dir="r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Using Two Queues</a:t>
            </a:r>
          </a:p>
        </p:txBody>
      </p:sp>
      <p:pic>
        <p:nvPicPr>
          <p:cNvPr id="27651" name="Content Placeholder 3" descr="Fig03_08a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990600" y="1752600"/>
            <a:ext cx="7332663" cy="2971800"/>
          </a:xfrm>
        </p:spPr>
      </p:pic>
    </p:spTree>
  </p:cSld>
  <p:clrMapOvr>
    <a:masterClrMapping/>
  </p:clrMapOvr>
  <p:transition>
    <p:pull dir="r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Multiple Blocked Queues</a:t>
            </a:r>
          </a:p>
        </p:txBody>
      </p:sp>
      <p:pic>
        <p:nvPicPr>
          <p:cNvPr id="28675" name="Content Placeholder 3" descr="Fig03_08b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676400" y="1295400"/>
            <a:ext cx="6053138" cy="4738688"/>
          </a:xfrm>
        </p:spPr>
      </p:pic>
    </p:spTree>
  </p:cSld>
  <p:clrMapOvr>
    <a:masterClrMapping/>
  </p:clrMapOvr>
  <p:transition>
    <p:pull dir="r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Suspended Processes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Processor is faster than I/O so all processes could be waiting for I/O</a:t>
            </a:r>
          </a:p>
          <a:p>
            <a:pPr>
              <a:lnSpc>
                <a:spcPct val="90000"/>
              </a:lnSpc>
            </a:pPr>
            <a:r>
              <a:rPr lang="en-US" smtClean="0"/>
              <a:t>Swap these processes to disk to free up more memory</a:t>
            </a:r>
          </a:p>
          <a:p>
            <a:pPr>
              <a:lnSpc>
                <a:spcPct val="90000"/>
              </a:lnSpc>
            </a:pPr>
            <a:r>
              <a:rPr lang="en-US" smtClean="0"/>
              <a:t>Blocked state becomes suspend state when swapped to disk</a:t>
            </a:r>
          </a:p>
          <a:p>
            <a:pPr>
              <a:lnSpc>
                <a:spcPct val="90000"/>
              </a:lnSpc>
            </a:pPr>
            <a:r>
              <a:rPr lang="en-US" smtClean="0"/>
              <a:t>Two new states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Blocked/Suspend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Ready/Suspend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One Suspend State</a:t>
            </a:r>
          </a:p>
        </p:txBody>
      </p:sp>
      <p:pic>
        <p:nvPicPr>
          <p:cNvPr id="30723" name="Content Placeholder 3" descr="Fig03_09a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19200" y="1828800"/>
            <a:ext cx="7008813" cy="3043238"/>
          </a:xfrm>
        </p:spPr>
      </p:pic>
    </p:spTree>
  </p:cSld>
  <p:clrMapOvr>
    <a:masterClrMapping/>
  </p:clrMapOvr>
  <p:transition>
    <p:pull dir="r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Two Suspend States</a:t>
            </a:r>
          </a:p>
        </p:txBody>
      </p:sp>
      <p:pic>
        <p:nvPicPr>
          <p:cNvPr id="31747" name="Content Placeholder 3" descr="Fig03_09b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95400" y="1271588"/>
            <a:ext cx="6669088" cy="4519612"/>
          </a:xfrm>
        </p:spPr>
      </p:pic>
    </p:spTree>
  </p:cSld>
  <p:clrMapOvr>
    <a:masterClrMapping/>
  </p:clrMapOvr>
  <p:transition>
    <p:pull dir="r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295400" y="274638"/>
            <a:ext cx="7391400" cy="1143000"/>
          </a:xfrm>
        </p:spPr>
        <p:txBody>
          <a:bodyPr/>
          <a:lstStyle/>
          <a:p>
            <a:r>
              <a:rPr lang="en-US" smtClean="0"/>
              <a:t>Reason for Process Suspension</a:t>
            </a:r>
          </a:p>
        </p:txBody>
      </p:sp>
      <p:pic>
        <p:nvPicPr>
          <p:cNvPr id="32771" name="Content Placeholder 3" descr="Table03_03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066800" y="1524000"/>
            <a:ext cx="7232650" cy="4600575"/>
          </a:xfrm>
        </p:spPr>
      </p:pic>
    </p:spTree>
  </p:cSld>
  <p:clrMapOvr>
    <a:masterClrMapping/>
  </p:clrMapOvr>
  <p:transition>
    <p:pull dir="r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Processes and Resources</a:t>
            </a:r>
          </a:p>
        </p:txBody>
      </p:sp>
      <p:pic>
        <p:nvPicPr>
          <p:cNvPr id="33795" name="Content Placeholder 3" descr="Fig03_10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995363" y="1828800"/>
            <a:ext cx="7153275" cy="3962400"/>
          </a:xfrm>
        </p:spPr>
      </p:pic>
    </p:spTree>
  </p:cSld>
  <p:clrMapOvr>
    <a:masterClrMapping/>
  </p:clrMapOvr>
  <p:transition>
    <p:pull dir="r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Operating System Control Structures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Information about the current status of each process and resource</a:t>
            </a:r>
          </a:p>
          <a:p>
            <a:r>
              <a:rPr lang="en-US" smtClean="0"/>
              <a:t>Tables are constructed for each entity the operating system manages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Memory Tables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Allocation of main memory to processes</a:t>
            </a:r>
          </a:p>
          <a:p>
            <a:r>
              <a:rPr lang="en-US" smtClean="0"/>
              <a:t>Allocation of secondary memory to processes</a:t>
            </a:r>
          </a:p>
          <a:p>
            <a:r>
              <a:rPr lang="en-US" smtClean="0"/>
              <a:t>Protection attributes for access to shared memory regions</a:t>
            </a:r>
          </a:p>
          <a:p>
            <a:r>
              <a:rPr lang="en-US" smtClean="0"/>
              <a:t>Information needed to manage virtual memory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I/O Tables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I/O device is available or assigned</a:t>
            </a:r>
          </a:p>
          <a:p>
            <a:r>
              <a:rPr lang="en-US" smtClean="0"/>
              <a:t>Status of I/O operation</a:t>
            </a:r>
          </a:p>
          <a:p>
            <a:r>
              <a:rPr lang="en-US" smtClean="0"/>
              <a:t>Location in main memory being used as the source or destination of the I/O transfer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File Tables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Existence of files</a:t>
            </a:r>
          </a:p>
          <a:p>
            <a:r>
              <a:rPr lang="en-US" smtClean="0"/>
              <a:t>Location on secondary memory</a:t>
            </a:r>
          </a:p>
          <a:p>
            <a:r>
              <a:rPr lang="en-US" smtClean="0"/>
              <a:t>Current Status</a:t>
            </a:r>
          </a:p>
          <a:p>
            <a:r>
              <a:rPr lang="en-US" smtClean="0"/>
              <a:t>Attributes</a:t>
            </a:r>
          </a:p>
          <a:p>
            <a:r>
              <a:rPr lang="en-US" smtClean="0"/>
              <a:t>Sometimes this information is maintained by a file management system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Tables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en-US" smtClean="0"/>
              <a:t>Manage processes</a:t>
            </a:r>
          </a:p>
          <a:p>
            <a:r>
              <a:rPr lang="en-US" smtClean="0"/>
              <a:t>Process control block</a:t>
            </a:r>
          </a:p>
          <a:p>
            <a:pPr lvl="1"/>
            <a:r>
              <a:rPr lang="en-US" smtClean="0"/>
              <a:t>Process image is the collection of program. Data, stack, and attributes</a:t>
            </a:r>
          </a:p>
        </p:txBody>
      </p:sp>
      <p:pic>
        <p:nvPicPr>
          <p:cNvPr id="38916" name="Picture 3" descr="Table03_04.gi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3500" y="3400425"/>
            <a:ext cx="647700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OS Control Tables</a:t>
            </a:r>
          </a:p>
        </p:txBody>
      </p:sp>
      <p:pic>
        <p:nvPicPr>
          <p:cNvPr id="39939" name="Content Placeholder 3" descr="Fig03_11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676400" y="1271588"/>
            <a:ext cx="5883275" cy="5281612"/>
          </a:xfrm>
        </p:spPr>
      </p:pic>
    </p:spTree>
  </p:cSld>
  <p:clrMapOvr>
    <a:masterClrMapping/>
  </p:clrMapOvr>
  <p:transition>
    <p:pull dir="r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7315200" cy="1143000"/>
          </a:xfrm>
        </p:spPr>
        <p:txBody>
          <a:bodyPr/>
          <a:lstStyle/>
          <a:p>
            <a:r>
              <a:rPr lang="en-US" smtClean="0"/>
              <a:t>Elements of a Process Control Block</a:t>
            </a:r>
          </a:p>
        </p:txBody>
      </p:sp>
      <p:pic>
        <p:nvPicPr>
          <p:cNvPr id="40963" name="Content Placeholder 5" descr="Table03_05a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28600" y="2133600"/>
            <a:ext cx="8686800" cy="2058988"/>
          </a:xfrm>
        </p:spPr>
      </p:pic>
    </p:spTree>
  </p:cSld>
  <p:clrMapOvr>
    <a:masterClrMapping/>
  </p:clrMapOvr>
  <p:transition>
    <p:pull dir="r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7315200" cy="1143000"/>
          </a:xfrm>
        </p:spPr>
        <p:txBody>
          <a:bodyPr/>
          <a:lstStyle/>
          <a:p>
            <a:r>
              <a:rPr lang="en-US" smtClean="0"/>
              <a:t>Elements of a Process Control Block</a:t>
            </a:r>
          </a:p>
        </p:txBody>
      </p:sp>
      <p:pic>
        <p:nvPicPr>
          <p:cNvPr id="41987" name="Content Placeholder 3" descr="Table03_05b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36575" y="1524000"/>
            <a:ext cx="8180388" cy="4114800"/>
          </a:xfrm>
        </p:spPr>
      </p:pic>
    </p:spTree>
  </p:cSld>
  <p:clrMapOvr>
    <a:masterClrMapping/>
  </p:clrMapOvr>
  <p:transition>
    <p:pull dir="r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7315200" cy="1143000"/>
          </a:xfrm>
        </p:spPr>
        <p:txBody>
          <a:bodyPr/>
          <a:lstStyle/>
          <a:p>
            <a:r>
              <a:rPr lang="en-US" smtClean="0"/>
              <a:t>Elements of a Process Control Block</a:t>
            </a:r>
          </a:p>
        </p:txBody>
      </p:sp>
      <p:pic>
        <p:nvPicPr>
          <p:cNvPr id="43011" name="Content Placeholder 3" descr="Table03_05c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28600" y="1828800"/>
            <a:ext cx="8648700" cy="3076575"/>
          </a:xfrm>
        </p:spPr>
      </p:pic>
    </p:spTree>
  </p:cSld>
  <p:clrMapOvr>
    <a:masterClrMapping/>
  </p:clrMapOvr>
  <p:transition>
    <p:pull dir="r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1371600" y="274638"/>
            <a:ext cx="7315200" cy="1143000"/>
          </a:xfrm>
        </p:spPr>
        <p:txBody>
          <a:bodyPr/>
          <a:lstStyle/>
          <a:p>
            <a:r>
              <a:rPr lang="en-US" smtClean="0"/>
              <a:t>Elements of a Process Control Block</a:t>
            </a:r>
          </a:p>
        </p:txBody>
      </p:sp>
      <p:pic>
        <p:nvPicPr>
          <p:cNvPr id="44035" name="Content Placeholder 3" descr="Table03_05d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81000" y="1905000"/>
            <a:ext cx="8426450" cy="3324225"/>
          </a:xfrm>
        </p:spPr>
      </p:pic>
    </p:spTree>
  </p:cSld>
  <p:clrMapOvr>
    <a:masterClrMapping/>
  </p:clrMapOvr>
  <p:transition>
    <p:pull dir="r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143000"/>
          </a:xfrm>
        </p:spPr>
        <p:txBody>
          <a:bodyPr/>
          <a:lstStyle/>
          <a:p>
            <a:r>
              <a:rPr lang="en-US" smtClean="0"/>
              <a:t>Processor State Information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Contents of processor registers</a:t>
            </a:r>
          </a:p>
          <a:p>
            <a:pPr lvl="1"/>
            <a:r>
              <a:rPr lang="en-US" smtClean="0"/>
              <a:t>User-visible registers</a:t>
            </a:r>
          </a:p>
          <a:p>
            <a:pPr lvl="1"/>
            <a:r>
              <a:rPr lang="en-US" smtClean="0"/>
              <a:t>Control and status registers</a:t>
            </a:r>
          </a:p>
          <a:p>
            <a:pPr lvl="1"/>
            <a:r>
              <a:rPr lang="en-US" smtClean="0"/>
              <a:t>Stack pointers</a:t>
            </a:r>
          </a:p>
          <a:p>
            <a:r>
              <a:rPr lang="en-US" smtClean="0"/>
              <a:t>Program status word (PSW)</a:t>
            </a:r>
          </a:p>
          <a:p>
            <a:pPr lvl="1"/>
            <a:r>
              <a:rPr lang="en-US" smtClean="0"/>
              <a:t>contains status information</a:t>
            </a:r>
          </a:p>
          <a:p>
            <a:pPr lvl="1"/>
            <a:r>
              <a:rPr lang="en-US" smtClean="0"/>
              <a:t>Example: the EFLAGS register on Pentium processors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1143000"/>
          </a:xfrm>
        </p:spPr>
        <p:txBody>
          <a:bodyPr/>
          <a:lstStyle/>
          <a:p>
            <a:r>
              <a:rPr lang="en-US" smtClean="0"/>
              <a:t>Pentium II EFLAGS Register</a:t>
            </a:r>
          </a:p>
        </p:txBody>
      </p:sp>
      <p:pic>
        <p:nvPicPr>
          <p:cNvPr id="46083" name="Content Placeholder 3" descr="Fig03_12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143000" y="1371600"/>
            <a:ext cx="7300913" cy="4205288"/>
          </a:xfrm>
        </p:spPr>
      </p:pic>
    </p:spTree>
  </p:cSld>
  <p:clrMapOvr>
    <a:masterClrMapping/>
  </p:clrMapOvr>
  <p:transition>
    <p:pull dir="r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Modes of Execution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User mode</a:t>
            </a:r>
          </a:p>
          <a:p>
            <a:pPr lvl="1"/>
            <a:r>
              <a:rPr lang="en-US" smtClean="0"/>
              <a:t>Less-privileged mode</a:t>
            </a:r>
          </a:p>
          <a:p>
            <a:pPr lvl="1"/>
            <a:r>
              <a:rPr lang="en-US" smtClean="0"/>
              <a:t>User programs typically execute in this mode</a:t>
            </a:r>
          </a:p>
          <a:p>
            <a:r>
              <a:rPr lang="en-US" smtClean="0"/>
              <a:t>System mode, control mode, or kernel mode</a:t>
            </a:r>
          </a:p>
          <a:p>
            <a:pPr lvl="1"/>
            <a:r>
              <a:rPr lang="en-US" smtClean="0"/>
              <a:t>More-privileged mode</a:t>
            </a:r>
          </a:p>
          <a:p>
            <a:pPr lvl="1"/>
            <a:r>
              <a:rPr lang="en-US" smtClean="0"/>
              <a:t>Kernel of the operating system</a:t>
            </a:r>
          </a:p>
        </p:txBody>
      </p:sp>
    </p:spTree>
  </p:cSld>
  <p:clrMapOvr>
    <a:masterClrMapping/>
  </p:clrMapOvr>
  <p:transition>
    <p:pull dir="r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Creation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Assign a unique process identifier</a:t>
            </a:r>
          </a:p>
          <a:p>
            <a:r>
              <a:rPr lang="en-US" smtClean="0"/>
              <a:t>Allocate space for the process</a:t>
            </a:r>
          </a:p>
          <a:p>
            <a:r>
              <a:rPr lang="en-US" smtClean="0"/>
              <a:t>Initialize process control block</a:t>
            </a:r>
          </a:p>
          <a:p>
            <a:r>
              <a:rPr lang="en-US" smtClean="0"/>
              <a:t>Set up appropriate linkages</a:t>
            </a:r>
          </a:p>
          <a:p>
            <a:r>
              <a:rPr lang="en-US" smtClean="0"/>
              <a:t>Create or expand other data structures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When to Switch Process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Clock interrupt</a:t>
            </a:r>
          </a:p>
          <a:p>
            <a:pPr lvl="1"/>
            <a:r>
              <a:rPr lang="en-US" smtClean="0"/>
              <a:t>process has executed for the maximum allowable time slice</a:t>
            </a:r>
          </a:p>
          <a:p>
            <a:r>
              <a:rPr lang="en-US" smtClean="0"/>
              <a:t>I/O interrupt</a:t>
            </a:r>
          </a:p>
          <a:p>
            <a:r>
              <a:rPr lang="en-US" smtClean="0"/>
              <a:t>Memory fault</a:t>
            </a:r>
          </a:p>
          <a:p>
            <a:pPr lvl="1"/>
            <a:r>
              <a:rPr lang="en-US" smtClean="0"/>
              <a:t>memory address is in virtual memory so it must be brought into main memory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When to Switch a Process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Trap</a:t>
            </a:r>
          </a:p>
          <a:p>
            <a:pPr lvl="1"/>
            <a:r>
              <a:rPr lang="en-US" smtClean="0"/>
              <a:t>error or exception occurred</a:t>
            </a:r>
          </a:p>
          <a:p>
            <a:pPr lvl="1"/>
            <a:r>
              <a:rPr lang="en-US" smtClean="0"/>
              <a:t>may cause process to be moved to Exit state</a:t>
            </a:r>
          </a:p>
          <a:p>
            <a:r>
              <a:rPr lang="en-US" smtClean="0"/>
              <a:t>Supervisor call</a:t>
            </a:r>
          </a:p>
          <a:p>
            <a:pPr lvl="1"/>
            <a:r>
              <a:rPr lang="en-US" smtClean="0"/>
              <a:t>such as file open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Change of Process State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Save context of processor including program counter and other registers</a:t>
            </a:r>
          </a:p>
          <a:p>
            <a:pPr>
              <a:lnSpc>
                <a:spcPct val="90000"/>
              </a:lnSpc>
            </a:pPr>
            <a:r>
              <a:rPr lang="en-US" smtClean="0"/>
              <a:t>Update the process control block of the process that is currently in the Running state</a:t>
            </a:r>
          </a:p>
          <a:p>
            <a:pPr>
              <a:lnSpc>
                <a:spcPct val="90000"/>
              </a:lnSpc>
            </a:pPr>
            <a:r>
              <a:rPr lang="en-US" smtClean="0"/>
              <a:t>Move process control block to appropriate queue – ready; blocked; ready/suspend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Change of Process State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Select another process for execution</a:t>
            </a:r>
          </a:p>
          <a:p>
            <a:r>
              <a:rPr lang="en-US" smtClean="0"/>
              <a:t>Update the process control block of the process selected</a:t>
            </a:r>
          </a:p>
          <a:p>
            <a:r>
              <a:rPr lang="en-US" smtClean="0"/>
              <a:t>Update memory-management data structures</a:t>
            </a:r>
          </a:p>
          <a:p>
            <a:r>
              <a:rPr lang="en-US" smtClean="0"/>
              <a:t>Restore context of the selected process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Execution of the Operating System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Non-process Kernel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Execute kernel outside of any process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Operating system code is executed as a separate entity that operates in privileged mode</a:t>
            </a:r>
          </a:p>
          <a:p>
            <a:pPr>
              <a:lnSpc>
                <a:spcPct val="90000"/>
              </a:lnSpc>
            </a:pPr>
            <a:r>
              <a:rPr lang="en-US" smtClean="0"/>
              <a:t>Execution Within User Processes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Operating system software within context of a user process</a:t>
            </a:r>
          </a:p>
          <a:p>
            <a:endParaRPr lang="en-US" smtClean="0"/>
          </a:p>
        </p:txBody>
      </p:sp>
    </p:spTree>
  </p:cSld>
  <p:clrMapOvr>
    <a:masterClrMapping/>
  </p:clrMapOvr>
  <p:transition>
    <p:pull dir="r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Execution of the Operating System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Process-based operating system</a:t>
            </a:r>
          </a:p>
          <a:p>
            <a:pPr lvl="1"/>
            <a:r>
              <a:rPr lang="en-US" smtClean="0"/>
              <a:t>Implement the OS as a collection of system process</a:t>
            </a:r>
          </a:p>
        </p:txBody>
      </p:sp>
    </p:spTree>
  </p:cSld>
  <p:clrMapOvr>
    <a:masterClrMapping/>
  </p:clrMapOvr>
  <p:transition>
    <p:pull dir="r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Execution of the Operating System</a:t>
            </a:r>
          </a:p>
        </p:txBody>
      </p:sp>
      <p:pic>
        <p:nvPicPr>
          <p:cNvPr id="55299" name="Content Placeholder 3" descr="Fig03_15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870200" y="1584325"/>
            <a:ext cx="3759200" cy="5233988"/>
          </a:xfrm>
        </p:spPr>
      </p:pic>
    </p:spTree>
  </p:cSld>
  <p:clrMapOvr>
    <a:masterClrMapping/>
  </p:clrMapOvr>
  <p:transition>
    <p:pull dir="r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OS Executes in User Space</a:t>
            </a:r>
          </a:p>
        </p:txBody>
      </p:sp>
      <p:pic>
        <p:nvPicPr>
          <p:cNvPr id="56323" name="Content Placeholder 3" descr="Fig03_16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667000" y="1038225"/>
            <a:ext cx="3733800" cy="5743575"/>
          </a:xfrm>
        </p:spPr>
      </p:pic>
    </p:spTree>
  </p:cSld>
  <p:clrMapOvr>
    <a:masterClrMapping/>
  </p:clrMapOvr>
  <p:transition>
    <p:pull dir="r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Security Issues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System access threats</a:t>
            </a:r>
          </a:p>
          <a:p>
            <a:pPr lvl="1"/>
            <a:r>
              <a:rPr lang="en-US" smtClean="0"/>
              <a:t>Intruders</a:t>
            </a:r>
          </a:p>
          <a:p>
            <a:pPr lvl="1"/>
            <a:r>
              <a:rPr lang="en-US" smtClean="0"/>
              <a:t>Malicious software</a:t>
            </a:r>
          </a:p>
        </p:txBody>
      </p:sp>
    </p:spTree>
  </p:cSld>
  <p:clrMapOvr>
    <a:masterClrMapping/>
  </p:clrMapOvr>
  <p:transition>
    <p:pull dir="r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Security Issues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Countermeasures</a:t>
            </a:r>
          </a:p>
          <a:p>
            <a:pPr lvl="1"/>
            <a:r>
              <a:rPr lang="en-US" smtClean="0"/>
              <a:t>Intrusion detection</a:t>
            </a:r>
          </a:p>
          <a:p>
            <a:pPr lvl="1"/>
            <a:r>
              <a:rPr lang="en-US" smtClean="0"/>
              <a:t>Authentication</a:t>
            </a:r>
          </a:p>
          <a:p>
            <a:pPr lvl="1"/>
            <a:r>
              <a:rPr lang="en-US" smtClean="0"/>
              <a:t>Access control</a:t>
            </a:r>
          </a:p>
          <a:p>
            <a:pPr lvl="1"/>
            <a:r>
              <a:rPr lang="en-US" smtClean="0"/>
              <a:t>Firewalls</a:t>
            </a:r>
          </a:p>
        </p:txBody>
      </p:sp>
    </p:spTree>
  </p:cSld>
  <p:clrMapOvr>
    <a:masterClrMapping/>
  </p:clrMapOvr>
  <p:transition>
    <p:pull dir="r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UNIX Process States</a:t>
            </a:r>
          </a:p>
        </p:txBody>
      </p:sp>
      <p:pic>
        <p:nvPicPr>
          <p:cNvPr id="59395" name="Content Placeholder 3" descr="Table03_09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143000" y="1295400"/>
            <a:ext cx="7305675" cy="4752975"/>
          </a:xfrm>
        </p:spPr>
      </p:pic>
    </p:spTree>
  </p:cSld>
  <p:clrMapOvr>
    <a:masterClrMapping/>
  </p:clrMapOvr>
  <p:transition>
    <p:pull dir="r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543800" cy="1143000"/>
          </a:xfrm>
        </p:spPr>
        <p:txBody>
          <a:bodyPr/>
          <a:lstStyle/>
          <a:p>
            <a:r>
              <a:rPr lang="en-US" smtClean="0"/>
              <a:t>UNIX Process State Transition Diagram</a:t>
            </a:r>
          </a:p>
        </p:txBody>
      </p:sp>
      <p:pic>
        <p:nvPicPr>
          <p:cNvPr id="60419" name="Content Placeholder 3" descr="Fig03_17.gif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490663" y="1600200"/>
            <a:ext cx="6162675" cy="4953000"/>
          </a:xfrm>
        </p:spPr>
      </p:pic>
    </p:spTree>
  </p:cSld>
  <p:clrMapOvr>
    <a:masterClrMapping/>
  </p:clrMapOvr>
  <p:transition>
    <p:pull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</Words>
  <Application>Microsoft Office PowerPoint</Application>
  <PresentationFormat>On-screen Show (4:3)</PresentationFormat>
  <Paragraphs>227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Calibri</vt:lpstr>
      <vt:lpstr>Office Theme</vt:lpstr>
      <vt:lpstr>Custom Design</vt:lpstr>
      <vt:lpstr>Chapter 3 Process Description and Control</vt:lpstr>
      <vt:lpstr>Requirements of an Operating System</vt:lpstr>
      <vt:lpstr>Concepts</vt:lpstr>
      <vt:lpstr>Concepts</vt:lpstr>
      <vt:lpstr>Manage Execution of Applications</vt:lpstr>
      <vt:lpstr>Process</vt:lpstr>
      <vt:lpstr>Process Elements</vt:lpstr>
      <vt:lpstr>Process Elements</vt:lpstr>
      <vt:lpstr>Process Control Block</vt:lpstr>
      <vt:lpstr>Process Control Block</vt:lpstr>
      <vt:lpstr>Trace of the Process</vt:lpstr>
      <vt:lpstr>Example Execution</vt:lpstr>
      <vt:lpstr>Trace of Process</vt:lpstr>
      <vt:lpstr>Combined Trace of Process</vt:lpstr>
      <vt:lpstr>Two-State Process Model</vt:lpstr>
      <vt:lpstr>Queuing Diagram</vt:lpstr>
      <vt:lpstr>Process Creation</vt:lpstr>
      <vt:lpstr>Process Termination</vt:lpstr>
      <vt:lpstr>Process Termination</vt:lpstr>
      <vt:lpstr>Queuing </vt:lpstr>
      <vt:lpstr>A Five-State Model</vt:lpstr>
      <vt:lpstr>Five-State Process Model</vt:lpstr>
      <vt:lpstr>Process States</vt:lpstr>
      <vt:lpstr>Using Two Queues</vt:lpstr>
      <vt:lpstr>Multiple Blocked Queues</vt:lpstr>
      <vt:lpstr>Suspended Processes</vt:lpstr>
      <vt:lpstr>One Suspend State</vt:lpstr>
      <vt:lpstr>Two Suspend States</vt:lpstr>
      <vt:lpstr>Reason for Process Suspension</vt:lpstr>
      <vt:lpstr>Processes and Resources</vt:lpstr>
      <vt:lpstr>Operating System Control Structures</vt:lpstr>
      <vt:lpstr>Memory Tables</vt:lpstr>
      <vt:lpstr>I/O Tables</vt:lpstr>
      <vt:lpstr>File Tables</vt:lpstr>
      <vt:lpstr>Process Tables</vt:lpstr>
      <vt:lpstr>OS Control Tables</vt:lpstr>
      <vt:lpstr>Elements of a Process Control Block</vt:lpstr>
      <vt:lpstr>Elements of a Process Control Block</vt:lpstr>
      <vt:lpstr>Elements of a Process Control Block</vt:lpstr>
      <vt:lpstr>Elements of a Process Control Block</vt:lpstr>
      <vt:lpstr>Processor State Information</vt:lpstr>
      <vt:lpstr>Pentium II EFLAGS Register</vt:lpstr>
      <vt:lpstr>Modes of Execution</vt:lpstr>
      <vt:lpstr>Process Creation</vt:lpstr>
      <vt:lpstr>When to Switch Process</vt:lpstr>
      <vt:lpstr>When to Switch a Process</vt:lpstr>
      <vt:lpstr>Change of Process State</vt:lpstr>
      <vt:lpstr>Change of Process State</vt:lpstr>
      <vt:lpstr>Execution of the Operating System</vt:lpstr>
      <vt:lpstr>Execution of the Operating System</vt:lpstr>
      <vt:lpstr>Execution of the Operating System</vt:lpstr>
      <vt:lpstr>OS Executes in User Space</vt:lpstr>
      <vt:lpstr>Security Issues</vt:lpstr>
      <vt:lpstr>Security Issues</vt:lpstr>
      <vt:lpstr>UNIX Process States</vt:lpstr>
      <vt:lpstr>UNIX Process State Transition Diagram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2008-04-03T13:44:07Z</dcterms:created>
  <dcterms:modified xsi:type="dcterms:W3CDTF">2008-04-03T13:44:10Z</dcterms:modified>
</cp:coreProperties>
</file>
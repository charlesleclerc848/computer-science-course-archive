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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6858000" cy="9144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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2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3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

</file>

<file path=ppt/slides/_rels/slide4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5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6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7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8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9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object 106"/>
          <p:cNvSpPr/>
          <p:nvPr/>
        </p:nvSpPr>
        <p:spPr>
          <a:xfrm>
            <a:off x="2733675" y="15525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7" name="object 107"/>
          <p:cNvSpPr/>
          <p:nvPr/>
        </p:nvSpPr>
        <p:spPr>
          <a:xfrm>
            <a:off x="2619375" y="1733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8" name="object 108"/>
          <p:cNvSpPr/>
          <p:nvPr/>
        </p:nvSpPr>
        <p:spPr>
          <a:xfrm>
            <a:off x="533400" y="904875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9" name="object 89"/>
          <p:cNvSpPr/>
          <p:nvPr/>
        </p:nvSpPr>
        <p:spPr>
          <a:xfrm>
            <a:off x="3739620" y="1241689"/>
            <a:ext cx="2571750" cy="0"/>
          </a:xfrm>
          <a:custGeom>
            <a:avLst/>
            <a:gdLst/>
            <a:ahLst/>
            <a:cxnLst/>
            <a:rect l="l" t="t" r="r" b="b"/>
            <a:pathLst>
              <a:path w="2571750" h="0">
                <a:moveTo>
                  <a:pt x="0" y="0"/>
                </a:moveTo>
                <a:lnTo>
                  <a:pt x="257175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0" name="object 90"/>
          <p:cNvSpPr/>
          <p:nvPr/>
        </p:nvSpPr>
        <p:spPr>
          <a:xfrm>
            <a:off x="3739620" y="1470289"/>
            <a:ext cx="2571750" cy="0"/>
          </a:xfrm>
          <a:custGeom>
            <a:avLst/>
            <a:gdLst/>
            <a:ahLst/>
            <a:cxnLst/>
            <a:rect l="l" t="t" r="r" b="b"/>
            <a:pathLst>
              <a:path w="2571750" h="0">
                <a:moveTo>
                  <a:pt x="0" y="0"/>
                </a:moveTo>
                <a:lnTo>
                  <a:pt x="257175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1" name="object 91"/>
          <p:cNvSpPr/>
          <p:nvPr/>
        </p:nvSpPr>
        <p:spPr>
          <a:xfrm>
            <a:off x="3739620" y="1784614"/>
            <a:ext cx="2571750" cy="0"/>
          </a:xfrm>
          <a:custGeom>
            <a:avLst/>
            <a:gdLst/>
            <a:ahLst/>
            <a:cxnLst/>
            <a:rect l="l" t="t" r="r" b="b"/>
            <a:pathLst>
              <a:path w="2571750" h="0">
                <a:moveTo>
                  <a:pt x="0" y="0"/>
                </a:moveTo>
                <a:lnTo>
                  <a:pt x="257175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2" name="object 92"/>
          <p:cNvSpPr/>
          <p:nvPr/>
        </p:nvSpPr>
        <p:spPr>
          <a:xfrm>
            <a:off x="3739620" y="2070364"/>
            <a:ext cx="2571750" cy="0"/>
          </a:xfrm>
          <a:custGeom>
            <a:avLst/>
            <a:gdLst/>
            <a:ahLst/>
            <a:cxnLst/>
            <a:rect l="l" t="t" r="r" b="b"/>
            <a:pathLst>
              <a:path w="2571750" h="0">
                <a:moveTo>
                  <a:pt x="0" y="0"/>
                </a:moveTo>
                <a:lnTo>
                  <a:pt x="257175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3" name="object 93"/>
          <p:cNvSpPr/>
          <p:nvPr/>
        </p:nvSpPr>
        <p:spPr>
          <a:xfrm>
            <a:off x="3739620" y="2375164"/>
            <a:ext cx="2571750" cy="0"/>
          </a:xfrm>
          <a:custGeom>
            <a:avLst/>
            <a:gdLst/>
            <a:ahLst/>
            <a:cxnLst/>
            <a:rect l="l" t="t" r="r" b="b"/>
            <a:pathLst>
              <a:path w="2571750" h="0">
                <a:moveTo>
                  <a:pt x="0" y="0"/>
                </a:moveTo>
                <a:lnTo>
                  <a:pt x="257175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4" name="object 94"/>
          <p:cNvSpPr/>
          <p:nvPr/>
        </p:nvSpPr>
        <p:spPr>
          <a:xfrm>
            <a:off x="3739620" y="2575189"/>
            <a:ext cx="2571750" cy="0"/>
          </a:xfrm>
          <a:custGeom>
            <a:avLst/>
            <a:gdLst/>
            <a:ahLst/>
            <a:cxnLst/>
            <a:rect l="l" t="t" r="r" b="b"/>
            <a:pathLst>
              <a:path w="2571750" h="0">
                <a:moveTo>
                  <a:pt x="0" y="0"/>
                </a:moveTo>
                <a:lnTo>
                  <a:pt x="257175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5" name="object 95"/>
          <p:cNvSpPr/>
          <p:nvPr/>
        </p:nvSpPr>
        <p:spPr>
          <a:xfrm>
            <a:off x="3739620" y="1041664"/>
            <a:ext cx="0" cy="1533525"/>
          </a:xfrm>
          <a:custGeom>
            <a:avLst/>
            <a:gdLst/>
            <a:ahLst/>
            <a:cxnLst/>
            <a:rect l="l" t="t" r="r" b="b"/>
            <a:pathLst>
              <a:path w="0" h="1533525">
                <a:moveTo>
                  <a:pt x="0" y="0"/>
                </a:moveTo>
                <a:lnTo>
                  <a:pt x="0" y="15335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6" name="object 96"/>
          <p:cNvSpPr/>
          <p:nvPr/>
        </p:nvSpPr>
        <p:spPr>
          <a:xfrm>
            <a:off x="6311370" y="1041664"/>
            <a:ext cx="0" cy="1533525"/>
          </a:xfrm>
          <a:custGeom>
            <a:avLst/>
            <a:gdLst/>
            <a:ahLst/>
            <a:cxnLst/>
            <a:rect l="l" t="t" r="r" b="b"/>
            <a:pathLst>
              <a:path w="0" h="1533525">
                <a:moveTo>
                  <a:pt x="0" y="0"/>
                </a:moveTo>
                <a:lnTo>
                  <a:pt x="0" y="15335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7" name="object 97"/>
          <p:cNvSpPr/>
          <p:nvPr/>
        </p:nvSpPr>
        <p:spPr>
          <a:xfrm>
            <a:off x="5739870" y="1041664"/>
            <a:ext cx="0" cy="1533525"/>
          </a:xfrm>
          <a:custGeom>
            <a:avLst/>
            <a:gdLst/>
            <a:ahLst/>
            <a:cxnLst/>
            <a:rect l="l" t="t" r="r" b="b"/>
            <a:pathLst>
              <a:path w="0" h="1533525">
                <a:moveTo>
                  <a:pt x="0" y="0"/>
                </a:moveTo>
                <a:lnTo>
                  <a:pt x="0" y="15335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8" name="object 98"/>
          <p:cNvSpPr/>
          <p:nvPr/>
        </p:nvSpPr>
        <p:spPr>
          <a:xfrm>
            <a:off x="5254095" y="1041664"/>
            <a:ext cx="0" cy="1533525"/>
          </a:xfrm>
          <a:custGeom>
            <a:avLst/>
            <a:gdLst/>
            <a:ahLst/>
            <a:cxnLst/>
            <a:rect l="l" t="t" r="r" b="b"/>
            <a:pathLst>
              <a:path w="0" h="1533525">
                <a:moveTo>
                  <a:pt x="0" y="0"/>
                </a:moveTo>
                <a:lnTo>
                  <a:pt x="0" y="15335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9" name="object 99"/>
          <p:cNvSpPr/>
          <p:nvPr/>
        </p:nvSpPr>
        <p:spPr>
          <a:xfrm>
            <a:off x="4692120" y="1041664"/>
            <a:ext cx="0" cy="1533525"/>
          </a:xfrm>
          <a:custGeom>
            <a:avLst/>
            <a:gdLst/>
            <a:ahLst/>
            <a:cxnLst/>
            <a:rect l="l" t="t" r="r" b="b"/>
            <a:pathLst>
              <a:path w="0" h="1533525">
                <a:moveTo>
                  <a:pt x="0" y="0"/>
                </a:moveTo>
                <a:lnTo>
                  <a:pt x="0" y="15335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0" name="object 100"/>
          <p:cNvSpPr/>
          <p:nvPr/>
        </p:nvSpPr>
        <p:spPr>
          <a:xfrm>
            <a:off x="4425420" y="1041664"/>
            <a:ext cx="0" cy="1533525"/>
          </a:xfrm>
          <a:custGeom>
            <a:avLst/>
            <a:gdLst/>
            <a:ahLst/>
            <a:cxnLst/>
            <a:rect l="l" t="t" r="r" b="b"/>
            <a:pathLst>
              <a:path w="0" h="1533525">
                <a:moveTo>
                  <a:pt x="0" y="0"/>
                </a:moveTo>
                <a:lnTo>
                  <a:pt x="0" y="15335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1" name="object 101"/>
          <p:cNvSpPr/>
          <p:nvPr/>
        </p:nvSpPr>
        <p:spPr>
          <a:xfrm>
            <a:off x="4168245" y="1041664"/>
            <a:ext cx="0" cy="1533525"/>
          </a:xfrm>
          <a:custGeom>
            <a:avLst/>
            <a:gdLst/>
            <a:ahLst/>
            <a:cxnLst/>
            <a:rect l="l" t="t" r="r" b="b"/>
            <a:pathLst>
              <a:path w="0" h="1533525">
                <a:moveTo>
                  <a:pt x="0" y="0"/>
                </a:moveTo>
                <a:lnTo>
                  <a:pt x="0" y="15335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2" name="object 102"/>
          <p:cNvSpPr/>
          <p:nvPr/>
        </p:nvSpPr>
        <p:spPr>
          <a:xfrm>
            <a:off x="4168245" y="1041664"/>
            <a:ext cx="523875" cy="0"/>
          </a:xfrm>
          <a:custGeom>
            <a:avLst/>
            <a:gdLst/>
            <a:ahLst/>
            <a:cxnLst/>
            <a:rect l="l" t="t" r="r" b="b"/>
            <a:pathLst>
              <a:path w="523875" h="0">
                <a:moveTo>
                  <a:pt x="0" y="0"/>
                </a:moveTo>
                <a:lnTo>
                  <a:pt x="52387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3" name="object 103"/>
          <p:cNvSpPr/>
          <p:nvPr/>
        </p:nvSpPr>
        <p:spPr>
          <a:xfrm>
            <a:off x="3739620" y="1041664"/>
            <a:ext cx="428625" cy="0"/>
          </a:xfrm>
          <a:custGeom>
            <a:avLst/>
            <a:gdLst/>
            <a:ahLst/>
            <a:cxnLst/>
            <a:rect l="l" t="t" r="r" b="b"/>
            <a:pathLst>
              <a:path w="428625" h="0">
                <a:moveTo>
                  <a:pt x="0" y="0"/>
                </a:moveTo>
                <a:lnTo>
                  <a:pt x="42862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4" name="object 104"/>
          <p:cNvSpPr/>
          <p:nvPr/>
        </p:nvSpPr>
        <p:spPr>
          <a:xfrm>
            <a:off x="4692120" y="1041664"/>
            <a:ext cx="1619250" cy="0"/>
          </a:xfrm>
          <a:custGeom>
            <a:avLst/>
            <a:gdLst/>
            <a:ahLst/>
            <a:cxnLst/>
            <a:rect l="l" t="t" r="r" b="b"/>
            <a:pathLst>
              <a:path w="1619250" h="0">
                <a:moveTo>
                  <a:pt x="0" y="0"/>
                </a:moveTo>
                <a:lnTo>
                  <a:pt x="161925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5" name="object 105"/>
          <p:cNvSpPr/>
          <p:nvPr/>
        </p:nvSpPr>
        <p:spPr>
          <a:xfrm>
            <a:off x="3629025" y="904875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7" name="object 87"/>
          <p:cNvSpPr/>
          <p:nvPr/>
        </p:nvSpPr>
        <p:spPr>
          <a:xfrm>
            <a:off x="3019425" y="38671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8" name="object 88"/>
          <p:cNvSpPr/>
          <p:nvPr/>
        </p:nvSpPr>
        <p:spPr>
          <a:xfrm>
            <a:off x="533400" y="3562350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4" name="object 84"/>
          <p:cNvSpPr/>
          <p:nvPr/>
        </p:nvSpPr>
        <p:spPr>
          <a:xfrm>
            <a:off x="4895850" y="3781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5" name="object 85"/>
          <p:cNvSpPr/>
          <p:nvPr/>
        </p:nvSpPr>
        <p:spPr>
          <a:xfrm>
            <a:off x="5153025" y="39624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6" name="object 86"/>
          <p:cNvSpPr/>
          <p:nvPr/>
        </p:nvSpPr>
        <p:spPr>
          <a:xfrm>
            <a:off x="3629025" y="3562350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" name="object 81"/>
          <p:cNvSpPr/>
          <p:nvPr/>
        </p:nvSpPr>
        <p:spPr>
          <a:xfrm>
            <a:off x="2743200" y="64389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" name="object 82"/>
          <p:cNvSpPr/>
          <p:nvPr/>
        </p:nvSpPr>
        <p:spPr>
          <a:xfrm>
            <a:off x="1181100" y="66198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3" name="object 83"/>
          <p:cNvSpPr/>
          <p:nvPr/>
        </p:nvSpPr>
        <p:spPr>
          <a:xfrm>
            <a:off x="533400" y="6219825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" name="object 78"/>
          <p:cNvSpPr/>
          <p:nvPr/>
        </p:nvSpPr>
        <p:spPr>
          <a:xfrm>
            <a:off x="5838825" y="64389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" name="object 79"/>
          <p:cNvSpPr/>
          <p:nvPr/>
        </p:nvSpPr>
        <p:spPr>
          <a:xfrm>
            <a:off x="4276725" y="66198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" name="object 80"/>
          <p:cNvSpPr/>
          <p:nvPr/>
        </p:nvSpPr>
        <p:spPr>
          <a:xfrm>
            <a:off x="3629025" y="6219825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4176817" y="1068047"/>
            <a:ext cx="160232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60"/>
              </a:lnSpc>
              <a:spcBef>
                <a:spcPts val="33"/>
              </a:spcBef>
            </a:pPr>
            <a:r>
              <a:rPr dirty="0" smtClean="0" sz="500" spc="19">
                <a:latin typeface="Comic Sans MS"/>
                <a:cs typeface="Comic Sans MS"/>
              </a:rPr>
              <a:t>alue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387850" y="1068047"/>
            <a:ext cx="234950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60"/>
              </a:lnSpc>
              <a:spcBef>
                <a:spcPts val="33"/>
              </a:spcBef>
            </a:pPr>
            <a:r>
              <a:rPr dirty="0" smtClean="0" sz="500" spc="14">
                <a:latin typeface="Comic Sans MS"/>
                <a:cs typeface="Comic Sans MS"/>
              </a:rPr>
              <a:t>Queue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711700" y="1068047"/>
            <a:ext cx="406397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60"/>
              </a:lnSpc>
              <a:spcBef>
                <a:spcPts val="33"/>
              </a:spcBef>
            </a:pPr>
            <a:r>
              <a:rPr dirty="0" smtClean="0" sz="500" spc="9">
                <a:latin typeface="Comic Sans MS"/>
                <a:cs typeface="Comic Sans MS"/>
              </a:rPr>
              <a:t>"acquire</a:t>
            </a:r>
            <a:r>
              <a:rPr dirty="0" smtClean="0" sz="500" spc="0">
                <a:latin typeface="Comic Sans MS"/>
                <a:cs typeface="Comic Sans MS"/>
              </a:rPr>
              <a:t>"</a:t>
            </a:r>
            <a:r>
              <a:rPr dirty="0" smtClean="0" sz="500" spc="73">
                <a:latin typeface="Comic Sans MS"/>
                <a:cs typeface="Comic Sans MS"/>
              </a:rPr>
              <a:t> </a:t>
            </a:r>
            <a:r>
              <a:rPr dirty="0" smtClean="0" sz="500" spc="9">
                <a:latin typeface="Comic Sans MS"/>
                <a:cs typeface="Comic Sans MS"/>
              </a:rPr>
              <a:t>op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702050" y="1487147"/>
            <a:ext cx="368298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60"/>
              </a:lnSpc>
              <a:spcBef>
                <a:spcPts val="33"/>
              </a:spcBef>
            </a:pPr>
            <a:r>
              <a:rPr dirty="0" smtClean="0" sz="500" spc="-4">
                <a:latin typeface="Comic Sans MS"/>
                <a:cs typeface="Comic Sans MS"/>
              </a:rPr>
              <a:t>Semaphore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130675" y="1492687"/>
            <a:ext cx="120648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116129"/>
              </a:lnSpc>
              <a:spcBef>
                <a:spcPts val="10"/>
              </a:spcBef>
            </a:pPr>
            <a:r>
              <a:rPr dirty="0" smtClean="0" sz="350" spc="-4">
                <a:latin typeface="Comic Sans MS"/>
                <a:cs typeface="Comic Sans MS"/>
              </a:rPr>
              <a:t>INT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387850" y="1492687"/>
            <a:ext cx="55641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116129"/>
              </a:lnSpc>
              <a:spcBef>
                <a:spcPts val="10"/>
              </a:spcBef>
            </a:pPr>
            <a:r>
              <a:rPr dirty="0" smtClean="0" sz="350" spc="0">
                <a:latin typeface="Comic Sans MS"/>
                <a:cs typeface="Comic Sans MS"/>
              </a:rPr>
              <a:t>Y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654550" y="1568887"/>
            <a:ext cx="191277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116129"/>
              </a:lnSpc>
              <a:spcBef>
                <a:spcPts val="10"/>
              </a:spcBef>
            </a:pPr>
            <a:r>
              <a:rPr dirty="0" smtClean="0" sz="350" spc="4">
                <a:latin typeface="Comic Sans MS"/>
                <a:cs typeface="Comic Sans MS"/>
              </a:rPr>
              <a:t>valu</a:t>
            </a:r>
            <a:r>
              <a:rPr dirty="0" smtClean="0" sz="350" spc="0">
                <a:latin typeface="Comic Sans MS"/>
                <a:cs typeface="Comic Sans MS"/>
              </a:rPr>
              <a:t>e</a:t>
            </a:r>
            <a:r>
              <a:rPr dirty="0" smtClean="0" sz="350" spc="32">
                <a:latin typeface="Comic Sans MS"/>
                <a:cs typeface="Comic Sans MS"/>
              </a:rPr>
              <a:t> </a:t>
            </a:r>
            <a:r>
              <a:rPr dirty="0" smtClean="0" sz="350" spc="0">
                <a:latin typeface="Comic Sans MS"/>
                <a:cs typeface="Comic Sans MS"/>
              </a:rPr>
              <a:t>—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216525" y="1568887"/>
            <a:ext cx="206375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116129"/>
              </a:lnSpc>
              <a:spcBef>
                <a:spcPts val="10"/>
              </a:spcBef>
            </a:pPr>
            <a:r>
              <a:rPr dirty="0" smtClean="0" sz="350" spc="19">
                <a:latin typeface="Comic Sans MS"/>
                <a:cs typeface="Comic Sans MS"/>
              </a:rPr>
              <a:t>Value++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702300" y="1568887"/>
            <a:ext cx="530223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116129"/>
              </a:lnSpc>
              <a:spcBef>
                <a:spcPts val="10"/>
              </a:spcBef>
            </a:pPr>
            <a:r>
              <a:rPr dirty="0" smtClean="0" sz="350" spc="4">
                <a:latin typeface="Comic Sans MS"/>
                <a:cs typeface="Comic Sans MS"/>
              </a:rPr>
              <a:t>Whil</a:t>
            </a:r>
            <a:r>
              <a:rPr dirty="0" smtClean="0" sz="350" spc="0">
                <a:latin typeface="Comic Sans MS"/>
                <a:cs typeface="Comic Sans MS"/>
              </a:rPr>
              <a:t>e</a:t>
            </a:r>
            <a:r>
              <a:rPr dirty="0" smtClean="0" sz="350" spc="0">
                <a:latin typeface="Comic Sans MS"/>
                <a:cs typeface="Comic Sans MS"/>
              </a:rPr>
              <a:t> </a:t>
            </a:r>
            <a:r>
              <a:rPr dirty="0" smtClean="0" sz="350" spc="16">
                <a:latin typeface="Comic Sans MS"/>
                <a:cs typeface="Comic Sans MS"/>
              </a:rPr>
              <a:t> </a:t>
            </a:r>
            <a:r>
              <a:rPr dirty="0" smtClean="0" sz="350" spc="4">
                <a:latin typeface="Comic Sans MS"/>
                <a:cs typeface="Comic Sans MS"/>
              </a:rPr>
              <a:t>(</a:t>
            </a:r>
            <a:r>
              <a:rPr dirty="0" smtClean="0" sz="350" spc="14">
                <a:latin typeface="Comic Sans MS"/>
                <a:cs typeface="Comic Sans MS"/>
              </a:rPr>
              <a:t>getValue</a:t>
            </a:r>
            <a:r>
              <a:rPr dirty="0" smtClean="0" sz="350" spc="9">
                <a:latin typeface="Comic Sans MS"/>
                <a:cs typeface="Comic Sans MS"/>
              </a:rPr>
              <a:t>()&lt;0){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690809" y="1721287"/>
            <a:ext cx="417756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116129"/>
              </a:lnSpc>
              <a:spcBef>
                <a:spcPts val="10"/>
              </a:spcBef>
            </a:pPr>
            <a:r>
              <a:rPr dirty="0" smtClean="0" sz="350" spc="9">
                <a:latin typeface="Comic Sans MS"/>
                <a:cs typeface="Comic Sans MS"/>
              </a:rPr>
              <a:t>d</a:t>
            </a:r>
            <a:r>
              <a:rPr dirty="0" smtClean="0" sz="350" spc="0">
                <a:latin typeface="Comic Sans MS"/>
                <a:cs typeface="Comic Sans MS"/>
              </a:rPr>
              <a:t>d</a:t>
            </a:r>
            <a:r>
              <a:rPr dirty="0" smtClean="0" sz="350" spc="88">
                <a:latin typeface="Comic Sans MS"/>
                <a:cs typeface="Comic Sans MS"/>
              </a:rPr>
              <a:t> </a:t>
            </a:r>
            <a:r>
              <a:rPr dirty="0" smtClean="0" sz="350" spc="9">
                <a:latin typeface="Comic Sans MS"/>
                <a:cs typeface="Comic Sans MS"/>
              </a:rPr>
              <a:t>sel</a:t>
            </a:r>
            <a:r>
              <a:rPr dirty="0" smtClean="0" sz="350" spc="0">
                <a:latin typeface="Comic Sans MS"/>
                <a:cs typeface="Comic Sans MS"/>
              </a:rPr>
              <a:t>f</a:t>
            </a:r>
            <a:r>
              <a:rPr dirty="0" smtClean="0" sz="350" spc="103">
                <a:latin typeface="Comic Sans MS"/>
                <a:cs typeface="Comic Sans MS"/>
              </a:rPr>
              <a:t> </a:t>
            </a:r>
            <a:r>
              <a:rPr dirty="0" smtClean="0" sz="350" spc="9">
                <a:latin typeface="Comic Sans MS"/>
                <a:cs typeface="Comic Sans MS"/>
              </a:rPr>
              <a:t>t</a:t>
            </a:r>
            <a:r>
              <a:rPr dirty="0" smtClean="0" sz="350" spc="0">
                <a:latin typeface="Comic Sans MS"/>
                <a:cs typeface="Comic Sans MS"/>
              </a:rPr>
              <a:t>o</a:t>
            </a:r>
            <a:r>
              <a:rPr dirty="0" smtClean="0" sz="350" spc="83">
                <a:latin typeface="Comic Sans MS"/>
                <a:cs typeface="Comic Sans MS"/>
              </a:rPr>
              <a:t> </a:t>
            </a:r>
            <a:r>
              <a:rPr dirty="0" smtClean="0" sz="350" spc="9">
                <a:latin typeface="Comic Sans MS"/>
                <a:cs typeface="Comic Sans MS"/>
              </a:rPr>
              <a:t>queue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216525" y="1721287"/>
            <a:ext cx="339730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116129"/>
              </a:lnSpc>
              <a:spcBef>
                <a:spcPts val="10"/>
              </a:spcBef>
            </a:pPr>
            <a:r>
              <a:rPr dirty="0" smtClean="0" sz="350" spc="19">
                <a:latin typeface="Comic Sans MS"/>
                <a:cs typeface="Comic Sans MS"/>
              </a:rPr>
              <a:t>Wak</a:t>
            </a:r>
            <a:r>
              <a:rPr dirty="0" smtClean="0" sz="350" spc="0">
                <a:latin typeface="Comic Sans MS"/>
                <a:cs typeface="Comic Sans MS"/>
              </a:rPr>
              <a:t>e</a:t>
            </a:r>
            <a:r>
              <a:rPr dirty="0" smtClean="0" sz="350" spc="0">
                <a:latin typeface="Comic Sans MS"/>
                <a:cs typeface="Comic Sans MS"/>
              </a:rPr>
              <a:t> </a:t>
            </a:r>
            <a:r>
              <a:rPr dirty="0" smtClean="0" sz="350" spc="29">
                <a:latin typeface="Comic Sans MS"/>
                <a:cs typeface="Comic Sans MS"/>
              </a:rPr>
              <a:t> </a:t>
            </a:r>
            <a:r>
              <a:rPr dirty="0" smtClean="0" sz="350" spc="19">
                <a:latin typeface="Comic Sans MS"/>
                <a:cs typeface="Comic Sans MS"/>
              </a:rPr>
              <a:t>u</a:t>
            </a:r>
            <a:r>
              <a:rPr dirty="0" smtClean="0" sz="350" spc="0">
                <a:latin typeface="Comic Sans MS"/>
                <a:cs typeface="Comic Sans MS"/>
              </a:rPr>
              <a:t>p</a:t>
            </a:r>
            <a:r>
              <a:rPr dirty="0" smtClean="0" sz="350" spc="95">
                <a:latin typeface="Comic Sans MS"/>
                <a:cs typeface="Comic Sans MS"/>
              </a:rPr>
              <a:t> </a:t>
            </a:r>
            <a:r>
              <a:rPr dirty="0" smtClean="0" sz="350" spc="19">
                <a:latin typeface="Comic Sans MS"/>
                <a:cs typeface="Comic Sans MS"/>
              </a:rPr>
              <a:t>one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702300" y="1721287"/>
            <a:ext cx="42830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116129"/>
              </a:lnSpc>
              <a:spcBef>
                <a:spcPts val="10"/>
              </a:spcBef>
            </a:pPr>
            <a:r>
              <a:rPr dirty="0" smtClean="0" sz="350" spc="0">
                <a:latin typeface="Comic Sans MS"/>
                <a:cs typeface="Comic Sans MS"/>
              </a:rPr>
              <a:t>}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756174" y="1959412"/>
            <a:ext cx="219182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116129"/>
              </a:lnSpc>
              <a:spcBef>
                <a:spcPts val="10"/>
              </a:spcBef>
            </a:pPr>
            <a:r>
              <a:rPr dirty="0" smtClean="0" sz="350" spc="0">
                <a:latin typeface="Comic Sans MS"/>
                <a:cs typeface="Comic Sans MS"/>
              </a:rPr>
              <a:t>signal</a:t>
            </a:r>
            <a:r>
              <a:rPr dirty="0" smtClean="0" sz="350" spc="0">
                <a:latin typeface="Comic Sans MS"/>
                <a:cs typeface="Comic Sans MS"/>
              </a:rPr>
              <a:t> </a:t>
            </a:r>
            <a:r>
              <a:rPr dirty="0" smtClean="0" sz="350" spc="4">
                <a:latin typeface="Comic Sans MS"/>
                <a:cs typeface="Comic Sans MS"/>
              </a:rPr>
              <a:t> </a:t>
            </a:r>
            <a:r>
              <a:rPr dirty="0" smtClean="0" sz="350" spc="0">
                <a:latin typeface="Comic Sans MS"/>
                <a:cs typeface="Comic Sans MS"/>
              </a:rPr>
              <a:t>all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679813" y="2235637"/>
            <a:ext cx="323994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116129"/>
              </a:lnSpc>
              <a:spcBef>
                <a:spcPts val="10"/>
              </a:spcBef>
            </a:pPr>
            <a:r>
              <a:rPr dirty="0" smtClean="0" sz="350" spc="14">
                <a:latin typeface="Comic Sans MS"/>
                <a:cs typeface="Comic Sans MS"/>
              </a:rPr>
              <a:t>el</a:t>
            </a:r>
            <a:r>
              <a:rPr dirty="0" smtClean="0" sz="350" spc="0">
                <a:latin typeface="Comic Sans MS"/>
                <a:cs typeface="Comic Sans MS"/>
              </a:rPr>
              <a:t>f</a:t>
            </a:r>
            <a:r>
              <a:rPr dirty="0" smtClean="0" sz="350" spc="96">
                <a:latin typeface="Comic Sans MS"/>
                <a:cs typeface="Comic Sans MS"/>
              </a:rPr>
              <a:t> </a:t>
            </a:r>
            <a:r>
              <a:rPr dirty="0" smtClean="0" sz="350" spc="14">
                <a:latin typeface="Comic Sans MS"/>
                <a:cs typeface="Comic Sans MS"/>
              </a:rPr>
              <a:t>o</a:t>
            </a:r>
            <a:r>
              <a:rPr dirty="0" smtClean="0" sz="350" spc="0">
                <a:latin typeface="Comic Sans MS"/>
                <a:cs typeface="Comic Sans MS"/>
              </a:rPr>
              <a:t>n</a:t>
            </a:r>
            <a:r>
              <a:rPr dirty="0" smtClean="0" sz="350" spc="89">
                <a:latin typeface="Comic Sans MS"/>
                <a:cs typeface="Comic Sans MS"/>
              </a:rPr>
              <a:t> </a:t>
            </a:r>
            <a:r>
              <a:rPr dirty="0" smtClean="0" sz="350" spc="14">
                <a:latin typeface="Comic Sans MS"/>
                <a:cs typeface="Comic Sans MS"/>
              </a:rPr>
              <a:t>queue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216525" y="2254687"/>
            <a:ext cx="301628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116129"/>
              </a:lnSpc>
              <a:spcBef>
                <a:spcPts val="10"/>
              </a:spcBef>
            </a:pPr>
            <a:r>
              <a:rPr dirty="0" smtClean="0" sz="350" spc="9">
                <a:latin typeface="Comic Sans MS"/>
                <a:cs typeface="Comic Sans MS"/>
              </a:rPr>
              <a:t>Wak</a:t>
            </a:r>
            <a:r>
              <a:rPr dirty="0" smtClean="0" sz="350" spc="0">
                <a:latin typeface="Comic Sans MS"/>
                <a:cs typeface="Comic Sans MS"/>
              </a:rPr>
              <a:t>e</a:t>
            </a:r>
            <a:r>
              <a:rPr dirty="0" smtClean="0" sz="350" spc="0">
                <a:latin typeface="Comic Sans MS"/>
                <a:cs typeface="Comic Sans MS"/>
              </a:rPr>
              <a:t> </a:t>
            </a:r>
            <a:r>
              <a:rPr dirty="0" smtClean="0" sz="350" spc="14">
                <a:latin typeface="Comic Sans MS"/>
                <a:cs typeface="Comic Sans MS"/>
              </a:rPr>
              <a:t> </a:t>
            </a:r>
            <a:r>
              <a:rPr dirty="0" smtClean="0" sz="350" spc="9">
                <a:latin typeface="Comic Sans MS"/>
                <a:cs typeface="Comic Sans MS"/>
              </a:rPr>
              <a:t>u</a:t>
            </a:r>
            <a:r>
              <a:rPr dirty="0" smtClean="0" sz="350" spc="0">
                <a:latin typeface="Comic Sans MS"/>
                <a:cs typeface="Comic Sans MS"/>
              </a:rPr>
              <a:t>p</a:t>
            </a:r>
            <a:r>
              <a:rPr dirty="0" smtClean="0" sz="350" spc="80">
                <a:latin typeface="Comic Sans MS"/>
                <a:cs typeface="Comic Sans MS"/>
              </a:rPr>
              <a:t> </a:t>
            </a:r>
            <a:r>
              <a:rPr dirty="0" smtClean="0" sz="350" spc="9">
                <a:latin typeface="Comic Sans MS"/>
                <a:cs typeface="Comic Sans MS"/>
              </a:rPr>
              <a:t>all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702050" y="2401547"/>
            <a:ext cx="282574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60"/>
              </a:lnSpc>
              <a:spcBef>
                <a:spcPts val="33"/>
              </a:spcBef>
            </a:pPr>
            <a:r>
              <a:rPr dirty="0" smtClean="0" sz="500" spc="14">
                <a:latin typeface="Comic Sans MS"/>
                <a:cs typeface="Comic Sans MS"/>
              </a:rPr>
              <a:t>Monitor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130675" y="2407087"/>
            <a:ext cx="111125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mtClean="0" sz="350" spc="29">
                <a:latin typeface="Comic Sans MS"/>
                <a:cs typeface="Comic Sans MS"/>
              </a:rPr>
              <a:t>0/</a:t>
            </a:r>
            <a:r>
              <a:rPr dirty="0" smtClean="0" sz="350" spc="0">
                <a:latin typeface="Comic Sans MS"/>
                <a:cs typeface="Comic Sans MS"/>
              </a:rPr>
              <a:t>1</a:t>
            </a:r>
            <a:r>
              <a:rPr dirty="0" smtClean="0" sz="350" spc="-75">
                <a:latin typeface="Comic Sans MS"/>
                <a:cs typeface="Comic Sans MS"/>
              </a:rPr>
              <a:t> 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387850" y="2407087"/>
            <a:ext cx="55641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116129"/>
              </a:lnSpc>
              <a:spcBef>
                <a:spcPts val="10"/>
              </a:spcBef>
            </a:pPr>
            <a:r>
              <a:rPr dirty="0" smtClean="0" sz="350" spc="0">
                <a:latin typeface="Comic Sans MS"/>
                <a:cs typeface="Comic Sans MS"/>
              </a:rPr>
              <a:t>Y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654550" y="2407087"/>
            <a:ext cx="492120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116129"/>
              </a:lnSpc>
              <a:spcBef>
                <a:spcPts val="10"/>
              </a:spcBef>
            </a:pPr>
            <a:r>
              <a:rPr dirty="0" smtClean="0" sz="350" spc="9">
                <a:latin typeface="Comic Sans MS"/>
                <a:cs typeface="Comic Sans MS"/>
              </a:rPr>
              <a:t>Cal</a:t>
            </a:r>
            <a:r>
              <a:rPr dirty="0" smtClean="0" sz="350" spc="0">
                <a:latin typeface="Comic Sans MS"/>
                <a:cs typeface="Comic Sans MS"/>
              </a:rPr>
              <a:t>l</a:t>
            </a:r>
            <a:r>
              <a:rPr dirty="0" smtClean="0" sz="350" spc="94">
                <a:latin typeface="Comic Sans MS"/>
                <a:cs typeface="Comic Sans MS"/>
              </a:rPr>
              <a:t> </a:t>
            </a:r>
            <a:r>
              <a:rPr dirty="0" smtClean="0" sz="350" spc="9">
                <a:latin typeface="Comic Sans MS"/>
                <a:cs typeface="Comic Sans MS"/>
              </a:rPr>
              <a:t>pro</a:t>
            </a:r>
            <a:r>
              <a:rPr dirty="0" smtClean="0" sz="350" spc="0">
                <a:latin typeface="Comic Sans MS"/>
                <a:cs typeface="Comic Sans MS"/>
              </a:rPr>
              <a:t>c</a:t>
            </a:r>
            <a:r>
              <a:rPr dirty="0" smtClean="0" sz="350" spc="0">
                <a:latin typeface="Comic Sans MS"/>
                <a:cs typeface="Comic Sans MS"/>
              </a:rPr>
              <a:t> </a:t>
            </a:r>
            <a:r>
              <a:rPr dirty="0" smtClean="0" sz="350" spc="0">
                <a:latin typeface="Comic Sans MS"/>
                <a:cs typeface="Comic Sans MS"/>
              </a:rPr>
              <a:t> </a:t>
            </a:r>
            <a:r>
              <a:rPr dirty="0" smtClean="0" sz="350" spc="9">
                <a:latin typeface="Comic Sans MS"/>
                <a:cs typeface="Comic Sans MS"/>
              </a:rPr>
              <a:t>i</a:t>
            </a:r>
            <a:r>
              <a:rPr dirty="0" smtClean="0" sz="350" spc="0">
                <a:latin typeface="Comic Sans MS"/>
                <a:cs typeface="Comic Sans MS"/>
              </a:rPr>
              <a:t>n</a:t>
            </a:r>
            <a:r>
              <a:rPr dirty="0" smtClean="0" sz="350" spc="73">
                <a:latin typeface="Comic Sans MS"/>
                <a:cs typeface="Comic Sans MS"/>
              </a:rPr>
              <a:t> </a:t>
            </a:r>
            <a:r>
              <a:rPr dirty="0" smtClean="0" sz="350" spc="9">
                <a:latin typeface="Comic Sans MS"/>
                <a:cs typeface="Comic Sans MS"/>
              </a:rPr>
              <a:t>monitor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216525" y="2407087"/>
            <a:ext cx="444491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116129"/>
              </a:lnSpc>
              <a:spcBef>
                <a:spcPts val="10"/>
              </a:spcBef>
            </a:pPr>
            <a:r>
              <a:rPr dirty="0" smtClean="0" sz="350" spc="14">
                <a:latin typeface="Comic Sans MS"/>
                <a:cs typeface="Comic Sans MS"/>
              </a:rPr>
              <a:t>Retur</a:t>
            </a:r>
            <a:r>
              <a:rPr dirty="0" smtClean="0" sz="350" spc="0">
                <a:latin typeface="Comic Sans MS"/>
                <a:cs typeface="Comic Sans MS"/>
              </a:rPr>
              <a:t>n</a:t>
            </a:r>
            <a:r>
              <a:rPr dirty="0" smtClean="0" sz="350" spc="0">
                <a:latin typeface="Comic Sans MS"/>
                <a:cs typeface="Comic Sans MS"/>
              </a:rPr>
              <a:t> </a:t>
            </a:r>
            <a:r>
              <a:rPr dirty="0" smtClean="0" sz="350" spc="32">
                <a:latin typeface="Comic Sans MS"/>
                <a:cs typeface="Comic Sans MS"/>
              </a:rPr>
              <a:t> </a:t>
            </a:r>
            <a:r>
              <a:rPr dirty="0" smtClean="0" sz="350" spc="14">
                <a:latin typeface="Comic Sans MS"/>
                <a:cs typeface="Comic Sans MS"/>
              </a:rPr>
              <a:t>fro</a:t>
            </a:r>
            <a:r>
              <a:rPr dirty="0" smtClean="0" sz="350" spc="0">
                <a:latin typeface="Comic Sans MS"/>
                <a:cs typeface="Comic Sans MS"/>
              </a:rPr>
              <a:t>m</a:t>
            </a:r>
            <a:r>
              <a:rPr dirty="0" smtClean="0" sz="350" spc="0">
                <a:latin typeface="Comic Sans MS"/>
                <a:cs typeface="Comic Sans MS"/>
              </a:rPr>
              <a:t> </a:t>
            </a:r>
            <a:r>
              <a:rPr dirty="0" smtClean="0" sz="350" spc="11">
                <a:latin typeface="Comic Sans MS"/>
                <a:cs typeface="Comic Sans MS"/>
              </a:rPr>
              <a:t> </a:t>
            </a:r>
            <a:r>
              <a:rPr dirty="0" smtClean="0" sz="350" spc="14">
                <a:latin typeface="Comic Sans MS"/>
                <a:cs typeface="Comic Sans MS"/>
              </a:rPr>
              <a:t>proc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702300" y="2407087"/>
            <a:ext cx="92075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116129"/>
              </a:lnSpc>
              <a:spcBef>
                <a:spcPts val="10"/>
              </a:spcBef>
            </a:pPr>
            <a:r>
              <a:rPr dirty="0" smtClean="0" sz="350" spc="14">
                <a:latin typeface="Comic Sans MS"/>
                <a:cs typeface="Comic Sans MS"/>
              </a:rPr>
              <a:t>No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797300" y="3810129"/>
            <a:ext cx="1391295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00"/>
              </a:lnSpc>
              <a:spcBef>
                <a:spcPts val="70"/>
              </a:spcBef>
            </a:pPr>
            <a:r>
              <a:rPr dirty="0" smtClean="0" baseline="1993" sz="1800" spc="-25" u="sng">
                <a:solidFill>
                  <a:srgbClr val="3333CC"/>
                </a:solidFill>
                <a:latin typeface="Comic Sans MS"/>
                <a:cs typeface="Comic Sans MS"/>
              </a:rPr>
              <a:t>Producer/Consumer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902075" y="4139081"/>
            <a:ext cx="1171740" cy="1111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825"/>
              </a:lnSpc>
              <a:spcBef>
                <a:spcPts val="41"/>
              </a:spcBef>
            </a:pPr>
            <a:r>
              <a:rPr dirty="0" smtClean="0" sz="650" spc="9">
                <a:latin typeface="Comic Sans MS"/>
                <a:cs typeface="Comic Sans MS"/>
              </a:rPr>
              <a:t>multipl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16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processes/threads</a:t>
            </a:r>
            <a:endParaRPr sz="650">
              <a:latin typeface="Comic Sans MS"/>
              <a:cs typeface="Comic Sans M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902075" y="4567706"/>
            <a:ext cx="724054" cy="1111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825"/>
              </a:lnSpc>
              <a:spcBef>
                <a:spcPts val="41"/>
              </a:spcBef>
            </a:pPr>
            <a:r>
              <a:rPr dirty="0" smtClean="0" sz="650" spc="14">
                <a:latin typeface="Comic Sans MS"/>
                <a:cs typeface="Comic Sans MS"/>
              </a:rPr>
              <a:t>an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76">
                <a:latin typeface="Comic Sans MS"/>
                <a:cs typeface="Comic Sans MS"/>
              </a:rPr>
              <a:t> </a:t>
            </a:r>
            <a:r>
              <a:rPr dirty="0" smtClean="0" sz="650" spc="14">
                <a:latin typeface="Comic Sans MS"/>
                <a:cs typeface="Comic Sans MS"/>
              </a:rPr>
              <a:t>"consume</a:t>
            </a:r>
            <a:r>
              <a:rPr dirty="0" smtClean="0" sz="650" spc="0">
                <a:latin typeface="Comic Sans MS"/>
                <a:cs typeface="Comic Sans MS"/>
              </a:rPr>
              <a:t>"</a:t>
            </a:r>
            <a:r>
              <a:rPr dirty="0" smtClean="0" sz="650" spc="106">
                <a:latin typeface="Comic Sans MS"/>
                <a:cs typeface="Comic Sans MS"/>
              </a:rPr>
              <a:t> </a:t>
            </a:r>
            <a:r>
              <a:rPr dirty="0" smtClean="0" sz="650" spc="14">
                <a:latin typeface="Comic Sans MS"/>
                <a:cs typeface="Comic Sans MS"/>
              </a:rPr>
              <a:t>it</a:t>
            </a:r>
            <a:endParaRPr sz="650">
              <a:latin typeface="Comic Sans MS"/>
              <a:cs typeface="Comic Sans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930650" y="4794314"/>
            <a:ext cx="1216031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750"/>
              </a:lnSpc>
              <a:spcBef>
                <a:spcPts val="37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Shared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data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=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the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buffer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state</a:t>
            </a:r>
            <a:endParaRPr sz="600">
              <a:latin typeface="Comic Sans MS"/>
              <a:cs typeface="Comic Sans M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930650" y="6955699"/>
            <a:ext cx="892175" cy="825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55"/>
              </a:spcBef>
            </a:pPr>
            <a:r>
              <a:rPr dirty="0" smtClean="0" sz="450" spc="4">
                <a:latin typeface="Courier New"/>
                <a:cs typeface="Courier New"/>
              </a:rPr>
              <a:t>while</a:t>
            </a:r>
            <a:r>
              <a:rPr dirty="0" smtClean="0" sz="450" spc="0">
                <a:latin typeface="Courier New"/>
                <a:cs typeface="Courier New"/>
              </a:rPr>
              <a:t>(</a:t>
            </a:r>
            <a:r>
              <a:rPr dirty="0" smtClean="0" sz="450" spc="-189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allBuffersFull</a:t>
            </a:r>
            <a:r>
              <a:rPr dirty="0" smtClean="0" sz="450" spc="9">
                <a:latin typeface="Courier New"/>
                <a:cs typeface="Courier New"/>
              </a:rPr>
              <a:t>()){</a:t>
            </a:r>
            <a:endParaRPr sz="450">
              <a:latin typeface="Courier New"/>
              <a:cs typeface="Courier New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121275" y="6974749"/>
            <a:ext cx="59689" cy="825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55"/>
              </a:spcBef>
            </a:pPr>
            <a:r>
              <a:rPr dirty="0" smtClean="0" sz="450" spc="0">
                <a:latin typeface="Courier New"/>
                <a:cs typeface="Courier New"/>
              </a:rPr>
              <a:t>}</a:t>
            </a:r>
            <a:endParaRPr sz="450">
              <a:latin typeface="Courier New"/>
              <a:cs typeface="Courier New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930650" y="7127149"/>
            <a:ext cx="59689" cy="825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55"/>
              </a:spcBef>
            </a:pPr>
            <a:r>
              <a:rPr dirty="0" smtClean="0" sz="450" spc="0">
                <a:latin typeface="Courier New"/>
                <a:cs typeface="Courier New"/>
              </a:rPr>
              <a:t>}</a:t>
            </a:r>
            <a:endParaRPr sz="450">
              <a:latin typeface="Courier New"/>
              <a:cs typeface="Courier New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121275" y="7146199"/>
            <a:ext cx="930275" cy="825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55"/>
              </a:spcBef>
            </a:pPr>
            <a:r>
              <a:rPr dirty="0" smtClean="0" sz="450" spc="19">
                <a:latin typeface="Courier New"/>
                <a:cs typeface="Courier New"/>
              </a:rPr>
              <a:t>whic</a:t>
            </a:r>
            <a:r>
              <a:rPr dirty="0" smtClean="0" sz="450" spc="0">
                <a:latin typeface="Courier New"/>
                <a:cs typeface="Courier New"/>
              </a:rPr>
              <a:t>h</a:t>
            </a:r>
            <a:r>
              <a:rPr dirty="0" smtClean="0" sz="450" spc="50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=</a:t>
            </a:r>
            <a:r>
              <a:rPr dirty="0" smtClean="0" sz="450" spc="49">
                <a:latin typeface="Courier New"/>
                <a:cs typeface="Courier New"/>
              </a:rPr>
              <a:t> </a:t>
            </a:r>
            <a:r>
              <a:rPr dirty="0" smtClean="0" sz="450" spc="4">
                <a:latin typeface="Courier New"/>
                <a:cs typeface="Courier New"/>
              </a:rPr>
              <a:t>findFullBuffe</a:t>
            </a:r>
            <a:r>
              <a:rPr dirty="0" smtClean="0" sz="450" spc="0">
                <a:latin typeface="Courier New"/>
                <a:cs typeface="Courier New"/>
              </a:rPr>
              <a:t>r</a:t>
            </a:r>
            <a:r>
              <a:rPr dirty="0" smtClean="0" sz="450" spc="-189">
                <a:latin typeface="Courier New"/>
                <a:cs typeface="Courier New"/>
              </a:rPr>
              <a:t> </a:t>
            </a:r>
            <a:r>
              <a:rPr dirty="0" smtClean="0" sz="450" spc="29">
                <a:latin typeface="Courier New"/>
                <a:cs typeface="Courier New"/>
              </a:rPr>
              <a:t>();</a:t>
            </a:r>
            <a:endParaRPr sz="450">
              <a:latin typeface="Courier New"/>
              <a:cs typeface="Courier New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930650" y="7308124"/>
            <a:ext cx="930275" cy="825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55"/>
              </a:spcBef>
            </a:pPr>
            <a:r>
              <a:rPr dirty="0" smtClean="0" sz="450" spc="19">
                <a:latin typeface="Courier New"/>
                <a:cs typeface="Courier New"/>
              </a:rPr>
              <a:t>whic</a:t>
            </a:r>
            <a:r>
              <a:rPr dirty="0" smtClean="0" sz="450" spc="0">
                <a:latin typeface="Courier New"/>
                <a:cs typeface="Courier New"/>
              </a:rPr>
              <a:t>h</a:t>
            </a:r>
            <a:r>
              <a:rPr dirty="0" smtClean="0" sz="450" spc="50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=</a:t>
            </a:r>
            <a:r>
              <a:rPr dirty="0" smtClean="0" sz="450" spc="49">
                <a:latin typeface="Courier New"/>
                <a:cs typeface="Courier New"/>
              </a:rPr>
              <a:t> </a:t>
            </a:r>
            <a:r>
              <a:rPr dirty="0" smtClean="0" sz="450" spc="4">
                <a:latin typeface="Courier New"/>
                <a:cs typeface="Courier New"/>
              </a:rPr>
              <a:t>findFreeBuffe</a:t>
            </a:r>
            <a:r>
              <a:rPr dirty="0" smtClean="0" sz="450" spc="0">
                <a:latin typeface="Courier New"/>
                <a:cs typeface="Courier New"/>
              </a:rPr>
              <a:t>r</a:t>
            </a:r>
            <a:r>
              <a:rPr dirty="0" smtClean="0" sz="450" spc="-189">
                <a:latin typeface="Courier New"/>
                <a:cs typeface="Courier New"/>
              </a:rPr>
              <a:t> </a:t>
            </a:r>
            <a:r>
              <a:rPr dirty="0" smtClean="0" sz="450" spc="29">
                <a:latin typeface="Courier New"/>
                <a:cs typeface="Courier New"/>
              </a:rPr>
              <a:t>();</a:t>
            </a:r>
            <a:endParaRPr sz="45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121275" y="7317649"/>
            <a:ext cx="711206" cy="825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55"/>
              </a:spcBef>
            </a:pPr>
            <a:r>
              <a:rPr dirty="0" smtClean="0" sz="450" spc="29">
                <a:latin typeface="Courier New"/>
                <a:cs typeface="Courier New"/>
              </a:rPr>
              <a:t>whic</a:t>
            </a:r>
            <a:r>
              <a:rPr dirty="0" smtClean="0" sz="450" spc="-44">
                <a:latin typeface="Courier New"/>
                <a:cs typeface="Courier New"/>
              </a:rPr>
              <a:t>h</a:t>
            </a:r>
            <a:r>
              <a:rPr dirty="0" smtClean="0" sz="450" spc="29">
                <a:latin typeface="Courier New"/>
                <a:cs typeface="Courier New"/>
              </a:rPr>
              <a:t>-</a:t>
            </a:r>
            <a:r>
              <a:rPr dirty="0" smtClean="0" sz="450" spc="9">
                <a:latin typeface="Courier New"/>
                <a:cs typeface="Courier New"/>
              </a:rPr>
              <a:t>&gt;fre</a:t>
            </a:r>
            <a:r>
              <a:rPr dirty="0" smtClean="0" sz="450" spc="0">
                <a:latin typeface="Courier New"/>
                <a:cs typeface="Courier New"/>
              </a:rPr>
              <a:t>e</a:t>
            </a:r>
            <a:r>
              <a:rPr dirty="0" smtClean="0" sz="450" spc="39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=</a:t>
            </a:r>
            <a:r>
              <a:rPr dirty="0" smtClean="0" sz="450" spc="39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TRUE;</a:t>
            </a:r>
            <a:endParaRPr sz="45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702425" y="8934579"/>
            <a:ext cx="116839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00"/>
              </a:lnSpc>
              <a:spcBef>
                <a:spcPts val="70"/>
              </a:spcBef>
            </a:pPr>
            <a:r>
              <a:rPr dirty="0" smtClean="0" baseline="1993" sz="1800" spc="0">
                <a:latin typeface="Comic Sans MS"/>
                <a:cs typeface="Comic Sans MS"/>
              </a:rPr>
              <a:t>1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629025" y="6219825"/>
            <a:ext cx="2676525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0975" marR="428467">
              <a:lnSpc>
                <a:spcPts val="1430"/>
              </a:lnSpc>
              <a:spcBef>
                <a:spcPts val="501"/>
              </a:spcBef>
            </a:pP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Monitor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Solution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Bounded</a:t>
            </a:r>
            <a:r>
              <a:rPr dirty="0" smtClean="0" sz="1200" spc="0" u="sng">
                <a:solidFill>
                  <a:srgbClr val="3333CC"/>
                </a:solidFill>
                <a:latin typeface="Comic Sans MS"/>
                <a:cs typeface="Comic Sans MS"/>
              </a:rPr>
              <a:t>-</a:t>
            </a:r>
            <a:r>
              <a:rPr dirty="0" smtClean="0" sz="1200" spc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Buffer</a:t>
            </a:r>
            <a:endParaRPr sz="1200">
              <a:latin typeface="Comic Sans MS"/>
              <a:cs typeface="Comic Sans MS"/>
            </a:endParaRPr>
          </a:p>
          <a:p>
            <a:pPr marL="209550">
              <a:lnSpc>
                <a:spcPts val="509"/>
              </a:lnSpc>
              <a:spcBef>
                <a:spcPts val="467"/>
              </a:spcBef>
            </a:pPr>
            <a:r>
              <a:rPr dirty="0" smtClean="0" sz="450" spc="14">
                <a:latin typeface="Courier New"/>
                <a:cs typeface="Courier New"/>
              </a:rPr>
              <a:t>//monito</a:t>
            </a:r>
            <a:r>
              <a:rPr dirty="0" smtClean="0" sz="450" spc="0">
                <a:latin typeface="Courier New"/>
                <a:cs typeface="Courier New"/>
              </a:rPr>
              <a:t>r</a:t>
            </a:r>
            <a:r>
              <a:rPr dirty="0" smtClean="0" sz="450" spc="44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boundedBuffe</a:t>
            </a:r>
            <a:r>
              <a:rPr dirty="0" smtClean="0" sz="450" spc="0">
                <a:latin typeface="Courier New"/>
                <a:cs typeface="Courier New"/>
              </a:rPr>
              <a:t>r</a:t>
            </a:r>
            <a:r>
              <a:rPr dirty="0" smtClean="0" sz="450" spc="44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con</a:t>
            </a:r>
            <a:r>
              <a:rPr dirty="0" smtClean="0" sz="450" spc="0">
                <a:latin typeface="Courier New"/>
                <a:cs typeface="Courier New"/>
              </a:rPr>
              <a:t>t</a:t>
            </a:r>
            <a:r>
              <a:rPr dirty="0" smtClean="0" sz="450" spc="0">
                <a:latin typeface="Courier New"/>
                <a:cs typeface="Courier New"/>
              </a:rPr>
              <a:t>    </a:t>
            </a:r>
            <a:r>
              <a:rPr dirty="0" smtClean="0" sz="450" spc="84">
                <a:latin typeface="Courier New"/>
                <a:cs typeface="Courier New"/>
              </a:rPr>
              <a:t> </a:t>
            </a:r>
            <a:r>
              <a:rPr dirty="0" smtClean="0" baseline="-19616" sz="675" spc="19">
                <a:latin typeface="Courier New"/>
                <a:cs typeface="Courier New"/>
              </a:rPr>
              <a:t>voi</a:t>
            </a:r>
            <a:r>
              <a:rPr dirty="0" smtClean="0" baseline="-19616" sz="675" spc="0">
                <a:latin typeface="Courier New"/>
                <a:cs typeface="Courier New"/>
              </a:rPr>
              <a:t>d</a:t>
            </a:r>
            <a:r>
              <a:rPr dirty="0" smtClean="0" baseline="-19616" sz="675" spc="14">
                <a:latin typeface="Courier New"/>
                <a:cs typeface="Courier New"/>
              </a:rPr>
              <a:t> </a:t>
            </a:r>
            <a:r>
              <a:rPr dirty="0" smtClean="0" baseline="-19616" sz="675" spc="19">
                <a:latin typeface="Courier New"/>
                <a:cs typeface="Courier New"/>
              </a:rPr>
              <a:t>consume</a:t>
            </a:r>
            <a:r>
              <a:rPr dirty="0" smtClean="0" baseline="-19616" sz="675" spc="0">
                <a:latin typeface="Courier New"/>
                <a:cs typeface="Courier New"/>
              </a:rPr>
              <a:t>r</a:t>
            </a:r>
            <a:r>
              <a:rPr dirty="0" smtClean="0" baseline="-19616" sz="675" spc="14">
                <a:latin typeface="Courier New"/>
                <a:cs typeface="Courier New"/>
              </a:rPr>
              <a:t> </a:t>
            </a:r>
            <a:r>
              <a:rPr dirty="0" smtClean="0" baseline="-19616" sz="675" spc="19">
                <a:latin typeface="Courier New"/>
                <a:cs typeface="Courier New"/>
              </a:rPr>
              <a:t>(){</a:t>
            </a:r>
            <a:endParaRPr sz="450">
              <a:latin typeface="Courier New"/>
              <a:cs typeface="Courier New"/>
            </a:endParaRPr>
          </a:p>
          <a:p>
            <a:pPr marL="1504950">
              <a:lnSpc>
                <a:spcPct val="94401"/>
              </a:lnSpc>
              <a:spcBef>
                <a:spcPts val="315"/>
              </a:spcBef>
            </a:pPr>
            <a:r>
              <a:rPr dirty="0" smtClean="0" sz="450" spc="4">
                <a:latin typeface="Courier New"/>
                <a:cs typeface="Courier New"/>
              </a:rPr>
              <a:t>while</a:t>
            </a:r>
            <a:r>
              <a:rPr dirty="0" smtClean="0" sz="450" spc="0">
                <a:latin typeface="Courier New"/>
                <a:cs typeface="Courier New"/>
              </a:rPr>
              <a:t>(</a:t>
            </a:r>
            <a:r>
              <a:rPr dirty="0" smtClean="0" sz="450" spc="-189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allBuffersEmpt</a:t>
            </a:r>
            <a:r>
              <a:rPr dirty="0" smtClean="0" sz="450" spc="-59">
                <a:latin typeface="Courier New"/>
                <a:cs typeface="Courier New"/>
              </a:rPr>
              <a:t>y</a:t>
            </a:r>
            <a:r>
              <a:rPr dirty="0" smtClean="0" sz="450" spc="29">
                <a:latin typeface="Courier New"/>
                <a:cs typeface="Courier New"/>
              </a:rPr>
              <a:t>()){</a:t>
            </a:r>
            <a:endParaRPr sz="450">
              <a:latin typeface="Courier New"/>
              <a:cs typeface="Courier New"/>
            </a:endParaRPr>
          </a:p>
          <a:p>
            <a:pPr marL="209550">
              <a:lnSpc>
                <a:spcPts val="659"/>
              </a:lnSpc>
              <a:spcBef>
                <a:spcPts val="15"/>
              </a:spcBef>
            </a:pPr>
            <a:r>
              <a:rPr dirty="0" smtClean="0" baseline="19616" sz="675" spc="19">
                <a:latin typeface="Courier New"/>
                <a:cs typeface="Courier New"/>
              </a:rPr>
              <a:t>voi</a:t>
            </a:r>
            <a:r>
              <a:rPr dirty="0" smtClean="0" baseline="19616" sz="675" spc="0">
                <a:latin typeface="Courier New"/>
                <a:cs typeface="Courier New"/>
              </a:rPr>
              <a:t>d</a:t>
            </a:r>
            <a:r>
              <a:rPr dirty="0" smtClean="0" baseline="19616" sz="675" spc="14">
                <a:latin typeface="Courier New"/>
                <a:cs typeface="Courier New"/>
              </a:rPr>
              <a:t> </a:t>
            </a:r>
            <a:r>
              <a:rPr dirty="0" smtClean="0" baseline="19616" sz="675" spc="19">
                <a:latin typeface="Courier New"/>
                <a:cs typeface="Courier New"/>
              </a:rPr>
              <a:t>produce</a:t>
            </a:r>
            <a:r>
              <a:rPr dirty="0" smtClean="0" baseline="19616" sz="675" spc="0">
                <a:latin typeface="Courier New"/>
                <a:cs typeface="Courier New"/>
              </a:rPr>
              <a:t>r</a:t>
            </a:r>
            <a:r>
              <a:rPr dirty="0" smtClean="0" baseline="19616" sz="675" spc="14">
                <a:latin typeface="Courier New"/>
                <a:cs typeface="Courier New"/>
              </a:rPr>
              <a:t> </a:t>
            </a:r>
            <a:r>
              <a:rPr dirty="0" smtClean="0" baseline="19616" sz="675" spc="19">
                <a:latin typeface="Courier New"/>
                <a:cs typeface="Courier New"/>
              </a:rPr>
              <a:t>()</a:t>
            </a:r>
            <a:r>
              <a:rPr dirty="0" smtClean="0" baseline="19616" sz="675" spc="0">
                <a:latin typeface="Courier New"/>
                <a:cs typeface="Courier New"/>
              </a:rPr>
              <a:t>{</a:t>
            </a:r>
            <a:r>
              <a:rPr dirty="0" smtClean="0" baseline="19616" sz="675" spc="0">
                <a:latin typeface="Courier New"/>
                <a:cs typeface="Courier New"/>
              </a:rPr>
              <a:t>                      </a:t>
            </a:r>
            <a:r>
              <a:rPr dirty="0" smtClean="0" baseline="19616" sz="675" spc="34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wait(</a:t>
            </a:r>
            <a:r>
              <a:rPr dirty="0" smtClean="0" sz="450" spc="9">
                <a:latin typeface="Courier New"/>
                <a:cs typeface="Courier New"/>
              </a:rPr>
              <a:t>notAllEmpty</a:t>
            </a:r>
            <a:r>
              <a:rPr dirty="0" smtClean="0" sz="450" spc="0">
                <a:latin typeface="Courier New"/>
                <a:cs typeface="Courier New"/>
              </a:rPr>
              <a:t>)</a:t>
            </a:r>
            <a:endParaRPr sz="450">
              <a:latin typeface="Courier New"/>
              <a:cs typeface="Courier New"/>
            </a:endParaRPr>
          </a:p>
          <a:p>
            <a:pPr marL="411638" marR="1663223" algn="ctr">
              <a:lnSpc>
                <a:spcPct val="94401"/>
              </a:lnSpc>
              <a:spcBef>
                <a:spcPts val="690"/>
              </a:spcBef>
            </a:pPr>
            <a:r>
              <a:rPr dirty="0" smtClean="0" sz="450" spc="14">
                <a:latin typeface="Courier New"/>
                <a:cs typeface="Courier New"/>
              </a:rPr>
              <a:t>wait(</a:t>
            </a:r>
            <a:r>
              <a:rPr dirty="0" smtClean="0" sz="450" spc="0">
                <a:latin typeface="Courier New"/>
                <a:cs typeface="Courier New"/>
              </a:rPr>
              <a:t>notAllFull</a:t>
            </a:r>
            <a:r>
              <a:rPr dirty="0" smtClean="0" sz="450" spc="-194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)</a:t>
            </a:r>
            <a:endParaRPr sz="450">
              <a:latin typeface="Courier New"/>
              <a:cs typeface="Courier New"/>
            </a:endParaRPr>
          </a:p>
          <a:p>
            <a:pPr marL="1504950">
              <a:lnSpc>
                <a:spcPct val="94401"/>
              </a:lnSpc>
              <a:spcBef>
                <a:spcPts val="990"/>
              </a:spcBef>
            </a:pPr>
            <a:r>
              <a:rPr dirty="0" smtClean="0" sz="450" spc="14">
                <a:latin typeface="Courier New"/>
                <a:cs typeface="Courier New"/>
              </a:rPr>
              <a:t>consumeItem</a:t>
            </a:r>
            <a:r>
              <a:rPr dirty="0" smtClean="0" sz="450" spc="19">
                <a:latin typeface="Courier New"/>
                <a:cs typeface="Courier New"/>
              </a:rPr>
              <a:t>(whic</a:t>
            </a:r>
            <a:r>
              <a:rPr dirty="0" smtClean="0" sz="450" spc="-59">
                <a:latin typeface="Courier New"/>
                <a:cs typeface="Courier New"/>
              </a:rPr>
              <a:t>h</a:t>
            </a:r>
            <a:r>
              <a:rPr dirty="0" smtClean="0" sz="450" spc="29">
                <a:latin typeface="Courier New"/>
                <a:cs typeface="Courier New"/>
              </a:rPr>
              <a:t>-</a:t>
            </a:r>
            <a:r>
              <a:rPr dirty="0" smtClean="0" sz="450" spc="19">
                <a:latin typeface="Courier New"/>
                <a:cs typeface="Courier New"/>
              </a:rPr>
              <a:t>&gt;item);</a:t>
            </a:r>
            <a:endParaRPr sz="450">
              <a:latin typeface="Courier New"/>
              <a:cs typeface="Courier New"/>
            </a:endParaRPr>
          </a:p>
          <a:p>
            <a:pPr marL="314325">
              <a:lnSpc>
                <a:spcPts val="559"/>
              </a:lnSpc>
              <a:spcBef>
                <a:spcPts val="790"/>
              </a:spcBef>
            </a:pPr>
            <a:r>
              <a:rPr dirty="0" smtClean="0" baseline="6538" sz="675" spc="29">
                <a:latin typeface="Courier New"/>
                <a:cs typeface="Courier New"/>
              </a:rPr>
              <a:t>whic</a:t>
            </a:r>
            <a:r>
              <a:rPr dirty="0" smtClean="0" baseline="6538" sz="675" spc="-44">
                <a:latin typeface="Courier New"/>
                <a:cs typeface="Courier New"/>
              </a:rPr>
              <a:t>h</a:t>
            </a:r>
            <a:r>
              <a:rPr dirty="0" smtClean="0" baseline="6538" sz="675" spc="29">
                <a:latin typeface="Courier New"/>
                <a:cs typeface="Courier New"/>
              </a:rPr>
              <a:t>-</a:t>
            </a:r>
            <a:r>
              <a:rPr dirty="0" smtClean="0" baseline="6538" sz="675" spc="9">
                <a:latin typeface="Courier New"/>
                <a:cs typeface="Courier New"/>
              </a:rPr>
              <a:t>&gt;fre</a:t>
            </a:r>
            <a:r>
              <a:rPr dirty="0" smtClean="0" baseline="6538" sz="675" spc="0">
                <a:latin typeface="Courier New"/>
                <a:cs typeface="Courier New"/>
              </a:rPr>
              <a:t>e</a:t>
            </a:r>
            <a:r>
              <a:rPr dirty="0" smtClean="0" baseline="6538" sz="675" spc="39">
                <a:latin typeface="Courier New"/>
                <a:cs typeface="Courier New"/>
              </a:rPr>
              <a:t> </a:t>
            </a:r>
            <a:r>
              <a:rPr dirty="0" smtClean="0" baseline="6538" sz="675" spc="0">
                <a:latin typeface="Courier New"/>
                <a:cs typeface="Courier New"/>
              </a:rPr>
              <a:t>=</a:t>
            </a:r>
            <a:r>
              <a:rPr dirty="0" smtClean="0" baseline="6538" sz="675" spc="39">
                <a:latin typeface="Courier New"/>
                <a:cs typeface="Courier New"/>
              </a:rPr>
              <a:t> </a:t>
            </a:r>
            <a:r>
              <a:rPr dirty="0" smtClean="0" baseline="6538" sz="675" spc="9">
                <a:latin typeface="Courier New"/>
                <a:cs typeface="Courier New"/>
              </a:rPr>
              <a:t>FALSE</a:t>
            </a:r>
            <a:r>
              <a:rPr dirty="0" smtClean="0" baseline="6538" sz="675" spc="0">
                <a:latin typeface="Courier New"/>
                <a:cs typeface="Courier New"/>
              </a:rPr>
              <a:t>;</a:t>
            </a:r>
            <a:r>
              <a:rPr dirty="0" smtClean="0" baseline="6538" sz="675" spc="0">
                <a:latin typeface="Courier New"/>
                <a:cs typeface="Courier New"/>
              </a:rPr>
              <a:t>            </a:t>
            </a:r>
            <a:r>
              <a:rPr dirty="0" smtClean="0" baseline="6538" sz="675" spc="175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numFull</a:t>
            </a:r>
            <a:r>
              <a:rPr dirty="0" smtClean="0" sz="450" spc="29">
                <a:latin typeface="Courier New"/>
                <a:cs typeface="Courier New"/>
              </a:rPr>
              <a:t>-</a:t>
            </a:r>
            <a:r>
              <a:rPr dirty="0" smtClean="0" sz="450" spc="-44">
                <a:latin typeface="Courier New"/>
                <a:cs typeface="Courier New"/>
              </a:rPr>
              <a:t>-</a:t>
            </a:r>
            <a:r>
              <a:rPr dirty="0" smtClean="0" sz="450" spc="0">
                <a:latin typeface="Courier New"/>
                <a:cs typeface="Courier New"/>
              </a:rPr>
              <a:t>;</a:t>
            </a:r>
            <a:endParaRPr sz="450">
              <a:latin typeface="Courier New"/>
              <a:cs typeface="Courier New"/>
            </a:endParaRPr>
          </a:p>
          <a:p>
            <a:pPr marL="314325">
              <a:lnSpc>
                <a:spcPct val="94401"/>
              </a:lnSpc>
              <a:spcBef>
                <a:spcPts val="90"/>
              </a:spcBef>
            </a:pPr>
            <a:r>
              <a:rPr dirty="0" smtClean="0" sz="450" spc="29">
                <a:latin typeface="Courier New"/>
                <a:cs typeface="Courier New"/>
              </a:rPr>
              <a:t>whic</a:t>
            </a:r>
            <a:r>
              <a:rPr dirty="0" smtClean="0" sz="450" spc="-44">
                <a:latin typeface="Courier New"/>
                <a:cs typeface="Courier New"/>
              </a:rPr>
              <a:t>h</a:t>
            </a:r>
            <a:r>
              <a:rPr dirty="0" smtClean="0" sz="450" spc="29">
                <a:latin typeface="Courier New"/>
                <a:cs typeface="Courier New"/>
              </a:rPr>
              <a:t>-</a:t>
            </a:r>
            <a:r>
              <a:rPr dirty="0" smtClean="0" sz="450" spc="4">
                <a:latin typeface="Courier New"/>
                <a:cs typeface="Courier New"/>
              </a:rPr>
              <a:t>&gt;ite</a:t>
            </a:r>
            <a:r>
              <a:rPr dirty="0" smtClean="0" sz="450" spc="0">
                <a:latin typeface="Courier New"/>
                <a:cs typeface="Courier New"/>
              </a:rPr>
              <a:t>m</a:t>
            </a:r>
            <a:r>
              <a:rPr dirty="0" smtClean="0" sz="450" spc="0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=</a:t>
            </a:r>
            <a:r>
              <a:rPr dirty="0" smtClean="0" sz="450" spc="75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produceIte</a:t>
            </a:r>
            <a:r>
              <a:rPr dirty="0" smtClean="0" sz="450" spc="-59">
                <a:latin typeface="Courier New"/>
                <a:cs typeface="Courier New"/>
              </a:rPr>
              <a:t>m</a:t>
            </a:r>
            <a:r>
              <a:rPr dirty="0" smtClean="0" sz="450" spc="29">
                <a:latin typeface="Courier New"/>
                <a:cs typeface="Courier New"/>
              </a:rPr>
              <a:t>();</a:t>
            </a:r>
            <a:endParaRPr sz="450">
              <a:latin typeface="Courier New"/>
              <a:cs typeface="Courier New"/>
            </a:endParaRPr>
          </a:p>
          <a:p>
            <a:pPr marL="314325">
              <a:lnSpc>
                <a:spcPts val="559"/>
              </a:lnSpc>
              <a:spcBef>
                <a:spcPts val="190"/>
              </a:spcBef>
            </a:pPr>
            <a:r>
              <a:rPr dirty="0" smtClean="0" baseline="6538" sz="675" spc="19">
                <a:latin typeface="Courier New"/>
                <a:cs typeface="Courier New"/>
              </a:rPr>
              <a:t>numFull</a:t>
            </a:r>
            <a:r>
              <a:rPr dirty="0" smtClean="0" baseline="6538" sz="675" spc="29">
                <a:latin typeface="Courier New"/>
                <a:cs typeface="Courier New"/>
              </a:rPr>
              <a:t>+</a:t>
            </a:r>
            <a:r>
              <a:rPr dirty="0" smtClean="0" baseline="6538" sz="675" spc="0">
                <a:latin typeface="Courier New"/>
                <a:cs typeface="Courier New"/>
              </a:rPr>
              <a:t>+</a:t>
            </a:r>
            <a:r>
              <a:rPr dirty="0" smtClean="0" baseline="6538" sz="675" spc="0">
                <a:latin typeface="Courier New"/>
                <a:cs typeface="Courier New"/>
              </a:rPr>
              <a:t>                        </a:t>
            </a:r>
            <a:r>
              <a:rPr dirty="0" smtClean="0" baseline="6538" sz="675" spc="29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signal(</a:t>
            </a:r>
            <a:r>
              <a:rPr dirty="0" smtClean="0" sz="450" spc="14">
                <a:latin typeface="Courier New"/>
                <a:cs typeface="Courier New"/>
              </a:rPr>
              <a:t>notAllFul</a:t>
            </a:r>
            <a:r>
              <a:rPr dirty="0" smtClean="0" sz="450" spc="-59">
                <a:latin typeface="Courier New"/>
                <a:cs typeface="Courier New"/>
              </a:rPr>
              <a:t>l</a:t>
            </a:r>
            <a:r>
              <a:rPr dirty="0" smtClean="0" sz="450" spc="29">
                <a:latin typeface="Courier New"/>
                <a:cs typeface="Courier New"/>
              </a:rPr>
              <a:t>);</a:t>
            </a:r>
            <a:endParaRPr sz="450">
              <a:latin typeface="Courier New"/>
              <a:cs typeface="Courier New"/>
            </a:endParaRPr>
          </a:p>
          <a:p>
            <a:pPr marL="1487394" marR="1119729" algn="ctr">
              <a:lnSpc>
                <a:spcPct val="94401"/>
              </a:lnSpc>
              <a:spcBef>
                <a:spcPts val="165"/>
              </a:spcBef>
            </a:pPr>
            <a:r>
              <a:rPr dirty="0" smtClean="0" sz="450" spc="0">
                <a:latin typeface="Courier New"/>
                <a:cs typeface="Courier New"/>
              </a:rPr>
              <a:t>}</a:t>
            </a:r>
            <a:endParaRPr sz="450">
              <a:latin typeface="Courier New"/>
              <a:cs typeface="Courier New"/>
            </a:endParaRPr>
          </a:p>
          <a:p>
            <a:pPr marL="314325">
              <a:lnSpc>
                <a:spcPct val="94401"/>
              </a:lnSpc>
              <a:spcBef>
                <a:spcPts val="90"/>
              </a:spcBef>
            </a:pPr>
            <a:r>
              <a:rPr dirty="0" smtClean="0" sz="450" spc="19">
                <a:latin typeface="Courier New"/>
                <a:cs typeface="Courier New"/>
              </a:rPr>
              <a:t>signal(</a:t>
            </a:r>
            <a:r>
              <a:rPr dirty="0" smtClean="0" sz="450" spc="4">
                <a:latin typeface="Courier New"/>
                <a:cs typeface="Courier New"/>
              </a:rPr>
              <a:t>notAllEmpt</a:t>
            </a:r>
            <a:r>
              <a:rPr dirty="0" smtClean="0" sz="450" spc="0">
                <a:latin typeface="Courier New"/>
                <a:cs typeface="Courier New"/>
              </a:rPr>
              <a:t>y</a:t>
            </a:r>
            <a:r>
              <a:rPr dirty="0" smtClean="0" sz="450" spc="-189">
                <a:latin typeface="Courier New"/>
                <a:cs typeface="Courier New"/>
              </a:rPr>
              <a:t> </a:t>
            </a:r>
            <a:r>
              <a:rPr dirty="0" smtClean="0" sz="450" spc="29">
                <a:latin typeface="Courier New"/>
                <a:cs typeface="Courier New"/>
              </a:rPr>
              <a:t>);</a:t>
            </a:r>
            <a:endParaRPr sz="450">
              <a:latin typeface="Courier New"/>
              <a:cs typeface="Courier New"/>
            </a:endParaRPr>
          </a:p>
          <a:p>
            <a:pPr marL="247650">
              <a:lnSpc>
                <a:spcPts val="559"/>
              </a:lnSpc>
              <a:spcBef>
                <a:spcPts val="190"/>
              </a:spcBef>
            </a:pPr>
            <a:r>
              <a:rPr dirty="0" smtClean="0" baseline="6538" sz="675" spc="0">
                <a:latin typeface="Courier New"/>
                <a:cs typeface="Courier New"/>
              </a:rPr>
              <a:t>}</a:t>
            </a:r>
            <a:r>
              <a:rPr dirty="0" smtClean="0" baseline="6538" sz="675" spc="0">
                <a:latin typeface="Courier New"/>
                <a:cs typeface="Courier New"/>
              </a:rPr>
              <a:t>                               </a:t>
            </a:r>
            <a:r>
              <a:rPr dirty="0" smtClean="0" baseline="6538" sz="675" spc="164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}</a:t>
            </a:r>
            <a:r>
              <a:rPr dirty="0" smtClean="0" sz="450" spc="44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//en</a:t>
            </a:r>
            <a:r>
              <a:rPr dirty="0" smtClean="0" sz="450" spc="0">
                <a:latin typeface="Courier New"/>
                <a:cs typeface="Courier New"/>
              </a:rPr>
              <a:t>d</a:t>
            </a:r>
            <a:r>
              <a:rPr dirty="0" smtClean="0" sz="450" spc="44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Monitor</a:t>
            </a:r>
            <a:endParaRPr sz="450">
              <a:latin typeface="Courier New"/>
              <a:cs typeface="Courier New"/>
            </a:endParaRPr>
          </a:p>
          <a:p>
            <a:pPr marR="109537" algn="r">
              <a:lnSpc>
                <a:spcPct val="95825"/>
              </a:lnSpc>
              <a:spcBef>
                <a:spcPts val="1788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0">
                <a:latin typeface="Times New Roman"/>
                <a:cs typeface="Times New Roman"/>
              </a:rPr>
              <a:t>6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33400" y="6219825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0975" marR="437992">
              <a:lnSpc>
                <a:spcPts val="1430"/>
              </a:lnSpc>
              <a:spcBef>
                <a:spcPts val="501"/>
              </a:spcBef>
            </a:pP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Monitor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Solution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Bounded</a:t>
            </a:r>
            <a:r>
              <a:rPr dirty="0" smtClean="0" sz="1200" spc="0" u="sng">
                <a:solidFill>
                  <a:srgbClr val="3333CC"/>
                </a:solidFill>
                <a:latin typeface="Comic Sans MS"/>
                <a:cs typeface="Comic Sans MS"/>
              </a:rPr>
              <a:t>-</a:t>
            </a:r>
            <a:r>
              <a:rPr dirty="0" smtClean="0" sz="1200" spc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Buffer</a:t>
            </a:r>
            <a:endParaRPr sz="1200">
              <a:latin typeface="Comic Sans MS"/>
              <a:cs typeface="Comic Sans MS"/>
            </a:endParaRPr>
          </a:p>
          <a:p>
            <a:pPr marL="180975">
              <a:lnSpc>
                <a:spcPct val="94401"/>
              </a:lnSpc>
              <a:spcBef>
                <a:spcPts val="501"/>
              </a:spcBef>
            </a:pPr>
            <a:r>
              <a:rPr dirty="0" smtClean="0" sz="500" spc="-9">
                <a:latin typeface="Courier New"/>
                <a:cs typeface="Courier New"/>
              </a:rPr>
              <a:t>container_</a:t>
            </a:r>
            <a:r>
              <a:rPr dirty="0" smtClean="0" sz="500" spc="0">
                <a:latin typeface="Courier New"/>
                <a:cs typeface="Courier New"/>
              </a:rPr>
              <a:t>t</a:t>
            </a:r>
            <a:r>
              <a:rPr dirty="0" smtClean="0" sz="500" spc="154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285750">
              <a:lnSpc>
                <a:spcPct val="94401"/>
              </a:lnSpc>
              <a:spcBef>
                <a:spcPts val="180"/>
              </a:spcBef>
            </a:pPr>
            <a:r>
              <a:rPr dirty="0" smtClean="0" sz="500" spc="-4">
                <a:latin typeface="Courier New"/>
                <a:cs typeface="Courier New"/>
              </a:rPr>
              <a:t>BOO</a:t>
            </a:r>
            <a:r>
              <a:rPr dirty="0" smtClean="0" sz="500" spc="0">
                <a:latin typeface="Courier New"/>
                <a:cs typeface="Courier New"/>
              </a:rPr>
              <a:t>L</a:t>
            </a:r>
            <a:r>
              <a:rPr dirty="0" smtClean="0" sz="500" spc="54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fre</a:t>
            </a:r>
            <a:r>
              <a:rPr dirty="0" smtClean="0" sz="500" spc="0">
                <a:latin typeface="Courier New"/>
                <a:cs typeface="Courier New"/>
              </a:rPr>
              <a:t>e</a:t>
            </a:r>
            <a:r>
              <a:rPr dirty="0" smtClean="0" sz="500" spc="54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=</a:t>
            </a:r>
            <a:r>
              <a:rPr dirty="0" smtClean="0" sz="500" spc="9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TRUE;</a:t>
            </a:r>
            <a:endParaRPr sz="500">
              <a:latin typeface="Courier New"/>
              <a:cs typeface="Courier New"/>
            </a:endParaRPr>
          </a:p>
          <a:p>
            <a:pPr marL="285750">
              <a:lnSpc>
                <a:spcPct val="94401"/>
              </a:lnSpc>
              <a:spcBef>
                <a:spcPts val="254"/>
              </a:spcBef>
            </a:pPr>
            <a:r>
              <a:rPr dirty="0" smtClean="0" sz="500" spc="0">
                <a:latin typeface="Courier New"/>
                <a:cs typeface="Courier New"/>
              </a:rPr>
              <a:t>item_t</a:t>
            </a:r>
            <a:r>
              <a:rPr dirty="0" smtClean="0" sz="500" spc="0">
                <a:latin typeface="Courier New"/>
                <a:cs typeface="Courier New"/>
              </a:rPr>
              <a:t>  </a:t>
            </a:r>
            <a:r>
              <a:rPr dirty="0" smtClean="0" sz="500" spc="164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item;</a:t>
            </a:r>
            <a:endParaRPr sz="500">
              <a:latin typeface="Courier New"/>
              <a:cs typeface="Courier New"/>
            </a:endParaRPr>
          </a:p>
          <a:p>
            <a:pPr marL="180975">
              <a:lnSpc>
                <a:spcPct val="94401"/>
              </a:lnSpc>
              <a:spcBef>
                <a:spcPts val="180"/>
              </a:spcBef>
            </a:pPr>
            <a:r>
              <a:rPr dirty="0" smtClean="0" sz="500" spc="0"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 marL="285750" marR="1151259" indent="-104775">
              <a:lnSpc>
                <a:spcPts val="566"/>
              </a:lnSpc>
              <a:spcBef>
                <a:spcPts val="180"/>
              </a:spcBef>
            </a:pPr>
            <a:r>
              <a:rPr dirty="0" smtClean="0" sz="500" spc="-14">
                <a:latin typeface="Courier New"/>
                <a:cs typeface="Courier New"/>
              </a:rPr>
              <a:t>monito</a:t>
            </a:r>
            <a:r>
              <a:rPr dirty="0" smtClean="0" sz="500" spc="0">
                <a:latin typeface="Courier New"/>
                <a:cs typeface="Courier New"/>
              </a:rPr>
              <a:t>r</a:t>
            </a:r>
            <a:r>
              <a:rPr dirty="0" smtClean="0" sz="500" spc="164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boundedBuffe</a:t>
            </a:r>
            <a:r>
              <a:rPr dirty="0" smtClean="0" sz="500" spc="0">
                <a:latin typeface="Courier New"/>
                <a:cs typeface="Courier New"/>
              </a:rPr>
              <a:t>r</a:t>
            </a:r>
            <a:r>
              <a:rPr dirty="0" smtClean="0" sz="500" spc="18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{</a:t>
            </a:r>
            <a:r>
              <a:rPr dirty="0" smtClean="0" sz="500" spc="0">
                <a:latin typeface="Courier New"/>
                <a:cs typeface="Courier New"/>
              </a:rPr>
              <a:t> </a:t>
            </a:r>
            <a:endParaRPr sz="500">
              <a:latin typeface="Courier New"/>
              <a:cs typeface="Courier New"/>
            </a:endParaRPr>
          </a:p>
          <a:p>
            <a:pPr marL="285750" marR="1151259">
              <a:lnSpc>
                <a:spcPts val="566"/>
              </a:lnSpc>
              <a:spcBef>
                <a:spcPts val="202"/>
              </a:spcBef>
            </a:pPr>
            <a:r>
              <a:rPr dirty="0" smtClean="0" sz="500" spc="-4">
                <a:latin typeface="Courier New"/>
                <a:cs typeface="Courier New"/>
              </a:rPr>
              <a:t>conditionVariabl</a:t>
            </a:r>
            <a:r>
              <a:rPr dirty="0" smtClean="0" sz="500" spc="0">
                <a:latin typeface="Courier New"/>
                <a:cs typeface="Courier New"/>
              </a:rPr>
              <a:t>e</a:t>
            </a:r>
            <a:r>
              <a:rPr dirty="0" smtClean="0" sz="500" spc="250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notAllFull;</a:t>
            </a:r>
            <a:r>
              <a:rPr dirty="0" smtClean="0" sz="500" spc="0">
                <a:latin typeface="Courier New"/>
                <a:cs typeface="Courier New"/>
              </a:rPr>
              <a:t> </a:t>
            </a:r>
            <a:endParaRPr sz="500">
              <a:latin typeface="Courier New"/>
              <a:cs typeface="Courier New"/>
            </a:endParaRPr>
          </a:p>
          <a:p>
            <a:pPr marL="285750" marR="1151259">
              <a:lnSpc>
                <a:spcPts val="566"/>
              </a:lnSpc>
              <a:spcBef>
                <a:spcPts val="202"/>
              </a:spcBef>
            </a:pPr>
            <a:r>
              <a:rPr dirty="0" smtClean="0" sz="500" spc="-4">
                <a:latin typeface="Courier New"/>
                <a:cs typeface="Courier New"/>
              </a:rPr>
              <a:t>conditionVariabl</a:t>
            </a:r>
            <a:r>
              <a:rPr dirty="0" smtClean="0" sz="500" spc="0">
                <a:latin typeface="Courier New"/>
                <a:cs typeface="Courier New"/>
              </a:rPr>
              <a:t>e</a:t>
            </a:r>
            <a:r>
              <a:rPr dirty="0" smtClean="0" sz="500" spc="250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notAllEmpty;</a:t>
            </a:r>
            <a:r>
              <a:rPr dirty="0" smtClean="0" sz="500" spc="0">
                <a:latin typeface="Courier New"/>
                <a:cs typeface="Courier New"/>
              </a:rPr>
              <a:t> </a:t>
            </a:r>
            <a:endParaRPr sz="500">
              <a:latin typeface="Courier New"/>
              <a:cs typeface="Courier New"/>
            </a:endParaRPr>
          </a:p>
          <a:p>
            <a:pPr marL="285750" marR="1151259">
              <a:lnSpc>
                <a:spcPts val="566"/>
              </a:lnSpc>
              <a:spcBef>
                <a:spcPts val="202"/>
              </a:spcBef>
            </a:pPr>
            <a:r>
              <a:rPr dirty="0" smtClean="0" sz="500" spc="0">
                <a:latin typeface="Courier New"/>
                <a:cs typeface="Courier New"/>
              </a:rPr>
              <a:t>container_t</a:t>
            </a:r>
            <a:r>
              <a:rPr dirty="0" smtClean="0" sz="500" spc="164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buffer[FIXED_SIZE];</a:t>
            </a:r>
            <a:r>
              <a:rPr dirty="0" smtClean="0" sz="500" spc="0">
                <a:latin typeface="Courier New"/>
                <a:cs typeface="Courier New"/>
              </a:rPr>
              <a:t> </a:t>
            </a:r>
            <a:endParaRPr sz="500">
              <a:latin typeface="Courier New"/>
              <a:cs typeface="Courier New"/>
            </a:endParaRPr>
          </a:p>
          <a:p>
            <a:pPr marL="285750" marR="1151259">
              <a:lnSpc>
                <a:spcPts val="566"/>
              </a:lnSpc>
              <a:spcBef>
                <a:spcPts val="202"/>
              </a:spcBef>
            </a:pPr>
            <a:r>
              <a:rPr dirty="0" smtClean="0" sz="500" spc="-14">
                <a:latin typeface="Courier New"/>
                <a:cs typeface="Courier New"/>
              </a:rPr>
              <a:t>in</a:t>
            </a:r>
            <a:r>
              <a:rPr dirty="0" smtClean="0" sz="500" spc="0">
                <a:latin typeface="Courier New"/>
                <a:cs typeface="Courier New"/>
              </a:rPr>
              <a:t>t</a:t>
            </a:r>
            <a:r>
              <a:rPr dirty="0" smtClean="0" sz="500" spc="29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numFul</a:t>
            </a:r>
            <a:r>
              <a:rPr dirty="0" smtClean="0" sz="500" spc="0">
                <a:latin typeface="Courier New"/>
                <a:cs typeface="Courier New"/>
              </a:rPr>
              <a:t>l</a:t>
            </a:r>
            <a:r>
              <a:rPr dirty="0" smtClean="0" sz="500" spc="100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=</a:t>
            </a:r>
            <a:r>
              <a:rPr dirty="0" smtClean="0" sz="500" spc="24">
                <a:latin typeface="Courier New"/>
                <a:cs typeface="Courier New"/>
              </a:rPr>
              <a:t> </a:t>
            </a:r>
            <a:r>
              <a:rPr dirty="0" smtClean="0" sz="500" spc="9">
                <a:latin typeface="Courier New"/>
                <a:cs typeface="Courier New"/>
              </a:rPr>
              <a:t>0;</a:t>
            </a:r>
            <a:endParaRPr sz="500">
              <a:latin typeface="Courier New"/>
              <a:cs typeface="Courier New"/>
            </a:endParaRPr>
          </a:p>
          <a:p>
            <a:pPr marR="119062" algn="r">
              <a:lnSpc>
                <a:spcPct val="95825"/>
              </a:lnSpc>
              <a:spcBef>
                <a:spcPts val="4473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0">
                <a:latin typeface="Times New Roman"/>
                <a:cs typeface="Times New Roman"/>
              </a:rPr>
              <a:t>5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629025" y="3562350"/>
            <a:ext cx="2676525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0975">
              <a:lnSpc>
                <a:spcPct val="116129"/>
              </a:lnSpc>
              <a:spcBef>
                <a:spcPts val="250"/>
              </a:spcBef>
            </a:pPr>
            <a:r>
              <a:rPr dirty="0" smtClean="0" sz="1200" spc="-29" u="sng">
                <a:solidFill>
                  <a:srgbClr val="3333CC"/>
                </a:solidFill>
                <a:latin typeface="Comic Sans MS"/>
                <a:cs typeface="Comic Sans MS"/>
              </a:rPr>
              <a:t>Bounded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29" u="sng">
                <a:solidFill>
                  <a:srgbClr val="3333CC"/>
                </a:solidFill>
                <a:latin typeface="Comic Sans MS"/>
                <a:cs typeface="Comic Sans MS"/>
              </a:rPr>
              <a:t>Buffer</a:t>
            </a:r>
            <a:endParaRPr sz="120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1783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Finit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97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siz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8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buffe</a:t>
            </a:r>
            <a:r>
              <a:rPr dirty="0" smtClean="0" sz="650" spc="0">
                <a:latin typeface="Comic Sans MS"/>
                <a:cs typeface="Comic Sans MS"/>
              </a:rPr>
              <a:t>r</a:t>
            </a:r>
            <a:r>
              <a:rPr dirty="0" smtClean="0" sz="650" spc="106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(array</a:t>
            </a:r>
            <a:r>
              <a:rPr dirty="0" smtClean="0" sz="650" spc="0">
                <a:latin typeface="Comic Sans MS"/>
                <a:cs typeface="Comic Sans MS"/>
              </a:rPr>
              <a:t>)</a:t>
            </a:r>
            <a:r>
              <a:rPr dirty="0" smtClean="0" sz="650" spc="107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i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6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memor</a:t>
            </a:r>
            <a:r>
              <a:rPr dirty="0" smtClean="0" sz="650" spc="0">
                <a:latin typeface="Comic Sans MS"/>
                <a:cs typeface="Comic Sans MS"/>
              </a:rPr>
              <a:t>y</a:t>
            </a:r>
            <a:r>
              <a:rPr dirty="0" smtClean="0" sz="650" spc="115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share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107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by</a:t>
            </a:r>
            <a:endParaRPr sz="650">
              <a:latin typeface="Comic Sans MS"/>
              <a:cs typeface="Comic Sans MS"/>
            </a:endParaRPr>
          </a:p>
          <a:p>
            <a:pPr marL="285750" marR="278033" indent="-104775">
              <a:lnSpc>
                <a:spcPts val="830"/>
              </a:lnSpc>
              <a:spcBef>
                <a:spcPts val="838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Produce</a:t>
            </a:r>
            <a:r>
              <a:rPr dirty="0" smtClean="0" sz="650" spc="0">
                <a:latin typeface="Comic Sans MS"/>
                <a:cs typeface="Comic Sans MS"/>
              </a:rPr>
              <a:t>r</a:t>
            </a:r>
            <a:r>
              <a:rPr dirty="0" smtClean="0" sz="650" spc="126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thread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116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"produce</a:t>
            </a:r>
            <a:r>
              <a:rPr dirty="0" smtClean="0" sz="650" spc="0">
                <a:latin typeface="Comic Sans MS"/>
                <a:cs typeface="Comic Sans MS"/>
              </a:rPr>
              <a:t>"</a:t>
            </a:r>
            <a:r>
              <a:rPr dirty="0" smtClean="0" sz="650" spc="104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a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65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ite</a:t>
            </a:r>
            <a:r>
              <a:rPr dirty="0" smtClean="0" sz="650" spc="0">
                <a:latin typeface="Comic Sans MS"/>
                <a:cs typeface="Comic Sans MS"/>
              </a:rPr>
              <a:t>m</a:t>
            </a:r>
            <a:r>
              <a:rPr dirty="0" smtClean="0" sz="650" spc="85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an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76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plac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06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i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60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in</a:t>
            </a:r>
            <a:r>
              <a:rPr dirty="0" smtClean="0" sz="650" spc="9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the</a:t>
            </a:r>
            <a:r>
              <a:rPr dirty="0" smtClean="0" sz="650" spc="66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buffer</a:t>
            </a:r>
            <a:endParaRPr sz="65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Consume</a:t>
            </a:r>
            <a:r>
              <a:rPr dirty="0" smtClean="0" sz="650" spc="0">
                <a:latin typeface="Comic Sans MS"/>
                <a:cs typeface="Comic Sans MS"/>
              </a:rPr>
              <a:t>r</a:t>
            </a:r>
            <a:r>
              <a:rPr dirty="0" smtClean="0" sz="650" spc="131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thread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116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remov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1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a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65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ite</a:t>
            </a:r>
            <a:r>
              <a:rPr dirty="0" smtClean="0" sz="650" spc="0">
                <a:latin typeface="Comic Sans MS"/>
                <a:cs typeface="Comic Sans MS"/>
              </a:rPr>
              <a:t>m</a:t>
            </a:r>
            <a:r>
              <a:rPr dirty="0" smtClean="0" sz="650" spc="85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fro</a:t>
            </a:r>
            <a:r>
              <a:rPr dirty="0" smtClean="0" sz="650" spc="0">
                <a:latin typeface="Comic Sans MS"/>
                <a:cs typeface="Comic Sans MS"/>
              </a:rPr>
              <a:t>m</a:t>
            </a:r>
            <a:r>
              <a:rPr dirty="0" smtClean="0" sz="650" spc="89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th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75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buffer</a:t>
            </a:r>
            <a:endParaRPr sz="65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819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Wh</a:t>
            </a:r>
            <a:r>
              <a:rPr dirty="0" smtClean="0" sz="650" spc="0">
                <a:latin typeface="Comic Sans MS"/>
                <a:cs typeface="Comic Sans MS"/>
              </a:rPr>
              <a:t>y</a:t>
            </a:r>
            <a:r>
              <a:rPr dirty="0" smtClean="0" sz="650" spc="81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d</a:t>
            </a:r>
            <a:r>
              <a:rPr dirty="0" smtClean="0" sz="650" spc="0">
                <a:latin typeface="Comic Sans MS"/>
                <a:cs typeface="Comic Sans MS"/>
              </a:rPr>
              <a:t>o</a:t>
            </a:r>
            <a:r>
              <a:rPr dirty="0" smtClean="0" sz="650" spc="61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w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63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nee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82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synchronization?</a:t>
            </a:r>
            <a:endParaRPr sz="650">
              <a:latin typeface="Comic Sans MS"/>
              <a:cs typeface="Comic Sans MS"/>
            </a:endParaRPr>
          </a:p>
          <a:p>
            <a:pPr marL="292997" marR="645399" algn="ctr">
              <a:lnSpc>
                <a:spcPct val="116129"/>
              </a:lnSpc>
              <a:spcBef>
                <a:spcPts val="649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Whic</a:t>
            </a:r>
            <a:r>
              <a:rPr dirty="0" smtClean="0" sz="600" spc="0">
                <a:latin typeface="Comic Sans MS"/>
                <a:cs typeface="Comic Sans MS"/>
              </a:rPr>
              <a:t>h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part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</a:t>
            </a:r>
            <a:r>
              <a:rPr dirty="0" smtClean="0" sz="600" spc="0">
                <a:latin typeface="Comic Sans MS"/>
                <a:cs typeface="Comic Sans MS"/>
              </a:rPr>
              <a:t>f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buffe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ar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free</a:t>
            </a:r>
            <a:r>
              <a:rPr dirty="0" smtClean="0" sz="600" spc="0">
                <a:latin typeface="Comic Sans MS"/>
                <a:cs typeface="Comic Sans MS"/>
              </a:rPr>
              <a:t>?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Whic</a:t>
            </a:r>
            <a:r>
              <a:rPr dirty="0" smtClean="0" sz="600" spc="0">
                <a:latin typeface="Comic Sans MS"/>
                <a:cs typeface="Comic Sans MS"/>
              </a:rPr>
              <a:t>h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filled?</a:t>
            </a:r>
            <a:endParaRPr sz="60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80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14">
                <a:latin typeface="Comic Sans MS"/>
                <a:cs typeface="Comic Sans MS"/>
              </a:rPr>
              <a:t>Wha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95">
                <a:latin typeface="Comic Sans MS"/>
                <a:cs typeface="Comic Sans MS"/>
              </a:rPr>
              <a:t> </a:t>
            </a:r>
            <a:r>
              <a:rPr dirty="0" smtClean="0" sz="650" spc="14">
                <a:latin typeface="Comic Sans MS"/>
                <a:cs typeface="Comic Sans MS"/>
              </a:rPr>
              <a:t>ca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75">
                <a:latin typeface="Comic Sans MS"/>
                <a:cs typeface="Comic Sans MS"/>
              </a:rPr>
              <a:t> </a:t>
            </a:r>
            <a:r>
              <a:rPr dirty="0" smtClean="0" sz="650" spc="14">
                <a:latin typeface="Comic Sans MS"/>
                <a:cs typeface="Comic Sans MS"/>
              </a:rPr>
              <a:t>g</a:t>
            </a:r>
            <a:r>
              <a:rPr dirty="0" smtClean="0" sz="650" spc="0">
                <a:latin typeface="Comic Sans MS"/>
                <a:cs typeface="Comic Sans MS"/>
              </a:rPr>
              <a:t>o</a:t>
            </a:r>
            <a:r>
              <a:rPr dirty="0" smtClean="0" sz="650" spc="72">
                <a:latin typeface="Comic Sans MS"/>
                <a:cs typeface="Comic Sans MS"/>
              </a:rPr>
              <a:t> </a:t>
            </a:r>
            <a:r>
              <a:rPr dirty="0" smtClean="0" sz="650" spc="14">
                <a:latin typeface="Comic Sans MS"/>
                <a:cs typeface="Comic Sans MS"/>
              </a:rPr>
              <a:t>wrong?</a:t>
            </a:r>
            <a:endParaRPr sz="650">
              <a:latin typeface="Comic Sans MS"/>
              <a:cs typeface="Comic Sans MS"/>
            </a:endParaRPr>
          </a:p>
          <a:p>
            <a:pPr marL="400050" marR="307921" indent="-85725">
              <a:lnSpc>
                <a:spcPts val="836"/>
              </a:lnSpc>
              <a:spcBef>
                <a:spcPts val="65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Produce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doesn'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6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sto</a:t>
            </a:r>
            <a:r>
              <a:rPr dirty="0" smtClean="0" sz="600" spc="0">
                <a:latin typeface="Comic Sans MS"/>
                <a:cs typeface="Comic Sans MS"/>
              </a:rPr>
              <a:t>p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whe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n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fre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spaces</a:t>
            </a:r>
            <a:r>
              <a:rPr dirty="0" smtClean="0" sz="600" spc="0">
                <a:latin typeface="Comic Sans MS"/>
                <a:cs typeface="Comic Sans MS"/>
              </a:rPr>
              <a:t>;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Consumer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endParaRPr sz="600">
              <a:latin typeface="Comic Sans MS"/>
              <a:cs typeface="Comic Sans MS"/>
            </a:endParaRPr>
          </a:p>
          <a:p>
            <a:pPr marL="400050" marR="307921">
              <a:lnSpc>
                <a:spcPts val="836"/>
              </a:lnSpc>
            </a:pPr>
            <a:r>
              <a:rPr dirty="0" smtClean="0" sz="600" spc="-4">
                <a:latin typeface="Comic Sans MS"/>
                <a:cs typeface="Comic Sans MS"/>
              </a:rPr>
              <a:t>trie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consum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empt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space</a:t>
            </a:r>
            <a:r>
              <a:rPr dirty="0" smtClean="0" sz="600" spc="0">
                <a:latin typeface="Comic Sans MS"/>
                <a:cs typeface="Comic Sans MS"/>
              </a:rPr>
              <a:t>;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Consume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trie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to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endParaRPr sz="600">
              <a:latin typeface="Comic Sans MS"/>
              <a:cs typeface="Comic Sans MS"/>
            </a:endParaRPr>
          </a:p>
          <a:p>
            <a:pPr marL="400050" marR="307921">
              <a:lnSpc>
                <a:spcPts val="836"/>
              </a:lnSpc>
            </a:pPr>
            <a:r>
              <a:rPr dirty="0" smtClean="0" sz="600" spc="-4">
                <a:latin typeface="Comic Sans MS"/>
                <a:cs typeface="Comic Sans MS"/>
              </a:rPr>
              <a:t>consum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spac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tha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i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onl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half</a:t>
            </a:r>
            <a:r>
              <a:rPr dirty="0" smtClean="0" sz="600" spc="0">
                <a:latin typeface="Comic Sans MS"/>
                <a:cs typeface="Comic Sans MS"/>
              </a:rPr>
              <a:t>-</a:t>
            </a:r>
            <a:r>
              <a:rPr dirty="0" smtClean="0" sz="600" spc="-1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fille</a:t>
            </a:r>
            <a:r>
              <a:rPr dirty="0" smtClean="0" sz="600" spc="0">
                <a:latin typeface="Comic Sans MS"/>
                <a:cs typeface="Comic Sans MS"/>
              </a:rPr>
              <a:t>d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b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producer;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endParaRPr sz="600">
              <a:latin typeface="Comic Sans MS"/>
              <a:cs typeface="Comic Sans MS"/>
            </a:endParaRPr>
          </a:p>
          <a:p>
            <a:pPr marL="400050" marR="307921">
              <a:lnSpc>
                <a:spcPts val="836"/>
              </a:lnSpc>
            </a:pPr>
            <a:r>
              <a:rPr dirty="0" smtClean="0" sz="600" spc="-4">
                <a:latin typeface="Comic Sans MS"/>
                <a:cs typeface="Comic Sans MS"/>
              </a:rPr>
              <a:t>Tw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producer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tr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produc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int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sam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space</a:t>
            </a:r>
            <a:r>
              <a:rPr dirty="0" smtClean="0" sz="600" spc="0">
                <a:latin typeface="Comic Sans MS"/>
                <a:cs typeface="Comic Sans MS"/>
              </a:rPr>
              <a:t>;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Two</a:t>
            </a:r>
            <a:endParaRPr sz="600">
              <a:latin typeface="Comic Sans MS"/>
              <a:cs typeface="Comic Sans MS"/>
            </a:endParaRPr>
          </a:p>
          <a:p>
            <a:pPr marL="400050">
              <a:lnSpc>
                <a:spcPts val="745"/>
              </a:lnSpc>
            </a:pPr>
            <a:r>
              <a:rPr dirty="0" smtClean="0" baseline="3986" sz="900" spc="-9">
                <a:latin typeface="Comic Sans MS"/>
                <a:cs typeface="Comic Sans MS"/>
              </a:rPr>
              <a:t>consumer</a:t>
            </a:r>
            <a:r>
              <a:rPr dirty="0" smtClean="0" baseline="3986" sz="900" spc="0">
                <a:latin typeface="Comic Sans MS"/>
                <a:cs typeface="Comic Sans MS"/>
              </a:rPr>
              <a:t>s</a:t>
            </a:r>
            <a:r>
              <a:rPr dirty="0" smtClean="0" baseline="3986" sz="900" spc="-34">
                <a:latin typeface="Comic Sans MS"/>
                <a:cs typeface="Comic Sans MS"/>
              </a:rPr>
              <a:t> </a:t>
            </a:r>
            <a:r>
              <a:rPr dirty="0" smtClean="0" baseline="3986" sz="900" spc="-9">
                <a:latin typeface="Comic Sans MS"/>
                <a:cs typeface="Comic Sans MS"/>
              </a:rPr>
              <a:t>tr</a:t>
            </a:r>
            <a:r>
              <a:rPr dirty="0" smtClean="0" baseline="3986" sz="900" spc="0">
                <a:latin typeface="Comic Sans MS"/>
                <a:cs typeface="Comic Sans MS"/>
              </a:rPr>
              <a:t>y</a:t>
            </a:r>
            <a:r>
              <a:rPr dirty="0" smtClean="0" baseline="3986" sz="900" spc="-34">
                <a:latin typeface="Comic Sans MS"/>
                <a:cs typeface="Comic Sans MS"/>
              </a:rPr>
              <a:t> </a:t>
            </a:r>
            <a:r>
              <a:rPr dirty="0" smtClean="0" baseline="3986" sz="900" spc="-9">
                <a:latin typeface="Comic Sans MS"/>
                <a:cs typeface="Comic Sans MS"/>
              </a:rPr>
              <a:t>t</a:t>
            </a:r>
            <a:r>
              <a:rPr dirty="0" smtClean="0" baseline="3986" sz="900" spc="0">
                <a:latin typeface="Comic Sans MS"/>
                <a:cs typeface="Comic Sans MS"/>
              </a:rPr>
              <a:t>o</a:t>
            </a:r>
            <a:r>
              <a:rPr dirty="0" smtClean="0" baseline="3986" sz="900" spc="-34">
                <a:latin typeface="Comic Sans MS"/>
                <a:cs typeface="Comic Sans MS"/>
              </a:rPr>
              <a:t> </a:t>
            </a:r>
            <a:r>
              <a:rPr dirty="0" smtClean="0" baseline="3986" sz="900" spc="-9">
                <a:latin typeface="Comic Sans MS"/>
                <a:cs typeface="Comic Sans MS"/>
              </a:rPr>
              <a:t>consum</a:t>
            </a:r>
            <a:r>
              <a:rPr dirty="0" smtClean="0" baseline="3986" sz="900" spc="0">
                <a:latin typeface="Comic Sans MS"/>
                <a:cs typeface="Comic Sans MS"/>
              </a:rPr>
              <a:t>e</a:t>
            </a:r>
            <a:r>
              <a:rPr dirty="0" smtClean="0" baseline="3986" sz="900" spc="-34">
                <a:latin typeface="Comic Sans MS"/>
                <a:cs typeface="Comic Sans MS"/>
              </a:rPr>
              <a:t> </a:t>
            </a:r>
            <a:r>
              <a:rPr dirty="0" smtClean="0" baseline="3986" sz="900" spc="-9">
                <a:latin typeface="Comic Sans MS"/>
                <a:cs typeface="Comic Sans MS"/>
              </a:rPr>
              <a:t>th</a:t>
            </a:r>
            <a:r>
              <a:rPr dirty="0" smtClean="0" baseline="3986" sz="900" spc="0">
                <a:latin typeface="Comic Sans MS"/>
                <a:cs typeface="Comic Sans MS"/>
              </a:rPr>
              <a:t>e</a:t>
            </a:r>
            <a:r>
              <a:rPr dirty="0" smtClean="0" baseline="3986" sz="900" spc="-34">
                <a:latin typeface="Comic Sans MS"/>
                <a:cs typeface="Comic Sans MS"/>
              </a:rPr>
              <a:t> </a:t>
            </a:r>
            <a:r>
              <a:rPr dirty="0" smtClean="0" baseline="3986" sz="900" spc="-9">
                <a:latin typeface="Comic Sans MS"/>
                <a:cs typeface="Comic Sans MS"/>
              </a:rPr>
              <a:t>sam</a:t>
            </a:r>
            <a:r>
              <a:rPr dirty="0" smtClean="0" baseline="3986" sz="900" spc="0">
                <a:latin typeface="Comic Sans MS"/>
                <a:cs typeface="Comic Sans MS"/>
              </a:rPr>
              <a:t>e</a:t>
            </a:r>
            <a:r>
              <a:rPr dirty="0" smtClean="0" baseline="3986" sz="900" spc="-34">
                <a:latin typeface="Comic Sans MS"/>
                <a:cs typeface="Comic Sans MS"/>
              </a:rPr>
              <a:t> </a:t>
            </a:r>
            <a:r>
              <a:rPr dirty="0" smtClean="0" baseline="3986" sz="900" spc="-9">
                <a:latin typeface="Comic Sans MS"/>
                <a:cs typeface="Comic Sans MS"/>
              </a:rPr>
              <a:t>space,</a:t>
            </a:r>
            <a:r>
              <a:rPr dirty="0" smtClean="0" baseline="3986" sz="900" spc="0">
                <a:latin typeface="Comic Sans MS"/>
                <a:cs typeface="Comic Sans MS"/>
              </a:rPr>
              <a:t>…</a:t>
            </a:r>
            <a:r>
              <a:rPr dirty="0" smtClean="0" baseline="3986" sz="900" spc="0">
                <a:latin typeface="Comic Sans MS"/>
                <a:cs typeface="Comic Sans MS"/>
              </a:rPr>
              <a:t>                          </a:t>
            </a:r>
            <a:r>
              <a:rPr dirty="0" smtClean="0" baseline="3986" sz="900" spc="39">
                <a:latin typeface="Comic Sans MS"/>
                <a:cs typeface="Comic Sans MS"/>
              </a:rPr>
              <a:t> </a:t>
            </a:r>
            <a:r>
              <a:rPr dirty="0" smtClean="0" sz="350" spc="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0">
                <a:latin typeface="Times New Roman"/>
                <a:cs typeface="Times New Roman"/>
              </a:rPr>
              <a:t>4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33400" y="3562350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95250">
              <a:lnSpc>
                <a:spcPct val="116129"/>
              </a:lnSpc>
            </a:pP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Classical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Synchronization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Problems</a:t>
            </a:r>
            <a:endParaRPr sz="120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1093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Bounded</a:t>
            </a:r>
            <a:r>
              <a:rPr dirty="0" smtClean="0" sz="800" spc="-44">
                <a:latin typeface="Comic Sans MS"/>
                <a:cs typeface="Comic Sans MS"/>
              </a:rPr>
              <a:t>-</a:t>
            </a:r>
            <a:r>
              <a:rPr dirty="0" smtClean="0" sz="800" spc="4">
                <a:latin typeface="Comic Sans MS"/>
                <a:cs typeface="Comic Sans MS"/>
              </a:rPr>
              <a:t>Buffe</a:t>
            </a:r>
            <a:r>
              <a:rPr dirty="0" smtClean="0" sz="800" spc="0">
                <a:latin typeface="Comic Sans MS"/>
                <a:cs typeface="Comic Sans MS"/>
              </a:rPr>
              <a:t>r</a:t>
            </a:r>
            <a:r>
              <a:rPr dirty="0" smtClean="0" sz="800" spc="170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Problem</a:t>
            </a:r>
            <a:endParaRPr sz="800">
              <a:latin typeface="Comic Sans MS"/>
              <a:cs typeface="Comic Sans MS"/>
            </a:endParaRPr>
          </a:p>
          <a:p>
            <a:pPr marL="314325">
              <a:lnSpc>
                <a:spcPts val="975"/>
              </a:lnSpc>
              <a:spcBef>
                <a:spcPts val="48"/>
              </a:spcBef>
            </a:pPr>
            <a:r>
              <a:rPr dirty="0" smtClean="0" baseline="2989" sz="1200" spc="0">
                <a:latin typeface="Comic Sans MS"/>
                <a:cs typeface="Comic Sans MS"/>
              </a:rPr>
              <a:t>(also</a:t>
            </a:r>
            <a:r>
              <a:rPr dirty="0" smtClean="0" baseline="2989" sz="1200" spc="41">
                <a:latin typeface="Comic Sans MS"/>
                <a:cs typeface="Comic Sans MS"/>
              </a:rPr>
              <a:t> </a:t>
            </a:r>
            <a:r>
              <a:rPr dirty="0" smtClean="0" baseline="2989" sz="1200" spc="0">
                <a:latin typeface="Comic Sans MS"/>
                <a:cs typeface="Comic Sans MS"/>
              </a:rPr>
              <a:t>called</a:t>
            </a:r>
            <a:r>
              <a:rPr dirty="0" smtClean="0" baseline="2989" sz="1200" spc="54">
                <a:latin typeface="Comic Sans MS"/>
                <a:cs typeface="Comic Sans MS"/>
              </a:rPr>
              <a:t> </a:t>
            </a:r>
            <a:r>
              <a:rPr dirty="0" smtClean="0" baseline="2989" sz="1200" spc="0">
                <a:latin typeface="Comic Sans MS"/>
                <a:cs typeface="Comic Sans MS"/>
              </a:rPr>
              <a:t>Producer</a:t>
            </a:r>
            <a:r>
              <a:rPr dirty="0" smtClean="0" baseline="2989" sz="1200" spc="-44">
                <a:latin typeface="Comic Sans MS"/>
                <a:cs typeface="Comic Sans MS"/>
              </a:rPr>
              <a:t>-</a:t>
            </a:r>
            <a:r>
              <a:rPr dirty="0" smtClean="0" baseline="2989" sz="1200" spc="0">
                <a:latin typeface="Comic Sans MS"/>
                <a:cs typeface="Comic Sans MS"/>
              </a:rPr>
              <a:t>Consumer)</a:t>
            </a:r>
            <a:endParaRPr sz="80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1236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Reader</a:t>
            </a:r>
            <a:r>
              <a:rPr dirty="0" smtClean="0" sz="800" spc="0">
                <a:latin typeface="Comic Sans MS"/>
                <a:cs typeface="Comic Sans MS"/>
              </a:rPr>
              <a:t>s</a:t>
            </a:r>
            <a:r>
              <a:rPr dirty="0" smtClean="0" sz="800" spc="80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an</a:t>
            </a:r>
            <a:r>
              <a:rPr dirty="0" smtClean="0" sz="800" spc="0">
                <a:latin typeface="Comic Sans MS"/>
                <a:cs typeface="Comic Sans MS"/>
              </a:rPr>
              <a:t>d</a:t>
            </a:r>
            <a:r>
              <a:rPr dirty="0" smtClean="0" sz="800" spc="28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Writer</a:t>
            </a:r>
            <a:r>
              <a:rPr dirty="0" smtClean="0" sz="800" spc="0">
                <a:latin typeface="Comic Sans MS"/>
                <a:cs typeface="Comic Sans MS"/>
              </a:rPr>
              <a:t>s</a:t>
            </a:r>
            <a:r>
              <a:rPr dirty="0" smtClean="0" sz="800" spc="80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Problem</a:t>
            </a:r>
            <a:endParaRPr sz="80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1060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Dining</a:t>
            </a:r>
            <a:r>
              <a:rPr dirty="0" smtClean="0" sz="800" spc="-44">
                <a:latin typeface="Comic Sans MS"/>
                <a:cs typeface="Comic Sans MS"/>
              </a:rPr>
              <a:t>-</a:t>
            </a:r>
            <a:r>
              <a:rPr dirty="0" smtClean="0" sz="800" spc="-4">
                <a:latin typeface="Comic Sans MS"/>
                <a:cs typeface="Comic Sans MS"/>
              </a:rPr>
              <a:t>Philosopher</a:t>
            </a:r>
            <a:r>
              <a:rPr dirty="0" smtClean="0" sz="800" spc="0">
                <a:latin typeface="Comic Sans MS"/>
                <a:cs typeface="Comic Sans MS"/>
              </a:rPr>
              <a:t>s</a:t>
            </a:r>
            <a:r>
              <a:rPr dirty="0" smtClean="0" sz="800" spc="203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Problem</a:t>
            </a:r>
            <a:endParaRPr sz="800">
              <a:latin typeface="Comic Sans MS"/>
              <a:cs typeface="Comic Sans MS"/>
            </a:endParaRPr>
          </a:p>
          <a:p>
            <a:pPr marR="119062" algn="r">
              <a:lnSpc>
                <a:spcPct val="95825"/>
              </a:lnSpc>
              <a:spcBef>
                <a:spcPts val="4690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0">
                <a:latin typeface="Times New Roman"/>
                <a:cs typeface="Times New Roman"/>
              </a:rPr>
              <a:t>3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629025" y="904875"/>
            <a:ext cx="2679435" cy="1367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0" name="object 40"/>
          <p:cNvSpPr txBox="1"/>
          <p:nvPr/>
        </p:nvSpPr>
        <p:spPr>
          <a:xfrm>
            <a:off x="3629025" y="1041664"/>
            <a:ext cx="161812" cy="15335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51217">
              <a:lnSpc>
                <a:spcPts val="700"/>
              </a:lnSpc>
              <a:spcBef>
                <a:spcPts val="46"/>
              </a:spcBef>
            </a:pPr>
            <a:endParaRPr sz="700"/>
          </a:p>
          <a:p>
            <a:pPr marR="1699" algn="r">
              <a:lnSpc>
                <a:spcPct val="116129"/>
              </a:lnSpc>
              <a:spcBef>
                <a:spcPts val="1000"/>
              </a:spcBef>
            </a:pPr>
            <a:r>
              <a:rPr dirty="0" smtClean="0" sz="500" spc="19">
                <a:latin typeface="Comic Sans MS"/>
                <a:cs typeface="Comic Sans MS"/>
              </a:rPr>
              <a:t>L</a:t>
            </a:r>
            <a:endParaRPr sz="500">
              <a:latin typeface="Comic Sans MS"/>
              <a:cs typeface="Comic Sans MS"/>
            </a:endParaRPr>
          </a:p>
          <a:p>
            <a:pPr algn="r">
              <a:lnSpc>
                <a:spcPct val="116129"/>
              </a:lnSpc>
              <a:spcBef>
                <a:spcPts val="3503"/>
              </a:spcBef>
            </a:pPr>
            <a:r>
              <a:rPr dirty="0" smtClean="0" sz="500" spc="4">
                <a:latin typeface="Comic Sans MS"/>
                <a:cs typeface="Comic Sans MS"/>
              </a:rPr>
              <a:t>C</a:t>
            </a:r>
            <a:endParaRPr sz="500">
              <a:latin typeface="Comic Sans MS"/>
              <a:cs typeface="Comic Sans MS"/>
            </a:endParaRPr>
          </a:p>
          <a:p>
            <a:pPr marR="9302" algn="r">
              <a:lnSpc>
                <a:spcPts val="675"/>
              </a:lnSpc>
              <a:spcBef>
                <a:spcPts val="33"/>
              </a:spcBef>
            </a:pPr>
            <a:r>
              <a:rPr dirty="0" smtClean="0" sz="500" spc="0">
                <a:latin typeface="Comic Sans MS"/>
                <a:cs typeface="Comic Sans MS"/>
              </a:rPr>
              <a:t>v</a:t>
            </a:r>
            <a:endParaRPr sz="500">
              <a:latin typeface="Comic Sans MS"/>
              <a:cs typeface="Comic Sans MS"/>
            </a:endParaRPr>
          </a:p>
          <a:p>
            <a:pPr marR="1193" algn="r">
              <a:lnSpc>
                <a:spcPct val="116129"/>
              </a:lnSpc>
              <a:spcBef>
                <a:spcPts val="919"/>
              </a:spcBef>
            </a:pPr>
            <a:r>
              <a:rPr dirty="0" smtClean="0" sz="500" spc="4">
                <a:latin typeface="Comic Sans MS"/>
                <a:cs typeface="Comic Sans MS"/>
              </a:rPr>
              <a:t>E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739620" y="1041664"/>
            <a:ext cx="484035" cy="200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16129"/>
              </a:lnSpc>
              <a:spcBef>
                <a:spcPts val="170"/>
              </a:spcBef>
            </a:pPr>
            <a:r>
              <a:rPr dirty="0" smtClean="0" sz="500" spc="19">
                <a:latin typeface="Comic Sans MS"/>
                <a:cs typeface="Comic Sans MS"/>
              </a:rPr>
              <a:t>V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168245" y="1041664"/>
            <a:ext cx="257175" cy="200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1272">
              <a:lnSpc>
                <a:spcPct val="116129"/>
              </a:lnSpc>
              <a:spcBef>
                <a:spcPts val="170"/>
              </a:spcBef>
            </a:pPr>
            <a:r>
              <a:rPr dirty="0" smtClean="0" sz="500" spc="19">
                <a:latin typeface="Comic Sans MS"/>
                <a:cs typeface="Comic Sans MS"/>
              </a:rPr>
              <a:t>alue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425420" y="1041664"/>
            <a:ext cx="266700" cy="200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6" name="object 36"/>
          <p:cNvSpPr txBox="1"/>
          <p:nvPr/>
        </p:nvSpPr>
        <p:spPr>
          <a:xfrm>
            <a:off x="4692120" y="1041664"/>
            <a:ext cx="561975" cy="200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2279">
              <a:lnSpc>
                <a:spcPct val="116129"/>
              </a:lnSpc>
              <a:spcBef>
                <a:spcPts val="170"/>
              </a:spcBef>
            </a:pPr>
            <a:r>
              <a:rPr dirty="0" smtClean="0" sz="500" spc="9">
                <a:latin typeface="Comic Sans MS"/>
                <a:cs typeface="Comic Sans MS"/>
              </a:rPr>
              <a:t>"acquire</a:t>
            </a:r>
            <a:r>
              <a:rPr dirty="0" smtClean="0" sz="500" spc="0">
                <a:latin typeface="Comic Sans MS"/>
                <a:cs typeface="Comic Sans MS"/>
              </a:rPr>
              <a:t>"</a:t>
            </a:r>
            <a:r>
              <a:rPr dirty="0" smtClean="0" sz="500" spc="73">
                <a:latin typeface="Comic Sans MS"/>
                <a:cs typeface="Comic Sans MS"/>
              </a:rPr>
              <a:t> </a:t>
            </a:r>
            <a:r>
              <a:rPr dirty="0" smtClean="0" sz="500" spc="9">
                <a:latin typeface="Comic Sans MS"/>
                <a:cs typeface="Comic Sans MS"/>
              </a:rPr>
              <a:t>op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254095" y="1041664"/>
            <a:ext cx="485775" cy="200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6129"/>
              </a:lnSpc>
              <a:spcBef>
                <a:spcPts val="170"/>
              </a:spcBef>
            </a:pPr>
            <a:r>
              <a:rPr dirty="0" smtClean="0" sz="500" spc="9">
                <a:latin typeface="Comic Sans MS"/>
                <a:cs typeface="Comic Sans MS"/>
              </a:rPr>
              <a:t>"release</a:t>
            </a:r>
            <a:r>
              <a:rPr dirty="0" smtClean="0" sz="500" spc="0">
                <a:latin typeface="Comic Sans MS"/>
                <a:cs typeface="Comic Sans MS"/>
              </a:rPr>
              <a:t>"</a:t>
            </a:r>
            <a:r>
              <a:rPr dirty="0" smtClean="0" sz="500" spc="73">
                <a:latin typeface="Comic Sans MS"/>
                <a:cs typeface="Comic Sans MS"/>
              </a:rPr>
              <a:t> </a:t>
            </a:r>
            <a:r>
              <a:rPr dirty="0" smtClean="0" sz="500" spc="9">
                <a:latin typeface="Comic Sans MS"/>
                <a:cs typeface="Comic Sans MS"/>
              </a:rPr>
              <a:t>op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739870" y="1041664"/>
            <a:ext cx="568589" cy="200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704">
              <a:lnSpc>
                <a:spcPct val="116129"/>
              </a:lnSpc>
              <a:spcBef>
                <a:spcPts val="170"/>
              </a:spcBef>
            </a:pPr>
            <a:r>
              <a:rPr dirty="0" smtClean="0" sz="500" spc="4">
                <a:latin typeface="Comic Sans MS"/>
                <a:cs typeface="Comic Sans MS"/>
              </a:rPr>
              <a:t>"broadcast</a:t>
            </a:r>
            <a:r>
              <a:rPr dirty="0" smtClean="0" sz="500" spc="0">
                <a:latin typeface="Comic Sans MS"/>
                <a:cs typeface="Comic Sans MS"/>
              </a:rPr>
              <a:t>"</a:t>
            </a:r>
            <a:r>
              <a:rPr dirty="0" smtClean="0" sz="500" spc="87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or</a:t>
            </a:r>
            <a:endParaRPr sz="500">
              <a:latin typeface="Comic Sans MS"/>
              <a:cs typeface="Comic Sans MS"/>
            </a:endParaRPr>
          </a:p>
          <a:p>
            <a:pPr>
              <a:lnSpc>
                <a:spcPts val="600"/>
              </a:lnSpc>
              <a:spcBef>
                <a:spcPts val="30"/>
              </a:spcBef>
            </a:pPr>
            <a:r>
              <a:rPr dirty="0" smtClean="0" baseline="4783" sz="750" spc="0">
                <a:latin typeface="Comic Sans MS"/>
                <a:cs typeface="Comic Sans MS"/>
              </a:rPr>
              <a:t>"release</a:t>
            </a:r>
            <a:r>
              <a:rPr dirty="0" smtClean="0" baseline="4783" sz="750" spc="76">
                <a:latin typeface="Comic Sans MS"/>
                <a:cs typeface="Comic Sans MS"/>
              </a:rPr>
              <a:t> </a:t>
            </a:r>
            <a:r>
              <a:rPr dirty="0" smtClean="0" baseline="4783" sz="750" spc="0">
                <a:latin typeface="Comic Sans MS"/>
                <a:cs typeface="Comic Sans MS"/>
              </a:rPr>
              <a:t>all"</a:t>
            </a:r>
            <a:r>
              <a:rPr dirty="0" smtClean="0" baseline="4783" sz="750" spc="22">
                <a:latin typeface="Comic Sans MS"/>
                <a:cs typeface="Comic Sans MS"/>
              </a:rPr>
              <a:t> </a:t>
            </a:r>
            <a:r>
              <a:rPr dirty="0" smtClean="0" baseline="4783" sz="750" spc="0">
                <a:latin typeface="Comic Sans MS"/>
                <a:cs typeface="Comic Sans MS"/>
              </a:rPr>
              <a:t>op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739620" y="1241689"/>
            <a:ext cx="483510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4446">
              <a:lnSpc>
                <a:spcPct val="100000"/>
              </a:lnSpc>
              <a:spcBef>
                <a:spcPts val="170"/>
              </a:spcBef>
            </a:pPr>
            <a:r>
              <a:rPr dirty="0" smtClean="0" sz="500" spc="19">
                <a:latin typeface="Comic Sans MS"/>
                <a:cs typeface="Comic Sans MS"/>
              </a:rPr>
              <a:t>oc</a:t>
            </a:r>
            <a:r>
              <a:rPr dirty="0" smtClean="0" sz="500" spc="0">
                <a:latin typeface="Comic Sans MS"/>
                <a:cs typeface="Comic Sans MS"/>
              </a:rPr>
              <a:t>k</a:t>
            </a:r>
            <a:r>
              <a:rPr dirty="0" smtClean="0" sz="500" spc="0">
                <a:latin typeface="Comic Sans MS"/>
                <a:cs typeface="Comic Sans MS"/>
              </a:rPr>
              <a:t>              </a:t>
            </a:r>
            <a:r>
              <a:rPr dirty="0" smtClean="0" sz="500" spc="-39">
                <a:latin typeface="Comic Sans MS"/>
                <a:cs typeface="Comic Sans MS"/>
              </a:rPr>
              <a:t> </a:t>
            </a:r>
            <a:r>
              <a:rPr dirty="0" smtClean="0" baseline="6834" sz="525" spc="0">
                <a:latin typeface="Comic Sans MS"/>
                <a:cs typeface="Comic Sans MS"/>
              </a:rPr>
              <a:t>0</a:t>
            </a:r>
            <a:r>
              <a:rPr dirty="0" smtClean="0" baseline="6834" sz="525" spc="-75">
                <a:latin typeface="Comic Sans MS"/>
                <a:cs typeface="Comic Sans MS"/>
              </a:rPr>
              <a:t> 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68245" y="1241689"/>
            <a:ext cx="277103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800">
              <a:lnSpc>
                <a:spcPct val="116129"/>
              </a:lnSpc>
              <a:spcBef>
                <a:spcPts val="260"/>
              </a:spcBef>
            </a:pPr>
            <a:r>
              <a:rPr dirty="0" smtClean="0" sz="350" spc="29">
                <a:latin typeface="Comic Sans MS"/>
                <a:cs typeface="Comic Sans MS"/>
              </a:rPr>
              <a:t>/</a:t>
            </a:r>
            <a:r>
              <a:rPr dirty="0" smtClean="0" sz="350" spc="0">
                <a:latin typeface="Comic Sans MS"/>
                <a:cs typeface="Comic Sans MS"/>
              </a:rPr>
              <a:t>1</a:t>
            </a:r>
            <a:r>
              <a:rPr dirty="0" smtClean="0" sz="350" spc="0">
                <a:latin typeface="Comic Sans MS"/>
                <a:cs typeface="Comic Sans MS"/>
              </a:rPr>
              <a:t>            </a:t>
            </a:r>
            <a:r>
              <a:rPr dirty="0" smtClean="0" sz="350" spc="48">
                <a:latin typeface="Comic Sans MS"/>
                <a:cs typeface="Comic Sans MS"/>
              </a:rPr>
              <a:t> </a:t>
            </a:r>
            <a:r>
              <a:rPr dirty="0" smtClean="0" sz="350" spc="0">
                <a:latin typeface="Comic Sans MS"/>
                <a:cs typeface="Comic Sans MS"/>
              </a:rPr>
              <a:t>?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25420" y="1241689"/>
            <a:ext cx="321790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55090">
              <a:lnSpc>
                <a:spcPts val="850"/>
              </a:lnSpc>
              <a:spcBef>
                <a:spcPts val="37"/>
              </a:spcBef>
            </a:pPr>
            <a:endParaRPr sz="850"/>
          </a:p>
          <a:p>
            <a:pPr marL="241829">
              <a:lnSpc>
                <a:spcPts val="450"/>
              </a:lnSpc>
              <a:spcBef>
                <a:spcPts val="22"/>
              </a:spcBef>
            </a:pPr>
            <a:r>
              <a:rPr dirty="0" smtClean="0" sz="350" spc="9">
                <a:latin typeface="Comic Sans MS"/>
                <a:cs typeface="Comic Sans MS"/>
              </a:rPr>
              <a:t>Bl</a:t>
            </a:r>
            <a:r>
              <a:rPr dirty="0" smtClean="0" sz="350" spc="9">
                <a:latin typeface="Comic Sans MS"/>
                <a:cs typeface="Comic Sans MS"/>
              </a:rPr>
              <a:t> </a:t>
            </a:r>
            <a:r>
              <a:rPr dirty="0" smtClean="0" sz="350" spc="14">
                <a:latin typeface="Comic Sans MS"/>
                <a:cs typeface="Comic Sans MS"/>
              </a:rPr>
              <a:t>s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92120" y="1241689"/>
            <a:ext cx="616994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5629" marR="55019">
              <a:lnSpc>
                <a:spcPct val="116129"/>
              </a:lnSpc>
              <a:spcBef>
                <a:spcPts val="260"/>
              </a:spcBef>
            </a:pPr>
            <a:r>
              <a:rPr dirty="0" smtClean="0" sz="350" spc="25" b="1">
                <a:latin typeface="Comic Sans MS"/>
                <a:cs typeface="Comic Sans MS"/>
              </a:rPr>
              <a:t>Lock</a:t>
            </a:r>
            <a:endParaRPr sz="350">
              <a:latin typeface="Comic Sans MS"/>
              <a:cs typeface="Comic Sans MS"/>
            </a:endParaRPr>
          </a:p>
          <a:p>
            <a:pPr marL="20747">
              <a:lnSpc>
                <a:spcPct val="116129"/>
              </a:lnSpc>
              <a:spcBef>
                <a:spcPts val="110"/>
              </a:spcBef>
            </a:pPr>
            <a:r>
              <a:rPr dirty="0" smtClean="0" sz="350" spc="9">
                <a:latin typeface="Comic Sans MS"/>
                <a:cs typeface="Comic Sans MS"/>
              </a:rPr>
              <a:t>oc</a:t>
            </a:r>
            <a:r>
              <a:rPr dirty="0" smtClean="0" sz="350" spc="0">
                <a:latin typeface="Comic Sans MS"/>
                <a:cs typeface="Comic Sans MS"/>
              </a:rPr>
              <a:t>k</a:t>
            </a:r>
            <a:r>
              <a:rPr dirty="0" smtClean="0" sz="350" spc="92">
                <a:latin typeface="Comic Sans MS"/>
                <a:cs typeface="Comic Sans MS"/>
              </a:rPr>
              <a:t> </a:t>
            </a:r>
            <a:r>
              <a:rPr dirty="0" smtClean="0" sz="350" spc="9">
                <a:latin typeface="Comic Sans MS"/>
                <a:cs typeface="Comic Sans MS"/>
              </a:rPr>
              <a:t>til</a:t>
            </a:r>
            <a:r>
              <a:rPr dirty="0" smtClean="0" sz="350" spc="0">
                <a:latin typeface="Comic Sans MS"/>
                <a:cs typeface="Comic Sans MS"/>
              </a:rPr>
              <a:t>l</a:t>
            </a:r>
            <a:r>
              <a:rPr dirty="0" smtClean="0" sz="350" spc="86">
                <a:latin typeface="Comic Sans MS"/>
                <a:cs typeface="Comic Sans MS"/>
              </a:rPr>
              <a:t> </a:t>
            </a:r>
            <a:r>
              <a:rPr dirty="0" smtClean="0" sz="350" spc="9">
                <a:latin typeface="Comic Sans MS"/>
                <a:cs typeface="Comic Sans MS"/>
              </a:rPr>
              <a:t>valu</a:t>
            </a:r>
            <a:r>
              <a:rPr dirty="0" smtClean="0" sz="350" spc="0">
                <a:latin typeface="Comic Sans MS"/>
                <a:cs typeface="Comic Sans MS"/>
              </a:rPr>
              <a:t>e</a:t>
            </a:r>
            <a:r>
              <a:rPr dirty="0" smtClean="0" sz="350" spc="0">
                <a:latin typeface="Comic Sans MS"/>
                <a:cs typeface="Comic Sans MS"/>
              </a:rPr>
              <a:t> </a:t>
            </a:r>
            <a:r>
              <a:rPr dirty="0" smtClean="0" sz="350" spc="7">
                <a:latin typeface="Comic Sans MS"/>
                <a:cs typeface="Comic Sans MS"/>
              </a:rPr>
              <a:t> </a:t>
            </a:r>
            <a:r>
              <a:rPr dirty="0" smtClean="0" sz="350" spc="0">
                <a:latin typeface="Comic Sans MS"/>
                <a:cs typeface="Comic Sans MS"/>
              </a:rPr>
              <a:t>=</a:t>
            </a:r>
            <a:r>
              <a:rPr dirty="0" smtClean="0" sz="350" spc="66">
                <a:latin typeface="Comic Sans MS"/>
                <a:cs typeface="Comic Sans MS"/>
              </a:rPr>
              <a:t> </a:t>
            </a:r>
            <a:r>
              <a:rPr dirty="0" smtClean="0" sz="350" spc="9">
                <a:latin typeface="Comic Sans MS"/>
                <a:cs typeface="Comic Sans MS"/>
              </a:rPr>
              <a:t>0</a:t>
            </a:r>
            <a:r>
              <a:rPr dirty="0" smtClean="0" sz="350" spc="0">
                <a:latin typeface="Comic Sans MS"/>
                <a:cs typeface="Comic Sans MS"/>
              </a:rPr>
              <a:t>;</a:t>
            </a:r>
            <a:r>
              <a:rPr dirty="0" smtClean="0" sz="350" spc="0">
                <a:latin typeface="Comic Sans MS"/>
                <a:cs typeface="Comic Sans MS"/>
              </a:rPr>
              <a:t>       </a:t>
            </a:r>
            <a:r>
              <a:rPr dirty="0" smtClean="0" sz="350" spc="22">
                <a:latin typeface="Comic Sans MS"/>
                <a:cs typeface="Comic Sans MS"/>
              </a:rPr>
              <a:t> </a:t>
            </a:r>
            <a:r>
              <a:rPr dirty="0" smtClean="0" sz="350" spc="19">
                <a:latin typeface="Comic Sans MS"/>
                <a:cs typeface="Comic Sans MS"/>
              </a:rPr>
              <a:t>V</a:t>
            </a:r>
            <a:endParaRPr sz="350">
              <a:latin typeface="Comic Sans MS"/>
              <a:cs typeface="Comic Sans MS"/>
            </a:endParaRPr>
          </a:p>
          <a:p>
            <a:pPr marL="200" marR="55019">
              <a:lnSpc>
                <a:spcPts val="450"/>
              </a:lnSpc>
              <a:spcBef>
                <a:spcPts val="22"/>
              </a:spcBef>
            </a:pPr>
            <a:r>
              <a:rPr dirty="0" smtClean="0" sz="350" spc="14">
                <a:latin typeface="Comic Sans MS"/>
                <a:cs typeface="Comic Sans MS"/>
              </a:rPr>
              <a:t>e</a:t>
            </a:r>
            <a:r>
              <a:rPr dirty="0" smtClean="0" sz="350" spc="0">
                <a:latin typeface="Comic Sans MS"/>
                <a:cs typeface="Comic Sans MS"/>
              </a:rPr>
              <a:t>t</a:t>
            </a:r>
            <a:r>
              <a:rPr dirty="0" smtClean="0" sz="350" spc="84">
                <a:latin typeface="Comic Sans MS"/>
                <a:cs typeface="Comic Sans MS"/>
              </a:rPr>
              <a:t> </a:t>
            </a:r>
            <a:r>
              <a:rPr dirty="0" smtClean="0" sz="350" spc="14">
                <a:latin typeface="Comic Sans MS"/>
                <a:cs typeface="Comic Sans MS"/>
              </a:rPr>
              <a:t>valu</a:t>
            </a:r>
            <a:r>
              <a:rPr dirty="0" smtClean="0" sz="350" spc="0">
                <a:latin typeface="Comic Sans MS"/>
                <a:cs typeface="Comic Sans MS"/>
              </a:rPr>
              <a:t>e</a:t>
            </a:r>
            <a:r>
              <a:rPr dirty="0" smtClean="0" sz="350" spc="0">
                <a:latin typeface="Comic Sans MS"/>
                <a:cs typeface="Comic Sans MS"/>
              </a:rPr>
              <a:t> </a:t>
            </a:r>
            <a:r>
              <a:rPr dirty="0" smtClean="0" sz="350" spc="12">
                <a:latin typeface="Comic Sans MS"/>
                <a:cs typeface="Comic Sans MS"/>
              </a:rPr>
              <a:t> </a:t>
            </a:r>
            <a:r>
              <a:rPr dirty="0" smtClean="0" sz="350" spc="0">
                <a:latin typeface="Comic Sans MS"/>
                <a:cs typeface="Comic Sans MS"/>
              </a:rPr>
              <a:t>=</a:t>
            </a:r>
            <a:r>
              <a:rPr dirty="0" smtClean="0" sz="350" spc="71">
                <a:latin typeface="Comic Sans MS"/>
                <a:cs typeface="Comic Sans MS"/>
              </a:rPr>
              <a:t> </a:t>
            </a:r>
            <a:r>
              <a:rPr dirty="0" smtClean="0" sz="350" spc="0">
                <a:latin typeface="Comic Sans MS"/>
                <a:cs typeface="Comic Sans MS"/>
              </a:rPr>
              <a:t>1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54095" y="1241689"/>
            <a:ext cx="547737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479">
              <a:lnSpc>
                <a:spcPct val="116129"/>
              </a:lnSpc>
              <a:spcBef>
                <a:spcPts val="260"/>
              </a:spcBef>
            </a:pPr>
            <a:r>
              <a:rPr dirty="0" smtClean="0" sz="350" spc="19" b="1">
                <a:latin typeface="Comic Sans MS"/>
                <a:cs typeface="Comic Sans MS"/>
              </a:rPr>
              <a:t>Unloc</a:t>
            </a:r>
            <a:r>
              <a:rPr dirty="0" smtClean="0" sz="350" spc="0" b="1">
                <a:latin typeface="Comic Sans MS"/>
                <a:cs typeface="Comic Sans MS"/>
              </a:rPr>
              <a:t>k</a:t>
            </a:r>
            <a:r>
              <a:rPr dirty="0" smtClean="0" sz="350" spc="0" b="1">
                <a:latin typeface="Comic Sans MS"/>
                <a:cs typeface="Comic Sans MS"/>
              </a:rPr>
              <a:t>         </a:t>
            </a:r>
            <a:r>
              <a:rPr dirty="0" smtClean="0" sz="350" spc="76" b="1">
                <a:latin typeface="Comic Sans MS"/>
                <a:cs typeface="Comic Sans MS"/>
              </a:rPr>
              <a:t> </a:t>
            </a:r>
            <a:r>
              <a:rPr dirty="0" smtClean="0" sz="350" spc="14">
                <a:latin typeface="Comic Sans MS"/>
                <a:cs typeface="Comic Sans MS"/>
              </a:rPr>
              <a:t>N</a:t>
            </a:r>
            <a:endParaRPr sz="350">
              <a:latin typeface="Comic Sans MS"/>
              <a:cs typeface="Comic Sans MS"/>
            </a:endParaRPr>
          </a:p>
          <a:p>
            <a:pPr marL="8643" marR="61962">
              <a:lnSpc>
                <a:spcPct val="116129"/>
              </a:lnSpc>
              <a:spcBef>
                <a:spcPts val="110"/>
              </a:spcBef>
            </a:pPr>
            <a:r>
              <a:rPr dirty="0" smtClean="0" sz="350" spc="19">
                <a:latin typeface="Comic Sans MS"/>
                <a:cs typeface="Comic Sans MS"/>
              </a:rPr>
              <a:t>alu</a:t>
            </a:r>
            <a:r>
              <a:rPr dirty="0" smtClean="0" sz="350" spc="0">
                <a:latin typeface="Comic Sans MS"/>
                <a:cs typeface="Comic Sans MS"/>
              </a:rPr>
              <a:t>e</a:t>
            </a:r>
            <a:r>
              <a:rPr dirty="0" smtClean="0" sz="350" spc="0">
                <a:latin typeface="Comic Sans MS"/>
                <a:cs typeface="Comic Sans MS"/>
              </a:rPr>
              <a:t> </a:t>
            </a:r>
            <a:r>
              <a:rPr dirty="0" smtClean="0" sz="350" spc="5">
                <a:latin typeface="Comic Sans MS"/>
                <a:cs typeface="Comic Sans MS"/>
              </a:rPr>
              <a:t> </a:t>
            </a:r>
            <a:r>
              <a:rPr dirty="0" smtClean="0" sz="350" spc="0">
                <a:latin typeface="Comic Sans MS"/>
                <a:cs typeface="Comic Sans MS"/>
              </a:rPr>
              <a:t>=</a:t>
            </a:r>
            <a:r>
              <a:rPr dirty="0" smtClean="0" sz="350" spc="76">
                <a:latin typeface="Comic Sans MS"/>
                <a:cs typeface="Comic Sans MS"/>
              </a:rPr>
              <a:t> </a:t>
            </a:r>
            <a:r>
              <a:rPr dirty="0" smtClean="0" sz="350" spc="0">
                <a:latin typeface="Comic Sans MS"/>
                <a:cs typeface="Comic Sans MS"/>
              </a:rPr>
              <a:t>0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39870" y="1241689"/>
            <a:ext cx="568589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4920">
              <a:lnSpc>
                <a:spcPct val="116129"/>
              </a:lnSpc>
              <a:spcBef>
                <a:spcPts val="260"/>
              </a:spcBef>
            </a:pPr>
            <a:r>
              <a:rPr dirty="0" smtClean="0" sz="350" spc="14">
                <a:latin typeface="Comic Sans MS"/>
                <a:cs typeface="Comic Sans MS"/>
              </a:rPr>
              <a:t>o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39620" y="1470289"/>
            <a:ext cx="428625" cy="3143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6" name="object 26"/>
          <p:cNvSpPr txBox="1"/>
          <p:nvPr/>
        </p:nvSpPr>
        <p:spPr>
          <a:xfrm>
            <a:off x="4168245" y="1470289"/>
            <a:ext cx="257175" cy="3143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4425420" y="1470289"/>
            <a:ext cx="306044" cy="3143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39344">
              <a:lnSpc>
                <a:spcPts val="1300"/>
              </a:lnSpc>
              <a:spcBef>
                <a:spcPts val="87"/>
              </a:spcBef>
            </a:pPr>
            <a:endParaRPr sz="1300"/>
          </a:p>
          <a:p>
            <a:pPr marL="232538" algn="r">
              <a:lnSpc>
                <a:spcPts val="487"/>
              </a:lnSpc>
            </a:pPr>
            <a:r>
              <a:rPr dirty="0" smtClean="0" sz="350" spc="9">
                <a:latin typeface="Comic Sans MS"/>
                <a:cs typeface="Comic Sans MS"/>
              </a:rPr>
              <a:t>I</a:t>
            </a:r>
            <a:r>
              <a:rPr dirty="0" smtClean="0" sz="350" spc="9">
                <a:latin typeface="Comic Sans MS"/>
                <a:cs typeface="Comic Sans MS"/>
              </a:rPr>
              <a:t> </a:t>
            </a:r>
            <a:endParaRPr sz="350">
              <a:latin typeface="Comic Sans MS"/>
              <a:cs typeface="Comic Sans MS"/>
            </a:endParaRPr>
          </a:p>
          <a:p>
            <a:pPr marL="232538" algn="r">
              <a:lnSpc>
                <a:spcPts val="487"/>
              </a:lnSpc>
              <a:spcBef>
                <a:spcPts val="112"/>
              </a:spcBef>
            </a:pPr>
            <a:r>
              <a:rPr dirty="0" smtClean="0" sz="350" spc="9">
                <a:latin typeface="Comic Sans MS"/>
                <a:cs typeface="Comic Sans MS"/>
              </a:rPr>
              <a:t>A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92120" y="1470289"/>
            <a:ext cx="611698" cy="3143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49357" marR="305971" algn="ctr">
              <a:lnSpc>
                <a:spcPct val="116129"/>
              </a:lnSpc>
              <a:spcBef>
                <a:spcPts val="185"/>
              </a:spcBef>
            </a:pPr>
            <a:r>
              <a:rPr dirty="0" smtClean="0" sz="350" spc="25" b="1">
                <a:latin typeface="Comic Sans MS"/>
                <a:cs typeface="Comic Sans MS"/>
              </a:rPr>
              <a:t>Wait</a:t>
            </a:r>
            <a:endParaRPr sz="350">
              <a:latin typeface="Comic Sans MS"/>
              <a:cs typeface="Comic Sans MS"/>
            </a:endParaRPr>
          </a:p>
          <a:p>
            <a:pPr marL="2270">
              <a:lnSpc>
                <a:spcPct val="116129"/>
              </a:lnSpc>
              <a:spcBef>
                <a:spcPts val="712"/>
              </a:spcBef>
            </a:pPr>
            <a:r>
              <a:rPr dirty="0" smtClean="0" sz="350" spc="0">
                <a:latin typeface="Comic Sans MS"/>
                <a:cs typeface="Comic Sans MS"/>
              </a:rPr>
              <a:t>f</a:t>
            </a:r>
            <a:r>
              <a:rPr dirty="0" smtClean="0" sz="350" spc="47">
                <a:latin typeface="Comic Sans MS"/>
                <a:cs typeface="Comic Sans MS"/>
              </a:rPr>
              <a:t> </a:t>
            </a:r>
            <a:r>
              <a:rPr dirty="0" smtClean="0" sz="350" spc="9">
                <a:latin typeface="Comic Sans MS"/>
                <a:cs typeface="Comic Sans MS"/>
              </a:rPr>
              <a:t>valu</a:t>
            </a:r>
            <a:r>
              <a:rPr dirty="0" smtClean="0" sz="350" spc="0">
                <a:latin typeface="Comic Sans MS"/>
                <a:cs typeface="Comic Sans MS"/>
              </a:rPr>
              <a:t>e</a:t>
            </a:r>
            <a:r>
              <a:rPr dirty="0" smtClean="0" sz="350" spc="92">
                <a:latin typeface="Comic Sans MS"/>
                <a:cs typeface="Comic Sans MS"/>
              </a:rPr>
              <a:t> </a:t>
            </a:r>
            <a:r>
              <a:rPr dirty="0" smtClean="0" sz="350" spc="0">
                <a:latin typeface="Comic Sans MS"/>
                <a:cs typeface="Comic Sans MS"/>
              </a:rPr>
              <a:t>&lt;</a:t>
            </a:r>
            <a:r>
              <a:rPr dirty="0" smtClean="0" sz="350" spc="44">
                <a:latin typeface="Comic Sans MS"/>
                <a:cs typeface="Comic Sans MS"/>
              </a:rPr>
              <a:t> </a:t>
            </a:r>
            <a:r>
              <a:rPr dirty="0" smtClean="0" sz="350" spc="0">
                <a:latin typeface="Comic Sans MS"/>
                <a:cs typeface="Comic Sans MS"/>
              </a:rPr>
              <a:t>0</a:t>
            </a:r>
            <a:r>
              <a:rPr dirty="0" smtClean="0" sz="350" spc="0">
                <a:latin typeface="Comic Sans MS"/>
                <a:cs typeface="Comic Sans MS"/>
              </a:rPr>
              <a:t>                     </a:t>
            </a:r>
            <a:r>
              <a:rPr dirty="0" smtClean="0" sz="350" spc="34">
                <a:latin typeface="Comic Sans MS"/>
                <a:cs typeface="Comic Sans MS"/>
              </a:rPr>
              <a:t> </a:t>
            </a:r>
            <a:r>
              <a:rPr dirty="0" smtClean="0" sz="350" spc="19">
                <a:latin typeface="Comic Sans MS"/>
                <a:cs typeface="Comic Sans MS"/>
              </a:rPr>
              <a:t>I</a:t>
            </a:r>
            <a:endParaRPr sz="350">
              <a:latin typeface="Comic Sans MS"/>
              <a:cs typeface="Comic Sans MS"/>
            </a:endParaRPr>
          </a:p>
          <a:p>
            <a:pPr marL="11388" marR="49723">
              <a:lnSpc>
                <a:spcPct val="116129"/>
              </a:lnSpc>
              <a:spcBef>
                <a:spcPts val="110"/>
              </a:spcBef>
            </a:pPr>
            <a:r>
              <a:rPr dirty="0" smtClean="0" sz="350" spc="9">
                <a:latin typeface="Comic Sans MS"/>
                <a:cs typeface="Comic Sans MS"/>
              </a:rPr>
              <a:t>d</a:t>
            </a:r>
            <a:r>
              <a:rPr dirty="0" smtClean="0" sz="350" spc="0">
                <a:latin typeface="Comic Sans MS"/>
                <a:cs typeface="Comic Sans MS"/>
              </a:rPr>
              <a:t>d</a:t>
            </a:r>
            <a:r>
              <a:rPr dirty="0" smtClean="0" sz="350" spc="88">
                <a:latin typeface="Comic Sans MS"/>
                <a:cs typeface="Comic Sans MS"/>
              </a:rPr>
              <a:t> </a:t>
            </a:r>
            <a:r>
              <a:rPr dirty="0" smtClean="0" sz="350" spc="9">
                <a:latin typeface="Comic Sans MS"/>
                <a:cs typeface="Comic Sans MS"/>
              </a:rPr>
              <a:t>sel</a:t>
            </a:r>
            <a:r>
              <a:rPr dirty="0" smtClean="0" sz="350" spc="0">
                <a:latin typeface="Comic Sans MS"/>
                <a:cs typeface="Comic Sans MS"/>
              </a:rPr>
              <a:t>f</a:t>
            </a:r>
            <a:r>
              <a:rPr dirty="0" smtClean="0" sz="350" spc="103">
                <a:latin typeface="Comic Sans MS"/>
                <a:cs typeface="Comic Sans MS"/>
              </a:rPr>
              <a:t> </a:t>
            </a:r>
            <a:r>
              <a:rPr dirty="0" smtClean="0" sz="350" spc="9">
                <a:latin typeface="Comic Sans MS"/>
                <a:cs typeface="Comic Sans MS"/>
              </a:rPr>
              <a:t>t</a:t>
            </a:r>
            <a:r>
              <a:rPr dirty="0" smtClean="0" sz="350" spc="0">
                <a:latin typeface="Comic Sans MS"/>
                <a:cs typeface="Comic Sans MS"/>
              </a:rPr>
              <a:t>o</a:t>
            </a:r>
            <a:r>
              <a:rPr dirty="0" smtClean="0" sz="350" spc="83">
                <a:latin typeface="Comic Sans MS"/>
                <a:cs typeface="Comic Sans MS"/>
              </a:rPr>
              <a:t> </a:t>
            </a:r>
            <a:r>
              <a:rPr dirty="0" smtClean="0" sz="350" spc="9">
                <a:latin typeface="Comic Sans MS"/>
                <a:cs typeface="Comic Sans MS"/>
              </a:rPr>
              <a:t>queue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54095" y="1470289"/>
            <a:ext cx="548333" cy="3143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8004">
              <a:lnSpc>
                <a:spcPct val="116129"/>
              </a:lnSpc>
              <a:spcBef>
                <a:spcPts val="185"/>
              </a:spcBef>
            </a:pPr>
            <a:r>
              <a:rPr dirty="0" smtClean="0" sz="350" spc="34" b="1">
                <a:latin typeface="Comic Sans MS"/>
                <a:cs typeface="Comic Sans MS"/>
              </a:rPr>
              <a:t>Signa</a:t>
            </a:r>
            <a:r>
              <a:rPr dirty="0" smtClean="0" sz="350" spc="0" b="1">
                <a:latin typeface="Comic Sans MS"/>
                <a:cs typeface="Comic Sans MS"/>
              </a:rPr>
              <a:t>l</a:t>
            </a:r>
            <a:r>
              <a:rPr dirty="0" smtClean="0" sz="350" spc="0" b="1">
                <a:latin typeface="Comic Sans MS"/>
                <a:cs typeface="Comic Sans MS"/>
              </a:rPr>
              <a:t>         </a:t>
            </a:r>
            <a:r>
              <a:rPr dirty="0" smtClean="0" sz="350" spc="14" b="1">
                <a:latin typeface="Comic Sans MS"/>
                <a:cs typeface="Comic Sans MS"/>
              </a:rPr>
              <a:t> </a:t>
            </a:r>
            <a:r>
              <a:rPr dirty="0" smtClean="0" sz="350" spc="19">
                <a:latin typeface="Comic Sans MS"/>
                <a:cs typeface="Comic Sans MS"/>
              </a:rPr>
              <a:t>N</a:t>
            </a:r>
            <a:endParaRPr sz="350">
              <a:latin typeface="Comic Sans MS"/>
              <a:cs typeface="Comic Sans MS"/>
            </a:endParaRPr>
          </a:p>
          <a:p>
            <a:pPr marL="3538" marR="62558">
              <a:lnSpc>
                <a:spcPct val="116129"/>
              </a:lnSpc>
              <a:spcBef>
                <a:spcPts val="712"/>
              </a:spcBef>
            </a:pPr>
            <a:r>
              <a:rPr dirty="0" smtClean="0" sz="350" spc="0">
                <a:latin typeface="Comic Sans MS"/>
                <a:cs typeface="Comic Sans MS"/>
              </a:rPr>
              <a:t>f</a:t>
            </a:r>
            <a:r>
              <a:rPr dirty="0" smtClean="0" sz="350" spc="76">
                <a:latin typeface="Comic Sans MS"/>
                <a:cs typeface="Comic Sans MS"/>
              </a:rPr>
              <a:t> </a:t>
            </a:r>
            <a:r>
              <a:rPr dirty="0" smtClean="0" sz="350" spc="19">
                <a:latin typeface="Comic Sans MS"/>
                <a:cs typeface="Comic Sans MS"/>
              </a:rPr>
              <a:t>valu</a:t>
            </a:r>
            <a:r>
              <a:rPr dirty="0" smtClean="0" sz="350" spc="0">
                <a:latin typeface="Comic Sans MS"/>
                <a:cs typeface="Comic Sans MS"/>
              </a:rPr>
              <a:t>e</a:t>
            </a:r>
            <a:r>
              <a:rPr dirty="0" smtClean="0" sz="350" spc="0">
                <a:latin typeface="Comic Sans MS"/>
                <a:cs typeface="Comic Sans MS"/>
              </a:rPr>
              <a:t> </a:t>
            </a:r>
            <a:r>
              <a:rPr dirty="0" smtClean="0" sz="350" spc="17">
                <a:latin typeface="Comic Sans MS"/>
                <a:cs typeface="Comic Sans MS"/>
              </a:rPr>
              <a:t> </a:t>
            </a:r>
            <a:r>
              <a:rPr dirty="0" smtClean="0" sz="350" spc="19">
                <a:latin typeface="Comic Sans MS"/>
                <a:cs typeface="Comic Sans MS"/>
              </a:rPr>
              <a:t>&lt;=0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39870" y="1470289"/>
            <a:ext cx="568589" cy="3143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5516">
              <a:lnSpc>
                <a:spcPct val="116129"/>
              </a:lnSpc>
              <a:spcBef>
                <a:spcPts val="185"/>
              </a:spcBef>
            </a:pPr>
            <a:r>
              <a:rPr dirty="0" smtClean="0" sz="350" spc="19">
                <a:latin typeface="Comic Sans MS"/>
                <a:cs typeface="Comic Sans MS"/>
              </a:rPr>
              <a:t>o?</a:t>
            </a:r>
            <a:endParaRPr sz="350">
              <a:latin typeface="Comic Sans MS"/>
              <a:cs typeface="Comic Sans MS"/>
            </a:endParaRPr>
          </a:p>
          <a:p>
            <a:pPr marL="79904">
              <a:lnSpc>
                <a:spcPct val="116129"/>
              </a:lnSpc>
              <a:spcBef>
                <a:spcPts val="712"/>
              </a:spcBef>
            </a:pPr>
            <a:r>
              <a:rPr dirty="0" smtClean="0" sz="350" spc="9">
                <a:latin typeface="Comic Sans MS"/>
                <a:cs typeface="Comic Sans MS"/>
              </a:rPr>
              <a:t>Signal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39620" y="1784614"/>
            <a:ext cx="494609" cy="285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146">
              <a:lnSpc>
                <a:spcPct val="116129"/>
              </a:lnSpc>
              <a:spcBef>
                <a:spcPts val="95"/>
              </a:spcBef>
            </a:pPr>
            <a:r>
              <a:rPr dirty="0" smtClean="0" sz="500" spc="4">
                <a:latin typeface="Comic Sans MS"/>
                <a:cs typeface="Comic Sans MS"/>
              </a:rPr>
              <a:t>onditio</a:t>
            </a:r>
            <a:r>
              <a:rPr dirty="0" smtClean="0" sz="500" spc="0">
                <a:latin typeface="Comic Sans MS"/>
                <a:cs typeface="Comic Sans MS"/>
              </a:rPr>
              <a:t>n</a:t>
            </a:r>
            <a:r>
              <a:rPr dirty="0" smtClean="0" sz="500" spc="0">
                <a:latin typeface="Comic Sans MS"/>
                <a:cs typeface="Comic Sans MS"/>
              </a:rPr>
              <a:t>      </a:t>
            </a:r>
            <a:r>
              <a:rPr dirty="0" smtClean="0" sz="500" spc="107">
                <a:latin typeface="Comic Sans MS"/>
                <a:cs typeface="Comic Sans MS"/>
              </a:rPr>
              <a:t> </a:t>
            </a:r>
            <a:r>
              <a:rPr dirty="0" smtClean="0" sz="350" spc="19">
                <a:latin typeface="Comic Sans MS"/>
                <a:cs typeface="Comic Sans MS"/>
              </a:rPr>
              <a:t>N</a:t>
            </a:r>
            <a:endParaRPr sz="350">
              <a:latin typeface="Comic Sans MS"/>
              <a:cs typeface="Comic Sans MS"/>
            </a:endParaRPr>
          </a:p>
          <a:p>
            <a:pPr marL="7777" marR="65984">
              <a:lnSpc>
                <a:spcPts val="675"/>
              </a:lnSpc>
              <a:spcBef>
                <a:spcPts val="33"/>
              </a:spcBef>
            </a:pPr>
            <a:r>
              <a:rPr dirty="0" smtClean="0" sz="500" spc="0">
                <a:latin typeface="Comic Sans MS"/>
                <a:cs typeface="Comic Sans MS"/>
              </a:rPr>
              <a:t>ariable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68245" y="1784614"/>
            <a:ext cx="282390" cy="285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5626">
              <a:lnSpc>
                <a:spcPct val="116129"/>
              </a:lnSpc>
              <a:spcBef>
                <a:spcPts val="260"/>
              </a:spcBef>
            </a:pPr>
            <a:r>
              <a:rPr dirty="0" smtClean="0" sz="350" spc="19">
                <a:latin typeface="Comic Sans MS"/>
                <a:cs typeface="Comic Sans MS"/>
              </a:rPr>
              <a:t>/</a:t>
            </a:r>
            <a:r>
              <a:rPr dirty="0" smtClean="0" sz="350" spc="0">
                <a:latin typeface="Comic Sans MS"/>
                <a:cs typeface="Comic Sans MS"/>
              </a:rPr>
              <a:t>A</a:t>
            </a:r>
            <a:r>
              <a:rPr dirty="0" smtClean="0" sz="350" spc="0">
                <a:latin typeface="Comic Sans MS"/>
                <a:cs typeface="Comic Sans MS"/>
              </a:rPr>
              <a:t>           </a:t>
            </a:r>
            <a:r>
              <a:rPr dirty="0" smtClean="0" sz="350" spc="0">
                <a:latin typeface="Comic Sans MS"/>
                <a:cs typeface="Comic Sans MS"/>
              </a:rPr>
              <a:t> </a:t>
            </a:r>
            <a:r>
              <a:rPr dirty="0" smtClean="0" sz="350" spc="0">
                <a:latin typeface="Comic Sans MS"/>
                <a:cs typeface="Comic Sans MS"/>
              </a:rPr>
              <a:t>Y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25420" y="1784614"/>
            <a:ext cx="293332" cy="285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26632">
              <a:lnSpc>
                <a:spcPts val="750"/>
              </a:lnSpc>
              <a:spcBef>
                <a:spcPts val="37"/>
              </a:spcBef>
            </a:pPr>
            <a:endParaRPr sz="750"/>
          </a:p>
          <a:p>
            <a:pPr algn="r">
              <a:lnSpc>
                <a:spcPct val="116129"/>
              </a:lnSpc>
            </a:pPr>
            <a:r>
              <a:rPr dirty="0" smtClean="0" sz="350" spc="14">
                <a:latin typeface="Comic Sans MS"/>
                <a:cs typeface="Comic Sans MS"/>
              </a:rPr>
              <a:t>P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92120" y="1784614"/>
            <a:ext cx="599576" cy="285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5629" marR="37601">
              <a:lnSpc>
                <a:spcPct val="116129"/>
              </a:lnSpc>
              <a:spcBef>
                <a:spcPts val="260"/>
              </a:spcBef>
            </a:pPr>
            <a:r>
              <a:rPr dirty="0" smtClean="0" sz="350" spc="25" b="1">
                <a:latin typeface="Comic Sans MS"/>
                <a:cs typeface="Comic Sans MS"/>
              </a:rPr>
              <a:t>Wait</a:t>
            </a:r>
            <a:endParaRPr sz="350">
              <a:latin typeface="Comic Sans MS"/>
              <a:cs typeface="Comic Sans MS"/>
            </a:endParaRPr>
          </a:p>
          <a:p>
            <a:pPr marL="537104" indent="-535237" algn="just">
              <a:lnSpc>
                <a:spcPts val="487"/>
              </a:lnSpc>
              <a:spcBef>
                <a:spcPts val="35"/>
              </a:spcBef>
            </a:pPr>
            <a:r>
              <a:rPr dirty="0" smtClean="0" sz="350" spc="14">
                <a:latin typeface="Comic Sans MS"/>
                <a:cs typeface="Comic Sans MS"/>
              </a:rPr>
              <a:t>u</a:t>
            </a:r>
            <a:r>
              <a:rPr dirty="0" smtClean="0" sz="350" spc="0">
                <a:latin typeface="Comic Sans MS"/>
                <a:cs typeface="Comic Sans MS"/>
              </a:rPr>
              <a:t>t</a:t>
            </a:r>
            <a:r>
              <a:rPr dirty="0" smtClean="0" sz="350" spc="83">
                <a:latin typeface="Comic Sans MS"/>
                <a:cs typeface="Comic Sans MS"/>
              </a:rPr>
              <a:t> </a:t>
            </a:r>
            <a:r>
              <a:rPr dirty="0" smtClean="0" sz="350" spc="14">
                <a:latin typeface="Comic Sans MS"/>
                <a:cs typeface="Comic Sans MS"/>
              </a:rPr>
              <a:t>sel</a:t>
            </a:r>
            <a:r>
              <a:rPr dirty="0" smtClean="0" sz="350" spc="0">
                <a:latin typeface="Comic Sans MS"/>
                <a:cs typeface="Comic Sans MS"/>
              </a:rPr>
              <a:t>f</a:t>
            </a:r>
            <a:r>
              <a:rPr dirty="0" smtClean="0" sz="350" spc="103">
                <a:latin typeface="Comic Sans MS"/>
                <a:cs typeface="Comic Sans MS"/>
              </a:rPr>
              <a:t> </a:t>
            </a:r>
            <a:r>
              <a:rPr dirty="0" smtClean="0" sz="350" spc="14">
                <a:latin typeface="Comic Sans MS"/>
                <a:cs typeface="Comic Sans MS"/>
              </a:rPr>
              <a:t>o</a:t>
            </a:r>
            <a:r>
              <a:rPr dirty="0" smtClean="0" sz="350" spc="0">
                <a:latin typeface="Comic Sans MS"/>
                <a:cs typeface="Comic Sans MS"/>
              </a:rPr>
              <a:t>n</a:t>
            </a:r>
            <a:r>
              <a:rPr dirty="0" smtClean="0" sz="350" spc="84">
                <a:latin typeface="Comic Sans MS"/>
                <a:cs typeface="Comic Sans MS"/>
              </a:rPr>
              <a:t> </a:t>
            </a:r>
            <a:r>
              <a:rPr dirty="0" smtClean="0" sz="350" spc="14">
                <a:latin typeface="Comic Sans MS"/>
                <a:cs typeface="Comic Sans MS"/>
              </a:rPr>
              <a:t>queu</a:t>
            </a:r>
            <a:r>
              <a:rPr dirty="0" smtClean="0" sz="350" spc="0">
                <a:latin typeface="Comic Sans MS"/>
                <a:cs typeface="Comic Sans MS"/>
              </a:rPr>
              <a:t>e</a:t>
            </a:r>
            <a:r>
              <a:rPr dirty="0" smtClean="0" sz="350" spc="0">
                <a:latin typeface="Comic Sans MS"/>
                <a:cs typeface="Comic Sans MS"/>
              </a:rPr>
              <a:t>          </a:t>
            </a:r>
            <a:r>
              <a:rPr dirty="0" smtClean="0" sz="350" spc="59">
                <a:latin typeface="Comic Sans MS"/>
                <a:cs typeface="Comic Sans MS"/>
              </a:rPr>
              <a:t> </a:t>
            </a:r>
            <a:r>
              <a:rPr dirty="0" smtClean="0" sz="350" spc="9">
                <a:latin typeface="Comic Sans MS"/>
                <a:cs typeface="Comic Sans MS"/>
              </a:rPr>
              <a:t>I</a:t>
            </a:r>
            <a:r>
              <a:rPr dirty="0" smtClean="0" sz="350" spc="9">
                <a:latin typeface="Comic Sans MS"/>
                <a:cs typeface="Comic Sans MS"/>
              </a:rPr>
              <a:t> </a:t>
            </a:r>
            <a:r>
              <a:rPr dirty="0" smtClean="0" sz="350" spc="14">
                <a:latin typeface="Comic Sans MS"/>
                <a:cs typeface="Comic Sans MS"/>
              </a:rPr>
              <a:t>q</a:t>
            </a:r>
            <a:r>
              <a:rPr dirty="0" smtClean="0" sz="350" spc="14">
                <a:latin typeface="Comic Sans MS"/>
                <a:cs typeface="Comic Sans MS"/>
              </a:rPr>
              <a:t> </a:t>
            </a:r>
            <a:r>
              <a:rPr dirty="0" smtClean="0" sz="350" spc="25">
                <a:latin typeface="Comic Sans MS"/>
                <a:cs typeface="Comic Sans MS"/>
              </a:rPr>
              <a:t>o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54095" y="1784614"/>
            <a:ext cx="531911" cy="285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990" indent="116014" algn="just">
              <a:lnSpc>
                <a:spcPts val="537"/>
              </a:lnSpc>
              <a:spcBef>
                <a:spcPts val="260"/>
              </a:spcBef>
            </a:pPr>
            <a:r>
              <a:rPr dirty="0" smtClean="0" sz="350" spc="34" b="1">
                <a:latin typeface="Comic Sans MS"/>
                <a:cs typeface="Comic Sans MS"/>
              </a:rPr>
              <a:t>Signa</a:t>
            </a:r>
            <a:r>
              <a:rPr dirty="0" smtClean="0" sz="350" spc="0" b="1">
                <a:latin typeface="Comic Sans MS"/>
                <a:cs typeface="Comic Sans MS"/>
              </a:rPr>
              <a:t>l</a:t>
            </a:r>
            <a:r>
              <a:rPr dirty="0" smtClean="0" sz="350" spc="0" b="1">
                <a:latin typeface="Comic Sans MS"/>
                <a:cs typeface="Comic Sans MS"/>
              </a:rPr>
              <a:t>         </a:t>
            </a:r>
            <a:r>
              <a:rPr dirty="0" smtClean="0" sz="350" spc="14" b="1">
                <a:latin typeface="Comic Sans MS"/>
                <a:cs typeface="Comic Sans MS"/>
              </a:rPr>
              <a:t> </a:t>
            </a:r>
            <a:r>
              <a:rPr dirty="0" smtClean="0" sz="350" spc="-9">
                <a:latin typeface="Comic Sans MS"/>
                <a:cs typeface="Comic Sans MS"/>
              </a:rPr>
              <a:t>E</a:t>
            </a:r>
            <a:r>
              <a:rPr dirty="0" smtClean="0" sz="350" spc="12">
                <a:latin typeface="Comic Sans MS"/>
                <a:cs typeface="Comic Sans MS"/>
              </a:rPr>
              <a:t> </a:t>
            </a:r>
            <a:r>
              <a:rPr dirty="0" smtClean="0" sz="350" spc="0">
                <a:latin typeface="Comic Sans MS"/>
                <a:cs typeface="Comic Sans MS"/>
              </a:rPr>
              <a:t>f</a:t>
            </a:r>
            <a:r>
              <a:rPr dirty="0" smtClean="0" sz="350" spc="0">
                <a:latin typeface="Comic Sans MS"/>
                <a:cs typeface="Comic Sans MS"/>
              </a:rPr>
              <a:t> </a:t>
            </a:r>
            <a:r>
              <a:rPr dirty="0" smtClean="0" sz="350" spc="-50">
                <a:latin typeface="Comic Sans MS"/>
                <a:cs typeface="Comic Sans MS"/>
              </a:rPr>
              <a:t> </a:t>
            </a:r>
            <a:r>
              <a:rPr dirty="0" smtClean="0" sz="350" spc="9">
                <a:latin typeface="Comic Sans MS"/>
                <a:cs typeface="Comic Sans MS"/>
              </a:rPr>
              <a:t>proces</a:t>
            </a:r>
            <a:r>
              <a:rPr dirty="0" smtClean="0" sz="350" spc="0">
                <a:latin typeface="Comic Sans MS"/>
                <a:cs typeface="Comic Sans MS"/>
              </a:rPr>
              <a:t>s</a:t>
            </a:r>
            <a:r>
              <a:rPr dirty="0" smtClean="0" sz="350" spc="0">
                <a:latin typeface="Comic Sans MS"/>
                <a:cs typeface="Comic Sans MS"/>
              </a:rPr>
              <a:t> </a:t>
            </a:r>
            <a:r>
              <a:rPr dirty="0" smtClean="0" sz="350" spc="0">
                <a:latin typeface="Comic Sans MS"/>
                <a:cs typeface="Comic Sans MS"/>
              </a:rPr>
              <a:t> </a:t>
            </a:r>
            <a:r>
              <a:rPr dirty="0" smtClean="0" sz="350" spc="9">
                <a:latin typeface="Comic Sans MS"/>
                <a:cs typeface="Comic Sans MS"/>
              </a:rPr>
              <a:t>o</a:t>
            </a:r>
            <a:r>
              <a:rPr dirty="0" smtClean="0" sz="350" spc="0">
                <a:latin typeface="Comic Sans MS"/>
                <a:cs typeface="Comic Sans MS"/>
              </a:rPr>
              <a:t>n</a:t>
            </a:r>
            <a:r>
              <a:rPr dirty="0" smtClean="0" sz="350" spc="0">
                <a:latin typeface="Comic Sans MS"/>
                <a:cs typeface="Comic Sans MS"/>
              </a:rPr>
              <a:t>           </a:t>
            </a:r>
            <a:r>
              <a:rPr dirty="0" smtClean="0" sz="350" spc="23">
                <a:latin typeface="Comic Sans MS"/>
                <a:cs typeface="Comic Sans MS"/>
              </a:rPr>
              <a:t> </a:t>
            </a:r>
            <a:r>
              <a:rPr dirty="0" smtClean="0" sz="350" spc="25">
                <a:latin typeface="Comic Sans MS"/>
                <a:cs typeface="Comic Sans MS"/>
              </a:rPr>
              <a:t>S</a:t>
            </a:r>
            <a:r>
              <a:rPr dirty="0" smtClean="0" sz="350" spc="25">
                <a:latin typeface="Comic Sans MS"/>
                <a:cs typeface="Comic Sans MS"/>
              </a:rPr>
              <a:t> </a:t>
            </a:r>
            <a:r>
              <a:rPr dirty="0" smtClean="0" baseline="6834" sz="525" spc="14">
                <a:latin typeface="Comic Sans MS"/>
                <a:cs typeface="Comic Sans MS"/>
              </a:rPr>
              <a:t>ueue</a:t>
            </a:r>
            <a:r>
              <a:rPr dirty="0" smtClean="0" baseline="6834" sz="525" spc="0">
                <a:latin typeface="Comic Sans MS"/>
                <a:cs typeface="Comic Sans MS"/>
              </a:rPr>
              <a:t>,</a:t>
            </a:r>
            <a:r>
              <a:rPr dirty="0" smtClean="0" baseline="6834" sz="525" spc="0">
                <a:latin typeface="Comic Sans MS"/>
                <a:cs typeface="Comic Sans MS"/>
              </a:rPr>
              <a:t> </a:t>
            </a:r>
            <a:r>
              <a:rPr dirty="0" smtClean="0" baseline="6834" sz="525" spc="19">
                <a:latin typeface="Comic Sans MS"/>
                <a:cs typeface="Comic Sans MS"/>
              </a:rPr>
              <a:t> </a:t>
            </a:r>
            <a:r>
              <a:rPr dirty="0" smtClean="0" baseline="6834" sz="525" spc="14">
                <a:latin typeface="Comic Sans MS"/>
                <a:cs typeface="Comic Sans MS"/>
              </a:rPr>
              <a:t>wak</a:t>
            </a:r>
            <a:r>
              <a:rPr dirty="0" smtClean="0" baseline="6834" sz="525" spc="0">
                <a:latin typeface="Comic Sans MS"/>
                <a:cs typeface="Comic Sans MS"/>
              </a:rPr>
              <a:t>e</a:t>
            </a:r>
            <a:r>
              <a:rPr dirty="0" smtClean="0" baseline="6834" sz="525" spc="0">
                <a:latin typeface="Comic Sans MS"/>
                <a:cs typeface="Comic Sans MS"/>
              </a:rPr>
              <a:t> </a:t>
            </a:r>
            <a:r>
              <a:rPr dirty="0" smtClean="0" baseline="6834" sz="525" spc="15">
                <a:latin typeface="Comic Sans MS"/>
                <a:cs typeface="Comic Sans MS"/>
              </a:rPr>
              <a:t> </a:t>
            </a:r>
            <a:r>
              <a:rPr dirty="0" smtClean="0" baseline="6834" sz="525" spc="14">
                <a:latin typeface="Comic Sans MS"/>
                <a:cs typeface="Comic Sans MS"/>
              </a:rPr>
              <a:t>u</a:t>
            </a:r>
            <a:r>
              <a:rPr dirty="0" smtClean="0" baseline="6834" sz="525" spc="0">
                <a:latin typeface="Comic Sans MS"/>
                <a:cs typeface="Comic Sans MS"/>
              </a:rPr>
              <a:t>p</a:t>
            </a:r>
            <a:r>
              <a:rPr dirty="0" smtClean="0" baseline="6834" sz="525" spc="0">
                <a:latin typeface="Comic Sans MS"/>
                <a:cs typeface="Comic Sans MS"/>
              </a:rPr>
              <a:t>        </a:t>
            </a:r>
            <a:r>
              <a:rPr dirty="0" smtClean="0" baseline="6834" sz="525" spc="80">
                <a:latin typeface="Comic Sans MS"/>
                <a:cs typeface="Comic Sans MS"/>
              </a:rPr>
              <a:t> </a:t>
            </a:r>
            <a:r>
              <a:rPr dirty="0" smtClean="0" sz="350" spc="0">
                <a:latin typeface="Comic Sans MS"/>
                <a:cs typeface="Comic Sans MS"/>
              </a:rPr>
              <a:t>A</a:t>
            </a:r>
            <a:endParaRPr sz="350">
              <a:latin typeface="Comic Sans MS"/>
              <a:cs typeface="Comic Sans MS"/>
            </a:endParaRPr>
          </a:p>
          <a:p>
            <a:pPr marL="3402" marR="46136">
              <a:lnSpc>
                <a:spcPts val="320"/>
              </a:lnSpc>
              <a:spcBef>
                <a:spcPts val="70"/>
              </a:spcBef>
            </a:pPr>
            <a:r>
              <a:rPr dirty="0" smtClean="0" baseline="-6834" sz="525" spc="25">
                <a:latin typeface="Comic Sans MS"/>
                <a:cs typeface="Comic Sans MS"/>
              </a:rPr>
              <a:t>ne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39870" y="1784614"/>
            <a:ext cx="568589" cy="285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127" marR="383435" indent="-7359">
              <a:lnSpc>
                <a:spcPts val="487"/>
              </a:lnSpc>
              <a:spcBef>
                <a:spcPts val="260"/>
              </a:spcBef>
            </a:pPr>
            <a:r>
              <a:rPr dirty="0" smtClean="0" sz="350" spc="-9">
                <a:latin typeface="Comic Sans MS"/>
                <a:cs typeface="Comic Sans MS"/>
              </a:rPr>
              <a:t>as</a:t>
            </a:r>
            <a:r>
              <a:rPr dirty="0" smtClean="0" sz="350" spc="0">
                <a:latin typeface="Comic Sans MS"/>
                <a:cs typeface="Comic Sans MS"/>
              </a:rPr>
              <a:t>y</a:t>
            </a:r>
            <a:r>
              <a:rPr dirty="0" smtClean="0" sz="350" spc="72">
                <a:latin typeface="Comic Sans MS"/>
                <a:cs typeface="Comic Sans MS"/>
              </a:rPr>
              <a:t> </a:t>
            </a:r>
            <a:r>
              <a:rPr dirty="0" smtClean="0" sz="350" spc="-9">
                <a:latin typeface="Comic Sans MS"/>
                <a:cs typeface="Comic Sans MS"/>
              </a:rPr>
              <a:t>to</a:t>
            </a:r>
            <a:r>
              <a:rPr dirty="0" smtClean="0" sz="350" spc="-9">
                <a:latin typeface="Comic Sans MS"/>
                <a:cs typeface="Comic Sans MS"/>
              </a:rPr>
              <a:t> </a:t>
            </a:r>
            <a:r>
              <a:rPr dirty="0" smtClean="0" sz="350" spc="25">
                <a:latin typeface="Comic Sans MS"/>
                <a:cs typeface="Comic Sans MS"/>
              </a:rPr>
              <a:t>upport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39620" y="2070364"/>
            <a:ext cx="483510" cy="304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7619">
              <a:lnSpc>
                <a:spcPct val="100000"/>
              </a:lnSpc>
              <a:spcBef>
                <a:spcPts val="170"/>
              </a:spcBef>
            </a:pPr>
            <a:r>
              <a:rPr dirty="0" smtClean="0" sz="500" spc="4">
                <a:latin typeface="Comic Sans MS"/>
                <a:cs typeface="Comic Sans MS"/>
              </a:rPr>
              <a:t>ven</a:t>
            </a:r>
            <a:r>
              <a:rPr dirty="0" smtClean="0" sz="500" spc="0">
                <a:latin typeface="Comic Sans MS"/>
                <a:cs typeface="Comic Sans MS"/>
              </a:rPr>
              <a:t>t</a:t>
            </a:r>
            <a:r>
              <a:rPr dirty="0" smtClean="0" sz="500" spc="0">
                <a:latin typeface="Comic Sans MS"/>
                <a:cs typeface="Comic Sans MS"/>
              </a:rPr>
              <a:t>            </a:t>
            </a:r>
            <a:r>
              <a:rPr dirty="0" smtClean="0" sz="500" spc="19">
                <a:latin typeface="Comic Sans MS"/>
                <a:cs typeface="Comic Sans MS"/>
              </a:rPr>
              <a:t> </a:t>
            </a:r>
            <a:r>
              <a:rPr dirty="0" smtClean="0" baseline="6834" sz="525" spc="0">
                <a:latin typeface="Comic Sans MS"/>
                <a:cs typeface="Comic Sans MS"/>
              </a:rPr>
              <a:t>0</a:t>
            </a:r>
            <a:r>
              <a:rPr dirty="0" smtClean="0" baseline="6834" sz="525" spc="-75">
                <a:latin typeface="Comic Sans MS"/>
                <a:cs typeface="Comic Sans MS"/>
              </a:rPr>
              <a:t> 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68245" y="2070364"/>
            <a:ext cx="282390" cy="304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800">
              <a:lnSpc>
                <a:spcPct val="116129"/>
              </a:lnSpc>
              <a:spcBef>
                <a:spcPts val="260"/>
              </a:spcBef>
            </a:pPr>
            <a:r>
              <a:rPr dirty="0" smtClean="0" sz="350" spc="29">
                <a:latin typeface="Comic Sans MS"/>
                <a:cs typeface="Comic Sans MS"/>
              </a:rPr>
              <a:t>/</a:t>
            </a:r>
            <a:r>
              <a:rPr dirty="0" smtClean="0" sz="350" spc="0">
                <a:latin typeface="Comic Sans MS"/>
                <a:cs typeface="Comic Sans MS"/>
              </a:rPr>
              <a:t>1</a:t>
            </a:r>
            <a:r>
              <a:rPr dirty="0" smtClean="0" sz="350" spc="0">
                <a:latin typeface="Comic Sans MS"/>
                <a:cs typeface="Comic Sans MS"/>
              </a:rPr>
              <a:t>            </a:t>
            </a:r>
            <a:r>
              <a:rPr dirty="0" smtClean="0" sz="350" spc="48">
                <a:latin typeface="Comic Sans MS"/>
                <a:cs typeface="Comic Sans MS"/>
              </a:rPr>
              <a:t> </a:t>
            </a:r>
            <a:r>
              <a:rPr dirty="0" smtClean="0" sz="350" spc="0">
                <a:latin typeface="Comic Sans MS"/>
                <a:cs typeface="Comic Sans MS"/>
              </a:rPr>
              <a:t>Y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25420" y="2070364"/>
            <a:ext cx="293194" cy="304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26494">
              <a:lnSpc>
                <a:spcPts val="850"/>
              </a:lnSpc>
              <a:spcBef>
                <a:spcPts val="12"/>
              </a:spcBef>
            </a:pPr>
            <a:endParaRPr sz="850"/>
          </a:p>
          <a:p>
            <a:pPr algn="r">
              <a:lnSpc>
                <a:spcPct val="116129"/>
              </a:lnSpc>
            </a:pPr>
            <a:r>
              <a:rPr dirty="0" smtClean="0" sz="350" spc="9">
                <a:latin typeface="Comic Sans MS"/>
                <a:cs typeface="Comic Sans MS"/>
              </a:rPr>
              <a:t>I</a:t>
            </a:r>
            <a:endParaRPr sz="350">
              <a:latin typeface="Comic Sans MS"/>
              <a:cs typeface="Comic Sans MS"/>
            </a:endParaRPr>
          </a:p>
          <a:p>
            <a:pPr marR="3" algn="r">
              <a:lnSpc>
                <a:spcPts val="450"/>
              </a:lnSpc>
              <a:spcBef>
                <a:spcPts val="22"/>
              </a:spcBef>
            </a:pPr>
            <a:r>
              <a:rPr dirty="0" smtClean="0" sz="350" spc="14">
                <a:latin typeface="Comic Sans MS"/>
                <a:cs typeface="Comic Sans MS"/>
              </a:rPr>
              <a:t>s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92120" y="2070364"/>
            <a:ext cx="616722" cy="304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5629" marR="54747">
              <a:lnSpc>
                <a:spcPct val="116129"/>
              </a:lnSpc>
              <a:spcBef>
                <a:spcPts val="260"/>
              </a:spcBef>
            </a:pPr>
            <a:r>
              <a:rPr dirty="0" smtClean="0" sz="350" spc="25" b="1">
                <a:latin typeface="Comic Sans MS"/>
                <a:cs typeface="Comic Sans MS"/>
              </a:rPr>
              <a:t>Wait</a:t>
            </a:r>
            <a:endParaRPr sz="350">
              <a:latin typeface="Comic Sans MS"/>
              <a:cs typeface="Comic Sans MS"/>
            </a:endParaRPr>
          </a:p>
          <a:p>
            <a:pPr marL="2301">
              <a:lnSpc>
                <a:spcPct val="116129"/>
              </a:lnSpc>
              <a:spcBef>
                <a:spcPts val="110"/>
              </a:spcBef>
            </a:pPr>
            <a:r>
              <a:rPr dirty="0" smtClean="0" sz="350" spc="0">
                <a:latin typeface="Comic Sans MS"/>
                <a:cs typeface="Comic Sans MS"/>
              </a:rPr>
              <a:t>f</a:t>
            </a:r>
            <a:r>
              <a:rPr dirty="0" smtClean="0" sz="350" spc="52">
                <a:latin typeface="Comic Sans MS"/>
                <a:cs typeface="Comic Sans MS"/>
              </a:rPr>
              <a:t> </a:t>
            </a:r>
            <a:r>
              <a:rPr dirty="0" smtClean="0" sz="350" spc="9">
                <a:latin typeface="Comic Sans MS"/>
                <a:cs typeface="Comic Sans MS"/>
              </a:rPr>
              <a:t>Valu</a:t>
            </a:r>
            <a:r>
              <a:rPr dirty="0" smtClean="0" sz="350" spc="0">
                <a:latin typeface="Comic Sans MS"/>
                <a:cs typeface="Comic Sans MS"/>
              </a:rPr>
              <a:t>e</a:t>
            </a:r>
            <a:r>
              <a:rPr dirty="0" smtClean="0" sz="350" spc="101">
                <a:latin typeface="Comic Sans MS"/>
                <a:cs typeface="Comic Sans MS"/>
              </a:rPr>
              <a:t> </a:t>
            </a:r>
            <a:r>
              <a:rPr dirty="0" smtClean="0" sz="350" spc="0">
                <a:latin typeface="Comic Sans MS"/>
                <a:cs typeface="Comic Sans MS"/>
              </a:rPr>
              <a:t>=</a:t>
            </a:r>
            <a:r>
              <a:rPr dirty="0" smtClean="0" sz="350" spc="52">
                <a:latin typeface="Comic Sans MS"/>
                <a:cs typeface="Comic Sans MS"/>
              </a:rPr>
              <a:t> </a:t>
            </a:r>
            <a:r>
              <a:rPr dirty="0" smtClean="0" sz="350" spc="9">
                <a:latin typeface="Comic Sans MS"/>
                <a:cs typeface="Comic Sans MS"/>
              </a:rPr>
              <a:t>0</a:t>
            </a:r>
            <a:r>
              <a:rPr dirty="0" smtClean="0" sz="350" spc="0">
                <a:latin typeface="Comic Sans MS"/>
                <a:cs typeface="Comic Sans MS"/>
              </a:rPr>
              <a:t>,</a:t>
            </a:r>
            <a:r>
              <a:rPr dirty="0" smtClean="0" sz="350" spc="61">
                <a:latin typeface="Comic Sans MS"/>
                <a:cs typeface="Comic Sans MS"/>
              </a:rPr>
              <a:t> </a:t>
            </a:r>
            <a:r>
              <a:rPr dirty="0" smtClean="0" sz="350" spc="9">
                <a:latin typeface="Comic Sans MS"/>
                <a:cs typeface="Comic Sans MS"/>
              </a:rPr>
              <a:t>pu</a:t>
            </a:r>
            <a:r>
              <a:rPr dirty="0" smtClean="0" sz="350" spc="0">
                <a:latin typeface="Comic Sans MS"/>
                <a:cs typeface="Comic Sans MS"/>
              </a:rPr>
              <a:t>t</a:t>
            </a:r>
            <a:r>
              <a:rPr dirty="0" smtClean="0" sz="350" spc="0">
                <a:latin typeface="Comic Sans MS"/>
                <a:cs typeface="Comic Sans MS"/>
              </a:rPr>
              <a:t>            </a:t>
            </a:r>
            <a:r>
              <a:rPr dirty="0" smtClean="0" sz="350" spc="27">
                <a:latin typeface="Comic Sans MS"/>
                <a:cs typeface="Comic Sans MS"/>
              </a:rPr>
              <a:t> </a:t>
            </a:r>
            <a:r>
              <a:rPr dirty="0" smtClean="0" sz="350" spc="19">
                <a:latin typeface="Comic Sans MS"/>
                <a:cs typeface="Comic Sans MS"/>
              </a:rPr>
              <a:t>V</a:t>
            </a:r>
            <a:endParaRPr sz="350">
              <a:latin typeface="Comic Sans MS"/>
              <a:cs typeface="Comic Sans MS"/>
            </a:endParaRPr>
          </a:p>
          <a:p>
            <a:pPr marL="393" marR="54747">
              <a:lnSpc>
                <a:spcPts val="450"/>
              </a:lnSpc>
              <a:spcBef>
                <a:spcPts val="22"/>
              </a:spcBef>
            </a:pPr>
            <a:r>
              <a:rPr dirty="0" smtClean="0" sz="350" spc="14">
                <a:latin typeface="Comic Sans MS"/>
                <a:cs typeface="Comic Sans MS"/>
              </a:rPr>
              <a:t>el</a:t>
            </a:r>
            <a:r>
              <a:rPr dirty="0" smtClean="0" sz="350" spc="0">
                <a:latin typeface="Comic Sans MS"/>
                <a:cs typeface="Comic Sans MS"/>
              </a:rPr>
              <a:t>f</a:t>
            </a:r>
            <a:r>
              <a:rPr dirty="0" smtClean="0" sz="350" spc="96">
                <a:latin typeface="Comic Sans MS"/>
                <a:cs typeface="Comic Sans MS"/>
              </a:rPr>
              <a:t> </a:t>
            </a:r>
            <a:r>
              <a:rPr dirty="0" smtClean="0" sz="350" spc="14">
                <a:latin typeface="Comic Sans MS"/>
                <a:cs typeface="Comic Sans MS"/>
              </a:rPr>
              <a:t>o</a:t>
            </a:r>
            <a:r>
              <a:rPr dirty="0" smtClean="0" sz="350" spc="0">
                <a:latin typeface="Comic Sans MS"/>
                <a:cs typeface="Comic Sans MS"/>
              </a:rPr>
              <a:t>n</a:t>
            </a:r>
            <a:r>
              <a:rPr dirty="0" smtClean="0" sz="350" spc="89">
                <a:latin typeface="Comic Sans MS"/>
                <a:cs typeface="Comic Sans MS"/>
              </a:rPr>
              <a:t> </a:t>
            </a:r>
            <a:r>
              <a:rPr dirty="0" smtClean="0" sz="350" spc="14">
                <a:latin typeface="Comic Sans MS"/>
                <a:cs typeface="Comic Sans MS"/>
              </a:rPr>
              <a:t>queue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54095" y="2070364"/>
            <a:ext cx="544752" cy="304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8004">
              <a:lnSpc>
                <a:spcPct val="116129"/>
              </a:lnSpc>
              <a:spcBef>
                <a:spcPts val="260"/>
              </a:spcBef>
            </a:pPr>
            <a:r>
              <a:rPr dirty="0" smtClean="0" sz="350" spc="34" b="1">
                <a:latin typeface="Comic Sans MS"/>
                <a:cs typeface="Comic Sans MS"/>
              </a:rPr>
              <a:t>Signa</a:t>
            </a:r>
            <a:r>
              <a:rPr dirty="0" smtClean="0" sz="350" spc="0" b="1">
                <a:latin typeface="Comic Sans MS"/>
                <a:cs typeface="Comic Sans MS"/>
              </a:rPr>
              <a:t>l</a:t>
            </a:r>
            <a:r>
              <a:rPr dirty="0" smtClean="0" sz="350" spc="0" b="1">
                <a:latin typeface="Comic Sans MS"/>
                <a:cs typeface="Comic Sans MS"/>
              </a:rPr>
              <a:t>         </a:t>
            </a:r>
            <a:r>
              <a:rPr dirty="0" smtClean="0" sz="350" spc="14" b="1">
                <a:latin typeface="Comic Sans MS"/>
                <a:cs typeface="Comic Sans MS"/>
              </a:rPr>
              <a:t> </a:t>
            </a:r>
            <a:r>
              <a:rPr dirty="0" smtClean="0" sz="350" spc="9">
                <a:latin typeface="Comic Sans MS"/>
                <a:cs typeface="Comic Sans MS"/>
              </a:rPr>
              <a:t>D</a:t>
            </a:r>
            <a:endParaRPr sz="350">
              <a:latin typeface="Comic Sans MS"/>
              <a:cs typeface="Comic Sans MS"/>
            </a:endParaRPr>
          </a:p>
          <a:p>
            <a:pPr marL="8371" marR="58977">
              <a:lnSpc>
                <a:spcPct val="116129"/>
              </a:lnSpc>
              <a:spcBef>
                <a:spcPts val="110"/>
              </a:spcBef>
            </a:pPr>
            <a:r>
              <a:rPr dirty="0" smtClean="0" sz="350" spc="19">
                <a:latin typeface="Comic Sans MS"/>
                <a:cs typeface="Comic Sans MS"/>
              </a:rPr>
              <a:t>alu</a:t>
            </a:r>
            <a:r>
              <a:rPr dirty="0" smtClean="0" sz="350" spc="0">
                <a:latin typeface="Comic Sans MS"/>
                <a:cs typeface="Comic Sans MS"/>
              </a:rPr>
              <a:t>e</a:t>
            </a:r>
            <a:r>
              <a:rPr dirty="0" smtClean="0" sz="350" spc="0">
                <a:latin typeface="Comic Sans MS"/>
                <a:cs typeface="Comic Sans MS"/>
              </a:rPr>
              <a:t> </a:t>
            </a:r>
            <a:r>
              <a:rPr dirty="0" smtClean="0" sz="350" spc="5">
                <a:latin typeface="Comic Sans MS"/>
                <a:cs typeface="Comic Sans MS"/>
              </a:rPr>
              <a:t> </a:t>
            </a:r>
            <a:r>
              <a:rPr dirty="0" smtClean="0" sz="350" spc="0">
                <a:latin typeface="Comic Sans MS"/>
                <a:cs typeface="Comic Sans MS"/>
              </a:rPr>
              <a:t>=</a:t>
            </a:r>
            <a:r>
              <a:rPr dirty="0" smtClean="0" sz="350" spc="76">
                <a:latin typeface="Comic Sans MS"/>
                <a:cs typeface="Comic Sans MS"/>
              </a:rPr>
              <a:t> </a:t>
            </a:r>
            <a:r>
              <a:rPr dirty="0" smtClean="0" sz="350" spc="0">
                <a:latin typeface="Comic Sans MS"/>
                <a:cs typeface="Comic Sans MS"/>
              </a:rPr>
              <a:t>1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39870" y="2070364"/>
            <a:ext cx="568589" cy="304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87">
              <a:lnSpc>
                <a:spcPct val="116129"/>
              </a:lnSpc>
              <a:spcBef>
                <a:spcPts val="260"/>
              </a:spcBef>
            </a:pPr>
            <a:r>
              <a:rPr dirty="0" smtClean="0" sz="350" spc="9">
                <a:latin typeface="Comic Sans MS"/>
                <a:cs typeface="Comic Sans MS"/>
              </a:rPr>
              <a:t>efaul</a:t>
            </a:r>
            <a:r>
              <a:rPr dirty="0" smtClean="0" sz="350" spc="0">
                <a:latin typeface="Comic Sans MS"/>
                <a:cs typeface="Comic Sans MS"/>
              </a:rPr>
              <a:t>t</a:t>
            </a:r>
            <a:r>
              <a:rPr dirty="0" smtClean="0" sz="350" spc="0">
                <a:latin typeface="Comic Sans MS"/>
                <a:cs typeface="Comic Sans MS"/>
              </a:rPr>
              <a:t> </a:t>
            </a:r>
            <a:r>
              <a:rPr dirty="0" smtClean="0" sz="350" spc="19">
                <a:latin typeface="Comic Sans MS"/>
                <a:cs typeface="Comic Sans MS"/>
              </a:rPr>
              <a:t> </a:t>
            </a:r>
            <a:r>
              <a:rPr dirty="0" smtClean="0" sz="350" spc="9">
                <a:latin typeface="Comic Sans MS"/>
                <a:cs typeface="Comic Sans MS"/>
              </a:rPr>
              <a:t>signa</a:t>
            </a:r>
            <a:r>
              <a:rPr dirty="0" smtClean="0" sz="350" spc="0">
                <a:latin typeface="Comic Sans MS"/>
                <a:cs typeface="Comic Sans MS"/>
              </a:rPr>
              <a:t>l</a:t>
            </a:r>
            <a:r>
              <a:rPr dirty="0" smtClean="0" sz="350" spc="0">
                <a:latin typeface="Comic Sans MS"/>
                <a:cs typeface="Comic Sans MS"/>
              </a:rPr>
              <a:t> </a:t>
            </a:r>
            <a:r>
              <a:rPr dirty="0" smtClean="0" sz="350" spc="13">
                <a:latin typeface="Comic Sans MS"/>
                <a:cs typeface="Comic Sans MS"/>
              </a:rPr>
              <a:t> </a:t>
            </a:r>
            <a:r>
              <a:rPr dirty="0" smtClean="0" sz="350" spc="9">
                <a:latin typeface="Comic Sans MS"/>
                <a:cs typeface="Comic Sans MS"/>
              </a:rPr>
              <a:t>does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39620" y="2375164"/>
            <a:ext cx="428625" cy="200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4168245" y="2375164"/>
            <a:ext cx="257175" cy="200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4425420" y="2375164"/>
            <a:ext cx="266700" cy="200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4692120" y="2375164"/>
            <a:ext cx="581844" cy="200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19869">
              <a:lnSpc>
                <a:spcPts val="700"/>
              </a:lnSpc>
              <a:spcBef>
                <a:spcPts val="12"/>
              </a:spcBef>
            </a:pPr>
            <a:endParaRPr sz="700"/>
          </a:p>
          <a:p>
            <a:pPr algn="r">
              <a:lnSpc>
                <a:spcPct val="116129"/>
              </a:lnSpc>
            </a:pPr>
            <a:r>
              <a:rPr dirty="0" smtClean="0" sz="350" spc="25">
                <a:latin typeface="Comic Sans MS"/>
                <a:cs typeface="Comic Sans MS"/>
              </a:rPr>
              <a:t>in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54095" y="2375164"/>
            <a:ext cx="485775" cy="200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00"/>
              </a:lnSpc>
              <a:spcBef>
                <a:spcPts val="12"/>
              </a:spcBef>
            </a:pPr>
            <a:endParaRPr sz="700"/>
          </a:p>
          <a:p>
            <a:pPr marL="38919">
              <a:lnSpc>
                <a:spcPct val="116129"/>
              </a:lnSpc>
            </a:pPr>
            <a:r>
              <a:rPr dirty="0" smtClean="0" sz="350" spc="25">
                <a:latin typeface="Comic Sans MS"/>
                <a:cs typeface="Comic Sans MS"/>
              </a:rPr>
              <a:t>monitor</a:t>
            </a:r>
            <a:endParaRPr sz="35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39870" y="2375164"/>
            <a:ext cx="568589" cy="200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3629025" y="2575189"/>
            <a:ext cx="2679435" cy="3394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0"/>
              </a:lnSpc>
              <a:spcBef>
                <a:spcPts val="46"/>
              </a:spcBef>
            </a:pPr>
            <a:endParaRPr sz="850"/>
          </a:p>
          <a:p>
            <a:pPr marR="112447" algn="r">
              <a:lnSpc>
                <a:spcPct val="95825"/>
              </a:lnSpc>
              <a:spcBef>
                <a:spcPts val="1000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0">
                <a:latin typeface="Times New Roman"/>
                <a:cs typeface="Times New Roman"/>
              </a:rPr>
              <a:t>2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3400" y="904875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00"/>
              </a:lnSpc>
              <a:spcBef>
                <a:spcPts val="27"/>
              </a:spcBef>
            </a:pPr>
            <a:endParaRPr sz="600"/>
          </a:p>
          <a:p>
            <a:pPr marL="371421" marR="447636" algn="ctr">
              <a:lnSpc>
                <a:spcPct val="116129"/>
              </a:lnSpc>
              <a:spcBef>
                <a:spcPts val="3000"/>
              </a:spcBef>
            </a:pPr>
            <a:r>
              <a:rPr dirty="0" smtClean="0" sz="1200" spc="-9" u="sng">
                <a:solidFill>
                  <a:srgbClr val="3333CC"/>
                </a:solidFill>
                <a:latin typeface="Comic Sans MS"/>
                <a:cs typeface="Comic Sans MS"/>
              </a:rPr>
              <a:t>8: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9" u="sng">
                <a:solidFill>
                  <a:srgbClr val="3333CC"/>
                </a:solidFill>
                <a:latin typeface="Comic Sans MS"/>
                <a:cs typeface="Comic Sans MS"/>
              </a:rPr>
              <a:t>Classic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9" u="sng">
                <a:solidFill>
                  <a:srgbClr val="3333CC"/>
                </a:solidFill>
                <a:latin typeface="Comic Sans MS"/>
                <a:cs typeface="Comic Sans MS"/>
              </a:rPr>
              <a:t>Synchronization</a:t>
            </a:r>
            <a:endParaRPr sz="1200">
              <a:latin typeface="Comic Sans MS"/>
              <a:cs typeface="Comic Sans MS"/>
            </a:endParaRPr>
          </a:p>
          <a:p>
            <a:pPr marL="490219" marR="575950" algn="ctr">
              <a:lnSpc>
                <a:spcPts val="1425"/>
              </a:lnSpc>
              <a:spcBef>
                <a:spcPts val="71"/>
              </a:spcBef>
            </a:pPr>
            <a:r>
              <a:rPr dirty="0" smtClean="0" baseline="1993" sz="1800" spc="-25" u="sng">
                <a:solidFill>
                  <a:srgbClr val="3333CC"/>
                </a:solidFill>
                <a:latin typeface="Comic Sans MS"/>
                <a:cs typeface="Comic Sans MS"/>
              </a:rPr>
              <a:t>Problems</a:t>
            </a:r>
            <a:r>
              <a:rPr dirty="0" smtClean="0" baseline="1993" sz="18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baseline="1993" sz="1800" spc="-25" u="sng">
                <a:solidFill>
                  <a:srgbClr val="3333CC"/>
                </a:solidFill>
                <a:latin typeface="Comic Sans MS"/>
                <a:cs typeface="Comic Sans MS"/>
              </a:rPr>
              <a:t>and</a:t>
            </a:r>
            <a:r>
              <a:rPr dirty="0" smtClean="0" baseline="1993" sz="18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baseline="1993" sz="1800" spc="-25" u="sng">
                <a:solidFill>
                  <a:srgbClr val="3333CC"/>
                </a:solidFill>
                <a:latin typeface="Comic Sans MS"/>
                <a:cs typeface="Comic Sans MS"/>
              </a:rPr>
              <a:t>Deadlock</a:t>
            </a:r>
            <a:endParaRPr sz="1200">
              <a:latin typeface="Comic Sans MS"/>
              <a:cs typeface="Comic Sans MS"/>
            </a:endParaRPr>
          </a:p>
          <a:p>
            <a:pPr marL="865266" marR="1065289" algn="ctr">
              <a:lnSpc>
                <a:spcPct val="116129"/>
              </a:lnSpc>
              <a:spcBef>
                <a:spcPts val="722"/>
              </a:spcBef>
            </a:pPr>
            <a:r>
              <a:rPr dirty="0" smtClean="0" sz="800" spc="0">
                <a:latin typeface="Comic Sans MS"/>
                <a:cs typeface="Comic Sans MS"/>
              </a:rPr>
              <a:t>Last</a:t>
            </a:r>
            <a:r>
              <a:rPr dirty="0" smtClean="0" sz="800" spc="38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Modified:</a:t>
            </a:r>
            <a:endParaRPr sz="800">
              <a:latin typeface="Comic Sans MS"/>
              <a:cs typeface="Comic Sans MS"/>
            </a:endParaRPr>
          </a:p>
          <a:p>
            <a:pPr marL="636666" marR="827173" algn="ctr">
              <a:lnSpc>
                <a:spcPct val="116129"/>
              </a:lnSpc>
              <a:spcBef>
                <a:spcPts val="10"/>
              </a:spcBef>
            </a:pPr>
            <a:r>
              <a:rPr dirty="0" smtClean="0" sz="800" spc="0">
                <a:latin typeface="Comic Sans MS"/>
                <a:cs typeface="Comic Sans MS"/>
              </a:rPr>
              <a:t>6/14/2004</a:t>
            </a:r>
            <a:r>
              <a:rPr dirty="0" smtClean="0" sz="800" spc="11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11:54:49</a:t>
            </a:r>
            <a:r>
              <a:rPr dirty="0" smtClean="0" sz="800" spc="84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AM</a:t>
            </a:r>
            <a:endParaRPr sz="800">
              <a:latin typeface="Comic Sans MS"/>
              <a:cs typeface="Comic Sans MS"/>
            </a:endParaRPr>
          </a:p>
          <a:p>
            <a:pPr marR="119062" algn="r">
              <a:lnSpc>
                <a:spcPct val="95825"/>
              </a:lnSpc>
              <a:spcBef>
                <a:spcPts val="5290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0">
                <a:latin typeface="Times New Roman"/>
                <a:cs typeface="Times New Roman"/>
              </a:rPr>
              <a:t>1</a:t>
            </a:r>
            <a:endParaRPr sz="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bject 42"/>
          <p:cNvSpPr/>
          <p:nvPr/>
        </p:nvSpPr>
        <p:spPr>
          <a:xfrm>
            <a:off x="2276475" y="11239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18192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533400" y="904875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/>
          <p:nvPr/>
        </p:nvSpPr>
        <p:spPr>
          <a:xfrm>
            <a:off x="5372100" y="11239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4914900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" name="object 41"/>
          <p:cNvSpPr/>
          <p:nvPr/>
        </p:nvSpPr>
        <p:spPr>
          <a:xfrm>
            <a:off x="3629025" y="904875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1847850" y="38671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533400" y="3562350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6057900" y="3781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5819775" y="39624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3629025" y="3562350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2028825" y="64389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1828800" y="66198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533400" y="6219825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6057900" y="64389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4800600" y="66198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3629025" y="6219825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930650" y="1555024"/>
            <a:ext cx="463550" cy="825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55"/>
              </a:spcBef>
            </a:pPr>
            <a:r>
              <a:rPr dirty="0" smtClean="0" sz="450" spc="19">
                <a:latin typeface="Courier New"/>
                <a:cs typeface="Courier New"/>
              </a:rPr>
              <a:t>wait(empty);</a:t>
            </a:r>
            <a:endParaRPr sz="45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21275" y="1574074"/>
            <a:ext cx="425444" cy="825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55"/>
              </a:spcBef>
            </a:pPr>
            <a:r>
              <a:rPr dirty="0" smtClean="0" sz="450" spc="14">
                <a:latin typeface="Courier New"/>
                <a:cs typeface="Courier New"/>
              </a:rPr>
              <a:t>wait(full);</a:t>
            </a:r>
            <a:endParaRPr sz="4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30650" y="1897924"/>
            <a:ext cx="749300" cy="825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55"/>
              </a:spcBef>
            </a:pPr>
            <a:r>
              <a:rPr dirty="0" smtClean="0" sz="450" spc="29">
                <a:latin typeface="Courier New"/>
                <a:cs typeface="Courier New"/>
              </a:rPr>
              <a:t>whic</a:t>
            </a:r>
            <a:r>
              <a:rPr dirty="0" smtClean="0" sz="450" spc="-44">
                <a:latin typeface="Courier New"/>
                <a:cs typeface="Courier New"/>
              </a:rPr>
              <a:t>h</a:t>
            </a:r>
            <a:r>
              <a:rPr dirty="0" smtClean="0" sz="450" spc="29">
                <a:latin typeface="Courier New"/>
                <a:cs typeface="Courier New"/>
              </a:rPr>
              <a:t>-</a:t>
            </a:r>
            <a:r>
              <a:rPr dirty="0" smtClean="0" sz="450" spc="9">
                <a:latin typeface="Courier New"/>
                <a:cs typeface="Courier New"/>
              </a:rPr>
              <a:t>&gt;fre</a:t>
            </a:r>
            <a:r>
              <a:rPr dirty="0" smtClean="0" sz="450" spc="0">
                <a:latin typeface="Courier New"/>
                <a:cs typeface="Courier New"/>
              </a:rPr>
              <a:t>e</a:t>
            </a:r>
            <a:r>
              <a:rPr dirty="0" smtClean="0" sz="450" spc="39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=</a:t>
            </a:r>
            <a:r>
              <a:rPr dirty="0" smtClean="0" sz="450" spc="39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FALSE;</a:t>
            </a:r>
            <a:endParaRPr sz="4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21275" y="1916974"/>
            <a:ext cx="930278" cy="825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55"/>
              </a:spcBef>
            </a:pPr>
            <a:r>
              <a:rPr dirty="0" smtClean="0" sz="450" spc="14">
                <a:latin typeface="Courier New"/>
                <a:cs typeface="Courier New"/>
              </a:rPr>
              <a:t>consumeItem</a:t>
            </a:r>
            <a:r>
              <a:rPr dirty="0" smtClean="0" sz="450" spc="19">
                <a:latin typeface="Courier New"/>
                <a:cs typeface="Courier New"/>
              </a:rPr>
              <a:t>(whic</a:t>
            </a:r>
            <a:r>
              <a:rPr dirty="0" smtClean="0" sz="450" spc="-59">
                <a:latin typeface="Courier New"/>
                <a:cs typeface="Courier New"/>
              </a:rPr>
              <a:t>h</a:t>
            </a:r>
            <a:r>
              <a:rPr dirty="0" smtClean="0" sz="450" spc="29">
                <a:latin typeface="Courier New"/>
                <a:cs typeface="Courier New"/>
              </a:rPr>
              <a:t>-</a:t>
            </a:r>
            <a:r>
              <a:rPr dirty="0" smtClean="0" sz="450" spc="19">
                <a:latin typeface="Courier New"/>
                <a:cs typeface="Courier New"/>
              </a:rPr>
              <a:t>&gt;item);</a:t>
            </a:r>
            <a:endParaRPr sz="4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97300" y="3810129"/>
            <a:ext cx="2067566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00"/>
              </a:lnSpc>
              <a:spcBef>
                <a:spcPts val="70"/>
              </a:spcBef>
            </a:pPr>
            <a:r>
              <a:rPr dirty="0" smtClean="0" baseline="1993" sz="1800" spc="-19" u="sng">
                <a:solidFill>
                  <a:srgbClr val="3333CC"/>
                </a:solidFill>
                <a:latin typeface="Comic Sans MS"/>
                <a:cs typeface="Comic Sans MS"/>
              </a:rPr>
              <a:t>Writers</a:t>
            </a:r>
            <a:r>
              <a:rPr dirty="0" smtClean="0" baseline="1993" sz="18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baseline="1993" sz="1800" spc="-19" u="sng">
                <a:solidFill>
                  <a:srgbClr val="3333CC"/>
                </a:solidFill>
                <a:latin typeface="Comic Sans MS"/>
                <a:cs typeface="Comic Sans MS"/>
              </a:rPr>
              <a:t>(Reader</a:t>
            </a:r>
            <a:r>
              <a:rPr dirty="0" smtClean="0" baseline="1993" sz="18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baseline="1993" sz="1800" spc="-19" u="sng">
                <a:solidFill>
                  <a:srgbClr val="3333CC"/>
                </a:solidFill>
                <a:latin typeface="Comic Sans MS"/>
                <a:cs typeface="Comic Sans MS"/>
              </a:rPr>
              <a:t>Preference)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7300" y="4117249"/>
            <a:ext cx="812164" cy="825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55"/>
              </a:spcBef>
            </a:pPr>
            <a:r>
              <a:rPr dirty="0" smtClean="0" sz="450" spc="14">
                <a:latin typeface="Courier New"/>
                <a:cs typeface="Courier New"/>
              </a:rPr>
              <a:t>semaphore_</a:t>
            </a:r>
            <a:r>
              <a:rPr dirty="0" smtClean="0" sz="450" spc="0">
                <a:latin typeface="Courier New"/>
                <a:cs typeface="Courier New"/>
              </a:rPr>
              <a:t>t</a:t>
            </a:r>
            <a:r>
              <a:rPr dirty="0" smtClean="0" sz="450" spc="44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okToWrit</a:t>
            </a:r>
            <a:r>
              <a:rPr dirty="0" smtClean="0" sz="450" spc="-59">
                <a:latin typeface="Courier New"/>
                <a:cs typeface="Courier New"/>
              </a:rPr>
              <a:t>e</a:t>
            </a:r>
            <a:r>
              <a:rPr dirty="0" smtClean="0" sz="450" spc="0">
                <a:latin typeface="Courier New"/>
                <a:cs typeface="Courier New"/>
              </a:rPr>
              <a:t>;</a:t>
            </a:r>
            <a:endParaRPr sz="4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35525" y="4336324"/>
            <a:ext cx="1320800" cy="1682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55"/>
              </a:spcBef>
            </a:pPr>
            <a:r>
              <a:rPr dirty="0" smtClean="0" sz="450" spc="29">
                <a:latin typeface="Courier New"/>
                <a:cs typeface="Courier New"/>
              </a:rPr>
              <a:t>i</a:t>
            </a:r>
            <a:r>
              <a:rPr dirty="0" smtClean="0" sz="450" spc="0">
                <a:latin typeface="Courier New"/>
                <a:cs typeface="Courier New"/>
              </a:rPr>
              <a:t>f</a:t>
            </a:r>
            <a:r>
              <a:rPr dirty="0" smtClean="0" sz="450" spc="59">
                <a:latin typeface="Courier New"/>
                <a:cs typeface="Courier New"/>
              </a:rPr>
              <a:t> </a:t>
            </a:r>
            <a:r>
              <a:rPr dirty="0" smtClean="0" sz="450" spc="29">
                <a:latin typeface="Courier New"/>
                <a:cs typeface="Courier New"/>
              </a:rPr>
              <a:t>(</a:t>
            </a:r>
            <a:r>
              <a:rPr dirty="0" smtClean="0" sz="450" spc="0">
                <a:latin typeface="Courier New"/>
                <a:cs typeface="Courier New"/>
              </a:rPr>
              <a:t>numReaders</a:t>
            </a:r>
            <a:r>
              <a:rPr dirty="0" smtClean="0" sz="450" spc="104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==1)</a:t>
            </a:r>
            <a:endParaRPr sz="450">
              <a:latin typeface="Courier New"/>
              <a:cs typeface="Courier New"/>
            </a:endParaRPr>
          </a:p>
          <a:p>
            <a:pPr marL="88900">
              <a:lnSpc>
                <a:spcPct val="94401"/>
              </a:lnSpc>
              <a:spcBef>
                <a:spcPts val="165"/>
              </a:spcBef>
            </a:pPr>
            <a:r>
              <a:rPr dirty="0" smtClean="0" sz="450" spc="14">
                <a:latin typeface="Courier New"/>
                <a:cs typeface="Courier New"/>
              </a:rPr>
              <a:t>wait(okToWrite</a:t>
            </a:r>
            <a:r>
              <a:rPr dirty="0" smtClean="0" sz="450" spc="9">
                <a:latin typeface="Courier New"/>
                <a:cs typeface="Courier New"/>
              </a:rPr>
              <a:t>)</a:t>
            </a:r>
            <a:r>
              <a:rPr dirty="0" smtClean="0" sz="450" spc="0">
                <a:latin typeface="Courier New"/>
                <a:cs typeface="Courier New"/>
              </a:rPr>
              <a:t>;</a:t>
            </a:r>
            <a:r>
              <a:rPr dirty="0" smtClean="0" sz="450" spc="25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//no</a:t>
            </a:r>
            <a:r>
              <a:rPr dirty="0" smtClean="0" sz="450" spc="0">
                <a:latin typeface="Courier New"/>
                <a:cs typeface="Courier New"/>
              </a:rPr>
              <a:t>t</a:t>
            </a:r>
            <a:r>
              <a:rPr dirty="0" smtClean="0" sz="450" spc="24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o</a:t>
            </a:r>
            <a:r>
              <a:rPr dirty="0" smtClean="0" sz="450" spc="0">
                <a:latin typeface="Courier New"/>
                <a:cs typeface="Courier New"/>
              </a:rPr>
              <a:t>k</a:t>
            </a:r>
            <a:r>
              <a:rPr dirty="0" smtClean="0" sz="450" spc="25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t</a:t>
            </a:r>
            <a:r>
              <a:rPr dirty="0" smtClean="0" sz="450" spc="0">
                <a:latin typeface="Courier New"/>
                <a:cs typeface="Courier New"/>
              </a:rPr>
              <a:t>o</a:t>
            </a:r>
            <a:r>
              <a:rPr dirty="0" smtClean="0" sz="450" spc="25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write</a:t>
            </a:r>
            <a:endParaRPr sz="4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02075" y="4431574"/>
            <a:ext cx="606421" cy="825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55"/>
              </a:spcBef>
            </a:pPr>
            <a:r>
              <a:rPr dirty="0" smtClean="0" sz="450" spc="29">
                <a:latin typeface="Courier New"/>
                <a:cs typeface="Courier New"/>
              </a:rPr>
              <a:t>mute</a:t>
            </a:r>
            <a:r>
              <a:rPr dirty="0" smtClean="0" sz="450" spc="-44">
                <a:latin typeface="Courier New"/>
                <a:cs typeface="Courier New"/>
              </a:rPr>
              <a:t>x</a:t>
            </a:r>
            <a:r>
              <a:rPr dirty="0" smtClean="0" sz="450" spc="14">
                <a:latin typeface="Courier New"/>
                <a:cs typeface="Courier New"/>
              </a:rPr>
              <a:t>.valu</a:t>
            </a:r>
            <a:r>
              <a:rPr dirty="0" smtClean="0" sz="450" spc="0">
                <a:latin typeface="Courier New"/>
                <a:cs typeface="Courier New"/>
              </a:rPr>
              <a:t>e</a:t>
            </a:r>
            <a:r>
              <a:rPr dirty="0" smtClean="0" sz="450" spc="44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=</a:t>
            </a:r>
            <a:r>
              <a:rPr dirty="0" smtClean="0" sz="450" spc="44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1;</a:t>
            </a:r>
            <a:endParaRPr sz="4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02075" y="4593499"/>
            <a:ext cx="568325" cy="825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55"/>
              </a:spcBef>
            </a:pPr>
            <a:r>
              <a:rPr dirty="0" smtClean="0" sz="450" spc="9">
                <a:latin typeface="Courier New"/>
                <a:cs typeface="Courier New"/>
              </a:rPr>
              <a:t>numReader</a:t>
            </a:r>
            <a:r>
              <a:rPr dirty="0" smtClean="0" sz="450" spc="0">
                <a:latin typeface="Courier New"/>
                <a:cs typeface="Courier New"/>
              </a:rPr>
              <a:t>s</a:t>
            </a:r>
            <a:r>
              <a:rPr dirty="0" smtClean="0" sz="450" spc="114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=</a:t>
            </a:r>
            <a:r>
              <a:rPr dirty="0" smtClean="0" sz="450" spc="-14">
                <a:latin typeface="Courier New"/>
                <a:cs typeface="Courier New"/>
              </a:rPr>
              <a:t> </a:t>
            </a:r>
            <a:r>
              <a:rPr dirty="0" smtClean="0" sz="450" spc="29">
                <a:latin typeface="Courier New"/>
                <a:cs typeface="Courier New"/>
              </a:rPr>
              <a:t>0;</a:t>
            </a:r>
            <a:endParaRPr sz="4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97300" y="4752899"/>
            <a:ext cx="482602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9">
                <a:latin typeface="Courier New"/>
                <a:cs typeface="Courier New"/>
              </a:rPr>
              <a:t>voi</a:t>
            </a:r>
            <a:r>
              <a:rPr dirty="0" smtClean="0" sz="350" spc="0">
                <a:latin typeface="Courier New"/>
                <a:cs typeface="Courier New"/>
              </a:rPr>
              <a:t>d</a:t>
            </a:r>
            <a:r>
              <a:rPr dirty="0" smtClean="0" sz="350" spc="123">
                <a:latin typeface="Courier New"/>
                <a:cs typeface="Courier New"/>
              </a:rPr>
              <a:t> </a:t>
            </a:r>
            <a:r>
              <a:rPr dirty="0" smtClean="0" sz="350" spc="9">
                <a:latin typeface="Courier New"/>
                <a:cs typeface="Courier New"/>
              </a:rPr>
              <a:t>write</a:t>
            </a:r>
            <a:r>
              <a:rPr dirty="0" smtClean="0" sz="350" spc="0">
                <a:latin typeface="Courier New"/>
                <a:cs typeface="Courier New"/>
              </a:rPr>
              <a:t>r</a:t>
            </a:r>
            <a:r>
              <a:rPr dirty="0" smtClean="0" sz="350" spc="153">
                <a:latin typeface="Courier New"/>
                <a:cs typeface="Courier New"/>
              </a:rPr>
              <a:t> </a:t>
            </a:r>
            <a:r>
              <a:rPr dirty="0" smtClean="0" sz="350" spc="9">
                <a:latin typeface="Courier New"/>
                <a:cs typeface="Courier New"/>
              </a:rPr>
              <a:t>(){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35525" y="4755424"/>
            <a:ext cx="520696" cy="825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55"/>
              </a:spcBef>
            </a:pPr>
            <a:r>
              <a:rPr dirty="0" smtClean="0" sz="450" spc="14">
                <a:latin typeface="Courier New"/>
                <a:cs typeface="Courier New"/>
              </a:rPr>
              <a:t>rea</a:t>
            </a:r>
            <a:r>
              <a:rPr dirty="0" smtClean="0" sz="450" spc="0">
                <a:latin typeface="Courier New"/>
                <a:cs typeface="Courier New"/>
              </a:rPr>
              <a:t>d</a:t>
            </a:r>
            <a:r>
              <a:rPr dirty="0" smtClean="0" sz="450" spc="-29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function)</a:t>
            </a:r>
            <a:endParaRPr sz="4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35525" y="5012599"/>
            <a:ext cx="497839" cy="825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55"/>
              </a:spcBef>
            </a:pPr>
            <a:r>
              <a:rPr dirty="0" smtClean="0" sz="450" spc="9">
                <a:latin typeface="Courier New"/>
                <a:cs typeface="Courier New"/>
              </a:rPr>
              <a:t>numReader</a:t>
            </a:r>
            <a:r>
              <a:rPr dirty="0" smtClean="0" sz="450" spc="0">
                <a:latin typeface="Courier New"/>
                <a:cs typeface="Courier New"/>
              </a:rPr>
              <a:t>s</a:t>
            </a:r>
            <a:r>
              <a:rPr dirty="0" smtClean="0" sz="450" spc="-189">
                <a:latin typeface="Courier New"/>
                <a:cs typeface="Courier New"/>
              </a:rPr>
              <a:t> </a:t>
            </a:r>
            <a:r>
              <a:rPr dirty="0" smtClean="0" sz="450" spc="29">
                <a:latin typeface="Courier New"/>
                <a:cs typeface="Courier New"/>
              </a:rPr>
              <a:t>--</a:t>
            </a:r>
            <a:r>
              <a:rPr dirty="0" smtClean="0" sz="450" spc="0">
                <a:latin typeface="Courier New"/>
                <a:cs typeface="Courier New"/>
              </a:rPr>
              <a:t>;</a:t>
            </a:r>
            <a:endParaRPr sz="4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25875" y="5029124"/>
            <a:ext cx="930275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19">
                <a:latin typeface="Courier New"/>
                <a:cs typeface="Courier New"/>
              </a:rPr>
              <a:t>i</a:t>
            </a:r>
            <a:r>
              <a:rPr dirty="0" smtClean="0" sz="350" spc="0">
                <a:latin typeface="Courier New"/>
                <a:cs typeface="Courier New"/>
              </a:rPr>
              <a:t>n</a:t>
            </a:r>
            <a:r>
              <a:rPr dirty="0" smtClean="0" sz="350" spc="84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pointe</a:t>
            </a:r>
            <a:r>
              <a:rPr dirty="0" smtClean="0" sz="350" spc="0">
                <a:latin typeface="Courier New"/>
                <a:cs typeface="Courier New"/>
              </a:rPr>
              <a:t>r</a:t>
            </a:r>
            <a:r>
              <a:rPr dirty="0" smtClean="0" sz="350" spc="157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t</a:t>
            </a:r>
            <a:r>
              <a:rPr dirty="0" smtClean="0" sz="350" spc="0">
                <a:latin typeface="Courier New"/>
                <a:cs typeface="Courier New"/>
              </a:rPr>
              <a:t>o</a:t>
            </a:r>
            <a:r>
              <a:rPr dirty="0" smtClean="0" sz="350" spc="84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writ</a:t>
            </a:r>
            <a:r>
              <a:rPr dirty="0" smtClean="0" sz="350" spc="0">
                <a:latin typeface="Courier New"/>
                <a:cs typeface="Courier New"/>
              </a:rPr>
              <a:t>e</a:t>
            </a:r>
            <a:r>
              <a:rPr dirty="0" smtClean="0" sz="350" spc="128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function)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97300" y="5229149"/>
            <a:ext cx="53975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11575" y="5382872"/>
            <a:ext cx="901687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60"/>
              </a:lnSpc>
              <a:spcBef>
                <a:spcPts val="33"/>
              </a:spcBef>
            </a:pPr>
            <a:r>
              <a:rPr dirty="0" smtClean="0" sz="500" spc="0">
                <a:latin typeface="Comic Sans MS"/>
                <a:cs typeface="Comic Sans MS"/>
              </a:rPr>
              <a:t>Can</a:t>
            </a:r>
            <a:r>
              <a:rPr dirty="0" smtClean="0" sz="500" spc="40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we</a:t>
            </a:r>
            <a:r>
              <a:rPr dirty="0" smtClean="0" sz="500" spc="30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do</a:t>
            </a:r>
            <a:r>
              <a:rPr dirty="0" smtClean="0" sz="500" spc="27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better?</a:t>
            </a:r>
            <a:r>
              <a:rPr dirty="0" smtClean="0" sz="500" spc="90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Fairness?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44700" y="6583022"/>
            <a:ext cx="835015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60"/>
              </a:lnSpc>
              <a:spcBef>
                <a:spcPts val="33"/>
              </a:spcBef>
            </a:pPr>
            <a:r>
              <a:rPr dirty="0" smtClean="0" sz="500" spc="0">
                <a:latin typeface="Comic Sans MS"/>
                <a:cs typeface="Comic Sans MS"/>
              </a:rPr>
              <a:t>How?</a:t>
            </a:r>
            <a:r>
              <a:rPr dirty="0" smtClean="0" sz="500" spc="62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Can</a:t>
            </a:r>
            <a:r>
              <a:rPr dirty="0" smtClean="0" sz="500" spc="40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readers</a:t>
            </a:r>
            <a:r>
              <a:rPr dirty="0" smtClean="0" sz="500" spc="90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starve?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68500" y="6734099"/>
            <a:ext cx="622300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19">
                <a:latin typeface="Courier New"/>
                <a:cs typeface="Courier New"/>
              </a:rPr>
              <a:t>voi</a:t>
            </a:r>
            <a:r>
              <a:rPr dirty="0" smtClean="0" sz="350" spc="0">
                <a:latin typeface="Courier New"/>
                <a:cs typeface="Courier New"/>
              </a:rPr>
              <a:t>d</a:t>
            </a:r>
            <a:r>
              <a:rPr dirty="0" smtClean="0" sz="350" spc="93">
                <a:latin typeface="Courier New"/>
                <a:cs typeface="Courier New"/>
              </a:rPr>
              <a:t> </a:t>
            </a:r>
            <a:r>
              <a:rPr dirty="0" smtClean="0" sz="350" spc="29">
                <a:latin typeface="Courier New"/>
                <a:cs typeface="Courier New"/>
              </a:rPr>
              <a:t>startWrit</a:t>
            </a:r>
            <a:r>
              <a:rPr dirty="0" smtClean="0" sz="350" spc="-44">
                <a:latin typeface="Courier New"/>
                <a:cs typeface="Courier New"/>
              </a:rPr>
              <a:t>e</a:t>
            </a:r>
            <a:r>
              <a:rPr dirty="0" smtClean="0" sz="350" spc="25">
                <a:latin typeface="Courier New"/>
                <a:cs typeface="Courier New"/>
              </a:rPr>
              <a:t>(</a:t>
            </a:r>
            <a:r>
              <a:rPr dirty="0" smtClean="0" sz="350" spc="0">
                <a:latin typeface="Courier New"/>
                <a:cs typeface="Courier New"/>
              </a:rPr>
              <a:t>)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81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{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6450" y="6762674"/>
            <a:ext cx="606425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0">
                <a:latin typeface="Courier New"/>
                <a:cs typeface="Courier New"/>
              </a:rPr>
              <a:t>int</a:t>
            </a:r>
            <a:r>
              <a:rPr dirty="0" smtClean="0" sz="350" spc="58">
                <a:latin typeface="Courier New"/>
                <a:cs typeface="Courier New"/>
              </a:rPr>
              <a:t> </a:t>
            </a:r>
            <a:r>
              <a:rPr dirty="0" smtClean="0" sz="350" spc="29">
                <a:latin typeface="Courier New"/>
                <a:cs typeface="Courier New"/>
              </a:rPr>
              <a:t>numReader</a:t>
            </a:r>
            <a:r>
              <a:rPr dirty="0" smtClean="0" sz="350" spc="0">
                <a:latin typeface="Courier New"/>
                <a:cs typeface="Courier New"/>
              </a:rPr>
              <a:t>s</a:t>
            </a:r>
            <a:r>
              <a:rPr dirty="0" smtClean="0" sz="350" spc="116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104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0;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0750" y="8191424"/>
            <a:ext cx="53975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3850" y="8934579"/>
            <a:ext cx="141224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00"/>
              </a:lnSpc>
              <a:spcBef>
                <a:spcPts val="70"/>
              </a:spcBef>
            </a:pPr>
            <a:r>
              <a:rPr dirty="0" smtClean="0" baseline="1993" sz="1800" spc="0">
                <a:latin typeface="Comic Sans MS"/>
                <a:cs typeface="Comic Sans MS"/>
              </a:rPr>
              <a:t>2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29025" y="6219825"/>
            <a:ext cx="2676525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0975" marR="196739">
              <a:lnSpc>
                <a:spcPts val="1430"/>
              </a:lnSpc>
              <a:spcBef>
                <a:spcPts val="501"/>
              </a:spcBef>
            </a:pP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Semaphore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Solution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Readers/</a:t>
            </a:r>
            <a:r>
              <a:rPr dirty="0" smtClean="0" sz="1200" spc="-14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Writers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(Fair)</a:t>
            </a:r>
            <a:endParaRPr sz="1200">
              <a:latin typeface="Comic Sans MS"/>
              <a:cs typeface="Comic Sans MS"/>
            </a:endParaRPr>
          </a:p>
          <a:p>
            <a:pPr marL="180975">
              <a:lnSpc>
                <a:spcPct val="94401"/>
              </a:lnSpc>
              <a:spcBef>
                <a:spcPts val="501"/>
              </a:spcBef>
            </a:pPr>
            <a:r>
              <a:rPr dirty="0" smtClean="0" sz="500" spc="-9">
                <a:latin typeface="Courier New"/>
                <a:cs typeface="Courier New"/>
              </a:rPr>
              <a:t>semaphore_</a:t>
            </a:r>
            <a:r>
              <a:rPr dirty="0" smtClean="0" sz="500" spc="0">
                <a:latin typeface="Courier New"/>
                <a:cs typeface="Courier New"/>
              </a:rPr>
              <a:t>t</a:t>
            </a:r>
            <a:r>
              <a:rPr dirty="0" smtClean="0" sz="500" spc="154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readCountMutex,</a:t>
            </a:r>
            <a:r>
              <a:rPr dirty="0" smtClean="0" sz="500" spc="224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incoming,</a:t>
            </a:r>
            <a:r>
              <a:rPr dirty="0" smtClean="0" sz="500" spc="134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next;</a:t>
            </a:r>
            <a:endParaRPr sz="500">
              <a:latin typeface="Courier New"/>
              <a:cs typeface="Courier New"/>
            </a:endParaRPr>
          </a:p>
          <a:p>
            <a:pPr marL="180975">
              <a:lnSpc>
                <a:spcPct val="94401"/>
              </a:lnSpc>
              <a:spcBef>
                <a:spcPts val="180"/>
              </a:spcBef>
            </a:pPr>
            <a:r>
              <a:rPr dirty="0" smtClean="0" sz="500" spc="-4">
                <a:latin typeface="Courier New"/>
                <a:cs typeface="Courier New"/>
              </a:rPr>
              <a:t>in</a:t>
            </a:r>
            <a:r>
              <a:rPr dirty="0" smtClean="0" sz="500" spc="0">
                <a:latin typeface="Courier New"/>
                <a:cs typeface="Courier New"/>
              </a:rPr>
              <a:t>t</a:t>
            </a:r>
            <a:r>
              <a:rPr dirty="0" smtClean="0" sz="500" spc="0">
                <a:latin typeface="Courier New"/>
                <a:cs typeface="Courier New"/>
              </a:rPr>
              <a:t>        </a:t>
            </a:r>
            <a:r>
              <a:rPr dirty="0" smtClean="0" sz="500" spc="114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numReaders</a:t>
            </a:r>
            <a:r>
              <a:rPr dirty="0" smtClean="0" sz="500" spc="0">
                <a:latin typeface="Courier New"/>
                <a:cs typeface="Courier New"/>
              </a:rPr>
              <a:t>;</a:t>
            </a:r>
            <a:endParaRPr sz="500">
              <a:latin typeface="Courier New"/>
              <a:cs typeface="Courier New"/>
            </a:endParaRPr>
          </a:p>
          <a:p>
            <a:pPr marL="180975">
              <a:lnSpc>
                <a:spcPct val="94401"/>
              </a:lnSpc>
              <a:spcBef>
                <a:spcPts val="254"/>
              </a:spcBef>
            </a:pPr>
            <a:r>
              <a:rPr dirty="0" smtClean="0" sz="500" spc="-14">
                <a:latin typeface="Courier New"/>
                <a:cs typeface="Courier New"/>
              </a:rPr>
              <a:t>BOO</a:t>
            </a:r>
            <a:r>
              <a:rPr dirty="0" smtClean="0" sz="500" spc="0">
                <a:latin typeface="Courier New"/>
                <a:cs typeface="Courier New"/>
              </a:rPr>
              <a:t>L</a:t>
            </a:r>
            <a:r>
              <a:rPr dirty="0" smtClean="0" sz="500" spc="0">
                <a:latin typeface="Courier New"/>
                <a:cs typeface="Courier New"/>
              </a:rPr>
              <a:t>       </a:t>
            </a:r>
            <a:r>
              <a:rPr dirty="0" smtClean="0" sz="500" spc="11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writeInProgress,</a:t>
            </a:r>
            <a:r>
              <a:rPr dirty="0" smtClean="0" sz="500" spc="225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readInProgress;</a:t>
            </a:r>
            <a:endParaRPr sz="500">
              <a:latin typeface="Courier New"/>
              <a:cs typeface="Courier New"/>
            </a:endParaRPr>
          </a:p>
          <a:p>
            <a:pPr marL="285750" marR="1379859" indent="-104775">
              <a:lnSpc>
                <a:spcPts val="566"/>
              </a:lnSpc>
              <a:spcBef>
                <a:spcPts val="933"/>
              </a:spcBef>
            </a:pPr>
            <a:r>
              <a:rPr dirty="0" smtClean="0" sz="500" spc="-4">
                <a:latin typeface="Courier New"/>
                <a:cs typeface="Courier New"/>
              </a:rPr>
              <a:t>voi</a:t>
            </a:r>
            <a:r>
              <a:rPr dirty="0" smtClean="0" sz="500" spc="0">
                <a:latin typeface="Courier New"/>
                <a:cs typeface="Courier New"/>
              </a:rPr>
              <a:t>d</a:t>
            </a:r>
            <a:r>
              <a:rPr dirty="0" smtClean="0" sz="500" spc="54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init{</a:t>
            </a:r>
            <a:r>
              <a:rPr dirty="0" smtClean="0" sz="500" spc="-4">
                <a:latin typeface="Courier New"/>
                <a:cs typeface="Courier New"/>
              </a:rPr>
              <a:t> </a:t>
            </a:r>
            <a:endParaRPr sz="500">
              <a:latin typeface="Courier New"/>
              <a:cs typeface="Courier New"/>
            </a:endParaRPr>
          </a:p>
          <a:p>
            <a:pPr marL="285750" marR="1379859">
              <a:lnSpc>
                <a:spcPts val="566"/>
              </a:lnSpc>
              <a:spcBef>
                <a:spcPts val="208"/>
              </a:spcBef>
            </a:pPr>
            <a:r>
              <a:rPr dirty="0" smtClean="0" sz="500" spc="0">
                <a:latin typeface="Courier New"/>
                <a:cs typeface="Courier New"/>
              </a:rPr>
              <a:t>readCountMute</a:t>
            </a:r>
            <a:r>
              <a:rPr dirty="0" smtClean="0" sz="500" spc="-75">
                <a:latin typeface="Courier New"/>
                <a:cs typeface="Courier New"/>
              </a:rPr>
              <a:t>x</a:t>
            </a:r>
            <a:r>
              <a:rPr dirty="0" smtClean="0" sz="500" spc="9">
                <a:latin typeface="Courier New"/>
                <a:cs typeface="Courier New"/>
              </a:rPr>
              <a:t>.valu</a:t>
            </a:r>
            <a:r>
              <a:rPr dirty="0" smtClean="0" sz="500" spc="0">
                <a:latin typeface="Courier New"/>
                <a:cs typeface="Courier New"/>
              </a:rPr>
              <a:t>e</a:t>
            </a:r>
            <a:r>
              <a:rPr dirty="0" smtClean="0" sz="500" spc="0">
                <a:latin typeface="Courier New"/>
                <a:cs typeface="Courier New"/>
              </a:rPr>
              <a:t> </a:t>
            </a:r>
            <a:r>
              <a:rPr dirty="0" smtClean="0" sz="500" spc="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=</a:t>
            </a:r>
            <a:r>
              <a:rPr dirty="0" smtClean="0" sz="500" spc="24">
                <a:latin typeface="Courier New"/>
                <a:cs typeface="Courier New"/>
              </a:rPr>
              <a:t> </a:t>
            </a:r>
            <a:r>
              <a:rPr dirty="0" smtClean="0" sz="500" spc="9">
                <a:latin typeface="Courier New"/>
                <a:cs typeface="Courier New"/>
              </a:rPr>
              <a:t>1;</a:t>
            </a:r>
            <a:r>
              <a:rPr dirty="0" smtClean="0" sz="500" spc="9">
                <a:latin typeface="Courier New"/>
                <a:cs typeface="Courier New"/>
              </a:rPr>
              <a:t> </a:t>
            </a:r>
            <a:endParaRPr sz="500">
              <a:latin typeface="Courier New"/>
              <a:cs typeface="Courier New"/>
            </a:endParaRPr>
          </a:p>
          <a:p>
            <a:pPr marL="285750" marR="1379859">
              <a:lnSpc>
                <a:spcPts val="566"/>
              </a:lnSpc>
              <a:spcBef>
                <a:spcPts val="208"/>
              </a:spcBef>
            </a:pPr>
            <a:r>
              <a:rPr dirty="0" smtClean="0" sz="500" spc="-4">
                <a:latin typeface="Courier New"/>
                <a:cs typeface="Courier New"/>
              </a:rPr>
              <a:t>incoming.valu</a:t>
            </a:r>
            <a:r>
              <a:rPr dirty="0" smtClean="0" sz="500" spc="0">
                <a:latin typeface="Courier New"/>
                <a:cs typeface="Courier New"/>
              </a:rPr>
              <a:t>e</a:t>
            </a:r>
            <a:r>
              <a:rPr dirty="0" smtClean="0" sz="500" spc="204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=</a:t>
            </a:r>
            <a:r>
              <a:rPr dirty="0" smtClean="0" sz="500" spc="9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1;</a:t>
            </a:r>
            <a:r>
              <a:rPr dirty="0" smtClean="0" sz="500" spc="-4">
                <a:latin typeface="Courier New"/>
                <a:cs typeface="Courier New"/>
              </a:rPr>
              <a:t> </a:t>
            </a:r>
            <a:endParaRPr sz="500">
              <a:latin typeface="Courier New"/>
              <a:cs typeface="Courier New"/>
            </a:endParaRPr>
          </a:p>
          <a:p>
            <a:pPr marL="285750" marR="1379859">
              <a:lnSpc>
                <a:spcPts val="566"/>
              </a:lnSpc>
              <a:spcBef>
                <a:spcPts val="208"/>
              </a:spcBef>
            </a:pPr>
            <a:r>
              <a:rPr dirty="0" smtClean="0" sz="500" spc="-9">
                <a:latin typeface="Courier New"/>
                <a:cs typeface="Courier New"/>
              </a:rPr>
              <a:t>next.valu</a:t>
            </a:r>
            <a:r>
              <a:rPr dirty="0" smtClean="0" sz="500" spc="0">
                <a:latin typeface="Courier New"/>
                <a:cs typeface="Courier New"/>
              </a:rPr>
              <a:t>e</a:t>
            </a:r>
            <a:r>
              <a:rPr dirty="0" smtClean="0" sz="500" spc="17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=</a:t>
            </a:r>
            <a:r>
              <a:rPr dirty="0" smtClean="0" sz="500" spc="44">
                <a:latin typeface="Courier New"/>
                <a:cs typeface="Courier New"/>
              </a:rPr>
              <a:t> </a:t>
            </a:r>
            <a:r>
              <a:rPr dirty="0" smtClean="0" sz="500" spc="-9">
                <a:latin typeface="Courier New"/>
                <a:cs typeface="Courier New"/>
              </a:rPr>
              <a:t>1;</a:t>
            </a:r>
            <a:endParaRPr sz="500">
              <a:latin typeface="Courier New"/>
              <a:cs typeface="Courier New"/>
            </a:endParaRPr>
          </a:p>
          <a:p>
            <a:pPr marL="285750">
              <a:lnSpc>
                <a:spcPts val="540"/>
              </a:lnSpc>
              <a:spcBef>
                <a:spcPts val="235"/>
              </a:spcBef>
            </a:pPr>
            <a:r>
              <a:rPr dirty="0" smtClean="0" baseline="5885" sz="750" spc="-9">
                <a:latin typeface="Courier New"/>
                <a:cs typeface="Courier New"/>
              </a:rPr>
              <a:t>numReader</a:t>
            </a:r>
            <a:r>
              <a:rPr dirty="0" smtClean="0" baseline="5885" sz="750" spc="0">
                <a:latin typeface="Courier New"/>
                <a:cs typeface="Courier New"/>
              </a:rPr>
              <a:t>s</a:t>
            </a:r>
            <a:r>
              <a:rPr dirty="0" smtClean="0" baseline="5885" sz="750" spc="140">
                <a:latin typeface="Courier New"/>
                <a:cs typeface="Courier New"/>
              </a:rPr>
              <a:t> </a:t>
            </a:r>
            <a:r>
              <a:rPr dirty="0" smtClean="0" baseline="5885" sz="750" spc="0">
                <a:latin typeface="Courier New"/>
                <a:cs typeface="Courier New"/>
              </a:rPr>
              <a:t>=</a:t>
            </a:r>
            <a:r>
              <a:rPr dirty="0" smtClean="0" baseline="5885" sz="750" spc="74">
                <a:latin typeface="Courier New"/>
                <a:cs typeface="Courier New"/>
              </a:rPr>
              <a:t> </a:t>
            </a:r>
            <a:r>
              <a:rPr dirty="0" smtClean="0" baseline="5885" sz="750" spc="-14">
                <a:latin typeface="Courier New"/>
                <a:cs typeface="Courier New"/>
              </a:rPr>
              <a:t>0;</a:t>
            </a:r>
            <a:endParaRPr sz="500">
              <a:latin typeface="Courier New"/>
              <a:cs typeface="Courier New"/>
            </a:endParaRPr>
          </a:p>
          <a:p>
            <a:pPr marL="285750">
              <a:lnSpc>
                <a:spcPct val="94401"/>
              </a:lnSpc>
              <a:spcBef>
                <a:spcPts val="153"/>
              </a:spcBef>
            </a:pPr>
            <a:r>
              <a:rPr dirty="0" smtClean="0" sz="500" spc="-4">
                <a:latin typeface="Courier New"/>
                <a:cs typeface="Courier New"/>
              </a:rPr>
              <a:t>writeInProgres</a:t>
            </a:r>
            <a:r>
              <a:rPr dirty="0" smtClean="0" sz="500" spc="0">
                <a:latin typeface="Courier New"/>
                <a:cs typeface="Courier New"/>
              </a:rPr>
              <a:t>s</a:t>
            </a:r>
            <a:r>
              <a:rPr dirty="0" smtClean="0" sz="500" spc="21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=</a:t>
            </a:r>
            <a:r>
              <a:rPr dirty="0" smtClean="0" sz="500" spc="9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FALSE;</a:t>
            </a:r>
            <a:endParaRPr sz="500">
              <a:latin typeface="Courier New"/>
              <a:cs typeface="Courier New"/>
            </a:endParaRPr>
          </a:p>
          <a:p>
            <a:pPr marL="257175">
              <a:lnSpc>
                <a:spcPct val="94401"/>
              </a:lnSpc>
              <a:spcBef>
                <a:spcPts val="180"/>
              </a:spcBef>
            </a:pPr>
            <a:r>
              <a:rPr dirty="0" smtClean="0" sz="500" spc="-4">
                <a:latin typeface="Courier New"/>
                <a:cs typeface="Courier New"/>
              </a:rPr>
              <a:t>readInProgres</a:t>
            </a:r>
            <a:r>
              <a:rPr dirty="0" smtClean="0" sz="500" spc="0">
                <a:latin typeface="Courier New"/>
                <a:cs typeface="Courier New"/>
              </a:rPr>
              <a:t>s</a:t>
            </a:r>
            <a:r>
              <a:rPr dirty="0" smtClean="0" sz="500" spc="204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=</a:t>
            </a:r>
            <a:r>
              <a:rPr dirty="0" smtClean="0" sz="500" spc="94">
                <a:latin typeface="Courier New"/>
                <a:cs typeface="Courier New"/>
              </a:rPr>
              <a:t> </a:t>
            </a:r>
            <a:r>
              <a:rPr dirty="0" smtClean="0" sz="500" spc="4">
                <a:latin typeface="Courier New"/>
                <a:cs typeface="Courier New"/>
              </a:rPr>
              <a:t>FALSE;</a:t>
            </a:r>
            <a:endParaRPr sz="500">
              <a:latin typeface="Courier New"/>
              <a:cs typeface="Courier New"/>
            </a:endParaRPr>
          </a:p>
          <a:p>
            <a:pPr marL="180975">
              <a:lnSpc>
                <a:spcPct val="94401"/>
              </a:lnSpc>
              <a:spcBef>
                <a:spcPts val="180"/>
              </a:spcBef>
            </a:pPr>
            <a:r>
              <a:rPr dirty="0" smtClean="0" sz="500" spc="0"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 marR="104775" algn="r">
              <a:lnSpc>
                <a:spcPct val="100000"/>
              </a:lnSpc>
              <a:spcBef>
                <a:spcPts val="2223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1</a:t>
            </a:r>
            <a:r>
              <a:rPr dirty="0" smtClean="0" sz="350" spc="0">
                <a:latin typeface="Times New Roman"/>
                <a:cs typeface="Times New Roman"/>
              </a:rPr>
              <a:t>2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3400" y="6219825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0975" marR="387252">
              <a:lnSpc>
                <a:spcPts val="1672"/>
              </a:lnSpc>
              <a:spcBef>
                <a:spcPts val="425"/>
              </a:spcBef>
            </a:pP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Monitor</a:t>
            </a:r>
            <a:r>
              <a:rPr dirty="0" smtClean="0" sz="1200" spc="-9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solution</a:t>
            </a:r>
            <a:r>
              <a:rPr dirty="0" smtClean="0" sz="1200" spc="-9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dirty="0" smtClean="0" sz="1200" spc="-14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endParaRPr sz="1200">
              <a:latin typeface="Comic Sans MS"/>
              <a:cs typeface="Comic Sans MS"/>
            </a:endParaRPr>
          </a:p>
          <a:p>
            <a:pPr marL="180975" marR="387252">
              <a:lnSpc>
                <a:spcPts val="1422"/>
              </a:lnSpc>
            </a:pPr>
            <a:r>
              <a:rPr dirty="0" smtClean="0" baseline="-9966" sz="1800" spc="-9" u="sng">
                <a:solidFill>
                  <a:srgbClr val="3333CC"/>
                </a:solidFill>
                <a:latin typeface="Comic Sans MS"/>
                <a:cs typeface="Comic Sans MS"/>
              </a:rPr>
              <a:t>readers/writer</a:t>
            </a:r>
            <a:r>
              <a:rPr dirty="0" smtClean="0" baseline="-9966" sz="1800" spc="0" u="sng">
                <a:solidFill>
                  <a:srgbClr val="3333CC"/>
                </a:solidFill>
                <a:latin typeface="Comic Sans MS"/>
                <a:cs typeface="Comic Sans MS"/>
              </a:rPr>
              <a:t>s</a:t>
            </a:r>
            <a:r>
              <a:rPr dirty="0" smtClean="0" baseline="-9966" sz="1800" spc="0">
                <a:solidFill>
                  <a:srgbClr val="3333CC"/>
                </a:solidFill>
                <a:latin typeface="Comic Sans MS"/>
                <a:cs typeface="Comic Sans MS"/>
              </a:rPr>
              <a:t>   </a:t>
            </a:r>
            <a:r>
              <a:rPr dirty="0" smtClean="0" baseline="-9966" sz="1800" spc="217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This</a:t>
            </a:r>
            <a:r>
              <a:rPr dirty="0" smtClean="0" sz="500" spc="50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one</a:t>
            </a:r>
            <a:r>
              <a:rPr dirty="0" smtClean="0" sz="500" spc="39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favors</a:t>
            </a:r>
            <a:r>
              <a:rPr dirty="0" smtClean="0" sz="500" spc="74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writers;</a:t>
            </a:r>
            <a:endParaRPr sz="500">
              <a:latin typeface="Comic Sans MS"/>
              <a:cs typeface="Comic Sans MS"/>
            </a:endParaRPr>
          </a:p>
          <a:p>
            <a:pPr marL="164703" marR="1755378" algn="ctr">
              <a:lnSpc>
                <a:spcPct val="94401"/>
              </a:lnSpc>
              <a:spcBef>
                <a:spcPts val="566"/>
              </a:spcBef>
            </a:pPr>
            <a:r>
              <a:rPr dirty="0" smtClean="0" sz="350" spc="9">
                <a:latin typeface="Courier New"/>
                <a:cs typeface="Courier New"/>
              </a:rPr>
              <a:t>Monito</a:t>
            </a:r>
            <a:r>
              <a:rPr dirty="0" smtClean="0" sz="350" spc="0">
                <a:latin typeface="Courier New"/>
                <a:cs typeface="Courier New"/>
              </a:rPr>
              <a:t>r</a:t>
            </a:r>
            <a:r>
              <a:rPr dirty="0" smtClean="0" sz="350" spc="127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readersWriter</a:t>
            </a:r>
            <a:r>
              <a:rPr dirty="0" smtClean="0" sz="350" spc="0">
                <a:latin typeface="Courier New"/>
                <a:cs typeface="Courier New"/>
              </a:rPr>
              <a:t>s</a:t>
            </a:r>
            <a:r>
              <a:rPr dirty="0" smtClean="0" sz="350" spc="170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{</a:t>
            </a:r>
            <a:endParaRPr sz="350">
              <a:latin typeface="Courier New"/>
              <a:cs typeface="Courier New"/>
            </a:endParaRPr>
          </a:p>
          <a:p>
            <a:pPr marL="285750" marR="456723" indent="-19050">
              <a:lnSpc>
                <a:spcPts val="446"/>
              </a:lnSpc>
              <a:spcBef>
                <a:spcPts val="503"/>
              </a:spcBef>
              <a:tabLst>
                <a:tab pos="1689100" algn="l"/>
              </a:tabLst>
            </a:pPr>
            <a:r>
              <a:rPr dirty="0" smtClean="0" sz="350" spc="19">
                <a:latin typeface="Courier New"/>
                <a:cs typeface="Courier New"/>
              </a:rPr>
              <a:t>BOO</a:t>
            </a:r>
            <a:r>
              <a:rPr dirty="0" smtClean="0" sz="350" spc="0">
                <a:latin typeface="Courier New"/>
                <a:cs typeface="Courier New"/>
              </a:rPr>
              <a:t>L</a:t>
            </a:r>
            <a:r>
              <a:rPr dirty="0" smtClean="0" sz="350" spc="93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writeInProgres</a:t>
            </a:r>
            <a:r>
              <a:rPr dirty="0" smtClean="0" sz="350" spc="0">
                <a:latin typeface="Courier New"/>
                <a:cs typeface="Courier New"/>
              </a:rPr>
              <a:t>s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45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0">
                <a:latin typeface="Courier New"/>
                <a:cs typeface="Courier New"/>
              </a:rPr>
              <a:t>                      </a:t>
            </a:r>
            <a:r>
              <a:rPr dirty="0" smtClean="0" sz="350" spc="209">
                <a:latin typeface="Courier New"/>
                <a:cs typeface="Courier New"/>
              </a:rPr>
              <a:t> </a:t>
            </a:r>
            <a:r>
              <a:rPr dirty="0" smtClean="0" baseline="25221" sz="525" spc="25">
                <a:latin typeface="Courier New"/>
                <a:cs typeface="Courier New"/>
              </a:rPr>
              <a:t>whil</a:t>
            </a:r>
            <a:r>
              <a:rPr dirty="0" smtClean="0" baseline="25221" sz="525" spc="0">
                <a:latin typeface="Courier New"/>
                <a:cs typeface="Courier New"/>
              </a:rPr>
              <a:t>e</a:t>
            </a:r>
            <a:r>
              <a:rPr dirty="0" smtClean="0" baseline="25221" sz="525" spc="113">
                <a:latin typeface="Courier New"/>
                <a:cs typeface="Courier New"/>
              </a:rPr>
              <a:t> </a:t>
            </a:r>
            <a:r>
              <a:rPr dirty="0" smtClean="0" baseline="25221" sz="525" spc="25">
                <a:latin typeface="Courier New"/>
                <a:cs typeface="Courier New"/>
              </a:rPr>
              <a:t>(</a:t>
            </a:r>
            <a:r>
              <a:rPr dirty="0" smtClean="0" baseline="25221" sz="525" spc="14">
                <a:latin typeface="Courier New"/>
                <a:cs typeface="Courier New"/>
              </a:rPr>
              <a:t>numReader</a:t>
            </a:r>
            <a:r>
              <a:rPr dirty="0" smtClean="0" baseline="25221" sz="525" spc="0">
                <a:latin typeface="Courier New"/>
                <a:cs typeface="Courier New"/>
              </a:rPr>
              <a:t>s</a:t>
            </a:r>
            <a:r>
              <a:rPr dirty="0" smtClean="0" baseline="25221" sz="525" spc="0">
                <a:latin typeface="Courier New"/>
                <a:cs typeface="Courier New"/>
              </a:rPr>
              <a:t> </a:t>
            </a:r>
            <a:r>
              <a:rPr dirty="0" smtClean="0" baseline="25221" sz="525" spc="56">
                <a:latin typeface="Courier New"/>
                <a:cs typeface="Courier New"/>
              </a:rPr>
              <a:t> </a:t>
            </a:r>
            <a:r>
              <a:rPr dirty="0" smtClean="0" baseline="25221" sz="525" spc="0">
                <a:latin typeface="Courier New"/>
                <a:cs typeface="Courier New"/>
              </a:rPr>
              <a:t>||</a:t>
            </a:r>
            <a:r>
              <a:rPr dirty="0" smtClean="0" baseline="25221" sz="525" spc="0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FALSE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-121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	</a:t>
            </a:r>
            <a:r>
              <a:rPr dirty="0" smtClean="0" baseline="8407" sz="525" spc="25">
                <a:latin typeface="Courier New"/>
                <a:cs typeface="Courier New"/>
              </a:rPr>
              <a:t>writeInProgres</a:t>
            </a:r>
            <a:r>
              <a:rPr dirty="0" smtClean="0" baseline="8407" sz="525" spc="-50">
                <a:latin typeface="Courier New"/>
                <a:cs typeface="Courier New"/>
              </a:rPr>
              <a:t>s</a:t>
            </a:r>
            <a:r>
              <a:rPr dirty="0" smtClean="0" baseline="8407" sz="525" spc="0">
                <a:latin typeface="Courier New"/>
                <a:cs typeface="Courier New"/>
              </a:rPr>
              <a:t>){</a:t>
            </a:r>
            <a:endParaRPr sz="350">
              <a:latin typeface="Courier New"/>
              <a:cs typeface="Courier New"/>
            </a:endParaRPr>
          </a:p>
          <a:p>
            <a:pPr marL="285750" marR="399573">
              <a:lnSpc>
                <a:spcPts val="446"/>
              </a:lnSpc>
              <a:spcBef>
                <a:spcPts val="578"/>
              </a:spcBef>
            </a:pPr>
            <a:r>
              <a:rPr dirty="0" smtClean="0" sz="350" spc="14">
                <a:latin typeface="Courier New"/>
                <a:cs typeface="Courier New"/>
              </a:rPr>
              <a:t>in</a:t>
            </a:r>
            <a:r>
              <a:rPr dirty="0" smtClean="0" sz="350" spc="0">
                <a:latin typeface="Courier New"/>
                <a:cs typeface="Courier New"/>
              </a:rPr>
              <a:t>t</a:t>
            </a:r>
            <a:r>
              <a:rPr dirty="0" smtClean="0" sz="350" spc="74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okToWriteQueue</a:t>
            </a:r>
            <a:r>
              <a:rPr dirty="0" smtClean="0" sz="350" spc="0">
                <a:latin typeface="Courier New"/>
                <a:cs typeface="Courier New"/>
              </a:rPr>
              <a:t>d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40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54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0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0">
                <a:latin typeface="Courier New"/>
                <a:cs typeface="Courier New"/>
              </a:rPr>
              <a:t>                        </a:t>
            </a:r>
            <a:r>
              <a:rPr dirty="0" smtClean="0" sz="350" spc="204">
                <a:latin typeface="Courier New"/>
                <a:cs typeface="Courier New"/>
              </a:rPr>
              <a:t> </a:t>
            </a:r>
            <a:r>
              <a:rPr dirty="0" smtClean="0" baseline="25221" sz="525" spc="19">
                <a:latin typeface="Courier New"/>
                <a:cs typeface="Courier New"/>
              </a:rPr>
              <a:t>okToWriteQueued</a:t>
            </a:r>
            <a:r>
              <a:rPr dirty="0" smtClean="0" baseline="25221" sz="525" spc="50">
                <a:latin typeface="Courier New"/>
                <a:cs typeface="Courier New"/>
              </a:rPr>
              <a:t>++;</a:t>
            </a:r>
            <a:r>
              <a:rPr dirty="0" smtClean="0" baseline="25221" sz="525" spc="50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conditionVariabl</a:t>
            </a:r>
            <a:r>
              <a:rPr dirty="0" smtClean="0" sz="350" spc="0">
                <a:latin typeface="Courier New"/>
                <a:cs typeface="Courier New"/>
              </a:rPr>
              <a:t>e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69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okToWrite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0">
                <a:latin typeface="Courier New"/>
                <a:cs typeface="Courier New"/>
              </a:rPr>
              <a:t>                    </a:t>
            </a:r>
            <a:r>
              <a:rPr dirty="0" smtClean="0" sz="350" spc="161">
                <a:latin typeface="Courier New"/>
                <a:cs typeface="Courier New"/>
              </a:rPr>
              <a:t> </a:t>
            </a:r>
            <a:r>
              <a:rPr dirty="0" smtClean="0" baseline="8407" sz="525" spc="14">
                <a:latin typeface="Courier New"/>
                <a:cs typeface="Courier New"/>
              </a:rPr>
              <a:t>wait</a:t>
            </a:r>
            <a:r>
              <a:rPr dirty="0" smtClean="0" baseline="8407" sz="525" spc="0">
                <a:latin typeface="Courier New"/>
                <a:cs typeface="Courier New"/>
              </a:rPr>
              <a:t>(</a:t>
            </a:r>
            <a:r>
              <a:rPr dirty="0" smtClean="0" baseline="8407" sz="525" spc="-46">
                <a:latin typeface="Courier New"/>
                <a:cs typeface="Courier New"/>
              </a:rPr>
              <a:t> </a:t>
            </a:r>
            <a:r>
              <a:rPr dirty="0" smtClean="0" baseline="8407" sz="525" spc="25">
                <a:latin typeface="Courier New"/>
                <a:cs typeface="Courier New"/>
              </a:rPr>
              <a:t>okToWrit</a:t>
            </a:r>
            <a:r>
              <a:rPr dirty="0" smtClean="0" baseline="8407" sz="525" spc="-50">
                <a:latin typeface="Courier New"/>
                <a:cs typeface="Courier New"/>
              </a:rPr>
              <a:t>e</a:t>
            </a:r>
            <a:r>
              <a:rPr dirty="0" smtClean="0" baseline="8407" sz="525" spc="0">
                <a:latin typeface="Courier New"/>
                <a:cs typeface="Courier New"/>
              </a:rPr>
              <a:t>);</a:t>
            </a:r>
            <a:r>
              <a:rPr dirty="0" smtClean="0" baseline="8407" sz="525" spc="0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conditionVariabl</a:t>
            </a:r>
            <a:r>
              <a:rPr dirty="0" smtClean="0" sz="350" spc="0">
                <a:latin typeface="Courier New"/>
                <a:cs typeface="Courier New"/>
              </a:rPr>
              <a:t>e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74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okToRea</a:t>
            </a:r>
            <a:r>
              <a:rPr dirty="0" smtClean="0" sz="350" spc="-54">
                <a:latin typeface="Courier New"/>
                <a:cs typeface="Courier New"/>
              </a:rPr>
              <a:t>d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0">
                <a:latin typeface="Courier New"/>
                <a:cs typeface="Courier New"/>
              </a:rPr>
              <a:t>                     </a:t>
            </a:r>
            <a:r>
              <a:rPr dirty="0" smtClean="0" sz="350" spc="162">
                <a:latin typeface="Courier New"/>
                <a:cs typeface="Courier New"/>
              </a:rPr>
              <a:t> </a:t>
            </a:r>
            <a:r>
              <a:rPr dirty="0" smtClean="0" baseline="8407" sz="525" spc="19">
                <a:latin typeface="Courier New"/>
                <a:cs typeface="Courier New"/>
              </a:rPr>
              <a:t>okToWriteQueued</a:t>
            </a:r>
            <a:r>
              <a:rPr dirty="0" smtClean="0" baseline="8407" sz="525" spc="0">
                <a:latin typeface="Courier New"/>
                <a:cs typeface="Courier New"/>
              </a:rPr>
              <a:t>--</a:t>
            </a:r>
            <a:r>
              <a:rPr dirty="0" smtClean="0" baseline="8407" sz="525" spc="114">
                <a:latin typeface="Courier New"/>
                <a:cs typeface="Courier New"/>
              </a:rPr>
              <a:t> </a:t>
            </a:r>
            <a:r>
              <a:rPr dirty="0" smtClean="0" baseline="8407" sz="525" spc="0">
                <a:latin typeface="Courier New"/>
                <a:cs typeface="Courier New"/>
              </a:rPr>
              <a:t>;</a:t>
            </a:r>
            <a:endParaRPr sz="350">
              <a:latin typeface="Courier New"/>
              <a:cs typeface="Courier New"/>
            </a:endParaRPr>
          </a:p>
          <a:p>
            <a:pPr marL="1564878" marR="1060053" algn="ctr">
              <a:lnSpc>
                <a:spcPts val="380"/>
              </a:lnSpc>
              <a:spcBef>
                <a:spcPts val="90"/>
              </a:spcBef>
            </a:pPr>
            <a:r>
              <a:rPr dirty="0" smtClean="0" baseline="8407" sz="525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  <a:p>
            <a:pPr marL="266700">
              <a:lnSpc>
                <a:spcPts val="396"/>
              </a:lnSpc>
              <a:spcBef>
                <a:spcPts val="106"/>
              </a:spcBef>
            </a:pPr>
            <a:r>
              <a:rPr dirty="0" smtClean="0" baseline="-25221" sz="525" spc="19">
                <a:latin typeface="Courier New"/>
                <a:cs typeface="Courier New"/>
              </a:rPr>
              <a:t>voi</a:t>
            </a:r>
            <a:r>
              <a:rPr dirty="0" smtClean="0" baseline="-25221" sz="525" spc="0">
                <a:latin typeface="Courier New"/>
                <a:cs typeface="Courier New"/>
              </a:rPr>
              <a:t>d</a:t>
            </a:r>
            <a:r>
              <a:rPr dirty="0" smtClean="0" baseline="-25221" sz="525" spc="93">
                <a:latin typeface="Courier New"/>
                <a:cs typeface="Courier New"/>
              </a:rPr>
              <a:t> </a:t>
            </a:r>
            <a:r>
              <a:rPr dirty="0" smtClean="0" baseline="-25221" sz="525" spc="14">
                <a:latin typeface="Courier New"/>
                <a:cs typeface="Courier New"/>
              </a:rPr>
              <a:t>startRea</a:t>
            </a:r>
            <a:r>
              <a:rPr dirty="0" smtClean="0" baseline="-25221" sz="525" spc="0">
                <a:latin typeface="Courier New"/>
                <a:cs typeface="Courier New"/>
              </a:rPr>
              <a:t>d</a:t>
            </a:r>
            <a:r>
              <a:rPr dirty="0" smtClean="0" baseline="-25221" sz="525" spc="12">
                <a:latin typeface="Courier New"/>
                <a:cs typeface="Courier New"/>
              </a:rPr>
              <a:t> </a:t>
            </a:r>
            <a:r>
              <a:rPr dirty="0" smtClean="0" baseline="-25221" sz="525" spc="0">
                <a:latin typeface="Courier New"/>
                <a:cs typeface="Courier New"/>
              </a:rPr>
              <a:t>()</a:t>
            </a:r>
            <a:r>
              <a:rPr dirty="0" smtClean="0" baseline="-25221" sz="525" spc="44">
                <a:latin typeface="Courier New"/>
                <a:cs typeface="Courier New"/>
              </a:rPr>
              <a:t> </a:t>
            </a:r>
            <a:r>
              <a:rPr dirty="0" smtClean="0" baseline="-25221" sz="525" spc="0">
                <a:latin typeface="Courier New"/>
                <a:cs typeface="Courier New"/>
              </a:rPr>
              <a:t>{</a:t>
            </a:r>
            <a:r>
              <a:rPr dirty="0" smtClean="0" baseline="-25221" sz="525" spc="0">
                <a:latin typeface="Courier New"/>
                <a:cs typeface="Courier New"/>
              </a:rPr>
              <a:t>                           </a:t>
            </a:r>
            <a:r>
              <a:rPr dirty="0" smtClean="0" baseline="-25221" sz="525" spc="59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writeInProgres</a:t>
            </a:r>
            <a:r>
              <a:rPr dirty="0" smtClean="0" sz="350" spc="0">
                <a:latin typeface="Courier New"/>
                <a:cs typeface="Courier New"/>
              </a:rPr>
              <a:t>s</a:t>
            </a:r>
            <a:r>
              <a:rPr dirty="0" smtClean="0" sz="350" spc="185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69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TRUE;</a:t>
            </a:r>
            <a:endParaRPr sz="350">
              <a:latin typeface="Courier New"/>
              <a:cs typeface="Courier New"/>
            </a:endParaRPr>
          </a:p>
          <a:p>
            <a:pPr marL="371475">
              <a:lnSpc>
                <a:spcPts val="446"/>
              </a:lnSpc>
              <a:spcBef>
                <a:spcPts val="225"/>
              </a:spcBef>
            </a:pPr>
            <a:r>
              <a:rPr dirty="0" smtClean="0" sz="350" spc="25">
                <a:latin typeface="Courier New"/>
                <a:cs typeface="Courier New"/>
              </a:rPr>
              <a:t>whil</a:t>
            </a:r>
            <a:r>
              <a:rPr dirty="0" smtClean="0" sz="350" spc="0">
                <a:latin typeface="Courier New"/>
                <a:cs typeface="Courier New"/>
              </a:rPr>
              <a:t>e</a:t>
            </a:r>
            <a:r>
              <a:rPr dirty="0" smtClean="0" sz="350" spc="188">
                <a:latin typeface="Courier New"/>
                <a:cs typeface="Courier New"/>
              </a:rPr>
              <a:t> </a:t>
            </a:r>
            <a:r>
              <a:rPr dirty="0" smtClean="0" sz="350" spc="-50">
                <a:latin typeface="Courier New"/>
                <a:cs typeface="Courier New"/>
              </a:rPr>
              <a:t>(</a:t>
            </a:r>
            <a:r>
              <a:rPr dirty="0" smtClean="0" sz="350" spc="14">
                <a:latin typeface="Courier New"/>
                <a:cs typeface="Courier New"/>
              </a:rPr>
              <a:t>writeInProgres</a:t>
            </a:r>
            <a:r>
              <a:rPr dirty="0" smtClean="0" sz="350" spc="0">
                <a:latin typeface="Courier New"/>
                <a:cs typeface="Courier New"/>
              </a:rPr>
              <a:t>s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130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||</a:t>
            </a:r>
            <a:r>
              <a:rPr dirty="0" smtClean="0" sz="350" spc="0">
                <a:latin typeface="Courier New"/>
                <a:cs typeface="Courier New"/>
              </a:rPr>
              <a:t>           </a:t>
            </a:r>
            <a:r>
              <a:rPr dirty="0" smtClean="0" sz="350" spc="59">
                <a:latin typeface="Courier New"/>
                <a:cs typeface="Courier New"/>
              </a:rPr>
              <a:t> </a:t>
            </a:r>
            <a:r>
              <a:rPr dirty="0" smtClean="0" baseline="8407" sz="525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  <a:p>
            <a:pPr marL="285750">
              <a:lnSpc>
                <a:spcPct val="94401"/>
              </a:lnSpc>
              <a:spcBef>
                <a:spcPts val="50"/>
              </a:spcBef>
            </a:pPr>
            <a:r>
              <a:rPr dirty="0" smtClean="0" sz="350" spc="14">
                <a:latin typeface="Courier New"/>
                <a:cs typeface="Courier New"/>
              </a:rPr>
              <a:t>okToWriteQueued</a:t>
            </a:r>
            <a:r>
              <a:rPr dirty="0" smtClean="0" sz="350" spc="0">
                <a:latin typeface="Courier New"/>
                <a:cs typeface="Courier New"/>
              </a:rPr>
              <a:t>){</a:t>
            </a:r>
            <a:endParaRPr sz="350">
              <a:latin typeface="Courier New"/>
              <a:cs typeface="Courier New"/>
            </a:endParaRPr>
          </a:p>
          <a:p>
            <a:pPr marL="466725">
              <a:lnSpc>
                <a:spcPct val="94401"/>
              </a:lnSpc>
              <a:spcBef>
                <a:spcPts val="125"/>
              </a:spcBef>
            </a:pPr>
            <a:r>
              <a:rPr dirty="0" smtClean="0" sz="350" spc="14">
                <a:latin typeface="Courier New"/>
                <a:cs typeface="Courier New"/>
              </a:rPr>
              <a:t>wai</a:t>
            </a:r>
            <a:r>
              <a:rPr dirty="0" smtClean="0" sz="350" spc="0">
                <a:latin typeface="Courier New"/>
                <a:cs typeface="Courier New"/>
              </a:rPr>
              <a:t>t</a:t>
            </a:r>
            <a:r>
              <a:rPr dirty="0" smtClean="0" sz="350" spc="88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(</a:t>
            </a:r>
            <a:r>
              <a:rPr dirty="0" smtClean="0" sz="350" spc="19">
                <a:latin typeface="Courier New"/>
                <a:cs typeface="Courier New"/>
              </a:rPr>
              <a:t>okToRead</a:t>
            </a:r>
            <a:r>
              <a:rPr dirty="0" smtClean="0" sz="350" spc="75">
                <a:latin typeface="Courier New"/>
                <a:cs typeface="Courier New"/>
              </a:rPr>
              <a:t>)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0">
                <a:latin typeface="Courier New"/>
                <a:cs typeface="Courier New"/>
              </a:rPr>
              <a:t>                 </a:t>
            </a:r>
            <a:r>
              <a:rPr dirty="0" smtClean="0" sz="350" spc="206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voi</a:t>
            </a:r>
            <a:r>
              <a:rPr dirty="0" smtClean="0" sz="350" spc="0">
                <a:latin typeface="Courier New"/>
                <a:cs typeface="Courier New"/>
              </a:rPr>
              <a:t>d</a:t>
            </a:r>
            <a:r>
              <a:rPr dirty="0" smtClean="0" sz="350" spc="93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finishWrite</a:t>
            </a:r>
            <a:r>
              <a:rPr dirty="0" smtClean="0" sz="350" spc="50">
                <a:latin typeface="Courier New"/>
                <a:cs typeface="Courier New"/>
              </a:rPr>
              <a:t>(){</a:t>
            </a:r>
            <a:endParaRPr sz="350">
              <a:latin typeface="Courier New"/>
              <a:cs typeface="Courier New"/>
            </a:endParaRPr>
          </a:p>
          <a:p>
            <a:pPr marL="361950" marR="402024" indent="9525">
              <a:lnSpc>
                <a:spcPts val="396"/>
              </a:lnSpc>
              <a:spcBef>
                <a:spcPts val="125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r>
              <a:rPr dirty="0" smtClean="0" sz="350" spc="0">
                <a:latin typeface="Courier New"/>
                <a:cs typeface="Courier New"/>
              </a:rPr>
              <a:t>                                         </a:t>
            </a:r>
            <a:r>
              <a:rPr dirty="0" smtClean="0" sz="350" spc="44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writeInProgres</a:t>
            </a:r>
            <a:r>
              <a:rPr dirty="0" smtClean="0" sz="350" spc="0">
                <a:latin typeface="Courier New"/>
                <a:cs typeface="Courier New"/>
              </a:rPr>
              <a:t>s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115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59">
                <a:latin typeface="Courier New"/>
                <a:cs typeface="Courier New"/>
              </a:rPr>
              <a:t> </a:t>
            </a:r>
            <a:r>
              <a:rPr dirty="0" smtClean="0" sz="350" spc="29">
                <a:latin typeface="Courier New"/>
                <a:cs typeface="Courier New"/>
              </a:rPr>
              <a:t>FALSE;</a:t>
            </a:r>
            <a:r>
              <a:rPr dirty="0" smtClean="0" sz="350" spc="29">
                <a:latin typeface="Courier New"/>
                <a:cs typeface="Courier New"/>
              </a:rPr>
              <a:t> </a:t>
            </a:r>
            <a:endParaRPr sz="350">
              <a:latin typeface="Courier New"/>
              <a:cs typeface="Courier New"/>
            </a:endParaRPr>
          </a:p>
          <a:p>
            <a:pPr marL="361950" marR="402024">
              <a:lnSpc>
                <a:spcPts val="396"/>
              </a:lnSpc>
              <a:spcBef>
                <a:spcPts val="166"/>
              </a:spcBef>
            </a:pPr>
            <a:r>
              <a:rPr dirty="0" smtClean="0" sz="350" spc="14">
                <a:latin typeface="Courier New"/>
                <a:cs typeface="Courier New"/>
              </a:rPr>
              <a:t>numReader</a:t>
            </a:r>
            <a:r>
              <a:rPr dirty="0" smtClean="0" sz="350" spc="0">
                <a:latin typeface="Courier New"/>
                <a:cs typeface="Courier New"/>
              </a:rPr>
              <a:t>s</a:t>
            </a:r>
            <a:r>
              <a:rPr dirty="0" smtClean="0" sz="350" spc="27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++;</a:t>
            </a:r>
            <a:r>
              <a:rPr dirty="0" smtClean="0" sz="350" spc="0">
                <a:latin typeface="Courier New"/>
                <a:cs typeface="Courier New"/>
              </a:rPr>
              <a:t>                           </a:t>
            </a:r>
            <a:r>
              <a:rPr dirty="0" smtClean="0" sz="350" spc="14">
                <a:latin typeface="Courier New"/>
                <a:cs typeface="Courier New"/>
              </a:rPr>
              <a:t> </a:t>
            </a:r>
            <a:r>
              <a:rPr dirty="0" smtClean="0" sz="350" spc="0">
                <a:solidFill>
                  <a:srgbClr val="FF0000"/>
                </a:solidFill>
                <a:latin typeface="Courier New"/>
                <a:cs typeface="Courier New"/>
              </a:rPr>
              <a:t>if</a:t>
            </a:r>
            <a:r>
              <a:rPr dirty="0" smtClean="0" sz="350" spc="44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mtClean="0" sz="350" spc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dirty="0" smtClean="0" sz="350" spc="-134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mtClean="0" sz="350" spc="14">
                <a:solidFill>
                  <a:srgbClr val="FF0000"/>
                </a:solidFill>
                <a:latin typeface="Courier New"/>
                <a:cs typeface="Courier New"/>
              </a:rPr>
              <a:t>okToWriteQueued</a:t>
            </a:r>
            <a:r>
              <a:rPr dirty="0" smtClean="0" sz="350" spc="75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r>
              <a:rPr dirty="0" smtClean="0" sz="350" spc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dirty="0" smtClean="0" sz="350" spc="-134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endParaRPr sz="350">
              <a:latin typeface="Courier New"/>
              <a:cs typeface="Courier New"/>
            </a:endParaRPr>
          </a:p>
          <a:p>
            <a:pPr marL="361950" marR="402024">
              <a:lnSpc>
                <a:spcPts val="396"/>
              </a:lnSpc>
              <a:spcBef>
                <a:spcPts val="166"/>
              </a:spcBef>
            </a:pPr>
            <a:r>
              <a:rPr dirty="0" smtClean="0" sz="350" spc="9">
                <a:latin typeface="Courier New"/>
                <a:cs typeface="Courier New"/>
              </a:rPr>
              <a:t>signal</a:t>
            </a:r>
            <a:r>
              <a:rPr dirty="0" smtClean="0" sz="350" spc="0">
                <a:latin typeface="Courier New"/>
                <a:cs typeface="Courier New"/>
              </a:rPr>
              <a:t>(</a:t>
            </a:r>
            <a:r>
              <a:rPr dirty="0" smtClean="0" sz="350" spc="-22">
                <a:latin typeface="Courier New"/>
                <a:cs typeface="Courier New"/>
              </a:rPr>
              <a:t> </a:t>
            </a:r>
            <a:r>
              <a:rPr dirty="0" smtClean="0" sz="350" spc="9">
                <a:latin typeface="Courier New"/>
                <a:cs typeface="Courier New"/>
              </a:rPr>
              <a:t>okToRea</a:t>
            </a:r>
            <a:r>
              <a:rPr dirty="0" smtClean="0" sz="350" spc="0">
                <a:latin typeface="Courier New"/>
                <a:cs typeface="Courier New"/>
              </a:rPr>
              <a:t>d</a:t>
            </a:r>
            <a:r>
              <a:rPr dirty="0" smtClean="0" sz="350" spc="-7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);</a:t>
            </a:r>
            <a:r>
              <a:rPr dirty="0" smtClean="0" sz="350" spc="0">
                <a:latin typeface="Courier New"/>
                <a:cs typeface="Courier New"/>
              </a:rPr>
              <a:t>                           </a:t>
            </a:r>
            <a:r>
              <a:rPr dirty="0" smtClean="0" sz="350" spc="149">
                <a:latin typeface="Courier New"/>
                <a:cs typeface="Courier New"/>
              </a:rPr>
              <a:t> </a:t>
            </a:r>
            <a:r>
              <a:rPr dirty="0" smtClean="0" sz="350" spc="9">
                <a:solidFill>
                  <a:srgbClr val="FF0000"/>
                </a:solidFill>
                <a:latin typeface="Courier New"/>
                <a:cs typeface="Courier New"/>
              </a:rPr>
              <a:t>signal</a:t>
            </a:r>
            <a:r>
              <a:rPr dirty="0" smtClean="0" sz="350" spc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dirty="0" smtClean="0" sz="350" spc="-22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mtClean="0" sz="350" spc="25">
                <a:solidFill>
                  <a:srgbClr val="FF0000"/>
                </a:solidFill>
                <a:latin typeface="Courier New"/>
                <a:cs typeface="Courier New"/>
              </a:rPr>
              <a:t>okToWrit</a:t>
            </a:r>
            <a:r>
              <a:rPr dirty="0" smtClean="0" sz="350" spc="-5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dirty="0" smtClean="0" sz="350" spc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350">
              <a:latin typeface="Courier New"/>
              <a:cs typeface="Courier New"/>
            </a:endParaRPr>
          </a:p>
          <a:p>
            <a:pPr marL="285750">
              <a:lnSpc>
                <a:spcPts val="360"/>
              </a:lnSpc>
              <a:spcBef>
                <a:spcPts val="184"/>
              </a:spcBef>
            </a:pPr>
            <a:r>
              <a:rPr dirty="0" smtClean="0" baseline="8407" sz="525" spc="0">
                <a:latin typeface="Courier New"/>
                <a:cs typeface="Courier New"/>
              </a:rPr>
              <a:t>}</a:t>
            </a:r>
            <a:r>
              <a:rPr dirty="0" smtClean="0" baseline="8407" sz="525" spc="0">
                <a:latin typeface="Courier New"/>
                <a:cs typeface="Courier New"/>
              </a:rPr>
              <a:t>                                            </a:t>
            </a:r>
            <a:r>
              <a:rPr dirty="0" smtClean="0" baseline="8407" sz="525" spc="14">
                <a:latin typeface="Courier New"/>
                <a:cs typeface="Courier New"/>
              </a:rPr>
              <a:t> </a:t>
            </a:r>
            <a:r>
              <a:rPr dirty="0" smtClean="0" baseline="8407" sz="525" spc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dirty="0" smtClean="0" baseline="8407" sz="525" spc="39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mtClean="0" baseline="8407" sz="525" spc="14">
                <a:solidFill>
                  <a:srgbClr val="FF0000"/>
                </a:solidFill>
                <a:latin typeface="Courier New"/>
                <a:cs typeface="Courier New"/>
              </a:rPr>
              <a:t>els</a:t>
            </a:r>
            <a:r>
              <a:rPr dirty="0" smtClean="0" baseline="8407" sz="525" spc="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dirty="0" smtClean="0" baseline="8407" sz="525" spc="83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mtClean="0" baseline="8407" sz="525" spc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350">
              <a:latin typeface="Courier New"/>
              <a:cs typeface="Courier New"/>
            </a:endParaRPr>
          </a:p>
          <a:p>
            <a:pPr marL="1619250">
              <a:lnSpc>
                <a:spcPct val="100000"/>
              </a:lnSpc>
              <a:spcBef>
                <a:spcPts val="107"/>
              </a:spcBef>
            </a:pPr>
            <a:r>
              <a:rPr dirty="0" smtClean="0" sz="350" spc="9">
                <a:solidFill>
                  <a:srgbClr val="FF0000"/>
                </a:solidFill>
                <a:latin typeface="Courier New"/>
                <a:cs typeface="Courier New"/>
              </a:rPr>
              <a:t>signal(</a:t>
            </a:r>
            <a:r>
              <a:rPr dirty="0" smtClean="0" sz="350" spc="19">
                <a:solidFill>
                  <a:srgbClr val="FF0000"/>
                </a:solidFill>
                <a:latin typeface="Courier New"/>
                <a:cs typeface="Courier New"/>
              </a:rPr>
              <a:t>okToRead</a:t>
            </a:r>
            <a:r>
              <a:rPr dirty="0" smtClean="0" sz="350" spc="75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r>
              <a:rPr dirty="0" smtClean="0" sz="350" spc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dirty="0" smtClean="0" sz="350" spc="-134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endParaRPr sz="350">
              <a:latin typeface="Courier New"/>
              <a:cs typeface="Courier New"/>
            </a:endParaRPr>
          </a:p>
          <a:p>
            <a:pPr marL="266700">
              <a:lnSpc>
                <a:spcPct val="94401"/>
              </a:lnSpc>
              <a:spcBef>
                <a:spcPts val="200"/>
              </a:spcBef>
            </a:pPr>
            <a:r>
              <a:rPr dirty="0" smtClean="0" sz="350" spc="19">
                <a:latin typeface="Courier New"/>
                <a:cs typeface="Courier New"/>
              </a:rPr>
              <a:t>voi</a:t>
            </a:r>
            <a:r>
              <a:rPr dirty="0" smtClean="0" sz="350" spc="0">
                <a:latin typeface="Courier New"/>
                <a:cs typeface="Courier New"/>
              </a:rPr>
              <a:t>d</a:t>
            </a:r>
            <a:r>
              <a:rPr dirty="0" smtClean="0" sz="350" spc="93">
                <a:latin typeface="Courier New"/>
                <a:cs typeface="Courier New"/>
              </a:rPr>
              <a:t> </a:t>
            </a:r>
            <a:r>
              <a:rPr dirty="0" smtClean="0" sz="350" spc="29">
                <a:latin typeface="Courier New"/>
                <a:cs typeface="Courier New"/>
              </a:rPr>
              <a:t>finishRea</a:t>
            </a:r>
            <a:r>
              <a:rPr dirty="0" smtClean="0" sz="350" spc="-44">
                <a:latin typeface="Courier New"/>
                <a:cs typeface="Courier New"/>
              </a:rPr>
              <a:t>d</a:t>
            </a:r>
            <a:r>
              <a:rPr dirty="0" smtClean="0" sz="350" spc="0">
                <a:latin typeface="Courier New"/>
                <a:cs typeface="Courier New"/>
              </a:rPr>
              <a:t>(){</a:t>
            </a:r>
            <a:r>
              <a:rPr dirty="0" smtClean="0" sz="350" spc="0">
                <a:latin typeface="Courier New"/>
                <a:cs typeface="Courier New"/>
              </a:rPr>
              <a:t>                         </a:t>
            </a:r>
            <a:r>
              <a:rPr dirty="0" smtClean="0" sz="350" spc="205">
                <a:latin typeface="Courier New"/>
                <a:cs typeface="Courier New"/>
              </a:rPr>
              <a:t> </a:t>
            </a:r>
            <a:r>
              <a:rPr dirty="0" smtClean="0" sz="350" spc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  <a:p>
            <a:pPr marL="400050">
              <a:lnSpc>
                <a:spcPct val="94401"/>
              </a:lnSpc>
              <a:spcBef>
                <a:spcPts val="125"/>
              </a:spcBef>
            </a:pPr>
            <a:r>
              <a:rPr dirty="0" smtClean="0" sz="350" spc="29">
                <a:latin typeface="Courier New"/>
                <a:cs typeface="Courier New"/>
              </a:rPr>
              <a:t>numReader</a:t>
            </a:r>
            <a:r>
              <a:rPr dirty="0" smtClean="0" sz="350" spc="-44">
                <a:latin typeface="Courier New"/>
                <a:cs typeface="Courier New"/>
              </a:rPr>
              <a:t>s</a:t>
            </a:r>
            <a:r>
              <a:rPr dirty="0" smtClean="0" sz="350" spc="0">
                <a:latin typeface="Courier New"/>
                <a:cs typeface="Courier New"/>
              </a:rPr>
              <a:t>--;</a:t>
            </a:r>
            <a:endParaRPr sz="350">
              <a:latin typeface="Courier New"/>
              <a:cs typeface="Courier New"/>
            </a:endParaRPr>
          </a:p>
          <a:p>
            <a:pPr marL="390525">
              <a:lnSpc>
                <a:spcPct val="94401"/>
              </a:lnSpc>
              <a:spcBef>
                <a:spcPts val="125"/>
              </a:spcBef>
            </a:pPr>
            <a:r>
              <a:rPr dirty="0" smtClean="0" sz="350" spc="25">
                <a:latin typeface="Courier New"/>
                <a:cs typeface="Courier New"/>
              </a:rPr>
              <a:t>i</a:t>
            </a:r>
            <a:r>
              <a:rPr dirty="0" smtClean="0" sz="350" spc="0">
                <a:latin typeface="Courier New"/>
                <a:cs typeface="Courier New"/>
              </a:rPr>
              <a:t>f</a:t>
            </a:r>
            <a:r>
              <a:rPr dirty="0" smtClean="0" sz="350" spc="69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(</a:t>
            </a:r>
            <a:r>
              <a:rPr dirty="0" smtClean="0" sz="350" spc="14">
                <a:latin typeface="Courier New"/>
                <a:cs typeface="Courier New"/>
              </a:rPr>
              <a:t>numReader</a:t>
            </a:r>
            <a:r>
              <a:rPr dirty="0" smtClean="0" sz="350" spc="0">
                <a:latin typeface="Courier New"/>
                <a:cs typeface="Courier New"/>
              </a:rPr>
              <a:t>s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56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==</a:t>
            </a:r>
            <a:r>
              <a:rPr dirty="0" smtClean="0" sz="350" spc="119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0){</a:t>
            </a:r>
            <a:r>
              <a:rPr dirty="0" smtClean="0" sz="350" spc="0">
                <a:latin typeface="Courier New"/>
                <a:cs typeface="Courier New"/>
              </a:rPr>
              <a:t>                </a:t>
            </a:r>
            <a:r>
              <a:rPr dirty="0" smtClean="0" sz="350" spc="74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  <a:p>
            <a:pPr marL="485775">
              <a:lnSpc>
                <a:spcPct val="100000"/>
              </a:lnSpc>
              <a:spcBef>
                <a:spcPts val="150"/>
              </a:spcBef>
            </a:pPr>
            <a:r>
              <a:rPr dirty="0" smtClean="0" baseline="8407" sz="525" spc="9">
                <a:latin typeface="Courier New"/>
                <a:cs typeface="Courier New"/>
              </a:rPr>
              <a:t>signal</a:t>
            </a:r>
            <a:r>
              <a:rPr dirty="0" smtClean="0" baseline="8407" sz="525" spc="0">
                <a:latin typeface="Courier New"/>
                <a:cs typeface="Courier New"/>
              </a:rPr>
              <a:t>(</a:t>
            </a:r>
            <a:r>
              <a:rPr dirty="0" smtClean="0" baseline="8407" sz="525" spc="-125">
                <a:latin typeface="Courier New"/>
                <a:cs typeface="Courier New"/>
              </a:rPr>
              <a:t> </a:t>
            </a:r>
            <a:r>
              <a:rPr dirty="0" smtClean="0" baseline="8407" sz="525" spc="25">
                <a:latin typeface="Courier New"/>
                <a:cs typeface="Courier New"/>
              </a:rPr>
              <a:t>okToWrit</a:t>
            </a:r>
            <a:r>
              <a:rPr dirty="0" smtClean="0" baseline="8407" sz="525" spc="-50">
                <a:latin typeface="Courier New"/>
                <a:cs typeface="Courier New"/>
              </a:rPr>
              <a:t>e</a:t>
            </a:r>
            <a:r>
              <a:rPr dirty="0" smtClean="0" baseline="8407" sz="525" spc="0">
                <a:latin typeface="Courier New"/>
                <a:cs typeface="Courier New"/>
              </a:rPr>
              <a:t>);</a:t>
            </a:r>
            <a:r>
              <a:rPr dirty="0" smtClean="0" baseline="8407" sz="525" spc="0">
                <a:latin typeface="Courier New"/>
                <a:cs typeface="Courier New"/>
              </a:rPr>
              <a:t>           </a:t>
            </a:r>
            <a:r>
              <a:rPr dirty="0" smtClean="0" baseline="8407" sz="525" spc="29">
                <a:latin typeface="Courier New"/>
                <a:cs typeface="Courier New"/>
              </a:rPr>
              <a:t> </a:t>
            </a:r>
            <a:r>
              <a:rPr dirty="0" smtClean="0" baseline="8407" sz="525" spc="0">
                <a:latin typeface="Courier New"/>
                <a:cs typeface="Courier New"/>
              </a:rPr>
              <a:t>}</a:t>
            </a:r>
            <a:r>
              <a:rPr dirty="0" smtClean="0" baseline="8407" sz="525" spc="29">
                <a:latin typeface="Courier New"/>
                <a:cs typeface="Courier New"/>
              </a:rPr>
              <a:t> </a:t>
            </a:r>
            <a:r>
              <a:rPr dirty="0" smtClean="0" baseline="8407" sz="525" spc="14">
                <a:latin typeface="Courier New"/>
                <a:cs typeface="Courier New"/>
              </a:rPr>
              <a:t>//en</a:t>
            </a:r>
            <a:r>
              <a:rPr dirty="0" smtClean="0" baseline="8407" sz="525" spc="0">
                <a:latin typeface="Courier New"/>
                <a:cs typeface="Courier New"/>
              </a:rPr>
              <a:t>d</a:t>
            </a:r>
            <a:r>
              <a:rPr dirty="0" smtClean="0" baseline="8407" sz="525" spc="29">
                <a:latin typeface="Courier New"/>
                <a:cs typeface="Courier New"/>
              </a:rPr>
              <a:t> </a:t>
            </a:r>
            <a:r>
              <a:rPr dirty="0" smtClean="0" baseline="8407" sz="525" spc="14">
                <a:latin typeface="Courier New"/>
                <a:cs typeface="Courier New"/>
              </a:rPr>
              <a:t>monito</a:t>
            </a:r>
            <a:r>
              <a:rPr dirty="0" smtClean="0" baseline="8407" sz="525" spc="0">
                <a:latin typeface="Courier New"/>
                <a:cs typeface="Courier New"/>
              </a:rPr>
              <a:t>r</a:t>
            </a:r>
            <a:r>
              <a:rPr dirty="0" smtClean="0" baseline="8407" sz="525" spc="0">
                <a:latin typeface="Courier New"/>
                <a:cs typeface="Courier New"/>
              </a:rPr>
              <a:t>                        </a:t>
            </a:r>
            <a:r>
              <a:rPr dirty="0" smtClean="0" baseline="8407" sz="525" spc="89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1</a:t>
            </a:r>
            <a:r>
              <a:rPr dirty="0" smtClean="0" sz="350" spc="0">
                <a:latin typeface="Times New Roman"/>
                <a:cs typeface="Times New Roman"/>
              </a:rPr>
              <a:t>1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29025" y="3562350"/>
            <a:ext cx="2676525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0975">
              <a:lnSpc>
                <a:spcPct val="116129"/>
              </a:lnSpc>
              <a:spcBef>
                <a:spcPts val="250"/>
              </a:spcBef>
            </a:pP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Semaphore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Solution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Readers/</a:t>
            </a:r>
            <a:endParaRPr sz="1200">
              <a:latin typeface="Comic Sans MS"/>
              <a:cs typeface="Comic Sans MS"/>
            </a:endParaRPr>
          </a:p>
          <a:p>
            <a:pPr marL="180975">
              <a:lnSpc>
                <a:spcPts val="509"/>
              </a:lnSpc>
              <a:spcBef>
                <a:spcPts val="1900"/>
              </a:spcBef>
            </a:pPr>
            <a:r>
              <a:rPr dirty="0" smtClean="0" sz="450" spc="14">
                <a:latin typeface="Courier New"/>
                <a:cs typeface="Courier New"/>
              </a:rPr>
              <a:t>semaphore_</a:t>
            </a:r>
            <a:r>
              <a:rPr dirty="0" smtClean="0" sz="450" spc="0">
                <a:latin typeface="Courier New"/>
                <a:cs typeface="Courier New"/>
              </a:rPr>
              <a:t>t</a:t>
            </a:r>
            <a:r>
              <a:rPr dirty="0" smtClean="0" sz="450" spc="44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mute</a:t>
            </a:r>
            <a:r>
              <a:rPr dirty="0" smtClean="0" sz="450" spc="-59">
                <a:latin typeface="Courier New"/>
                <a:cs typeface="Courier New"/>
              </a:rPr>
              <a:t>x</a:t>
            </a:r>
            <a:r>
              <a:rPr dirty="0" smtClean="0" sz="450" spc="0">
                <a:latin typeface="Courier New"/>
                <a:cs typeface="Courier New"/>
              </a:rPr>
              <a:t>;</a:t>
            </a:r>
            <a:r>
              <a:rPr dirty="0" smtClean="0" sz="450" spc="0">
                <a:latin typeface="Courier New"/>
                <a:cs typeface="Courier New"/>
              </a:rPr>
              <a:t>       </a:t>
            </a:r>
            <a:r>
              <a:rPr dirty="0" smtClean="0" sz="450" spc="119">
                <a:latin typeface="Courier New"/>
                <a:cs typeface="Courier New"/>
              </a:rPr>
              <a:t> </a:t>
            </a:r>
            <a:r>
              <a:rPr dirty="0" smtClean="0" baseline="-39233" sz="675" spc="19">
                <a:latin typeface="Courier New"/>
                <a:cs typeface="Courier New"/>
              </a:rPr>
              <a:t>voi</a:t>
            </a:r>
            <a:r>
              <a:rPr dirty="0" smtClean="0" baseline="-39233" sz="675" spc="0">
                <a:latin typeface="Courier New"/>
                <a:cs typeface="Courier New"/>
              </a:rPr>
              <a:t>d</a:t>
            </a:r>
            <a:r>
              <a:rPr dirty="0" smtClean="0" baseline="-39233" sz="675" spc="9">
                <a:latin typeface="Courier New"/>
                <a:cs typeface="Courier New"/>
              </a:rPr>
              <a:t> </a:t>
            </a:r>
            <a:r>
              <a:rPr dirty="0" smtClean="0" baseline="-39233" sz="675" spc="19">
                <a:latin typeface="Courier New"/>
                <a:cs typeface="Courier New"/>
              </a:rPr>
              <a:t>reade</a:t>
            </a:r>
            <a:r>
              <a:rPr dirty="0" smtClean="0" baseline="-39233" sz="675" spc="0">
                <a:latin typeface="Courier New"/>
                <a:cs typeface="Courier New"/>
              </a:rPr>
              <a:t>r</a:t>
            </a:r>
            <a:r>
              <a:rPr dirty="0" smtClean="0" baseline="-39233" sz="675" spc="9">
                <a:latin typeface="Courier New"/>
                <a:cs typeface="Courier New"/>
              </a:rPr>
              <a:t> </a:t>
            </a:r>
            <a:r>
              <a:rPr dirty="0" smtClean="0" baseline="-39233" sz="675" spc="19">
                <a:latin typeface="Courier New"/>
                <a:cs typeface="Courier New"/>
              </a:rPr>
              <a:t>(){</a:t>
            </a:r>
            <a:endParaRPr sz="450">
              <a:latin typeface="Courier New"/>
              <a:cs typeface="Courier New"/>
            </a:endParaRPr>
          </a:p>
          <a:p>
            <a:pPr marL="180975">
              <a:lnSpc>
                <a:spcPts val="700"/>
              </a:lnSpc>
              <a:spcBef>
                <a:spcPts val="525"/>
              </a:spcBef>
            </a:pPr>
            <a:r>
              <a:rPr dirty="0" smtClean="0" sz="450" spc="4">
                <a:latin typeface="Courier New"/>
                <a:cs typeface="Courier New"/>
              </a:rPr>
              <a:t>in</a:t>
            </a:r>
            <a:r>
              <a:rPr dirty="0" smtClean="0" sz="450" spc="0">
                <a:latin typeface="Courier New"/>
                <a:cs typeface="Courier New"/>
              </a:rPr>
              <a:t>t</a:t>
            </a:r>
            <a:r>
              <a:rPr dirty="0" smtClean="0" sz="450" spc="0">
                <a:latin typeface="Courier New"/>
                <a:cs typeface="Courier New"/>
              </a:rPr>
              <a:t>        </a:t>
            </a:r>
            <a:r>
              <a:rPr dirty="0" smtClean="0" sz="450" spc="125">
                <a:latin typeface="Courier New"/>
                <a:cs typeface="Courier New"/>
              </a:rPr>
              <a:t> </a:t>
            </a:r>
            <a:r>
              <a:rPr dirty="0" smtClean="0" sz="450" spc="4">
                <a:latin typeface="Courier New"/>
                <a:cs typeface="Courier New"/>
              </a:rPr>
              <a:t>numReader</a:t>
            </a:r>
            <a:r>
              <a:rPr dirty="0" smtClean="0" sz="450" spc="0">
                <a:latin typeface="Courier New"/>
                <a:cs typeface="Courier New"/>
              </a:rPr>
              <a:t>s</a:t>
            </a:r>
            <a:r>
              <a:rPr dirty="0" smtClean="0" sz="450" spc="-189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;</a:t>
            </a:r>
            <a:r>
              <a:rPr dirty="0" smtClean="0" sz="450" spc="0">
                <a:latin typeface="Courier New"/>
                <a:cs typeface="Courier New"/>
              </a:rPr>
              <a:t>     </a:t>
            </a:r>
            <a:r>
              <a:rPr dirty="0" smtClean="0" sz="450" spc="59">
                <a:latin typeface="Courier New"/>
                <a:cs typeface="Courier New"/>
              </a:rPr>
              <a:t> </a:t>
            </a:r>
            <a:r>
              <a:rPr dirty="0" smtClean="0" baseline="26155" sz="675" spc="29">
                <a:latin typeface="Courier New"/>
                <a:cs typeface="Courier New"/>
              </a:rPr>
              <a:t>wait</a:t>
            </a:r>
            <a:r>
              <a:rPr dirty="0" smtClean="0" baseline="26155" sz="675" spc="-44">
                <a:latin typeface="Courier New"/>
                <a:cs typeface="Courier New"/>
              </a:rPr>
              <a:t>(</a:t>
            </a:r>
            <a:r>
              <a:rPr dirty="0" smtClean="0" baseline="26155" sz="675" spc="0">
                <a:latin typeface="Courier New"/>
                <a:cs typeface="Courier New"/>
              </a:rPr>
              <a:t>mutex</a:t>
            </a:r>
            <a:r>
              <a:rPr dirty="0" smtClean="0" baseline="26155" sz="675" spc="-194">
                <a:latin typeface="Courier New"/>
                <a:cs typeface="Courier New"/>
              </a:rPr>
              <a:t> </a:t>
            </a:r>
            <a:r>
              <a:rPr dirty="0" smtClean="0" baseline="26155" sz="675" spc="29">
                <a:latin typeface="Courier New"/>
                <a:cs typeface="Courier New"/>
              </a:rPr>
              <a:t>);</a:t>
            </a:r>
            <a:endParaRPr sz="450">
              <a:latin typeface="Courier New"/>
              <a:cs typeface="Courier New"/>
            </a:endParaRPr>
          </a:p>
          <a:p>
            <a:pPr marL="1202213" marR="964088" algn="ctr">
              <a:lnSpc>
                <a:spcPts val="459"/>
              </a:lnSpc>
            </a:pPr>
            <a:r>
              <a:rPr dirty="0" smtClean="0" baseline="6538" sz="675" spc="9">
                <a:latin typeface="Courier New"/>
                <a:cs typeface="Courier New"/>
              </a:rPr>
              <a:t>numReader</a:t>
            </a:r>
            <a:r>
              <a:rPr dirty="0" smtClean="0" baseline="6538" sz="675" spc="0">
                <a:latin typeface="Courier New"/>
                <a:cs typeface="Courier New"/>
              </a:rPr>
              <a:t>s</a:t>
            </a:r>
            <a:r>
              <a:rPr dirty="0" smtClean="0" baseline="6538" sz="675" spc="-189">
                <a:latin typeface="Courier New"/>
                <a:cs typeface="Courier New"/>
              </a:rPr>
              <a:t> </a:t>
            </a:r>
            <a:r>
              <a:rPr dirty="0" smtClean="0" baseline="6538" sz="675" spc="29">
                <a:latin typeface="Courier New"/>
                <a:cs typeface="Courier New"/>
              </a:rPr>
              <a:t>++;</a:t>
            </a:r>
            <a:endParaRPr sz="450">
              <a:latin typeface="Courier New"/>
              <a:cs typeface="Courier New"/>
            </a:endParaRPr>
          </a:p>
          <a:p>
            <a:pPr marL="180975">
              <a:lnSpc>
                <a:spcPct val="94401"/>
              </a:lnSpc>
              <a:spcBef>
                <a:spcPts val="292"/>
              </a:spcBef>
            </a:pPr>
            <a:r>
              <a:rPr dirty="0" smtClean="0" sz="450" spc="14">
                <a:latin typeface="Courier New"/>
                <a:cs typeface="Courier New"/>
              </a:rPr>
              <a:t>voi</a:t>
            </a:r>
            <a:r>
              <a:rPr dirty="0" smtClean="0" sz="450" spc="0">
                <a:latin typeface="Courier New"/>
                <a:cs typeface="Courier New"/>
              </a:rPr>
              <a:t>d</a:t>
            </a:r>
            <a:r>
              <a:rPr dirty="0" smtClean="0" sz="450" spc="-29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init{</a:t>
            </a:r>
            <a:endParaRPr sz="450">
              <a:latin typeface="Courier New"/>
              <a:cs typeface="Courier New"/>
            </a:endParaRPr>
          </a:p>
          <a:p>
            <a:pPr marL="285750">
              <a:lnSpc>
                <a:spcPts val="559"/>
              </a:lnSpc>
              <a:spcBef>
                <a:spcPts val="715"/>
              </a:spcBef>
            </a:pPr>
            <a:r>
              <a:rPr dirty="0" smtClean="0" sz="450" spc="19">
                <a:latin typeface="Courier New"/>
                <a:cs typeface="Courier New"/>
              </a:rPr>
              <a:t>okToWrit</a:t>
            </a:r>
            <a:r>
              <a:rPr dirty="0" smtClean="0" sz="450" spc="-54">
                <a:latin typeface="Courier New"/>
                <a:cs typeface="Courier New"/>
              </a:rPr>
              <a:t>e</a:t>
            </a:r>
            <a:r>
              <a:rPr dirty="0" smtClean="0" sz="450" spc="14">
                <a:latin typeface="Courier New"/>
                <a:cs typeface="Courier New"/>
              </a:rPr>
              <a:t>.valu</a:t>
            </a:r>
            <a:r>
              <a:rPr dirty="0" smtClean="0" sz="450" spc="0">
                <a:latin typeface="Courier New"/>
                <a:cs typeface="Courier New"/>
              </a:rPr>
              <a:t>e</a:t>
            </a:r>
            <a:r>
              <a:rPr dirty="0" smtClean="0" sz="450" spc="44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=</a:t>
            </a:r>
            <a:r>
              <a:rPr dirty="0" smtClean="0" sz="450" spc="44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1</a:t>
            </a:r>
            <a:r>
              <a:rPr dirty="0" smtClean="0" sz="450" spc="0">
                <a:latin typeface="Courier New"/>
                <a:cs typeface="Courier New"/>
              </a:rPr>
              <a:t>;</a:t>
            </a:r>
            <a:r>
              <a:rPr dirty="0" smtClean="0" sz="450" spc="0">
                <a:latin typeface="Courier New"/>
                <a:cs typeface="Courier New"/>
              </a:rPr>
              <a:t>     </a:t>
            </a:r>
            <a:r>
              <a:rPr dirty="0" smtClean="0" sz="450" spc="44">
                <a:latin typeface="Courier New"/>
                <a:cs typeface="Courier New"/>
              </a:rPr>
              <a:t> </a:t>
            </a:r>
            <a:r>
              <a:rPr dirty="0" smtClean="0" baseline="6538" sz="675" spc="19">
                <a:latin typeface="Courier New"/>
                <a:cs typeface="Courier New"/>
              </a:rPr>
              <a:t>signal(</a:t>
            </a:r>
            <a:r>
              <a:rPr dirty="0" smtClean="0" baseline="6538" sz="675" spc="14">
                <a:latin typeface="Courier New"/>
                <a:cs typeface="Courier New"/>
              </a:rPr>
              <a:t>mutex</a:t>
            </a:r>
            <a:r>
              <a:rPr dirty="0" smtClean="0" baseline="6538" sz="675" spc="-44">
                <a:latin typeface="Courier New"/>
                <a:cs typeface="Courier New"/>
              </a:rPr>
              <a:t>);</a:t>
            </a:r>
            <a:endParaRPr sz="450">
              <a:latin typeface="Courier New"/>
              <a:cs typeface="Courier New"/>
            </a:endParaRPr>
          </a:p>
          <a:p>
            <a:pPr marL="180975">
              <a:lnSpc>
                <a:spcPts val="659"/>
              </a:lnSpc>
              <a:spcBef>
                <a:spcPts val="690"/>
              </a:spcBef>
            </a:pPr>
            <a:r>
              <a:rPr dirty="0" smtClean="0" baseline="19616" sz="675" spc="0">
                <a:latin typeface="Courier New"/>
                <a:cs typeface="Courier New"/>
              </a:rPr>
              <a:t>}</a:t>
            </a:r>
            <a:r>
              <a:rPr dirty="0" smtClean="0" baseline="19616" sz="675" spc="0">
                <a:latin typeface="Courier New"/>
                <a:cs typeface="Courier New"/>
              </a:rPr>
              <a:t>                            </a:t>
            </a:r>
            <a:r>
              <a:rPr dirty="0" smtClean="0" baseline="19616" sz="675" spc="75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d</a:t>
            </a:r>
            <a:r>
              <a:rPr dirty="0" smtClean="0" sz="450" spc="0">
                <a:latin typeface="Courier New"/>
                <a:cs typeface="Courier New"/>
              </a:rPr>
              <a:t>o</a:t>
            </a:r>
            <a:r>
              <a:rPr dirty="0" smtClean="0" sz="450" spc="25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readin</a:t>
            </a:r>
            <a:r>
              <a:rPr dirty="0" smtClean="0" sz="450" spc="0">
                <a:latin typeface="Courier New"/>
                <a:cs typeface="Courier New"/>
              </a:rPr>
              <a:t>g</a:t>
            </a:r>
            <a:r>
              <a:rPr dirty="0" smtClean="0" sz="450" spc="25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(coul</a:t>
            </a:r>
            <a:r>
              <a:rPr dirty="0" smtClean="0" sz="450" spc="0">
                <a:latin typeface="Courier New"/>
                <a:cs typeface="Courier New"/>
              </a:rPr>
              <a:t>d</a:t>
            </a:r>
            <a:r>
              <a:rPr dirty="0" smtClean="0" sz="450" spc="24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pas</a:t>
            </a:r>
            <a:r>
              <a:rPr dirty="0" smtClean="0" sz="450" spc="0">
                <a:latin typeface="Courier New"/>
                <a:cs typeface="Courier New"/>
              </a:rPr>
              <a:t>s</a:t>
            </a:r>
            <a:r>
              <a:rPr dirty="0" smtClean="0" sz="450" spc="24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i</a:t>
            </a:r>
            <a:r>
              <a:rPr dirty="0" smtClean="0" sz="450" spc="0">
                <a:latin typeface="Courier New"/>
                <a:cs typeface="Courier New"/>
              </a:rPr>
              <a:t>n</a:t>
            </a:r>
            <a:r>
              <a:rPr dirty="0" smtClean="0" sz="450" spc="24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pointe</a:t>
            </a:r>
            <a:r>
              <a:rPr dirty="0" smtClean="0" sz="450" spc="0">
                <a:latin typeface="Courier New"/>
                <a:cs typeface="Courier New"/>
              </a:rPr>
              <a:t>r</a:t>
            </a:r>
            <a:r>
              <a:rPr dirty="0" smtClean="0" sz="450" spc="24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to</a:t>
            </a:r>
            <a:endParaRPr sz="450">
              <a:latin typeface="Courier New"/>
              <a:cs typeface="Courier New"/>
            </a:endParaRPr>
          </a:p>
          <a:p>
            <a:pPr marL="285750">
              <a:lnSpc>
                <a:spcPct val="94401"/>
              </a:lnSpc>
              <a:spcBef>
                <a:spcPts val="548"/>
              </a:spcBef>
            </a:pPr>
            <a:r>
              <a:rPr dirty="0" smtClean="0" sz="350" spc="0">
                <a:latin typeface="Courier New"/>
                <a:cs typeface="Courier New"/>
              </a:rPr>
              <a:t>wait(</a:t>
            </a:r>
            <a:r>
              <a:rPr dirty="0" smtClean="0" sz="350" spc="-61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okToWrit</a:t>
            </a:r>
            <a:r>
              <a:rPr dirty="0" smtClean="0" sz="350" spc="-50">
                <a:latin typeface="Courier New"/>
                <a:cs typeface="Courier New"/>
              </a:rPr>
              <a:t>e</a:t>
            </a:r>
            <a:r>
              <a:rPr dirty="0" smtClean="0" sz="350" spc="0">
                <a:latin typeface="Courier New"/>
                <a:cs typeface="Courier New"/>
              </a:rPr>
              <a:t>);</a:t>
            </a:r>
            <a:endParaRPr sz="350">
              <a:latin typeface="Courier New"/>
              <a:cs typeface="Courier New"/>
            </a:endParaRPr>
          </a:p>
          <a:p>
            <a:pPr marL="285750">
              <a:lnSpc>
                <a:spcPts val="614"/>
              </a:lnSpc>
              <a:spcBef>
                <a:spcPts val="420"/>
              </a:spcBef>
            </a:pPr>
            <a:r>
              <a:rPr dirty="0" smtClean="0" sz="350" spc="25">
                <a:latin typeface="Courier New"/>
                <a:cs typeface="Courier New"/>
              </a:rPr>
              <a:t>d</a:t>
            </a:r>
            <a:r>
              <a:rPr dirty="0" smtClean="0" sz="350" spc="0">
                <a:latin typeface="Courier New"/>
                <a:cs typeface="Courier New"/>
              </a:rPr>
              <a:t>o</a:t>
            </a:r>
            <a:r>
              <a:rPr dirty="0" smtClean="0" sz="350" spc="69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writin</a:t>
            </a:r>
            <a:r>
              <a:rPr dirty="0" smtClean="0" sz="350" spc="0">
                <a:latin typeface="Courier New"/>
                <a:cs typeface="Courier New"/>
              </a:rPr>
              <a:t>g</a:t>
            </a:r>
            <a:r>
              <a:rPr dirty="0" smtClean="0" sz="350" spc="142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(coul</a:t>
            </a:r>
            <a:r>
              <a:rPr dirty="0" smtClean="0" sz="350" spc="0">
                <a:latin typeface="Courier New"/>
                <a:cs typeface="Courier New"/>
              </a:rPr>
              <a:t>d</a:t>
            </a:r>
            <a:r>
              <a:rPr dirty="0" smtClean="0" sz="350" spc="128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pas</a:t>
            </a:r>
            <a:r>
              <a:rPr dirty="0" smtClean="0" sz="350" spc="0">
                <a:latin typeface="Courier New"/>
                <a:cs typeface="Courier New"/>
              </a:rPr>
              <a:t>s</a:t>
            </a:r>
            <a:r>
              <a:rPr dirty="0" smtClean="0" sz="350" spc="0">
                <a:latin typeface="Courier New"/>
                <a:cs typeface="Courier New"/>
              </a:rPr>
              <a:t>        </a:t>
            </a:r>
            <a:r>
              <a:rPr dirty="0" smtClean="0" sz="350" spc="143">
                <a:latin typeface="Courier New"/>
                <a:cs typeface="Courier New"/>
              </a:rPr>
              <a:t> </a:t>
            </a:r>
            <a:r>
              <a:rPr dirty="0" smtClean="0" baseline="19616" sz="675" spc="29">
                <a:latin typeface="Courier New"/>
                <a:cs typeface="Courier New"/>
              </a:rPr>
              <a:t>wait</a:t>
            </a:r>
            <a:r>
              <a:rPr dirty="0" smtClean="0" baseline="19616" sz="675" spc="-44">
                <a:latin typeface="Courier New"/>
                <a:cs typeface="Courier New"/>
              </a:rPr>
              <a:t>(</a:t>
            </a:r>
            <a:r>
              <a:rPr dirty="0" smtClean="0" baseline="19616" sz="675" spc="0">
                <a:latin typeface="Courier New"/>
                <a:cs typeface="Courier New"/>
              </a:rPr>
              <a:t>mutex</a:t>
            </a:r>
            <a:r>
              <a:rPr dirty="0" smtClean="0" baseline="19616" sz="675" spc="-194">
                <a:latin typeface="Courier New"/>
                <a:cs typeface="Courier New"/>
              </a:rPr>
              <a:t> </a:t>
            </a:r>
            <a:r>
              <a:rPr dirty="0" smtClean="0" baseline="19616" sz="675" spc="29">
                <a:latin typeface="Courier New"/>
                <a:cs typeface="Courier New"/>
              </a:rPr>
              <a:t>);</a:t>
            </a:r>
            <a:endParaRPr sz="450">
              <a:latin typeface="Courier New"/>
              <a:cs typeface="Courier New"/>
            </a:endParaRPr>
          </a:p>
          <a:p>
            <a:pPr marL="1219200">
              <a:lnSpc>
                <a:spcPct val="94401"/>
              </a:lnSpc>
              <a:spcBef>
                <a:spcPts val="720"/>
              </a:spcBef>
            </a:pPr>
            <a:r>
              <a:rPr dirty="0" smtClean="0" sz="450" spc="29">
                <a:latin typeface="Courier New"/>
                <a:cs typeface="Courier New"/>
              </a:rPr>
              <a:t>i</a:t>
            </a:r>
            <a:r>
              <a:rPr dirty="0" smtClean="0" sz="450" spc="0">
                <a:latin typeface="Courier New"/>
                <a:cs typeface="Courier New"/>
              </a:rPr>
              <a:t>f</a:t>
            </a:r>
            <a:r>
              <a:rPr dirty="0" smtClean="0" sz="450" spc="59">
                <a:latin typeface="Courier New"/>
                <a:cs typeface="Courier New"/>
              </a:rPr>
              <a:t> </a:t>
            </a:r>
            <a:r>
              <a:rPr dirty="0" smtClean="0" sz="450" spc="29">
                <a:latin typeface="Courier New"/>
                <a:cs typeface="Courier New"/>
              </a:rPr>
              <a:t>(</a:t>
            </a:r>
            <a:r>
              <a:rPr dirty="0" smtClean="0" sz="450" spc="0">
                <a:latin typeface="Courier New"/>
                <a:cs typeface="Courier New"/>
              </a:rPr>
              <a:t>numReaders</a:t>
            </a:r>
            <a:r>
              <a:rPr dirty="0" smtClean="0" sz="450" spc="104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=</a:t>
            </a:r>
            <a:r>
              <a:rPr dirty="0" smtClean="0" sz="450" spc="0">
                <a:latin typeface="Courier New"/>
                <a:cs typeface="Courier New"/>
              </a:rPr>
              <a:t>=</a:t>
            </a:r>
            <a:r>
              <a:rPr dirty="0" smtClean="0" sz="450" spc="39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0)</a:t>
            </a:r>
            <a:endParaRPr sz="450">
              <a:latin typeface="Courier New"/>
              <a:cs typeface="Courier New"/>
            </a:endParaRPr>
          </a:p>
          <a:p>
            <a:pPr marL="267086" marR="386" algn="ctr">
              <a:lnSpc>
                <a:spcPts val="641"/>
              </a:lnSpc>
              <a:spcBef>
                <a:spcPts val="45"/>
              </a:spcBef>
            </a:pPr>
            <a:r>
              <a:rPr dirty="0" smtClean="0" baseline="33628" sz="525" spc="10">
                <a:latin typeface="Courier New"/>
                <a:cs typeface="Courier New"/>
              </a:rPr>
              <a:t>signal(</a:t>
            </a:r>
            <a:r>
              <a:rPr dirty="0" smtClean="0" baseline="33628" sz="525" spc="15">
                <a:latin typeface="Courier New"/>
                <a:cs typeface="Courier New"/>
              </a:rPr>
              <a:t>okToWrite</a:t>
            </a:r>
            <a:r>
              <a:rPr dirty="0" smtClean="0" baseline="33628" sz="525" spc="79">
                <a:latin typeface="Courier New"/>
                <a:cs typeface="Courier New"/>
              </a:rPr>
              <a:t>)</a:t>
            </a:r>
            <a:r>
              <a:rPr dirty="0" smtClean="0" baseline="33628" sz="525" spc="0">
                <a:latin typeface="Courier New"/>
                <a:cs typeface="Courier New"/>
              </a:rPr>
              <a:t>;</a:t>
            </a:r>
            <a:r>
              <a:rPr dirty="0" smtClean="0" baseline="33628" sz="525" spc="0">
                <a:latin typeface="Courier New"/>
                <a:cs typeface="Courier New"/>
              </a:rPr>
              <a:t>               </a:t>
            </a:r>
            <a:r>
              <a:rPr dirty="0" smtClean="0" baseline="33628" sz="525" spc="59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signal</a:t>
            </a:r>
            <a:r>
              <a:rPr dirty="0" smtClean="0" sz="450" spc="-54">
                <a:latin typeface="Courier New"/>
                <a:cs typeface="Courier New"/>
              </a:rPr>
              <a:t>(</a:t>
            </a:r>
            <a:r>
              <a:rPr dirty="0" smtClean="0" sz="450" spc="4">
                <a:latin typeface="Courier New"/>
                <a:cs typeface="Courier New"/>
              </a:rPr>
              <a:t>okToWrit</a:t>
            </a:r>
            <a:r>
              <a:rPr dirty="0" smtClean="0" sz="450" spc="0">
                <a:latin typeface="Courier New"/>
                <a:cs typeface="Courier New"/>
              </a:rPr>
              <a:t>e</a:t>
            </a:r>
            <a:r>
              <a:rPr dirty="0" smtClean="0" sz="450" spc="-189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)</a:t>
            </a:r>
            <a:r>
              <a:rPr dirty="0" smtClean="0" sz="450" spc="0">
                <a:latin typeface="Courier New"/>
                <a:cs typeface="Courier New"/>
              </a:rPr>
              <a:t>;</a:t>
            </a:r>
            <a:r>
              <a:rPr dirty="0" smtClean="0" sz="450" spc="9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//o</a:t>
            </a:r>
            <a:r>
              <a:rPr dirty="0" smtClean="0" sz="450" spc="0">
                <a:latin typeface="Courier New"/>
                <a:cs typeface="Courier New"/>
              </a:rPr>
              <a:t>k</a:t>
            </a:r>
            <a:r>
              <a:rPr dirty="0" smtClean="0" sz="450" spc="9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t</a:t>
            </a:r>
            <a:r>
              <a:rPr dirty="0" smtClean="0" sz="450" spc="0">
                <a:latin typeface="Courier New"/>
                <a:cs typeface="Courier New"/>
              </a:rPr>
              <a:t>o</a:t>
            </a:r>
            <a:r>
              <a:rPr dirty="0" smtClean="0" sz="450" spc="9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writ</a:t>
            </a:r>
            <a:r>
              <a:rPr dirty="0" smtClean="0" sz="450" spc="0">
                <a:latin typeface="Courier New"/>
                <a:cs typeface="Courier New"/>
              </a:rPr>
              <a:t>e</a:t>
            </a:r>
            <a:r>
              <a:rPr dirty="0" smtClean="0" sz="450" spc="9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again</a:t>
            </a:r>
            <a:endParaRPr sz="450">
              <a:latin typeface="Courier New"/>
              <a:cs typeface="Courier New"/>
            </a:endParaRPr>
          </a:p>
          <a:p>
            <a:pPr marL="1202213" marR="897413" algn="ctr">
              <a:lnSpc>
                <a:spcPct val="94401"/>
              </a:lnSpc>
              <a:spcBef>
                <a:spcPts val="765"/>
              </a:spcBef>
            </a:pPr>
            <a:r>
              <a:rPr dirty="0" smtClean="0" sz="450" spc="19">
                <a:latin typeface="Courier New"/>
                <a:cs typeface="Courier New"/>
              </a:rPr>
              <a:t>signa</a:t>
            </a:r>
            <a:r>
              <a:rPr dirty="0" smtClean="0" sz="450" spc="0">
                <a:latin typeface="Courier New"/>
                <a:cs typeface="Courier New"/>
              </a:rPr>
              <a:t>l</a:t>
            </a:r>
            <a:r>
              <a:rPr dirty="0" smtClean="0" sz="450" spc="49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(</a:t>
            </a:r>
            <a:r>
              <a:rPr dirty="0" smtClean="0" sz="450" spc="14">
                <a:latin typeface="Courier New"/>
                <a:cs typeface="Courier New"/>
              </a:rPr>
              <a:t>mute</a:t>
            </a:r>
            <a:r>
              <a:rPr dirty="0" smtClean="0" sz="450" spc="-59">
                <a:latin typeface="Courier New"/>
                <a:cs typeface="Courier New"/>
              </a:rPr>
              <a:t>x</a:t>
            </a:r>
            <a:r>
              <a:rPr dirty="0" smtClean="0" sz="450" spc="29">
                <a:latin typeface="Courier New"/>
                <a:cs typeface="Courier New"/>
              </a:rPr>
              <a:t>);</a:t>
            </a:r>
            <a:endParaRPr sz="450">
              <a:latin typeface="Courier New"/>
              <a:cs typeface="Courier New"/>
            </a:endParaRPr>
          </a:p>
          <a:p>
            <a:pPr marL="1114425">
              <a:lnSpc>
                <a:spcPct val="100000"/>
              </a:lnSpc>
              <a:spcBef>
                <a:spcPts val="190"/>
              </a:spcBef>
            </a:pPr>
            <a:r>
              <a:rPr dirty="0" smtClean="0" baseline="26155" sz="675">
                <a:latin typeface="Courier New"/>
                <a:cs typeface="Courier New"/>
              </a:rPr>
              <a:t>}</a:t>
            </a:r>
            <a:r>
              <a:rPr dirty="0" smtClean="0" baseline="26155" sz="675">
                <a:latin typeface="Courier New"/>
                <a:cs typeface="Courier New"/>
              </a:rPr>
              <a:t>                                      </a:t>
            </a:r>
            <a:r>
              <a:rPr dirty="0" smtClean="0" baseline="26155" sz="675" spc="75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1</a:t>
            </a:r>
            <a:r>
              <a:rPr dirty="0" smtClean="0" sz="350" spc="0">
                <a:latin typeface="Times New Roman"/>
                <a:cs typeface="Times New Roman"/>
              </a:rPr>
              <a:t>0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400" y="3562350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Readers/writers</a:t>
            </a:r>
            <a:endParaRPr sz="1200">
              <a:latin typeface="Comic Sans MS"/>
              <a:cs typeface="Comic Sans MS"/>
            </a:endParaRPr>
          </a:p>
          <a:p>
            <a:pPr marL="285750" marR="546059" indent="-104775">
              <a:lnSpc>
                <a:spcPts val="830"/>
              </a:lnSpc>
              <a:spcBef>
                <a:spcPts val="1277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Share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116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dat</a:t>
            </a:r>
            <a:r>
              <a:rPr dirty="0" smtClean="0" sz="650" spc="0">
                <a:latin typeface="Comic Sans MS"/>
                <a:cs typeface="Comic Sans MS"/>
              </a:rPr>
              <a:t>a</a:t>
            </a:r>
            <a:r>
              <a:rPr dirty="0" smtClean="0" sz="650" spc="9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are</a:t>
            </a:r>
            <a:r>
              <a:rPr dirty="0" smtClean="0" sz="650" spc="0">
                <a:latin typeface="Comic Sans MS"/>
                <a:cs typeface="Comic Sans MS"/>
              </a:rPr>
              <a:t>a</a:t>
            </a:r>
            <a:r>
              <a:rPr dirty="0" smtClean="0" sz="650" spc="89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bein</a:t>
            </a:r>
            <a:r>
              <a:rPr dirty="0" smtClean="0" sz="650" spc="0">
                <a:latin typeface="Comic Sans MS"/>
                <a:cs typeface="Comic Sans MS"/>
              </a:rPr>
              <a:t>g</a:t>
            </a:r>
            <a:r>
              <a:rPr dirty="0" smtClean="0" sz="650" spc="98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accesse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158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b</a:t>
            </a:r>
            <a:r>
              <a:rPr dirty="0" smtClean="0" sz="650" spc="0">
                <a:latin typeface="Comic Sans MS"/>
                <a:cs typeface="Comic Sans MS"/>
              </a:rPr>
              <a:t>y</a:t>
            </a:r>
            <a:r>
              <a:rPr dirty="0" smtClean="0" sz="650" spc="71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multiple</a:t>
            </a:r>
            <a:r>
              <a:rPr dirty="0" smtClean="0" sz="650" spc="4">
                <a:latin typeface="Comic Sans MS"/>
                <a:cs typeface="Comic Sans MS"/>
              </a:rPr>
              <a:t> </a:t>
            </a:r>
            <a:r>
              <a:rPr dirty="0" smtClean="0" sz="650" spc="14">
                <a:latin typeface="Comic Sans MS"/>
                <a:cs typeface="Comic Sans MS"/>
              </a:rPr>
              <a:t>processes/threads</a:t>
            </a:r>
            <a:endParaRPr sz="65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123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Reade</a:t>
            </a:r>
            <a:r>
              <a:rPr dirty="0" smtClean="0" sz="650" spc="0">
                <a:latin typeface="Comic Sans MS"/>
                <a:cs typeface="Comic Sans MS"/>
              </a:rPr>
              <a:t>r</a:t>
            </a:r>
            <a:r>
              <a:rPr dirty="0" smtClean="0" sz="650" spc="11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thread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126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loo</a:t>
            </a:r>
            <a:r>
              <a:rPr dirty="0" smtClean="0" sz="650" spc="0">
                <a:latin typeface="Comic Sans MS"/>
                <a:cs typeface="Comic Sans MS"/>
              </a:rPr>
              <a:t>k</a:t>
            </a:r>
            <a:r>
              <a:rPr dirty="0" smtClean="0" sz="650" spc="103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bu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85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don'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-26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touch</a:t>
            </a:r>
            <a:endParaRPr sz="650">
              <a:latin typeface="Comic Sans MS"/>
              <a:cs typeface="Comic Sans MS"/>
            </a:endParaRPr>
          </a:p>
          <a:p>
            <a:pPr marL="314325">
              <a:lnSpc>
                <a:spcPts val="810"/>
              </a:lnSpc>
              <a:spcBef>
                <a:spcPts val="40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ca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allo</a:t>
            </a:r>
            <a:r>
              <a:rPr dirty="0" smtClean="0" sz="600" spc="0">
                <a:latin typeface="Comic Sans MS"/>
                <a:cs typeface="Comic Sans MS"/>
              </a:rPr>
              <a:t>w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multipl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reader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time</a:t>
            </a:r>
            <a:r>
              <a:rPr dirty="0" smtClean="0" sz="600" spc="0">
                <a:latin typeface="Comic Sans MS"/>
                <a:cs typeface="Comic Sans MS"/>
              </a:rPr>
              <a:t>.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Why?</a:t>
            </a:r>
            <a:endParaRPr sz="60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114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Write</a:t>
            </a:r>
            <a:r>
              <a:rPr dirty="0" smtClean="0" sz="650" spc="0">
                <a:latin typeface="Comic Sans MS"/>
                <a:cs typeface="Comic Sans MS"/>
              </a:rPr>
              <a:t>r</a:t>
            </a:r>
            <a:r>
              <a:rPr dirty="0" smtClean="0" sz="650" spc="104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thread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111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touc</a:t>
            </a:r>
            <a:r>
              <a:rPr dirty="0" smtClean="0" sz="650" spc="0">
                <a:latin typeface="Comic Sans MS"/>
                <a:cs typeface="Comic Sans MS"/>
              </a:rPr>
              <a:t>h</a:t>
            </a:r>
            <a:r>
              <a:rPr dirty="0" smtClean="0" sz="650" spc="90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too.</a:t>
            </a:r>
            <a:endParaRPr sz="650">
              <a:latin typeface="Comic Sans MS"/>
              <a:cs typeface="Comic Sans MS"/>
            </a:endParaRPr>
          </a:p>
          <a:p>
            <a:pPr marL="400050" marR="431721" indent="-85725">
              <a:lnSpc>
                <a:spcPts val="680"/>
              </a:lnSpc>
              <a:spcBef>
                <a:spcPts val="124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If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writer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present,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no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other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writers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and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no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readers.</a:t>
            </a:r>
            <a:r>
              <a:rPr dirty="0" smtClean="0" sz="600" spc="0">
                <a:latin typeface="Comic Sans MS"/>
                <a:cs typeface="Comic Sans MS"/>
              </a:rPr>
              <a:t> </a:t>
            </a:r>
            <a:r>
              <a:rPr dirty="0" smtClean="0" sz="600" spc="-25">
                <a:latin typeface="Comic Sans MS"/>
                <a:cs typeface="Comic Sans MS"/>
              </a:rPr>
              <a:t>Why?</a:t>
            </a:r>
            <a:endParaRPr sz="60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161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I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7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Producer/Consume</a:t>
            </a:r>
            <a:r>
              <a:rPr dirty="0" smtClean="0" sz="650" spc="0">
                <a:latin typeface="Comic Sans MS"/>
                <a:cs typeface="Comic Sans MS"/>
              </a:rPr>
              <a:t>r</a:t>
            </a:r>
            <a:r>
              <a:rPr dirty="0" smtClean="0" sz="650" spc="0">
                <a:latin typeface="Comic Sans MS"/>
                <a:cs typeface="Comic Sans MS"/>
              </a:rPr>
              <a:t> </a:t>
            </a:r>
            <a:r>
              <a:rPr dirty="0" smtClean="0" sz="650" spc="34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a</a:t>
            </a:r>
            <a:r>
              <a:rPr dirty="0" smtClean="0" sz="650" spc="63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subse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11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o</a:t>
            </a:r>
            <a:r>
              <a:rPr dirty="0" smtClean="0" sz="650" spc="0">
                <a:latin typeface="Comic Sans MS"/>
                <a:cs typeface="Comic Sans MS"/>
              </a:rPr>
              <a:t>f</a:t>
            </a:r>
            <a:r>
              <a:rPr dirty="0" smtClean="0" sz="650" spc="7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this?</a:t>
            </a:r>
            <a:endParaRPr sz="650">
              <a:latin typeface="Comic Sans MS"/>
              <a:cs typeface="Comic Sans MS"/>
            </a:endParaRPr>
          </a:p>
          <a:p>
            <a:pPr marL="314325">
              <a:lnSpc>
                <a:spcPts val="810"/>
              </a:lnSpc>
              <a:spcBef>
                <a:spcPts val="40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Producer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an</a:t>
            </a:r>
            <a:r>
              <a:rPr dirty="0" smtClean="0" sz="600" spc="0">
                <a:latin typeface="Comic Sans MS"/>
                <a:cs typeface="Comic Sans MS"/>
              </a:rPr>
              <a:t>d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consumer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ar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bot</a:t>
            </a:r>
            <a:r>
              <a:rPr dirty="0" smtClean="0" sz="600" spc="0">
                <a:latin typeface="Comic Sans MS"/>
                <a:cs typeface="Comic Sans MS"/>
              </a:rPr>
              <a:t>h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writers</a:t>
            </a:r>
            <a:endParaRPr sz="600">
              <a:latin typeface="Comic Sans MS"/>
              <a:cs typeface="Comic Sans MS"/>
            </a:endParaRPr>
          </a:p>
          <a:p>
            <a:pPr marL="400050" marR="318245" indent="-85725">
              <a:lnSpc>
                <a:spcPts val="750"/>
              </a:lnSpc>
              <a:spcBef>
                <a:spcPts val="47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Produce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=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write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typ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</a:t>
            </a:r>
            <a:r>
              <a:rPr dirty="0" smtClean="0" sz="600" spc="0">
                <a:latin typeface="Comic Sans MS"/>
                <a:cs typeface="Comic Sans MS"/>
              </a:rPr>
              <a:t>;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Consume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=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write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typ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B</a:t>
            </a:r>
            <a:r>
              <a:rPr dirty="0" smtClean="0" sz="600" spc="128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and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n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readers</a:t>
            </a:r>
            <a:endParaRPr sz="600">
              <a:latin typeface="Comic Sans MS"/>
              <a:cs typeface="Comic Sans MS"/>
            </a:endParaRPr>
          </a:p>
          <a:p>
            <a:pPr marL="314325">
              <a:lnSpc>
                <a:spcPct val="116129"/>
              </a:lnSpc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Wha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migh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b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reader</a:t>
            </a:r>
            <a:r>
              <a:rPr dirty="0" smtClean="0" sz="600" spc="0">
                <a:latin typeface="Comic Sans MS"/>
                <a:cs typeface="Comic Sans MS"/>
              </a:rPr>
              <a:t>?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Repor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curren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nu</a:t>
            </a:r>
            <a:r>
              <a:rPr dirty="0" smtClean="0" sz="600" spc="0">
                <a:latin typeface="Comic Sans MS"/>
                <a:cs typeface="Comic Sans MS"/>
              </a:rPr>
              <a:t>m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full.</a:t>
            </a:r>
            <a:endParaRPr sz="600">
              <a:latin typeface="Comic Sans MS"/>
              <a:cs typeface="Comic Sans MS"/>
            </a:endParaRPr>
          </a:p>
          <a:p>
            <a:pPr marR="119062" algn="r">
              <a:lnSpc>
                <a:spcPct val="95825"/>
              </a:lnSpc>
              <a:spcBef>
                <a:spcPts val="848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0">
                <a:latin typeface="Times New Roman"/>
                <a:cs typeface="Times New Roman"/>
              </a:rPr>
              <a:t>9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29025" y="904875"/>
            <a:ext cx="2676525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0975">
              <a:lnSpc>
                <a:spcPct val="116129"/>
              </a:lnSpc>
              <a:spcBef>
                <a:spcPts val="250"/>
              </a:spcBef>
            </a:pP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Semaphore</a:t>
            </a:r>
            <a:r>
              <a:rPr dirty="0" smtClean="0" sz="1200" spc="-9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Solution</a:t>
            </a:r>
            <a:r>
              <a:rPr dirty="0" smtClean="0" sz="1200" spc="-9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endParaRPr sz="1200">
              <a:latin typeface="Comic Sans MS"/>
              <a:cs typeface="Comic Sans MS"/>
            </a:endParaRPr>
          </a:p>
          <a:p>
            <a:pPr marL="180975">
              <a:lnSpc>
                <a:spcPts val="1425"/>
              </a:lnSpc>
              <a:spcBef>
                <a:spcPts val="71"/>
              </a:spcBef>
            </a:pPr>
            <a:r>
              <a:rPr dirty="0" smtClean="0" baseline="1993" sz="1800" spc="-29" u="sng">
                <a:solidFill>
                  <a:srgbClr val="3333CC"/>
                </a:solidFill>
                <a:latin typeface="Comic Sans MS"/>
                <a:cs typeface="Comic Sans MS"/>
              </a:rPr>
              <a:t>Bounded</a:t>
            </a:r>
            <a:r>
              <a:rPr dirty="0" smtClean="0" baseline="1993" sz="1800" spc="25" u="sng">
                <a:solidFill>
                  <a:srgbClr val="3333CC"/>
                </a:solidFill>
                <a:latin typeface="Comic Sans MS"/>
                <a:cs typeface="Comic Sans MS"/>
              </a:rPr>
              <a:t>-</a:t>
            </a:r>
            <a:r>
              <a:rPr dirty="0" smtClean="0" baseline="1993" sz="1800" spc="-14" u="sng">
                <a:solidFill>
                  <a:srgbClr val="3333CC"/>
                </a:solidFill>
                <a:latin typeface="Comic Sans MS"/>
                <a:cs typeface="Comic Sans MS"/>
              </a:rPr>
              <a:t>Buffer</a:t>
            </a:r>
            <a:endParaRPr sz="1200">
              <a:latin typeface="Comic Sans MS"/>
              <a:cs typeface="Comic Sans MS"/>
            </a:endParaRPr>
          </a:p>
          <a:p>
            <a:pPr marL="209550">
              <a:lnSpc>
                <a:spcPts val="650"/>
              </a:lnSpc>
              <a:spcBef>
                <a:spcPts val="436"/>
              </a:spcBef>
            </a:pPr>
            <a:r>
              <a:rPr dirty="0" smtClean="0" baseline="19616" sz="675" spc="19">
                <a:latin typeface="Courier New"/>
                <a:cs typeface="Courier New"/>
              </a:rPr>
              <a:t>voi</a:t>
            </a:r>
            <a:r>
              <a:rPr dirty="0" smtClean="0" baseline="19616" sz="675" spc="0">
                <a:latin typeface="Courier New"/>
                <a:cs typeface="Courier New"/>
              </a:rPr>
              <a:t>d</a:t>
            </a:r>
            <a:r>
              <a:rPr dirty="0" smtClean="0" baseline="19616" sz="675" spc="14">
                <a:latin typeface="Courier New"/>
                <a:cs typeface="Courier New"/>
              </a:rPr>
              <a:t> </a:t>
            </a:r>
            <a:r>
              <a:rPr dirty="0" smtClean="0" baseline="19616" sz="675" spc="19">
                <a:latin typeface="Courier New"/>
                <a:cs typeface="Courier New"/>
              </a:rPr>
              <a:t>produce</a:t>
            </a:r>
            <a:r>
              <a:rPr dirty="0" smtClean="0" baseline="19616" sz="675" spc="0">
                <a:latin typeface="Courier New"/>
                <a:cs typeface="Courier New"/>
              </a:rPr>
              <a:t>r</a:t>
            </a:r>
            <a:r>
              <a:rPr dirty="0" smtClean="0" baseline="19616" sz="675" spc="14">
                <a:latin typeface="Courier New"/>
                <a:cs typeface="Courier New"/>
              </a:rPr>
              <a:t> </a:t>
            </a:r>
            <a:r>
              <a:rPr dirty="0" smtClean="0" baseline="19616" sz="675" spc="19">
                <a:latin typeface="Courier New"/>
                <a:cs typeface="Courier New"/>
              </a:rPr>
              <a:t>()</a:t>
            </a:r>
            <a:r>
              <a:rPr dirty="0" smtClean="0" baseline="19616" sz="675" spc="0">
                <a:latin typeface="Courier New"/>
                <a:cs typeface="Courier New"/>
              </a:rPr>
              <a:t>{</a:t>
            </a:r>
            <a:r>
              <a:rPr dirty="0" smtClean="0" baseline="19616" sz="675" spc="0">
                <a:latin typeface="Courier New"/>
                <a:cs typeface="Courier New"/>
              </a:rPr>
              <a:t>               </a:t>
            </a:r>
            <a:r>
              <a:rPr dirty="0" smtClean="0" baseline="19616" sz="675" spc="200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voi</a:t>
            </a:r>
            <a:r>
              <a:rPr dirty="0" smtClean="0" sz="450" spc="0">
                <a:latin typeface="Courier New"/>
                <a:cs typeface="Courier New"/>
              </a:rPr>
              <a:t>d</a:t>
            </a:r>
            <a:r>
              <a:rPr dirty="0" smtClean="0" sz="450" spc="14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consume</a:t>
            </a:r>
            <a:r>
              <a:rPr dirty="0" smtClean="0" sz="450" spc="0">
                <a:latin typeface="Courier New"/>
                <a:cs typeface="Courier New"/>
              </a:rPr>
              <a:t>r</a:t>
            </a:r>
            <a:r>
              <a:rPr dirty="0" smtClean="0" sz="450" spc="14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(){</a:t>
            </a:r>
            <a:endParaRPr sz="450">
              <a:latin typeface="Courier New"/>
              <a:cs typeface="Courier New"/>
            </a:endParaRPr>
          </a:p>
          <a:p>
            <a:pPr marL="314325">
              <a:lnSpc>
                <a:spcPts val="509"/>
              </a:lnSpc>
            </a:pPr>
            <a:r>
              <a:rPr dirty="0" smtClean="0" sz="450" spc="14">
                <a:latin typeface="Courier New"/>
                <a:cs typeface="Courier New"/>
              </a:rPr>
              <a:t>container_</a:t>
            </a:r>
            <a:r>
              <a:rPr dirty="0" smtClean="0" sz="450" spc="0">
                <a:latin typeface="Courier New"/>
                <a:cs typeface="Courier New"/>
              </a:rPr>
              <a:t>t</a:t>
            </a:r>
            <a:r>
              <a:rPr dirty="0" smtClean="0" sz="450" spc="44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*which</a:t>
            </a:r>
            <a:r>
              <a:rPr dirty="0" smtClean="0" sz="450" spc="0">
                <a:latin typeface="Courier New"/>
                <a:cs typeface="Courier New"/>
              </a:rPr>
              <a:t>;</a:t>
            </a:r>
            <a:r>
              <a:rPr dirty="0" smtClean="0" sz="450" spc="0">
                <a:latin typeface="Courier New"/>
                <a:cs typeface="Courier New"/>
              </a:rPr>
              <a:t>             </a:t>
            </a:r>
            <a:r>
              <a:rPr dirty="0" smtClean="0" sz="450" spc="209">
                <a:latin typeface="Courier New"/>
                <a:cs typeface="Courier New"/>
              </a:rPr>
              <a:t> </a:t>
            </a:r>
            <a:r>
              <a:rPr dirty="0" smtClean="0" baseline="-19616" sz="675" spc="14">
                <a:latin typeface="Courier New"/>
                <a:cs typeface="Courier New"/>
              </a:rPr>
              <a:t>container_</a:t>
            </a:r>
            <a:r>
              <a:rPr dirty="0" smtClean="0" baseline="-19616" sz="675" spc="0">
                <a:latin typeface="Courier New"/>
                <a:cs typeface="Courier New"/>
              </a:rPr>
              <a:t>t</a:t>
            </a:r>
            <a:r>
              <a:rPr dirty="0" smtClean="0" baseline="-19616" sz="675" spc="44">
                <a:latin typeface="Courier New"/>
                <a:cs typeface="Courier New"/>
              </a:rPr>
              <a:t> </a:t>
            </a:r>
            <a:r>
              <a:rPr dirty="0" smtClean="0" baseline="-19616" sz="675" spc="14">
                <a:latin typeface="Courier New"/>
                <a:cs typeface="Courier New"/>
              </a:rPr>
              <a:t>*which;</a:t>
            </a:r>
            <a:endParaRPr sz="450">
              <a:latin typeface="Courier New"/>
              <a:cs typeface="Courier New"/>
            </a:endParaRPr>
          </a:p>
          <a:p>
            <a:pPr marL="314325">
              <a:lnSpc>
                <a:spcPts val="509"/>
              </a:lnSpc>
              <a:spcBef>
                <a:spcPts val="840"/>
              </a:spcBef>
            </a:pPr>
            <a:r>
              <a:rPr dirty="0" smtClean="0" sz="450" spc="14">
                <a:latin typeface="Courier New"/>
                <a:cs typeface="Courier New"/>
              </a:rPr>
              <a:t>wai</a:t>
            </a:r>
            <a:r>
              <a:rPr dirty="0" smtClean="0" sz="450" spc="0">
                <a:latin typeface="Courier New"/>
                <a:cs typeface="Courier New"/>
              </a:rPr>
              <a:t>t</a:t>
            </a:r>
            <a:r>
              <a:rPr dirty="0" smtClean="0" sz="450" spc="-29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(</a:t>
            </a:r>
            <a:r>
              <a:rPr dirty="0" smtClean="0" sz="450" spc="-179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mutex</a:t>
            </a:r>
            <a:r>
              <a:rPr dirty="0" smtClean="0" sz="450" spc="29">
                <a:latin typeface="Courier New"/>
                <a:cs typeface="Courier New"/>
              </a:rPr>
              <a:t>)</a:t>
            </a:r>
            <a:r>
              <a:rPr dirty="0" smtClean="0" sz="450" spc="0">
                <a:latin typeface="Courier New"/>
                <a:cs typeface="Courier New"/>
              </a:rPr>
              <a:t>;</a:t>
            </a:r>
            <a:r>
              <a:rPr dirty="0" smtClean="0" sz="450" spc="0">
                <a:latin typeface="Courier New"/>
                <a:cs typeface="Courier New"/>
              </a:rPr>
              <a:t>                   </a:t>
            </a:r>
            <a:r>
              <a:rPr dirty="0" smtClean="0" sz="450" spc="254">
                <a:latin typeface="Courier New"/>
                <a:cs typeface="Courier New"/>
              </a:rPr>
              <a:t> </a:t>
            </a:r>
            <a:r>
              <a:rPr dirty="0" smtClean="0" baseline="-19616" sz="675" spc="14">
                <a:latin typeface="Courier New"/>
                <a:cs typeface="Courier New"/>
              </a:rPr>
              <a:t>wai</a:t>
            </a:r>
            <a:r>
              <a:rPr dirty="0" smtClean="0" baseline="-19616" sz="675" spc="0">
                <a:latin typeface="Courier New"/>
                <a:cs typeface="Courier New"/>
              </a:rPr>
              <a:t>t</a:t>
            </a:r>
            <a:r>
              <a:rPr dirty="0" smtClean="0" baseline="-19616" sz="675" spc="-29">
                <a:latin typeface="Courier New"/>
                <a:cs typeface="Courier New"/>
              </a:rPr>
              <a:t> </a:t>
            </a:r>
            <a:r>
              <a:rPr dirty="0" smtClean="0" baseline="-19616" sz="675" spc="0">
                <a:latin typeface="Courier New"/>
                <a:cs typeface="Courier New"/>
              </a:rPr>
              <a:t>(</a:t>
            </a:r>
            <a:r>
              <a:rPr dirty="0" smtClean="0" baseline="-19616" sz="675" spc="-179">
                <a:latin typeface="Courier New"/>
                <a:cs typeface="Courier New"/>
              </a:rPr>
              <a:t> </a:t>
            </a:r>
            <a:r>
              <a:rPr dirty="0" smtClean="0" baseline="-19616" sz="675" spc="14">
                <a:latin typeface="Courier New"/>
                <a:cs typeface="Courier New"/>
              </a:rPr>
              <a:t>mutex</a:t>
            </a:r>
            <a:r>
              <a:rPr dirty="0" smtClean="0" baseline="-19616" sz="675" spc="29">
                <a:latin typeface="Courier New"/>
                <a:cs typeface="Courier New"/>
              </a:rPr>
              <a:t>);</a:t>
            </a:r>
            <a:endParaRPr sz="450">
              <a:latin typeface="Courier New"/>
              <a:cs typeface="Courier New"/>
            </a:endParaRPr>
          </a:p>
          <a:p>
            <a:pPr marL="314325">
              <a:lnSpc>
                <a:spcPts val="509"/>
              </a:lnSpc>
              <a:spcBef>
                <a:spcPts val="840"/>
              </a:spcBef>
            </a:pPr>
            <a:r>
              <a:rPr dirty="0" smtClean="0" sz="450" spc="19">
                <a:latin typeface="Courier New"/>
                <a:cs typeface="Courier New"/>
              </a:rPr>
              <a:t>whic</a:t>
            </a:r>
            <a:r>
              <a:rPr dirty="0" smtClean="0" sz="450" spc="0">
                <a:latin typeface="Courier New"/>
                <a:cs typeface="Courier New"/>
              </a:rPr>
              <a:t>h</a:t>
            </a:r>
            <a:r>
              <a:rPr dirty="0" smtClean="0" sz="450" spc="50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=</a:t>
            </a:r>
            <a:r>
              <a:rPr dirty="0" smtClean="0" sz="450" spc="49">
                <a:latin typeface="Courier New"/>
                <a:cs typeface="Courier New"/>
              </a:rPr>
              <a:t> </a:t>
            </a:r>
            <a:r>
              <a:rPr dirty="0" smtClean="0" sz="450" spc="4">
                <a:latin typeface="Courier New"/>
                <a:cs typeface="Courier New"/>
              </a:rPr>
              <a:t>findFreeBuffe</a:t>
            </a:r>
            <a:r>
              <a:rPr dirty="0" smtClean="0" sz="450" spc="0">
                <a:latin typeface="Courier New"/>
                <a:cs typeface="Courier New"/>
              </a:rPr>
              <a:t>r</a:t>
            </a:r>
            <a:r>
              <a:rPr dirty="0" smtClean="0" sz="450" spc="-189">
                <a:latin typeface="Courier New"/>
                <a:cs typeface="Courier New"/>
              </a:rPr>
              <a:t> </a:t>
            </a:r>
            <a:r>
              <a:rPr dirty="0" smtClean="0" sz="450" spc="29">
                <a:latin typeface="Courier New"/>
                <a:cs typeface="Courier New"/>
              </a:rPr>
              <a:t>()</a:t>
            </a:r>
            <a:r>
              <a:rPr dirty="0" smtClean="0" sz="450" spc="0">
                <a:latin typeface="Courier New"/>
                <a:cs typeface="Courier New"/>
              </a:rPr>
              <a:t>;</a:t>
            </a:r>
            <a:r>
              <a:rPr dirty="0" smtClean="0" sz="450" spc="0">
                <a:latin typeface="Courier New"/>
                <a:cs typeface="Courier New"/>
              </a:rPr>
              <a:t>       </a:t>
            </a:r>
            <a:r>
              <a:rPr dirty="0" smtClean="0" sz="450" spc="119">
                <a:latin typeface="Courier New"/>
                <a:cs typeface="Courier New"/>
              </a:rPr>
              <a:t> </a:t>
            </a:r>
            <a:r>
              <a:rPr dirty="0" smtClean="0" baseline="-19616" sz="675" spc="19">
                <a:latin typeface="Courier New"/>
                <a:cs typeface="Courier New"/>
              </a:rPr>
              <a:t>whic</a:t>
            </a:r>
            <a:r>
              <a:rPr dirty="0" smtClean="0" baseline="-19616" sz="675" spc="0">
                <a:latin typeface="Courier New"/>
                <a:cs typeface="Courier New"/>
              </a:rPr>
              <a:t>h</a:t>
            </a:r>
            <a:r>
              <a:rPr dirty="0" smtClean="0" baseline="-19616" sz="675" spc="50">
                <a:latin typeface="Courier New"/>
                <a:cs typeface="Courier New"/>
              </a:rPr>
              <a:t> </a:t>
            </a:r>
            <a:r>
              <a:rPr dirty="0" smtClean="0" baseline="-19616" sz="675" spc="0">
                <a:latin typeface="Courier New"/>
                <a:cs typeface="Courier New"/>
              </a:rPr>
              <a:t>=</a:t>
            </a:r>
            <a:r>
              <a:rPr dirty="0" smtClean="0" baseline="-19616" sz="675" spc="50">
                <a:latin typeface="Courier New"/>
                <a:cs typeface="Courier New"/>
              </a:rPr>
              <a:t> </a:t>
            </a:r>
            <a:r>
              <a:rPr dirty="0" smtClean="0" baseline="-19616" sz="675" spc="4">
                <a:latin typeface="Courier New"/>
                <a:cs typeface="Courier New"/>
              </a:rPr>
              <a:t>findFullBuffe</a:t>
            </a:r>
            <a:r>
              <a:rPr dirty="0" smtClean="0" baseline="-19616" sz="675" spc="0">
                <a:latin typeface="Courier New"/>
                <a:cs typeface="Courier New"/>
              </a:rPr>
              <a:t>r</a:t>
            </a:r>
            <a:r>
              <a:rPr dirty="0" smtClean="0" baseline="-19616" sz="675" spc="-189">
                <a:latin typeface="Courier New"/>
                <a:cs typeface="Courier New"/>
              </a:rPr>
              <a:t> </a:t>
            </a:r>
            <a:r>
              <a:rPr dirty="0" smtClean="0" baseline="-19616" sz="675" spc="29">
                <a:latin typeface="Courier New"/>
                <a:cs typeface="Courier New"/>
              </a:rPr>
              <a:t>();</a:t>
            </a:r>
            <a:endParaRPr sz="450">
              <a:latin typeface="Courier New"/>
              <a:cs typeface="Courier New"/>
            </a:endParaRPr>
          </a:p>
          <a:p>
            <a:pPr marL="314325">
              <a:lnSpc>
                <a:spcPts val="559"/>
              </a:lnSpc>
              <a:spcBef>
                <a:spcPts val="940"/>
              </a:spcBef>
            </a:pPr>
            <a:r>
              <a:rPr dirty="0" smtClean="0" baseline="6538" sz="675" spc="29">
                <a:latin typeface="Courier New"/>
                <a:cs typeface="Courier New"/>
              </a:rPr>
              <a:t>whic</a:t>
            </a:r>
            <a:r>
              <a:rPr dirty="0" smtClean="0" baseline="6538" sz="675" spc="-44">
                <a:latin typeface="Courier New"/>
                <a:cs typeface="Courier New"/>
              </a:rPr>
              <a:t>h</a:t>
            </a:r>
            <a:r>
              <a:rPr dirty="0" smtClean="0" baseline="6538" sz="675" spc="29">
                <a:latin typeface="Courier New"/>
                <a:cs typeface="Courier New"/>
              </a:rPr>
              <a:t>-</a:t>
            </a:r>
            <a:r>
              <a:rPr dirty="0" smtClean="0" baseline="6538" sz="675" spc="4">
                <a:latin typeface="Courier New"/>
                <a:cs typeface="Courier New"/>
              </a:rPr>
              <a:t>&gt;ite</a:t>
            </a:r>
            <a:r>
              <a:rPr dirty="0" smtClean="0" baseline="6538" sz="675" spc="0">
                <a:latin typeface="Courier New"/>
                <a:cs typeface="Courier New"/>
              </a:rPr>
              <a:t>m</a:t>
            </a:r>
            <a:r>
              <a:rPr dirty="0" smtClean="0" baseline="6538" sz="675" spc="0">
                <a:latin typeface="Courier New"/>
                <a:cs typeface="Courier New"/>
              </a:rPr>
              <a:t> </a:t>
            </a:r>
            <a:r>
              <a:rPr dirty="0" smtClean="0" baseline="6538" sz="675" spc="0">
                <a:latin typeface="Courier New"/>
                <a:cs typeface="Courier New"/>
              </a:rPr>
              <a:t>=</a:t>
            </a:r>
            <a:r>
              <a:rPr dirty="0" smtClean="0" baseline="6538" sz="675" spc="75">
                <a:latin typeface="Courier New"/>
                <a:cs typeface="Courier New"/>
              </a:rPr>
              <a:t> </a:t>
            </a:r>
            <a:r>
              <a:rPr dirty="0" smtClean="0" baseline="6538" sz="675" spc="14">
                <a:latin typeface="Courier New"/>
                <a:cs typeface="Courier New"/>
              </a:rPr>
              <a:t>produceIte</a:t>
            </a:r>
            <a:r>
              <a:rPr dirty="0" smtClean="0" baseline="6538" sz="675" spc="-59">
                <a:latin typeface="Courier New"/>
                <a:cs typeface="Courier New"/>
              </a:rPr>
              <a:t>m</a:t>
            </a:r>
            <a:r>
              <a:rPr dirty="0" smtClean="0" baseline="6538" sz="675" spc="29">
                <a:latin typeface="Courier New"/>
                <a:cs typeface="Courier New"/>
              </a:rPr>
              <a:t>()</a:t>
            </a:r>
            <a:r>
              <a:rPr dirty="0" smtClean="0" baseline="6538" sz="675" spc="0">
                <a:latin typeface="Courier New"/>
                <a:cs typeface="Courier New"/>
              </a:rPr>
              <a:t>;</a:t>
            </a:r>
            <a:r>
              <a:rPr dirty="0" smtClean="0" baseline="6538" sz="675" spc="0">
                <a:latin typeface="Courier New"/>
                <a:cs typeface="Courier New"/>
              </a:rPr>
              <a:t>    </a:t>
            </a:r>
            <a:r>
              <a:rPr dirty="0" smtClean="0" baseline="6538" sz="675" spc="104">
                <a:latin typeface="Courier New"/>
                <a:cs typeface="Courier New"/>
              </a:rPr>
              <a:t> </a:t>
            </a:r>
            <a:r>
              <a:rPr dirty="0" smtClean="0" sz="450" spc="29">
                <a:latin typeface="Courier New"/>
                <a:cs typeface="Courier New"/>
              </a:rPr>
              <a:t>whic</a:t>
            </a:r>
            <a:r>
              <a:rPr dirty="0" smtClean="0" sz="450" spc="-44">
                <a:latin typeface="Courier New"/>
                <a:cs typeface="Courier New"/>
              </a:rPr>
              <a:t>h</a:t>
            </a:r>
            <a:r>
              <a:rPr dirty="0" smtClean="0" sz="450" spc="29">
                <a:latin typeface="Courier New"/>
                <a:cs typeface="Courier New"/>
              </a:rPr>
              <a:t>-</a:t>
            </a:r>
            <a:r>
              <a:rPr dirty="0" smtClean="0" sz="450" spc="9">
                <a:latin typeface="Courier New"/>
                <a:cs typeface="Courier New"/>
              </a:rPr>
              <a:t>&gt;fre</a:t>
            </a:r>
            <a:r>
              <a:rPr dirty="0" smtClean="0" sz="450" spc="0">
                <a:latin typeface="Courier New"/>
                <a:cs typeface="Courier New"/>
              </a:rPr>
              <a:t>e</a:t>
            </a:r>
            <a:r>
              <a:rPr dirty="0" smtClean="0" sz="450" spc="39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=</a:t>
            </a:r>
            <a:r>
              <a:rPr dirty="0" smtClean="0" sz="450" spc="39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TRUE;</a:t>
            </a:r>
            <a:endParaRPr sz="450">
              <a:latin typeface="Courier New"/>
              <a:cs typeface="Courier New"/>
            </a:endParaRPr>
          </a:p>
          <a:p>
            <a:pPr marL="314325">
              <a:lnSpc>
                <a:spcPts val="559"/>
              </a:lnSpc>
              <a:spcBef>
                <a:spcPts val="790"/>
              </a:spcBef>
            </a:pPr>
            <a:r>
              <a:rPr dirty="0" smtClean="0" baseline="6538" sz="675" spc="19">
                <a:latin typeface="Courier New"/>
                <a:cs typeface="Courier New"/>
              </a:rPr>
              <a:t>signa</a:t>
            </a:r>
            <a:r>
              <a:rPr dirty="0" smtClean="0" baseline="6538" sz="675" spc="0">
                <a:latin typeface="Courier New"/>
                <a:cs typeface="Courier New"/>
              </a:rPr>
              <a:t>l</a:t>
            </a:r>
            <a:r>
              <a:rPr dirty="0" smtClean="0" baseline="6538" sz="675" spc="49">
                <a:latin typeface="Courier New"/>
                <a:cs typeface="Courier New"/>
              </a:rPr>
              <a:t> </a:t>
            </a:r>
            <a:r>
              <a:rPr dirty="0" smtClean="0" baseline="6538" sz="675" spc="19">
                <a:latin typeface="Courier New"/>
                <a:cs typeface="Courier New"/>
              </a:rPr>
              <a:t>(</a:t>
            </a:r>
            <a:r>
              <a:rPr dirty="0" smtClean="0" baseline="6538" sz="675" spc="14">
                <a:latin typeface="Courier New"/>
                <a:cs typeface="Courier New"/>
              </a:rPr>
              <a:t>mute</a:t>
            </a:r>
            <a:r>
              <a:rPr dirty="0" smtClean="0" baseline="6538" sz="675" spc="-59">
                <a:latin typeface="Courier New"/>
                <a:cs typeface="Courier New"/>
              </a:rPr>
              <a:t>x</a:t>
            </a:r>
            <a:r>
              <a:rPr dirty="0" smtClean="0" baseline="6538" sz="675" spc="29">
                <a:latin typeface="Courier New"/>
                <a:cs typeface="Courier New"/>
              </a:rPr>
              <a:t>)</a:t>
            </a:r>
            <a:r>
              <a:rPr dirty="0" smtClean="0" baseline="6538" sz="675" spc="0">
                <a:latin typeface="Courier New"/>
                <a:cs typeface="Courier New"/>
              </a:rPr>
              <a:t>;</a:t>
            </a:r>
            <a:r>
              <a:rPr dirty="0" smtClean="0" baseline="6538" sz="675" spc="0">
                <a:latin typeface="Courier New"/>
                <a:cs typeface="Courier New"/>
              </a:rPr>
              <a:t>                  </a:t>
            </a:r>
            <a:r>
              <a:rPr dirty="0" smtClean="0" baseline="6538" sz="675" spc="0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signa</a:t>
            </a:r>
            <a:r>
              <a:rPr dirty="0" smtClean="0" sz="450" spc="0">
                <a:latin typeface="Courier New"/>
                <a:cs typeface="Courier New"/>
              </a:rPr>
              <a:t>l</a:t>
            </a:r>
            <a:r>
              <a:rPr dirty="0" smtClean="0" sz="450" spc="50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(</a:t>
            </a:r>
            <a:r>
              <a:rPr dirty="0" smtClean="0" sz="450" spc="14">
                <a:latin typeface="Courier New"/>
                <a:cs typeface="Courier New"/>
              </a:rPr>
              <a:t>mute</a:t>
            </a:r>
            <a:r>
              <a:rPr dirty="0" smtClean="0" sz="450" spc="-59">
                <a:latin typeface="Courier New"/>
                <a:cs typeface="Courier New"/>
              </a:rPr>
              <a:t>x</a:t>
            </a:r>
            <a:r>
              <a:rPr dirty="0" smtClean="0" sz="450" spc="29">
                <a:latin typeface="Courier New"/>
                <a:cs typeface="Courier New"/>
              </a:rPr>
              <a:t>);</a:t>
            </a:r>
            <a:endParaRPr sz="450">
              <a:latin typeface="Courier New"/>
              <a:cs typeface="Courier New"/>
            </a:endParaRPr>
          </a:p>
          <a:p>
            <a:pPr marL="314325">
              <a:lnSpc>
                <a:spcPts val="550"/>
              </a:lnSpc>
              <a:spcBef>
                <a:spcPts val="142"/>
              </a:spcBef>
            </a:pPr>
            <a:r>
              <a:rPr dirty="0" smtClean="0" baseline="13077" sz="675" spc="4">
                <a:latin typeface="Courier New"/>
                <a:cs typeface="Courier New"/>
              </a:rPr>
              <a:t>signa</a:t>
            </a:r>
            <a:r>
              <a:rPr dirty="0" smtClean="0" baseline="13077" sz="675" spc="0">
                <a:latin typeface="Courier New"/>
                <a:cs typeface="Courier New"/>
              </a:rPr>
              <a:t>l</a:t>
            </a:r>
            <a:r>
              <a:rPr dirty="0" smtClean="0" baseline="13077" sz="675" spc="34">
                <a:latin typeface="Courier New"/>
                <a:cs typeface="Courier New"/>
              </a:rPr>
              <a:t> </a:t>
            </a:r>
            <a:r>
              <a:rPr dirty="0" smtClean="0" baseline="13077" sz="675" spc="4">
                <a:latin typeface="Courier New"/>
                <a:cs typeface="Courier New"/>
              </a:rPr>
              <a:t>(full)</a:t>
            </a:r>
            <a:r>
              <a:rPr dirty="0" smtClean="0" baseline="13077" sz="675" spc="0">
                <a:latin typeface="Courier New"/>
                <a:cs typeface="Courier New"/>
              </a:rPr>
              <a:t>;</a:t>
            </a:r>
            <a:r>
              <a:rPr dirty="0" smtClean="0" baseline="13077" sz="675" spc="0">
                <a:latin typeface="Courier New"/>
                <a:cs typeface="Courier New"/>
              </a:rPr>
              <a:t>                   </a:t>
            </a:r>
            <a:r>
              <a:rPr dirty="0" smtClean="0" baseline="13077" sz="675" spc="79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signa</a:t>
            </a:r>
            <a:r>
              <a:rPr dirty="0" smtClean="0" sz="450" spc="0">
                <a:latin typeface="Courier New"/>
                <a:cs typeface="Courier New"/>
              </a:rPr>
              <a:t>l</a:t>
            </a:r>
            <a:r>
              <a:rPr dirty="0" smtClean="0" sz="450" spc="44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(empty);</a:t>
            </a:r>
            <a:endParaRPr sz="450">
              <a:latin typeface="Courier New"/>
              <a:cs typeface="Courier New"/>
            </a:endParaRPr>
          </a:p>
          <a:p>
            <a:pPr marL="209550">
              <a:lnSpc>
                <a:spcPts val="559"/>
              </a:lnSpc>
              <a:spcBef>
                <a:spcPts val="92"/>
              </a:spcBef>
            </a:pPr>
            <a:r>
              <a:rPr dirty="0" smtClean="0" baseline="6538" sz="675" spc="0">
                <a:latin typeface="Courier New"/>
                <a:cs typeface="Courier New"/>
              </a:rPr>
              <a:t>}</a:t>
            </a:r>
            <a:r>
              <a:rPr dirty="0" smtClean="0" baseline="6538" sz="675" spc="0">
                <a:latin typeface="Courier New"/>
                <a:cs typeface="Courier New"/>
              </a:rPr>
              <a:t>                                </a:t>
            </a:r>
            <a:r>
              <a:rPr dirty="0" smtClean="0" baseline="6538" sz="675" spc="194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}</a:t>
            </a:r>
            <a:endParaRPr sz="450">
              <a:latin typeface="Courier New"/>
              <a:cs typeface="Courier New"/>
            </a:endParaRPr>
          </a:p>
          <a:p>
            <a:pPr marL="123825">
              <a:lnSpc>
                <a:spcPct val="116129"/>
              </a:lnSpc>
              <a:spcBef>
                <a:spcPts val="513"/>
              </a:spcBef>
            </a:pPr>
            <a:r>
              <a:rPr dirty="0" smtClean="0" sz="500" spc="19">
                <a:latin typeface="Comic Sans MS"/>
                <a:cs typeface="Comic Sans MS"/>
              </a:rPr>
              <a:t>•</a:t>
            </a:r>
            <a:r>
              <a:rPr dirty="0" smtClean="0" sz="500" spc="4">
                <a:latin typeface="Comic Sans MS"/>
                <a:cs typeface="Comic Sans MS"/>
              </a:rPr>
              <a:t>Ca</a:t>
            </a:r>
            <a:r>
              <a:rPr dirty="0" smtClean="0" sz="500" spc="0">
                <a:latin typeface="Comic Sans MS"/>
                <a:cs typeface="Comic Sans MS"/>
              </a:rPr>
              <a:t>n</a:t>
            </a:r>
            <a:r>
              <a:rPr dirty="0" smtClean="0" sz="500" spc="55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w</a:t>
            </a:r>
            <a:r>
              <a:rPr dirty="0" smtClean="0" sz="500" spc="0">
                <a:latin typeface="Comic Sans MS"/>
                <a:cs typeface="Comic Sans MS"/>
              </a:rPr>
              <a:t>e</a:t>
            </a:r>
            <a:r>
              <a:rPr dirty="0" smtClean="0" sz="500" spc="35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d</a:t>
            </a:r>
            <a:r>
              <a:rPr dirty="0" smtClean="0" sz="500" spc="0">
                <a:latin typeface="Comic Sans MS"/>
                <a:cs typeface="Comic Sans MS"/>
              </a:rPr>
              <a:t>o</a:t>
            </a:r>
            <a:r>
              <a:rPr dirty="0" smtClean="0" sz="500" spc="32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better</a:t>
            </a:r>
            <a:r>
              <a:rPr dirty="0" smtClean="0" sz="500" spc="0">
                <a:latin typeface="Comic Sans MS"/>
                <a:cs typeface="Comic Sans MS"/>
              </a:rPr>
              <a:t>?</a:t>
            </a:r>
            <a:r>
              <a:rPr dirty="0" smtClean="0" sz="500" spc="0">
                <a:latin typeface="Comic Sans MS"/>
                <a:cs typeface="Comic Sans MS"/>
              </a:rPr>
              <a:t> </a:t>
            </a:r>
            <a:r>
              <a:rPr dirty="0" smtClean="0" sz="500" spc="95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Loc</a:t>
            </a:r>
            <a:r>
              <a:rPr dirty="0" smtClean="0" sz="500" spc="0">
                <a:latin typeface="Comic Sans MS"/>
                <a:cs typeface="Comic Sans MS"/>
              </a:rPr>
              <a:t>k</a:t>
            </a:r>
            <a:r>
              <a:rPr dirty="0" smtClean="0" sz="500" spc="58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hel</a:t>
            </a:r>
            <a:r>
              <a:rPr dirty="0" smtClean="0" sz="500" spc="0">
                <a:latin typeface="Comic Sans MS"/>
                <a:cs typeface="Comic Sans MS"/>
              </a:rPr>
              <a:t>d</a:t>
            </a:r>
            <a:r>
              <a:rPr dirty="0" smtClean="0" sz="500" spc="54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whil</a:t>
            </a:r>
            <a:r>
              <a:rPr dirty="0" smtClean="0" sz="500" spc="0">
                <a:latin typeface="Comic Sans MS"/>
                <a:cs typeface="Comic Sans MS"/>
              </a:rPr>
              <a:t>e</a:t>
            </a:r>
            <a:r>
              <a:rPr dirty="0" smtClean="0" sz="500" spc="63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produce/consume?</a:t>
            </a:r>
            <a:endParaRPr sz="500">
              <a:latin typeface="Comic Sans MS"/>
              <a:cs typeface="Comic Sans MS"/>
            </a:endParaRPr>
          </a:p>
          <a:p>
            <a:pPr marR="109537" algn="r">
              <a:lnSpc>
                <a:spcPct val="95825"/>
              </a:lnSpc>
              <a:spcBef>
                <a:spcPts val="1927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0">
                <a:latin typeface="Times New Roman"/>
                <a:cs typeface="Times New Roman"/>
              </a:rPr>
              <a:t>8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3400" y="904875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0975">
              <a:lnSpc>
                <a:spcPct val="116129"/>
              </a:lnSpc>
              <a:spcBef>
                <a:spcPts val="250"/>
              </a:spcBef>
            </a:pP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Semaphore</a:t>
            </a:r>
            <a:r>
              <a:rPr dirty="0" smtClean="0" sz="1200" spc="-9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Solution</a:t>
            </a:r>
            <a:r>
              <a:rPr dirty="0" smtClean="0" sz="1200" spc="-9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endParaRPr sz="1200">
              <a:latin typeface="Comic Sans MS"/>
              <a:cs typeface="Comic Sans MS"/>
            </a:endParaRPr>
          </a:p>
          <a:p>
            <a:pPr marL="180975">
              <a:lnSpc>
                <a:spcPts val="1425"/>
              </a:lnSpc>
              <a:spcBef>
                <a:spcPts val="71"/>
              </a:spcBef>
            </a:pPr>
            <a:r>
              <a:rPr dirty="0" smtClean="0" baseline="1993" sz="1800" spc="-29" u="sng">
                <a:solidFill>
                  <a:srgbClr val="3333CC"/>
                </a:solidFill>
                <a:latin typeface="Comic Sans MS"/>
                <a:cs typeface="Comic Sans MS"/>
              </a:rPr>
              <a:t>Bounded</a:t>
            </a:r>
            <a:r>
              <a:rPr dirty="0" smtClean="0" baseline="1993" sz="1800" spc="25" u="sng">
                <a:solidFill>
                  <a:srgbClr val="3333CC"/>
                </a:solidFill>
                <a:latin typeface="Comic Sans MS"/>
                <a:cs typeface="Comic Sans MS"/>
              </a:rPr>
              <a:t>-</a:t>
            </a:r>
            <a:r>
              <a:rPr dirty="0" smtClean="0" baseline="1993" sz="1800" spc="-14" u="sng">
                <a:solidFill>
                  <a:srgbClr val="3333CC"/>
                </a:solidFill>
                <a:latin typeface="Comic Sans MS"/>
                <a:cs typeface="Comic Sans MS"/>
              </a:rPr>
              <a:t>Buffer</a:t>
            </a:r>
            <a:endParaRPr sz="1200">
              <a:latin typeface="Comic Sans MS"/>
              <a:cs typeface="Comic Sans MS"/>
            </a:endParaRPr>
          </a:p>
          <a:p>
            <a:pPr marL="180975" marR="1851473">
              <a:lnSpc>
                <a:spcPts val="509"/>
              </a:lnSpc>
              <a:spcBef>
                <a:spcPts val="403"/>
              </a:spcBef>
            </a:pPr>
            <a:r>
              <a:rPr dirty="0" smtClean="0" sz="450" spc="14">
                <a:latin typeface="Courier New"/>
                <a:cs typeface="Courier New"/>
              </a:rPr>
              <a:t>semaphore_</a:t>
            </a:r>
            <a:r>
              <a:rPr dirty="0" smtClean="0" sz="450" spc="0">
                <a:latin typeface="Courier New"/>
                <a:cs typeface="Courier New"/>
              </a:rPr>
              <a:t>t</a:t>
            </a:r>
            <a:r>
              <a:rPr dirty="0" smtClean="0" sz="450" spc="44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mute</a:t>
            </a:r>
            <a:r>
              <a:rPr dirty="0" smtClean="0" sz="450" spc="-59">
                <a:latin typeface="Courier New"/>
                <a:cs typeface="Courier New"/>
              </a:rPr>
              <a:t>x</a:t>
            </a:r>
            <a:r>
              <a:rPr dirty="0" smtClean="0" sz="450" spc="0">
                <a:latin typeface="Courier New"/>
                <a:cs typeface="Courier New"/>
              </a:rPr>
              <a:t>;</a:t>
            </a:r>
            <a:r>
              <a:rPr dirty="0" smtClean="0" sz="450" spc="0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semaphore_</a:t>
            </a:r>
            <a:r>
              <a:rPr dirty="0" smtClean="0" sz="450" spc="0">
                <a:latin typeface="Courier New"/>
                <a:cs typeface="Courier New"/>
              </a:rPr>
              <a:t>t</a:t>
            </a:r>
            <a:r>
              <a:rPr dirty="0" smtClean="0" sz="450" spc="44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full;</a:t>
            </a:r>
            <a:r>
              <a:rPr dirty="0" smtClean="0" sz="450" spc="14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semaphore_</a:t>
            </a:r>
            <a:r>
              <a:rPr dirty="0" smtClean="0" sz="450" spc="0">
                <a:latin typeface="Courier New"/>
                <a:cs typeface="Courier New"/>
              </a:rPr>
              <a:t>t</a:t>
            </a:r>
            <a:r>
              <a:rPr dirty="0" smtClean="0" sz="450" spc="39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empty;</a:t>
            </a:r>
            <a:endParaRPr sz="450">
              <a:latin typeface="Courier New"/>
              <a:cs typeface="Courier New"/>
            </a:endParaRPr>
          </a:p>
          <a:p>
            <a:pPr marL="180975">
              <a:lnSpc>
                <a:spcPct val="94401"/>
              </a:lnSpc>
              <a:spcBef>
                <a:spcPts val="765"/>
              </a:spcBef>
            </a:pPr>
            <a:r>
              <a:rPr dirty="0" smtClean="0" sz="450" spc="19">
                <a:latin typeface="Courier New"/>
                <a:cs typeface="Courier New"/>
              </a:rPr>
              <a:t>container_</a:t>
            </a:r>
            <a:r>
              <a:rPr dirty="0" smtClean="0" sz="450" spc="0">
                <a:latin typeface="Courier New"/>
                <a:cs typeface="Courier New"/>
              </a:rPr>
              <a:t>t</a:t>
            </a:r>
            <a:r>
              <a:rPr dirty="0" smtClean="0" sz="450" spc="50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{</a:t>
            </a:r>
            <a:endParaRPr sz="450">
              <a:latin typeface="Courier New"/>
              <a:cs typeface="Courier New"/>
            </a:endParaRPr>
          </a:p>
          <a:p>
            <a:pPr marL="285750">
              <a:lnSpc>
                <a:spcPct val="94401"/>
              </a:lnSpc>
              <a:spcBef>
                <a:spcPts val="90"/>
              </a:spcBef>
            </a:pPr>
            <a:r>
              <a:rPr dirty="0" smtClean="0" sz="450" spc="19">
                <a:latin typeface="Courier New"/>
                <a:cs typeface="Courier New"/>
              </a:rPr>
              <a:t>BOO</a:t>
            </a:r>
            <a:r>
              <a:rPr dirty="0" smtClean="0" sz="450" spc="0">
                <a:latin typeface="Courier New"/>
                <a:cs typeface="Courier New"/>
              </a:rPr>
              <a:t>L</a:t>
            </a:r>
            <a:r>
              <a:rPr dirty="0" smtClean="0" sz="450" spc="24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fre</a:t>
            </a:r>
            <a:r>
              <a:rPr dirty="0" smtClean="0" sz="450" spc="0">
                <a:latin typeface="Courier New"/>
                <a:cs typeface="Courier New"/>
              </a:rPr>
              <a:t>e</a:t>
            </a:r>
            <a:r>
              <a:rPr dirty="0" smtClean="0" sz="450" spc="24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=</a:t>
            </a:r>
            <a:r>
              <a:rPr dirty="0" smtClean="0" sz="450" spc="25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TRUE;</a:t>
            </a:r>
            <a:endParaRPr sz="450">
              <a:latin typeface="Courier New"/>
              <a:cs typeface="Courier New"/>
            </a:endParaRPr>
          </a:p>
          <a:p>
            <a:pPr marL="285750">
              <a:lnSpc>
                <a:spcPct val="94401"/>
              </a:lnSpc>
              <a:spcBef>
                <a:spcPts val="165"/>
              </a:spcBef>
            </a:pPr>
            <a:r>
              <a:rPr dirty="0" smtClean="0" sz="450" spc="9">
                <a:latin typeface="Courier New"/>
                <a:cs typeface="Courier New"/>
              </a:rPr>
              <a:t>item_</a:t>
            </a:r>
            <a:r>
              <a:rPr dirty="0" smtClean="0" sz="450" spc="0">
                <a:latin typeface="Courier New"/>
                <a:cs typeface="Courier New"/>
              </a:rPr>
              <a:t>t</a:t>
            </a:r>
            <a:r>
              <a:rPr dirty="0" smtClean="0" sz="450" spc="0">
                <a:latin typeface="Courier New"/>
                <a:cs typeface="Courier New"/>
              </a:rPr>
              <a:t>  </a:t>
            </a:r>
            <a:r>
              <a:rPr dirty="0" smtClean="0" sz="450" spc="24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item;</a:t>
            </a:r>
            <a:endParaRPr sz="450">
              <a:latin typeface="Courier New"/>
              <a:cs typeface="Courier New"/>
            </a:endParaRPr>
          </a:p>
          <a:p>
            <a:pPr marL="180975">
              <a:lnSpc>
                <a:spcPct val="94401"/>
              </a:lnSpc>
              <a:spcBef>
                <a:spcPts val="90"/>
              </a:spcBef>
            </a:pPr>
            <a:r>
              <a:rPr dirty="0" smtClean="0" sz="450" spc="0">
                <a:latin typeface="Courier New"/>
                <a:cs typeface="Courier New"/>
              </a:rPr>
              <a:t>}</a:t>
            </a:r>
            <a:endParaRPr sz="450">
              <a:latin typeface="Courier New"/>
              <a:cs typeface="Courier New"/>
            </a:endParaRPr>
          </a:p>
          <a:p>
            <a:pPr marL="285750" marR="1704790" indent="-104775">
              <a:lnSpc>
                <a:spcPct val="97233"/>
              </a:lnSpc>
              <a:spcBef>
                <a:spcPts val="90"/>
              </a:spcBef>
            </a:pPr>
            <a:r>
              <a:rPr dirty="0" smtClean="0" sz="450" spc="14">
                <a:latin typeface="Courier New"/>
                <a:cs typeface="Courier New"/>
              </a:rPr>
              <a:t>container_t</a:t>
            </a:r>
            <a:r>
              <a:rPr dirty="0" smtClean="0" sz="450" spc="14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buffer[FIXED_SIZE];</a:t>
            </a:r>
            <a:endParaRPr sz="450">
              <a:latin typeface="Courier New"/>
              <a:cs typeface="Courier New"/>
            </a:endParaRPr>
          </a:p>
          <a:p>
            <a:pPr marL="285750" marR="1523826" indent="-104775">
              <a:lnSpc>
                <a:spcPts val="509"/>
              </a:lnSpc>
              <a:spcBef>
                <a:spcPts val="749"/>
              </a:spcBef>
            </a:pPr>
            <a:r>
              <a:rPr dirty="0" smtClean="0" sz="450" spc="29">
                <a:latin typeface="Courier New"/>
                <a:cs typeface="Courier New"/>
              </a:rPr>
              <a:t>voi</a:t>
            </a:r>
            <a:r>
              <a:rPr dirty="0" smtClean="0" sz="450" spc="0">
                <a:latin typeface="Courier New"/>
                <a:cs typeface="Courier New"/>
              </a:rPr>
              <a:t>d</a:t>
            </a:r>
            <a:r>
              <a:rPr dirty="0" smtClean="0" sz="450" spc="-14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initBoundedBuffe</a:t>
            </a:r>
            <a:r>
              <a:rPr dirty="0" smtClean="0" sz="450" spc="0">
                <a:latin typeface="Courier New"/>
                <a:cs typeface="Courier New"/>
              </a:rPr>
              <a:t>r</a:t>
            </a:r>
            <a:r>
              <a:rPr dirty="0" smtClean="0" sz="450" spc="-184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{</a:t>
            </a:r>
            <a:r>
              <a:rPr dirty="0" smtClean="0" sz="450" spc="0">
                <a:latin typeface="Courier New"/>
                <a:cs typeface="Courier New"/>
              </a:rPr>
              <a:t> </a:t>
            </a:r>
            <a:endParaRPr sz="450">
              <a:latin typeface="Courier New"/>
              <a:cs typeface="Courier New"/>
            </a:endParaRPr>
          </a:p>
          <a:p>
            <a:pPr marL="285750" marR="1523826">
              <a:lnSpc>
                <a:spcPts val="509"/>
              </a:lnSpc>
              <a:spcBef>
                <a:spcPts val="115"/>
              </a:spcBef>
            </a:pPr>
            <a:r>
              <a:rPr dirty="0" smtClean="0" sz="450" spc="29">
                <a:latin typeface="Courier New"/>
                <a:cs typeface="Courier New"/>
              </a:rPr>
              <a:t>mute</a:t>
            </a:r>
            <a:r>
              <a:rPr dirty="0" smtClean="0" sz="450" spc="-44">
                <a:latin typeface="Courier New"/>
                <a:cs typeface="Courier New"/>
              </a:rPr>
              <a:t>x</a:t>
            </a:r>
            <a:r>
              <a:rPr dirty="0" smtClean="0" sz="450" spc="14">
                <a:latin typeface="Courier New"/>
                <a:cs typeface="Courier New"/>
              </a:rPr>
              <a:t>.valu</a:t>
            </a:r>
            <a:r>
              <a:rPr dirty="0" smtClean="0" sz="450" spc="0">
                <a:latin typeface="Courier New"/>
                <a:cs typeface="Courier New"/>
              </a:rPr>
              <a:t>e</a:t>
            </a:r>
            <a:r>
              <a:rPr dirty="0" smtClean="0" sz="450" spc="44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=</a:t>
            </a:r>
            <a:r>
              <a:rPr dirty="0" smtClean="0" sz="450" spc="44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1;</a:t>
            </a:r>
            <a:r>
              <a:rPr dirty="0" smtClean="0" sz="450" spc="14">
                <a:latin typeface="Courier New"/>
                <a:cs typeface="Courier New"/>
              </a:rPr>
              <a:t> </a:t>
            </a:r>
            <a:endParaRPr sz="450">
              <a:latin typeface="Courier New"/>
              <a:cs typeface="Courier New"/>
            </a:endParaRPr>
          </a:p>
          <a:p>
            <a:pPr marL="285750" marR="1523826">
              <a:lnSpc>
                <a:spcPts val="509"/>
              </a:lnSpc>
              <a:spcBef>
                <a:spcPts val="115"/>
              </a:spcBef>
            </a:pPr>
            <a:r>
              <a:rPr dirty="0" smtClean="0" sz="450" spc="19">
                <a:latin typeface="Courier New"/>
                <a:cs typeface="Courier New"/>
              </a:rPr>
              <a:t>full.valu</a:t>
            </a:r>
            <a:r>
              <a:rPr dirty="0" smtClean="0" sz="450" spc="0">
                <a:latin typeface="Courier New"/>
                <a:cs typeface="Courier New"/>
              </a:rPr>
              <a:t>e</a:t>
            </a:r>
            <a:r>
              <a:rPr dirty="0" smtClean="0" sz="450" spc="9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=</a:t>
            </a:r>
            <a:r>
              <a:rPr dirty="0" smtClean="0" sz="450" spc="9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0;</a:t>
            </a:r>
            <a:r>
              <a:rPr dirty="0" smtClean="0" sz="450" spc="19">
                <a:latin typeface="Courier New"/>
                <a:cs typeface="Courier New"/>
              </a:rPr>
              <a:t> </a:t>
            </a:r>
            <a:endParaRPr sz="450">
              <a:latin typeface="Courier New"/>
              <a:cs typeface="Courier New"/>
            </a:endParaRPr>
          </a:p>
          <a:p>
            <a:pPr marL="285750" marR="1523826">
              <a:lnSpc>
                <a:spcPts val="509"/>
              </a:lnSpc>
              <a:spcBef>
                <a:spcPts val="115"/>
              </a:spcBef>
            </a:pPr>
            <a:r>
              <a:rPr dirty="0" smtClean="0" sz="450" spc="14">
                <a:latin typeface="Courier New"/>
                <a:cs typeface="Courier New"/>
              </a:rPr>
              <a:t>empty.valu</a:t>
            </a:r>
            <a:r>
              <a:rPr dirty="0" smtClean="0" sz="450" spc="0">
                <a:latin typeface="Courier New"/>
                <a:cs typeface="Courier New"/>
              </a:rPr>
              <a:t>e</a:t>
            </a:r>
            <a:r>
              <a:rPr dirty="0" smtClean="0" sz="450" spc="44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=</a:t>
            </a:r>
            <a:r>
              <a:rPr dirty="0" smtClean="0" sz="450" spc="44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FIXED_SIZE</a:t>
            </a:r>
            <a:endParaRPr sz="450">
              <a:latin typeface="Courier New"/>
              <a:cs typeface="Courier New"/>
            </a:endParaRPr>
          </a:p>
          <a:p>
            <a:pPr marL="180975">
              <a:lnSpc>
                <a:spcPct val="94401"/>
              </a:lnSpc>
              <a:spcBef>
                <a:spcPts val="615"/>
              </a:spcBef>
            </a:pPr>
            <a:r>
              <a:rPr dirty="0" smtClean="0" sz="450" spc="0">
                <a:latin typeface="Courier New"/>
                <a:cs typeface="Courier New"/>
              </a:rPr>
              <a:t>}</a:t>
            </a:r>
            <a:endParaRPr sz="450">
              <a:latin typeface="Courier New"/>
              <a:cs typeface="Courier New"/>
            </a:endParaRPr>
          </a:p>
          <a:p>
            <a:pPr marR="119062" algn="r">
              <a:lnSpc>
                <a:spcPct val="95825"/>
              </a:lnSpc>
              <a:spcBef>
                <a:spcPts val="963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0">
                <a:latin typeface="Times New Roman"/>
                <a:cs typeface="Times New Roman"/>
              </a:rPr>
              <a:t>7</a:t>
            </a:r>
            <a:endParaRPr sz="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 34"/>
          <p:cNvSpPr/>
          <p:nvPr/>
        </p:nvSpPr>
        <p:spPr>
          <a:xfrm>
            <a:off x="2962275" y="11239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17049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533400" y="904875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4524375" y="12096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3629025" y="904875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2647950" y="38671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1962150" y="4562475"/>
            <a:ext cx="981075" cy="942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1963075" y="4500430"/>
            <a:ext cx="1000125" cy="962025"/>
          </a:xfrm>
          <a:custGeom>
            <a:avLst/>
            <a:gdLst/>
            <a:ahLst/>
            <a:cxnLst/>
            <a:rect l="l" t="t" r="r" b="b"/>
            <a:pathLst>
              <a:path w="1000125" h="962025">
                <a:moveTo>
                  <a:pt x="0" y="962025"/>
                </a:moveTo>
                <a:lnTo>
                  <a:pt x="1000125" y="962025"/>
                </a:lnTo>
                <a:lnTo>
                  <a:pt x="1000125" y="0"/>
                </a:lnTo>
                <a:lnTo>
                  <a:pt x="0" y="0"/>
                </a:lnTo>
                <a:lnTo>
                  <a:pt x="0" y="962025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533400" y="3562350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3819525" y="3781425"/>
            <a:ext cx="2028825" cy="0"/>
          </a:xfrm>
          <a:custGeom>
            <a:avLst/>
            <a:gdLst/>
            <a:ahLst/>
            <a:cxnLst/>
            <a:rect l="l" t="t" r="r" b="b"/>
            <a:pathLst>
              <a:path w="2028825" h="0">
                <a:moveTo>
                  <a:pt x="0" y="0"/>
                </a:moveTo>
                <a:lnTo>
                  <a:pt x="2028825" y="0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5848350" y="3781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5044545" y="3776530"/>
            <a:ext cx="1095375" cy="676275"/>
          </a:xfrm>
          <a:custGeom>
            <a:avLst/>
            <a:gdLst/>
            <a:ahLst/>
            <a:cxnLst/>
            <a:rect l="l" t="t" r="r" b="b"/>
            <a:pathLst>
              <a:path w="1095375" h="676275">
                <a:moveTo>
                  <a:pt x="0" y="676275"/>
                </a:moveTo>
                <a:lnTo>
                  <a:pt x="1095375" y="676275"/>
                </a:lnTo>
                <a:lnTo>
                  <a:pt x="1095375" y="0"/>
                </a:lnTo>
                <a:lnTo>
                  <a:pt x="0" y="0"/>
                </a:lnTo>
                <a:lnTo>
                  <a:pt x="0" y="6762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4657725" y="39624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3629025" y="3562350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1343025" y="652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533400" y="6219825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5581650" y="652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3629025" y="6219825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016125" y="1257224"/>
            <a:ext cx="434975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-9">
                <a:latin typeface="Courier New"/>
                <a:cs typeface="Courier New"/>
              </a:rPr>
              <a:t>wait(incoming);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16375" y="1946339"/>
            <a:ext cx="444501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750"/>
              </a:lnSpc>
              <a:spcBef>
                <a:spcPts val="37"/>
              </a:spcBef>
            </a:pPr>
            <a:r>
              <a:rPr dirty="0" smtClean="0" sz="600" spc="-9">
                <a:latin typeface="Comic Sans MS"/>
                <a:cs typeface="Comic Sans MS"/>
              </a:rPr>
              <a:t>concurrency</a:t>
            </a:r>
            <a:endParaRPr sz="600">
              <a:latin typeface="Comic Sans MS"/>
              <a:cs typeface="Comic Sans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16125" y="2381174"/>
            <a:ext cx="377825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-9">
                <a:latin typeface="Courier New"/>
                <a:cs typeface="Courier New"/>
              </a:rPr>
              <a:t>numReader</a:t>
            </a:r>
            <a:r>
              <a:rPr dirty="0" smtClean="0" sz="350" spc="-84">
                <a:latin typeface="Courier New"/>
                <a:cs typeface="Courier New"/>
              </a:rPr>
              <a:t>s</a:t>
            </a:r>
            <a:r>
              <a:rPr dirty="0" smtClean="0" sz="350" spc="0">
                <a:latin typeface="Courier New"/>
                <a:cs typeface="Courier New"/>
              </a:rPr>
              <a:t>--;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0750" y="2485949"/>
            <a:ext cx="53975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20900" y="2504999"/>
            <a:ext cx="644523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-9">
                <a:latin typeface="Courier New"/>
                <a:cs typeface="Courier New"/>
              </a:rPr>
              <a:t>readInProgres</a:t>
            </a:r>
            <a:r>
              <a:rPr dirty="0" smtClean="0" sz="350" spc="0">
                <a:latin typeface="Courier New"/>
                <a:cs typeface="Courier New"/>
              </a:rPr>
              <a:t>s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9">
                <a:latin typeface="Courier New"/>
                <a:cs typeface="Courier New"/>
              </a:rPr>
              <a:t> </a:t>
            </a:r>
            <a:r>
              <a:rPr dirty="0" smtClean="0" sz="350" spc="-19">
                <a:latin typeface="Courier New"/>
                <a:cs typeface="Courier New"/>
              </a:rPr>
              <a:t>FALSE;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87800" y="4457624"/>
            <a:ext cx="539750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-9">
                <a:latin typeface="Courier New"/>
                <a:cs typeface="Courier New"/>
              </a:rPr>
              <a:t>rightChopstic</a:t>
            </a:r>
            <a:r>
              <a:rPr dirty="0" smtClean="0" sz="350" spc="0">
                <a:latin typeface="Courier New"/>
                <a:cs typeface="Courier New"/>
              </a:rPr>
              <a:t>k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4">
                <a:latin typeface="Courier New"/>
                <a:cs typeface="Courier New"/>
              </a:rPr>
              <a:t> </a:t>
            </a:r>
            <a:r>
              <a:rPr dirty="0" smtClean="0" sz="350" spc="-25">
                <a:latin typeface="Courier New"/>
                <a:cs typeface="Courier New"/>
              </a:rPr>
              <a:t>i;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87800" y="4676699"/>
            <a:ext cx="863600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-9">
                <a:latin typeface="Courier New"/>
                <a:cs typeface="Courier New"/>
              </a:rPr>
              <a:t>wait(chopstick[</a:t>
            </a:r>
            <a:r>
              <a:rPr dirty="0" smtClean="0" sz="350" spc="-14">
                <a:latin typeface="Courier New"/>
                <a:cs typeface="Courier New"/>
              </a:rPr>
              <a:t>rightChopstick</a:t>
            </a:r>
            <a:r>
              <a:rPr dirty="0" smtClean="0" sz="350" spc="0">
                <a:latin typeface="Courier New"/>
                <a:cs typeface="Courier New"/>
              </a:rPr>
              <a:t>])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73850" y="8934579"/>
            <a:ext cx="141224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00"/>
              </a:lnSpc>
              <a:spcBef>
                <a:spcPts val="70"/>
              </a:spcBef>
            </a:pPr>
            <a:r>
              <a:rPr dirty="0" smtClean="0" baseline="1993" sz="1800" spc="0">
                <a:latin typeface="Comic Sans MS"/>
                <a:cs typeface="Comic Sans MS"/>
              </a:rPr>
              <a:t>3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29025" y="6219825"/>
            <a:ext cx="2676525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Fixing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Dining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Philosophers</a:t>
            </a:r>
            <a:endParaRPr sz="1200">
              <a:latin typeface="Comic Sans MS"/>
              <a:cs typeface="Comic Sans MS"/>
            </a:endParaRPr>
          </a:p>
          <a:p>
            <a:pPr marL="285750" marR="426418" indent="-104775">
              <a:lnSpc>
                <a:spcPts val="980"/>
              </a:lnSpc>
              <a:spcBef>
                <a:spcPts val="1240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Make</a:t>
            </a:r>
            <a:r>
              <a:rPr dirty="0" smtClean="0" sz="800" spc="44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philosophers</a:t>
            </a:r>
            <a:r>
              <a:rPr dirty="0" smtClean="0" sz="800" spc="124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grab</a:t>
            </a:r>
            <a:r>
              <a:rPr dirty="0" smtClean="0" sz="800" spc="35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both</a:t>
            </a:r>
            <a:r>
              <a:rPr dirty="0" smtClean="0" sz="800" spc="37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chopsticks</a:t>
            </a:r>
            <a:r>
              <a:rPr dirty="0" smtClean="0" sz="800" spc="0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the</a:t>
            </a:r>
            <a:r>
              <a:rPr dirty="0" smtClean="0" sz="800" spc="0">
                <a:latin typeface="Comic Sans MS"/>
                <a:cs typeface="Comic Sans MS"/>
              </a:rPr>
              <a:t>y</a:t>
            </a:r>
            <a:r>
              <a:rPr dirty="0" smtClean="0" sz="800" spc="35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nee</a:t>
            </a:r>
            <a:r>
              <a:rPr dirty="0" smtClean="0" sz="800" spc="0">
                <a:latin typeface="Comic Sans MS"/>
                <a:cs typeface="Comic Sans MS"/>
              </a:rPr>
              <a:t>d</a:t>
            </a:r>
            <a:r>
              <a:rPr dirty="0" smtClean="0" sz="800" spc="37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atomically</a:t>
            </a:r>
            <a:endParaRPr sz="800">
              <a:latin typeface="Comic Sans MS"/>
              <a:cs typeface="Comic Sans MS"/>
            </a:endParaRPr>
          </a:p>
          <a:p>
            <a:pPr marL="400050" marR="429683" indent="-85725">
              <a:lnSpc>
                <a:spcPts val="830"/>
              </a:lnSpc>
              <a:spcBef>
                <a:spcPts val="257"/>
              </a:spcBef>
            </a:pPr>
            <a:r>
              <a:rPr dirty="0" smtClean="0" sz="50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500" spc="122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Mayb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9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pas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92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aroun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101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a</a:t>
            </a:r>
            <a:r>
              <a:rPr dirty="0" smtClean="0" sz="650" spc="53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toke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90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(lock</a:t>
            </a:r>
            <a:r>
              <a:rPr dirty="0" smtClean="0" sz="650" spc="0">
                <a:latin typeface="Comic Sans MS"/>
                <a:cs typeface="Comic Sans MS"/>
              </a:rPr>
              <a:t>)</a:t>
            </a:r>
            <a:r>
              <a:rPr dirty="0" smtClean="0" sz="650" spc="90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sayin</a:t>
            </a:r>
            <a:r>
              <a:rPr dirty="0" smtClean="0" sz="650" spc="0">
                <a:latin typeface="Comic Sans MS"/>
                <a:cs typeface="Comic Sans MS"/>
              </a:rPr>
              <a:t>g</a:t>
            </a:r>
            <a:r>
              <a:rPr dirty="0" smtClean="0" sz="650" spc="95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who</a:t>
            </a:r>
            <a:r>
              <a:rPr dirty="0" smtClean="0" sz="650" spc="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ca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75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gra</a:t>
            </a:r>
            <a:r>
              <a:rPr dirty="0" smtClean="0" sz="650" spc="0">
                <a:latin typeface="Comic Sans MS"/>
                <a:cs typeface="Comic Sans MS"/>
              </a:rPr>
              <a:t>b</a:t>
            </a:r>
            <a:r>
              <a:rPr dirty="0" smtClean="0" sz="650" spc="86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chopsticks</a:t>
            </a:r>
            <a:endParaRPr sz="650">
              <a:latin typeface="Comic Sans MS"/>
              <a:cs typeface="Comic Sans MS"/>
            </a:endParaRPr>
          </a:p>
          <a:p>
            <a:pPr marL="314325">
              <a:lnSpc>
                <a:spcPct val="116129"/>
              </a:lnSpc>
              <a:spcBef>
                <a:spcPts val="48"/>
              </a:spcBef>
            </a:pPr>
            <a:r>
              <a:rPr dirty="0" smtClean="0" sz="50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500" spc="122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Ge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72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a</a:t>
            </a:r>
            <a:r>
              <a:rPr dirty="0" smtClean="0" sz="650" spc="53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globa</a:t>
            </a:r>
            <a:r>
              <a:rPr dirty="0" smtClean="0" sz="650" spc="0">
                <a:latin typeface="Comic Sans MS"/>
                <a:cs typeface="Comic Sans MS"/>
              </a:rPr>
              <a:t>l</a:t>
            </a:r>
            <a:r>
              <a:rPr dirty="0" smtClean="0" sz="650" spc="110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loc</a:t>
            </a:r>
            <a:r>
              <a:rPr dirty="0" smtClean="0" sz="650" spc="0">
                <a:latin typeface="Comic Sans MS"/>
                <a:cs typeface="Comic Sans MS"/>
              </a:rPr>
              <a:t>k</a:t>
            </a:r>
            <a:r>
              <a:rPr dirty="0" smtClean="0" sz="650" spc="87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befor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02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ca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70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loc</a:t>
            </a:r>
            <a:r>
              <a:rPr dirty="0" smtClean="0" sz="650" spc="0">
                <a:latin typeface="Comic Sans MS"/>
                <a:cs typeface="Comic Sans MS"/>
              </a:rPr>
              <a:t>k</a:t>
            </a:r>
            <a:r>
              <a:rPr dirty="0" smtClean="0" sz="650" spc="87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an</a:t>
            </a:r>
            <a:r>
              <a:rPr dirty="0" smtClean="0" sz="650" spc="0">
                <a:latin typeface="Comic Sans MS"/>
                <a:cs typeface="Comic Sans MS"/>
              </a:rPr>
              <a:t>y</a:t>
            </a:r>
            <a:r>
              <a:rPr dirty="0" smtClean="0" sz="650" spc="70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chopsticks</a:t>
            </a:r>
            <a:endParaRPr sz="65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50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Mak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39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</a:t>
            </a:r>
            <a:r>
              <a:rPr dirty="0" smtClean="0" sz="800" spc="-7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philosophe</a:t>
            </a:r>
            <a:r>
              <a:rPr dirty="0" smtClean="0" sz="800" spc="0">
                <a:latin typeface="Comic Sans MS"/>
                <a:cs typeface="Comic Sans MS"/>
              </a:rPr>
              <a:t>r</a:t>
            </a:r>
            <a:r>
              <a:rPr dirty="0" smtClean="0" sz="800" spc="108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giv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24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u</a:t>
            </a:r>
            <a:r>
              <a:rPr dirty="0" smtClean="0" sz="800" spc="0">
                <a:latin typeface="Comic Sans MS"/>
                <a:cs typeface="Comic Sans MS"/>
              </a:rPr>
              <a:t>p</a:t>
            </a:r>
            <a:r>
              <a:rPr dirty="0" smtClean="0" sz="800" spc="5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</a:t>
            </a:r>
            <a:r>
              <a:rPr dirty="0" smtClean="0" sz="800" spc="-7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chopstick</a:t>
            </a:r>
            <a:endParaRPr sz="80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85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-19">
                <a:latin typeface="Comic Sans MS"/>
                <a:cs typeface="Comic Sans MS"/>
              </a:rPr>
              <a:t>Others?</a:t>
            </a:r>
            <a:endParaRPr sz="800">
              <a:latin typeface="Comic Sans MS"/>
              <a:cs typeface="Comic Sans MS"/>
            </a:endParaRPr>
          </a:p>
          <a:p>
            <a:pPr marR="104775" algn="r">
              <a:lnSpc>
                <a:spcPct val="100000"/>
              </a:lnSpc>
              <a:spcBef>
                <a:spcPts val="4015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1</a:t>
            </a:r>
            <a:r>
              <a:rPr dirty="0" smtClean="0" sz="350" spc="0">
                <a:latin typeface="Times New Roman"/>
                <a:cs typeface="Times New Roman"/>
              </a:rPr>
              <a:t>8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3400" y="6219825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Deadlock</a:t>
            </a:r>
            <a:endParaRPr sz="1200">
              <a:latin typeface="Comic Sans MS"/>
              <a:cs typeface="Comic Sans MS"/>
            </a:endParaRPr>
          </a:p>
          <a:p>
            <a:pPr marL="285750" marR="397871" indent="-104775">
              <a:lnSpc>
                <a:spcPts val="1114"/>
              </a:lnSpc>
              <a:spcBef>
                <a:spcPts val="1192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Deadlock</a:t>
            </a:r>
            <a:r>
              <a:rPr dirty="0" smtClean="0" sz="800" spc="101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exists</a:t>
            </a:r>
            <a:r>
              <a:rPr dirty="0" smtClean="0" sz="800" spc="68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in</a:t>
            </a:r>
            <a:r>
              <a:rPr dirty="0" smtClean="0" sz="800" spc="19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</a:t>
            </a:r>
            <a:r>
              <a:rPr dirty="0" smtClean="0" sz="800" spc="12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set</a:t>
            </a:r>
            <a:r>
              <a:rPr dirty="0" smtClean="0" sz="800" spc="36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of</a:t>
            </a:r>
            <a:r>
              <a:rPr dirty="0" smtClean="0" sz="800" spc="0">
                <a:latin typeface="Comic Sans MS"/>
                <a:cs typeface="Comic Sans MS"/>
              </a:rPr>
              <a:t> </a:t>
            </a:r>
            <a:endParaRPr sz="800">
              <a:latin typeface="Comic Sans MS"/>
              <a:cs typeface="Comic Sans MS"/>
            </a:endParaRPr>
          </a:p>
          <a:p>
            <a:pPr marL="285750" marR="397871">
              <a:lnSpc>
                <a:spcPts val="1114"/>
              </a:lnSpc>
            </a:pPr>
            <a:r>
              <a:rPr dirty="0" smtClean="0" sz="800" spc="-4">
                <a:latin typeface="Comic Sans MS"/>
                <a:cs typeface="Comic Sans MS"/>
              </a:rPr>
              <a:t>processes/thread</a:t>
            </a:r>
            <a:r>
              <a:rPr dirty="0" smtClean="0" sz="800" spc="0">
                <a:latin typeface="Comic Sans MS"/>
                <a:cs typeface="Comic Sans MS"/>
              </a:rPr>
              <a:t>s</a:t>
            </a:r>
            <a:r>
              <a:rPr dirty="0" smtClean="0" sz="800" spc="195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whe</a:t>
            </a:r>
            <a:r>
              <a:rPr dirty="0" smtClean="0" sz="800" spc="0">
                <a:latin typeface="Comic Sans MS"/>
                <a:cs typeface="Comic Sans MS"/>
              </a:rPr>
              <a:t>n</a:t>
            </a:r>
            <a:r>
              <a:rPr dirty="0" smtClean="0" sz="800" spc="40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all</a:t>
            </a:r>
            <a:r>
              <a:rPr dirty="0" smtClean="0" sz="800" spc="-4">
                <a:latin typeface="Comic Sans MS"/>
                <a:cs typeface="Comic Sans MS"/>
              </a:rPr>
              <a:t> </a:t>
            </a:r>
            <a:endParaRPr sz="800">
              <a:latin typeface="Comic Sans MS"/>
              <a:cs typeface="Comic Sans MS"/>
            </a:endParaRPr>
          </a:p>
          <a:p>
            <a:pPr marL="285750" marR="397871">
              <a:lnSpc>
                <a:spcPts val="1114"/>
              </a:lnSpc>
            </a:pPr>
            <a:r>
              <a:rPr dirty="0" smtClean="0" sz="800" spc="0">
                <a:latin typeface="Comic Sans MS"/>
                <a:cs typeface="Comic Sans MS"/>
              </a:rPr>
              <a:t>processes/threads</a:t>
            </a:r>
            <a:r>
              <a:rPr dirty="0" smtClean="0" sz="800" spc="195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in</a:t>
            </a:r>
            <a:r>
              <a:rPr dirty="0" smtClean="0" sz="800" spc="4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the</a:t>
            </a:r>
            <a:r>
              <a:rPr dirty="0" smtClean="0" sz="800" spc="2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set</a:t>
            </a:r>
            <a:r>
              <a:rPr dirty="0" smtClean="0" sz="800" spc="21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are</a:t>
            </a:r>
            <a:r>
              <a:rPr dirty="0" smtClean="0" sz="800" spc="21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waiting</a:t>
            </a:r>
            <a:r>
              <a:rPr dirty="0" smtClean="0" sz="800" spc="0">
                <a:latin typeface="Comic Sans MS"/>
                <a:cs typeface="Comic Sans MS"/>
              </a:rPr>
              <a:t> </a:t>
            </a:r>
            <a:endParaRPr sz="800">
              <a:latin typeface="Comic Sans MS"/>
              <a:cs typeface="Comic Sans MS"/>
            </a:endParaRPr>
          </a:p>
          <a:p>
            <a:pPr marL="285750" marR="397871">
              <a:lnSpc>
                <a:spcPts val="1114"/>
              </a:lnSpc>
            </a:pPr>
            <a:r>
              <a:rPr dirty="0" smtClean="0" sz="800" spc="0">
                <a:latin typeface="Comic Sans MS"/>
                <a:cs typeface="Comic Sans MS"/>
              </a:rPr>
              <a:t>for</a:t>
            </a:r>
            <a:r>
              <a:rPr dirty="0" smtClean="0" sz="800" spc="36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an</a:t>
            </a:r>
            <a:r>
              <a:rPr dirty="0" smtClean="0" sz="800" spc="24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event</a:t>
            </a:r>
            <a:r>
              <a:rPr dirty="0" smtClean="0" sz="800" spc="61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that</a:t>
            </a:r>
            <a:r>
              <a:rPr dirty="0" smtClean="0" sz="800" spc="48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can</a:t>
            </a:r>
            <a:r>
              <a:rPr dirty="0" smtClean="0" sz="800" spc="37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only</a:t>
            </a:r>
            <a:r>
              <a:rPr dirty="0" smtClean="0" sz="800" spc="44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be</a:t>
            </a:r>
            <a:r>
              <a:rPr dirty="0" smtClean="0" sz="800" spc="27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caused</a:t>
            </a:r>
            <a:r>
              <a:rPr dirty="0" smtClean="0" sz="800" spc="75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by</a:t>
            </a:r>
            <a:r>
              <a:rPr dirty="0" smtClean="0" sz="800" spc="0">
                <a:latin typeface="Comic Sans MS"/>
                <a:cs typeface="Comic Sans MS"/>
              </a:rPr>
              <a:t> </a:t>
            </a:r>
            <a:endParaRPr sz="800">
              <a:latin typeface="Comic Sans MS"/>
              <a:cs typeface="Comic Sans MS"/>
            </a:endParaRPr>
          </a:p>
          <a:p>
            <a:pPr marL="285750" marR="397871">
              <a:lnSpc>
                <a:spcPts val="1114"/>
              </a:lnSpc>
            </a:pPr>
            <a:r>
              <a:rPr dirty="0" smtClean="0" sz="800" spc="4">
                <a:latin typeface="Comic Sans MS"/>
                <a:cs typeface="Comic Sans MS"/>
              </a:rPr>
              <a:t>anothe</a:t>
            </a:r>
            <a:r>
              <a:rPr dirty="0" smtClean="0" sz="800" spc="0">
                <a:latin typeface="Comic Sans MS"/>
                <a:cs typeface="Comic Sans MS"/>
              </a:rPr>
              <a:t>r</a:t>
            </a:r>
            <a:r>
              <a:rPr dirty="0" smtClean="0" sz="800" spc="77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proces</a:t>
            </a:r>
            <a:r>
              <a:rPr dirty="0" smtClean="0" sz="800" spc="0">
                <a:latin typeface="Comic Sans MS"/>
                <a:cs typeface="Comic Sans MS"/>
              </a:rPr>
              <a:t>s</a:t>
            </a:r>
            <a:r>
              <a:rPr dirty="0" smtClean="0" sz="800" spc="75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i</a:t>
            </a:r>
            <a:r>
              <a:rPr dirty="0" smtClean="0" sz="800" spc="0">
                <a:latin typeface="Comic Sans MS"/>
                <a:cs typeface="Comic Sans MS"/>
              </a:rPr>
              <a:t>n</a:t>
            </a:r>
            <a:r>
              <a:rPr dirty="0" smtClean="0" sz="800" spc="9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th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28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se</a:t>
            </a:r>
            <a:r>
              <a:rPr dirty="0" smtClean="0" sz="800" spc="0">
                <a:latin typeface="Comic Sans MS"/>
                <a:cs typeface="Comic Sans MS"/>
              </a:rPr>
              <a:t>t</a:t>
            </a:r>
            <a:r>
              <a:rPr dirty="0" smtClean="0" sz="800" spc="26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(whic</a:t>
            </a:r>
            <a:r>
              <a:rPr dirty="0" smtClean="0" sz="800" spc="0">
                <a:latin typeface="Comic Sans MS"/>
                <a:cs typeface="Comic Sans MS"/>
              </a:rPr>
              <a:t>h</a:t>
            </a:r>
            <a:r>
              <a:rPr dirty="0" smtClean="0" sz="800" spc="61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i</a:t>
            </a:r>
            <a:r>
              <a:rPr dirty="0" smtClean="0" sz="800" spc="0">
                <a:latin typeface="Comic Sans MS"/>
                <a:cs typeface="Comic Sans MS"/>
              </a:rPr>
              <a:t>s</a:t>
            </a:r>
            <a:r>
              <a:rPr dirty="0" smtClean="0" sz="800" spc="8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also</a:t>
            </a:r>
            <a:r>
              <a:rPr dirty="0" smtClean="0" sz="800" spc="4">
                <a:latin typeface="Comic Sans MS"/>
                <a:cs typeface="Comic Sans MS"/>
              </a:rPr>
              <a:t> </a:t>
            </a:r>
            <a:endParaRPr sz="800">
              <a:latin typeface="Comic Sans MS"/>
              <a:cs typeface="Comic Sans MS"/>
            </a:endParaRPr>
          </a:p>
          <a:p>
            <a:pPr marL="285750" marR="397871">
              <a:lnSpc>
                <a:spcPts val="1114"/>
              </a:lnSpc>
            </a:pPr>
            <a:r>
              <a:rPr dirty="0" smtClean="0" sz="800" spc="4">
                <a:latin typeface="Comic Sans MS"/>
                <a:cs typeface="Comic Sans MS"/>
              </a:rPr>
              <a:t>waiting!).</a:t>
            </a:r>
            <a:endParaRPr sz="800">
              <a:latin typeface="Comic Sans MS"/>
              <a:cs typeface="Comic Sans MS"/>
            </a:endParaRPr>
          </a:p>
          <a:p>
            <a:pPr marL="285750" marR="380387" indent="-104775">
              <a:lnSpc>
                <a:spcPts val="980"/>
              </a:lnSpc>
              <a:spcBef>
                <a:spcPts val="129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Dining</a:t>
            </a:r>
            <a:r>
              <a:rPr dirty="0" smtClean="0" sz="800" spc="68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Philosophers</a:t>
            </a:r>
            <a:r>
              <a:rPr dirty="0" smtClean="0" sz="800" spc="139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is</a:t>
            </a:r>
            <a:r>
              <a:rPr dirty="0" smtClean="0" sz="800" spc="18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</a:t>
            </a:r>
            <a:r>
              <a:rPr dirty="0" smtClean="0" sz="800" spc="12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perfect</a:t>
            </a:r>
            <a:r>
              <a:rPr dirty="0" smtClean="0" sz="800" spc="86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example.</a:t>
            </a:r>
            <a:r>
              <a:rPr dirty="0" smtClean="0" sz="800" spc="0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Each</a:t>
            </a:r>
            <a:r>
              <a:rPr dirty="0" smtClean="0" sz="800" spc="28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holds</a:t>
            </a:r>
            <a:r>
              <a:rPr dirty="0" smtClean="0" sz="800" spc="3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one</a:t>
            </a:r>
            <a:r>
              <a:rPr dirty="0" smtClean="0" sz="800" spc="1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chopstick</a:t>
            </a:r>
            <a:r>
              <a:rPr dirty="0" smtClean="0" sz="800" spc="81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and</a:t>
            </a:r>
            <a:r>
              <a:rPr dirty="0" smtClean="0" sz="800" spc="1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will</a:t>
            </a:r>
            <a:r>
              <a:rPr dirty="0" smtClean="0" sz="800" spc="11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wait</a:t>
            </a:r>
            <a:r>
              <a:rPr dirty="0" smtClean="0" sz="800" spc="0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foreve</a:t>
            </a:r>
            <a:r>
              <a:rPr dirty="0" smtClean="0" sz="800" spc="0">
                <a:latin typeface="Comic Sans MS"/>
                <a:cs typeface="Comic Sans MS"/>
              </a:rPr>
              <a:t>r</a:t>
            </a:r>
            <a:r>
              <a:rPr dirty="0" smtClean="0" sz="800" spc="85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fo</a:t>
            </a:r>
            <a:r>
              <a:rPr dirty="0" smtClean="0" sz="800" spc="0">
                <a:latin typeface="Comic Sans MS"/>
                <a:cs typeface="Comic Sans MS"/>
              </a:rPr>
              <a:t>r</a:t>
            </a:r>
            <a:r>
              <a:rPr dirty="0" smtClean="0" sz="800" spc="36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th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38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other.</a:t>
            </a:r>
            <a:endParaRPr sz="800">
              <a:latin typeface="Comic Sans MS"/>
              <a:cs typeface="Comic Sans MS"/>
            </a:endParaRPr>
          </a:p>
          <a:p>
            <a:pPr marR="114300" algn="r">
              <a:lnSpc>
                <a:spcPct val="100000"/>
              </a:lnSpc>
              <a:spcBef>
                <a:spcPts val="2128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1</a:t>
            </a:r>
            <a:r>
              <a:rPr dirty="0" smtClean="0" sz="350" spc="0">
                <a:latin typeface="Times New Roman"/>
                <a:cs typeface="Times New Roman"/>
              </a:rPr>
              <a:t>7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63075" y="4500430"/>
            <a:ext cx="1000125" cy="962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3819525" y="3781425"/>
            <a:ext cx="1301617" cy="6713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625"/>
              </a:lnSpc>
              <a:spcBef>
                <a:spcPts val="81"/>
              </a:spcBef>
            </a:pP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Philosopher</a:t>
            </a:r>
            <a:r>
              <a:rPr dirty="0" smtClean="0" sz="1200" spc="0" u="sng">
                <a:solidFill>
                  <a:srgbClr val="3333CC"/>
                </a:solidFill>
                <a:latin typeface="Comic Sans MS"/>
                <a:cs typeface="Comic Sans MS"/>
              </a:rPr>
              <a:t>s</a:t>
            </a:r>
            <a:r>
              <a:rPr dirty="0" smtClean="0" sz="1200" spc="0">
                <a:solidFill>
                  <a:srgbClr val="3333CC"/>
                </a:solidFill>
                <a:latin typeface="Comic Sans MS"/>
                <a:cs typeface="Comic Sans MS"/>
              </a:rPr>
              <a:t>      </a:t>
            </a:r>
            <a:r>
              <a:rPr dirty="0" smtClean="0" sz="1200" spc="272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baseline="28703" sz="750" spc="-4">
                <a:latin typeface="Comic Sans MS"/>
                <a:cs typeface="Comic Sans MS"/>
              </a:rPr>
              <a:t>P</a:t>
            </a:r>
            <a:endParaRPr sz="500">
              <a:latin typeface="Comic Sans MS"/>
              <a:cs typeface="Comic Sans MS"/>
            </a:endParaRPr>
          </a:p>
          <a:p>
            <a:pPr marR="76596">
              <a:lnSpc>
                <a:spcPct val="94401"/>
              </a:lnSpc>
              <a:spcBef>
                <a:spcPts val="1227"/>
              </a:spcBef>
            </a:pPr>
            <a:r>
              <a:rPr dirty="0" smtClean="0" sz="350" spc="0">
                <a:latin typeface="Courier New"/>
                <a:cs typeface="Courier New"/>
              </a:rPr>
              <a:t>void</a:t>
            </a:r>
            <a:r>
              <a:rPr dirty="0" smtClean="0" sz="350" spc="73">
                <a:latin typeface="Courier New"/>
                <a:cs typeface="Courier New"/>
              </a:rPr>
              <a:t> </a:t>
            </a:r>
            <a:r>
              <a:rPr dirty="0" smtClean="0" sz="350" spc="-15">
                <a:latin typeface="Courier New"/>
                <a:cs typeface="Courier New"/>
              </a:rPr>
              <a:t>philosophersLife</a:t>
            </a:r>
            <a:r>
              <a:rPr dirty="0" smtClean="0" sz="350" spc="0">
                <a:latin typeface="Courier New"/>
                <a:cs typeface="Courier New"/>
              </a:rPr>
              <a:t>(</a:t>
            </a:r>
            <a:r>
              <a:rPr dirty="0" smtClean="0" sz="350" spc="-53">
                <a:latin typeface="Courier New"/>
                <a:cs typeface="Courier New"/>
              </a:rPr>
              <a:t>in</a:t>
            </a:r>
            <a:r>
              <a:rPr dirty="0" smtClean="0" sz="350" spc="0">
                <a:latin typeface="Courier New"/>
                <a:cs typeface="Courier New"/>
              </a:rPr>
              <a:t>t</a:t>
            </a:r>
            <a:r>
              <a:rPr dirty="0" smtClean="0" sz="350" spc="48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i){</a:t>
            </a:r>
            <a:endParaRPr sz="350">
              <a:latin typeface="Courier New"/>
              <a:cs typeface="Courier New"/>
            </a:endParaRPr>
          </a:p>
          <a:p>
            <a:pPr marL="164703" marR="189970" algn="ctr">
              <a:lnSpc>
                <a:spcPct val="94401"/>
              </a:lnSpc>
              <a:spcBef>
                <a:spcPts val="425"/>
              </a:spcBef>
            </a:pPr>
            <a:r>
              <a:rPr dirty="0" smtClean="0" sz="350" spc="-14">
                <a:latin typeface="Courier New"/>
                <a:cs typeface="Courier New"/>
              </a:rPr>
              <a:t>in</a:t>
            </a:r>
            <a:r>
              <a:rPr dirty="0" smtClean="0" sz="350" spc="0">
                <a:latin typeface="Courier New"/>
                <a:cs typeface="Courier New"/>
              </a:rPr>
              <a:t>t</a:t>
            </a:r>
            <a:r>
              <a:rPr dirty="0" smtClean="0" sz="350" spc="44">
                <a:latin typeface="Courier New"/>
                <a:cs typeface="Courier New"/>
              </a:rPr>
              <a:t> </a:t>
            </a:r>
            <a:r>
              <a:rPr dirty="0" smtClean="0" sz="350" spc="-14">
                <a:latin typeface="Courier New"/>
                <a:cs typeface="Courier New"/>
              </a:rPr>
              <a:t>rightChopstick</a:t>
            </a:r>
            <a:r>
              <a:rPr dirty="0" smtClean="0" sz="350" spc="0">
                <a:latin typeface="Courier New"/>
                <a:cs typeface="Courier New"/>
              </a:rPr>
              <a:t>,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 </a:t>
            </a:r>
            <a:r>
              <a:rPr dirty="0" smtClean="0" sz="350" spc="-9">
                <a:latin typeface="Courier New"/>
                <a:cs typeface="Courier New"/>
              </a:rPr>
              <a:t>leftChopstic</a:t>
            </a:r>
            <a:r>
              <a:rPr dirty="0" smtClean="0" sz="350" spc="-84">
                <a:latin typeface="Courier New"/>
                <a:cs typeface="Courier New"/>
              </a:rPr>
              <a:t>k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44545" y="3781425"/>
            <a:ext cx="1095375" cy="6713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032">
              <a:lnSpc>
                <a:spcPct val="116129"/>
              </a:lnSpc>
              <a:spcBef>
                <a:spcPts val="420"/>
              </a:spcBef>
            </a:pPr>
            <a:r>
              <a:rPr dirty="0" smtClean="0" sz="500" spc="-4">
                <a:latin typeface="Comic Sans MS"/>
                <a:cs typeface="Comic Sans MS"/>
              </a:rPr>
              <a:t>roblem?</a:t>
            </a:r>
            <a:endParaRPr sz="500">
              <a:latin typeface="Comic Sans MS"/>
              <a:cs typeface="Comic Sans MS"/>
            </a:endParaRPr>
          </a:p>
          <a:p>
            <a:pPr marL="32279">
              <a:lnSpc>
                <a:spcPct val="116129"/>
              </a:lnSpc>
              <a:spcBef>
                <a:spcPts val="2453"/>
              </a:spcBef>
            </a:pPr>
            <a:r>
              <a:rPr dirty="0" smtClean="0" sz="500" spc="4">
                <a:latin typeface="Comic Sans MS"/>
                <a:cs typeface="Comic Sans MS"/>
              </a:rPr>
              <a:t>philosophe</a:t>
            </a:r>
            <a:r>
              <a:rPr dirty="0" smtClean="0" sz="500" spc="0">
                <a:latin typeface="Comic Sans MS"/>
                <a:cs typeface="Comic Sans MS"/>
              </a:rPr>
              <a:t>r</a:t>
            </a:r>
            <a:r>
              <a:rPr dirty="0" smtClean="0" sz="500" spc="138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N</a:t>
            </a:r>
            <a:r>
              <a:rPr dirty="0" smtClean="0" sz="500" spc="24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get</a:t>
            </a:r>
            <a:r>
              <a:rPr dirty="0" smtClean="0" sz="500" spc="0">
                <a:latin typeface="Comic Sans MS"/>
                <a:cs typeface="Comic Sans MS"/>
              </a:rPr>
              <a:t>s</a:t>
            </a:r>
            <a:r>
              <a:rPr dirty="0" smtClean="0" sz="500" spc="55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chopstic</a:t>
            </a:r>
            <a:r>
              <a:rPr dirty="0" smtClean="0" sz="500" spc="0">
                <a:latin typeface="Comic Sans MS"/>
                <a:cs typeface="Comic Sans MS"/>
              </a:rPr>
              <a:t>k</a:t>
            </a:r>
            <a:r>
              <a:rPr dirty="0" smtClean="0" sz="500" spc="115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N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29025" y="3562350"/>
            <a:ext cx="2676525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0975">
              <a:lnSpc>
                <a:spcPct val="116129"/>
              </a:lnSpc>
              <a:spcBef>
                <a:spcPts val="250"/>
              </a:spcBef>
            </a:pPr>
            <a:r>
              <a:rPr dirty="0" smtClean="0" sz="1200" spc="-19">
                <a:solidFill>
                  <a:srgbClr val="3333CC"/>
                </a:solidFill>
                <a:latin typeface="Comic Sans MS"/>
                <a:cs typeface="Comic Sans MS"/>
              </a:rPr>
              <a:t>Semaphor</a:t>
            </a:r>
            <a:r>
              <a:rPr dirty="0" smtClean="0" sz="1200" spc="0">
                <a:solidFill>
                  <a:srgbClr val="3333CC"/>
                </a:solidFill>
                <a:latin typeface="Comic Sans MS"/>
                <a:cs typeface="Comic Sans MS"/>
              </a:rPr>
              <a:t>e</a:t>
            </a:r>
            <a:r>
              <a:rPr dirty="0" smtClean="0" sz="1200" spc="-19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>
                <a:solidFill>
                  <a:srgbClr val="3333CC"/>
                </a:solidFill>
                <a:latin typeface="Comic Sans MS"/>
                <a:cs typeface="Comic Sans MS"/>
              </a:rPr>
              <a:t>Solutio</a:t>
            </a:r>
            <a:r>
              <a:rPr dirty="0" smtClean="0" sz="1200" spc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dirty="0" smtClean="0" sz="1200" spc="-19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>
                <a:solidFill>
                  <a:srgbClr val="3333CC"/>
                </a:solidFill>
                <a:latin typeface="Comic Sans MS"/>
                <a:cs typeface="Comic Sans MS"/>
              </a:rPr>
              <a:t>t</a:t>
            </a:r>
            <a:r>
              <a:rPr dirty="0" smtClean="0" sz="1200" spc="0">
                <a:solidFill>
                  <a:srgbClr val="3333CC"/>
                </a:solidFill>
                <a:latin typeface="Comic Sans MS"/>
                <a:cs typeface="Comic Sans MS"/>
              </a:rPr>
              <a:t>o</a:t>
            </a:r>
            <a:r>
              <a:rPr dirty="0" smtClean="0" sz="1200" spc="-19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>
                <a:solidFill>
                  <a:srgbClr val="3333CC"/>
                </a:solidFill>
                <a:latin typeface="Comic Sans MS"/>
                <a:cs typeface="Comic Sans MS"/>
              </a:rPr>
              <a:t>Dining</a:t>
            </a:r>
            <a:endParaRPr sz="1200">
              <a:latin typeface="Comic Sans MS"/>
              <a:cs typeface="Comic Sans MS"/>
            </a:endParaRPr>
          </a:p>
          <a:p>
            <a:pPr marL="1447800" marR="263174">
              <a:lnSpc>
                <a:spcPts val="600"/>
              </a:lnSpc>
              <a:spcBef>
                <a:spcPts val="1600"/>
              </a:spcBef>
            </a:pPr>
            <a:r>
              <a:rPr dirty="0" smtClean="0" sz="500" spc="0">
                <a:latin typeface="Comic Sans MS"/>
                <a:cs typeface="Comic Sans MS"/>
              </a:rPr>
              <a:t>philosopher</a:t>
            </a:r>
            <a:r>
              <a:rPr dirty="0" smtClean="0" sz="500" spc="138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0</a:t>
            </a:r>
            <a:r>
              <a:rPr dirty="0" smtClean="0" sz="500" spc="20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gets</a:t>
            </a:r>
            <a:r>
              <a:rPr dirty="0" smtClean="0" sz="500" spc="55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chopstick</a:t>
            </a:r>
            <a:r>
              <a:rPr dirty="0" smtClean="0" sz="500" spc="115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0</a:t>
            </a:r>
            <a:r>
              <a:rPr dirty="0" smtClean="0" sz="500" spc="0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philosophe</a:t>
            </a:r>
            <a:r>
              <a:rPr dirty="0" smtClean="0" sz="500" spc="0">
                <a:latin typeface="Comic Sans MS"/>
                <a:cs typeface="Comic Sans MS"/>
              </a:rPr>
              <a:t>r</a:t>
            </a:r>
            <a:r>
              <a:rPr dirty="0" smtClean="0" sz="500" spc="138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1</a:t>
            </a:r>
            <a:r>
              <a:rPr dirty="0" smtClean="0" sz="500" spc="16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get</a:t>
            </a:r>
            <a:r>
              <a:rPr dirty="0" smtClean="0" sz="500" spc="0">
                <a:latin typeface="Comic Sans MS"/>
                <a:cs typeface="Comic Sans MS"/>
              </a:rPr>
              <a:t>s</a:t>
            </a:r>
            <a:r>
              <a:rPr dirty="0" smtClean="0" sz="500" spc="55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chopstic</a:t>
            </a:r>
            <a:r>
              <a:rPr dirty="0" smtClean="0" sz="500" spc="0">
                <a:latin typeface="Comic Sans MS"/>
                <a:cs typeface="Comic Sans MS"/>
              </a:rPr>
              <a:t>k</a:t>
            </a:r>
            <a:r>
              <a:rPr dirty="0" smtClean="0" sz="500" spc="115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1</a:t>
            </a:r>
            <a:endParaRPr sz="500">
              <a:latin typeface="Comic Sans MS"/>
              <a:cs typeface="Comic Sans MS"/>
            </a:endParaRPr>
          </a:p>
          <a:p>
            <a:pPr marL="285750">
              <a:lnSpc>
                <a:spcPts val="751"/>
              </a:lnSpc>
            </a:pPr>
            <a:r>
              <a:rPr dirty="0" smtClean="0" sz="350" spc="-9">
                <a:latin typeface="Courier New"/>
                <a:cs typeface="Courier New"/>
              </a:rPr>
              <a:t>whil</a:t>
            </a:r>
            <a:r>
              <a:rPr dirty="0" smtClean="0" sz="350" spc="0">
                <a:latin typeface="Courier New"/>
                <a:cs typeface="Courier New"/>
              </a:rPr>
              <a:t>e</a:t>
            </a:r>
            <a:r>
              <a:rPr dirty="0" smtClean="0" sz="350" spc="78">
                <a:latin typeface="Courier New"/>
                <a:cs typeface="Courier New"/>
              </a:rPr>
              <a:t> </a:t>
            </a:r>
            <a:r>
              <a:rPr dirty="0" smtClean="0" sz="350" spc="-9">
                <a:latin typeface="Courier New"/>
                <a:cs typeface="Courier New"/>
              </a:rPr>
              <a:t>(1</a:t>
            </a:r>
            <a:r>
              <a:rPr dirty="0" smtClean="0" sz="350" spc="0">
                <a:latin typeface="Courier New"/>
                <a:cs typeface="Courier New"/>
              </a:rPr>
              <a:t>)</a:t>
            </a:r>
            <a:r>
              <a:rPr dirty="0" smtClean="0" sz="350" spc="49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{</a:t>
            </a:r>
            <a:r>
              <a:rPr dirty="0" smtClean="0" sz="350" spc="0">
                <a:latin typeface="Courier New"/>
                <a:cs typeface="Courier New"/>
              </a:rPr>
              <a:t>                               </a:t>
            </a:r>
            <a:r>
              <a:rPr dirty="0" smtClean="0" sz="350" spc="34">
                <a:latin typeface="Courier New"/>
                <a:cs typeface="Courier New"/>
              </a:rPr>
              <a:t> </a:t>
            </a:r>
            <a:r>
              <a:rPr dirty="0" smtClean="0" baseline="4783" sz="750" spc="19">
                <a:latin typeface="Comic Sans MS"/>
                <a:cs typeface="Comic Sans MS"/>
              </a:rPr>
              <a:t>….</a:t>
            </a:r>
            <a:endParaRPr sz="500">
              <a:latin typeface="Comic Sans MS"/>
              <a:cs typeface="Comic Sans MS"/>
            </a:endParaRPr>
          </a:p>
          <a:p>
            <a:pPr marL="371475">
              <a:lnSpc>
                <a:spcPct val="94401"/>
              </a:lnSpc>
              <a:spcBef>
                <a:spcPts val="425"/>
              </a:spcBef>
            </a:pPr>
            <a:r>
              <a:rPr dirty="0" smtClean="0" sz="350" spc="-9">
                <a:latin typeface="Courier New"/>
                <a:cs typeface="Courier New"/>
              </a:rPr>
              <a:t>think();</a:t>
            </a:r>
            <a:endParaRPr sz="350">
              <a:latin typeface="Courier New"/>
              <a:cs typeface="Courier New"/>
            </a:endParaRPr>
          </a:p>
          <a:p>
            <a:pPr marL="371475">
              <a:lnSpc>
                <a:spcPts val="696"/>
              </a:lnSpc>
              <a:spcBef>
                <a:spcPts val="315"/>
              </a:spcBef>
            </a:pPr>
            <a:r>
              <a:rPr dirty="0" smtClean="0" baseline="8407" sz="525" spc="-14">
                <a:latin typeface="Courier New"/>
                <a:cs typeface="Courier New"/>
              </a:rPr>
              <a:t>//figur</a:t>
            </a:r>
            <a:r>
              <a:rPr dirty="0" smtClean="0" baseline="8407" sz="525" spc="0">
                <a:latin typeface="Courier New"/>
                <a:cs typeface="Courier New"/>
              </a:rPr>
              <a:t>e</a:t>
            </a:r>
            <a:r>
              <a:rPr dirty="0" smtClean="0" baseline="8407" sz="525" spc="117">
                <a:latin typeface="Courier New"/>
                <a:cs typeface="Courier New"/>
              </a:rPr>
              <a:t> </a:t>
            </a:r>
            <a:r>
              <a:rPr dirty="0" smtClean="0" baseline="8407" sz="525" spc="-14">
                <a:latin typeface="Courier New"/>
                <a:cs typeface="Courier New"/>
              </a:rPr>
              <a:t>ou</a:t>
            </a:r>
            <a:r>
              <a:rPr dirty="0" smtClean="0" baseline="8407" sz="525" spc="0">
                <a:latin typeface="Courier New"/>
                <a:cs typeface="Courier New"/>
              </a:rPr>
              <a:t>t</a:t>
            </a:r>
            <a:r>
              <a:rPr dirty="0" smtClean="0" baseline="8407" sz="525" spc="44">
                <a:latin typeface="Courier New"/>
                <a:cs typeface="Courier New"/>
              </a:rPr>
              <a:t> </a:t>
            </a:r>
            <a:r>
              <a:rPr dirty="0" smtClean="0" baseline="8407" sz="525" spc="-14">
                <a:latin typeface="Courier New"/>
                <a:cs typeface="Courier New"/>
              </a:rPr>
              <a:t>whic</a:t>
            </a:r>
            <a:r>
              <a:rPr dirty="0" smtClean="0" baseline="8407" sz="525" spc="0">
                <a:latin typeface="Courier New"/>
                <a:cs typeface="Courier New"/>
              </a:rPr>
              <a:t>h</a:t>
            </a:r>
            <a:r>
              <a:rPr dirty="0" smtClean="0" baseline="8407" sz="525" spc="73">
                <a:latin typeface="Courier New"/>
                <a:cs typeface="Courier New"/>
              </a:rPr>
              <a:t> </a:t>
            </a:r>
            <a:r>
              <a:rPr dirty="0" smtClean="0" baseline="8407" sz="525" spc="-14">
                <a:latin typeface="Courier New"/>
                <a:cs typeface="Courier New"/>
              </a:rPr>
              <a:t>chopstick</a:t>
            </a:r>
            <a:r>
              <a:rPr dirty="0" smtClean="0" baseline="8407" sz="525" spc="0">
                <a:latin typeface="Courier New"/>
                <a:cs typeface="Courier New"/>
              </a:rPr>
              <a:t>s</a:t>
            </a:r>
            <a:r>
              <a:rPr dirty="0" smtClean="0" baseline="8407" sz="525" spc="146">
                <a:latin typeface="Courier New"/>
                <a:cs typeface="Courier New"/>
              </a:rPr>
              <a:t> </a:t>
            </a:r>
            <a:r>
              <a:rPr dirty="0" smtClean="0" baseline="8407" sz="525" spc="0">
                <a:latin typeface="Courier New"/>
                <a:cs typeface="Courier New"/>
              </a:rPr>
              <a:t>I</a:t>
            </a:r>
            <a:r>
              <a:rPr dirty="0" smtClean="0" baseline="8407" sz="525" spc="14">
                <a:latin typeface="Courier New"/>
                <a:cs typeface="Courier New"/>
              </a:rPr>
              <a:t> </a:t>
            </a:r>
            <a:r>
              <a:rPr dirty="0" smtClean="0" baseline="8407" sz="525" spc="-14">
                <a:latin typeface="Courier New"/>
                <a:cs typeface="Courier New"/>
              </a:rPr>
              <a:t>nee</a:t>
            </a:r>
            <a:r>
              <a:rPr dirty="0" smtClean="0" baseline="8407" sz="525" spc="0">
                <a:latin typeface="Courier New"/>
                <a:cs typeface="Courier New"/>
              </a:rPr>
              <a:t>d</a:t>
            </a:r>
            <a:r>
              <a:rPr dirty="0" smtClean="0" baseline="8407" sz="525" spc="208">
                <a:latin typeface="Courier New"/>
                <a:cs typeface="Courier New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Deadlock</a:t>
            </a:r>
            <a:r>
              <a:rPr dirty="0" smtClean="0" sz="500" spc="0">
                <a:latin typeface="Comic Sans MS"/>
                <a:cs typeface="Comic Sans MS"/>
              </a:rPr>
              <a:t>!</a:t>
            </a:r>
            <a:r>
              <a:rPr dirty="0" smtClean="0" sz="500" spc="0">
                <a:latin typeface="Comic Sans MS"/>
                <a:cs typeface="Comic Sans MS"/>
              </a:rPr>
              <a:t>    </a:t>
            </a:r>
            <a:r>
              <a:rPr dirty="0" smtClean="0" sz="500" spc="121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Solution?</a:t>
            </a:r>
            <a:endParaRPr sz="500">
              <a:latin typeface="Comic Sans MS"/>
              <a:cs typeface="Comic Sans MS"/>
            </a:endParaRPr>
          </a:p>
          <a:p>
            <a:pPr marL="371475">
              <a:lnSpc>
                <a:spcPct val="94401"/>
              </a:lnSpc>
              <a:spcBef>
                <a:spcPts val="310"/>
              </a:spcBef>
            </a:pPr>
            <a:r>
              <a:rPr dirty="0" smtClean="0" sz="350" spc="-9">
                <a:latin typeface="Courier New"/>
                <a:cs typeface="Courier New"/>
              </a:rPr>
              <a:t>leftChopstic</a:t>
            </a:r>
            <a:r>
              <a:rPr dirty="0" smtClean="0" sz="350" spc="0">
                <a:latin typeface="Courier New"/>
                <a:cs typeface="Courier New"/>
              </a:rPr>
              <a:t>k</a:t>
            </a:r>
            <a:r>
              <a:rPr dirty="0" smtClean="0" sz="350" spc="195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-100">
                <a:latin typeface="Courier New"/>
                <a:cs typeface="Courier New"/>
              </a:rPr>
              <a:t> </a:t>
            </a:r>
            <a:r>
              <a:rPr dirty="0" smtClean="0" sz="350" spc="39">
                <a:latin typeface="Courier New"/>
                <a:cs typeface="Courier New"/>
              </a:rPr>
              <a:t>i</a:t>
            </a:r>
            <a:r>
              <a:rPr dirty="0" smtClean="0" sz="350" spc="0">
                <a:latin typeface="Courier New"/>
                <a:cs typeface="Courier New"/>
              </a:rPr>
              <a:t>-</a:t>
            </a:r>
            <a:r>
              <a:rPr dirty="0" smtClean="0" sz="350" spc="-14">
                <a:latin typeface="Courier New"/>
                <a:cs typeface="Courier New"/>
              </a:rPr>
              <a:t>1</a:t>
            </a:r>
            <a:r>
              <a:rPr dirty="0" smtClean="0" sz="350" spc="0">
                <a:latin typeface="Courier New"/>
                <a:cs typeface="Courier New"/>
              </a:rPr>
              <a:t>+</a:t>
            </a:r>
            <a:r>
              <a:rPr dirty="0" smtClean="0" sz="350" spc="8">
                <a:latin typeface="Courier New"/>
                <a:cs typeface="Courier New"/>
              </a:rPr>
              <a:t> </a:t>
            </a:r>
            <a:r>
              <a:rPr dirty="0" smtClean="0" sz="350" spc="-14">
                <a:latin typeface="Courier New"/>
                <a:cs typeface="Courier New"/>
              </a:rPr>
              <a:t>NUM_PHILOSOPHER</a:t>
            </a:r>
            <a:r>
              <a:rPr dirty="0" smtClean="0" sz="350" spc="0">
                <a:latin typeface="Courier New"/>
                <a:cs typeface="Courier New"/>
              </a:rPr>
              <a:t>S</a:t>
            </a:r>
            <a:r>
              <a:rPr dirty="0" smtClean="0" sz="350" spc="185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%</a:t>
            </a:r>
            <a:r>
              <a:rPr dirty="0" smtClean="0" sz="350" spc="-35">
                <a:latin typeface="Courier New"/>
                <a:cs typeface="Courier New"/>
              </a:rPr>
              <a:t> </a:t>
            </a:r>
            <a:r>
              <a:rPr dirty="0" smtClean="0" sz="350" spc="-14">
                <a:latin typeface="Courier New"/>
                <a:cs typeface="Courier New"/>
              </a:rPr>
              <a:t>NUM_PHILOSOPERS;</a:t>
            </a:r>
            <a:endParaRPr sz="350">
              <a:latin typeface="Courier New"/>
              <a:cs typeface="Courier New"/>
            </a:endParaRPr>
          </a:p>
          <a:p>
            <a:pPr marL="352425" marR="1459296" indent="19050">
              <a:lnSpc>
                <a:spcPts val="396"/>
              </a:lnSpc>
              <a:spcBef>
                <a:spcPts val="425"/>
              </a:spcBef>
            </a:pPr>
            <a:r>
              <a:rPr dirty="0" smtClean="0" sz="350" spc="-19">
                <a:latin typeface="Courier New"/>
                <a:cs typeface="Courier New"/>
              </a:rPr>
              <a:t>//gra</a:t>
            </a:r>
            <a:r>
              <a:rPr dirty="0" smtClean="0" sz="350" spc="0">
                <a:latin typeface="Courier New"/>
                <a:cs typeface="Courier New"/>
              </a:rPr>
              <a:t>b</a:t>
            </a:r>
            <a:r>
              <a:rPr dirty="0" smtClean="0" sz="350" spc="83">
                <a:latin typeface="Courier New"/>
                <a:cs typeface="Courier New"/>
              </a:rPr>
              <a:t> </a:t>
            </a:r>
            <a:r>
              <a:rPr dirty="0" smtClean="0" sz="350" spc="-19">
                <a:latin typeface="Courier New"/>
                <a:cs typeface="Courier New"/>
              </a:rPr>
              <a:t>chopsticks</a:t>
            </a:r>
            <a:r>
              <a:rPr dirty="0" smtClean="0" sz="350" spc="-19">
                <a:latin typeface="Courier New"/>
                <a:cs typeface="Courier New"/>
              </a:rPr>
              <a:t> </a:t>
            </a:r>
            <a:endParaRPr sz="350">
              <a:latin typeface="Courier New"/>
              <a:cs typeface="Courier New"/>
            </a:endParaRPr>
          </a:p>
          <a:p>
            <a:pPr marL="352425" marR="1459296">
              <a:lnSpc>
                <a:spcPts val="396"/>
              </a:lnSpc>
              <a:spcBef>
                <a:spcPts val="465"/>
              </a:spcBef>
            </a:pPr>
            <a:r>
              <a:rPr dirty="0" smtClean="0" sz="350" spc="-9">
                <a:latin typeface="Courier New"/>
                <a:cs typeface="Courier New"/>
              </a:rPr>
              <a:t>wait(chopstick[</a:t>
            </a:r>
            <a:r>
              <a:rPr dirty="0" smtClean="0" sz="350" spc="-25">
                <a:latin typeface="Courier New"/>
                <a:cs typeface="Courier New"/>
              </a:rPr>
              <a:t>leftChopstic</a:t>
            </a:r>
            <a:r>
              <a:rPr dirty="0" smtClean="0" sz="350" spc="50">
                <a:latin typeface="Courier New"/>
                <a:cs typeface="Courier New"/>
              </a:rPr>
              <a:t>k</a:t>
            </a:r>
            <a:r>
              <a:rPr dirty="0" smtClean="0" sz="350" spc="0">
                <a:latin typeface="Courier New"/>
                <a:cs typeface="Courier New"/>
              </a:rPr>
              <a:t>]);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endParaRPr sz="350">
              <a:latin typeface="Courier New"/>
              <a:cs typeface="Courier New"/>
            </a:endParaRPr>
          </a:p>
          <a:p>
            <a:pPr marL="352425" marR="1459296">
              <a:lnSpc>
                <a:spcPts val="396"/>
              </a:lnSpc>
              <a:spcBef>
                <a:spcPts val="465"/>
              </a:spcBef>
            </a:pPr>
            <a:r>
              <a:rPr dirty="0" smtClean="0" sz="350" spc="-14">
                <a:latin typeface="Courier New"/>
                <a:cs typeface="Courier New"/>
              </a:rPr>
              <a:t>eat();</a:t>
            </a:r>
            <a:endParaRPr sz="350">
              <a:latin typeface="Courier New"/>
              <a:cs typeface="Courier New"/>
            </a:endParaRPr>
          </a:p>
          <a:p>
            <a:pPr marL="371475">
              <a:lnSpc>
                <a:spcPts val="360"/>
              </a:lnSpc>
              <a:spcBef>
                <a:spcPts val="483"/>
              </a:spcBef>
            </a:pPr>
            <a:r>
              <a:rPr dirty="0" smtClean="0" baseline="8407" sz="525" spc="-9">
                <a:latin typeface="Courier New"/>
                <a:cs typeface="Courier New"/>
              </a:rPr>
              <a:t>//putdow</a:t>
            </a:r>
            <a:r>
              <a:rPr dirty="0" smtClean="0" baseline="8407" sz="525" spc="0">
                <a:latin typeface="Courier New"/>
                <a:cs typeface="Courier New"/>
              </a:rPr>
              <a:t>n</a:t>
            </a:r>
            <a:r>
              <a:rPr dirty="0" smtClean="0" baseline="8407" sz="525" spc="62">
                <a:latin typeface="Courier New"/>
                <a:cs typeface="Courier New"/>
              </a:rPr>
              <a:t> </a:t>
            </a:r>
            <a:r>
              <a:rPr dirty="0" smtClean="0" baseline="8407" sz="525" spc="-9">
                <a:latin typeface="Courier New"/>
                <a:cs typeface="Courier New"/>
              </a:rPr>
              <a:t>chopsticks</a:t>
            </a:r>
            <a:endParaRPr sz="350">
              <a:latin typeface="Courier New"/>
              <a:cs typeface="Courier New"/>
            </a:endParaRPr>
          </a:p>
          <a:p>
            <a:pPr marL="371475">
              <a:lnSpc>
                <a:spcPts val="395"/>
              </a:lnSpc>
              <a:spcBef>
                <a:spcPts val="51"/>
              </a:spcBef>
            </a:pPr>
            <a:r>
              <a:rPr dirty="0" smtClean="0" sz="350" spc="-19">
                <a:latin typeface="Courier New"/>
                <a:cs typeface="Courier New"/>
              </a:rPr>
              <a:t>signal(chopstick</a:t>
            </a:r>
            <a:r>
              <a:rPr dirty="0" smtClean="0" sz="350" spc="0">
                <a:latin typeface="Courier New"/>
                <a:cs typeface="Courier New"/>
              </a:rPr>
              <a:t>[</a:t>
            </a:r>
            <a:r>
              <a:rPr dirty="0" smtClean="0" sz="350" spc="94">
                <a:latin typeface="Courier New"/>
                <a:cs typeface="Courier New"/>
              </a:rPr>
              <a:t> </a:t>
            </a:r>
            <a:r>
              <a:rPr dirty="0" smtClean="0" sz="350" spc="-9">
                <a:latin typeface="Courier New"/>
                <a:cs typeface="Courier New"/>
              </a:rPr>
              <a:t>rightChopstick</a:t>
            </a:r>
            <a:r>
              <a:rPr dirty="0" smtClean="0" sz="350" spc="0">
                <a:latin typeface="Courier New"/>
                <a:cs typeface="Courier New"/>
              </a:rPr>
              <a:t>])</a:t>
            </a:r>
            <a:endParaRPr sz="350">
              <a:latin typeface="Courier New"/>
              <a:cs typeface="Courier New"/>
            </a:endParaRPr>
          </a:p>
          <a:p>
            <a:pPr marL="371475">
              <a:lnSpc>
                <a:spcPts val="380"/>
              </a:lnSpc>
            </a:pPr>
            <a:r>
              <a:rPr dirty="0" smtClean="0" baseline="8407" sz="525" spc="-19">
                <a:latin typeface="Courier New"/>
                <a:cs typeface="Courier New"/>
              </a:rPr>
              <a:t>signal(chopstick</a:t>
            </a:r>
            <a:r>
              <a:rPr dirty="0" smtClean="0" baseline="8407" sz="525" spc="0">
                <a:latin typeface="Courier New"/>
                <a:cs typeface="Courier New"/>
              </a:rPr>
              <a:t>[</a:t>
            </a:r>
            <a:r>
              <a:rPr dirty="0" smtClean="0" baseline="8407" sz="525" spc="94">
                <a:latin typeface="Courier New"/>
                <a:cs typeface="Courier New"/>
              </a:rPr>
              <a:t> </a:t>
            </a:r>
            <a:r>
              <a:rPr dirty="0" smtClean="0" baseline="8407" sz="525" spc="-9">
                <a:latin typeface="Courier New"/>
                <a:cs typeface="Courier New"/>
              </a:rPr>
              <a:t>leftChopstick</a:t>
            </a:r>
            <a:r>
              <a:rPr dirty="0" smtClean="0" baseline="8407" sz="525" spc="0">
                <a:latin typeface="Courier New"/>
                <a:cs typeface="Courier New"/>
              </a:rPr>
              <a:t>]);</a:t>
            </a:r>
            <a:endParaRPr sz="350">
              <a:latin typeface="Courier New"/>
              <a:cs typeface="Courier New"/>
            </a:endParaRPr>
          </a:p>
          <a:p>
            <a:pPr marL="285750">
              <a:lnSpc>
                <a:spcPct val="94401"/>
              </a:lnSpc>
              <a:spcBef>
                <a:spcPts val="859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  <a:p>
            <a:pPr marL="180975">
              <a:lnSpc>
                <a:spcPct val="94401"/>
              </a:lnSpc>
              <a:spcBef>
                <a:spcPts val="50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  <a:p>
            <a:pPr marR="104775" algn="r">
              <a:lnSpc>
                <a:spcPct val="100000"/>
              </a:lnSpc>
              <a:spcBef>
                <a:spcPts val="1143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1</a:t>
            </a:r>
            <a:r>
              <a:rPr dirty="0" smtClean="0" sz="350" spc="0">
                <a:latin typeface="Times New Roman"/>
                <a:cs typeface="Times New Roman"/>
              </a:rPr>
              <a:t>6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400" y="3562350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9" u="sng">
                <a:solidFill>
                  <a:srgbClr val="3333CC"/>
                </a:solidFill>
                <a:latin typeface="Comic Sans MS"/>
                <a:cs typeface="Comic Sans MS"/>
              </a:rPr>
              <a:t>Dining</a:t>
            </a:r>
            <a:r>
              <a:rPr dirty="0" smtClean="0" sz="1200" spc="25" u="sng">
                <a:solidFill>
                  <a:srgbClr val="3333CC"/>
                </a:solidFill>
                <a:latin typeface="Comic Sans MS"/>
                <a:cs typeface="Comic Sans MS"/>
              </a:rPr>
              <a:t>-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Philosophers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Problem</a:t>
            </a:r>
            <a:endParaRPr sz="1200">
              <a:latin typeface="Comic Sans MS"/>
              <a:cs typeface="Comic Sans MS"/>
            </a:endParaRPr>
          </a:p>
          <a:p>
            <a:pPr marL="95250" marR="1116308">
              <a:lnSpc>
                <a:spcPts val="566"/>
              </a:lnSpc>
              <a:spcBef>
                <a:spcPts val="958"/>
              </a:spcBef>
            </a:pPr>
            <a:r>
              <a:rPr dirty="0" smtClean="0" sz="500" spc="-4">
                <a:latin typeface="Courier New"/>
                <a:cs typeface="Courier New"/>
              </a:rPr>
              <a:t>//arra</a:t>
            </a:r>
            <a:r>
              <a:rPr dirty="0" smtClean="0" sz="500" spc="0">
                <a:latin typeface="Courier New"/>
                <a:cs typeface="Courier New"/>
              </a:rPr>
              <a:t>y</a:t>
            </a:r>
            <a:r>
              <a:rPr dirty="0" smtClean="0" sz="500" spc="124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o</a:t>
            </a:r>
            <a:r>
              <a:rPr dirty="0" smtClean="0" sz="500" spc="0">
                <a:latin typeface="Courier New"/>
                <a:cs typeface="Courier New"/>
              </a:rPr>
              <a:t>f</a:t>
            </a:r>
            <a:r>
              <a:rPr dirty="0" smtClean="0" sz="500" spc="49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chopsticks</a:t>
            </a:r>
            <a:r>
              <a:rPr dirty="0" smtClean="0" sz="500" spc="0">
                <a:latin typeface="Courier New"/>
                <a:cs typeface="Courier New"/>
              </a:rPr>
              <a:t>,</a:t>
            </a:r>
            <a:r>
              <a:rPr dirty="0" smtClean="0" sz="500" spc="184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chopstic</a:t>
            </a:r>
            <a:r>
              <a:rPr dirty="0" smtClean="0" sz="500" spc="0">
                <a:latin typeface="Courier New"/>
                <a:cs typeface="Courier New"/>
              </a:rPr>
              <a:t>k</a:t>
            </a:r>
            <a:r>
              <a:rPr dirty="0" smtClean="0" sz="500" spc="154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i</a:t>
            </a:r>
            <a:r>
              <a:rPr dirty="0" smtClean="0" sz="500" spc="34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is</a:t>
            </a:r>
            <a:r>
              <a:rPr dirty="0" smtClean="0" sz="500" spc="-4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t</a:t>
            </a:r>
            <a:r>
              <a:rPr dirty="0" smtClean="0" sz="500" spc="0">
                <a:latin typeface="Courier New"/>
                <a:cs typeface="Courier New"/>
              </a:rPr>
              <a:t>o</a:t>
            </a:r>
            <a:r>
              <a:rPr dirty="0" smtClean="0" sz="500" spc="39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th</a:t>
            </a:r>
            <a:r>
              <a:rPr dirty="0" smtClean="0" sz="500" spc="0">
                <a:latin typeface="Courier New"/>
                <a:cs typeface="Courier New"/>
              </a:rPr>
              <a:t>e</a:t>
            </a:r>
            <a:r>
              <a:rPr dirty="0" smtClean="0" sz="500" spc="54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righ</a:t>
            </a:r>
            <a:r>
              <a:rPr dirty="0" smtClean="0" sz="500" spc="0">
                <a:latin typeface="Courier New"/>
                <a:cs typeface="Courier New"/>
              </a:rPr>
              <a:t>t</a:t>
            </a:r>
            <a:r>
              <a:rPr dirty="0" smtClean="0" sz="500" spc="84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o</a:t>
            </a:r>
            <a:r>
              <a:rPr dirty="0" smtClean="0" sz="500" spc="0">
                <a:latin typeface="Courier New"/>
                <a:cs typeface="Courier New"/>
              </a:rPr>
              <a:t>f</a:t>
            </a:r>
            <a:r>
              <a:rPr dirty="0" smtClean="0" sz="500" spc="39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philosophe</a:t>
            </a:r>
            <a:r>
              <a:rPr dirty="0" smtClean="0" sz="500" spc="0">
                <a:latin typeface="Courier New"/>
                <a:cs typeface="Courier New"/>
              </a:rPr>
              <a:t>r</a:t>
            </a:r>
            <a:r>
              <a:rPr dirty="0" smtClean="0" sz="500" spc="174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i</a:t>
            </a:r>
            <a:endParaRPr sz="500">
              <a:latin typeface="Courier New"/>
              <a:cs typeface="Courier New"/>
            </a:endParaRPr>
          </a:p>
          <a:p>
            <a:pPr marL="95250" marR="1475125">
              <a:lnSpc>
                <a:spcPts val="566"/>
              </a:lnSpc>
              <a:spcBef>
                <a:spcPts val="408"/>
              </a:spcBef>
            </a:pPr>
            <a:r>
              <a:rPr dirty="0" smtClean="0" sz="500" spc="-9">
                <a:latin typeface="Courier New"/>
                <a:cs typeface="Courier New"/>
              </a:rPr>
              <a:t>semaphore_t</a:t>
            </a:r>
            <a:r>
              <a:rPr dirty="0" smtClean="0" sz="500" spc="-9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chopstick[NUM_PHILOSOPHERS];</a:t>
            </a:r>
            <a:endParaRPr sz="500">
              <a:latin typeface="Courier New"/>
              <a:cs typeface="Courier New"/>
            </a:endParaRPr>
          </a:p>
          <a:p>
            <a:pPr marL="95250">
              <a:lnSpc>
                <a:spcPct val="94401"/>
              </a:lnSpc>
              <a:spcBef>
                <a:spcPts val="1383"/>
              </a:spcBef>
            </a:pPr>
            <a:r>
              <a:rPr dirty="0" smtClean="0" sz="500" spc="-9">
                <a:latin typeface="Courier New"/>
                <a:cs typeface="Courier New"/>
              </a:rPr>
              <a:t>voi</a:t>
            </a:r>
            <a:r>
              <a:rPr dirty="0" smtClean="0" sz="500" spc="0">
                <a:latin typeface="Courier New"/>
                <a:cs typeface="Courier New"/>
              </a:rPr>
              <a:t>d</a:t>
            </a:r>
            <a:r>
              <a:rPr dirty="0" smtClean="0" sz="500" spc="50">
                <a:latin typeface="Courier New"/>
                <a:cs typeface="Courier New"/>
              </a:rPr>
              <a:t> </a:t>
            </a:r>
            <a:r>
              <a:rPr dirty="0" smtClean="0" sz="500" spc="-9">
                <a:latin typeface="Courier New"/>
                <a:cs typeface="Courier New"/>
              </a:rPr>
              <a:t>init(){</a:t>
            </a:r>
            <a:endParaRPr sz="500">
              <a:latin typeface="Courier New"/>
              <a:cs typeface="Courier New"/>
            </a:endParaRPr>
          </a:p>
          <a:p>
            <a:pPr marL="209550">
              <a:lnSpc>
                <a:spcPct val="94401"/>
              </a:lnSpc>
              <a:spcBef>
                <a:spcPts val="405"/>
              </a:spcBef>
            </a:pPr>
            <a:r>
              <a:rPr dirty="0" smtClean="0" sz="500" spc="-4">
                <a:latin typeface="Courier New"/>
                <a:cs typeface="Courier New"/>
              </a:rPr>
              <a:t>fo</a:t>
            </a:r>
            <a:r>
              <a:rPr dirty="0" smtClean="0" sz="500" spc="0">
                <a:latin typeface="Courier New"/>
                <a:cs typeface="Courier New"/>
              </a:rPr>
              <a:t>r</a:t>
            </a:r>
            <a:r>
              <a:rPr dirty="0" smtClean="0" sz="500" spc="59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(i=0</a:t>
            </a:r>
            <a:r>
              <a:rPr dirty="0" smtClean="0" sz="500" spc="0">
                <a:latin typeface="Courier New"/>
                <a:cs typeface="Courier New"/>
              </a:rPr>
              <a:t>;</a:t>
            </a:r>
            <a:r>
              <a:rPr dirty="0" smtClean="0" sz="500" spc="89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i</a:t>
            </a:r>
            <a:r>
              <a:rPr dirty="0" smtClean="0" sz="500" spc="0">
                <a:latin typeface="Courier New"/>
                <a:cs typeface="Courier New"/>
              </a:rPr>
              <a:t>&lt;</a:t>
            </a:r>
            <a:r>
              <a:rPr dirty="0" smtClean="0" sz="500" spc="44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NUM_PHILOSOPHERS</a:t>
            </a:r>
            <a:r>
              <a:rPr dirty="0" smtClean="0" sz="500" spc="0">
                <a:latin typeface="Courier New"/>
                <a:cs typeface="Courier New"/>
              </a:rPr>
              <a:t>;</a:t>
            </a:r>
            <a:r>
              <a:rPr dirty="0" smtClean="0" sz="500" spc="269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i++)</a:t>
            </a:r>
            <a:endParaRPr sz="500">
              <a:latin typeface="Courier New"/>
              <a:cs typeface="Courier New"/>
            </a:endParaRPr>
          </a:p>
          <a:p>
            <a:pPr marL="361950">
              <a:lnSpc>
                <a:spcPct val="94401"/>
              </a:lnSpc>
              <a:spcBef>
                <a:spcPts val="330"/>
              </a:spcBef>
            </a:pPr>
            <a:r>
              <a:rPr dirty="0" smtClean="0" sz="500" spc="-9">
                <a:latin typeface="Courier New"/>
                <a:cs typeface="Courier New"/>
              </a:rPr>
              <a:t>chopstick[i].valu</a:t>
            </a:r>
            <a:r>
              <a:rPr dirty="0" smtClean="0" sz="500" spc="0">
                <a:latin typeface="Courier New"/>
                <a:cs typeface="Courier New"/>
              </a:rPr>
              <a:t>e</a:t>
            </a:r>
            <a:r>
              <a:rPr dirty="0" smtClean="0" sz="500" spc="29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=</a:t>
            </a:r>
            <a:r>
              <a:rPr dirty="0" smtClean="0" sz="500" spc="44">
                <a:latin typeface="Courier New"/>
                <a:cs typeface="Courier New"/>
              </a:rPr>
              <a:t> </a:t>
            </a:r>
            <a:r>
              <a:rPr dirty="0" smtClean="0" sz="500" spc="-9">
                <a:latin typeface="Courier New"/>
                <a:cs typeface="Courier New"/>
              </a:rPr>
              <a:t>1;</a:t>
            </a:r>
            <a:endParaRPr sz="500">
              <a:latin typeface="Courier New"/>
              <a:cs typeface="Courier New"/>
            </a:endParaRPr>
          </a:p>
          <a:p>
            <a:pPr marL="95250">
              <a:lnSpc>
                <a:spcPct val="94401"/>
              </a:lnSpc>
              <a:spcBef>
                <a:spcPts val="405"/>
              </a:spcBef>
            </a:pPr>
            <a:r>
              <a:rPr dirty="0" smtClean="0" sz="500" spc="0"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 marR="114300" algn="r">
              <a:lnSpc>
                <a:spcPct val="100000"/>
              </a:lnSpc>
              <a:spcBef>
                <a:spcPts val="3948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1</a:t>
            </a:r>
            <a:r>
              <a:rPr dirty="0" smtClean="0" sz="350" spc="0">
                <a:latin typeface="Times New Roman"/>
                <a:cs typeface="Times New Roman"/>
              </a:rPr>
              <a:t>5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29025" y="904875"/>
            <a:ext cx="2676525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29" u="sng">
                <a:solidFill>
                  <a:srgbClr val="3333CC"/>
                </a:solidFill>
                <a:latin typeface="Comic Sans MS"/>
                <a:cs typeface="Comic Sans MS"/>
              </a:rPr>
              <a:t>Remember</a:t>
            </a:r>
            <a:endParaRPr sz="1200">
              <a:latin typeface="Comic Sans MS"/>
              <a:cs typeface="Comic Sans MS"/>
            </a:endParaRPr>
          </a:p>
          <a:p>
            <a:pPr marL="285750" marR="411361" indent="-104775">
              <a:lnSpc>
                <a:spcPts val="830"/>
              </a:lnSpc>
              <a:spcBef>
                <a:spcPts val="1277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Gam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95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i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44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obtainin</a:t>
            </a:r>
            <a:r>
              <a:rPr dirty="0" smtClean="0" sz="650" spc="0">
                <a:latin typeface="Comic Sans MS"/>
                <a:cs typeface="Comic Sans MS"/>
              </a:rPr>
              <a:t>g</a:t>
            </a:r>
            <a:r>
              <a:rPr dirty="0" smtClean="0" sz="650" spc="112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highes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97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possibl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26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degre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93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of</a:t>
            </a:r>
            <a:r>
              <a:rPr dirty="0" smtClean="0" sz="650" spc="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concurrenc</a:t>
            </a:r>
            <a:r>
              <a:rPr dirty="0" smtClean="0" sz="650" spc="0">
                <a:latin typeface="Comic Sans MS"/>
                <a:cs typeface="Comic Sans MS"/>
              </a:rPr>
              <a:t>y</a:t>
            </a:r>
            <a:r>
              <a:rPr dirty="0" smtClean="0" sz="650" spc="0">
                <a:latin typeface="Comic Sans MS"/>
                <a:cs typeface="Comic Sans MS"/>
              </a:rPr>
              <a:t> </a:t>
            </a:r>
            <a:r>
              <a:rPr dirty="0" smtClean="0" sz="650" spc="180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an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71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greates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118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eas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94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o</a:t>
            </a:r>
            <a:r>
              <a:rPr dirty="0" smtClean="0" sz="650" spc="0">
                <a:latin typeface="Comic Sans MS"/>
                <a:cs typeface="Comic Sans MS"/>
              </a:rPr>
              <a:t>f</a:t>
            </a:r>
            <a:r>
              <a:rPr dirty="0" smtClean="0" sz="650" spc="60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programming</a:t>
            </a:r>
            <a:endParaRPr sz="65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123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Tension</a:t>
            </a:r>
            <a:endParaRPr sz="650">
              <a:latin typeface="Comic Sans MS"/>
              <a:cs typeface="Comic Sans MS"/>
            </a:endParaRPr>
          </a:p>
          <a:p>
            <a:pPr marL="314325">
              <a:lnSpc>
                <a:spcPts val="810"/>
              </a:lnSpc>
              <a:spcBef>
                <a:spcPts val="40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Simpl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an</a:t>
            </a:r>
            <a:r>
              <a:rPr dirty="0" smtClean="0" sz="600" spc="0">
                <a:latin typeface="Comic Sans MS"/>
                <a:cs typeface="Comic Sans MS"/>
              </a:rPr>
              <a:t>d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hig</a:t>
            </a:r>
            <a:r>
              <a:rPr dirty="0" smtClean="0" sz="600" spc="0">
                <a:latin typeface="Comic Sans MS"/>
                <a:cs typeface="Comic Sans MS"/>
              </a:rPr>
              <a:t>h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granularit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lock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eas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program</a:t>
            </a:r>
            <a:endParaRPr sz="600">
              <a:latin typeface="Comic Sans MS"/>
              <a:cs typeface="Comic Sans MS"/>
            </a:endParaRPr>
          </a:p>
          <a:p>
            <a:pPr marL="314325">
              <a:lnSpc>
                <a:spcPts val="825"/>
              </a:lnSpc>
              <a:spcBef>
                <a:spcPts val="0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Simpl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an</a:t>
            </a:r>
            <a:r>
              <a:rPr dirty="0" smtClean="0" sz="600" spc="0">
                <a:latin typeface="Comic Sans MS"/>
                <a:cs typeface="Comic Sans MS"/>
              </a:rPr>
              <a:t>d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hig</a:t>
            </a:r>
            <a:r>
              <a:rPr dirty="0" smtClean="0" sz="600" spc="0">
                <a:latin typeface="Comic Sans MS"/>
                <a:cs typeface="Comic Sans MS"/>
              </a:rPr>
              <a:t>h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granularit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lock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ofte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mean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low</a:t>
            </a:r>
            <a:endParaRPr sz="60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792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Gettin</a:t>
            </a:r>
            <a:r>
              <a:rPr dirty="0" smtClean="0" sz="650" spc="0">
                <a:latin typeface="Comic Sans MS"/>
                <a:cs typeface="Comic Sans MS"/>
              </a:rPr>
              <a:t>g</a:t>
            </a:r>
            <a:r>
              <a:rPr dirty="0" smtClean="0" sz="650" spc="133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mor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10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concurrenc</a:t>
            </a:r>
            <a:r>
              <a:rPr dirty="0" smtClean="0" sz="650" spc="0">
                <a:latin typeface="Comic Sans MS"/>
                <a:cs typeface="Comic Sans MS"/>
              </a:rPr>
              <a:t>y</a:t>
            </a:r>
            <a:r>
              <a:rPr dirty="0" smtClean="0" sz="650" spc="175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means</a:t>
            </a:r>
            <a:endParaRPr sz="650">
              <a:latin typeface="Comic Sans MS"/>
              <a:cs typeface="Comic Sans MS"/>
            </a:endParaRPr>
          </a:p>
          <a:p>
            <a:pPr marL="314325">
              <a:lnSpc>
                <a:spcPct val="116129"/>
              </a:lnSpc>
              <a:spcBef>
                <a:spcPts val="50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Finer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granularity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locks,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more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locks</a:t>
            </a:r>
            <a:endParaRPr sz="600">
              <a:latin typeface="Comic Sans MS"/>
              <a:cs typeface="Comic Sans MS"/>
            </a:endParaRPr>
          </a:p>
          <a:p>
            <a:pPr marL="314325">
              <a:lnSpc>
                <a:spcPts val="825"/>
              </a:lnSpc>
              <a:spcBef>
                <a:spcPts val="41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Mor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complicate</a:t>
            </a:r>
            <a:r>
              <a:rPr dirty="0" smtClean="0" sz="600" spc="0">
                <a:latin typeface="Comic Sans MS"/>
                <a:cs typeface="Comic Sans MS"/>
              </a:rPr>
              <a:t>d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rule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fo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concurren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access</a:t>
            </a:r>
            <a:endParaRPr sz="600">
              <a:latin typeface="Comic Sans MS"/>
              <a:cs typeface="Comic Sans MS"/>
            </a:endParaRPr>
          </a:p>
          <a:p>
            <a:pPr marR="104775" algn="r">
              <a:lnSpc>
                <a:spcPct val="100000"/>
              </a:lnSpc>
              <a:spcBef>
                <a:spcPts val="3357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1</a:t>
            </a:r>
            <a:r>
              <a:rPr dirty="0" smtClean="0" sz="350" spc="0">
                <a:latin typeface="Times New Roman"/>
                <a:cs typeface="Times New Roman"/>
              </a:rPr>
              <a:t>4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3400" y="904875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0975" marR="206264">
              <a:lnSpc>
                <a:spcPts val="1430"/>
              </a:lnSpc>
              <a:spcBef>
                <a:spcPts val="501"/>
              </a:spcBef>
            </a:pP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Semaphore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Solution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Readers/</a:t>
            </a:r>
            <a:r>
              <a:rPr dirty="0" smtClean="0" sz="1200" spc="-14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Writers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(Fair</a:t>
            </a:r>
            <a:r>
              <a:rPr dirty="0" smtClean="0" sz="1200" spc="0" u="sng">
                <a:solidFill>
                  <a:srgbClr val="3333CC"/>
                </a:solidFill>
                <a:latin typeface="Comic Sans MS"/>
                <a:cs typeface="Comic Sans MS"/>
              </a:rPr>
              <a:t>)</a:t>
            </a:r>
            <a:r>
              <a:rPr dirty="0" smtClean="0" sz="1200" spc="0">
                <a:solidFill>
                  <a:srgbClr val="3333CC"/>
                </a:solidFill>
                <a:latin typeface="Comic Sans MS"/>
                <a:cs typeface="Comic Sans MS"/>
              </a:rPr>
              <a:t>    </a:t>
            </a:r>
            <a:r>
              <a:rPr dirty="0" smtClean="0" sz="1200" spc="84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baseline="50443" sz="525" spc="-9">
                <a:latin typeface="Courier New"/>
                <a:cs typeface="Courier New"/>
              </a:rPr>
              <a:t>voi</a:t>
            </a:r>
            <a:r>
              <a:rPr dirty="0" smtClean="0" baseline="50443" sz="525" spc="0">
                <a:latin typeface="Courier New"/>
                <a:cs typeface="Courier New"/>
              </a:rPr>
              <a:t>d</a:t>
            </a:r>
            <a:r>
              <a:rPr dirty="0" smtClean="0" baseline="50443" sz="525" spc="63">
                <a:latin typeface="Courier New"/>
                <a:cs typeface="Courier New"/>
              </a:rPr>
              <a:t> </a:t>
            </a:r>
            <a:r>
              <a:rPr dirty="0" smtClean="0" baseline="50443" sz="525" spc="-9">
                <a:latin typeface="Courier New"/>
                <a:cs typeface="Courier New"/>
              </a:rPr>
              <a:t>reade</a:t>
            </a:r>
            <a:r>
              <a:rPr dirty="0" smtClean="0" baseline="50443" sz="525" spc="0">
                <a:latin typeface="Courier New"/>
                <a:cs typeface="Courier New"/>
              </a:rPr>
              <a:t>r</a:t>
            </a:r>
            <a:r>
              <a:rPr dirty="0" smtClean="0" baseline="50443" sz="525" spc="93">
                <a:latin typeface="Courier New"/>
                <a:cs typeface="Courier New"/>
              </a:rPr>
              <a:t> </a:t>
            </a:r>
            <a:r>
              <a:rPr dirty="0" smtClean="0" baseline="50443" sz="525" spc="-9">
                <a:latin typeface="Courier New"/>
                <a:cs typeface="Courier New"/>
              </a:rPr>
              <a:t>(){</a:t>
            </a:r>
            <a:endParaRPr sz="350">
              <a:latin typeface="Courier New"/>
              <a:cs typeface="Courier New"/>
            </a:endParaRPr>
          </a:p>
          <a:p>
            <a:pPr marL="400050" marR="594426" indent="-104775">
              <a:lnSpc>
                <a:spcPts val="546"/>
              </a:lnSpc>
              <a:spcBef>
                <a:spcPts val="323"/>
              </a:spcBef>
              <a:tabLst>
                <a:tab pos="1511300" algn="l"/>
              </a:tabLst>
            </a:pPr>
            <a:r>
              <a:rPr dirty="0" smtClean="0" baseline="25221" sz="525" spc="9">
                <a:latin typeface="Courier New"/>
                <a:cs typeface="Courier New"/>
              </a:rPr>
              <a:t>voi</a:t>
            </a:r>
            <a:r>
              <a:rPr dirty="0" smtClean="0" baseline="25221" sz="525" spc="0">
                <a:latin typeface="Courier New"/>
                <a:cs typeface="Courier New"/>
              </a:rPr>
              <a:t>d</a:t>
            </a:r>
            <a:r>
              <a:rPr dirty="0" smtClean="0" baseline="25221" sz="525" spc="123">
                <a:latin typeface="Courier New"/>
                <a:cs typeface="Courier New"/>
              </a:rPr>
              <a:t> </a:t>
            </a:r>
            <a:r>
              <a:rPr dirty="0" smtClean="0" baseline="25221" sz="525" spc="9">
                <a:latin typeface="Courier New"/>
                <a:cs typeface="Courier New"/>
              </a:rPr>
              <a:t>write</a:t>
            </a:r>
            <a:r>
              <a:rPr dirty="0" smtClean="0" baseline="25221" sz="525" spc="0">
                <a:latin typeface="Courier New"/>
                <a:cs typeface="Courier New"/>
              </a:rPr>
              <a:t>r</a:t>
            </a:r>
            <a:r>
              <a:rPr dirty="0" smtClean="0" baseline="25221" sz="525" spc="153">
                <a:latin typeface="Courier New"/>
                <a:cs typeface="Courier New"/>
              </a:rPr>
              <a:t> </a:t>
            </a:r>
            <a:r>
              <a:rPr dirty="0" smtClean="0" baseline="25221" sz="525" spc="9">
                <a:latin typeface="Courier New"/>
                <a:cs typeface="Courier New"/>
              </a:rPr>
              <a:t>()</a:t>
            </a:r>
            <a:r>
              <a:rPr dirty="0" smtClean="0" baseline="25221" sz="525" spc="0">
                <a:latin typeface="Courier New"/>
                <a:cs typeface="Courier New"/>
              </a:rPr>
              <a:t>{</a:t>
            </a:r>
            <a:r>
              <a:rPr dirty="0" smtClean="0" baseline="25221" sz="525" spc="0">
                <a:latin typeface="Courier New"/>
                <a:cs typeface="Courier New"/>
              </a:rPr>
              <a:t>                           </a:t>
            </a:r>
            <a:r>
              <a:rPr dirty="0" smtClean="0" baseline="25221" sz="525" spc="24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if</a:t>
            </a:r>
            <a:r>
              <a:rPr dirty="0" smtClean="0" sz="350" spc="44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(</a:t>
            </a:r>
            <a:r>
              <a:rPr dirty="0" smtClean="0" sz="350" spc="-75">
                <a:latin typeface="Courier New"/>
                <a:cs typeface="Courier New"/>
              </a:rPr>
              <a:t>!</a:t>
            </a:r>
            <a:r>
              <a:rPr dirty="0" smtClean="0" sz="350" spc="-9">
                <a:latin typeface="Courier New"/>
                <a:cs typeface="Courier New"/>
              </a:rPr>
              <a:t>readInProgress</a:t>
            </a:r>
            <a:r>
              <a:rPr dirty="0" smtClean="0" sz="350" spc="0">
                <a:latin typeface="Courier New"/>
                <a:cs typeface="Courier New"/>
              </a:rPr>
              <a:t>)</a:t>
            </a:r>
            <a:r>
              <a:rPr dirty="0" smtClean="0" sz="350" spc="149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{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9">
                <a:latin typeface="Courier New"/>
                <a:cs typeface="Courier New"/>
              </a:rPr>
              <a:t>wai</a:t>
            </a:r>
            <a:r>
              <a:rPr dirty="0" smtClean="0" sz="350" spc="0">
                <a:latin typeface="Courier New"/>
                <a:cs typeface="Courier New"/>
              </a:rPr>
              <a:t>t</a:t>
            </a:r>
            <a:r>
              <a:rPr dirty="0" smtClean="0" sz="350" spc="158">
                <a:latin typeface="Courier New"/>
                <a:cs typeface="Courier New"/>
              </a:rPr>
              <a:t> </a:t>
            </a:r>
            <a:r>
              <a:rPr dirty="0" smtClean="0" sz="350" spc="9">
                <a:latin typeface="Courier New"/>
                <a:cs typeface="Courier New"/>
              </a:rPr>
              <a:t>(incoming)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0">
                <a:latin typeface="Courier New"/>
                <a:cs typeface="Courier New"/>
              </a:rPr>
              <a:t>                          </a:t>
            </a:r>
            <a:r>
              <a:rPr dirty="0" smtClean="0" sz="350" spc="126">
                <a:latin typeface="Courier New"/>
                <a:cs typeface="Courier New"/>
              </a:rPr>
              <a:t> </a:t>
            </a:r>
            <a:r>
              <a:rPr dirty="0" smtClean="0" sz="350" spc="-4">
                <a:latin typeface="Courier New"/>
                <a:cs typeface="Courier New"/>
              </a:rPr>
              <a:t>wai</a:t>
            </a:r>
            <a:r>
              <a:rPr dirty="0" smtClean="0" sz="350" spc="0">
                <a:latin typeface="Courier New"/>
                <a:cs typeface="Courier New"/>
              </a:rPr>
              <a:t>t</a:t>
            </a:r>
            <a:r>
              <a:rPr dirty="0" smtClean="0" sz="350" spc="-6">
                <a:latin typeface="Courier New"/>
                <a:cs typeface="Courier New"/>
              </a:rPr>
              <a:t> </a:t>
            </a:r>
            <a:r>
              <a:rPr dirty="0" smtClean="0" sz="350" spc="-4">
                <a:latin typeface="Courier New"/>
                <a:cs typeface="Courier New"/>
              </a:rPr>
              <a:t>(next);</a:t>
            </a:r>
            <a:r>
              <a:rPr dirty="0" smtClean="0" sz="350" spc="-4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wait(next)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-48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	</a:t>
            </a:r>
            <a:r>
              <a:rPr dirty="0" smtClean="0" baseline="25221" sz="525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  <a:p>
            <a:pPr marL="1495425">
              <a:lnSpc>
                <a:spcPts val="395"/>
              </a:lnSpc>
              <a:spcBef>
                <a:spcPts val="448"/>
              </a:spcBef>
            </a:pPr>
            <a:r>
              <a:rPr dirty="0" smtClean="0" sz="350">
                <a:latin typeface="Courier New"/>
                <a:cs typeface="Courier New"/>
              </a:rPr>
              <a:t>wait</a:t>
            </a:r>
            <a:r>
              <a:rPr dirty="0" smtClean="0" sz="350" spc="-75">
                <a:latin typeface="Courier New"/>
                <a:cs typeface="Courier New"/>
              </a:rPr>
              <a:t>(</a:t>
            </a:r>
            <a:r>
              <a:rPr dirty="0" smtClean="0" sz="350" spc="-9">
                <a:latin typeface="Courier New"/>
                <a:cs typeface="Courier New"/>
              </a:rPr>
              <a:t>readCountMutex</a:t>
            </a:r>
            <a:r>
              <a:rPr dirty="0" smtClean="0" sz="350" spc="0">
                <a:latin typeface="Courier New"/>
                <a:cs typeface="Courier New"/>
              </a:rPr>
              <a:t>);</a:t>
            </a:r>
            <a:endParaRPr sz="350">
              <a:latin typeface="Courier New"/>
              <a:cs typeface="Courier New"/>
            </a:endParaRPr>
          </a:p>
          <a:p>
            <a:pPr marL="381000">
              <a:lnSpc>
                <a:spcPts val="446"/>
              </a:lnSpc>
            </a:pPr>
            <a:r>
              <a:rPr dirty="0" smtClean="0" baseline="8407" sz="525" spc="25">
                <a:latin typeface="Courier New"/>
                <a:cs typeface="Courier New"/>
              </a:rPr>
              <a:t>writeInProgres</a:t>
            </a:r>
            <a:r>
              <a:rPr dirty="0" smtClean="0" baseline="8407" sz="525" spc="0">
                <a:latin typeface="Courier New"/>
                <a:cs typeface="Courier New"/>
              </a:rPr>
              <a:t>s</a:t>
            </a:r>
            <a:r>
              <a:rPr dirty="0" smtClean="0" baseline="8407" sz="525" spc="185">
                <a:latin typeface="Courier New"/>
                <a:cs typeface="Courier New"/>
              </a:rPr>
              <a:t> </a:t>
            </a:r>
            <a:r>
              <a:rPr dirty="0" smtClean="0" baseline="8407" sz="525" spc="0">
                <a:latin typeface="Courier New"/>
                <a:cs typeface="Courier New"/>
              </a:rPr>
              <a:t>=</a:t>
            </a:r>
            <a:r>
              <a:rPr dirty="0" smtClean="0" baseline="8407" sz="525" spc="129">
                <a:latin typeface="Courier New"/>
                <a:cs typeface="Courier New"/>
              </a:rPr>
              <a:t> </a:t>
            </a:r>
            <a:r>
              <a:rPr dirty="0" smtClean="0" baseline="8407" sz="525" spc="25">
                <a:latin typeface="Courier New"/>
                <a:cs typeface="Courier New"/>
              </a:rPr>
              <a:t>TRUE</a:t>
            </a:r>
            <a:r>
              <a:rPr dirty="0" smtClean="0" baseline="8407" sz="525" spc="0">
                <a:latin typeface="Courier New"/>
                <a:cs typeface="Courier New"/>
              </a:rPr>
              <a:t>;</a:t>
            </a:r>
            <a:r>
              <a:rPr dirty="0" smtClean="0" baseline="8407" sz="525" spc="0">
                <a:latin typeface="Courier New"/>
                <a:cs typeface="Courier New"/>
              </a:rPr>
              <a:t>              </a:t>
            </a:r>
            <a:r>
              <a:rPr dirty="0" smtClean="0" baseline="8407" sz="525" spc="23">
                <a:latin typeface="Courier New"/>
                <a:cs typeface="Courier New"/>
              </a:rPr>
              <a:t> </a:t>
            </a:r>
            <a:r>
              <a:rPr dirty="0" smtClean="0" sz="350" spc="-9">
                <a:latin typeface="Courier New"/>
                <a:cs typeface="Courier New"/>
              </a:rPr>
              <a:t>numReader</a:t>
            </a:r>
            <a:r>
              <a:rPr dirty="0" smtClean="0" sz="350" spc="-84">
                <a:latin typeface="Courier New"/>
                <a:cs typeface="Courier New"/>
              </a:rPr>
              <a:t>s</a:t>
            </a:r>
            <a:r>
              <a:rPr dirty="0" smtClean="0" sz="350" spc="0">
                <a:latin typeface="Courier New"/>
                <a:cs typeface="Courier New"/>
              </a:rPr>
              <a:t>++;</a:t>
            </a:r>
            <a:endParaRPr sz="350">
              <a:latin typeface="Courier New"/>
              <a:cs typeface="Courier New"/>
            </a:endParaRPr>
          </a:p>
          <a:p>
            <a:pPr marL="1495425">
              <a:lnSpc>
                <a:spcPct val="94401"/>
              </a:lnSpc>
              <a:spcBef>
                <a:spcPts val="50"/>
              </a:spcBef>
            </a:pPr>
            <a:r>
              <a:rPr dirty="0" smtClean="0" sz="350" spc="-9">
                <a:latin typeface="Courier New"/>
                <a:cs typeface="Courier New"/>
              </a:rPr>
              <a:t>readInProgres</a:t>
            </a:r>
            <a:r>
              <a:rPr dirty="0" smtClean="0" sz="350" spc="0">
                <a:latin typeface="Courier New"/>
                <a:cs typeface="Courier New"/>
              </a:rPr>
              <a:t>s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-10">
                <a:latin typeface="Courier New"/>
                <a:cs typeface="Courier New"/>
              </a:rPr>
              <a:t> </a:t>
            </a:r>
            <a:r>
              <a:rPr dirty="0" smtClean="0" sz="350" spc="-39">
                <a:latin typeface="Courier New"/>
                <a:cs typeface="Courier New"/>
              </a:rPr>
              <a:t>TRUE;</a:t>
            </a:r>
            <a:endParaRPr sz="350">
              <a:latin typeface="Courier New"/>
              <a:cs typeface="Courier New"/>
            </a:endParaRPr>
          </a:p>
          <a:p>
            <a:pPr marL="381000">
              <a:lnSpc>
                <a:spcPts val="396"/>
              </a:lnSpc>
              <a:spcBef>
                <a:spcPts val="50"/>
              </a:spcBef>
            </a:pPr>
            <a:r>
              <a:rPr dirty="0" smtClean="0" baseline="-42036" sz="525" spc="14">
                <a:latin typeface="Courier New"/>
                <a:cs typeface="Courier New"/>
              </a:rPr>
              <a:t>//Le</a:t>
            </a:r>
            <a:r>
              <a:rPr dirty="0" smtClean="0" baseline="-42036" sz="525" spc="0">
                <a:latin typeface="Courier New"/>
                <a:cs typeface="Courier New"/>
              </a:rPr>
              <a:t>t</a:t>
            </a:r>
            <a:r>
              <a:rPr dirty="0" smtClean="0" baseline="-42036" sz="525" spc="138">
                <a:latin typeface="Courier New"/>
                <a:cs typeface="Courier New"/>
              </a:rPr>
              <a:t> </a:t>
            </a:r>
            <a:r>
              <a:rPr dirty="0" smtClean="0" baseline="-42036" sz="525" spc="14">
                <a:latin typeface="Courier New"/>
                <a:cs typeface="Courier New"/>
              </a:rPr>
              <a:t>someon</a:t>
            </a:r>
            <a:r>
              <a:rPr dirty="0" smtClean="0" baseline="-42036" sz="525" spc="0">
                <a:latin typeface="Courier New"/>
                <a:cs typeface="Courier New"/>
              </a:rPr>
              <a:t>e</a:t>
            </a:r>
            <a:r>
              <a:rPr dirty="0" smtClean="0" baseline="-42036" sz="525" spc="167">
                <a:latin typeface="Courier New"/>
                <a:cs typeface="Courier New"/>
              </a:rPr>
              <a:t> </a:t>
            </a:r>
            <a:r>
              <a:rPr dirty="0" smtClean="0" baseline="-42036" sz="525" spc="14">
                <a:latin typeface="Courier New"/>
                <a:cs typeface="Courier New"/>
              </a:rPr>
              <a:t>els</a:t>
            </a:r>
            <a:r>
              <a:rPr dirty="0" smtClean="0" baseline="-42036" sz="525" spc="0">
                <a:latin typeface="Courier New"/>
                <a:cs typeface="Courier New"/>
              </a:rPr>
              <a:t>e</a:t>
            </a:r>
            <a:r>
              <a:rPr dirty="0" smtClean="0" baseline="-42036" sz="525" spc="123">
                <a:latin typeface="Courier New"/>
                <a:cs typeface="Courier New"/>
              </a:rPr>
              <a:t> </a:t>
            </a:r>
            <a:r>
              <a:rPr dirty="0" smtClean="0" baseline="-42036" sz="525" spc="14">
                <a:latin typeface="Courier New"/>
                <a:cs typeface="Courier New"/>
              </a:rPr>
              <a:t>mov</a:t>
            </a:r>
            <a:r>
              <a:rPr dirty="0" smtClean="0" baseline="-42036" sz="525" spc="0">
                <a:latin typeface="Courier New"/>
                <a:cs typeface="Courier New"/>
              </a:rPr>
              <a:t>e</a:t>
            </a:r>
            <a:r>
              <a:rPr dirty="0" smtClean="0" baseline="-42036" sz="525" spc="123">
                <a:latin typeface="Courier New"/>
                <a:cs typeface="Courier New"/>
              </a:rPr>
              <a:t> </a:t>
            </a:r>
            <a:r>
              <a:rPr dirty="0" smtClean="0" baseline="-42036" sz="525" spc="14">
                <a:latin typeface="Courier New"/>
                <a:cs typeface="Courier New"/>
              </a:rPr>
              <a:t>o</a:t>
            </a:r>
            <a:r>
              <a:rPr dirty="0" smtClean="0" baseline="-42036" sz="525" spc="0">
                <a:latin typeface="Courier New"/>
                <a:cs typeface="Courier New"/>
              </a:rPr>
              <a:t>n</a:t>
            </a:r>
            <a:r>
              <a:rPr dirty="0" smtClean="0" baseline="-42036" sz="525" spc="0">
                <a:latin typeface="Courier New"/>
                <a:cs typeface="Courier New"/>
              </a:rPr>
              <a:t>          </a:t>
            </a:r>
            <a:r>
              <a:rPr dirty="0" smtClean="0" baseline="-42036" sz="525" spc="209">
                <a:latin typeface="Courier New"/>
                <a:cs typeface="Courier New"/>
              </a:rPr>
              <a:t> </a:t>
            </a:r>
            <a:r>
              <a:rPr dirty="0" smtClean="0" sz="350" spc="-9">
                <a:latin typeface="Courier New"/>
                <a:cs typeface="Courier New"/>
              </a:rPr>
              <a:t>signal(readCountMute</a:t>
            </a:r>
            <a:r>
              <a:rPr dirty="0" smtClean="0" sz="350" spc="-84">
                <a:latin typeface="Courier New"/>
                <a:cs typeface="Courier New"/>
              </a:rPr>
              <a:t>x</a:t>
            </a:r>
            <a:r>
              <a:rPr dirty="0" smtClean="0" sz="350" spc="0">
                <a:latin typeface="Courier New"/>
                <a:cs typeface="Courier New"/>
              </a:rPr>
              <a:t>);</a:t>
            </a:r>
            <a:endParaRPr sz="350">
              <a:latin typeface="Courier New"/>
              <a:cs typeface="Courier New"/>
            </a:endParaRPr>
          </a:p>
          <a:p>
            <a:pPr marL="381000" marR="445759">
              <a:lnSpc>
                <a:spcPts val="446"/>
              </a:lnSpc>
              <a:spcBef>
                <a:spcPts val="375"/>
              </a:spcBef>
            </a:pPr>
            <a:r>
              <a:rPr dirty="0" smtClean="0" baseline="33628" sz="525" spc="14">
                <a:latin typeface="Courier New"/>
                <a:cs typeface="Courier New"/>
              </a:rPr>
              <a:t>//t</a:t>
            </a:r>
            <a:r>
              <a:rPr dirty="0" smtClean="0" baseline="33628" sz="525" spc="0">
                <a:latin typeface="Courier New"/>
                <a:cs typeface="Courier New"/>
              </a:rPr>
              <a:t>o</a:t>
            </a:r>
            <a:r>
              <a:rPr dirty="0" smtClean="0" baseline="33628" sz="525" spc="113">
                <a:latin typeface="Courier New"/>
                <a:cs typeface="Courier New"/>
              </a:rPr>
              <a:t> </a:t>
            </a:r>
            <a:r>
              <a:rPr dirty="0" smtClean="0" baseline="33628" sz="525" spc="14">
                <a:latin typeface="Courier New"/>
                <a:cs typeface="Courier New"/>
              </a:rPr>
              <a:t>wai</a:t>
            </a:r>
            <a:r>
              <a:rPr dirty="0" smtClean="0" baseline="33628" sz="525" spc="0">
                <a:latin typeface="Courier New"/>
                <a:cs typeface="Courier New"/>
              </a:rPr>
              <a:t>t</a:t>
            </a:r>
            <a:r>
              <a:rPr dirty="0" smtClean="0" baseline="33628" sz="525" spc="113">
                <a:latin typeface="Courier New"/>
                <a:cs typeface="Courier New"/>
              </a:rPr>
              <a:t> </a:t>
            </a:r>
            <a:r>
              <a:rPr dirty="0" smtClean="0" baseline="33628" sz="525" spc="14">
                <a:latin typeface="Courier New"/>
                <a:cs typeface="Courier New"/>
              </a:rPr>
              <a:t>o</a:t>
            </a:r>
            <a:r>
              <a:rPr dirty="0" smtClean="0" baseline="33628" sz="525" spc="0">
                <a:latin typeface="Courier New"/>
                <a:cs typeface="Courier New"/>
              </a:rPr>
              <a:t>n</a:t>
            </a:r>
            <a:r>
              <a:rPr dirty="0" smtClean="0" baseline="33628" sz="525" spc="84">
                <a:latin typeface="Courier New"/>
                <a:cs typeface="Courier New"/>
              </a:rPr>
              <a:t> </a:t>
            </a:r>
            <a:r>
              <a:rPr dirty="0" smtClean="0" baseline="33628" sz="525" spc="14">
                <a:latin typeface="Courier New"/>
                <a:cs typeface="Courier New"/>
              </a:rPr>
              <a:t>nex</a:t>
            </a:r>
            <a:r>
              <a:rPr dirty="0" smtClean="0" baseline="33628" sz="525" spc="0">
                <a:latin typeface="Courier New"/>
                <a:cs typeface="Courier New"/>
              </a:rPr>
              <a:t>t</a:t>
            </a:r>
            <a:r>
              <a:rPr dirty="0" smtClean="0" baseline="33628" sz="525" spc="0">
                <a:latin typeface="Courier New"/>
                <a:cs typeface="Courier New"/>
              </a:rPr>
              <a:t>                     </a:t>
            </a:r>
            <a:r>
              <a:rPr dirty="0" smtClean="0" baseline="33628" sz="525" spc="103">
                <a:latin typeface="Courier New"/>
                <a:cs typeface="Courier New"/>
              </a:rPr>
              <a:t> </a:t>
            </a:r>
            <a:r>
              <a:rPr dirty="0" smtClean="0" sz="350" spc="-9">
                <a:latin typeface="Courier New"/>
                <a:cs typeface="Courier New"/>
              </a:rPr>
              <a:t>//I</a:t>
            </a:r>
            <a:r>
              <a:rPr dirty="0" smtClean="0" sz="350" spc="0">
                <a:latin typeface="Courier New"/>
                <a:cs typeface="Courier New"/>
              </a:rPr>
              <a:t>f</a:t>
            </a:r>
            <a:r>
              <a:rPr dirty="0" smtClean="0" sz="350" spc="33">
                <a:latin typeface="Courier New"/>
                <a:cs typeface="Courier New"/>
              </a:rPr>
              <a:t> </a:t>
            </a:r>
            <a:r>
              <a:rPr dirty="0" smtClean="0" sz="350" spc="-9">
                <a:latin typeface="Courier New"/>
                <a:cs typeface="Courier New"/>
              </a:rPr>
              <a:t>nex</a:t>
            </a:r>
            <a:r>
              <a:rPr dirty="0" smtClean="0" sz="350" spc="0">
                <a:latin typeface="Courier New"/>
                <a:cs typeface="Courier New"/>
              </a:rPr>
              <a:t>t</a:t>
            </a:r>
            <a:r>
              <a:rPr dirty="0" smtClean="0" sz="350" spc="33">
                <a:latin typeface="Courier New"/>
                <a:cs typeface="Courier New"/>
              </a:rPr>
              <a:t> </a:t>
            </a:r>
            <a:r>
              <a:rPr dirty="0" smtClean="0" sz="350" spc="-9">
                <a:latin typeface="Courier New"/>
                <a:cs typeface="Courier New"/>
              </a:rPr>
              <a:t>o</a:t>
            </a:r>
            <a:r>
              <a:rPr dirty="0" smtClean="0" sz="350" spc="0">
                <a:latin typeface="Courier New"/>
                <a:cs typeface="Courier New"/>
              </a:rPr>
              <a:t>n</a:t>
            </a:r>
            <a:r>
              <a:rPr dirty="0" smtClean="0" sz="350" spc="4">
                <a:latin typeface="Courier New"/>
                <a:cs typeface="Courier New"/>
              </a:rPr>
              <a:t> </a:t>
            </a:r>
            <a:r>
              <a:rPr dirty="0" smtClean="0" sz="350" spc="-9">
                <a:latin typeface="Courier New"/>
                <a:cs typeface="Courier New"/>
              </a:rPr>
              <a:t>incomin</a:t>
            </a:r>
            <a:r>
              <a:rPr dirty="0" smtClean="0" sz="350" spc="0">
                <a:latin typeface="Courier New"/>
                <a:cs typeface="Courier New"/>
              </a:rPr>
              <a:t>g</a:t>
            </a:r>
            <a:r>
              <a:rPr dirty="0" smtClean="0" sz="350" spc="92">
                <a:latin typeface="Courier New"/>
                <a:cs typeface="Courier New"/>
              </a:rPr>
              <a:t> </a:t>
            </a:r>
            <a:r>
              <a:rPr dirty="0" smtClean="0" sz="350" spc="-9">
                <a:latin typeface="Courier New"/>
                <a:cs typeface="Courier New"/>
              </a:rPr>
              <a:t>is</a:t>
            </a:r>
            <a:r>
              <a:rPr dirty="0" smtClean="0" sz="350" spc="-9">
                <a:latin typeface="Courier New"/>
                <a:cs typeface="Courier New"/>
              </a:rPr>
              <a:t> </a:t>
            </a:r>
            <a:r>
              <a:rPr dirty="0" smtClean="0" baseline="8407" sz="525" spc="19">
                <a:latin typeface="Courier New"/>
                <a:cs typeface="Courier New"/>
              </a:rPr>
              <a:t>signal(incoming)</a:t>
            </a:r>
            <a:r>
              <a:rPr dirty="0" smtClean="0" baseline="8407" sz="525" spc="0">
                <a:latin typeface="Courier New"/>
                <a:cs typeface="Courier New"/>
              </a:rPr>
              <a:t>;</a:t>
            </a:r>
            <a:r>
              <a:rPr dirty="0" smtClean="0" baseline="8407" sz="525" spc="0">
                <a:latin typeface="Courier New"/>
                <a:cs typeface="Courier New"/>
              </a:rPr>
              <a:t>                      </a:t>
            </a:r>
            <a:r>
              <a:rPr dirty="0" smtClean="0" baseline="8407" sz="525" spc="89">
                <a:latin typeface="Courier New"/>
                <a:cs typeface="Courier New"/>
              </a:rPr>
              <a:t> </a:t>
            </a:r>
            <a:r>
              <a:rPr dirty="0" smtClean="0" sz="350" spc="-14">
                <a:latin typeface="Courier New"/>
                <a:cs typeface="Courier New"/>
              </a:rPr>
              <a:t>//write</a:t>
            </a:r>
            <a:r>
              <a:rPr dirty="0" smtClean="0" sz="350" spc="0">
                <a:latin typeface="Courier New"/>
                <a:cs typeface="Courier New"/>
              </a:rPr>
              <a:t>r</a:t>
            </a:r>
            <a:r>
              <a:rPr dirty="0" smtClean="0" sz="350" spc="117">
                <a:latin typeface="Courier New"/>
                <a:cs typeface="Courier New"/>
              </a:rPr>
              <a:t> </a:t>
            </a:r>
            <a:r>
              <a:rPr dirty="0" smtClean="0" sz="350" spc="-14">
                <a:latin typeface="Courier New"/>
                <a:cs typeface="Courier New"/>
              </a:rPr>
              <a:t>wil</a:t>
            </a:r>
            <a:r>
              <a:rPr dirty="0" smtClean="0" sz="350" spc="0">
                <a:latin typeface="Courier New"/>
                <a:cs typeface="Courier New"/>
              </a:rPr>
              <a:t>l</a:t>
            </a:r>
            <a:r>
              <a:rPr dirty="0" smtClean="0" sz="350" spc="58">
                <a:latin typeface="Courier New"/>
                <a:cs typeface="Courier New"/>
              </a:rPr>
              <a:t> </a:t>
            </a:r>
            <a:r>
              <a:rPr dirty="0" smtClean="0" sz="350" spc="-14">
                <a:latin typeface="Courier New"/>
                <a:cs typeface="Courier New"/>
              </a:rPr>
              <a:t>bloc</a:t>
            </a:r>
            <a:r>
              <a:rPr dirty="0" smtClean="0" sz="350" spc="0">
                <a:latin typeface="Courier New"/>
                <a:cs typeface="Courier New"/>
              </a:rPr>
              <a:t>k</a:t>
            </a:r>
            <a:r>
              <a:rPr dirty="0" smtClean="0" sz="350" spc="73">
                <a:latin typeface="Courier New"/>
                <a:cs typeface="Courier New"/>
              </a:rPr>
              <a:t> </a:t>
            </a:r>
            <a:r>
              <a:rPr dirty="0" smtClean="0" sz="350" spc="-14">
                <a:latin typeface="Courier New"/>
                <a:cs typeface="Courier New"/>
              </a:rPr>
              <a:t>o</a:t>
            </a:r>
            <a:r>
              <a:rPr dirty="0" smtClean="0" sz="350" spc="0">
                <a:latin typeface="Courier New"/>
                <a:cs typeface="Courier New"/>
              </a:rPr>
              <a:t>n</a:t>
            </a:r>
            <a:r>
              <a:rPr dirty="0" smtClean="0" sz="350" spc="29">
                <a:latin typeface="Courier New"/>
                <a:cs typeface="Courier New"/>
              </a:rPr>
              <a:t> </a:t>
            </a:r>
            <a:r>
              <a:rPr dirty="0" smtClean="0" sz="350" spc="-14">
                <a:latin typeface="Courier New"/>
                <a:cs typeface="Courier New"/>
              </a:rPr>
              <a:t>next</a:t>
            </a:r>
            <a:endParaRPr sz="350">
              <a:latin typeface="Courier New"/>
              <a:cs typeface="Courier New"/>
            </a:endParaRPr>
          </a:p>
          <a:p>
            <a:pPr marL="381000" marR="530609" indent="1114425">
              <a:lnSpc>
                <a:spcPts val="396"/>
              </a:lnSpc>
              <a:spcBef>
                <a:spcPts val="52"/>
              </a:spcBef>
            </a:pPr>
            <a:r>
              <a:rPr dirty="0" smtClean="0" sz="350" spc="-9">
                <a:latin typeface="Courier New"/>
                <a:cs typeface="Courier New"/>
              </a:rPr>
              <a:t>//I</a:t>
            </a:r>
            <a:r>
              <a:rPr dirty="0" smtClean="0" sz="350" spc="0">
                <a:latin typeface="Courier New"/>
                <a:cs typeface="Courier New"/>
              </a:rPr>
              <a:t>f</a:t>
            </a:r>
            <a:r>
              <a:rPr dirty="0" smtClean="0" sz="350" spc="43">
                <a:latin typeface="Courier New"/>
                <a:cs typeface="Courier New"/>
              </a:rPr>
              <a:t> </a:t>
            </a:r>
            <a:r>
              <a:rPr dirty="0" smtClean="0" sz="350" spc="-9">
                <a:latin typeface="Courier New"/>
                <a:cs typeface="Courier New"/>
              </a:rPr>
              <a:t>reade</a:t>
            </a:r>
            <a:r>
              <a:rPr dirty="0" smtClean="0" sz="350" spc="0">
                <a:latin typeface="Courier New"/>
                <a:cs typeface="Courier New"/>
              </a:rPr>
              <a:t>r</a:t>
            </a:r>
            <a:r>
              <a:rPr dirty="0" smtClean="0" sz="350" spc="73">
                <a:latin typeface="Courier New"/>
                <a:cs typeface="Courier New"/>
              </a:rPr>
              <a:t> </a:t>
            </a:r>
            <a:r>
              <a:rPr dirty="0" smtClean="0" sz="350" spc="-9">
                <a:latin typeface="Courier New"/>
                <a:cs typeface="Courier New"/>
              </a:rPr>
              <a:t>wil</a:t>
            </a:r>
            <a:r>
              <a:rPr dirty="0" smtClean="0" sz="350" spc="0">
                <a:latin typeface="Courier New"/>
                <a:cs typeface="Courier New"/>
              </a:rPr>
              <a:t>l</a:t>
            </a:r>
            <a:r>
              <a:rPr dirty="0" smtClean="0" sz="350" spc="43">
                <a:latin typeface="Courier New"/>
                <a:cs typeface="Courier New"/>
              </a:rPr>
              <a:t> </a:t>
            </a:r>
            <a:r>
              <a:rPr dirty="0" smtClean="0" sz="350" spc="-9">
                <a:latin typeface="Courier New"/>
                <a:cs typeface="Courier New"/>
              </a:rPr>
              <a:t>com</a:t>
            </a:r>
            <a:r>
              <a:rPr dirty="0" smtClean="0" sz="350" spc="0">
                <a:latin typeface="Courier New"/>
                <a:cs typeface="Courier New"/>
              </a:rPr>
              <a:t>e</a:t>
            </a:r>
            <a:r>
              <a:rPr dirty="0" smtClean="0" sz="350" spc="43">
                <a:latin typeface="Courier New"/>
                <a:cs typeface="Courier New"/>
              </a:rPr>
              <a:t> </a:t>
            </a:r>
            <a:r>
              <a:rPr dirty="0" smtClean="0" sz="350" spc="-9">
                <a:latin typeface="Courier New"/>
                <a:cs typeface="Courier New"/>
              </a:rPr>
              <a:t>in</a:t>
            </a:r>
            <a:r>
              <a:rPr dirty="0" smtClean="0" sz="350" spc="-9">
                <a:latin typeface="Courier New"/>
                <a:cs typeface="Courier New"/>
              </a:rPr>
              <a:t> </a:t>
            </a:r>
            <a:r>
              <a:rPr dirty="0" smtClean="0" baseline="-42036" sz="525" spc="14">
                <a:latin typeface="Courier New"/>
                <a:cs typeface="Courier New"/>
              </a:rPr>
              <a:t>d</a:t>
            </a:r>
            <a:r>
              <a:rPr dirty="0" smtClean="0" baseline="-42036" sz="525" spc="0">
                <a:latin typeface="Courier New"/>
                <a:cs typeface="Courier New"/>
              </a:rPr>
              <a:t>o</a:t>
            </a:r>
            <a:r>
              <a:rPr dirty="0" smtClean="0" baseline="-42036" sz="525" spc="59">
                <a:latin typeface="Courier New"/>
                <a:cs typeface="Courier New"/>
              </a:rPr>
              <a:t> </a:t>
            </a:r>
            <a:r>
              <a:rPr dirty="0" smtClean="0" baseline="-42036" sz="525" spc="14">
                <a:latin typeface="Courier New"/>
                <a:cs typeface="Courier New"/>
              </a:rPr>
              <a:t>writin</a:t>
            </a:r>
            <a:r>
              <a:rPr dirty="0" smtClean="0" baseline="-42036" sz="525" spc="0">
                <a:latin typeface="Courier New"/>
                <a:cs typeface="Courier New"/>
              </a:rPr>
              <a:t>g</a:t>
            </a:r>
            <a:r>
              <a:rPr dirty="0" smtClean="0" baseline="-42036" sz="525" spc="0">
                <a:latin typeface="Courier New"/>
                <a:cs typeface="Courier New"/>
              </a:rPr>
              <a:t>                             </a:t>
            </a:r>
            <a:r>
              <a:rPr dirty="0" smtClean="0" baseline="-42036" sz="525" spc="192">
                <a:latin typeface="Courier New"/>
                <a:cs typeface="Courier New"/>
              </a:rPr>
              <a:t> </a:t>
            </a:r>
            <a:r>
              <a:rPr dirty="0" smtClean="0" sz="350" spc="-19">
                <a:latin typeface="Courier New"/>
                <a:cs typeface="Courier New"/>
              </a:rPr>
              <a:t>signal(incoming);</a:t>
            </a:r>
            <a:endParaRPr sz="350">
              <a:latin typeface="Courier New"/>
              <a:cs typeface="Courier New"/>
            </a:endParaRPr>
          </a:p>
          <a:p>
            <a:pPr marL="381000" marR="906843" indent="1114425">
              <a:lnSpc>
                <a:spcPts val="396"/>
              </a:lnSpc>
              <a:spcBef>
                <a:spcPts val="577"/>
              </a:spcBef>
            </a:pPr>
            <a:r>
              <a:rPr dirty="0" smtClean="0" sz="350" spc="-9">
                <a:latin typeface="Courier New"/>
                <a:cs typeface="Courier New"/>
              </a:rPr>
              <a:t>d</a:t>
            </a:r>
            <a:r>
              <a:rPr dirty="0" smtClean="0" sz="350" spc="0">
                <a:latin typeface="Courier New"/>
                <a:cs typeface="Courier New"/>
              </a:rPr>
              <a:t>o</a:t>
            </a:r>
            <a:r>
              <a:rPr dirty="0" smtClean="0" sz="350" spc="34">
                <a:latin typeface="Courier New"/>
                <a:cs typeface="Courier New"/>
              </a:rPr>
              <a:t> </a:t>
            </a:r>
            <a:r>
              <a:rPr dirty="0" smtClean="0" sz="350" spc="-9">
                <a:latin typeface="Courier New"/>
                <a:cs typeface="Courier New"/>
              </a:rPr>
              <a:t>reading</a:t>
            </a:r>
            <a:r>
              <a:rPr dirty="0" smtClean="0" sz="350" spc="-9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writeInProgres</a:t>
            </a:r>
            <a:r>
              <a:rPr dirty="0" smtClean="0" sz="350" spc="0">
                <a:latin typeface="Courier New"/>
                <a:cs typeface="Courier New"/>
              </a:rPr>
              <a:t>s</a:t>
            </a:r>
            <a:r>
              <a:rPr dirty="0" smtClean="0" sz="350" spc="185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114">
                <a:latin typeface="Courier New"/>
                <a:cs typeface="Courier New"/>
              </a:rPr>
              <a:t> </a:t>
            </a:r>
            <a:r>
              <a:rPr dirty="0" smtClean="0" sz="350" spc="9">
                <a:latin typeface="Courier New"/>
                <a:cs typeface="Courier New"/>
              </a:rPr>
              <a:t>FALSE;</a:t>
            </a:r>
            <a:endParaRPr sz="350">
              <a:latin typeface="Courier New"/>
              <a:cs typeface="Courier New"/>
            </a:endParaRPr>
          </a:p>
          <a:p>
            <a:pPr marL="381000">
              <a:lnSpc>
                <a:spcPts val="396"/>
              </a:lnSpc>
              <a:spcBef>
                <a:spcPts val="53"/>
              </a:spcBef>
            </a:pPr>
            <a:r>
              <a:rPr dirty="0" smtClean="0" baseline="-25221" sz="525" spc="14">
                <a:latin typeface="Courier New"/>
                <a:cs typeface="Courier New"/>
              </a:rPr>
              <a:t>i</a:t>
            </a:r>
            <a:r>
              <a:rPr dirty="0" smtClean="0" baseline="-25221" sz="525" spc="0">
                <a:latin typeface="Courier New"/>
                <a:cs typeface="Courier New"/>
              </a:rPr>
              <a:t>f</a:t>
            </a:r>
            <a:r>
              <a:rPr dirty="0" smtClean="0" baseline="-25221" sz="525" spc="84">
                <a:latin typeface="Courier New"/>
                <a:cs typeface="Courier New"/>
              </a:rPr>
              <a:t> </a:t>
            </a:r>
            <a:r>
              <a:rPr dirty="0" smtClean="0" baseline="-25221" sz="525" spc="14">
                <a:latin typeface="Courier New"/>
                <a:cs typeface="Courier New"/>
              </a:rPr>
              <a:t>(next.valu</a:t>
            </a:r>
            <a:r>
              <a:rPr dirty="0" smtClean="0" baseline="-25221" sz="525" spc="0">
                <a:latin typeface="Courier New"/>
                <a:cs typeface="Courier New"/>
              </a:rPr>
              <a:t>e</a:t>
            </a:r>
            <a:r>
              <a:rPr dirty="0" smtClean="0" baseline="-25221" sz="525" spc="0">
                <a:latin typeface="Courier New"/>
                <a:cs typeface="Courier New"/>
              </a:rPr>
              <a:t> </a:t>
            </a:r>
            <a:r>
              <a:rPr dirty="0" smtClean="0" baseline="-25221" sz="525" spc="6">
                <a:latin typeface="Courier New"/>
                <a:cs typeface="Courier New"/>
              </a:rPr>
              <a:t> </a:t>
            </a:r>
            <a:r>
              <a:rPr dirty="0" smtClean="0" baseline="-25221" sz="525" spc="14">
                <a:latin typeface="Courier New"/>
                <a:cs typeface="Courier New"/>
              </a:rPr>
              <a:t>=</a:t>
            </a:r>
            <a:r>
              <a:rPr dirty="0" smtClean="0" baseline="-25221" sz="525" spc="0">
                <a:latin typeface="Courier New"/>
                <a:cs typeface="Courier New"/>
              </a:rPr>
              <a:t>=</a:t>
            </a:r>
            <a:r>
              <a:rPr dirty="0" smtClean="0" baseline="-25221" sz="525" spc="84">
                <a:latin typeface="Courier New"/>
                <a:cs typeface="Courier New"/>
              </a:rPr>
              <a:t> </a:t>
            </a:r>
            <a:r>
              <a:rPr dirty="0" smtClean="0" baseline="-25221" sz="525" spc="14">
                <a:latin typeface="Courier New"/>
                <a:cs typeface="Courier New"/>
              </a:rPr>
              <a:t>0)</a:t>
            </a:r>
            <a:r>
              <a:rPr dirty="0" smtClean="0" baseline="-25221" sz="525" spc="0">
                <a:latin typeface="Courier New"/>
                <a:cs typeface="Courier New"/>
              </a:rPr>
              <a:t>{</a:t>
            </a:r>
            <a:r>
              <a:rPr dirty="0" smtClean="0" baseline="-25221" sz="525" spc="0">
                <a:latin typeface="Courier New"/>
                <a:cs typeface="Courier New"/>
              </a:rPr>
              <a:t>                </a:t>
            </a:r>
            <a:r>
              <a:rPr dirty="0" smtClean="0" baseline="-25221" sz="525" spc="164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wait</a:t>
            </a:r>
            <a:r>
              <a:rPr dirty="0" smtClean="0" sz="350" spc="-75">
                <a:latin typeface="Courier New"/>
                <a:cs typeface="Courier New"/>
              </a:rPr>
              <a:t>(</a:t>
            </a:r>
            <a:r>
              <a:rPr dirty="0" smtClean="0" sz="350" spc="-9">
                <a:latin typeface="Courier New"/>
                <a:cs typeface="Courier New"/>
              </a:rPr>
              <a:t>readCountMutex</a:t>
            </a:r>
            <a:r>
              <a:rPr dirty="0" smtClean="0" sz="350" spc="0">
                <a:latin typeface="Courier New"/>
                <a:cs typeface="Courier New"/>
              </a:rPr>
              <a:t>);</a:t>
            </a:r>
            <a:endParaRPr sz="350">
              <a:latin typeface="Courier New"/>
              <a:cs typeface="Courier New"/>
            </a:endParaRPr>
          </a:p>
          <a:p>
            <a:pPr marL="495934" marR="600710" algn="ctr">
              <a:lnSpc>
                <a:spcPts val="596"/>
              </a:lnSpc>
              <a:spcBef>
                <a:spcPts val="375"/>
              </a:spcBef>
            </a:pPr>
            <a:r>
              <a:rPr dirty="0" smtClean="0" baseline="33628" sz="525" spc="29">
                <a:latin typeface="Courier New"/>
                <a:cs typeface="Courier New"/>
              </a:rPr>
              <a:t>signa</a:t>
            </a:r>
            <a:r>
              <a:rPr dirty="0" smtClean="0" baseline="33628" sz="525" spc="0">
                <a:latin typeface="Courier New"/>
                <a:cs typeface="Courier New"/>
              </a:rPr>
              <a:t>l</a:t>
            </a:r>
            <a:r>
              <a:rPr dirty="0" smtClean="0" baseline="33628" sz="525" spc="133">
                <a:latin typeface="Courier New"/>
                <a:cs typeface="Courier New"/>
              </a:rPr>
              <a:t> </a:t>
            </a:r>
            <a:r>
              <a:rPr dirty="0" smtClean="0" baseline="33628" sz="525" spc="29">
                <a:latin typeface="Courier New"/>
                <a:cs typeface="Courier New"/>
              </a:rPr>
              <a:t>(next)</a:t>
            </a:r>
            <a:r>
              <a:rPr dirty="0" smtClean="0" baseline="33628" sz="525" spc="0">
                <a:latin typeface="Courier New"/>
                <a:cs typeface="Courier New"/>
              </a:rPr>
              <a:t>;</a:t>
            </a:r>
            <a:r>
              <a:rPr dirty="0" smtClean="0" baseline="33628" sz="525" spc="0">
                <a:latin typeface="Courier New"/>
                <a:cs typeface="Courier New"/>
              </a:rPr>
              <a:t>                   </a:t>
            </a:r>
            <a:r>
              <a:rPr dirty="0" smtClean="0" baseline="33628" sz="525" spc="132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if</a:t>
            </a:r>
            <a:r>
              <a:rPr dirty="0" smtClean="0" sz="350" spc="44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(</a:t>
            </a:r>
            <a:r>
              <a:rPr dirty="0" smtClean="0" sz="350" spc="-14">
                <a:latin typeface="Courier New"/>
                <a:cs typeface="Courier New"/>
              </a:rPr>
              <a:t>numReader</a:t>
            </a:r>
            <a:r>
              <a:rPr dirty="0" smtClean="0" sz="350" spc="0">
                <a:latin typeface="Courier New"/>
                <a:cs typeface="Courier New"/>
              </a:rPr>
              <a:t>s</a:t>
            </a:r>
            <a:r>
              <a:rPr dirty="0" smtClean="0" sz="350" spc="161">
                <a:latin typeface="Courier New"/>
                <a:cs typeface="Courier New"/>
              </a:rPr>
              <a:t> </a:t>
            </a:r>
            <a:r>
              <a:rPr dirty="0" smtClean="0" sz="350" spc="-14">
                <a:latin typeface="Courier New"/>
                <a:cs typeface="Courier New"/>
              </a:rPr>
              <a:t>=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29">
                <a:latin typeface="Courier New"/>
                <a:cs typeface="Courier New"/>
              </a:rPr>
              <a:t> </a:t>
            </a:r>
            <a:r>
              <a:rPr dirty="0" smtClean="0" sz="350" spc="-14">
                <a:latin typeface="Courier New"/>
                <a:cs typeface="Courier New"/>
              </a:rPr>
              <a:t>0){</a:t>
            </a:r>
            <a:endParaRPr sz="350">
              <a:latin typeface="Courier New"/>
              <a:cs typeface="Courier New"/>
            </a:endParaRPr>
          </a:p>
          <a:p>
            <a:pPr marL="278798" marR="497873" algn="ctr">
              <a:lnSpc>
                <a:spcPct val="94401"/>
              </a:lnSpc>
              <a:spcBef>
                <a:spcPts val="503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r>
              <a:rPr dirty="0" smtClean="0" sz="350" spc="0">
                <a:latin typeface="Courier New"/>
                <a:cs typeface="Courier New"/>
              </a:rPr>
              <a:t>                                              </a:t>
            </a:r>
            <a:r>
              <a:rPr dirty="0" smtClean="0" sz="350" spc="194">
                <a:latin typeface="Courier New"/>
                <a:cs typeface="Courier New"/>
              </a:rPr>
              <a:t> </a:t>
            </a:r>
            <a:r>
              <a:rPr dirty="0" smtClean="0" sz="350" spc="-14">
                <a:latin typeface="Courier New"/>
                <a:cs typeface="Courier New"/>
              </a:rPr>
              <a:t>i</a:t>
            </a:r>
            <a:r>
              <a:rPr dirty="0" smtClean="0" sz="350" spc="0">
                <a:latin typeface="Courier New"/>
                <a:cs typeface="Courier New"/>
              </a:rPr>
              <a:t>f</a:t>
            </a:r>
            <a:r>
              <a:rPr dirty="0" smtClean="0" sz="350" spc="29">
                <a:latin typeface="Courier New"/>
                <a:cs typeface="Courier New"/>
              </a:rPr>
              <a:t> </a:t>
            </a:r>
            <a:r>
              <a:rPr dirty="0" smtClean="0" sz="350" spc="-14">
                <a:latin typeface="Courier New"/>
                <a:cs typeface="Courier New"/>
              </a:rPr>
              <a:t>(next.valu</a:t>
            </a:r>
            <a:r>
              <a:rPr dirty="0" smtClean="0" sz="350" spc="0">
                <a:latin typeface="Courier New"/>
                <a:cs typeface="Courier New"/>
              </a:rPr>
              <a:t>e</a:t>
            </a:r>
            <a:r>
              <a:rPr dirty="0" smtClean="0" sz="350" spc="161">
                <a:latin typeface="Courier New"/>
                <a:cs typeface="Courier New"/>
              </a:rPr>
              <a:t> </a:t>
            </a:r>
            <a:r>
              <a:rPr dirty="0" smtClean="0" sz="350" spc="-14">
                <a:latin typeface="Courier New"/>
                <a:cs typeface="Courier New"/>
              </a:rPr>
              <a:t>=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29">
                <a:latin typeface="Courier New"/>
                <a:cs typeface="Courier New"/>
              </a:rPr>
              <a:t> </a:t>
            </a:r>
            <a:r>
              <a:rPr dirty="0" smtClean="0" sz="350" spc="-14">
                <a:latin typeface="Courier New"/>
                <a:cs typeface="Courier New"/>
              </a:rPr>
              <a:t>0){</a:t>
            </a:r>
            <a:endParaRPr sz="350">
              <a:latin typeface="Courier New"/>
              <a:cs typeface="Courier New"/>
            </a:endParaRPr>
          </a:p>
          <a:p>
            <a:pPr marL="1685925">
              <a:lnSpc>
                <a:spcPct val="94401"/>
              </a:lnSpc>
              <a:spcBef>
                <a:spcPts val="50"/>
              </a:spcBef>
            </a:pPr>
            <a:r>
              <a:rPr dirty="0" smtClean="0" sz="350" spc="-14">
                <a:latin typeface="Courier New"/>
                <a:cs typeface="Courier New"/>
              </a:rPr>
              <a:t>signa</a:t>
            </a:r>
            <a:r>
              <a:rPr dirty="0" smtClean="0" sz="350" spc="0">
                <a:latin typeface="Courier New"/>
                <a:cs typeface="Courier New"/>
              </a:rPr>
              <a:t>l</a:t>
            </a:r>
            <a:r>
              <a:rPr dirty="0" smtClean="0" sz="350" spc="13">
                <a:latin typeface="Courier New"/>
                <a:cs typeface="Courier New"/>
              </a:rPr>
              <a:t> </a:t>
            </a:r>
            <a:r>
              <a:rPr dirty="0" smtClean="0" sz="350" spc="-14">
                <a:latin typeface="Courier New"/>
                <a:cs typeface="Courier New"/>
              </a:rPr>
              <a:t>(next);</a:t>
            </a:r>
            <a:endParaRPr sz="350">
              <a:latin typeface="Courier New"/>
              <a:cs typeface="Courier New"/>
            </a:endParaRPr>
          </a:p>
          <a:p>
            <a:pPr marL="1583928" marR="1041003" algn="ctr">
              <a:lnSpc>
                <a:spcPct val="94401"/>
              </a:lnSpc>
              <a:spcBef>
                <a:spcPts val="125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  <a:p>
            <a:pPr marL="1498203" marR="1126728" algn="ctr">
              <a:lnSpc>
                <a:spcPct val="94401"/>
              </a:lnSpc>
              <a:spcBef>
                <a:spcPts val="50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  <a:p>
            <a:pPr marL="1514475">
              <a:lnSpc>
                <a:spcPct val="100000"/>
              </a:lnSpc>
              <a:spcBef>
                <a:spcPts val="75"/>
              </a:spcBef>
            </a:pPr>
            <a:r>
              <a:rPr dirty="0" smtClean="0" baseline="8407" sz="525">
                <a:latin typeface="Courier New"/>
                <a:cs typeface="Courier New"/>
              </a:rPr>
              <a:t>signal(</a:t>
            </a:r>
            <a:r>
              <a:rPr dirty="0" smtClean="0" baseline="8407" sz="525" spc="-14">
                <a:latin typeface="Courier New"/>
                <a:cs typeface="Courier New"/>
              </a:rPr>
              <a:t>readCountMutex</a:t>
            </a:r>
            <a:r>
              <a:rPr dirty="0" smtClean="0" baseline="8407" sz="525" spc="0">
                <a:latin typeface="Courier New"/>
                <a:cs typeface="Courier New"/>
              </a:rPr>
              <a:t>);</a:t>
            </a:r>
            <a:r>
              <a:rPr dirty="0" smtClean="0" baseline="8407" sz="525" spc="0">
                <a:latin typeface="Courier New"/>
                <a:cs typeface="Courier New"/>
              </a:rPr>
              <a:t>            </a:t>
            </a:r>
            <a:r>
              <a:rPr dirty="0" smtClean="0" baseline="8407" sz="525" spc="44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1</a:t>
            </a:r>
            <a:r>
              <a:rPr dirty="0" smtClean="0" sz="350" spc="0">
                <a:latin typeface="Times New Roman"/>
                <a:cs typeface="Times New Roman"/>
              </a:rPr>
              <a:t>3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object 119"/>
          <p:cNvSpPr/>
          <p:nvPr/>
        </p:nvSpPr>
        <p:spPr>
          <a:xfrm>
            <a:off x="2524125" y="12096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0" name="object 120"/>
          <p:cNvSpPr/>
          <p:nvPr/>
        </p:nvSpPr>
        <p:spPr>
          <a:xfrm>
            <a:off x="533400" y="904875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4" name="object 84"/>
          <p:cNvSpPr/>
          <p:nvPr/>
        </p:nvSpPr>
        <p:spPr>
          <a:xfrm>
            <a:off x="5743575" y="11239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5" name="object 85"/>
          <p:cNvSpPr/>
          <p:nvPr/>
        </p:nvSpPr>
        <p:spPr>
          <a:xfrm>
            <a:off x="4210050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6" name="object 86"/>
          <p:cNvSpPr/>
          <p:nvPr/>
        </p:nvSpPr>
        <p:spPr>
          <a:xfrm>
            <a:off x="4044420" y="1765564"/>
            <a:ext cx="295275" cy="276225"/>
          </a:xfrm>
          <a:custGeom>
            <a:avLst/>
            <a:gdLst/>
            <a:ahLst/>
            <a:cxnLst/>
            <a:rect l="l" t="t" r="r" b="b"/>
            <a:pathLst>
              <a:path w="295275" h="276225">
                <a:moveTo>
                  <a:pt x="295275" y="142875"/>
                </a:moveTo>
                <a:lnTo>
                  <a:pt x="294498" y="128633"/>
                </a:lnTo>
                <a:lnTo>
                  <a:pt x="292227" y="114703"/>
                </a:lnTo>
                <a:lnTo>
                  <a:pt x="288546" y="101168"/>
                </a:lnTo>
                <a:lnTo>
                  <a:pt x="283539" y="88115"/>
                </a:lnTo>
                <a:lnTo>
                  <a:pt x="277293" y="75629"/>
                </a:lnTo>
                <a:lnTo>
                  <a:pt x="269892" y="63793"/>
                </a:lnTo>
                <a:lnTo>
                  <a:pt x="261421" y="52695"/>
                </a:lnTo>
                <a:lnTo>
                  <a:pt x="251966" y="42418"/>
                </a:lnTo>
                <a:lnTo>
                  <a:pt x="241612" y="33048"/>
                </a:lnTo>
                <a:lnTo>
                  <a:pt x="230443" y="24670"/>
                </a:lnTo>
                <a:lnTo>
                  <a:pt x="218546" y="17370"/>
                </a:lnTo>
                <a:lnTo>
                  <a:pt x="206005" y="11232"/>
                </a:lnTo>
                <a:lnTo>
                  <a:pt x="192905" y="6341"/>
                </a:lnTo>
                <a:lnTo>
                  <a:pt x="179331" y="2783"/>
                </a:lnTo>
                <a:lnTo>
                  <a:pt x="165369" y="643"/>
                </a:lnTo>
                <a:lnTo>
                  <a:pt x="152400" y="0"/>
                </a:lnTo>
                <a:lnTo>
                  <a:pt x="136987" y="726"/>
                </a:lnTo>
                <a:lnTo>
                  <a:pt x="122060" y="2854"/>
                </a:lnTo>
                <a:lnTo>
                  <a:pt x="107685" y="6306"/>
                </a:lnTo>
                <a:lnTo>
                  <a:pt x="93924" y="11006"/>
                </a:lnTo>
                <a:lnTo>
                  <a:pt x="80843" y="16877"/>
                </a:lnTo>
                <a:lnTo>
                  <a:pt x="68506" y="23840"/>
                </a:lnTo>
                <a:lnTo>
                  <a:pt x="56976" y="31820"/>
                </a:lnTo>
                <a:lnTo>
                  <a:pt x="46318" y="40739"/>
                </a:lnTo>
                <a:lnTo>
                  <a:pt x="36596" y="50521"/>
                </a:lnTo>
                <a:lnTo>
                  <a:pt x="27874" y="61087"/>
                </a:lnTo>
                <a:lnTo>
                  <a:pt x="20217" y="72362"/>
                </a:lnTo>
                <a:lnTo>
                  <a:pt x="13689" y="84268"/>
                </a:lnTo>
                <a:lnTo>
                  <a:pt x="8354" y="96727"/>
                </a:lnTo>
                <a:lnTo>
                  <a:pt x="4276" y="109664"/>
                </a:lnTo>
                <a:lnTo>
                  <a:pt x="1519" y="123000"/>
                </a:lnTo>
                <a:lnTo>
                  <a:pt x="147" y="136660"/>
                </a:lnTo>
                <a:lnTo>
                  <a:pt x="0" y="142875"/>
                </a:lnTo>
                <a:lnTo>
                  <a:pt x="774" y="156977"/>
                </a:lnTo>
                <a:lnTo>
                  <a:pt x="3052" y="170573"/>
                </a:lnTo>
                <a:lnTo>
                  <a:pt x="6763" y="183608"/>
                </a:lnTo>
                <a:lnTo>
                  <a:pt x="11835" y="196023"/>
                </a:lnTo>
                <a:lnTo>
                  <a:pt x="18199" y="207763"/>
                </a:lnTo>
                <a:lnTo>
                  <a:pt x="25784" y="218772"/>
                </a:lnTo>
                <a:lnTo>
                  <a:pt x="34520" y="228993"/>
                </a:lnTo>
                <a:lnTo>
                  <a:pt x="44335" y="238370"/>
                </a:lnTo>
                <a:lnTo>
                  <a:pt x="55160" y="246846"/>
                </a:lnTo>
                <a:lnTo>
                  <a:pt x="66925" y="254365"/>
                </a:lnTo>
                <a:lnTo>
                  <a:pt x="79557" y="260870"/>
                </a:lnTo>
                <a:lnTo>
                  <a:pt x="92988" y="266306"/>
                </a:lnTo>
                <a:lnTo>
                  <a:pt x="107147" y="270615"/>
                </a:lnTo>
                <a:lnTo>
                  <a:pt x="121963" y="273742"/>
                </a:lnTo>
                <a:lnTo>
                  <a:pt x="137365" y="275630"/>
                </a:lnTo>
                <a:lnTo>
                  <a:pt x="152400" y="276225"/>
                </a:lnTo>
                <a:lnTo>
                  <a:pt x="167118" y="275511"/>
                </a:lnTo>
                <a:lnTo>
                  <a:pt x="181501" y="273412"/>
                </a:lnTo>
                <a:lnTo>
                  <a:pt x="195455" y="269991"/>
                </a:lnTo>
                <a:lnTo>
                  <a:pt x="208885" y="265310"/>
                </a:lnTo>
                <a:lnTo>
                  <a:pt x="221698" y="259432"/>
                </a:lnTo>
                <a:lnTo>
                  <a:pt x="233798" y="252419"/>
                </a:lnTo>
                <a:lnTo>
                  <a:pt x="245093" y="244335"/>
                </a:lnTo>
                <a:lnTo>
                  <a:pt x="255488" y="235242"/>
                </a:lnTo>
                <a:lnTo>
                  <a:pt x="264889" y="225203"/>
                </a:lnTo>
                <a:lnTo>
                  <a:pt x="273201" y="214280"/>
                </a:lnTo>
                <a:lnTo>
                  <a:pt x="280331" y="202537"/>
                </a:lnTo>
                <a:lnTo>
                  <a:pt x="286185" y="190036"/>
                </a:lnTo>
                <a:lnTo>
                  <a:pt x="290669" y="176839"/>
                </a:lnTo>
                <a:lnTo>
                  <a:pt x="293688" y="163010"/>
                </a:lnTo>
                <a:lnTo>
                  <a:pt x="295148" y="148612"/>
                </a:lnTo>
                <a:lnTo>
                  <a:pt x="295275" y="142875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7" name="object 87"/>
          <p:cNvSpPr/>
          <p:nvPr/>
        </p:nvSpPr>
        <p:spPr>
          <a:xfrm>
            <a:off x="4044420" y="1765564"/>
            <a:ext cx="295275" cy="276225"/>
          </a:xfrm>
          <a:custGeom>
            <a:avLst/>
            <a:gdLst/>
            <a:ahLst/>
            <a:cxnLst/>
            <a:rect l="l" t="t" r="r" b="b"/>
            <a:pathLst>
              <a:path w="295275" h="276225">
                <a:moveTo>
                  <a:pt x="295275" y="142875"/>
                </a:moveTo>
                <a:lnTo>
                  <a:pt x="294498" y="128633"/>
                </a:lnTo>
                <a:lnTo>
                  <a:pt x="292227" y="114703"/>
                </a:lnTo>
                <a:lnTo>
                  <a:pt x="288546" y="101168"/>
                </a:lnTo>
                <a:lnTo>
                  <a:pt x="283539" y="88115"/>
                </a:lnTo>
                <a:lnTo>
                  <a:pt x="277293" y="75629"/>
                </a:lnTo>
                <a:lnTo>
                  <a:pt x="269892" y="63793"/>
                </a:lnTo>
                <a:lnTo>
                  <a:pt x="261421" y="52695"/>
                </a:lnTo>
                <a:lnTo>
                  <a:pt x="251966" y="42418"/>
                </a:lnTo>
                <a:lnTo>
                  <a:pt x="241612" y="33048"/>
                </a:lnTo>
                <a:lnTo>
                  <a:pt x="230443" y="24670"/>
                </a:lnTo>
                <a:lnTo>
                  <a:pt x="218546" y="17370"/>
                </a:lnTo>
                <a:lnTo>
                  <a:pt x="206005" y="11232"/>
                </a:lnTo>
                <a:lnTo>
                  <a:pt x="192905" y="6341"/>
                </a:lnTo>
                <a:lnTo>
                  <a:pt x="179331" y="2783"/>
                </a:lnTo>
                <a:lnTo>
                  <a:pt x="165369" y="643"/>
                </a:lnTo>
                <a:lnTo>
                  <a:pt x="152400" y="0"/>
                </a:lnTo>
                <a:lnTo>
                  <a:pt x="136987" y="726"/>
                </a:lnTo>
                <a:lnTo>
                  <a:pt x="122060" y="2854"/>
                </a:lnTo>
                <a:lnTo>
                  <a:pt x="107685" y="6306"/>
                </a:lnTo>
                <a:lnTo>
                  <a:pt x="93924" y="11006"/>
                </a:lnTo>
                <a:lnTo>
                  <a:pt x="80843" y="16877"/>
                </a:lnTo>
                <a:lnTo>
                  <a:pt x="68506" y="23840"/>
                </a:lnTo>
                <a:lnTo>
                  <a:pt x="56976" y="31820"/>
                </a:lnTo>
                <a:lnTo>
                  <a:pt x="46318" y="40739"/>
                </a:lnTo>
                <a:lnTo>
                  <a:pt x="36596" y="50521"/>
                </a:lnTo>
                <a:lnTo>
                  <a:pt x="27874" y="61087"/>
                </a:lnTo>
                <a:lnTo>
                  <a:pt x="20217" y="72362"/>
                </a:lnTo>
                <a:lnTo>
                  <a:pt x="13689" y="84268"/>
                </a:lnTo>
                <a:lnTo>
                  <a:pt x="8354" y="96727"/>
                </a:lnTo>
                <a:lnTo>
                  <a:pt x="4276" y="109664"/>
                </a:lnTo>
                <a:lnTo>
                  <a:pt x="1519" y="123000"/>
                </a:lnTo>
                <a:lnTo>
                  <a:pt x="147" y="136660"/>
                </a:lnTo>
                <a:lnTo>
                  <a:pt x="0" y="142875"/>
                </a:lnTo>
                <a:lnTo>
                  <a:pt x="774" y="156977"/>
                </a:lnTo>
                <a:lnTo>
                  <a:pt x="3052" y="170573"/>
                </a:lnTo>
                <a:lnTo>
                  <a:pt x="6763" y="183608"/>
                </a:lnTo>
                <a:lnTo>
                  <a:pt x="11835" y="196023"/>
                </a:lnTo>
                <a:lnTo>
                  <a:pt x="18199" y="207763"/>
                </a:lnTo>
                <a:lnTo>
                  <a:pt x="25784" y="218772"/>
                </a:lnTo>
                <a:lnTo>
                  <a:pt x="34520" y="228993"/>
                </a:lnTo>
                <a:lnTo>
                  <a:pt x="44335" y="238370"/>
                </a:lnTo>
                <a:lnTo>
                  <a:pt x="55160" y="246846"/>
                </a:lnTo>
                <a:lnTo>
                  <a:pt x="66925" y="254365"/>
                </a:lnTo>
                <a:lnTo>
                  <a:pt x="79557" y="260870"/>
                </a:lnTo>
                <a:lnTo>
                  <a:pt x="92988" y="266306"/>
                </a:lnTo>
                <a:lnTo>
                  <a:pt x="107147" y="270615"/>
                </a:lnTo>
                <a:lnTo>
                  <a:pt x="121963" y="273742"/>
                </a:lnTo>
                <a:lnTo>
                  <a:pt x="137365" y="275630"/>
                </a:lnTo>
                <a:lnTo>
                  <a:pt x="152400" y="276225"/>
                </a:lnTo>
                <a:lnTo>
                  <a:pt x="167118" y="275511"/>
                </a:lnTo>
                <a:lnTo>
                  <a:pt x="181501" y="273412"/>
                </a:lnTo>
                <a:lnTo>
                  <a:pt x="195455" y="269991"/>
                </a:lnTo>
                <a:lnTo>
                  <a:pt x="208885" y="265310"/>
                </a:lnTo>
                <a:lnTo>
                  <a:pt x="221698" y="259432"/>
                </a:lnTo>
                <a:lnTo>
                  <a:pt x="233798" y="252419"/>
                </a:lnTo>
                <a:lnTo>
                  <a:pt x="245093" y="244335"/>
                </a:lnTo>
                <a:lnTo>
                  <a:pt x="255488" y="235242"/>
                </a:lnTo>
                <a:lnTo>
                  <a:pt x="264889" y="225203"/>
                </a:lnTo>
                <a:lnTo>
                  <a:pt x="273201" y="214280"/>
                </a:lnTo>
                <a:lnTo>
                  <a:pt x="280331" y="202537"/>
                </a:lnTo>
                <a:lnTo>
                  <a:pt x="286185" y="190036"/>
                </a:lnTo>
                <a:lnTo>
                  <a:pt x="290669" y="176839"/>
                </a:lnTo>
                <a:lnTo>
                  <a:pt x="293688" y="163010"/>
                </a:lnTo>
                <a:lnTo>
                  <a:pt x="295148" y="148612"/>
                </a:lnTo>
                <a:lnTo>
                  <a:pt x="295275" y="142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8" name="object 88"/>
          <p:cNvSpPr/>
          <p:nvPr/>
        </p:nvSpPr>
        <p:spPr>
          <a:xfrm>
            <a:off x="4072995" y="1536964"/>
            <a:ext cx="419100" cy="0"/>
          </a:xfrm>
          <a:custGeom>
            <a:avLst/>
            <a:gdLst/>
            <a:ahLst/>
            <a:cxnLst/>
            <a:rect l="l" t="t" r="r" b="b"/>
            <a:pathLst>
              <a:path w="419100" h="0">
                <a:moveTo>
                  <a:pt x="0" y="0"/>
                </a:moveTo>
                <a:lnTo>
                  <a:pt x="419100" y="0"/>
                </a:lnTo>
              </a:path>
            </a:pathLst>
          </a:custGeom>
          <a:ln w="58419">
            <a:solidFill>
              <a:srgbClr val="FFF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9" name="object 89"/>
          <p:cNvSpPr/>
          <p:nvPr/>
        </p:nvSpPr>
        <p:spPr>
          <a:xfrm>
            <a:off x="4072995" y="1508389"/>
            <a:ext cx="419100" cy="57150"/>
          </a:xfrm>
          <a:custGeom>
            <a:avLst/>
            <a:gdLst/>
            <a:ahLst/>
            <a:cxnLst/>
            <a:rect l="l" t="t" r="r" b="b"/>
            <a:pathLst>
              <a:path w="419100" h="57150">
                <a:moveTo>
                  <a:pt x="0" y="57150"/>
                </a:moveTo>
                <a:lnTo>
                  <a:pt x="419100" y="57150"/>
                </a:lnTo>
                <a:lnTo>
                  <a:pt x="419100" y="0"/>
                </a:ln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0" name="object 90"/>
          <p:cNvSpPr/>
          <p:nvPr/>
        </p:nvSpPr>
        <p:spPr>
          <a:xfrm>
            <a:off x="4196820" y="1565539"/>
            <a:ext cx="85725" cy="190500"/>
          </a:xfrm>
          <a:custGeom>
            <a:avLst/>
            <a:gdLst/>
            <a:ahLst/>
            <a:cxnLst/>
            <a:rect l="l" t="t" r="r" b="b"/>
            <a:pathLst>
              <a:path w="85725" h="190500">
                <a:moveTo>
                  <a:pt x="85725" y="0"/>
                </a:moveTo>
                <a:lnTo>
                  <a:pt x="0" y="1905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1" name="object 91"/>
          <p:cNvSpPr/>
          <p:nvPr/>
        </p:nvSpPr>
        <p:spPr>
          <a:xfrm>
            <a:off x="4133850" y="1752600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0" y="0"/>
                </a:moveTo>
                <a:lnTo>
                  <a:pt x="9525" y="28575"/>
                </a:lnTo>
                <a:lnTo>
                  <a:pt x="28575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2" name="object 92"/>
          <p:cNvSpPr/>
          <p:nvPr/>
        </p:nvSpPr>
        <p:spPr>
          <a:xfrm>
            <a:off x="4739745" y="2232289"/>
            <a:ext cx="295275" cy="276225"/>
          </a:xfrm>
          <a:custGeom>
            <a:avLst/>
            <a:gdLst/>
            <a:ahLst/>
            <a:cxnLst/>
            <a:rect l="l" t="t" r="r" b="b"/>
            <a:pathLst>
              <a:path w="295275" h="276225">
                <a:moveTo>
                  <a:pt x="295275" y="142875"/>
                </a:moveTo>
                <a:lnTo>
                  <a:pt x="294498" y="128633"/>
                </a:lnTo>
                <a:lnTo>
                  <a:pt x="292227" y="114703"/>
                </a:lnTo>
                <a:lnTo>
                  <a:pt x="288546" y="101168"/>
                </a:lnTo>
                <a:lnTo>
                  <a:pt x="283539" y="88115"/>
                </a:lnTo>
                <a:lnTo>
                  <a:pt x="277293" y="75629"/>
                </a:lnTo>
                <a:lnTo>
                  <a:pt x="269892" y="63793"/>
                </a:lnTo>
                <a:lnTo>
                  <a:pt x="261421" y="52695"/>
                </a:lnTo>
                <a:lnTo>
                  <a:pt x="251966" y="42418"/>
                </a:lnTo>
                <a:lnTo>
                  <a:pt x="241612" y="33048"/>
                </a:lnTo>
                <a:lnTo>
                  <a:pt x="230443" y="24670"/>
                </a:lnTo>
                <a:lnTo>
                  <a:pt x="218546" y="17370"/>
                </a:lnTo>
                <a:lnTo>
                  <a:pt x="206005" y="11232"/>
                </a:lnTo>
                <a:lnTo>
                  <a:pt x="192905" y="6341"/>
                </a:lnTo>
                <a:lnTo>
                  <a:pt x="179331" y="2783"/>
                </a:lnTo>
                <a:lnTo>
                  <a:pt x="165369" y="643"/>
                </a:lnTo>
                <a:lnTo>
                  <a:pt x="152400" y="0"/>
                </a:lnTo>
                <a:lnTo>
                  <a:pt x="136987" y="726"/>
                </a:lnTo>
                <a:lnTo>
                  <a:pt x="122060" y="2854"/>
                </a:lnTo>
                <a:lnTo>
                  <a:pt x="107685" y="6306"/>
                </a:lnTo>
                <a:lnTo>
                  <a:pt x="93924" y="11006"/>
                </a:lnTo>
                <a:lnTo>
                  <a:pt x="80843" y="16877"/>
                </a:lnTo>
                <a:lnTo>
                  <a:pt x="68506" y="23840"/>
                </a:lnTo>
                <a:lnTo>
                  <a:pt x="56976" y="31820"/>
                </a:lnTo>
                <a:lnTo>
                  <a:pt x="46318" y="40739"/>
                </a:lnTo>
                <a:lnTo>
                  <a:pt x="36596" y="50521"/>
                </a:lnTo>
                <a:lnTo>
                  <a:pt x="27874" y="61087"/>
                </a:lnTo>
                <a:lnTo>
                  <a:pt x="20217" y="72362"/>
                </a:lnTo>
                <a:lnTo>
                  <a:pt x="13689" y="84268"/>
                </a:lnTo>
                <a:lnTo>
                  <a:pt x="8354" y="96727"/>
                </a:lnTo>
                <a:lnTo>
                  <a:pt x="4276" y="109664"/>
                </a:lnTo>
                <a:lnTo>
                  <a:pt x="1519" y="123000"/>
                </a:lnTo>
                <a:lnTo>
                  <a:pt x="147" y="136660"/>
                </a:lnTo>
                <a:lnTo>
                  <a:pt x="0" y="142875"/>
                </a:lnTo>
                <a:lnTo>
                  <a:pt x="774" y="156977"/>
                </a:lnTo>
                <a:lnTo>
                  <a:pt x="3052" y="170573"/>
                </a:lnTo>
                <a:lnTo>
                  <a:pt x="6763" y="183608"/>
                </a:lnTo>
                <a:lnTo>
                  <a:pt x="11835" y="196023"/>
                </a:lnTo>
                <a:lnTo>
                  <a:pt x="18199" y="207763"/>
                </a:lnTo>
                <a:lnTo>
                  <a:pt x="25784" y="218772"/>
                </a:lnTo>
                <a:lnTo>
                  <a:pt x="34520" y="228993"/>
                </a:lnTo>
                <a:lnTo>
                  <a:pt x="44335" y="238370"/>
                </a:lnTo>
                <a:lnTo>
                  <a:pt x="55160" y="246846"/>
                </a:lnTo>
                <a:lnTo>
                  <a:pt x="66925" y="254365"/>
                </a:lnTo>
                <a:lnTo>
                  <a:pt x="79557" y="260870"/>
                </a:lnTo>
                <a:lnTo>
                  <a:pt x="92988" y="266306"/>
                </a:lnTo>
                <a:lnTo>
                  <a:pt x="107147" y="270615"/>
                </a:lnTo>
                <a:lnTo>
                  <a:pt x="121963" y="273742"/>
                </a:lnTo>
                <a:lnTo>
                  <a:pt x="137365" y="275630"/>
                </a:lnTo>
                <a:lnTo>
                  <a:pt x="152400" y="276225"/>
                </a:lnTo>
                <a:lnTo>
                  <a:pt x="167118" y="275511"/>
                </a:lnTo>
                <a:lnTo>
                  <a:pt x="181501" y="273412"/>
                </a:lnTo>
                <a:lnTo>
                  <a:pt x="195455" y="269991"/>
                </a:lnTo>
                <a:lnTo>
                  <a:pt x="208885" y="265310"/>
                </a:lnTo>
                <a:lnTo>
                  <a:pt x="221698" y="259432"/>
                </a:lnTo>
                <a:lnTo>
                  <a:pt x="233798" y="252419"/>
                </a:lnTo>
                <a:lnTo>
                  <a:pt x="245093" y="244335"/>
                </a:lnTo>
                <a:lnTo>
                  <a:pt x="255488" y="235242"/>
                </a:lnTo>
                <a:lnTo>
                  <a:pt x="264889" y="225203"/>
                </a:lnTo>
                <a:lnTo>
                  <a:pt x="273201" y="214280"/>
                </a:lnTo>
                <a:lnTo>
                  <a:pt x="280331" y="202537"/>
                </a:lnTo>
                <a:lnTo>
                  <a:pt x="286185" y="190036"/>
                </a:lnTo>
                <a:lnTo>
                  <a:pt x="290669" y="176839"/>
                </a:lnTo>
                <a:lnTo>
                  <a:pt x="293688" y="163010"/>
                </a:lnTo>
                <a:lnTo>
                  <a:pt x="295148" y="148612"/>
                </a:lnTo>
                <a:lnTo>
                  <a:pt x="295275" y="142875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3" name="object 93"/>
          <p:cNvSpPr/>
          <p:nvPr/>
        </p:nvSpPr>
        <p:spPr>
          <a:xfrm>
            <a:off x="4739745" y="2232289"/>
            <a:ext cx="295275" cy="276225"/>
          </a:xfrm>
          <a:custGeom>
            <a:avLst/>
            <a:gdLst/>
            <a:ahLst/>
            <a:cxnLst/>
            <a:rect l="l" t="t" r="r" b="b"/>
            <a:pathLst>
              <a:path w="295275" h="276225">
                <a:moveTo>
                  <a:pt x="295275" y="142875"/>
                </a:moveTo>
                <a:lnTo>
                  <a:pt x="294498" y="128633"/>
                </a:lnTo>
                <a:lnTo>
                  <a:pt x="292227" y="114703"/>
                </a:lnTo>
                <a:lnTo>
                  <a:pt x="288546" y="101168"/>
                </a:lnTo>
                <a:lnTo>
                  <a:pt x="283539" y="88115"/>
                </a:lnTo>
                <a:lnTo>
                  <a:pt x="277293" y="75629"/>
                </a:lnTo>
                <a:lnTo>
                  <a:pt x="269892" y="63793"/>
                </a:lnTo>
                <a:lnTo>
                  <a:pt x="261421" y="52695"/>
                </a:lnTo>
                <a:lnTo>
                  <a:pt x="251966" y="42418"/>
                </a:lnTo>
                <a:lnTo>
                  <a:pt x="241612" y="33048"/>
                </a:lnTo>
                <a:lnTo>
                  <a:pt x="230443" y="24670"/>
                </a:lnTo>
                <a:lnTo>
                  <a:pt x="218546" y="17370"/>
                </a:lnTo>
                <a:lnTo>
                  <a:pt x="206005" y="11232"/>
                </a:lnTo>
                <a:lnTo>
                  <a:pt x="192905" y="6341"/>
                </a:lnTo>
                <a:lnTo>
                  <a:pt x="179331" y="2783"/>
                </a:lnTo>
                <a:lnTo>
                  <a:pt x="165369" y="643"/>
                </a:lnTo>
                <a:lnTo>
                  <a:pt x="152400" y="0"/>
                </a:lnTo>
                <a:lnTo>
                  <a:pt x="136987" y="726"/>
                </a:lnTo>
                <a:lnTo>
                  <a:pt x="122060" y="2854"/>
                </a:lnTo>
                <a:lnTo>
                  <a:pt x="107685" y="6306"/>
                </a:lnTo>
                <a:lnTo>
                  <a:pt x="93924" y="11006"/>
                </a:lnTo>
                <a:lnTo>
                  <a:pt x="80843" y="16877"/>
                </a:lnTo>
                <a:lnTo>
                  <a:pt x="68506" y="23840"/>
                </a:lnTo>
                <a:lnTo>
                  <a:pt x="56976" y="31820"/>
                </a:lnTo>
                <a:lnTo>
                  <a:pt x="46318" y="40739"/>
                </a:lnTo>
                <a:lnTo>
                  <a:pt x="36596" y="50521"/>
                </a:lnTo>
                <a:lnTo>
                  <a:pt x="27874" y="61087"/>
                </a:lnTo>
                <a:lnTo>
                  <a:pt x="20217" y="72362"/>
                </a:lnTo>
                <a:lnTo>
                  <a:pt x="13689" y="84268"/>
                </a:lnTo>
                <a:lnTo>
                  <a:pt x="8354" y="96727"/>
                </a:lnTo>
                <a:lnTo>
                  <a:pt x="4276" y="109664"/>
                </a:lnTo>
                <a:lnTo>
                  <a:pt x="1519" y="123000"/>
                </a:lnTo>
                <a:lnTo>
                  <a:pt x="147" y="136660"/>
                </a:lnTo>
                <a:lnTo>
                  <a:pt x="0" y="142875"/>
                </a:lnTo>
                <a:lnTo>
                  <a:pt x="774" y="156977"/>
                </a:lnTo>
                <a:lnTo>
                  <a:pt x="3052" y="170573"/>
                </a:lnTo>
                <a:lnTo>
                  <a:pt x="6763" y="183608"/>
                </a:lnTo>
                <a:lnTo>
                  <a:pt x="11835" y="196023"/>
                </a:lnTo>
                <a:lnTo>
                  <a:pt x="18199" y="207763"/>
                </a:lnTo>
                <a:lnTo>
                  <a:pt x="25784" y="218772"/>
                </a:lnTo>
                <a:lnTo>
                  <a:pt x="34520" y="228993"/>
                </a:lnTo>
                <a:lnTo>
                  <a:pt x="44335" y="238370"/>
                </a:lnTo>
                <a:lnTo>
                  <a:pt x="55160" y="246846"/>
                </a:lnTo>
                <a:lnTo>
                  <a:pt x="66925" y="254365"/>
                </a:lnTo>
                <a:lnTo>
                  <a:pt x="79557" y="260870"/>
                </a:lnTo>
                <a:lnTo>
                  <a:pt x="92988" y="266306"/>
                </a:lnTo>
                <a:lnTo>
                  <a:pt x="107147" y="270615"/>
                </a:lnTo>
                <a:lnTo>
                  <a:pt x="121963" y="273742"/>
                </a:lnTo>
                <a:lnTo>
                  <a:pt x="137365" y="275630"/>
                </a:lnTo>
                <a:lnTo>
                  <a:pt x="152400" y="276225"/>
                </a:lnTo>
                <a:lnTo>
                  <a:pt x="167118" y="275511"/>
                </a:lnTo>
                <a:lnTo>
                  <a:pt x="181501" y="273412"/>
                </a:lnTo>
                <a:lnTo>
                  <a:pt x="195455" y="269991"/>
                </a:lnTo>
                <a:lnTo>
                  <a:pt x="208885" y="265310"/>
                </a:lnTo>
                <a:lnTo>
                  <a:pt x="221698" y="259432"/>
                </a:lnTo>
                <a:lnTo>
                  <a:pt x="233798" y="252419"/>
                </a:lnTo>
                <a:lnTo>
                  <a:pt x="245093" y="244335"/>
                </a:lnTo>
                <a:lnTo>
                  <a:pt x="255488" y="235242"/>
                </a:lnTo>
                <a:lnTo>
                  <a:pt x="264889" y="225203"/>
                </a:lnTo>
                <a:lnTo>
                  <a:pt x="273201" y="214280"/>
                </a:lnTo>
                <a:lnTo>
                  <a:pt x="280331" y="202537"/>
                </a:lnTo>
                <a:lnTo>
                  <a:pt x="286185" y="190036"/>
                </a:lnTo>
                <a:lnTo>
                  <a:pt x="290669" y="176839"/>
                </a:lnTo>
                <a:lnTo>
                  <a:pt x="293688" y="163010"/>
                </a:lnTo>
                <a:lnTo>
                  <a:pt x="295148" y="148612"/>
                </a:lnTo>
                <a:lnTo>
                  <a:pt x="295275" y="142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4" name="object 94"/>
          <p:cNvSpPr/>
          <p:nvPr/>
        </p:nvSpPr>
        <p:spPr>
          <a:xfrm>
            <a:off x="4139670" y="2222764"/>
            <a:ext cx="409575" cy="0"/>
          </a:xfrm>
          <a:custGeom>
            <a:avLst/>
            <a:gdLst/>
            <a:ahLst/>
            <a:cxnLst/>
            <a:rect l="l" t="t" r="r" b="b"/>
            <a:pathLst>
              <a:path w="409575" h="0">
                <a:moveTo>
                  <a:pt x="0" y="0"/>
                </a:moveTo>
                <a:lnTo>
                  <a:pt x="409575" y="0"/>
                </a:lnTo>
              </a:path>
            </a:pathLst>
          </a:custGeom>
          <a:ln w="58419">
            <a:solidFill>
              <a:srgbClr val="FFF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5" name="object 95"/>
          <p:cNvSpPr/>
          <p:nvPr/>
        </p:nvSpPr>
        <p:spPr>
          <a:xfrm>
            <a:off x="4139670" y="2194189"/>
            <a:ext cx="409575" cy="57150"/>
          </a:xfrm>
          <a:custGeom>
            <a:avLst/>
            <a:gdLst/>
            <a:ahLst/>
            <a:cxnLst/>
            <a:rect l="l" t="t" r="r" b="b"/>
            <a:pathLst>
              <a:path w="409575" h="57150">
                <a:moveTo>
                  <a:pt x="0" y="57150"/>
                </a:moveTo>
                <a:lnTo>
                  <a:pt x="409575" y="57150"/>
                </a:lnTo>
                <a:lnTo>
                  <a:pt x="409575" y="0"/>
                </a:ln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6" name="object 96"/>
          <p:cNvSpPr/>
          <p:nvPr/>
        </p:nvSpPr>
        <p:spPr>
          <a:xfrm>
            <a:off x="4549245" y="2222764"/>
            <a:ext cx="219075" cy="38100"/>
          </a:xfrm>
          <a:custGeom>
            <a:avLst/>
            <a:gdLst/>
            <a:ahLst/>
            <a:cxnLst/>
            <a:rect l="l" t="t" r="r" b="b"/>
            <a:pathLst>
              <a:path w="219075" h="38100">
                <a:moveTo>
                  <a:pt x="0" y="0"/>
                </a:moveTo>
                <a:lnTo>
                  <a:pt x="219075" y="381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7" name="object 97"/>
          <p:cNvSpPr/>
          <p:nvPr/>
        </p:nvSpPr>
        <p:spPr>
          <a:xfrm>
            <a:off x="4695825" y="2266950"/>
            <a:ext cx="38100" cy="28575"/>
          </a:xfrm>
          <a:custGeom>
            <a:avLst/>
            <a:gdLst/>
            <a:ahLst/>
            <a:cxnLst/>
            <a:rect l="l" t="t" r="r" b="b"/>
            <a:pathLst>
              <a:path w="38100" h="28575">
                <a:moveTo>
                  <a:pt x="0" y="28575"/>
                </a:moveTo>
                <a:lnTo>
                  <a:pt x="38100" y="28575"/>
                </a:lnTo>
                <a:lnTo>
                  <a:pt x="9525" y="0"/>
                </a:lnTo>
                <a:lnTo>
                  <a:pt x="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8" name="object 98"/>
          <p:cNvSpPr/>
          <p:nvPr/>
        </p:nvSpPr>
        <p:spPr>
          <a:xfrm>
            <a:off x="4187295" y="2041789"/>
            <a:ext cx="161925" cy="152400"/>
          </a:xfrm>
          <a:custGeom>
            <a:avLst/>
            <a:gdLst/>
            <a:ahLst/>
            <a:cxnLst/>
            <a:rect l="l" t="t" r="r" b="b"/>
            <a:pathLst>
              <a:path w="161925" h="152400">
                <a:moveTo>
                  <a:pt x="0" y="0"/>
                </a:moveTo>
                <a:lnTo>
                  <a:pt x="161925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9" name="object 99"/>
          <p:cNvSpPr/>
          <p:nvPr/>
        </p:nvSpPr>
        <p:spPr>
          <a:xfrm>
            <a:off x="4267200" y="2181225"/>
            <a:ext cx="28575" cy="38100"/>
          </a:xfrm>
          <a:custGeom>
            <a:avLst/>
            <a:gdLst/>
            <a:ahLst/>
            <a:cxnLst/>
            <a:rect l="l" t="t" r="r" b="b"/>
            <a:pathLst>
              <a:path w="28575" h="38100">
                <a:moveTo>
                  <a:pt x="0" y="19050"/>
                </a:moveTo>
                <a:lnTo>
                  <a:pt x="28575" y="38100"/>
                </a:lnTo>
                <a:lnTo>
                  <a:pt x="19050" y="0"/>
                </a:lnTo>
                <a:lnTo>
                  <a:pt x="0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0" name="object 100"/>
          <p:cNvSpPr/>
          <p:nvPr/>
        </p:nvSpPr>
        <p:spPr>
          <a:xfrm>
            <a:off x="5406495" y="1727464"/>
            <a:ext cx="304800" cy="276225"/>
          </a:xfrm>
          <a:custGeom>
            <a:avLst/>
            <a:gdLst/>
            <a:ahLst/>
            <a:cxnLst/>
            <a:rect l="l" t="t" r="r" b="b"/>
            <a:pathLst>
              <a:path w="304800" h="276225">
                <a:moveTo>
                  <a:pt x="304800" y="142875"/>
                </a:moveTo>
                <a:lnTo>
                  <a:pt x="304071" y="129095"/>
                </a:lnTo>
                <a:lnTo>
                  <a:pt x="301928" y="115604"/>
                </a:lnTo>
                <a:lnTo>
                  <a:pt x="298435" y="102479"/>
                </a:lnTo>
                <a:lnTo>
                  <a:pt x="293656" y="89795"/>
                </a:lnTo>
                <a:lnTo>
                  <a:pt x="287655" y="77632"/>
                </a:lnTo>
                <a:lnTo>
                  <a:pt x="280496" y="66064"/>
                </a:lnTo>
                <a:lnTo>
                  <a:pt x="272245" y="55170"/>
                </a:lnTo>
                <a:lnTo>
                  <a:pt x="262964" y="45027"/>
                </a:lnTo>
                <a:lnTo>
                  <a:pt x="252718" y="35711"/>
                </a:lnTo>
                <a:lnTo>
                  <a:pt x="241571" y="27300"/>
                </a:lnTo>
                <a:lnTo>
                  <a:pt x="229588" y="19871"/>
                </a:lnTo>
                <a:lnTo>
                  <a:pt x="216833" y="13501"/>
                </a:lnTo>
                <a:lnTo>
                  <a:pt x="203370" y="8266"/>
                </a:lnTo>
                <a:lnTo>
                  <a:pt x="189262" y="4244"/>
                </a:lnTo>
                <a:lnTo>
                  <a:pt x="174575" y="1512"/>
                </a:lnTo>
                <a:lnTo>
                  <a:pt x="159373" y="147"/>
                </a:lnTo>
                <a:lnTo>
                  <a:pt x="152400" y="0"/>
                </a:lnTo>
                <a:lnTo>
                  <a:pt x="136987" y="726"/>
                </a:lnTo>
                <a:lnTo>
                  <a:pt x="122060" y="2854"/>
                </a:lnTo>
                <a:lnTo>
                  <a:pt x="107685" y="6306"/>
                </a:lnTo>
                <a:lnTo>
                  <a:pt x="93924" y="11006"/>
                </a:lnTo>
                <a:lnTo>
                  <a:pt x="80843" y="16877"/>
                </a:lnTo>
                <a:lnTo>
                  <a:pt x="68506" y="23840"/>
                </a:lnTo>
                <a:lnTo>
                  <a:pt x="56976" y="31820"/>
                </a:lnTo>
                <a:lnTo>
                  <a:pt x="46318" y="40739"/>
                </a:lnTo>
                <a:lnTo>
                  <a:pt x="36596" y="50521"/>
                </a:lnTo>
                <a:lnTo>
                  <a:pt x="27874" y="61087"/>
                </a:lnTo>
                <a:lnTo>
                  <a:pt x="20217" y="72362"/>
                </a:lnTo>
                <a:lnTo>
                  <a:pt x="13689" y="84268"/>
                </a:lnTo>
                <a:lnTo>
                  <a:pt x="8354" y="96727"/>
                </a:lnTo>
                <a:lnTo>
                  <a:pt x="4276" y="109664"/>
                </a:lnTo>
                <a:lnTo>
                  <a:pt x="1519" y="123000"/>
                </a:lnTo>
                <a:lnTo>
                  <a:pt x="147" y="136660"/>
                </a:lnTo>
                <a:lnTo>
                  <a:pt x="0" y="142875"/>
                </a:lnTo>
                <a:lnTo>
                  <a:pt x="774" y="156977"/>
                </a:lnTo>
                <a:lnTo>
                  <a:pt x="3052" y="170573"/>
                </a:lnTo>
                <a:lnTo>
                  <a:pt x="6763" y="183608"/>
                </a:lnTo>
                <a:lnTo>
                  <a:pt x="11835" y="196023"/>
                </a:lnTo>
                <a:lnTo>
                  <a:pt x="18199" y="207763"/>
                </a:lnTo>
                <a:lnTo>
                  <a:pt x="25784" y="218772"/>
                </a:lnTo>
                <a:lnTo>
                  <a:pt x="34520" y="228993"/>
                </a:lnTo>
                <a:lnTo>
                  <a:pt x="44335" y="238370"/>
                </a:lnTo>
                <a:lnTo>
                  <a:pt x="55160" y="246846"/>
                </a:lnTo>
                <a:lnTo>
                  <a:pt x="66925" y="254365"/>
                </a:lnTo>
                <a:lnTo>
                  <a:pt x="79557" y="260870"/>
                </a:lnTo>
                <a:lnTo>
                  <a:pt x="92988" y="266306"/>
                </a:lnTo>
                <a:lnTo>
                  <a:pt x="107147" y="270615"/>
                </a:lnTo>
                <a:lnTo>
                  <a:pt x="121963" y="273742"/>
                </a:lnTo>
                <a:lnTo>
                  <a:pt x="137365" y="275630"/>
                </a:lnTo>
                <a:lnTo>
                  <a:pt x="152400" y="276225"/>
                </a:lnTo>
                <a:lnTo>
                  <a:pt x="168292" y="275560"/>
                </a:lnTo>
                <a:lnTo>
                  <a:pt x="183664" y="273602"/>
                </a:lnTo>
                <a:lnTo>
                  <a:pt x="198445" y="270409"/>
                </a:lnTo>
                <a:lnTo>
                  <a:pt x="212566" y="266037"/>
                </a:lnTo>
                <a:lnTo>
                  <a:pt x="225955" y="260541"/>
                </a:lnTo>
                <a:lnTo>
                  <a:pt x="238542" y="253978"/>
                </a:lnTo>
                <a:lnTo>
                  <a:pt x="250257" y="246406"/>
                </a:lnTo>
                <a:lnTo>
                  <a:pt x="261028" y="237879"/>
                </a:lnTo>
                <a:lnTo>
                  <a:pt x="270786" y="228454"/>
                </a:lnTo>
                <a:lnTo>
                  <a:pt x="279461" y="218189"/>
                </a:lnTo>
                <a:lnTo>
                  <a:pt x="286981" y="207138"/>
                </a:lnTo>
                <a:lnTo>
                  <a:pt x="293276" y="195360"/>
                </a:lnTo>
                <a:lnTo>
                  <a:pt x="298275" y="182909"/>
                </a:lnTo>
                <a:lnTo>
                  <a:pt x="301909" y="169843"/>
                </a:lnTo>
                <a:lnTo>
                  <a:pt x="304107" y="156217"/>
                </a:lnTo>
                <a:lnTo>
                  <a:pt x="304800" y="142875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1" name="object 101"/>
          <p:cNvSpPr/>
          <p:nvPr/>
        </p:nvSpPr>
        <p:spPr>
          <a:xfrm>
            <a:off x="5406495" y="1727464"/>
            <a:ext cx="304800" cy="276225"/>
          </a:xfrm>
          <a:custGeom>
            <a:avLst/>
            <a:gdLst/>
            <a:ahLst/>
            <a:cxnLst/>
            <a:rect l="l" t="t" r="r" b="b"/>
            <a:pathLst>
              <a:path w="304800" h="276225">
                <a:moveTo>
                  <a:pt x="304800" y="142875"/>
                </a:moveTo>
                <a:lnTo>
                  <a:pt x="304071" y="129095"/>
                </a:lnTo>
                <a:lnTo>
                  <a:pt x="301928" y="115604"/>
                </a:lnTo>
                <a:lnTo>
                  <a:pt x="298435" y="102479"/>
                </a:lnTo>
                <a:lnTo>
                  <a:pt x="293656" y="89795"/>
                </a:lnTo>
                <a:lnTo>
                  <a:pt x="287655" y="77632"/>
                </a:lnTo>
                <a:lnTo>
                  <a:pt x="280496" y="66064"/>
                </a:lnTo>
                <a:lnTo>
                  <a:pt x="272245" y="55170"/>
                </a:lnTo>
                <a:lnTo>
                  <a:pt x="262964" y="45027"/>
                </a:lnTo>
                <a:lnTo>
                  <a:pt x="252718" y="35711"/>
                </a:lnTo>
                <a:lnTo>
                  <a:pt x="241571" y="27300"/>
                </a:lnTo>
                <a:lnTo>
                  <a:pt x="229588" y="19871"/>
                </a:lnTo>
                <a:lnTo>
                  <a:pt x="216833" y="13501"/>
                </a:lnTo>
                <a:lnTo>
                  <a:pt x="203370" y="8266"/>
                </a:lnTo>
                <a:lnTo>
                  <a:pt x="189262" y="4244"/>
                </a:lnTo>
                <a:lnTo>
                  <a:pt x="174575" y="1512"/>
                </a:lnTo>
                <a:lnTo>
                  <a:pt x="159373" y="147"/>
                </a:lnTo>
                <a:lnTo>
                  <a:pt x="152400" y="0"/>
                </a:lnTo>
                <a:lnTo>
                  <a:pt x="136987" y="726"/>
                </a:lnTo>
                <a:lnTo>
                  <a:pt x="122060" y="2854"/>
                </a:lnTo>
                <a:lnTo>
                  <a:pt x="107685" y="6306"/>
                </a:lnTo>
                <a:lnTo>
                  <a:pt x="93924" y="11006"/>
                </a:lnTo>
                <a:lnTo>
                  <a:pt x="80843" y="16877"/>
                </a:lnTo>
                <a:lnTo>
                  <a:pt x="68506" y="23840"/>
                </a:lnTo>
                <a:lnTo>
                  <a:pt x="56976" y="31820"/>
                </a:lnTo>
                <a:lnTo>
                  <a:pt x="46318" y="40739"/>
                </a:lnTo>
                <a:lnTo>
                  <a:pt x="36596" y="50521"/>
                </a:lnTo>
                <a:lnTo>
                  <a:pt x="27874" y="61087"/>
                </a:lnTo>
                <a:lnTo>
                  <a:pt x="20217" y="72362"/>
                </a:lnTo>
                <a:lnTo>
                  <a:pt x="13689" y="84268"/>
                </a:lnTo>
                <a:lnTo>
                  <a:pt x="8354" y="96727"/>
                </a:lnTo>
                <a:lnTo>
                  <a:pt x="4276" y="109664"/>
                </a:lnTo>
                <a:lnTo>
                  <a:pt x="1519" y="123000"/>
                </a:lnTo>
                <a:lnTo>
                  <a:pt x="147" y="136660"/>
                </a:lnTo>
                <a:lnTo>
                  <a:pt x="0" y="142875"/>
                </a:lnTo>
                <a:lnTo>
                  <a:pt x="774" y="156977"/>
                </a:lnTo>
                <a:lnTo>
                  <a:pt x="3052" y="170573"/>
                </a:lnTo>
                <a:lnTo>
                  <a:pt x="6763" y="183608"/>
                </a:lnTo>
                <a:lnTo>
                  <a:pt x="11835" y="196023"/>
                </a:lnTo>
                <a:lnTo>
                  <a:pt x="18199" y="207763"/>
                </a:lnTo>
                <a:lnTo>
                  <a:pt x="25784" y="218772"/>
                </a:lnTo>
                <a:lnTo>
                  <a:pt x="34520" y="228993"/>
                </a:lnTo>
                <a:lnTo>
                  <a:pt x="44335" y="238370"/>
                </a:lnTo>
                <a:lnTo>
                  <a:pt x="55160" y="246846"/>
                </a:lnTo>
                <a:lnTo>
                  <a:pt x="66925" y="254365"/>
                </a:lnTo>
                <a:lnTo>
                  <a:pt x="79557" y="260870"/>
                </a:lnTo>
                <a:lnTo>
                  <a:pt x="92988" y="266306"/>
                </a:lnTo>
                <a:lnTo>
                  <a:pt x="107147" y="270615"/>
                </a:lnTo>
                <a:lnTo>
                  <a:pt x="121963" y="273742"/>
                </a:lnTo>
                <a:lnTo>
                  <a:pt x="137365" y="275630"/>
                </a:lnTo>
                <a:lnTo>
                  <a:pt x="152400" y="276225"/>
                </a:lnTo>
                <a:lnTo>
                  <a:pt x="168292" y="275560"/>
                </a:lnTo>
                <a:lnTo>
                  <a:pt x="183664" y="273602"/>
                </a:lnTo>
                <a:lnTo>
                  <a:pt x="198445" y="270409"/>
                </a:lnTo>
                <a:lnTo>
                  <a:pt x="212566" y="266037"/>
                </a:lnTo>
                <a:lnTo>
                  <a:pt x="225955" y="260541"/>
                </a:lnTo>
                <a:lnTo>
                  <a:pt x="238542" y="253978"/>
                </a:lnTo>
                <a:lnTo>
                  <a:pt x="250257" y="246406"/>
                </a:lnTo>
                <a:lnTo>
                  <a:pt x="261028" y="237879"/>
                </a:lnTo>
                <a:lnTo>
                  <a:pt x="270786" y="228454"/>
                </a:lnTo>
                <a:lnTo>
                  <a:pt x="279461" y="218189"/>
                </a:lnTo>
                <a:lnTo>
                  <a:pt x="286981" y="207138"/>
                </a:lnTo>
                <a:lnTo>
                  <a:pt x="293276" y="195360"/>
                </a:lnTo>
                <a:lnTo>
                  <a:pt x="298275" y="182909"/>
                </a:lnTo>
                <a:lnTo>
                  <a:pt x="301909" y="169843"/>
                </a:lnTo>
                <a:lnTo>
                  <a:pt x="304107" y="156217"/>
                </a:lnTo>
                <a:lnTo>
                  <a:pt x="304800" y="142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2" name="object 102"/>
          <p:cNvSpPr/>
          <p:nvPr/>
        </p:nvSpPr>
        <p:spPr>
          <a:xfrm>
            <a:off x="5311245" y="2241814"/>
            <a:ext cx="409575" cy="0"/>
          </a:xfrm>
          <a:custGeom>
            <a:avLst/>
            <a:gdLst/>
            <a:ahLst/>
            <a:cxnLst/>
            <a:rect l="l" t="t" r="r" b="b"/>
            <a:pathLst>
              <a:path w="409575" h="0">
                <a:moveTo>
                  <a:pt x="0" y="0"/>
                </a:moveTo>
                <a:lnTo>
                  <a:pt x="409575" y="0"/>
                </a:lnTo>
              </a:path>
            </a:pathLst>
          </a:custGeom>
          <a:ln w="58419">
            <a:solidFill>
              <a:srgbClr val="FFF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3" name="object 103"/>
          <p:cNvSpPr/>
          <p:nvPr/>
        </p:nvSpPr>
        <p:spPr>
          <a:xfrm>
            <a:off x="5311245" y="2213239"/>
            <a:ext cx="409575" cy="57150"/>
          </a:xfrm>
          <a:custGeom>
            <a:avLst/>
            <a:gdLst/>
            <a:ahLst/>
            <a:cxnLst/>
            <a:rect l="l" t="t" r="r" b="b"/>
            <a:pathLst>
              <a:path w="409575" h="57150">
                <a:moveTo>
                  <a:pt x="0" y="57150"/>
                </a:moveTo>
                <a:lnTo>
                  <a:pt x="409575" y="57150"/>
                </a:lnTo>
                <a:lnTo>
                  <a:pt x="409575" y="0"/>
                </a:ln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4" name="object 104"/>
          <p:cNvSpPr/>
          <p:nvPr/>
        </p:nvSpPr>
        <p:spPr>
          <a:xfrm>
            <a:off x="5511270" y="2013214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200025"/>
                </a:moveTo>
                <a:lnTo>
                  <a:pt x="381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5" name="object 105"/>
          <p:cNvSpPr/>
          <p:nvPr/>
        </p:nvSpPr>
        <p:spPr>
          <a:xfrm>
            <a:off x="5486400" y="2028825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28575" y="0"/>
                </a:lnTo>
                <a:lnTo>
                  <a:pt x="0" y="1905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6" name="object 106"/>
          <p:cNvSpPr/>
          <p:nvPr/>
        </p:nvSpPr>
        <p:spPr>
          <a:xfrm>
            <a:off x="5035020" y="2279914"/>
            <a:ext cx="466725" cy="85725"/>
          </a:xfrm>
          <a:custGeom>
            <a:avLst/>
            <a:gdLst/>
            <a:ahLst/>
            <a:cxnLst/>
            <a:rect l="l" t="t" r="r" b="b"/>
            <a:pathLst>
              <a:path w="466725" h="85725">
                <a:moveTo>
                  <a:pt x="0" y="85725"/>
                </a:moveTo>
                <a:lnTo>
                  <a:pt x="46672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7" name="object 107"/>
          <p:cNvSpPr/>
          <p:nvPr/>
        </p:nvSpPr>
        <p:spPr>
          <a:xfrm>
            <a:off x="5429250" y="2286000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9525" y="28575"/>
                </a:moveTo>
                <a:lnTo>
                  <a:pt x="28575" y="9525"/>
                </a:lnTo>
                <a:lnTo>
                  <a:pt x="0" y="0"/>
                </a:lnTo>
                <a:lnTo>
                  <a:pt x="9525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8" name="object 108"/>
          <p:cNvSpPr/>
          <p:nvPr/>
        </p:nvSpPr>
        <p:spPr>
          <a:xfrm>
            <a:off x="4739745" y="1384564"/>
            <a:ext cx="295275" cy="276225"/>
          </a:xfrm>
          <a:custGeom>
            <a:avLst/>
            <a:gdLst/>
            <a:ahLst/>
            <a:cxnLst/>
            <a:rect l="l" t="t" r="r" b="b"/>
            <a:pathLst>
              <a:path w="295275" h="276225">
                <a:moveTo>
                  <a:pt x="295275" y="142875"/>
                </a:moveTo>
                <a:lnTo>
                  <a:pt x="294498" y="128633"/>
                </a:lnTo>
                <a:lnTo>
                  <a:pt x="292227" y="114703"/>
                </a:lnTo>
                <a:lnTo>
                  <a:pt x="288546" y="101168"/>
                </a:lnTo>
                <a:lnTo>
                  <a:pt x="283539" y="88115"/>
                </a:lnTo>
                <a:lnTo>
                  <a:pt x="277293" y="75629"/>
                </a:lnTo>
                <a:lnTo>
                  <a:pt x="269892" y="63793"/>
                </a:lnTo>
                <a:lnTo>
                  <a:pt x="261421" y="52695"/>
                </a:lnTo>
                <a:lnTo>
                  <a:pt x="251966" y="42418"/>
                </a:lnTo>
                <a:lnTo>
                  <a:pt x="241612" y="33048"/>
                </a:lnTo>
                <a:lnTo>
                  <a:pt x="230443" y="24670"/>
                </a:lnTo>
                <a:lnTo>
                  <a:pt x="218546" y="17370"/>
                </a:lnTo>
                <a:lnTo>
                  <a:pt x="206005" y="11232"/>
                </a:lnTo>
                <a:lnTo>
                  <a:pt x="192905" y="6341"/>
                </a:lnTo>
                <a:lnTo>
                  <a:pt x="179331" y="2783"/>
                </a:lnTo>
                <a:lnTo>
                  <a:pt x="165369" y="643"/>
                </a:lnTo>
                <a:lnTo>
                  <a:pt x="152400" y="0"/>
                </a:lnTo>
                <a:lnTo>
                  <a:pt x="136987" y="726"/>
                </a:lnTo>
                <a:lnTo>
                  <a:pt x="122060" y="2854"/>
                </a:lnTo>
                <a:lnTo>
                  <a:pt x="107685" y="6306"/>
                </a:lnTo>
                <a:lnTo>
                  <a:pt x="93924" y="11006"/>
                </a:lnTo>
                <a:lnTo>
                  <a:pt x="80843" y="16877"/>
                </a:lnTo>
                <a:lnTo>
                  <a:pt x="68506" y="23840"/>
                </a:lnTo>
                <a:lnTo>
                  <a:pt x="56976" y="31820"/>
                </a:lnTo>
                <a:lnTo>
                  <a:pt x="46318" y="40739"/>
                </a:lnTo>
                <a:lnTo>
                  <a:pt x="36596" y="50521"/>
                </a:lnTo>
                <a:lnTo>
                  <a:pt x="27874" y="61087"/>
                </a:lnTo>
                <a:lnTo>
                  <a:pt x="20217" y="72362"/>
                </a:lnTo>
                <a:lnTo>
                  <a:pt x="13689" y="84268"/>
                </a:lnTo>
                <a:lnTo>
                  <a:pt x="8354" y="96727"/>
                </a:lnTo>
                <a:lnTo>
                  <a:pt x="4276" y="109664"/>
                </a:lnTo>
                <a:lnTo>
                  <a:pt x="1519" y="123000"/>
                </a:lnTo>
                <a:lnTo>
                  <a:pt x="147" y="136660"/>
                </a:lnTo>
                <a:lnTo>
                  <a:pt x="0" y="142875"/>
                </a:lnTo>
                <a:lnTo>
                  <a:pt x="774" y="156977"/>
                </a:lnTo>
                <a:lnTo>
                  <a:pt x="3052" y="170573"/>
                </a:lnTo>
                <a:lnTo>
                  <a:pt x="6763" y="183608"/>
                </a:lnTo>
                <a:lnTo>
                  <a:pt x="11835" y="196023"/>
                </a:lnTo>
                <a:lnTo>
                  <a:pt x="18199" y="207763"/>
                </a:lnTo>
                <a:lnTo>
                  <a:pt x="25784" y="218772"/>
                </a:lnTo>
                <a:lnTo>
                  <a:pt x="34520" y="228993"/>
                </a:lnTo>
                <a:lnTo>
                  <a:pt x="44335" y="238370"/>
                </a:lnTo>
                <a:lnTo>
                  <a:pt x="55160" y="246846"/>
                </a:lnTo>
                <a:lnTo>
                  <a:pt x="66925" y="254365"/>
                </a:lnTo>
                <a:lnTo>
                  <a:pt x="79557" y="260870"/>
                </a:lnTo>
                <a:lnTo>
                  <a:pt x="92988" y="266306"/>
                </a:lnTo>
                <a:lnTo>
                  <a:pt x="107147" y="270615"/>
                </a:lnTo>
                <a:lnTo>
                  <a:pt x="121963" y="273742"/>
                </a:lnTo>
                <a:lnTo>
                  <a:pt x="137365" y="275630"/>
                </a:lnTo>
                <a:lnTo>
                  <a:pt x="152400" y="276225"/>
                </a:lnTo>
                <a:lnTo>
                  <a:pt x="167118" y="275511"/>
                </a:lnTo>
                <a:lnTo>
                  <a:pt x="181501" y="273412"/>
                </a:lnTo>
                <a:lnTo>
                  <a:pt x="195455" y="269991"/>
                </a:lnTo>
                <a:lnTo>
                  <a:pt x="208885" y="265310"/>
                </a:lnTo>
                <a:lnTo>
                  <a:pt x="221698" y="259432"/>
                </a:lnTo>
                <a:lnTo>
                  <a:pt x="233798" y="252419"/>
                </a:lnTo>
                <a:lnTo>
                  <a:pt x="245093" y="244335"/>
                </a:lnTo>
                <a:lnTo>
                  <a:pt x="255488" y="235242"/>
                </a:lnTo>
                <a:lnTo>
                  <a:pt x="264889" y="225203"/>
                </a:lnTo>
                <a:lnTo>
                  <a:pt x="273201" y="214280"/>
                </a:lnTo>
                <a:lnTo>
                  <a:pt x="280331" y="202537"/>
                </a:lnTo>
                <a:lnTo>
                  <a:pt x="286185" y="190036"/>
                </a:lnTo>
                <a:lnTo>
                  <a:pt x="290669" y="176839"/>
                </a:lnTo>
                <a:lnTo>
                  <a:pt x="293688" y="163010"/>
                </a:lnTo>
                <a:lnTo>
                  <a:pt x="295148" y="148612"/>
                </a:lnTo>
                <a:lnTo>
                  <a:pt x="295275" y="142875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9" name="object 109"/>
          <p:cNvSpPr/>
          <p:nvPr/>
        </p:nvSpPr>
        <p:spPr>
          <a:xfrm>
            <a:off x="4739745" y="1384564"/>
            <a:ext cx="295275" cy="276225"/>
          </a:xfrm>
          <a:custGeom>
            <a:avLst/>
            <a:gdLst/>
            <a:ahLst/>
            <a:cxnLst/>
            <a:rect l="l" t="t" r="r" b="b"/>
            <a:pathLst>
              <a:path w="295275" h="276225">
                <a:moveTo>
                  <a:pt x="295275" y="142875"/>
                </a:moveTo>
                <a:lnTo>
                  <a:pt x="294498" y="128633"/>
                </a:lnTo>
                <a:lnTo>
                  <a:pt x="292227" y="114703"/>
                </a:lnTo>
                <a:lnTo>
                  <a:pt x="288546" y="101168"/>
                </a:lnTo>
                <a:lnTo>
                  <a:pt x="283539" y="88115"/>
                </a:lnTo>
                <a:lnTo>
                  <a:pt x="277293" y="75629"/>
                </a:lnTo>
                <a:lnTo>
                  <a:pt x="269892" y="63793"/>
                </a:lnTo>
                <a:lnTo>
                  <a:pt x="261421" y="52695"/>
                </a:lnTo>
                <a:lnTo>
                  <a:pt x="251966" y="42418"/>
                </a:lnTo>
                <a:lnTo>
                  <a:pt x="241612" y="33048"/>
                </a:lnTo>
                <a:lnTo>
                  <a:pt x="230443" y="24670"/>
                </a:lnTo>
                <a:lnTo>
                  <a:pt x="218546" y="17370"/>
                </a:lnTo>
                <a:lnTo>
                  <a:pt x="206005" y="11232"/>
                </a:lnTo>
                <a:lnTo>
                  <a:pt x="192905" y="6341"/>
                </a:lnTo>
                <a:lnTo>
                  <a:pt x="179331" y="2783"/>
                </a:lnTo>
                <a:lnTo>
                  <a:pt x="165369" y="643"/>
                </a:lnTo>
                <a:lnTo>
                  <a:pt x="152400" y="0"/>
                </a:lnTo>
                <a:lnTo>
                  <a:pt x="136987" y="726"/>
                </a:lnTo>
                <a:lnTo>
                  <a:pt x="122060" y="2854"/>
                </a:lnTo>
                <a:lnTo>
                  <a:pt x="107685" y="6306"/>
                </a:lnTo>
                <a:lnTo>
                  <a:pt x="93924" y="11006"/>
                </a:lnTo>
                <a:lnTo>
                  <a:pt x="80843" y="16877"/>
                </a:lnTo>
                <a:lnTo>
                  <a:pt x="68506" y="23840"/>
                </a:lnTo>
                <a:lnTo>
                  <a:pt x="56976" y="31820"/>
                </a:lnTo>
                <a:lnTo>
                  <a:pt x="46318" y="40739"/>
                </a:lnTo>
                <a:lnTo>
                  <a:pt x="36596" y="50521"/>
                </a:lnTo>
                <a:lnTo>
                  <a:pt x="27874" y="61087"/>
                </a:lnTo>
                <a:lnTo>
                  <a:pt x="20217" y="72362"/>
                </a:lnTo>
                <a:lnTo>
                  <a:pt x="13689" y="84268"/>
                </a:lnTo>
                <a:lnTo>
                  <a:pt x="8354" y="96727"/>
                </a:lnTo>
                <a:lnTo>
                  <a:pt x="4276" y="109664"/>
                </a:lnTo>
                <a:lnTo>
                  <a:pt x="1519" y="123000"/>
                </a:lnTo>
                <a:lnTo>
                  <a:pt x="147" y="136660"/>
                </a:lnTo>
                <a:lnTo>
                  <a:pt x="0" y="142875"/>
                </a:lnTo>
                <a:lnTo>
                  <a:pt x="774" y="156977"/>
                </a:lnTo>
                <a:lnTo>
                  <a:pt x="3052" y="170573"/>
                </a:lnTo>
                <a:lnTo>
                  <a:pt x="6763" y="183608"/>
                </a:lnTo>
                <a:lnTo>
                  <a:pt x="11835" y="196023"/>
                </a:lnTo>
                <a:lnTo>
                  <a:pt x="18199" y="207763"/>
                </a:lnTo>
                <a:lnTo>
                  <a:pt x="25784" y="218772"/>
                </a:lnTo>
                <a:lnTo>
                  <a:pt x="34520" y="228993"/>
                </a:lnTo>
                <a:lnTo>
                  <a:pt x="44335" y="238370"/>
                </a:lnTo>
                <a:lnTo>
                  <a:pt x="55160" y="246846"/>
                </a:lnTo>
                <a:lnTo>
                  <a:pt x="66925" y="254365"/>
                </a:lnTo>
                <a:lnTo>
                  <a:pt x="79557" y="260870"/>
                </a:lnTo>
                <a:lnTo>
                  <a:pt x="92988" y="266306"/>
                </a:lnTo>
                <a:lnTo>
                  <a:pt x="107147" y="270615"/>
                </a:lnTo>
                <a:lnTo>
                  <a:pt x="121963" y="273742"/>
                </a:lnTo>
                <a:lnTo>
                  <a:pt x="137365" y="275630"/>
                </a:lnTo>
                <a:lnTo>
                  <a:pt x="152400" y="276225"/>
                </a:lnTo>
                <a:lnTo>
                  <a:pt x="167118" y="275511"/>
                </a:lnTo>
                <a:lnTo>
                  <a:pt x="181501" y="273412"/>
                </a:lnTo>
                <a:lnTo>
                  <a:pt x="195455" y="269991"/>
                </a:lnTo>
                <a:lnTo>
                  <a:pt x="208885" y="265310"/>
                </a:lnTo>
                <a:lnTo>
                  <a:pt x="221698" y="259432"/>
                </a:lnTo>
                <a:lnTo>
                  <a:pt x="233798" y="252419"/>
                </a:lnTo>
                <a:lnTo>
                  <a:pt x="245093" y="244335"/>
                </a:lnTo>
                <a:lnTo>
                  <a:pt x="255488" y="235242"/>
                </a:lnTo>
                <a:lnTo>
                  <a:pt x="264889" y="225203"/>
                </a:lnTo>
                <a:lnTo>
                  <a:pt x="273201" y="214280"/>
                </a:lnTo>
                <a:lnTo>
                  <a:pt x="280331" y="202537"/>
                </a:lnTo>
                <a:lnTo>
                  <a:pt x="286185" y="190036"/>
                </a:lnTo>
                <a:lnTo>
                  <a:pt x="290669" y="176839"/>
                </a:lnTo>
                <a:lnTo>
                  <a:pt x="293688" y="163010"/>
                </a:lnTo>
                <a:lnTo>
                  <a:pt x="295148" y="148612"/>
                </a:lnTo>
                <a:lnTo>
                  <a:pt x="295275" y="142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0" name="object 110"/>
          <p:cNvSpPr/>
          <p:nvPr/>
        </p:nvSpPr>
        <p:spPr>
          <a:xfrm>
            <a:off x="5273145" y="1536964"/>
            <a:ext cx="409575" cy="0"/>
          </a:xfrm>
          <a:custGeom>
            <a:avLst/>
            <a:gdLst/>
            <a:ahLst/>
            <a:cxnLst/>
            <a:rect l="l" t="t" r="r" b="b"/>
            <a:pathLst>
              <a:path w="409575" h="0">
                <a:moveTo>
                  <a:pt x="0" y="0"/>
                </a:moveTo>
                <a:lnTo>
                  <a:pt x="409575" y="0"/>
                </a:lnTo>
              </a:path>
            </a:pathLst>
          </a:custGeom>
          <a:ln w="58419">
            <a:solidFill>
              <a:srgbClr val="FFF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1" name="object 111"/>
          <p:cNvSpPr/>
          <p:nvPr/>
        </p:nvSpPr>
        <p:spPr>
          <a:xfrm>
            <a:off x="5273145" y="1508389"/>
            <a:ext cx="409575" cy="57150"/>
          </a:xfrm>
          <a:custGeom>
            <a:avLst/>
            <a:gdLst/>
            <a:ahLst/>
            <a:cxnLst/>
            <a:rect l="l" t="t" r="r" b="b"/>
            <a:pathLst>
              <a:path w="409575" h="57150">
                <a:moveTo>
                  <a:pt x="0" y="57150"/>
                </a:moveTo>
                <a:lnTo>
                  <a:pt x="409575" y="57150"/>
                </a:lnTo>
                <a:lnTo>
                  <a:pt x="409575" y="0"/>
                </a:ln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2" name="object 112"/>
          <p:cNvSpPr/>
          <p:nvPr/>
        </p:nvSpPr>
        <p:spPr>
          <a:xfrm>
            <a:off x="5006445" y="1432189"/>
            <a:ext cx="476250" cy="76200"/>
          </a:xfrm>
          <a:custGeom>
            <a:avLst/>
            <a:gdLst/>
            <a:ahLst/>
            <a:cxnLst/>
            <a:rect l="l" t="t" r="r" b="b"/>
            <a:pathLst>
              <a:path w="476250" h="76200">
                <a:moveTo>
                  <a:pt x="476250" y="762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3" name="object 113"/>
          <p:cNvSpPr/>
          <p:nvPr/>
        </p:nvSpPr>
        <p:spPr>
          <a:xfrm>
            <a:off x="4943475" y="1438275"/>
            <a:ext cx="38100" cy="28575"/>
          </a:xfrm>
          <a:custGeom>
            <a:avLst/>
            <a:gdLst/>
            <a:ahLst/>
            <a:cxnLst/>
            <a:rect l="l" t="t" r="r" b="b"/>
            <a:pathLst>
              <a:path w="38100" h="28575">
                <a:moveTo>
                  <a:pt x="38100" y="0"/>
                </a:moveTo>
                <a:lnTo>
                  <a:pt x="0" y="0"/>
                </a:lnTo>
                <a:lnTo>
                  <a:pt x="28575" y="28575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4" name="object 114"/>
          <p:cNvSpPr/>
          <p:nvPr/>
        </p:nvSpPr>
        <p:spPr>
          <a:xfrm>
            <a:off x="5492220" y="1575064"/>
            <a:ext cx="66675" cy="152400"/>
          </a:xfrm>
          <a:custGeom>
            <a:avLst/>
            <a:gdLst/>
            <a:ahLst/>
            <a:cxnLst/>
            <a:rect l="l" t="t" r="r" b="b"/>
            <a:pathLst>
              <a:path w="66675" h="152400">
                <a:moveTo>
                  <a:pt x="66675" y="1524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5" name="object 115"/>
          <p:cNvSpPr/>
          <p:nvPr/>
        </p:nvSpPr>
        <p:spPr>
          <a:xfrm>
            <a:off x="5429250" y="1590675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19050"/>
                </a:moveTo>
                <a:lnTo>
                  <a:pt x="9525" y="0"/>
                </a:lnTo>
                <a:lnTo>
                  <a:pt x="0" y="28575"/>
                </a:lnTo>
                <a:lnTo>
                  <a:pt x="28575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6" name="object 116"/>
          <p:cNvSpPr/>
          <p:nvPr/>
        </p:nvSpPr>
        <p:spPr>
          <a:xfrm>
            <a:off x="4292070" y="1422664"/>
            <a:ext cx="485775" cy="76200"/>
          </a:xfrm>
          <a:custGeom>
            <a:avLst/>
            <a:gdLst/>
            <a:ahLst/>
            <a:cxnLst/>
            <a:rect l="l" t="t" r="r" b="b"/>
            <a:pathLst>
              <a:path w="485775" h="76200">
                <a:moveTo>
                  <a:pt x="485775" y="0"/>
                </a:moveTo>
                <a:lnTo>
                  <a:pt x="0" y="76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7" name="object 117"/>
          <p:cNvSpPr/>
          <p:nvPr/>
        </p:nvSpPr>
        <p:spPr>
          <a:xfrm>
            <a:off x="4238625" y="1504950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19050" y="0"/>
                </a:moveTo>
                <a:lnTo>
                  <a:pt x="0" y="28575"/>
                </a:lnTo>
                <a:lnTo>
                  <a:pt x="28575" y="28575"/>
                </a:lnTo>
                <a:lnTo>
                  <a:pt x="19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8" name="object 118"/>
          <p:cNvSpPr/>
          <p:nvPr/>
        </p:nvSpPr>
        <p:spPr>
          <a:xfrm>
            <a:off x="3629025" y="904875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" name="object 80"/>
          <p:cNvSpPr/>
          <p:nvPr/>
        </p:nvSpPr>
        <p:spPr>
          <a:xfrm>
            <a:off x="2790825" y="3781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" name="object 81"/>
          <p:cNvSpPr/>
          <p:nvPr/>
        </p:nvSpPr>
        <p:spPr>
          <a:xfrm>
            <a:off x="2028825" y="39624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" name="object 82"/>
          <p:cNvSpPr/>
          <p:nvPr/>
        </p:nvSpPr>
        <p:spPr>
          <a:xfrm>
            <a:off x="2315500" y="4119430"/>
            <a:ext cx="857250" cy="1314450"/>
          </a:xfrm>
          <a:custGeom>
            <a:avLst/>
            <a:gdLst/>
            <a:ahLst/>
            <a:cxnLst/>
            <a:rect l="l" t="t" r="r" b="b"/>
            <a:pathLst>
              <a:path w="857250" h="1314450">
                <a:moveTo>
                  <a:pt x="0" y="1314450"/>
                </a:moveTo>
                <a:lnTo>
                  <a:pt x="857250" y="1314450"/>
                </a:lnTo>
                <a:lnTo>
                  <a:pt x="857250" y="0"/>
                </a:lnTo>
                <a:lnTo>
                  <a:pt x="0" y="0"/>
                </a:lnTo>
                <a:lnTo>
                  <a:pt x="0" y="13144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3" name="object 83"/>
          <p:cNvSpPr/>
          <p:nvPr/>
        </p:nvSpPr>
        <p:spPr>
          <a:xfrm>
            <a:off x="533400" y="3562350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3819525" y="3781425"/>
            <a:ext cx="2162175" cy="0"/>
          </a:xfrm>
          <a:custGeom>
            <a:avLst/>
            <a:gdLst/>
            <a:ahLst/>
            <a:cxnLst/>
            <a:rect l="l" t="t" r="r" b="b"/>
            <a:pathLst>
              <a:path w="2162175" h="0">
                <a:moveTo>
                  <a:pt x="0" y="0"/>
                </a:moveTo>
                <a:lnTo>
                  <a:pt x="2162175" y="0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5981700" y="3781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5101695" y="3776530"/>
            <a:ext cx="295275" cy="276225"/>
          </a:xfrm>
          <a:custGeom>
            <a:avLst/>
            <a:gdLst/>
            <a:ahLst/>
            <a:cxnLst/>
            <a:rect l="l" t="t" r="r" b="b"/>
            <a:pathLst>
              <a:path w="295275" h="276225">
                <a:moveTo>
                  <a:pt x="295275" y="142875"/>
                </a:moveTo>
                <a:lnTo>
                  <a:pt x="294498" y="128633"/>
                </a:lnTo>
                <a:lnTo>
                  <a:pt x="292227" y="114703"/>
                </a:lnTo>
                <a:lnTo>
                  <a:pt x="288546" y="101168"/>
                </a:lnTo>
                <a:lnTo>
                  <a:pt x="283539" y="88115"/>
                </a:lnTo>
                <a:lnTo>
                  <a:pt x="277293" y="75629"/>
                </a:lnTo>
                <a:lnTo>
                  <a:pt x="269892" y="63793"/>
                </a:lnTo>
                <a:lnTo>
                  <a:pt x="261421" y="52695"/>
                </a:lnTo>
                <a:lnTo>
                  <a:pt x="251966" y="42418"/>
                </a:lnTo>
                <a:lnTo>
                  <a:pt x="241612" y="33048"/>
                </a:lnTo>
                <a:lnTo>
                  <a:pt x="230443" y="24670"/>
                </a:lnTo>
                <a:lnTo>
                  <a:pt x="218546" y="17370"/>
                </a:lnTo>
                <a:lnTo>
                  <a:pt x="206005" y="11232"/>
                </a:lnTo>
                <a:lnTo>
                  <a:pt x="192905" y="6341"/>
                </a:lnTo>
                <a:lnTo>
                  <a:pt x="179331" y="2783"/>
                </a:lnTo>
                <a:lnTo>
                  <a:pt x="165369" y="643"/>
                </a:lnTo>
                <a:lnTo>
                  <a:pt x="152400" y="0"/>
                </a:lnTo>
                <a:lnTo>
                  <a:pt x="136987" y="726"/>
                </a:lnTo>
                <a:lnTo>
                  <a:pt x="122060" y="2854"/>
                </a:lnTo>
                <a:lnTo>
                  <a:pt x="107685" y="6306"/>
                </a:lnTo>
                <a:lnTo>
                  <a:pt x="93924" y="11006"/>
                </a:lnTo>
                <a:lnTo>
                  <a:pt x="80843" y="16877"/>
                </a:lnTo>
                <a:lnTo>
                  <a:pt x="68506" y="23840"/>
                </a:lnTo>
                <a:lnTo>
                  <a:pt x="56976" y="31820"/>
                </a:lnTo>
                <a:lnTo>
                  <a:pt x="46318" y="40739"/>
                </a:lnTo>
                <a:lnTo>
                  <a:pt x="36596" y="50521"/>
                </a:lnTo>
                <a:lnTo>
                  <a:pt x="27874" y="61087"/>
                </a:lnTo>
                <a:lnTo>
                  <a:pt x="20217" y="72362"/>
                </a:lnTo>
                <a:lnTo>
                  <a:pt x="13689" y="84268"/>
                </a:lnTo>
                <a:lnTo>
                  <a:pt x="8354" y="96727"/>
                </a:lnTo>
                <a:lnTo>
                  <a:pt x="4276" y="109664"/>
                </a:lnTo>
                <a:lnTo>
                  <a:pt x="1519" y="123000"/>
                </a:lnTo>
                <a:lnTo>
                  <a:pt x="147" y="136660"/>
                </a:lnTo>
                <a:lnTo>
                  <a:pt x="0" y="142875"/>
                </a:lnTo>
                <a:lnTo>
                  <a:pt x="774" y="156977"/>
                </a:lnTo>
                <a:lnTo>
                  <a:pt x="3052" y="170573"/>
                </a:lnTo>
                <a:lnTo>
                  <a:pt x="6763" y="183608"/>
                </a:lnTo>
                <a:lnTo>
                  <a:pt x="11835" y="196023"/>
                </a:lnTo>
                <a:lnTo>
                  <a:pt x="18199" y="207763"/>
                </a:lnTo>
                <a:lnTo>
                  <a:pt x="25784" y="218772"/>
                </a:lnTo>
                <a:lnTo>
                  <a:pt x="34520" y="228993"/>
                </a:lnTo>
                <a:lnTo>
                  <a:pt x="44335" y="238370"/>
                </a:lnTo>
                <a:lnTo>
                  <a:pt x="55160" y="246846"/>
                </a:lnTo>
                <a:lnTo>
                  <a:pt x="66925" y="254365"/>
                </a:lnTo>
                <a:lnTo>
                  <a:pt x="79557" y="260870"/>
                </a:lnTo>
                <a:lnTo>
                  <a:pt x="92988" y="266306"/>
                </a:lnTo>
                <a:lnTo>
                  <a:pt x="107147" y="270615"/>
                </a:lnTo>
                <a:lnTo>
                  <a:pt x="121963" y="273742"/>
                </a:lnTo>
                <a:lnTo>
                  <a:pt x="137365" y="275630"/>
                </a:lnTo>
                <a:lnTo>
                  <a:pt x="152400" y="276225"/>
                </a:lnTo>
                <a:lnTo>
                  <a:pt x="167118" y="275511"/>
                </a:lnTo>
                <a:lnTo>
                  <a:pt x="181501" y="273412"/>
                </a:lnTo>
                <a:lnTo>
                  <a:pt x="195455" y="269991"/>
                </a:lnTo>
                <a:lnTo>
                  <a:pt x="208885" y="265310"/>
                </a:lnTo>
                <a:lnTo>
                  <a:pt x="221698" y="259432"/>
                </a:lnTo>
                <a:lnTo>
                  <a:pt x="233798" y="252419"/>
                </a:lnTo>
                <a:lnTo>
                  <a:pt x="245093" y="244335"/>
                </a:lnTo>
                <a:lnTo>
                  <a:pt x="255488" y="235242"/>
                </a:lnTo>
                <a:lnTo>
                  <a:pt x="264889" y="225203"/>
                </a:lnTo>
                <a:lnTo>
                  <a:pt x="273201" y="214280"/>
                </a:lnTo>
                <a:lnTo>
                  <a:pt x="280331" y="202537"/>
                </a:lnTo>
                <a:lnTo>
                  <a:pt x="286185" y="190036"/>
                </a:lnTo>
                <a:lnTo>
                  <a:pt x="290669" y="176839"/>
                </a:lnTo>
                <a:lnTo>
                  <a:pt x="293688" y="163010"/>
                </a:lnTo>
                <a:lnTo>
                  <a:pt x="295148" y="148612"/>
                </a:lnTo>
                <a:lnTo>
                  <a:pt x="295275" y="142875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5101695" y="3776530"/>
            <a:ext cx="295275" cy="276225"/>
          </a:xfrm>
          <a:custGeom>
            <a:avLst/>
            <a:gdLst/>
            <a:ahLst/>
            <a:cxnLst/>
            <a:rect l="l" t="t" r="r" b="b"/>
            <a:pathLst>
              <a:path w="295275" h="276225">
                <a:moveTo>
                  <a:pt x="295275" y="142875"/>
                </a:moveTo>
                <a:lnTo>
                  <a:pt x="294498" y="128633"/>
                </a:lnTo>
                <a:lnTo>
                  <a:pt x="292227" y="114703"/>
                </a:lnTo>
                <a:lnTo>
                  <a:pt x="288546" y="101168"/>
                </a:lnTo>
                <a:lnTo>
                  <a:pt x="283539" y="88115"/>
                </a:lnTo>
                <a:lnTo>
                  <a:pt x="277293" y="75629"/>
                </a:lnTo>
                <a:lnTo>
                  <a:pt x="269892" y="63793"/>
                </a:lnTo>
                <a:lnTo>
                  <a:pt x="261421" y="52695"/>
                </a:lnTo>
                <a:lnTo>
                  <a:pt x="251966" y="42418"/>
                </a:lnTo>
                <a:lnTo>
                  <a:pt x="241612" y="33048"/>
                </a:lnTo>
                <a:lnTo>
                  <a:pt x="230443" y="24670"/>
                </a:lnTo>
                <a:lnTo>
                  <a:pt x="218546" y="17370"/>
                </a:lnTo>
                <a:lnTo>
                  <a:pt x="206005" y="11232"/>
                </a:lnTo>
                <a:lnTo>
                  <a:pt x="192905" y="6341"/>
                </a:lnTo>
                <a:lnTo>
                  <a:pt x="179331" y="2783"/>
                </a:lnTo>
                <a:lnTo>
                  <a:pt x="165369" y="643"/>
                </a:lnTo>
                <a:lnTo>
                  <a:pt x="152400" y="0"/>
                </a:lnTo>
                <a:lnTo>
                  <a:pt x="136987" y="726"/>
                </a:lnTo>
                <a:lnTo>
                  <a:pt x="122060" y="2854"/>
                </a:lnTo>
                <a:lnTo>
                  <a:pt x="107685" y="6306"/>
                </a:lnTo>
                <a:lnTo>
                  <a:pt x="93924" y="11006"/>
                </a:lnTo>
                <a:lnTo>
                  <a:pt x="80843" y="16877"/>
                </a:lnTo>
                <a:lnTo>
                  <a:pt x="68506" y="23840"/>
                </a:lnTo>
                <a:lnTo>
                  <a:pt x="56976" y="31820"/>
                </a:lnTo>
                <a:lnTo>
                  <a:pt x="46318" y="40739"/>
                </a:lnTo>
                <a:lnTo>
                  <a:pt x="36596" y="50521"/>
                </a:lnTo>
                <a:lnTo>
                  <a:pt x="27874" y="61087"/>
                </a:lnTo>
                <a:lnTo>
                  <a:pt x="20217" y="72362"/>
                </a:lnTo>
                <a:lnTo>
                  <a:pt x="13689" y="84268"/>
                </a:lnTo>
                <a:lnTo>
                  <a:pt x="8354" y="96727"/>
                </a:lnTo>
                <a:lnTo>
                  <a:pt x="4276" y="109664"/>
                </a:lnTo>
                <a:lnTo>
                  <a:pt x="1519" y="123000"/>
                </a:lnTo>
                <a:lnTo>
                  <a:pt x="147" y="136660"/>
                </a:lnTo>
                <a:lnTo>
                  <a:pt x="0" y="142875"/>
                </a:lnTo>
                <a:lnTo>
                  <a:pt x="774" y="156977"/>
                </a:lnTo>
                <a:lnTo>
                  <a:pt x="3052" y="170573"/>
                </a:lnTo>
                <a:lnTo>
                  <a:pt x="6763" y="183608"/>
                </a:lnTo>
                <a:lnTo>
                  <a:pt x="11835" y="196023"/>
                </a:lnTo>
                <a:lnTo>
                  <a:pt x="18199" y="207763"/>
                </a:lnTo>
                <a:lnTo>
                  <a:pt x="25784" y="218772"/>
                </a:lnTo>
                <a:lnTo>
                  <a:pt x="34520" y="228993"/>
                </a:lnTo>
                <a:lnTo>
                  <a:pt x="44335" y="238370"/>
                </a:lnTo>
                <a:lnTo>
                  <a:pt x="55160" y="246846"/>
                </a:lnTo>
                <a:lnTo>
                  <a:pt x="66925" y="254365"/>
                </a:lnTo>
                <a:lnTo>
                  <a:pt x="79557" y="260870"/>
                </a:lnTo>
                <a:lnTo>
                  <a:pt x="92988" y="266306"/>
                </a:lnTo>
                <a:lnTo>
                  <a:pt x="107147" y="270615"/>
                </a:lnTo>
                <a:lnTo>
                  <a:pt x="121963" y="273742"/>
                </a:lnTo>
                <a:lnTo>
                  <a:pt x="137365" y="275630"/>
                </a:lnTo>
                <a:lnTo>
                  <a:pt x="152400" y="276225"/>
                </a:lnTo>
                <a:lnTo>
                  <a:pt x="167118" y="275511"/>
                </a:lnTo>
                <a:lnTo>
                  <a:pt x="181501" y="273412"/>
                </a:lnTo>
                <a:lnTo>
                  <a:pt x="195455" y="269991"/>
                </a:lnTo>
                <a:lnTo>
                  <a:pt x="208885" y="265310"/>
                </a:lnTo>
                <a:lnTo>
                  <a:pt x="221698" y="259432"/>
                </a:lnTo>
                <a:lnTo>
                  <a:pt x="233798" y="252419"/>
                </a:lnTo>
                <a:lnTo>
                  <a:pt x="245093" y="244335"/>
                </a:lnTo>
                <a:lnTo>
                  <a:pt x="255488" y="235242"/>
                </a:lnTo>
                <a:lnTo>
                  <a:pt x="264889" y="225203"/>
                </a:lnTo>
                <a:lnTo>
                  <a:pt x="273201" y="214280"/>
                </a:lnTo>
                <a:lnTo>
                  <a:pt x="280331" y="202537"/>
                </a:lnTo>
                <a:lnTo>
                  <a:pt x="286185" y="190036"/>
                </a:lnTo>
                <a:lnTo>
                  <a:pt x="290669" y="176839"/>
                </a:lnTo>
                <a:lnTo>
                  <a:pt x="293688" y="163010"/>
                </a:lnTo>
                <a:lnTo>
                  <a:pt x="295148" y="148612"/>
                </a:lnTo>
                <a:lnTo>
                  <a:pt x="295275" y="142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4339695" y="4167055"/>
            <a:ext cx="295275" cy="276225"/>
          </a:xfrm>
          <a:custGeom>
            <a:avLst/>
            <a:gdLst/>
            <a:ahLst/>
            <a:cxnLst/>
            <a:rect l="l" t="t" r="r" b="b"/>
            <a:pathLst>
              <a:path w="295275" h="276225">
                <a:moveTo>
                  <a:pt x="295275" y="142875"/>
                </a:moveTo>
                <a:lnTo>
                  <a:pt x="294498" y="128633"/>
                </a:lnTo>
                <a:lnTo>
                  <a:pt x="292227" y="114703"/>
                </a:lnTo>
                <a:lnTo>
                  <a:pt x="288546" y="101168"/>
                </a:lnTo>
                <a:lnTo>
                  <a:pt x="283539" y="88115"/>
                </a:lnTo>
                <a:lnTo>
                  <a:pt x="277293" y="75629"/>
                </a:lnTo>
                <a:lnTo>
                  <a:pt x="269892" y="63793"/>
                </a:lnTo>
                <a:lnTo>
                  <a:pt x="261421" y="52695"/>
                </a:lnTo>
                <a:lnTo>
                  <a:pt x="251966" y="42418"/>
                </a:lnTo>
                <a:lnTo>
                  <a:pt x="241612" y="33048"/>
                </a:lnTo>
                <a:lnTo>
                  <a:pt x="230443" y="24670"/>
                </a:lnTo>
                <a:lnTo>
                  <a:pt x="218546" y="17370"/>
                </a:lnTo>
                <a:lnTo>
                  <a:pt x="206005" y="11232"/>
                </a:lnTo>
                <a:lnTo>
                  <a:pt x="192905" y="6341"/>
                </a:lnTo>
                <a:lnTo>
                  <a:pt x="179331" y="2783"/>
                </a:lnTo>
                <a:lnTo>
                  <a:pt x="165369" y="643"/>
                </a:lnTo>
                <a:lnTo>
                  <a:pt x="152400" y="0"/>
                </a:lnTo>
                <a:lnTo>
                  <a:pt x="136987" y="726"/>
                </a:lnTo>
                <a:lnTo>
                  <a:pt x="122060" y="2854"/>
                </a:lnTo>
                <a:lnTo>
                  <a:pt x="107685" y="6306"/>
                </a:lnTo>
                <a:lnTo>
                  <a:pt x="93924" y="11006"/>
                </a:lnTo>
                <a:lnTo>
                  <a:pt x="80843" y="16877"/>
                </a:lnTo>
                <a:lnTo>
                  <a:pt x="68506" y="23840"/>
                </a:lnTo>
                <a:lnTo>
                  <a:pt x="56976" y="31820"/>
                </a:lnTo>
                <a:lnTo>
                  <a:pt x="46318" y="40739"/>
                </a:lnTo>
                <a:lnTo>
                  <a:pt x="36596" y="50521"/>
                </a:lnTo>
                <a:lnTo>
                  <a:pt x="27874" y="61087"/>
                </a:lnTo>
                <a:lnTo>
                  <a:pt x="20217" y="72362"/>
                </a:lnTo>
                <a:lnTo>
                  <a:pt x="13689" y="84268"/>
                </a:lnTo>
                <a:lnTo>
                  <a:pt x="8354" y="96727"/>
                </a:lnTo>
                <a:lnTo>
                  <a:pt x="4276" y="109664"/>
                </a:lnTo>
                <a:lnTo>
                  <a:pt x="1519" y="123000"/>
                </a:lnTo>
                <a:lnTo>
                  <a:pt x="147" y="136660"/>
                </a:lnTo>
                <a:lnTo>
                  <a:pt x="0" y="142875"/>
                </a:lnTo>
                <a:lnTo>
                  <a:pt x="774" y="156977"/>
                </a:lnTo>
                <a:lnTo>
                  <a:pt x="3052" y="170573"/>
                </a:lnTo>
                <a:lnTo>
                  <a:pt x="6763" y="183608"/>
                </a:lnTo>
                <a:lnTo>
                  <a:pt x="11835" y="196023"/>
                </a:lnTo>
                <a:lnTo>
                  <a:pt x="18199" y="207763"/>
                </a:lnTo>
                <a:lnTo>
                  <a:pt x="25784" y="218772"/>
                </a:lnTo>
                <a:lnTo>
                  <a:pt x="34520" y="228993"/>
                </a:lnTo>
                <a:lnTo>
                  <a:pt x="44335" y="238370"/>
                </a:lnTo>
                <a:lnTo>
                  <a:pt x="55160" y="246846"/>
                </a:lnTo>
                <a:lnTo>
                  <a:pt x="66925" y="254365"/>
                </a:lnTo>
                <a:lnTo>
                  <a:pt x="79557" y="260870"/>
                </a:lnTo>
                <a:lnTo>
                  <a:pt x="92988" y="266306"/>
                </a:lnTo>
                <a:lnTo>
                  <a:pt x="107147" y="270615"/>
                </a:lnTo>
                <a:lnTo>
                  <a:pt x="121963" y="273742"/>
                </a:lnTo>
                <a:lnTo>
                  <a:pt x="137365" y="275630"/>
                </a:lnTo>
                <a:lnTo>
                  <a:pt x="152400" y="276225"/>
                </a:lnTo>
                <a:lnTo>
                  <a:pt x="167118" y="275511"/>
                </a:lnTo>
                <a:lnTo>
                  <a:pt x="181501" y="273412"/>
                </a:lnTo>
                <a:lnTo>
                  <a:pt x="195455" y="269991"/>
                </a:lnTo>
                <a:lnTo>
                  <a:pt x="208885" y="265310"/>
                </a:lnTo>
                <a:lnTo>
                  <a:pt x="221698" y="259432"/>
                </a:lnTo>
                <a:lnTo>
                  <a:pt x="233798" y="252419"/>
                </a:lnTo>
                <a:lnTo>
                  <a:pt x="245093" y="244335"/>
                </a:lnTo>
                <a:lnTo>
                  <a:pt x="255488" y="235242"/>
                </a:lnTo>
                <a:lnTo>
                  <a:pt x="264889" y="225203"/>
                </a:lnTo>
                <a:lnTo>
                  <a:pt x="273201" y="214280"/>
                </a:lnTo>
                <a:lnTo>
                  <a:pt x="280331" y="202537"/>
                </a:lnTo>
                <a:lnTo>
                  <a:pt x="286185" y="190036"/>
                </a:lnTo>
                <a:lnTo>
                  <a:pt x="290669" y="176839"/>
                </a:lnTo>
                <a:lnTo>
                  <a:pt x="293688" y="163010"/>
                </a:lnTo>
                <a:lnTo>
                  <a:pt x="295148" y="148612"/>
                </a:lnTo>
                <a:lnTo>
                  <a:pt x="295275" y="142875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" name="object 51"/>
          <p:cNvSpPr/>
          <p:nvPr/>
        </p:nvSpPr>
        <p:spPr>
          <a:xfrm>
            <a:off x="4339695" y="4167055"/>
            <a:ext cx="295275" cy="276225"/>
          </a:xfrm>
          <a:custGeom>
            <a:avLst/>
            <a:gdLst/>
            <a:ahLst/>
            <a:cxnLst/>
            <a:rect l="l" t="t" r="r" b="b"/>
            <a:pathLst>
              <a:path w="295275" h="276225">
                <a:moveTo>
                  <a:pt x="295275" y="142875"/>
                </a:moveTo>
                <a:lnTo>
                  <a:pt x="294498" y="128633"/>
                </a:lnTo>
                <a:lnTo>
                  <a:pt x="292227" y="114703"/>
                </a:lnTo>
                <a:lnTo>
                  <a:pt x="288546" y="101168"/>
                </a:lnTo>
                <a:lnTo>
                  <a:pt x="283539" y="88115"/>
                </a:lnTo>
                <a:lnTo>
                  <a:pt x="277293" y="75629"/>
                </a:lnTo>
                <a:lnTo>
                  <a:pt x="269892" y="63793"/>
                </a:lnTo>
                <a:lnTo>
                  <a:pt x="261421" y="52695"/>
                </a:lnTo>
                <a:lnTo>
                  <a:pt x="251966" y="42418"/>
                </a:lnTo>
                <a:lnTo>
                  <a:pt x="241612" y="33048"/>
                </a:lnTo>
                <a:lnTo>
                  <a:pt x="230443" y="24670"/>
                </a:lnTo>
                <a:lnTo>
                  <a:pt x="218546" y="17370"/>
                </a:lnTo>
                <a:lnTo>
                  <a:pt x="206005" y="11232"/>
                </a:lnTo>
                <a:lnTo>
                  <a:pt x="192905" y="6341"/>
                </a:lnTo>
                <a:lnTo>
                  <a:pt x="179331" y="2783"/>
                </a:lnTo>
                <a:lnTo>
                  <a:pt x="165369" y="643"/>
                </a:lnTo>
                <a:lnTo>
                  <a:pt x="152400" y="0"/>
                </a:lnTo>
                <a:lnTo>
                  <a:pt x="136987" y="726"/>
                </a:lnTo>
                <a:lnTo>
                  <a:pt x="122060" y="2854"/>
                </a:lnTo>
                <a:lnTo>
                  <a:pt x="107685" y="6306"/>
                </a:lnTo>
                <a:lnTo>
                  <a:pt x="93924" y="11006"/>
                </a:lnTo>
                <a:lnTo>
                  <a:pt x="80843" y="16877"/>
                </a:lnTo>
                <a:lnTo>
                  <a:pt x="68506" y="23840"/>
                </a:lnTo>
                <a:lnTo>
                  <a:pt x="56976" y="31820"/>
                </a:lnTo>
                <a:lnTo>
                  <a:pt x="46318" y="40739"/>
                </a:lnTo>
                <a:lnTo>
                  <a:pt x="36596" y="50521"/>
                </a:lnTo>
                <a:lnTo>
                  <a:pt x="27874" y="61087"/>
                </a:lnTo>
                <a:lnTo>
                  <a:pt x="20217" y="72362"/>
                </a:lnTo>
                <a:lnTo>
                  <a:pt x="13689" y="84268"/>
                </a:lnTo>
                <a:lnTo>
                  <a:pt x="8354" y="96727"/>
                </a:lnTo>
                <a:lnTo>
                  <a:pt x="4276" y="109664"/>
                </a:lnTo>
                <a:lnTo>
                  <a:pt x="1519" y="123000"/>
                </a:lnTo>
                <a:lnTo>
                  <a:pt x="147" y="136660"/>
                </a:lnTo>
                <a:lnTo>
                  <a:pt x="0" y="142875"/>
                </a:lnTo>
                <a:lnTo>
                  <a:pt x="774" y="156977"/>
                </a:lnTo>
                <a:lnTo>
                  <a:pt x="3052" y="170573"/>
                </a:lnTo>
                <a:lnTo>
                  <a:pt x="6763" y="183608"/>
                </a:lnTo>
                <a:lnTo>
                  <a:pt x="11835" y="196023"/>
                </a:lnTo>
                <a:lnTo>
                  <a:pt x="18199" y="207763"/>
                </a:lnTo>
                <a:lnTo>
                  <a:pt x="25784" y="218772"/>
                </a:lnTo>
                <a:lnTo>
                  <a:pt x="34520" y="228993"/>
                </a:lnTo>
                <a:lnTo>
                  <a:pt x="44335" y="238370"/>
                </a:lnTo>
                <a:lnTo>
                  <a:pt x="55160" y="246846"/>
                </a:lnTo>
                <a:lnTo>
                  <a:pt x="66925" y="254365"/>
                </a:lnTo>
                <a:lnTo>
                  <a:pt x="79557" y="260870"/>
                </a:lnTo>
                <a:lnTo>
                  <a:pt x="92988" y="266306"/>
                </a:lnTo>
                <a:lnTo>
                  <a:pt x="107147" y="270615"/>
                </a:lnTo>
                <a:lnTo>
                  <a:pt x="121963" y="273742"/>
                </a:lnTo>
                <a:lnTo>
                  <a:pt x="137365" y="275630"/>
                </a:lnTo>
                <a:lnTo>
                  <a:pt x="152400" y="276225"/>
                </a:lnTo>
                <a:lnTo>
                  <a:pt x="167118" y="275511"/>
                </a:lnTo>
                <a:lnTo>
                  <a:pt x="181501" y="273412"/>
                </a:lnTo>
                <a:lnTo>
                  <a:pt x="195455" y="269991"/>
                </a:lnTo>
                <a:lnTo>
                  <a:pt x="208885" y="265310"/>
                </a:lnTo>
                <a:lnTo>
                  <a:pt x="221698" y="259432"/>
                </a:lnTo>
                <a:lnTo>
                  <a:pt x="233798" y="252419"/>
                </a:lnTo>
                <a:lnTo>
                  <a:pt x="245093" y="244335"/>
                </a:lnTo>
                <a:lnTo>
                  <a:pt x="255488" y="235242"/>
                </a:lnTo>
                <a:lnTo>
                  <a:pt x="264889" y="225203"/>
                </a:lnTo>
                <a:lnTo>
                  <a:pt x="273201" y="214280"/>
                </a:lnTo>
                <a:lnTo>
                  <a:pt x="280331" y="202537"/>
                </a:lnTo>
                <a:lnTo>
                  <a:pt x="286185" y="190036"/>
                </a:lnTo>
                <a:lnTo>
                  <a:pt x="290669" y="176839"/>
                </a:lnTo>
                <a:lnTo>
                  <a:pt x="293688" y="163010"/>
                </a:lnTo>
                <a:lnTo>
                  <a:pt x="295148" y="148612"/>
                </a:lnTo>
                <a:lnTo>
                  <a:pt x="295275" y="142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4444470" y="3928930"/>
            <a:ext cx="409575" cy="0"/>
          </a:xfrm>
          <a:custGeom>
            <a:avLst/>
            <a:gdLst/>
            <a:ahLst/>
            <a:cxnLst/>
            <a:rect l="l" t="t" r="r" b="b"/>
            <a:pathLst>
              <a:path w="409575" h="0">
                <a:moveTo>
                  <a:pt x="0" y="0"/>
                </a:moveTo>
                <a:lnTo>
                  <a:pt x="409575" y="0"/>
                </a:lnTo>
              </a:path>
            </a:pathLst>
          </a:custGeom>
          <a:ln w="58419">
            <a:solidFill>
              <a:srgbClr val="FFF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" name="object 53"/>
          <p:cNvSpPr/>
          <p:nvPr/>
        </p:nvSpPr>
        <p:spPr>
          <a:xfrm>
            <a:off x="4444470" y="3900355"/>
            <a:ext cx="409575" cy="57150"/>
          </a:xfrm>
          <a:custGeom>
            <a:avLst/>
            <a:gdLst/>
            <a:ahLst/>
            <a:cxnLst/>
            <a:rect l="l" t="t" r="r" b="b"/>
            <a:pathLst>
              <a:path w="409575" h="57150">
                <a:moveTo>
                  <a:pt x="0" y="57150"/>
                </a:moveTo>
                <a:lnTo>
                  <a:pt x="409575" y="57150"/>
                </a:lnTo>
                <a:lnTo>
                  <a:pt x="409575" y="0"/>
                </a:ln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/>
          <p:nvPr/>
        </p:nvSpPr>
        <p:spPr>
          <a:xfrm>
            <a:off x="4482570" y="3957505"/>
            <a:ext cx="161925" cy="209550"/>
          </a:xfrm>
          <a:custGeom>
            <a:avLst/>
            <a:gdLst/>
            <a:ahLst/>
            <a:cxnLst/>
            <a:rect l="l" t="t" r="r" b="b"/>
            <a:pathLst>
              <a:path w="161925" h="209550">
                <a:moveTo>
                  <a:pt x="161925" y="0"/>
                </a:moveTo>
                <a:lnTo>
                  <a:pt x="0" y="2095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" name="object 55"/>
          <p:cNvSpPr/>
          <p:nvPr/>
        </p:nvSpPr>
        <p:spPr>
          <a:xfrm>
            <a:off x="4429125" y="4191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50" y="0"/>
                </a:moveTo>
                <a:lnTo>
                  <a:pt x="0" y="38100"/>
                </a:lnTo>
                <a:lnTo>
                  <a:pt x="38100" y="19050"/>
                </a:lnTo>
                <a:lnTo>
                  <a:pt x="19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" name="object 56"/>
          <p:cNvSpPr/>
          <p:nvPr/>
        </p:nvSpPr>
        <p:spPr>
          <a:xfrm>
            <a:off x="4654020" y="3824155"/>
            <a:ext cx="495300" cy="76200"/>
          </a:xfrm>
          <a:custGeom>
            <a:avLst/>
            <a:gdLst/>
            <a:ahLst/>
            <a:cxnLst/>
            <a:rect l="l" t="t" r="r" b="b"/>
            <a:pathLst>
              <a:path w="495300" h="76200">
                <a:moveTo>
                  <a:pt x="495300" y="0"/>
                </a:moveTo>
                <a:lnTo>
                  <a:pt x="0" y="76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" name="object 57"/>
          <p:cNvSpPr/>
          <p:nvPr/>
        </p:nvSpPr>
        <p:spPr>
          <a:xfrm>
            <a:off x="4600575" y="3943350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0"/>
                </a:moveTo>
                <a:lnTo>
                  <a:pt x="0" y="19050"/>
                </a:lnTo>
                <a:lnTo>
                  <a:pt x="28575" y="28575"/>
                </a:lnTo>
                <a:lnTo>
                  <a:pt x="285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" name="object 58"/>
          <p:cNvSpPr/>
          <p:nvPr/>
        </p:nvSpPr>
        <p:spPr>
          <a:xfrm>
            <a:off x="4501620" y="4614730"/>
            <a:ext cx="409575" cy="0"/>
          </a:xfrm>
          <a:custGeom>
            <a:avLst/>
            <a:gdLst/>
            <a:ahLst/>
            <a:cxnLst/>
            <a:rect l="l" t="t" r="r" b="b"/>
            <a:pathLst>
              <a:path w="409575" h="0">
                <a:moveTo>
                  <a:pt x="0" y="0"/>
                </a:moveTo>
                <a:lnTo>
                  <a:pt x="409575" y="0"/>
                </a:lnTo>
              </a:path>
            </a:pathLst>
          </a:custGeom>
          <a:ln w="58419">
            <a:solidFill>
              <a:srgbClr val="FFF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" name="object 59"/>
          <p:cNvSpPr/>
          <p:nvPr/>
        </p:nvSpPr>
        <p:spPr>
          <a:xfrm>
            <a:off x="4501620" y="4586155"/>
            <a:ext cx="409575" cy="57150"/>
          </a:xfrm>
          <a:custGeom>
            <a:avLst/>
            <a:gdLst/>
            <a:ahLst/>
            <a:cxnLst/>
            <a:rect l="l" t="t" r="r" b="b"/>
            <a:pathLst>
              <a:path w="409575" h="57150">
                <a:moveTo>
                  <a:pt x="0" y="57150"/>
                </a:moveTo>
                <a:lnTo>
                  <a:pt x="409575" y="57150"/>
                </a:lnTo>
                <a:lnTo>
                  <a:pt x="409575" y="0"/>
                </a:ln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" name="object 60"/>
          <p:cNvSpPr/>
          <p:nvPr/>
        </p:nvSpPr>
        <p:spPr>
          <a:xfrm>
            <a:off x="4492095" y="4443280"/>
            <a:ext cx="219075" cy="142875"/>
          </a:xfrm>
          <a:custGeom>
            <a:avLst/>
            <a:gdLst/>
            <a:ahLst/>
            <a:cxnLst/>
            <a:rect l="l" t="t" r="r" b="b"/>
            <a:pathLst>
              <a:path w="219075" h="142875">
                <a:moveTo>
                  <a:pt x="219075" y="142875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" name="object 61"/>
          <p:cNvSpPr/>
          <p:nvPr/>
        </p:nvSpPr>
        <p:spPr>
          <a:xfrm>
            <a:off x="4429125" y="4495800"/>
            <a:ext cx="38100" cy="28575"/>
          </a:xfrm>
          <a:custGeom>
            <a:avLst/>
            <a:gdLst/>
            <a:ahLst/>
            <a:cxnLst/>
            <a:rect l="l" t="t" r="r" b="b"/>
            <a:pathLst>
              <a:path w="38100" h="28575">
                <a:moveTo>
                  <a:pt x="38100" y="9525"/>
                </a:moveTo>
                <a:lnTo>
                  <a:pt x="0" y="0"/>
                </a:lnTo>
                <a:lnTo>
                  <a:pt x="19050" y="28575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" name="object 62"/>
          <p:cNvSpPr/>
          <p:nvPr/>
        </p:nvSpPr>
        <p:spPr>
          <a:xfrm>
            <a:off x="5101695" y="4624255"/>
            <a:ext cx="295275" cy="276225"/>
          </a:xfrm>
          <a:custGeom>
            <a:avLst/>
            <a:gdLst/>
            <a:ahLst/>
            <a:cxnLst/>
            <a:rect l="l" t="t" r="r" b="b"/>
            <a:pathLst>
              <a:path w="295275" h="276225">
                <a:moveTo>
                  <a:pt x="295275" y="142875"/>
                </a:moveTo>
                <a:lnTo>
                  <a:pt x="294498" y="128633"/>
                </a:lnTo>
                <a:lnTo>
                  <a:pt x="292227" y="114703"/>
                </a:lnTo>
                <a:lnTo>
                  <a:pt x="288546" y="101168"/>
                </a:lnTo>
                <a:lnTo>
                  <a:pt x="283539" y="88115"/>
                </a:lnTo>
                <a:lnTo>
                  <a:pt x="277293" y="75629"/>
                </a:lnTo>
                <a:lnTo>
                  <a:pt x="269892" y="63793"/>
                </a:lnTo>
                <a:lnTo>
                  <a:pt x="261421" y="52695"/>
                </a:lnTo>
                <a:lnTo>
                  <a:pt x="251966" y="42418"/>
                </a:lnTo>
                <a:lnTo>
                  <a:pt x="241612" y="33048"/>
                </a:lnTo>
                <a:lnTo>
                  <a:pt x="230443" y="24670"/>
                </a:lnTo>
                <a:lnTo>
                  <a:pt x="218546" y="17370"/>
                </a:lnTo>
                <a:lnTo>
                  <a:pt x="206005" y="11232"/>
                </a:lnTo>
                <a:lnTo>
                  <a:pt x="192905" y="6341"/>
                </a:lnTo>
                <a:lnTo>
                  <a:pt x="179331" y="2783"/>
                </a:lnTo>
                <a:lnTo>
                  <a:pt x="165369" y="643"/>
                </a:lnTo>
                <a:lnTo>
                  <a:pt x="152400" y="0"/>
                </a:lnTo>
                <a:lnTo>
                  <a:pt x="136987" y="726"/>
                </a:lnTo>
                <a:lnTo>
                  <a:pt x="122060" y="2854"/>
                </a:lnTo>
                <a:lnTo>
                  <a:pt x="107685" y="6306"/>
                </a:lnTo>
                <a:lnTo>
                  <a:pt x="93924" y="11006"/>
                </a:lnTo>
                <a:lnTo>
                  <a:pt x="80843" y="16877"/>
                </a:lnTo>
                <a:lnTo>
                  <a:pt x="68506" y="23840"/>
                </a:lnTo>
                <a:lnTo>
                  <a:pt x="56976" y="31820"/>
                </a:lnTo>
                <a:lnTo>
                  <a:pt x="46318" y="40739"/>
                </a:lnTo>
                <a:lnTo>
                  <a:pt x="36596" y="50521"/>
                </a:lnTo>
                <a:lnTo>
                  <a:pt x="27874" y="61087"/>
                </a:lnTo>
                <a:lnTo>
                  <a:pt x="20217" y="72362"/>
                </a:lnTo>
                <a:lnTo>
                  <a:pt x="13689" y="84268"/>
                </a:lnTo>
                <a:lnTo>
                  <a:pt x="8354" y="96727"/>
                </a:lnTo>
                <a:lnTo>
                  <a:pt x="4276" y="109664"/>
                </a:lnTo>
                <a:lnTo>
                  <a:pt x="1519" y="123000"/>
                </a:lnTo>
                <a:lnTo>
                  <a:pt x="147" y="136660"/>
                </a:lnTo>
                <a:lnTo>
                  <a:pt x="0" y="142875"/>
                </a:lnTo>
                <a:lnTo>
                  <a:pt x="774" y="156977"/>
                </a:lnTo>
                <a:lnTo>
                  <a:pt x="3052" y="170573"/>
                </a:lnTo>
                <a:lnTo>
                  <a:pt x="6763" y="183608"/>
                </a:lnTo>
                <a:lnTo>
                  <a:pt x="11835" y="196023"/>
                </a:lnTo>
                <a:lnTo>
                  <a:pt x="18199" y="207763"/>
                </a:lnTo>
                <a:lnTo>
                  <a:pt x="25784" y="218772"/>
                </a:lnTo>
                <a:lnTo>
                  <a:pt x="34520" y="228993"/>
                </a:lnTo>
                <a:lnTo>
                  <a:pt x="44335" y="238370"/>
                </a:lnTo>
                <a:lnTo>
                  <a:pt x="55160" y="246846"/>
                </a:lnTo>
                <a:lnTo>
                  <a:pt x="66925" y="254365"/>
                </a:lnTo>
                <a:lnTo>
                  <a:pt x="79557" y="260870"/>
                </a:lnTo>
                <a:lnTo>
                  <a:pt x="92988" y="266306"/>
                </a:lnTo>
                <a:lnTo>
                  <a:pt x="107147" y="270615"/>
                </a:lnTo>
                <a:lnTo>
                  <a:pt x="121963" y="273742"/>
                </a:lnTo>
                <a:lnTo>
                  <a:pt x="137365" y="275630"/>
                </a:lnTo>
                <a:lnTo>
                  <a:pt x="152400" y="276225"/>
                </a:lnTo>
                <a:lnTo>
                  <a:pt x="167118" y="275511"/>
                </a:lnTo>
                <a:lnTo>
                  <a:pt x="181501" y="273412"/>
                </a:lnTo>
                <a:lnTo>
                  <a:pt x="195455" y="269991"/>
                </a:lnTo>
                <a:lnTo>
                  <a:pt x="208885" y="265310"/>
                </a:lnTo>
                <a:lnTo>
                  <a:pt x="221698" y="259432"/>
                </a:lnTo>
                <a:lnTo>
                  <a:pt x="233798" y="252419"/>
                </a:lnTo>
                <a:lnTo>
                  <a:pt x="245093" y="244335"/>
                </a:lnTo>
                <a:lnTo>
                  <a:pt x="255488" y="235242"/>
                </a:lnTo>
                <a:lnTo>
                  <a:pt x="264889" y="225203"/>
                </a:lnTo>
                <a:lnTo>
                  <a:pt x="273201" y="214280"/>
                </a:lnTo>
                <a:lnTo>
                  <a:pt x="280331" y="202537"/>
                </a:lnTo>
                <a:lnTo>
                  <a:pt x="286185" y="190036"/>
                </a:lnTo>
                <a:lnTo>
                  <a:pt x="290669" y="176839"/>
                </a:lnTo>
                <a:lnTo>
                  <a:pt x="293688" y="163010"/>
                </a:lnTo>
                <a:lnTo>
                  <a:pt x="295148" y="148612"/>
                </a:lnTo>
                <a:lnTo>
                  <a:pt x="295275" y="142875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" name="object 63"/>
          <p:cNvSpPr/>
          <p:nvPr/>
        </p:nvSpPr>
        <p:spPr>
          <a:xfrm>
            <a:off x="5101695" y="4624255"/>
            <a:ext cx="295275" cy="276225"/>
          </a:xfrm>
          <a:custGeom>
            <a:avLst/>
            <a:gdLst/>
            <a:ahLst/>
            <a:cxnLst/>
            <a:rect l="l" t="t" r="r" b="b"/>
            <a:pathLst>
              <a:path w="295275" h="276225">
                <a:moveTo>
                  <a:pt x="295275" y="142875"/>
                </a:moveTo>
                <a:lnTo>
                  <a:pt x="294498" y="128633"/>
                </a:lnTo>
                <a:lnTo>
                  <a:pt x="292227" y="114703"/>
                </a:lnTo>
                <a:lnTo>
                  <a:pt x="288546" y="101168"/>
                </a:lnTo>
                <a:lnTo>
                  <a:pt x="283539" y="88115"/>
                </a:lnTo>
                <a:lnTo>
                  <a:pt x="277293" y="75629"/>
                </a:lnTo>
                <a:lnTo>
                  <a:pt x="269892" y="63793"/>
                </a:lnTo>
                <a:lnTo>
                  <a:pt x="261421" y="52695"/>
                </a:lnTo>
                <a:lnTo>
                  <a:pt x="251966" y="42418"/>
                </a:lnTo>
                <a:lnTo>
                  <a:pt x="241612" y="33048"/>
                </a:lnTo>
                <a:lnTo>
                  <a:pt x="230443" y="24670"/>
                </a:lnTo>
                <a:lnTo>
                  <a:pt x="218546" y="17370"/>
                </a:lnTo>
                <a:lnTo>
                  <a:pt x="206005" y="11232"/>
                </a:lnTo>
                <a:lnTo>
                  <a:pt x="192905" y="6341"/>
                </a:lnTo>
                <a:lnTo>
                  <a:pt x="179331" y="2783"/>
                </a:lnTo>
                <a:lnTo>
                  <a:pt x="165369" y="643"/>
                </a:lnTo>
                <a:lnTo>
                  <a:pt x="152400" y="0"/>
                </a:lnTo>
                <a:lnTo>
                  <a:pt x="136987" y="726"/>
                </a:lnTo>
                <a:lnTo>
                  <a:pt x="122060" y="2854"/>
                </a:lnTo>
                <a:lnTo>
                  <a:pt x="107685" y="6306"/>
                </a:lnTo>
                <a:lnTo>
                  <a:pt x="93924" y="11006"/>
                </a:lnTo>
                <a:lnTo>
                  <a:pt x="80843" y="16877"/>
                </a:lnTo>
                <a:lnTo>
                  <a:pt x="68506" y="23840"/>
                </a:lnTo>
                <a:lnTo>
                  <a:pt x="56976" y="31820"/>
                </a:lnTo>
                <a:lnTo>
                  <a:pt x="46318" y="40739"/>
                </a:lnTo>
                <a:lnTo>
                  <a:pt x="36596" y="50521"/>
                </a:lnTo>
                <a:lnTo>
                  <a:pt x="27874" y="61087"/>
                </a:lnTo>
                <a:lnTo>
                  <a:pt x="20217" y="72362"/>
                </a:lnTo>
                <a:lnTo>
                  <a:pt x="13689" y="84268"/>
                </a:lnTo>
                <a:lnTo>
                  <a:pt x="8354" y="96727"/>
                </a:lnTo>
                <a:lnTo>
                  <a:pt x="4276" y="109664"/>
                </a:lnTo>
                <a:lnTo>
                  <a:pt x="1519" y="123000"/>
                </a:lnTo>
                <a:lnTo>
                  <a:pt x="147" y="136660"/>
                </a:lnTo>
                <a:lnTo>
                  <a:pt x="0" y="142875"/>
                </a:lnTo>
                <a:lnTo>
                  <a:pt x="774" y="156977"/>
                </a:lnTo>
                <a:lnTo>
                  <a:pt x="3052" y="170573"/>
                </a:lnTo>
                <a:lnTo>
                  <a:pt x="6763" y="183608"/>
                </a:lnTo>
                <a:lnTo>
                  <a:pt x="11835" y="196023"/>
                </a:lnTo>
                <a:lnTo>
                  <a:pt x="18199" y="207763"/>
                </a:lnTo>
                <a:lnTo>
                  <a:pt x="25784" y="218772"/>
                </a:lnTo>
                <a:lnTo>
                  <a:pt x="34520" y="228993"/>
                </a:lnTo>
                <a:lnTo>
                  <a:pt x="44335" y="238370"/>
                </a:lnTo>
                <a:lnTo>
                  <a:pt x="55160" y="246846"/>
                </a:lnTo>
                <a:lnTo>
                  <a:pt x="66925" y="254365"/>
                </a:lnTo>
                <a:lnTo>
                  <a:pt x="79557" y="260870"/>
                </a:lnTo>
                <a:lnTo>
                  <a:pt x="92988" y="266306"/>
                </a:lnTo>
                <a:lnTo>
                  <a:pt x="107147" y="270615"/>
                </a:lnTo>
                <a:lnTo>
                  <a:pt x="121963" y="273742"/>
                </a:lnTo>
                <a:lnTo>
                  <a:pt x="137365" y="275630"/>
                </a:lnTo>
                <a:lnTo>
                  <a:pt x="152400" y="276225"/>
                </a:lnTo>
                <a:lnTo>
                  <a:pt x="167118" y="275511"/>
                </a:lnTo>
                <a:lnTo>
                  <a:pt x="181501" y="273412"/>
                </a:lnTo>
                <a:lnTo>
                  <a:pt x="195455" y="269991"/>
                </a:lnTo>
                <a:lnTo>
                  <a:pt x="208885" y="265310"/>
                </a:lnTo>
                <a:lnTo>
                  <a:pt x="221698" y="259432"/>
                </a:lnTo>
                <a:lnTo>
                  <a:pt x="233798" y="252419"/>
                </a:lnTo>
                <a:lnTo>
                  <a:pt x="245093" y="244335"/>
                </a:lnTo>
                <a:lnTo>
                  <a:pt x="255488" y="235242"/>
                </a:lnTo>
                <a:lnTo>
                  <a:pt x="264889" y="225203"/>
                </a:lnTo>
                <a:lnTo>
                  <a:pt x="273201" y="214280"/>
                </a:lnTo>
                <a:lnTo>
                  <a:pt x="280331" y="202537"/>
                </a:lnTo>
                <a:lnTo>
                  <a:pt x="286185" y="190036"/>
                </a:lnTo>
                <a:lnTo>
                  <a:pt x="290669" y="176839"/>
                </a:lnTo>
                <a:lnTo>
                  <a:pt x="293688" y="163010"/>
                </a:lnTo>
                <a:lnTo>
                  <a:pt x="295148" y="148612"/>
                </a:lnTo>
                <a:lnTo>
                  <a:pt x="295275" y="142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" name="object 64"/>
          <p:cNvSpPr/>
          <p:nvPr/>
        </p:nvSpPr>
        <p:spPr>
          <a:xfrm>
            <a:off x="5673195" y="4633780"/>
            <a:ext cx="409575" cy="0"/>
          </a:xfrm>
          <a:custGeom>
            <a:avLst/>
            <a:gdLst/>
            <a:ahLst/>
            <a:cxnLst/>
            <a:rect l="l" t="t" r="r" b="b"/>
            <a:pathLst>
              <a:path w="409575" h="0">
                <a:moveTo>
                  <a:pt x="0" y="0"/>
                </a:moveTo>
                <a:lnTo>
                  <a:pt x="409575" y="0"/>
                </a:lnTo>
              </a:path>
            </a:pathLst>
          </a:custGeom>
          <a:ln w="58419">
            <a:solidFill>
              <a:srgbClr val="FFF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" name="object 65"/>
          <p:cNvSpPr/>
          <p:nvPr/>
        </p:nvSpPr>
        <p:spPr>
          <a:xfrm>
            <a:off x="5673195" y="4605205"/>
            <a:ext cx="409575" cy="57150"/>
          </a:xfrm>
          <a:custGeom>
            <a:avLst/>
            <a:gdLst/>
            <a:ahLst/>
            <a:cxnLst/>
            <a:rect l="l" t="t" r="r" b="b"/>
            <a:pathLst>
              <a:path w="409575" h="57150">
                <a:moveTo>
                  <a:pt x="0" y="57150"/>
                </a:moveTo>
                <a:lnTo>
                  <a:pt x="409575" y="57150"/>
                </a:lnTo>
                <a:lnTo>
                  <a:pt x="409575" y="0"/>
                </a:ln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" name="object 66"/>
          <p:cNvSpPr/>
          <p:nvPr/>
        </p:nvSpPr>
        <p:spPr>
          <a:xfrm>
            <a:off x="5406495" y="4662355"/>
            <a:ext cx="466725" cy="95250"/>
          </a:xfrm>
          <a:custGeom>
            <a:avLst/>
            <a:gdLst/>
            <a:ahLst/>
            <a:cxnLst/>
            <a:rect l="l" t="t" r="r" b="b"/>
            <a:pathLst>
              <a:path w="466725" h="95250">
                <a:moveTo>
                  <a:pt x="466725" y="0"/>
                </a:moveTo>
                <a:lnTo>
                  <a:pt x="0" y="952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" name="object 67"/>
          <p:cNvSpPr/>
          <p:nvPr/>
        </p:nvSpPr>
        <p:spPr>
          <a:xfrm>
            <a:off x="5343525" y="4800600"/>
            <a:ext cx="38100" cy="28575"/>
          </a:xfrm>
          <a:custGeom>
            <a:avLst/>
            <a:gdLst/>
            <a:ahLst/>
            <a:cxnLst/>
            <a:rect l="l" t="t" r="r" b="b"/>
            <a:pathLst>
              <a:path w="38100" h="28575">
                <a:moveTo>
                  <a:pt x="28575" y="0"/>
                </a:moveTo>
                <a:lnTo>
                  <a:pt x="0" y="19050"/>
                </a:lnTo>
                <a:lnTo>
                  <a:pt x="38100" y="28575"/>
                </a:lnTo>
                <a:lnTo>
                  <a:pt x="285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" name="object 68"/>
          <p:cNvSpPr/>
          <p:nvPr/>
        </p:nvSpPr>
        <p:spPr>
          <a:xfrm>
            <a:off x="4720695" y="4652830"/>
            <a:ext cx="381000" cy="114300"/>
          </a:xfrm>
          <a:custGeom>
            <a:avLst/>
            <a:gdLst/>
            <a:ahLst/>
            <a:cxnLst/>
            <a:rect l="l" t="t" r="r" b="b"/>
            <a:pathLst>
              <a:path w="381000" h="114300">
                <a:moveTo>
                  <a:pt x="381000" y="1143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" name="object 69"/>
          <p:cNvSpPr/>
          <p:nvPr/>
        </p:nvSpPr>
        <p:spPr>
          <a:xfrm>
            <a:off x="4657725" y="4695825"/>
            <a:ext cx="38100" cy="28575"/>
          </a:xfrm>
          <a:custGeom>
            <a:avLst/>
            <a:gdLst/>
            <a:ahLst/>
            <a:cxnLst/>
            <a:rect l="l" t="t" r="r" b="b"/>
            <a:pathLst>
              <a:path w="38100" h="28575">
                <a:moveTo>
                  <a:pt x="38100" y="0"/>
                </a:moveTo>
                <a:lnTo>
                  <a:pt x="0" y="9525"/>
                </a:lnTo>
                <a:lnTo>
                  <a:pt x="28575" y="28575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" name="object 70"/>
          <p:cNvSpPr/>
          <p:nvPr/>
        </p:nvSpPr>
        <p:spPr>
          <a:xfrm>
            <a:off x="5768445" y="4119430"/>
            <a:ext cx="304800" cy="276225"/>
          </a:xfrm>
          <a:custGeom>
            <a:avLst/>
            <a:gdLst/>
            <a:ahLst/>
            <a:cxnLst/>
            <a:rect l="l" t="t" r="r" b="b"/>
            <a:pathLst>
              <a:path w="304800" h="276225">
                <a:moveTo>
                  <a:pt x="304800" y="142875"/>
                </a:moveTo>
                <a:lnTo>
                  <a:pt x="304071" y="129095"/>
                </a:lnTo>
                <a:lnTo>
                  <a:pt x="301928" y="115604"/>
                </a:lnTo>
                <a:lnTo>
                  <a:pt x="298435" y="102479"/>
                </a:lnTo>
                <a:lnTo>
                  <a:pt x="293656" y="89795"/>
                </a:lnTo>
                <a:lnTo>
                  <a:pt x="287655" y="77632"/>
                </a:lnTo>
                <a:lnTo>
                  <a:pt x="280496" y="66064"/>
                </a:lnTo>
                <a:lnTo>
                  <a:pt x="272245" y="55170"/>
                </a:lnTo>
                <a:lnTo>
                  <a:pt x="262964" y="45027"/>
                </a:lnTo>
                <a:lnTo>
                  <a:pt x="252718" y="35711"/>
                </a:lnTo>
                <a:lnTo>
                  <a:pt x="241571" y="27300"/>
                </a:lnTo>
                <a:lnTo>
                  <a:pt x="229588" y="19871"/>
                </a:lnTo>
                <a:lnTo>
                  <a:pt x="216833" y="13501"/>
                </a:lnTo>
                <a:lnTo>
                  <a:pt x="203370" y="8266"/>
                </a:lnTo>
                <a:lnTo>
                  <a:pt x="189262" y="4244"/>
                </a:lnTo>
                <a:lnTo>
                  <a:pt x="174575" y="1512"/>
                </a:lnTo>
                <a:lnTo>
                  <a:pt x="159373" y="147"/>
                </a:lnTo>
                <a:lnTo>
                  <a:pt x="152400" y="0"/>
                </a:lnTo>
                <a:lnTo>
                  <a:pt x="136987" y="726"/>
                </a:lnTo>
                <a:lnTo>
                  <a:pt x="122060" y="2854"/>
                </a:lnTo>
                <a:lnTo>
                  <a:pt x="107685" y="6306"/>
                </a:lnTo>
                <a:lnTo>
                  <a:pt x="93924" y="11006"/>
                </a:lnTo>
                <a:lnTo>
                  <a:pt x="80843" y="16877"/>
                </a:lnTo>
                <a:lnTo>
                  <a:pt x="68506" y="23840"/>
                </a:lnTo>
                <a:lnTo>
                  <a:pt x="56976" y="31820"/>
                </a:lnTo>
                <a:lnTo>
                  <a:pt x="46318" y="40739"/>
                </a:lnTo>
                <a:lnTo>
                  <a:pt x="36596" y="50521"/>
                </a:lnTo>
                <a:lnTo>
                  <a:pt x="27874" y="61087"/>
                </a:lnTo>
                <a:lnTo>
                  <a:pt x="20217" y="72362"/>
                </a:lnTo>
                <a:lnTo>
                  <a:pt x="13689" y="84268"/>
                </a:lnTo>
                <a:lnTo>
                  <a:pt x="8354" y="96727"/>
                </a:lnTo>
                <a:lnTo>
                  <a:pt x="4276" y="109664"/>
                </a:lnTo>
                <a:lnTo>
                  <a:pt x="1519" y="123000"/>
                </a:lnTo>
                <a:lnTo>
                  <a:pt x="147" y="136660"/>
                </a:lnTo>
                <a:lnTo>
                  <a:pt x="0" y="142875"/>
                </a:lnTo>
                <a:lnTo>
                  <a:pt x="774" y="156977"/>
                </a:lnTo>
                <a:lnTo>
                  <a:pt x="3052" y="170573"/>
                </a:lnTo>
                <a:lnTo>
                  <a:pt x="6763" y="183608"/>
                </a:lnTo>
                <a:lnTo>
                  <a:pt x="11835" y="196023"/>
                </a:lnTo>
                <a:lnTo>
                  <a:pt x="18199" y="207763"/>
                </a:lnTo>
                <a:lnTo>
                  <a:pt x="25784" y="218772"/>
                </a:lnTo>
                <a:lnTo>
                  <a:pt x="34520" y="228993"/>
                </a:lnTo>
                <a:lnTo>
                  <a:pt x="44335" y="238370"/>
                </a:lnTo>
                <a:lnTo>
                  <a:pt x="55160" y="246846"/>
                </a:lnTo>
                <a:lnTo>
                  <a:pt x="66925" y="254365"/>
                </a:lnTo>
                <a:lnTo>
                  <a:pt x="79557" y="260870"/>
                </a:lnTo>
                <a:lnTo>
                  <a:pt x="92988" y="266306"/>
                </a:lnTo>
                <a:lnTo>
                  <a:pt x="107147" y="270615"/>
                </a:lnTo>
                <a:lnTo>
                  <a:pt x="121963" y="273742"/>
                </a:lnTo>
                <a:lnTo>
                  <a:pt x="137365" y="275630"/>
                </a:lnTo>
                <a:lnTo>
                  <a:pt x="152400" y="276225"/>
                </a:lnTo>
                <a:lnTo>
                  <a:pt x="168292" y="275560"/>
                </a:lnTo>
                <a:lnTo>
                  <a:pt x="183664" y="273602"/>
                </a:lnTo>
                <a:lnTo>
                  <a:pt x="198445" y="270409"/>
                </a:lnTo>
                <a:lnTo>
                  <a:pt x="212566" y="266037"/>
                </a:lnTo>
                <a:lnTo>
                  <a:pt x="225955" y="260541"/>
                </a:lnTo>
                <a:lnTo>
                  <a:pt x="238542" y="253978"/>
                </a:lnTo>
                <a:lnTo>
                  <a:pt x="250257" y="246406"/>
                </a:lnTo>
                <a:lnTo>
                  <a:pt x="261028" y="237879"/>
                </a:lnTo>
                <a:lnTo>
                  <a:pt x="270786" y="228454"/>
                </a:lnTo>
                <a:lnTo>
                  <a:pt x="279461" y="218189"/>
                </a:lnTo>
                <a:lnTo>
                  <a:pt x="286981" y="207138"/>
                </a:lnTo>
                <a:lnTo>
                  <a:pt x="293276" y="195360"/>
                </a:lnTo>
                <a:lnTo>
                  <a:pt x="298275" y="182909"/>
                </a:lnTo>
                <a:lnTo>
                  <a:pt x="301909" y="169843"/>
                </a:lnTo>
                <a:lnTo>
                  <a:pt x="304107" y="156217"/>
                </a:lnTo>
                <a:lnTo>
                  <a:pt x="304800" y="142875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" name="object 71"/>
          <p:cNvSpPr/>
          <p:nvPr/>
        </p:nvSpPr>
        <p:spPr>
          <a:xfrm>
            <a:off x="5768445" y="4119430"/>
            <a:ext cx="304800" cy="276225"/>
          </a:xfrm>
          <a:custGeom>
            <a:avLst/>
            <a:gdLst/>
            <a:ahLst/>
            <a:cxnLst/>
            <a:rect l="l" t="t" r="r" b="b"/>
            <a:pathLst>
              <a:path w="304800" h="276225">
                <a:moveTo>
                  <a:pt x="304800" y="142875"/>
                </a:moveTo>
                <a:lnTo>
                  <a:pt x="304071" y="129095"/>
                </a:lnTo>
                <a:lnTo>
                  <a:pt x="301928" y="115604"/>
                </a:lnTo>
                <a:lnTo>
                  <a:pt x="298435" y="102479"/>
                </a:lnTo>
                <a:lnTo>
                  <a:pt x="293656" y="89795"/>
                </a:lnTo>
                <a:lnTo>
                  <a:pt x="287655" y="77632"/>
                </a:lnTo>
                <a:lnTo>
                  <a:pt x="280496" y="66064"/>
                </a:lnTo>
                <a:lnTo>
                  <a:pt x="272245" y="55170"/>
                </a:lnTo>
                <a:lnTo>
                  <a:pt x="262964" y="45027"/>
                </a:lnTo>
                <a:lnTo>
                  <a:pt x="252718" y="35711"/>
                </a:lnTo>
                <a:lnTo>
                  <a:pt x="241571" y="27300"/>
                </a:lnTo>
                <a:lnTo>
                  <a:pt x="229588" y="19871"/>
                </a:lnTo>
                <a:lnTo>
                  <a:pt x="216833" y="13501"/>
                </a:lnTo>
                <a:lnTo>
                  <a:pt x="203370" y="8266"/>
                </a:lnTo>
                <a:lnTo>
                  <a:pt x="189262" y="4244"/>
                </a:lnTo>
                <a:lnTo>
                  <a:pt x="174575" y="1512"/>
                </a:lnTo>
                <a:lnTo>
                  <a:pt x="159373" y="147"/>
                </a:lnTo>
                <a:lnTo>
                  <a:pt x="152400" y="0"/>
                </a:lnTo>
                <a:lnTo>
                  <a:pt x="136987" y="726"/>
                </a:lnTo>
                <a:lnTo>
                  <a:pt x="122060" y="2854"/>
                </a:lnTo>
                <a:lnTo>
                  <a:pt x="107685" y="6306"/>
                </a:lnTo>
                <a:lnTo>
                  <a:pt x="93924" y="11006"/>
                </a:lnTo>
                <a:lnTo>
                  <a:pt x="80843" y="16877"/>
                </a:lnTo>
                <a:lnTo>
                  <a:pt x="68506" y="23840"/>
                </a:lnTo>
                <a:lnTo>
                  <a:pt x="56976" y="31820"/>
                </a:lnTo>
                <a:lnTo>
                  <a:pt x="46318" y="40739"/>
                </a:lnTo>
                <a:lnTo>
                  <a:pt x="36596" y="50521"/>
                </a:lnTo>
                <a:lnTo>
                  <a:pt x="27874" y="61087"/>
                </a:lnTo>
                <a:lnTo>
                  <a:pt x="20217" y="72362"/>
                </a:lnTo>
                <a:lnTo>
                  <a:pt x="13689" y="84268"/>
                </a:lnTo>
                <a:lnTo>
                  <a:pt x="8354" y="96727"/>
                </a:lnTo>
                <a:lnTo>
                  <a:pt x="4276" y="109664"/>
                </a:lnTo>
                <a:lnTo>
                  <a:pt x="1519" y="123000"/>
                </a:lnTo>
                <a:lnTo>
                  <a:pt x="147" y="136660"/>
                </a:lnTo>
                <a:lnTo>
                  <a:pt x="0" y="142875"/>
                </a:lnTo>
                <a:lnTo>
                  <a:pt x="774" y="156977"/>
                </a:lnTo>
                <a:lnTo>
                  <a:pt x="3052" y="170573"/>
                </a:lnTo>
                <a:lnTo>
                  <a:pt x="6763" y="183608"/>
                </a:lnTo>
                <a:lnTo>
                  <a:pt x="11835" y="196023"/>
                </a:lnTo>
                <a:lnTo>
                  <a:pt x="18199" y="207763"/>
                </a:lnTo>
                <a:lnTo>
                  <a:pt x="25784" y="218772"/>
                </a:lnTo>
                <a:lnTo>
                  <a:pt x="34520" y="228993"/>
                </a:lnTo>
                <a:lnTo>
                  <a:pt x="44335" y="238370"/>
                </a:lnTo>
                <a:lnTo>
                  <a:pt x="55160" y="246846"/>
                </a:lnTo>
                <a:lnTo>
                  <a:pt x="66925" y="254365"/>
                </a:lnTo>
                <a:lnTo>
                  <a:pt x="79557" y="260870"/>
                </a:lnTo>
                <a:lnTo>
                  <a:pt x="92988" y="266306"/>
                </a:lnTo>
                <a:lnTo>
                  <a:pt x="107147" y="270615"/>
                </a:lnTo>
                <a:lnTo>
                  <a:pt x="121963" y="273742"/>
                </a:lnTo>
                <a:lnTo>
                  <a:pt x="137365" y="275630"/>
                </a:lnTo>
                <a:lnTo>
                  <a:pt x="152400" y="276225"/>
                </a:lnTo>
                <a:lnTo>
                  <a:pt x="168292" y="275560"/>
                </a:lnTo>
                <a:lnTo>
                  <a:pt x="183664" y="273602"/>
                </a:lnTo>
                <a:lnTo>
                  <a:pt x="198445" y="270409"/>
                </a:lnTo>
                <a:lnTo>
                  <a:pt x="212566" y="266037"/>
                </a:lnTo>
                <a:lnTo>
                  <a:pt x="225955" y="260541"/>
                </a:lnTo>
                <a:lnTo>
                  <a:pt x="238542" y="253978"/>
                </a:lnTo>
                <a:lnTo>
                  <a:pt x="250257" y="246406"/>
                </a:lnTo>
                <a:lnTo>
                  <a:pt x="261028" y="237879"/>
                </a:lnTo>
                <a:lnTo>
                  <a:pt x="270786" y="228454"/>
                </a:lnTo>
                <a:lnTo>
                  <a:pt x="279461" y="218189"/>
                </a:lnTo>
                <a:lnTo>
                  <a:pt x="286981" y="207138"/>
                </a:lnTo>
                <a:lnTo>
                  <a:pt x="293276" y="195360"/>
                </a:lnTo>
                <a:lnTo>
                  <a:pt x="298275" y="182909"/>
                </a:lnTo>
                <a:lnTo>
                  <a:pt x="301909" y="169843"/>
                </a:lnTo>
                <a:lnTo>
                  <a:pt x="304107" y="156217"/>
                </a:lnTo>
                <a:lnTo>
                  <a:pt x="304800" y="142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" name="object 72"/>
          <p:cNvSpPr/>
          <p:nvPr/>
        </p:nvSpPr>
        <p:spPr>
          <a:xfrm>
            <a:off x="5635095" y="3928930"/>
            <a:ext cx="409575" cy="0"/>
          </a:xfrm>
          <a:custGeom>
            <a:avLst/>
            <a:gdLst/>
            <a:ahLst/>
            <a:cxnLst/>
            <a:rect l="l" t="t" r="r" b="b"/>
            <a:pathLst>
              <a:path w="409575" h="0">
                <a:moveTo>
                  <a:pt x="0" y="0"/>
                </a:moveTo>
                <a:lnTo>
                  <a:pt x="409575" y="0"/>
                </a:lnTo>
              </a:path>
            </a:pathLst>
          </a:custGeom>
          <a:ln w="58419">
            <a:solidFill>
              <a:srgbClr val="FFFF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" name="object 73"/>
          <p:cNvSpPr/>
          <p:nvPr/>
        </p:nvSpPr>
        <p:spPr>
          <a:xfrm>
            <a:off x="5635095" y="3900355"/>
            <a:ext cx="409575" cy="57150"/>
          </a:xfrm>
          <a:custGeom>
            <a:avLst/>
            <a:gdLst/>
            <a:ahLst/>
            <a:cxnLst/>
            <a:rect l="l" t="t" r="r" b="b"/>
            <a:pathLst>
              <a:path w="409575" h="57150">
                <a:moveTo>
                  <a:pt x="0" y="57150"/>
                </a:moveTo>
                <a:lnTo>
                  <a:pt x="409575" y="57150"/>
                </a:lnTo>
                <a:lnTo>
                  <a:pt x="409575" y="0"/>
                </a:ln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" name="object 74"/>
          <p:cNvSpPr/>
          <p:nvPr/>
        </p:nvSpPr>
        <p:spPr>
          <a:xfrm>
            <a:off x="5844645" y="3957505"/>
            <a:ext cx="66675" cy="152400"/>
          </a:xfrm>
          <a:custGeom>
            <a:avLst/>
            <a:gdLst/>
            <a:ahLst/>
            <a:cxnLst/>
            <a:rect l="l" t="t" r="r" b="b"/>
            <a:pathLst>
              <a:path w="66675" h="152400">
                <a:moveTo>
                  <a:pt x="0" y="0"/>
                </a:moveTo>
                <a:lnTo>
                  <a:pt x="66675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" name="object 75"/>
          <p:cNvSpPr/>
          <p:nvPr/>
        </p:nvSpPr>
        <p:spPr>
          <a:xfrm>
            <a:off x="5848350" y="4143375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0" y="9525"/>
                </a:moveTo>
                <a:lnTo>
                  <a:pt x="28575" y="28575"/>
                </a:lnTo>
                <a:lnTo>
                  <a:pt x="28575" y="0"/>
                </a:lnTo>
                <a:lnTo>
                  <a:pt x="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" name="object 76"/>
          <p:cNvSpPr/>
          <p:nvPr/>
        </p:nvSpPr>
        <p:spPr>
          <a:xfrm>
            <a:off x="5882745" y="4395655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38100" y="0"/>
                </a:moveTo>
                <a:lnTo>
                  <a:pt x="0" y="2000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" name="object 77"/>
          <p:cNvSpPr/>
          <p:nvPr/>
        </p:nvSpPr>
        <p:spPr>
          <a:xfrm>
            <a:off x="5819775" y="4629150"/>
            <a:ext cx="28575" cy="38100"/>
          </a:xfrm>
          <a:custGeom>
            <a:avLst/>
            <a:gdLst/>
            <a:ahLst/>
            <a:cxnLst/>
            <a:rect l="l" t="t" r="r" b="b"/>
            <a:pathLst>
              <a:path w="28575" h="38100">
                <a:moveTo>
                  <a:pt x="0" y="0"/>
                </a:moveTo>
                <a:lnTo>
                  <a:pt x="0" y="38100"/>
                </a:lnTo>
                <a:lnTo>
                  <a:pt x="28575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" name="object 78"/>
          <p:cNvSpPr/>
          <p:nvPr/>
        </p:nvSpPr>
        <p:spPr>
          <a:xfrm>
            <a:off x="4210050" y="39624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" name="object 79"/>
          <p:cNvSpPr/>
          <p:nvPr/>
        </p:nvSpPr>
        <p:spPr>
          <a:xfrm>
            <a:off x="3629025" y="3562350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2362200" y="652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533400" y="6219825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/>
          <p:nvPr/>
        </p:nvSpPr>
        <p:spPr>
          <a:xfrm>
            <a:off x="5200650" y="652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3629025" y="6219825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3797300" y="1152654"/>
            <a:ext cx="476885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00"/>
              </a:lnSpc>
              <a:spcBef>
                <a:spcPts val="70"/>
              </a:spcBef>
            </a:pPr>
            <a:r>
              <a:rPr dirty="0" smtClean="0" baseline="1993" sz="1800" spc="4" u="sng">
                <a:solidFill>
                  <a:srgbClr val="3333CC"/>
                </a:solidFill>
                <a:latin typeface="Comic Sans MS"/>
                <a:cs typeface="Comic Sans MS"/>
              </a:rPr>
              <a:t>Graph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845175" y="1830047"/>
            <a:ext cx="386760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60"/>
              </a:lnSpc>
              <a:spcBef>
                <a:spcPts val="33"/>
              </a:spcBef>
            </a:pPr>
            <a:r>
              <a:rPr dirty="0" smtClean="0" sz="500" spc="4">
                <a:latin typeface="Comic Sans MS"/>
                <a:cs typeface="Comic Sans MS"/>
              </a:rPr>
              <a:t>chopstic</a:t>
            </a:r>
            <a:r>
              <a:rPr dirty="0" smtClean="0" sz="500" spc="0">
                <a:latin typeface="Comic Sans MS"/>
                <a:cs typeface="Comic Sans MS"/>
              </a:rPr>
              <a:t>k</a:t>
            </a:r>
            <a:r>
              <a:rPr dirty="0" smtClean="0" sz="500" spc="115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2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406900" y="1839572"/>
            <a:ext cx="434978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60"/>
              </a:lnSpc>
              <a:spcBef>
                <a:spcPts val="33"/>
              </a:spcBef>
            </a:pPr>
            <a:r>
              <a:rPr dirty="0" smtClean="0" sz="500" spc="4">
                <a:solidFill>
                  <a:srgbClr val="FF0000"/>
                </a:solidFill>
                <a:latin typeface="Comic Sans MS"/>
                <a:cs typeface="Comic Sans MS"/>
              </a:rPr>
              <a:t>C1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,</a:t>
            </a:r>
            <a:r>
              <a:rPr dirty="0" smtClean="0" sz="500" spc="38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4">
                <a:solidFill>
                  <a:srgbClr val="FF0000"/>
                </a:solidFill>
                <a:latin typeface="Comic Sans MS"/>
                <a:cs typeface="Comic Sans MS"/>
              </a:rPr>
              <a:t>P1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,</a:t>
            </a:r>
            <a:r>
              <a:rPr dirty="0" smtClean="0" sz="500" spc="36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4">
                <a:solidFill>
                  <a:srgbClr val="FF0000"/>
                </a:solidFill>
                <a:latin typeface="Comic Sans MS"/>
                <a:cs typeface="Comic Sans MS"/>
              </a:rPr>
              <a:t>C0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,</a:t>
            </a:r>
            <a:r>
              <a:rPr dirty="0" smtClean="0" sz="500" spc="42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4">
                <a:solidFill>
                  <a:srgbClr val="FF0000"/>
                </a:solidFill>
                <a:latin typeface="Comic Sans MS"/>
                <a:cs typeface="Comic Sans MS"/>
              </a:rPr>
              <a:t>P0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283200" y="1839572"/>
            <a:ext cx="444177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60"/>
              </a:lnSpc>
              <a:spcBef>
                <a:spcPts val="33"/>
              </a:spcBef>
            </a:pPr>
            <a:r>
              <a:rPr dirty="0" smtClean="0" sz="500" spc="0">
                <a:latin typeface="Comic Sans MS"/>
                <a:cs typeface="Comic Sans MS"/>
              </a:rPr>
              <a:t>Philosopher</a:t>
            </a:r>
            <a:r>
              <a:rPr dirty="0" smtClean="0" sz="500" spc="137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2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845175" y="2068172"/>
            <a:ext cx="377121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60"/>
              </a:lnSpc>
              <a:spcBef>
                <a:spcPts val="33"/>
              </a:spcBef>
            </a:pPr>
            <a:r>
              <a:rPr dirty="0" smtClean="0" sz="500" spc="4">
                <a:latin typeface="Comic Sans MS"/>
                <a:cs typeface="Comic Sans MS"/>
              </a:rPr>
              <a:t>chopstic</a:t>
            </a:r>
            <a:r>
              <a:rPr dirty="0" smtClean="0" sz="500" spc="0">
                <a:latin typeface="Comic Sans MS"/>
                <a:cs typeface="Comic Sans MS"/>
              </a:rPr>
              <a:t>k</a:t>
            </a:r>
            <a:r>
              <a:rPr dirty="0" smtClean="0" sz="500" spc="115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1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92525" y="2306297"/>
            <a:ext cx="711186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60"/>
              </a:lnSpc>
              <a:spcBef>
                <a:spcPts val="33"/>
              </a:spcBef>
            </a:pPr>
            <a:r>
              <a:rPr dirty="0" smtClean="0" sz="500" spc="0">
                <a:latin typeface="Comic Sans MS"/>
                <a:cs typeface="Comic Sans MS"/>
              </a:rPr>
              <a:t>Philosopher</a:t>
            </a:r>
            <a:r>
              <a:rPr dirty="0" smtClean="0" sz="500" spc="137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0</a:t>
            </a:r>
            <a:r>
              <a:rPr dirty="0" smtClean="0" sz="500" spc="20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has</a:t>
            </a:r>
            <a:endParaRPr sz="500">
              <a:latin typeface="Comic Sans MS"/>
              <a:cs typeface="Comic Sans MS"/>
            </a:endParaRPr>
          </a:p>
          <a:p>
            <a:pPr marL="12700">
              <a:lnSpc>
                <a:spcPts val="675"/>
              </a:lnSpc>
              <a:spcBef>
                <a:spcPts val="0"/>
              </a:spcBef>
            </a:pPr>
            <a:r>
              <a:rPr dirty="0" smtClean="0" sz="500" spc="0">
                <a:latin typeface="Comic Sans MS"/>
                <a:cs typeface="Comic Sans MS"/>
              </a:rPr>
              <a:t>chopstick</a:t>
            </a:r>
            <a:r>
              <a:rPr dirty="0" smtClean="0" sz="500" spc="115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0</a:t>
            </a:r>
            <a:r>
              <a:rPr dirty="0" smtClean="0" sz="500" spc="20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and</a:t>
            </a:r>
            <a:r>
              <a:rPr dirty="0" smtClean="0" sz="500" spc="45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wants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159375" y="2392022"/>
            <a:ext cx="948971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60"/>
              </a:lnSpc>
              <a:spcBef>
                <a:spcPts val="33"/>
              </a:spcBef>
            </a:pPr>
            <a:r>
              <a:rPr dirty="0" smtClean="0" sz="500" spc="4">
                <a:latin typeface="Comic Sans MS"/>
                <a:cs typeface="Comic Sans MS"/>
              </a:rPr>
              <a:t>Philosophe</a:t>
            </a:r>
            <a:r>
              <a:rPr dirty="0" smtClean="0" sz="500" spc="0">
                <a:latin typeface="Comic Sans MS"/>
                <a:cs typeface="Comic Sans MS"/>
              </a:rPr>
              <a:t>r</a:t>
            </a:r>
            <a:r>
              <a:rPr dirty="0" smtClean="0" sz="500" spc="137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3</a:t>
            </a:r>
            <a:r>
              <a:rPr dirty="0" smtClean="0" sz="500" spc="20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ha</a:t>
            </a:r>
            <a:r>
              <a:rPr dirty="0" smtClean="0" sz="500" spc="0">
                <a:latin typeface="Comic Sans MS"/>
                <a:cs typeface="Comic Sans MS"/>
              </a:rPr>
              <a:t>s</a:t>
            </a:r>
            <a:r>
              <a:rPr dirty="0" smtClean="0" sz="500" spc="44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chopstic</a:t>
            </a:r>
            <a:r>
              <a:rPr dirty="0" smtClean="0" sz="500" spc="0">
                <a:latin typeface="Comic Sans MS"/>
                <a:cs typeface="Comic Sans MS"/>
              </a:rPr>
              <a:t>k</a:t>
            </a:r>
            <a:r>
              <a:rPr dirty="0" smtClean="0" sz="500" spc="115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3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78400" y="3925547"/>
            <a:ext cx="434557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60"/>
              </a:lnSpc>
              <a:spcBef>
                <a:spcPts val="33"/>
              </a:spcBef>
            </a:pPr>
            <a:r>
              <a:rPr dirty="0" smtClean="0" sz="500" spc="4">
                <a:latin typeface="Comic Sans MS"/>
                <a:cs typeface="Comic Sans MS"/>
              </a:rPr>
              <a:t>Philosophe</a:t>
            </a:r>
            <a:r>
              <a:rPr dirty="0" smtClean="0" sz="500" spc="0">
                <a:latin typeface="Comic Sans MS"/>
                <a:cs typeface="Comic Sans MS"/>
              </a:rPr>
              <a:t>r</a:t>
            </a:r>
            <a:r>
              <a:rPr dirty="0" smtClean="0" sz="500" spc="137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1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97375" y="3935072"/>
            <a:ext cx="387434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60"/>
              </a:lnSpc>
              <a:spcBef>
                <a:spcPts val="33"/>
              </a:spcBef>
            </a:pPr>
            <a:r>
              <a:rPr dirty="0" smtClean="0" sz="500" spc="0">
                <a:latin typeface="Comic Sans MS"/>
                <a:cs typeface="Comic Sans MS"/>
              </a:rPr>
              <a:t>Chopstick</a:t>
            </a:r>
            <a:r>
              <a:rPr dirty="0" smtClean="0" sz="500" spc="113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0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97525" y="3944597"/>
            <a:ext cx="377718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60"/>
              </a:lnSpc>
              <a:spcBef>
                <a:spcPts val="33"/>
              </a:spcBef>
            </a:pPr>
            <a:r>
              <a:rPr dirty="0" smtClean="0" sz="500" spc="0">
                <a:latin typeface="Comic Sans MS"/>
                <a:cs typeface="Comic Sans MS"/>
              </a:rPr>
              <a:t>Chopstick</a:t>
            </a:r>
            <a:r>
              <a:rPr dirty="0" smtClean="0" sz="500" spc="113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1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06875" y="4316072"/>
            <a:ext cx="444177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60"/>
              </a:lnSpc>
              <a:spcBef>
                <a:spcPts val="33"/>
              </a:spcBef>
            </a:pPr>
            <a:r>
              <a:rPr dirty="0" smtClean="0" sz="500" spc="0">
                <a:latin typeface="Comic Sans MS"/>
                <a:cs typeface="Comic Sans MS"/>
              </a:rPr>
              <a:t>Philosopher</a:t>
            </a:r>
            <a:r>
              <a:rPr dirty="0" smtClean="0" sz="500" spc="137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0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11575" y="4354172"/>
            <a:ext cx="415929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60"/>
              </a:lnSpc>
              <a:spcBef>
                <a:spcPts val="33"/>
              </a:spcBef>
            </a:pP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only</a:t>
            </a:r>
            <a:r>
              <a:rPr dirty="0" smtClean="0" sz="500" spc="45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possible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64050" y="4620872"/>
            <a:ext cx="387434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60"/>
              </a:lnSpc>
              <a:spcBef>
                <a:spcPts val="33"/>
              </a:spcBef>
            </a:pPr>
            <a:r>
              <a:rPr dirty="0" smtClean="0" sz="500" spc="0">
                <a:latin typeface="Comic Sans MS"/>
                <a:cs typeface="Comic Sans MS"/>
              </a:rPr>
              <a:t>Chopstick</a:t>
            </a:r>
            <a:r>
              <a:rPr dirty="0" smtClean="0" sz="500" spc="113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3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26100" y="4639922"/>
            <a:ext cx="387434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60"/>
              </a:lnSpc>
              <a:spcBef>
                <a:spcPts val="33"/>
              </a:spcBef>
            </a:pPr>
            <a:r>
              <a:rPr dirty="0" smtClean="0" sz="500" spc="0">
                <a:latin typeface="Comic Sans MS"/>
                <a:cs typeface="Comic Sans MS"/>
              </a:rPr>
              <a:t>Chopstick</a:t>
            </a:r>
            <a:r>
              <a:rPr dirty="0" smtClean="0" sz="500" spc="113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2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11575" y="4668497"/>
            <a:ext cx="463550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60"/>
              </a:lnSpc>
              <a:spcBef>
                <a:spcPts val="33"/>
              </a:spcBef>
            </a:pPr>
            <a:r>
              <a:rPr dirty="0" smtClean="0" sz="500" spc="-4">
                <a:solidFill>
                  <a:srgbClr val="FF0000"/>
                </a:solidFill>
                <a:latin typeface="Comic Sans MS"/>
                <a:cs typeface="Comic Sans MS"/>
              </a:rPr>
              <a:t>first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,</a:t>
            </a:r>
            <a:r>
              <a:rPr dirty="0" smtClean="0" sz="500" spc="57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-4">
                <a:solidFill>
                  <a:srgbClr val="FF0000"/>
                </a:solidFill>
                <a:latin typeface="Comic Sans MS"/>
                <a:cs typeface="Comic Sans MS"/>
              </a:rPr>
              <a:t>similarly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11575" y="4830422"/>
            <a:ext cx="386760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60"/>
              </a:lnSpc>
              <a:spcBef>
                <a:spcPts val="33"/>
              </a:spcBef>
            </a:pPr>
            <a:r>
              <a:rPr dirty="0" smtClean="0" sz="500" spc="4">
                <a:solidFill>
                  <a:srgbClr val="FF0000"/>
                </a:solidFill>
                <a:latin typeface="Comic Sans MS"/>
                <a:cs typeface="Comic Sans MS"/>
              </a:rPr>
              <a:t>chopstic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k</a:t>
            </a:r>
            <a:r>
              <a:rPr dirty="0" smtClean="0" sz="500" spc="115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3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45050" y="5136424"/>
            <a:ext cx="1130300" cy="825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55"/>
              </a:spcBef>
            </a:pPr>
            <a:r>
              <a:rPr dirty="0" smtClean="0" sz="450" spc="9">
                <a:latin typeface="Courier New"/>
                <a:cs typeface="Courier New"/>
              </a:rPr>
              <a:t>wait(chopstick[</a:t>
            </a:r>
            <a:r>
              <a:rPr dirty="0" smtClean="0" sz="450" spc="14">
                <a:latin typeface="Courier New"/>
                <a:cs typeface="Courier New"/>
              </a:rPr>
              <a:t>leftChopstic</a:t>
            </a:r>
            <a:r>
              <a:rPr dirty="0" smtClean="0" sz="450" spc="-59">
                <a:latin typeface="Courier New"/>
                <a:cs typeface="Courier New"/>
              </a:rPr>
              <a:t>k</a:t>
            </a:r>
            <a:r>
              <a:rPr dirty="0" smtClean="0" sz="450" spc="29">
                <a:latin typeface="Courier New"/>
                <a:cs typeface="Courier New"/>
              </a:rPr>
              <a:t>]);</a:t>
            </a:r>
            <a:endParaRPr sz="4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11575" y="5154272"/>
            <a:ext cx="463553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60"/>
              </a:lnSpc>
              <a:spcBef>
                <a:spcPts val="33"/>
              </a:spcBef>
            </a:pPr>
            <a:r>
              <a:rPr dirty="0" smtClean="0" sz="500" spc="-4">
                <a:solidFill>
                  <a:srgbClr val="FF0000"/>
                </a:solidFill>
                <a:latin typeface="Comic Sans MS"/>
                <a:cs typeface="Comic Sans MS"/>
              </a:rPr>
              <a:t>ge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t</a:t>
            </a:r>
            <a:r>
              <a:rPr dirty="0" smtClean="0" sz="500" spc="38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-4">
                <a:solidFill>
                  <a:srgbClr val="FF0000"/>
                </a:solidFill>
                <a:latin typeface="Comic Sans MS"/>
                <a:cs typeface="Comic Sans MS"/>
              </a:rPr>
              <a:t>bot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h</a:t>
            </a:r>
            <a:r>
              <a:rPr dirty="0" smtClean="0" sz="500" spc="54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-4">
                <a:solidFill>
                  <a:srgbClr val="FF0000"/>
                </a:solidFill>
                <a:latin typeface="Comic Sans MS"/>
                <a:cs typeface="Comic Sans MS"/>
              </a:rPr>
              <a:t>their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45050" y="5298349"/>
            <a:ext cx="1130300" cy="825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55"/>
              </a:spcBef>
            </a:pPr>
            <a:r>
              <a:rPr dirty="0" smtClean="0" sz="450" spc="9">
                <a:latin typeface="Courier New"/>
                <a:cs typeface="Courier New"/>
              </a:rPr>
              <a:t>wait(chopstick[</a:t>
            </a:r>
            <a:r>
              <a:rPr dirty="0" smtClean="0" sz="450" spc="14">
                <a:latin typeface="Courier New"/>
                <a:cs typeface="Courier New"/>
              </a:rPr>
              <a:t>leftChopstic</a:t>
            </a:r>
            <a:r>
              <a:rPr dirty="0" smtClean="0" sz="450" spc="-59">
                <a:latin typeface="Courier New"/>
                <a:cs typeface="Courier New"/>
              </a:rPr>
              <a:t>k</a:t>
            </a:r>
            <a:r>
              <a:rPr dirty="0" smtClean="0" sz="450" spc="29">
                <a:latin typeface="Courier New"/>
                <a:cs typeface="Courier New"/>
              </a:rPr>
              <a:t>]);</a:t>
            </a:r>
            <a:endParaRPr sz="4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11575" y="5316197"/>
            <a:ext cx="339726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660"/>
              </a:lnSpc>
              <a:spcBef>
                <a:spcPts val="33"/>
              </a:spcBef>
            </a:pPr>
            <a:r>
              <a:rPr dirty="0" smtClean="0" sz="500" spc="4">
                <a:solidFill>
                  <a:srgbClr val="FF0000"/>
                </a:solidFill>
                <a:latin typeface="Comic Sans MS"/>
                <a:cs typeface="Comic Sans MS"/>
              </a:rPr>
              <a:t>b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e</a:t>
            </a:r>
            <a:r>
              <a:rPr dirty="0" smtClean="0" sz="500" spc="33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4">
                <a:solidFill>
                  <a:srgbClr val="FF0000"/>
                </a:solidFill>
                <a:latin typeface="Comic Sans MS"/>
                <a:cs typeface="Comic Sans MS"/>
              </a:rPr>
              <a:t>abl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e</a:t>
            </a:r>
            <a:r>
              <a:rPr dirty="0" smtClean="0" sz="500" spc="53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4">
                <a:solidFill>
                  <a:srgbClr val="FF0000"/>
                </a:solidFill>
                <a:latin typeface="Comic Sans MS"/>
                <a:cs typeface="Comic Sans MS"/>
              </a:rPr>
              <a:t>to</a:t>
            </a:r>
            <a:endParaRPr sz="500">
              <a:latin typeface="Comic Sans MS"/>
              <a:cs typeface="Comic Sans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45000" y="5460274"/>
            <a:ext cx="59689" cy="825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55"/>
              </a:spcBef>
            </a:pPr>
            <a:r>
              <a:rPr dirty="0" smtClean="0" sz="450" spc="0">
                <a:latin typeface="Courier New"/>
                <a:cs typeface="Courier New"/>
              </a:rPr>
              <a:t>}</a:t>
            </a:r>
            <a:endParaRPr sz="4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11875" y="5463952"/>
            <a:ext cx="101600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2</a:t>
            </a:r>
            <a:r>
              <a:rPr dirty="0" smtClean="0" sz="350" spc="0">
                <a:latin typeface="Times New Roman"/>
                <a:cs typeface="Times New Roman"/>
              </a:rPr>
              <a:t>2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02075" y="7533966"/>
            <a:ext cx="2033015" cy="1301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985"/>
              </a:lnSpc>
              <a:spcBef>
                <a:spcPts val="49"/>
              </a:spcBef>
            </a:pPr>
            <a:r>
              <a:rPr dirty="0" smtClean="0" baseline="2989" sz="1200" spc="0">
                <a:latin typeface="Comic Sans MS"/>
                <a:cs typeface="Comic Sans MS"/>
              </a:rPr>
              <a:t>helpful.</a:t>
            </a:r>
            <a:r>
              <a:rPr dirty="0" smtClean="0" baseline="2989" sz="1200" spc="58">
                <a:latin typeface="Comic Sans MS"/>
                <a:cs typeface="Comic Sans MS"/>
              </a:rPr>
              <a:t> </a:t>
            </a:r>
            <a:r>
              <a:rPr dirty="0" smtClean="0" baseline="2989" sz="1200" spc="0">
                <a:latin typeface="Comic Sans MS"/>
                <a:cs typeface="Comic Sans MS"/>
              </a:rPr>
              <a:t>If</a:t>
            </a:r>
            <a:r>
              <a:rPr dirty="0" smtClean="0" baseline="2989" sz="1200" spc="0">
                <a:latin typeface="Comic Sans MS"/>
                <a:cs typeface="Comic Sans MS"/>
              </a:rPr>
              <a:t> </a:t>
            </a:r>
            <a:r>
              <a:rPr dirty="0" smtClean="0" baseline="2989" sz="1200" spc="0">
                <a:latin typeface="Comic Sans MS"/>
                <a:cs typeface="Comic Sans MS"/>
              </a:rPr>
              <a:t>we</a:t>
            </a:r>
            <a:r>
              <a:rPr dirty="0" smtClean="0" baseline="2989" sz="1200" spc="4">
                <a:latin typeface="Comic Sans MS"/>
                <a:cs typeface="Comic Sans MS"/>
              </a:rPr>
              <a:t> </a:t>
            </a:r>
            <a:r>
              <a:rPr dirty="0" smtClean="0" baseline="2989" sz="1200" spc="0">
                <a:latin typeface="Comic Sans MS"/>
                <a:cs typeface="Comic Sans MS"/>
              </a:rPr>
              <a:t>could</a:t>
            </a:r>
            <a:r>
              <a:rPr dirty="0" smtClean="0" baseline="2989" sz="1200" spc="33">
                <a:latin typeface="Comic Sans MS"/>
                <a:cs typeface="Comic Sans MS"/>
              </a:rPr>
              <a:t> </a:t>
            </a:r>
            <a:r>
              <a:rPr dirty="0" smtClean="0" baseline="2989" sz="1200" spc="0">
                <a:latin typeface="Comic Sans MS"/>
                <a:cs typeface="Comic Sans MS"/>
              </a:rPr>
              <a:t>allow</a:t>
            </a:r>
            <a:r>
              <a:rPr dirty="0" smtClean="0" baseline="2989" sz="1200" spc="29">
                <a:latin typeface="Comic Sans MS"/>
                <a:cs typeface="Comic Sans MS"/>
              </a:rPr>
              <a:t> </a:t>
            </a:r>
            <a:r>
              <a:rPr dirty="0" smtClean="0" baseline="2989" sz="1200" spc="0">
                <a:latin typeface="Comic Sans MS"/>
                <a:cs typeface="Comic Sans MS"/>
              </a:rPr>
              <a:t>resources</a:t>
            </a:r>
            <a:r>
              <a:rPr dirty="0" smtClean="0" baseline="2989" sz="1200" spc="84">
                <a:latin typeface="Comic Sans MS"/>
                <a:cs typeface="Comic Sans MS"/>
              </a:rPr>
              <a:t> </a:t>
            </a:r>
            <a:r>
              <a:rPr dirty="0" smtClean="0" baseline="2989" sz="1200" spc="0">
                <a:latin typeface="Comic Sans MS"/>
                <a:cs typeface="Comic Sans MS"/>
              </a:rPr>
              <a:t>to</a:t>
            </a:r>
            <a:r>
              <a:rPr dirty="0" smtClean="0" baseline="2989" sz="1200" spc="-1">
                <a:latin typeface="Comic Sans MS"/>
                <a:cs typeface="Comic Sans MS"/>
              </a:rPr>
              <a:t> </a:t>
            </a:r>
            <a:r>
              <a:rPr dirty="0" smtClean="0" baseline="2989" sz="1200" spc="0">
                <a:latin typeface="Comic Sans MS"/>
                <a:cs typeface="Comic Sans MS"/>
              </a:rPr>
              <a:t>be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97300" y="7905441"/>
            <a:ext cx="1241273" cy="1301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985"/>
              </a:lnSpc>
              <a:spcBef>
                <a:spcPts val="49"/>
              </a:spcBef>
            </a:pPr>
            <a:r>
              <a:rPr dirty="0" smtClean="0" baseline="4620" sz="975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baseline="4459" sz="975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baseline="2989" sz="1200" spc="-9">
                <a:latin typeface="Comic Sans MS"/>
                <a:cs typeface="Comic Sans MS"/>
              </a:rPr>
              <a:t>Preventin</a:t>
            </a:r>
            <a:r>
              <a:rPr dirty="0" smtClean="0" baseline="2989" sz="1200" spc="0">
                <a:latin typeface="Comic Sans MS"/>
                <a:cs typeface="Comic Sans MS"/>
              </a:rPr>
              <a:t>g</a:t>
            </a:r>
            <a:r>
              <a:rPr dirty="0" smtClean="0" baseline="2989" sz="1200" spc="97">
                <a:latin typeface="Comic Sans MS"/>
                <a:cs typeface="Comic Sans MS"/>
              </a:rPr>
              <a:t> </a:t>
            </a:r>
            <a:r>
              <a:rPr dirty="0" smtClean="0" baseline="2989" sz="1200" spc="-9">
                <a:latin typeface="Comic Sans MS"/>
                <a:cs typeface="Comic Sans MS"/>
              </a:rPr>
              <a:t>th</a:t>
            </a:r>
            <a:r>
              <a:rPr dirty="0" smtClean="0" baseline="2989" sz="1200" spc="0">
                <a:latin typeface="Comic Sans MS"/>
                <a:cs typeface="Comic Sans MS"/>
              </a:rPr>
              <a:t>e</a:t>
            </a:r>
            <a:r>
              <a:rPr dirty="0" smtClean="0" baseline="2989" sz="1200" spc="18">
                <a:latin typeface="Comic Sans MS"/>
                <a:cs typeface="Comic Sans MS"/>
              </a:rPr>
              <a:t> </a:t>
            </a:r>
            <a:r>
              <a:rPr dirty="0" smtClean="0" baseline="2989" sz="1200" spc="-9">
                <a:latin typeface="Comic Sans MS"/>
                <a:cs typeface="Comic Sans MS"/>
              </a:rPr>
              <a:t>others?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73850" y="8934579"/>
            <a:ext cx="141224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00"/>
              </a:lnSpc>
              <a:spcBef>
                <a:spcPts val="70"/>
              </a:spcBef>
            </a:pPr>
            <a:r>
              <a:rPr dirty="0" smtClean="0" baseline="1993" sz="1800" spc="0">
                <a:latin typeface="Comic Sans MS"/>
                <a:cs typeface="Comic Sans MS"/>
              </a:rPr>
              <a:t>4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29025" y="6219825"/>
            <a:ext cx="2676525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Deadlock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Prevention</a:t>
            </a:r>
            <a:endParaRPr sz="1200">
              <a:latin typeface="Comic Sans MS"/>
              <a:cs typeface="Comic Sans MS"/>
            </a:endParaRPr>
          </a:p>
          <a:p>
            <a:pPr marL="285750" marR="369311" indent="-104775">
              <a:lnSpc>
                <a:spcPts val="900"/>
              </a:lnSpc>
              <a:spcBef>
                <a:spcPts val="1300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Four</a:t>
            </a:r>
            <a:r>
              <a:rPr dirty="0" smtClean="0" sz="800" spc="36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necessary</a:t>
            </a:r>
            <a:r>
              <a:rPr dirty="0" smtClean="0" sz="800" spc="0">
                <a:latin typeface="Comic Sans MS"/>
                <a:cs typeface="Comic Sans MS"/>
              </a:rPr>
              <a:t> </a:t>
            </a:r>
            <a:r>
              <a:rPr dirty="0" smtClean="0" sz="800" spc="85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and</a:t>
            </a:r>
            <a:r>
              <a:rPr dirty="0" smtClean="0" sz="800" spc="2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sufficient</a:t>
            </a:r>
            <a:r>
              <a:rPr dirty="0" smtClean="0" sz="800" spc="96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conditions</a:t>
            </a:r>
            <a:r>
              <a:rPr dirty="0" smtClean="0" sz="800" spc="0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fo</a:t>
            </a:r>
            <a:r>
              <a:rPr dirty="0" smtClean="0" sz="800" spc="0">
                <a:latin typeface="Comic Sans MS"/>
                <a:cs typeface="Comic Sans MS"/>
              </a:rPr>
              <a:t>r</a:t>
            </a:r>
            <a:r>
              <a:rPr dirty="0" smtClean="0" sz="800" spc="26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deadlock</a:t>
            </a:r>
            <a:endParaRPr sz="800">
              <a:latin typeface="Comic Sans MS"/>
              <a:cs typeface="Comic Sans MS"/>
            </a:endParaRPr>
          </a:p>
          <a:p>
            <a:pPr marL="314325">
              <a:lnSpc>
                <a:spcPct val="116129"/>
              </a:lnSpc>
            </a:pPr>
            <a:r>
              <a:rPr dirty="0" smtClean="0" sz="50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500" spc="122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Mutua</a:t>
            </a:r>
            <a:r>
              <a:rPr dirty="0" smtClean="0" sz="650" spc="0">
                <a:latin typeface="Comic Sans MS"/>
                <a:cs typeface="Comic Sans MS"/>
              </a:rPr>
              <a:t>l</a:t>
            </a:r>
            <a:r>
              <a:rPr dirty="0" smtClean="0" sz="650" spc="106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Exclusion</a:t>
            </a:r>
            <a:endParaRPr sz="650">
              <a:latin typeface="Comic Sans MS"/>
              <a:cs typeface="Comic Sans MS"/>
            </a:endParaRPr>
          </a:p>
          <a:p>
            <a:pPr marL="314325">
              <a:lnSpc>
                <a:spcPts val="900"/>
              </a:lnSpc>
              <a:spcBef>
                <a:spcPts val="45"/>
              </a:spcBef>
            </a:pPr>
            <a:r>
              <a:rPr dirty="0" smtClean="0" sz="50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500" spc="122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14">
                <a:latin typeface="Comic Sans MS"/>
                <a:cs typeface="Comic Sans MS"/>
              </a:rPr>
              <a:t>Hol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86">
                <a:latin typeface="Comic Sans MS"/>
                <a:cs typeface="Comic Sans MS"/>
              </a:rPr>
              <a:t> </a:t>
            </a:r>
            <a:r>
              <a:rPr dirty="0" smtClean="0" sz="650" spc="14">
                <a:latin typeface="Comic Sans MS"/>
                <a:cs typeface="Comic Sans MS"/>
              </a:rPr>
              <a:t>an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76">
                <a:latin typeface="Comic Sans MS"/>
                <a:cs typeface="Comic Sans MS"/>
              </a:rPr>
              <a:t> </a:t>
            </a:r>
            <a:r>
              <a:rPr dirty="0" smtClean="0" sz="650" spc="14">
                <a:latin typeface="Comic Sans MS"/>
                <a:cs typeface="Comic Sans MS"/>
              </a:rPr>
              <a:t>Wait</a:t>
            </a:r>
            <a:endParaRPr sz="650">
              <a:latin typeface="Comic Sans MS"/>
              <a:cs typeface="Comic Sans MS"/>
            </a:endParaRPr>
          </a:p>
          <a:p>
            <a:pPr marL="314325">
              <a:lnSpc>
                <a:spcPct val="116129"/>
              </a:lnSpc>
              <a:spcBef>
                <a:spcPts val="25"/>
              </a:spcBef>
            </a:pPr>
            <a:r>
              <a:rPr dirty="0" smtClean="0" sz="50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500" spc="122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N</a:t>
            </a:r>
            <a:r>
              <a:rPr dirty="0" smtClean="0" sz="650" spc="0">
                <a:latin typeface="Comic Sans MS"/>
                <a:cs typeface="Comic Sans MS"/>
              </a:rPr>
              <a:t>o</a:t>
            </a:r>
            <a:r>
              <a:rPr dirty="0" smtClean="0" sz="650" spc="74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Preemption</a:t>
            </a:r>
            <a:endParaRPr sz="650">
              <a:latin typeface="Comic Sans MS"/>
              <a:cs typeface="Comic Sans MS"/>
            </a:endParaRPr>
          </a:p>
          <a:p>
            <a:pPr marL="314325">
              <a:lnSpc>
                <a:spcPts val="900"/>
              </a:lnSpc>
              <a:spcBef>
                <a:spcPts val="45"/>
              </a:spcBef>
            </a:pPr>
            <a:r>
              <a:rPr dirty="0" smtClean="0" sz="50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500" spc="122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14">
                <a:latin typeface="Comic Sans MS"/>
                <a:cs typeface="Comic Sans MS"/>
              </a:rPr>
              <a:t>Circula</a:t>
            </a:r>
            <a:r>
              <a:rPr dirty="0" smtClean="0" sz="650" spc="0">
                <a:latin typeface="Comic Sans MS"/>
                <a:cs typeface="Comic Sans MS"/>
              </a:rPr>
              <a:t>r</a:t>
            </a:r>
            <a:r>
              <a:rPr dirty="0" smtClean="0" sz="650" spc="116">
                <a:latin typeface="Comic Sans MS"/>
                <a:cs typeface="Comic Sans MS"/>
              </a:rPr>
              <a:t> </a:t>
            </a:r>
            <a:r>
              <a:rPr dirty="0" smtClean="0" sz="650" spc="14">
                <a:latin typeface="Comic Sans MS"/>
                <a:cs typeface="Comic Sans MS"/>
              </a:rPr>
              <a:t>Wait</a:t>
            </a:r>
            <a:endParaRPr sz="65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4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Preventing</a:t>
            </a:r>
            <a:r>
              <a:rPr dirty="0" smtClean="0" sz="800" spc="107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mutual</a:t>
            </a:r>
            <a:r>
              <a:rPr dirty="0" smtClean="0" sz="800" spc="6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exclusion</a:t>
            </a:r>
            <a:r>
              <a:rPr dirty="0" smtClean="0" sz="800" spc="92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isn't</a:t>
            </a:r>
            <a:r>
              <a:rPr dirty="0" smtClean="0" sz="800" spc="6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very</a:t>
            </a:r>
            <a:endParaRPr sz="800">
              <a:latin typeface="Comic Sans MS"/>
              <a:cs typeface="Comic Sans MS"/>
            </a:endParaRPr>
          </a:p>
          <a:p>
            <a:pPr marL="285750" marR="416894">
              <a:lnSpc>
                <a:spcPts val="900"/>
              </a:lnSpc>
              <a:spcBef>
                <a:spcPts val="816"/>
              </a:spcBef>
            </a:pPr>
            <a:r>
              <a:rPr dirty="0" smtClean="0" sz="800" spc="0">
                <a:latin typeface="Comic Sans MS"/>
                <a:cs typeface="Comic Sans MS"/>
              </a:rPr>
              <a:t>used</a:t>
            </a:r>
            <a:r>
              <a:rPr dirty="0" smtClean="0" sz="800" spc="36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concurrently</a:t>
            </a:r>
            <a:r>
              <a:rPr dirty="0" smtClean="0" sz="800" spc="126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then</a:t>
            </a:r>
            <a:r>
              <a:rPr dirty="0" smtClean="0" sz="800" spc="35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we</a:t>
            </a:r>
            <a:r>
              <a:rPr dirty="0" smtClean="0" sz="800" spc="14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wouldn't</a:t>
            </a:r>
            <a:r>
              <a:rPr dirty="0" smtClean="0" sz="800" spc="-7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need</a:t>
            </a:r>
            <a:r>
              <a:rPr dirty="0" smtClean="0" sz="800" spc="0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the</a:t>
            </a:r>
            <a:r>
              <a:rPr dirty="0" smtClean="0" sz="800" spc="28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synchronization</a:t>
            </a:r>
            <a:r>
              <a:rPr dirty="0" smtClean="0" sz="800" spc="164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anyway!</a:t>
            </a:r>
            <a:endParaRPr sz="800">
              <a:latin typeface="Comic Sans MS"/>
              <a:cs typeface="Comic Sans MS"/>
            </a:endParaRPr>
          </a:p>
          <a:p>
            <a:pPr marR="104775" algn="r">
              <a:lnSpc>
                <a:spcPct val="100000"/>
              </a:lnSpc>
              <a:spcBef>
                <a:spcPts val="1923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2</a:t>
            </a:r>
            <a:r>
              <a:rPr dirty="0" smtClean="0" sz="350" spc="0">
                <a:latin typeface="Times New Roman"/>
                <a:cs typeface="Times New Roman"/>
              </a:rPr>
              <a:t>4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3400" y="6219825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Conditions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for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Deadlock</a:t>
            </a:r>
            <a:endParaRPr sz="1200">
              <a:latin typeface="Comic Sans MS"/>
              <a:cs typeface="Comic Sans MS"/>
            </a:endParaRPr>
          </a:p>
          <a:p>
            <a:pPr marL="285750" marR="563776" indent="-104775">
              <a:lnSpc>
                <a:spcPts val="830"/>
              </a:lnSpc>
              <a:spcBef>
                <a:spcPts val="1277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Deadloc</a:t>
            </a:r>
            <a:r>
              <a:rPr dirty="0" smtClean="0" sz="650" spc="0">
                <a:latin typeface="Comic Sans MS"/>
                <a:cs typeface="Comic Sans MS"/>
              </a:rPr>
              <a:t>k</a:t>
            </a:r>
            <a:r>
              <a:rPr dirty="0" smtClean="0" sz="650" spc="122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ca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7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exis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86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onl</a:t>
            </a:r>
            <a:r>
              <a:rPr dirty="0" smtClean="0" sz="650" spc="0">
                <a:latin typeface="Comic Sans MS"/>
                <a:cs typeface="Comic Sans MS"/>
              </a:rPr>
              <a:t>y</a:t>
            </a:r>
            <a:r>
              <a:rPr dirty="0" smtClean="0" sz="650" spc="87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i</a:t>
            </a:r>
            <a:r>
              <a:rPr dirty="0" smtClean="0" sz="650" spc="0">
                <a:latin typeface="Comic Sans MS"/>
                <a:cs typeface="Comic Sans MS"/>
              </a:rPr>
              <a:t>f</a:t>
            </a:r>
            <a:r>
              <a:rPr dirty="0" smtClean="0" sz="650" spc="55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th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7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followin</a:t>
            </a:r>
            <a:r>
              <a:rPr dirty="0" smtClean="0" sz="650" spc="0">
                <a:latin typeface="Comic Sans MS"/>
                <a:cs typeface="Comic Sans MS"/>
              </a:rPr>
              <a:t>g</a:t>
            </a:r>
            <a:r>
              <a:rPr dirty="0" smtClean="0" sz="650" spc="12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four</a:t>
            </a:r>
            <a:r>
              <a:rPr dirty="0" smtClean="0" sz="650" spc="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condition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126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ar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6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met;</a:t>
            </a:r>
            <a:endParaRPr sz="650">
              <a:latin typeface="Comic Sans MS"/>
              <a:cs typeface="Comic Sans MS"/>
            </a:endParaRPr>
          </a:p>
          <a:p>
            <a:pPr marL="400050" marR="643209" indent="-85725">
              <a:lnSpc>
                <a:spcPts val="680"/>
              </a:lnSpc>
              <a:spcBef>
                <a:spcPts val="182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solidFill>
                  <a:srgbClr val="FF0000"/>
                </a:solidFill>
                <a:latin typeface="Comic Sans MS"/>
                <a:cs typeface="Comic Sans MS"/>
              </a:rPr>
              <a:t>Mutua</a:t>
            </a:r>
            <a:r>
              <a:rPr dirty="0" smtClean="0" sz="600" spc="0">
                <a:solidFill>
                  <a:srgbClr val="FF0000"/>
                </a:solidFill>
                <a:latin typeface="Comic Sans MS"/>
                <a:cs typeface="Comic Sans MS"/>
              </a:rPr>
              <a:t>l</a:t>
            </a:r>
            <a:r>
              <a:rPr dirty="0" smtClean="0" sz="600" spc="-34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600" spc="-4">
                <a:solidFill>
                  <a:srgbClr val="FF0000"/>
                </a:solidFill>
                <a:latin typeface="Comic Sans MS"/>
                <a:cs typeface="Comic Sans MS"/>
              </a:rPr>
              <a:t>Exclusio</a:t>
            </a:r>
            <a:r>
              <a:rPr dirty="0" smtClean="0" sz="600" spc="0">
                <a:solidFill>
                  <a:srgbClr val="FF0000"/>
                </a:solidFill>
                <a:latin typeface="Comic Sans MS"/>
                <a:cs typeface="Comic Sans MS"/>
              </a:rPr>
              <a:t>n</a:t>
            </a:r>
            <a:r>
              <a:rPr dirty="0" smtClean="0" sz="600" spc="-34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–</a:t>
            </a:r>
            <a:r>
              <a:rPr dirty="0" smtClean="0" sz="600" spc="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som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1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resourc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1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mus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1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b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1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held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r>
              <a:rPr dirty="0" smtClean="0" sz="600" spc="-9">
                <a:latin typeface="Comic Sans MS"/>
                <a:cs typeface="Comic Sans MS"/>
              </a:rPr>
              <a:t>exclusively</a:t>
            </a:r>
            <a:endParaRPr sz="600">
              <a:latin typeface="Comic Sans MS"/>
              <a:cs typeface="Comic Sans MS"/>
            </a:endParaRPr>
          </a:p>
          <a:p>
            <a:pPr marL="400050" marR="536529" indent="-85725">
              <a:lnSpc>
                <a:spcPts val="750"/>
              </a:lnSpc>
              <a:spcBef>
                <a:spcPts val="88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>
                <a:solidFill>
                  <a:srgbClr val="FF0000"/>
                </a:solidFill>
                <a:latin typeface="Comic Sans MS"/>
                <a:cs typeface="Comic Sans MS"/>
              </a:rPr>
              <a:t>Hold</a:t>
            </a:r>
            <a:r>
              <a:rPr dirty="0" smtClean="0" sz="600" spc="-24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600" spc="0">
                <a:solidFill>
                  <a:srgbClr val="FF0000"/>
                </a:solidFill>
                <a:latin typeface="Comic Sans MS"/>
                <a:cs typeface="Comic Sans MS"/>
              </a:rPr>
              <a:t>and</a:t>
            </a:r>
            <a:r>
              <a:rPr dirty="0" smtClean="0" sz="600" spc="-24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600" spc="0">
                <a:solidFill>
                  <a:srgbClr val="FF0000"/>
                </a:solidFill>
                <a:latin typeface="Comic Sans MS"/>
                <a:cs typeface="Comic Sans MS"/>
              </a:rPr>
              <a:t>Wait</a:t>
            </a:r>
            <a:r>
              <a:rPr dirty="0" smtClean="0" sz="600" spc="-25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–</a:t>
            </a:r>
            <a:r>
              <a:rPr dirty="0" smtClean="0" sz="600" spc="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som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proces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mus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b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holdin</a:t>
            </a:r>
            <a:r>
              <a:rPr dirty="0" smtClean="0" sz="600" spc="0">
                <a:latin typeface="Comic Sans MS"/>
                <a:cs typeface="Comic Sans MS"/>
              </a:rPr>
              <a:t>g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one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resourc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an</a:t>
            </a:r>
            <a:r>
              <a:rPr dirty="0" smtClean="0" sz="600" spc="0">
                <a:latin typeface="Comic Sans MS"/>
                <a:cs typeface="Comic Sans MS"/>
              </a:rPr>
              <a:t>d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waitin</a:t>
            </a:r>
            <a:r>
              <a:rPr dirty="0" smtClean="0" sz="600" spc="0">
                <a:latin typeface="Comic Sans MS"/>
                <a:cs typeface="Comic Sans MS"/>
              </a:rPr>
              <a:t>g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fo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another</a:t>
            </a:r>
            <a:endParaRPr sz="600">
              <a:latin typeface="Comic Sans MS"/>
              <a:cs typeface="Comic Sans MS"/>
            </a:endParaRPr>
          </a:p>
          <a:p>
            <a:pPr marL="314325">
              <a:lnSpc>
                <a:spcPct val="116129"/>
              </a:lnSpc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14">
                <a:solidFill>
                  <a:srgbClr val="FF0000"/>
                </a:solidFill>
                <a:latin typeface="Comic Sans MS"/>
                <a:cs typeface="Comic Sans MS"/>
              </a:rPr>
              <a:t>N</a:t>
            </a:r>
            <a:r>
              <a:rPr dirty="0" smtClean="0" sz="600" spc="0">
                <a:solidFill>
                  <a:srgbClr val="FF0000"/>
                </a:solidFill>
                <a:latin typeface="Comic Sans MS"/>
                <a:cs typeface="Comic Sans MS"/>
              </a:rPr>
              <a:t>o</a:t>
            </a:r>
            <a:r>
              <a:rPr dirty="0" smtClean="0" sz="600" spc="-44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600" spc="-14">
                <a:solidFill>
                  <a:srgbClr val="FF0000"/>
                </a:solidFill>
                <a:latin typeface="Comic Sans MS"/>
                <a:cs typeface="Comic Sans MS"/>
              </a:rPr>
              <a:t>preemptio</a:t>
            </a:r>
            <a:r>
              <a:rPr dirty="0" smtClean="0" sz="600" spc="0">
                <a:solidFill>
                  <a:srgbClr val="FF0000"/>
                </a:solidFill>
                <a:latin typeface="Comic Sans MS"/>
                <a:cs typeface="Comic Sans MS"/>
              </a:rPr>
              <a:t>n</a:t>
            </a:r>
            <a:r>
              <a:rPr dirty="0" smtClean="0" sz="600" spc="29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–</a:t>
            </a:r>
            <a:r>
              <a:rPr dirty="0" smtClean="0" sz="600" spc="4">
                <a:latin typeface="Comic Sans MS"/>
                <a:cs typeface="Comic Sans MS"/>
              </a:rPr>
              <a:t> </a:t>
            </a:r>
            <a:r>
              <a:rPr dirty="0" smtClean="0" sz="600" spc="-9">
                <a:latin typeface="Comic Sans MS"/>
                <a:cs typeface="Comic Sans MS"/>
              </a:rPr>
              <a:t>resource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9">
                <a:latin typeface="Comic Sans MS"/>
                <a:cs typeface="Comic Sans MS"/>
              </a:rPr>
              <a:t>canno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9">
                <a:latin typeface="Comic Sans MS"/>
                <a:cs typeface="Comic Sans MS"/>
              </a:rPr>
              <a:t>b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9">
                <a:latin typeface="Comic Sans MS"/>
                <a:cs typeface="Comic Sans MS"/>
              </a:rPr>
              <a:t>preempted</a:t>
            </a:r>
            <a:endParaRPr sz="600">
              <a:latin typeface="Comic Sans MS"/>
              <a:cs typeface="Comic Sans MS"/>
            </a:endParaRPr>
          </a:p>
          <a:p>
            <a:pPr marL="400050" marR="365079" indent="-85725">
              <a:lnSpc>
                <a:spcPts val="836"/>
              </a:lnSpc>
              <a:spcBef>
                <a:spcPts val="85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>
                <a:solidFill>
                  <a:srgbClr val="FF0000"/>
                </a:solidFill>
                <a:latin typeface="Comic Sans MS"/>
                <a:cs typeface="Comic Sans MS"/>
              </a:rPr>
              <a:t>Circular</a:t>
            </a:r>
            <a:r>
              <a:rPr dirty="0" smtClean="0" sz="600" spc="-29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600" spc="0">
                <a:solidFill>
                  <a:srgbClr val="FF0000"/>
                </a:solidFill>
                <a:latin typeface="Comic Sans MS"/>
                <a:cs typeface="Comic Sans MS"/>
              </a:rPr>
              <a:t>wait</a:t>
            </a:r>
            <a:r>
              <a:rPr dirty="0" smtClean="0" sz="600" spc="-29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–</a:t>
            </a:r>
            <a:r>
              <a:rPr dirty="0" smtClean="0" sz="600" spc="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ther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mus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exis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se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</a:t>
            </a:r>
            <a:r>
              <a:rPr dirty="0" smtClean="0" sz="600" spc="0">
                <a:latin typeface="Comic Sans MS"/>
                <a:cs typeface="Comic Sans MS"/>
              </a:rPr>
              <a:t>f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processes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endParaRPr sz="600">
              <a:latin typeface="Comic Sans MS"/>
              <a:cs typeface="Comic Sans MS"/>
            </a:endParaRPr>
          </a:p>
          <a:p>
            <a:pPr marL="400050" marR="365079">
              <a:lnSpc>
                <a:spcPts val="836"/>
              </a:lnSpc>
            </a:pPr>
            <a:r>
              <a:rPr dirty="0" smtClean="0" sz="600" spc="-9">
                <a:latin typeface="Comic Sans MS"/>
                <a:cs typeface="Comic Sans MS"/>
              </a:rPr>
              <a:t>(p1,p2</a:t>
            </a:r>
            <a:r>
              <a:rPr dirty="0" smtClean="0" sz="600" spc="0">
                <a:latin typeface="Comic Sans MS"/>
                <a:cs typeface="Comic Sans MS"/>
              </a:rPr>
              <a:t>,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…</a:t>
            </a:r>
            <a:r>
              <a:rPr dirty="0" smtClean="0" sz="600" spc="-109">
                <a:latin typeface="Comic Sans MS"/>
                <a:cs typeface="Comic Sans MS"/>
              </a:rPr>
              <a:t> </a:t>
            </a:r>
            <a:r>
              <a:rPr dirty="0" smtClean="0" sz="600" spc="-14">
                <a:latin typeface="Comic Sans MS"/>
                <a:cs typeface="Comic Sans MS"/>
              </a:rPr>
              <a:t>pn</a:t>
            </a:r>
            <a:r>
              <a:rPr dirty="0" smtClean="0" sz="600" spc="0">
                <a:latin typeface="Comic Sans MS"/>
                <a:cs typeface="Comic Sans MS"/>
              </a:rPr>
              <a:t>)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suc</a:t>
            </a:r>
            <a:r>
              <a:rPr dirty="0" smtClean="0" sz="600" spc="0">
                <a:latin typeface="Comic Sans MS"/>
                <a:cs typeface="Comic Sans MS"/>
              </a:rPr>
              <a:t>h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tha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</a:t>
            </a:r>
            <a:r>
              <a:rPr dirty="0" smtClean="0" sz="600" spc="0">
                <a:latin typeface="Comic Sans MS"/>
                <a:cs typeface="Comic Sans MS"/>
              </a:rPr>
              <a:t>1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i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waitin</a:t>
            </a:r>
            <a:r>
              <a:rPr dirty="0" smtClean="0" sz="600" spc="0">
                <a:latin typeface="Comic Sans MS"/>
                <a:cs typeface="Comic Sans MS"/>
              </a:rPr>
              <a:t>g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fo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p2</a:t>
            </a:r>
            <a:r>
              <a:rPr dirty="0" smtClean="0" sz="600" spc="0">
                <a:latin typeface="Comic Sans MS"/>
                <a:cs typeface="Comic Sans MS"/>
              </a:rPr>
              <a:t>,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</a:t>
            </a:r>
            <a:r>
              <a:rPr dirty="0" smtClean="0" sz="600" spc="0">
                <a:latin typeface="Comic Sans MS"/>
                <a:cs typeface="Comic Sans MS"/>
              </a:rPr>
              <a:t>2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i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waiting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endParaRPr sz="600">
              <a:latin typeface="Comic Sans MS"/>
              <a:cs typeface="Comic Sans MS"/>
            </a:endParaRPr>
          </a:p>
          <a:p>
            <a:pPr marL="400050" marR="365079">
              <a:lnSpc>
                <a:spcPts val="836"/>
              </a:lnSpc>
            </a:pPr>
            <a:r>
              <a:rPr dirty="0" smtClean="0" sz="600" spc="0">
                <a:latin typeface="Comic Sans MS"/>
                <a:cs typeface="Comic Sans MS"/>
              </a:rPr>
              <a:t>for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p3,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…</a:t>
            </a:r>
            <a:r>
              <a:rPr dirty="0" smtClean="0" sz="600" spc="-79">
                <a:latin typeface="Comic Sans MS"/>
                <a:cs typeface="Comic Sans MS"/>
              </a:rPr>
              <a:t> </a:t>
            </a:r>
            <a:r>
              <a:rPr dirty="0" smtClean="0" sz="600" spc="-14">
                <a:latin typeface="Comic Sans MS"/>
                <a:cs typeface="Comic Sans MS"/>
              </a:rPr>
              <a:t>p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4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i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waitin</a:t>
            </a:r>
            <a:r>
              <a:rPr dirty="0" smtClean="0" sz="600" spc="0">
                <a:latin typeface="Comic Sans MS"/>
                <a:cs typeface="Comic Sans MS"/>
              </a:rPr>
              <a:t>g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fo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p1</a:t>
            </a:r>
            <a:endParaRPr sz="60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735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Al</a:t>
            </a:r>
            <a:r>
              <a:rPr dirty="0" smtClean="0" sz="650" spc="0">
                <a:latin typeface="Comic Sans MS"/>
                <a:cs typeface="Comic Sans MS"/>
              </a:rPr>
              <a:t>l</a:t>
            </a:r>
            <a:r>
              <a:rPr dirty="0" smtClean="0" sz="650" spc="63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thes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98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hel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81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i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45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th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61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Dinin</a:t>
            </a:r>
            <a:r>
              <a:rPr dirty="0" smtClean="0" sz="650" spc="0">
                <a:latin typeface="Comic Sans MS"/>
                <a:cs typeface="Comic Sans MS"/>
              </a:rPr>
              <a:t>g</a:t>
            </a:r>
            <a:r>
              <a:rPr dirty="0" smtClean="0" sz="650" spc="85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Philosopher'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29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first</a:t>
            </a:r>
            <a:endParaRPr sz="650">
              <a:latin typeface="Comic Sans MS"/>
              <a:cs typeface="Comic Sans MS"/>
            </a:endParaRPr>
          </a:p>
          <a:p>
            <a:pPr marL="285750">
              <a:lnSpc>
                <a:spcPts val="825"/>
              </a:lnSpc>
              <a:spcBef>
                <a:spcPts val="41"/>
              </a:spcBef>
            </a:pPr>
            <a:r>
              <a:rPr dirty="0" smtClean="0" sz="650" spc="14">
                <a:latin typeface="Comic Sans MS"/>
                <a:cs typeface="Comic Sans MS"/>
              </a:rPr>
              <a:t>"solution</a:t>
            </a:r>
            <a:r>
              <a:rPr dirty="0" smtClean="0" sz="650" spc="0">
                <a:latin typeface="Comic Sans MS"/>
                <a:cs typeface="Comic Sans MS"/>
              </a:rPr>
              <a:t>"</a:t>
            </a:r>
            <a:r>
              <a:rPr dirty="0" smtClean="0" sz="650" spc="102">
                <a:latin typeface="Comic Sans MS"/>
                <a:cs typeface="Comic Sans MS"/>
              </a:rPr>
              <a:t> </a:t>
            </a:r>
            <a:r>
              <a:rPr dirty="0" smtClean="0" sz="650" spc="14">
                <a:latin typeface="Comic Sans MS"/>
                <a:cs typeface="Comic Sans MS"/>
              </a:rPr>
              <a:t>w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68">
                <a:latin typeface="Comic Sans MS"/>
                <a:cs typeface="Comic Sans MS"/>
              </a:rPr>
              <a:t> </a:t>
            </a:r>
            <a:r>
              <a:rPr dirty="0" smtClean="0" sz="650" spc="14">
                <a:latin typeface="Comic Sans MS"/>
                <a:cs typeface="Comic Sans MS"/>
              </a:rPr>
              <a:t>proposed</a:t>
            </a:r>
            <a:endParaRPr sz="650">
              <a:latin typeface="Comic Sans MS"/>
              <a:cs typeface="Comic Sans MS"/>
            </a:endParaRPr>
          </a:p>
          <a:p>
            <a:pPr marR="114300" algn="r">
              <a:lnSpc>
                <a:spcPct val="100000"/>
              </a:lnSpc>
              <a:spcBef>
                <a:spcPts val="717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2</a:t>
            </a:r>
            <a:r>
              <a:rPr dirty="0" smtClean="0" sz="350" spc="0">
                <a:latin typeface="Times New Roman"/>
                <a:cs typeface="Times New Roman"/>
              </a:rPr>
              <a:t>3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01620" y="4614730"/>
            <a:ext cx="409575" cy="285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673195" y="4633780"/>
            <a:ext cx="409575" cy="285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315500" y="4119430"/>
            <a:ext cx="857250" cy="13144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4444470" y="3928930"/>
            <a:ext cx="409575" cy="285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635095" y="3928930"/>
            <a:ext cx="409575" cy="285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629025" y="3562350"/>
            <a:ext cx="2676525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52346" marR="291396" algn="ctr">
              <a:lnSpc>
                <a:spcPct val="116129"/>
              </a:lnSpc>
              <a:spcBef>
                <a:spcPts val="250"/>
              </a:spcBef>
            </a:pPr>
            <a:r>
              <a:rPr dirty="0" smtClean="0" sz="1200" spc="-14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dirty="0" smtClean="0" sz="1200" spc="0">
                <a:solidFill>
                  <a:srgbClr val="3333CC"/>
                </a:solidFill>
                <a:latin typeface="Comic Sans MS"/>
                <a:cs typeface="Comic Sans MS"/>
              </a:rPr>
              <a:t>o</a:t>
            </a:r>
            <a:r>
              <a:rPr dirty="0" smtClean="0" sz="1200" spc="-29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>
                <a:solidFill>
                  <a:srgbClr val="3333CC"/>
                </a:solidFill>
                <a:latin typeface="Comic Sans MS"/>
                <a:cs typeface="Comic Sans MS"/>
              </a:rPr>
              <a:t>Cycl</a:t>
            </a:r>
            <a:r>
              <a:rPr dirty="0" smtClean="0" sz="1200" spc="0">
                <a:solidFill>
                  <a:srgbClr val="3333CC"/>
                </a:solidFill>
                <a:latin typeface="Comic Sans MS"/>
                <a:cs typeface="Comic Sans MS"/>
              </a:rPr>
              <a:t>e</a:t>
            </a:r>
            <a:r>
              <a:rPr dirty="0" smtClean="0" sz="1200" spc="-29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>
                <a:solidFill>
                  <a:srgbClr val="3333CC"/>
                </a:solidFill>
                <a:latin typeface="Comic Sans MS"/>
                <a:cs typeface="Comic Sans MS"/>
              </a:rPr>
              <a:t>i</a:t>
            </a:r>
            <a:r>
              <a:rPr dirty="0" smtClean="0" sz="1200" spc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dirty="0" smtClean="0" sz="1200" spc="-29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>
                <a:solidFill>
                  <a:srgbClr val="3333CC"/>
                </a:solidFill>
                <a:latin typeface="Comic Sans MS"/>
                <a:cs typeface="Comic Sans MS"/>
              </a:rPr>
              <a:t>Resourc</a:t>
            </a:r>
            <a:r>
              <a:rPr dirty="0" smtClean="0" sz="1200" spc="0">
                <a:solidFill>
                  <a:srgbClr val="3333CC"/>
                </a:solidFill>
                <a:latin typeface="Comic Sans MS"/>
                <a:cs typeface="Comic Sans MS"/>
              </a:rPr>
              <a:t>e</a:t>
            </a:r>
            <a:r>
              <a:rPr dirty="0" smtClean="0" sz="1200" spc="-29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>
                <a:solidFill>
                  <a:srgbClr val="3333CC"/>
                </a:solidFill>
                <a:latin typeface="Comic Sans MS"/>
                <a:cs typeface="Comic Sans MS"/>
              </a:rPr>
              <a:t>Allocation</a:t>
            </a:r>
            <a:endParaRPr sz="1200">
              <a:latin typeface="Comic Sans MS"/>
              <a:cs typeface="Comic Sans MS"/>
            </a:endParaRPr>
          </a:p>
          <a:p>
            <a:pPr marL="180975">
              <a:lnSpc>
                <a:spcPts val="1425"/>
              </a:lnSpc>
              <a:spcBef>
                <a:spcPts val="71"/>
              </a:spcBef>
            </a:pPr>
            <a:r>
              <a:rPr dirty="0" smtClean="0" baseline="1993" sz="1800" spc="4" u="sng">
                <a:solidFill>
                  <a:srgbClr val="3333CC"/>
                </a:solidFill>
                <a:latin typeface="Comic Sans MS"/>
                <a:cs typeface="Comic Sans MS"/>
              </a:rPr>
              <a:t>Graph</a:t>
            </a:r>
            <a:endParaRPr sz="1200">
              <a:latin typeface="Comic Sans MS"/>
              <a:cs typeface="Comic Sans MS"/>
            </a:endParaRPr>
          </a:p>
          <a:p>
            <a:pPr marL="95250">
              <a:lnSpc>
                <a:spcPct val="116129"/>
              </a:lnSpc>
              <a:spcBef>
                <a:spcPts val="228"/>
              </a:spcBef>
            </a:pPr>
            <a:r>
              <a:rPr dirty="0" smtClean="0" sz="500" spc="14">
                <a:solidFill>
                  <a:srgbClr val="FF0000"/>
                </a:solidFill>
                <a:latin typeface="Comic Sans MS"/>
                <a:cs typeface="Comic Sans MS"/>
              </a:rPr>
              <a:t>N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o</a:t>
            </a:r>
            <a:r>
              <a:rPr dirty="0" smtClean="0" sz="500" spc="47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14">
                <a:solidFill>
                  <a:srgbClr val="FF0000"/>
                </a:solidFill>
                <a:latin typeface="Comic Sans MS"/>
                <a:cs typeface="Comic Sans MS"/>
              </a:rPr>
              <a:t>cycle!</a:t>
            </a:r>
            <a:endParaRPr sz="500">
              <a:latin typeface="Comic Sans MS"/>
              <a:cs typeface="Comic Sans MS"/>
            </a:endParaRPr>
          </a:p>
          <a:p>
            <a:pPr marL="95250">
              <a:lnSpc>
                <a:spcPts val="600"/>
              </a:lnSpc>
              <a:spcBef>
                <a:spcPts val="30"/>
              </a:spcBef>
            </a:pPr>
            <a:r>
              <a:rPr dirty="0" smtClean="0" baseline="4783" sz="750" spc="9">
                <a:solidFill>
                  <a:srgbClr val="FF0000"/>
                </a:solidFill>
                <a:latin typeface="Comic Sans MS"/>
                <a:cs typeface="Comic Sans MS"/>
              </a:rPr>
              <a:t>N</a:t>
            </a:r>
            <a:r>
              <a:rPr dirty="0" smtClean="0" baseline="4783" sz="750" spc="0">
                <a:solidFill>
                  <a:srgbClr val="FF0000"/>
                </a:solidFill>
                <a:latin typeface="Comic Sans MS"/>
                <a:cs typeface="Comic Sans MS"/>
              </a:rPr>
              <a:t>o</a:t>
            </a:r>
            <a:r>
              <a:rPr dirty="0" smtClean="0" baseline="4783" sz="750" spc="42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baseline="4783" sz="750" spc="9">
                <a:solidFill>
                  <a:srgbClr val="FF0000"/>
                </a:solidFill>
                <a:latin typeface="Comic Sans MS"/>
                <a:cs typeface="Comic Sans MS"/>
              </a:rPr>
              <a:t>deadlock!</a:t>
            </a:r>
            <a:endParaRPr sz="500">
              <a:latin typeface="Comic Sans MS"/>
              <a:cs typeface="Comic Sans MS"/>
            </a:endParaRPr>
          </a:p>
          <a:p>
            <a:pPr marL="95250" marR="215648">
              <a:lnSpc>
                <a:spcPct val="208333"/>
              </a:lnSpc>
              <a:spcBef>
                <a:spcPts val="148"/>
              </a:spcBef>
            </a:pP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This</a:t>
            </a:r>
            <a:r>
              <a:rPr dirty="0" smtClean="0" sz="500" spc="5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is</a:t>
            </a:r>
            <a:r>
              <a:rPr dirty="0" smtClean="0" sz="500" spc="19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not</a:t>
            </a:r>
            <a:r>
              <a:rPr dirty="0" smtClean="0" sz="500" spc="37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the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                                                                             </a:t>
            </a:r>
            <a:r>
              <a:rPr dirty="0" smtClean="0" sz="500" spc="113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Philosopher</a:t>
            </a:r>
            <a:r>
              <a:rPr dirty="0" smtClean="0" sz="500" spc="137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2</a:t>
            </a:r>
            <a:r>
              <a:rPr dirty="0" smtClean="0" sz="500" spc="0">
                <a:latin typeface="Comic Sans MS"/>
                <a:cs typeface="Comic Sans MS"/>
              </a:rPr>
              <a:t> </a:t>
            </a:r>
            <a:r>
              <a:rPr dirty="0" smtClean="0" sz="500" spc="9">
                <a:solidFill>
                  <a:srgbClr val="FF0000"/>
                </a:solidFill>
                <a:latin typeface="Comic Sans MS"/>
                <a:cs typeface="Comic Sans MS"/>
              </a:rPr>
              <a:t>outcome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.</a:t>
            </a:r>
            <a:r>
              <a:rPr dirty="0" smtClean="0" sz="500" spc="113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9">
                <a:solidFill>
                  <a:srgbClr val="FF0000"/>
                </a:solidFill>
                <a:latin typeface="Comic Sans MS"/>
                <a:cs typeface="Comic Sans MS"/>
              </a:rPr>
              <a:t>P1</a:t>
            </a:r>
            <a:endParaRPr sz="500">
              <a:latin typeface="Comic Sans MS"/>
              <a:cs typeface="Comic Sans MS"/>
            </a:endParaRPr>
          </a:p>
          <a:p>
            <a:pPr marL="95250" marR="2206640">
              <a:lnSpc>
                <a:spcPts val="600"/>
              </a:lnSpc>
            </a:pPr>
            <a:r>
              <a:rPr dirty="0" smtClean="0" sz="500" spc="9">
                <a:solidFill>
                  <a:srgbClr val="FF0000"/>
                </a:solidFill>
                <a:latin typeface="Comic Sans MS"/>
                <a:cs typeface="Comic Sans MS"/>
              </a:rPr>
              <a:t>coul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d</a:t>
            </a:r>
            <a:r>
              <a:rPr dirty="0" smtClean="0" sz="500" spc="7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9">
                <a:solidFill>
                  <a:srgbClr val="FF0000"/>
                </a:solidFill>
                <a:latin typeface="Comic Sans MS"/>
                <a:cs typeface="Comic Sans MS"/>
              </a:rPr>
              <a:t>get</a:t>
            </a:r>
            <a:r>
              <a:rPr dirty="0" smtClean="0" sz="500" spc="9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4">
                <a:solidFill>
                  <a:srgbClr val="FF0000"/>
                </a:solidFill>
                <a:latin typeface="Comic Sans MS"/>
                <a:cs typeface="Comic Sans MS"/>
              </a:rPr>
              <a:t>chopstic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k</a:t>
            </a:r>
            <a:r>
              <a:rPr dirty="0" smtClean="0" sz="500" spc="115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0</a:t>
            </a:r>
            <a:endParaRPr sz="500">
              <a:latin typeface="Comic Sans MS"/>
              <a:cs typeface="Comic Sans MS"/>
            </a:endParaRPr>
          </a:p>
          <a:p>
            <a:pPr marL="95250" marR="890910">
              <a:lnSpc>
                <a:spcPts val="1100"/>
              </a:lnSpc>
              <a:spcBef>
                <a:spcPts val="473"/>
              </a:spcBef>
            </a:pPr>
            <a:r>
              <a:rPr dirty="0" smtClean="0" baseline="14351" sz="750" spc="9">
                <a:solidFill>
                  <a:srgbClr val="FF0000"/>
                </a:solidFill>
                <a:latin typeface="Comic Sans MS"/>
                <a:cs typeface="Comic Sans MS"/>
              </a:rPr>
              <a:t>P</a:t>
            </a:r>
            <a:r>
              <a:rPr dirty="0" smtClean="0" baseline="14351" sz="750" spc="0">
                <a:solidFill>
                  <a:srgbClr val="FF0000"/>
                </a:solidFill>
                <a:latin typeface="Comic Sans MS"/>
                <a:cs typeface="Comic Sans MS"/>
              </a:rPr>
              <a:t>3</a:t>
            </a:r>
            <a:r>
              <a:rPr dirty="0" smtClean="0" baseline="14351" sz="750" spc="38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baseline="14351" sz="750" spc="9">
                <a:solidFill>
                  <a:srgbClr val="FF0000"/>
                </a:solidFill>
                <a:latin typeface="Comic Sans MS"/>
                <a:cs typeface="Comic Sans MS"/>
              </a:rPr>
              <a:t>coul</a:t>
            </a:r>
            <a:r>
              <a:rPr dirty="0" smtClean="0" baseline="14351" sz="750" spc="0">
                <a:solidFill>
                  <a:srgbClr val="FF0000"/>
                </a:solidFill>
                <a:latin typeface="Comic Sans MS"/>
                <a:cs typeface="Comic Sans MS"/>
              </a:rPr>
              <a:t>d</a:t>
            </a:r>
            <a:r>
              <a:rPr dirty="0" smtClean="0" baseline="14351" sz="750" spc="7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baseline="14351" sz="750" spc="9">
                <a:solidFill>
                  <a:srgbClr val="FF0000"/>
                </a:solidFill>
                <a:latin typeface="Comic Sans MS"/>
                <a:cs typeface="Comic Sans MS"/>
              </a:rPr>
              <a:t>ge</a:t>
            </a:r>
            <a:r>
              <a:rPr dirty="0" smtClean="0" baseline="14351" sz="750" spc="0">
                <a:solidFill>
                  <a:srgbClr val="FF0000"/>
                </a:solidFill>
                <a:latin typeface="Comic Sans MS"/>
                <a:cs typeface="Comic Sans MS"/>
              </a:rPr>
              <a:t>t</a:t>
            </a:r>
            <a:r>
              <a:rPr dirty="0" smtClean="0" baseline="14351" sz="750" spc="0">
                <a:solidFill>
                  <a:srgbClr val="FF0000"/>
                </a:solidFill>
                <a:latin typeface="Comic Sans MS"/>
                <a:cs typeface="Comic Sans MS"/>
              </a:rPr>
              <a:t>                                             </a:t>
            </a:r>
            <a:r>
              <a:rPr dirty="0" smtClean="0" baseline="14351" sz="750" spc="18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Philosopher</a:t>
            </a:r>
            <a:r>
              <a:rPr dirty="0" smtClean="0" sz="500" spc="137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3</a:t>
            </a:r>
            <a:r>
              <a:rPr dirty="0" smtClean="0" sz="500" spc="0">
                <a:latin typeface="Comic Sans MS"/>
                <a:cs typeface="Comic Sans MS"/>
              </a:rPr>
              <a:t> </a:t>
            </a:r>
            <a:r>
              <a:rPr dirty="0" smtClean="0" sz="500" spc="-4">
                <a:solidFill>
                  <a:srgbClr val="FF0000"/>
                </a:solidFill>
                <a:latin typeface="Comic Sans MS"/>
                <a:cs typeface="Comic Sans MS"/>
              </a:rPr>
              <a:t>first.</a:t>
            </a:r>
            <a:endParaRPr sz="500">
              <a:latin typeface="Comic Sans MS"/>
              <a:cs typeface="Comic Sans MS"/>
            </a:endParaRPr>
          </a:p>
          <a:p>
            <a:pPr marL="95250">
              <a:lnSpc>
                <a:spcPts val="585"/>
              </a:lnSpc>
            </a:pPr>
            <a:r>
              <a:rPr dirty="0" smtClean="0" sz="500" spc="-4">
                <a:solidFill>
                  <a:srgbClr val="FF0000"/>
                </a:solidFill>
                <a:latin typeface="Comic Sans MS"/>
                <a:cs typeface="Comic Sans MS"/>
              </a:rPr>
              <a:t>Regardless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,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                   </a:t>
            </a:r>
            <a:r>
              <a:rPr dirty="0" smtClean="0" sz="500" spc="148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baseline="19616" sz="675" spc="29">
                <a:latin typeface="Courier New"/>
                <a:cs typeface="Courier New"/>
              </a:rPr>
              <a:t>i</a:t>
            </a:r>
            <a:r>
              <a:rPr dirty="0" smtClean="0" baseline="19616" sz="675" spc="0">
                <a:latin typeface="Courier New"/>
                <a:cs typeface="Courier New"/>
              </a:rPr>
              <a:t>f</a:t>
            </a:r>
            <a:r>
              <a:rPr dirty="0" smtClean="0" baseline="19616" sz="675" spc="59">
                <a:latin typeface="Courier New"/>
                <a:cs typeface="Courier New"/>
              </a:rPr>
              <a:t> </a:t>
            </a:r>
            <a:r>
              <a:rPr dirty="0" smtClean="0" baseline="19616" sz="675" spc="0">
                <a:latin typeface="Courier New"/>
                <a:cs typeface="Courier New"/>
              </a:rPr>
              <a:t>(</a:t>
            </a:r>
            <a:r>
              <a:rPr dirty="0" smtClean="0" baseline="19616" sz="675" spc="-14">
                <a:latin typeface="Courier New"/>
                <a:cs typeface="Courier New"/>
              </a:rPr>
              <a:t> </a:t>
            </a:r>
            <a:r>
              <a:rPr dirty="0" smtClean="0" baseline="19616" sz="675" spc="14">
                <a:latin typeface="Courier New"/>
                <a:cs typeface="Courier New"/>
              </a:rPr>
              <a:t>rightChopstic</a:t>
            </a:r>
            <a:r>
              <a:rPr dirty="0" smtClean="0" baseline="19616" sz="675" spc="0">
                <a:latin typeface="Courier New"/>
                <a:cs typeface="Courier New"/>
              </a:rPr>
              <a:t>k</a:t>
            </a:r>
            <a:r>
              <a:rPr dirty="0" smtClean="0" baseline="19616" sz="675" spc="44">
                <a:latin typeface="Courier New"/>
                <a:cs typeface="Courier New"/>
              </a:rPr>
              <a:t> </a:t>
            </a:r>
            <a:r>
              <a:rPr dirty="0" smtClean="0" baseline="19616" sz="675" spc="0">
                <a:latin typeface="Courier New"/>
                <a:cs typeface="Courier New"/>
              </a:rPr>
              <a:t>&lt;</a:t>
            </a:r>
            <a:r>
              <a:rPr dirty="0" smtClean="0" baseline="19616" sz="675" spc="-14">
                <a:latin typeface="Courier New"/>
                <a:cs typeface="Courier New"/>
              </a:rPr>
              <a:t> </a:t>
            </a:r>
            <a:r>
              <a:rPr dirty="0" smtClean="0" baseline="19616" sz="675" spc="14">
                <a:latin typeface="Courier New"/>
                <a:cs typeface="Courier New"/>
              </a:rPr>
              <a:t>leftChopstick</a:t>
            </a:r>
            <a:r>
              <a:rPr dirty="0" smtClean="0" baseline="19616" sz="675" spc="-44">
                <a:latin typeface="Courier New"/>
                <a:cs typeface="Courier New"/>
              </a:rPr>
              <a:t>}{</a:t>
            </a:r>
            <a:endParaRPr sz="450">
              <a:latin typeface="Courier New"/>
              <a:cs typeface="Courier New"/>
            </a:endParaRPr>
          </a:p>
          <a:p>
            <a:pPr marL="95250">
              <a:lnSpc>
                <a:spcPts val="715"/>
              </a:lnSpc>
              <a:spcBef>
                <a:spcPts val="6"/>
              </a:spcBef>
            </a:pPr>
            <a:r>
              <a:rPr dirty="0" smtClean="0" baseline="4783" sz="750" spc="4">
                <a:solidFill>
                  <a:srgbClr val="FF0000"/>
                </a:solidFill>
                <a:latin typeface="Comic Sans MS"/>
                <a:cs typeface="Comic Sans MS"/>
              </a:rPr>
              <a:t>someon</a:t>
            </a:r>
            <a:r>
              <a:rPr dirty="0" smtClean="0" baseline="4783" sz="750" spc="0">
                <a:solidFill>
                  <a:srgbClr val="FF0000"/>
                </a:solidFill>
                <a:latin typeface="Comic Sans MS"/>
                <a:cs typeface="Comic Sans MS"/>
              </a:rPr>
              <a:t>e</a:t>
            </a:r>
            <a:r>
              <a:rPr dirty="0" smtClean="0" baseline="4783" sz="750" spc="103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baseline="4783" sz="750" spc="4">
                <a:solidFill>
                  <a:srgbClr val="FF0000"/>
                </a:solidFill>
                <a:latin typeface="Comic Sans MS"/>
                <a:cs typeface="Comic Sans MS"/>
              </a:rPr>
              <a:t>wil</a:t>
            </a:r>
            <a:r>
              <a:rPr dirty="0" smtClean="0" baseline="4783" sz="750" spc="0">
                <a:solidFill>
                  <a:srgbClr val="FF0000"/>
                </a:solidFill>
                <a:latin typeface="Comic Sans MS"/>
                <a:cs typeface="Comic Sans MS"/>
              </a:rPr>
              <a:t>l</a:t>
            </a:r>
            <a:r>
              <a:rPr dirty="0" smtClean="0" baseline="4783" sz="750" spc="0">
                <a:solidFill>
                  <a:srgbClr val="FF0000"/>
                </a:solidFill>
                <a:latin typeface="Comic Sans MS"/>
                <a:cs typeface="Comic Sans MS"/>
              </a:rPr>
              <a:t>                                      </a:t>
            </a:r>
            <a:r>
              <a:rPr dirty="0" smtClean="0" baseline="4783" sz="750" spc="82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baseline="32694" sz="675" spc="9">
                <a:latin typeface="Courier New"/>
                <a:cs typeface="Courier New"/>
              </a:rPr>
              <a:t>wait(chopstick[</a:t>
            </a:r>
            <a:r>
              <a:rPr dirty="0" smtClean="0" baseline="32694" sz="675" spc="4">
                <a:latin typeface="Courier New"/>
                <a:cs typeface="Courier New"/>
              </a:rPr>
              <a:t>rightChopstic</a:t>
            </a:r>
            <a:r>
              <a:rPr dirty="0" smtClean="0" baseline="32694" sz="675" spc="0">
                <a:latin typeface="Courier New"/>
                <a:cs typeface="Courier New"/>
              </a:rPr>
              <a:t>k</a:t>
            </a:r>
            <a:r>
              <a:rPr dirty="0" smtClean="0" baseline="32694" sz="675" spc="-189">
                <a:latin typeface="Courier New"/>
                <a:cs typeface="Courier New"/>
              </a:rPr>
              <a:t> </a:t>
            </a:r>
            <a:r>
              <a:rPr dirty="0" smtClean="0" baseline="32694" sz="675" spc="29">
                <a:latin typeface="Courier New"/>
                <a:cs typeface="Courier New"/>
              </a:rPr>
              <a:t>]);</a:t>
            </a:r>
            <a:endParaRPr sz="450">
              <a:latin typeface="Courier New"/>
              <a:cs typeface="Courier New"/>
            </a:endParaRPr>
          </a:p>
          <a:p>
            <a:pPr marL="95250">
              <a:lnSpc>
                <a:spcPts val="696"/>
              </a:lnSpc>
              <a:spcBef>
                <a:spcPts val="493"/>
              </a:spcBef>
            </a:pPr>
            <a:r>
              <a:rPr dirty="0" smtClean="0" sz="500" spc="4">
                <a:solidFill>
                  <a:srgbClr val="FF0000"/>
                </a:solidFill>
                <a:latin typeface="Comic Sans MS"/>
                <a:cs typeface="Comic Sans MS"/>
              </a:rPr>
              <a:t>chopstick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s</a:t>
            </a:r>
            <a:r>
              <a:rPr dirty="0" smtClean="0" sz="500" spc="128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4">
                <a:solidFill>
                  <a:srgbClr val="FF0000"/>
                </a:solidFill>
                <a:latin typeface="Comic Sans MS"/>
                <a:cs typeface="Comic Sans MS"/>
              </a:rPr>
              <a:t>an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d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             </a:t>
            </a:r>
            <a:r>
              <a:rPr dirty="0" smtClean="0" sz="500" spc="6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baseline="26155" sz="675" spc="0">
                <a:latin typeface="Courier New"/>
                <a:cs typeface="Courier New"/>
              </a:rPr>
              <a:t>}</a:t>
            </a:r>
            <a:r>
              <a:rPr dirty="0" smtClean="0" baseline="26155" sz="675" spc="50">
                <a:latin typeface="Courier New"/>
                <a:cs typeface="Courier New"/>
              </a:rPr>
              <a:t> </a:t>
            </a:r>
            <a:r>
              <a:rPr dirty="0" smtClean="0" baseline="26155" sz="675" spc="19">
                <a:latin typeface="Courier New"/>
                <a:cs typeface="Courier New"/>
              </a:rPr>
              <a:t>els</a:t>
            </a:r>
            <a:r>
              <a:rPr dirty="0" smtClean="0" baseline="26155" sz="675" spc="0">
                <a:latin typeface="Courier New"/>
                <a:cs typeface="Courier New"/>
              </a:rPr>
              <a:t>e</a:t>
            </a:r>
            <a:r>
              <a:rPr dirty="0" smtClean="0" baseline="26155" sz="675" spc="50">
                <a:latin typeface="Courier New"/>
                <a:cs typeface="Courier New"/>
              </a:rPr>
              <a:t> </a:t>
            </a:r>
            <a:r>
              <a:rPr dirty="0" smtClean="0" baseline="26155" sz="675" spc="0">
                <a:latin typeface="Courier New"/>
                <a:cs typeface="Courier New"/>
              </a:rPr>
              <a:t>{</a:t>
            </a:r>
            <a:endParaRPr sz="450">
              <a:latin typeface="Courier New"/>
              <a:cs typeface="Courier New"/>
            </a:endParaRPr>
          </a:p>
          <a:p>
            <a:pPr marL="95250">
              <a:lnSpc>
                <a:spcPts val="459"/>
              </a:lnSpc>
              <a:spcBef>
                <a:spcPts val="455"/>
              </a:spcBef>
            </a:pPr>
            <a:r>
              <a:rPr dirty="0" smtClean="0" baseline="-28703" sz="750" spc="4">
                <a:solidFill>
                  <a:srgbClr val="FF0000"/>
                </a:solidFill>
                <a:latin typeface="Comic Sans MS"/>
                <a:cs typeface="Comic Sans MS"/>
              </a:rPr>
              <a:t>finis</a:t>
            </a:r>
            <a:r>
              <a:rPr dirty="0" smtClean="0" baseline="-28703" sz="750" spc="0">
                <a:solidFill>
                  <a:srgbClr val="FF0000"/>
                </a:solidFill>
                <a:latin typeface="Comic Sans MS"/>
                <a:cs typeface="Comic Sans MS"/>
              </a:rPr>
              <a:t>h</a:t>
            </a:r>
            <a:r>
              <a:rPr dirty="0" smtClean="0" baseline="-28703" sz="750" spc="0">
                <a:solidFill>
                  <a:srgbClr val="FF0000"/>
                </a:solidFill>
                <a:latin typeface="Comic Sans MS"/>
                <a:cs typeface="Comic Sans MS"/>
              </a:rPr>
              <a:t>                                                 </a:t>
            </a:r>
            <a:r>
              <a:rPr dirty="0" smtClean="0" baseline="-28703" sz="750" spc="121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wait(chopstick[</a:t>
            </a:r>
            <a:r>
              <a:rPr dirty="0" smtClean="0" sz="450" spc="4">
                <a:latin typeface="Courier New"/>
                <a:cs typeface="Courier New"/>
              </a:rPr>
              <a:t>rightChopstic</a:t>
            </a:r>
            <a:r>
              <a:rPr dirty="0" smtClean="0" sz="450" spc="0">
                <a:latin typeface="Courier New"/>
                <a:cs typeface="Courier New"/>
              </a:rPr>
              <a:t>k</a:t>
            </a:r>
            <a:r>
              <a:rPr dirty="0" smtClean="0" sz="450" spc="-189">
                <a:latin typeface="Courier New"/>
                <a:cs typeface="Courier New"/>
              </a:rPr>
              <a:t> </a:t>
            </a:r>
            <a:r>
              <a:rPr dirty="0" smtClean="0" sz="450" spc="29">
                <a:latin typeface="Courier New"/>
                <a:cs typeface="Courier New"/>
              </a:rPr>
              <a:t>]);</a:t>
            </a:r>
            <a:endParaRPr sz="4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3400" y="3562350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0975">
              <a:lnSpc>
                <a:spcPct val="116129"/>
              </a:lnSpc>
              <a:spcBef>
                <a:spcPts val="250"/>
              </a:spcBef>
            </a:pP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Better</a:t>
            </a:r>
            <a:r>
              <a:rPr dirty="0" smtClean="0" sz="1200" spc="-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Semaphore</a:t>
            </a:r>
            <a:r>
              <a:rPr dirty="0" smtClean="0" sz="1200" spc="-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Solution</a:t>
            </a:r>
            <a:r>
              <a:rPr dirty="0" smtClean="0" sz="1200" spc="-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endParaRPr sz="1200">
              <a:latin typeface="Comic Sans MS"/>
              <a:cs typeface="Comic Sans MS"/>
            </a:endParaRPr>
          </a:p>
          <a:p>
            <a:pPr marL="180975">
              <a:lnSpc>
                <a:spcPts val="1425"/>
              </a:lnSpc>
              <a:spcBef>
                <a:spcPts val="71"/>
              </a:spcBef>
            </a:pPr>
            <a:r>
              <a:rPr dirty="0" smtClean="0" baseline="1993" sz="1800" spc="-19" u="sng">
                <a:solidFill>
                  <a:srgbClr val="3333CC"/>
                </a:solidFill>
                <a:latin typeface="Comic Sans MS"/>
                <a:cs typeface="Comic Sans MS"/>
              </a:rPr>
              <a:t>Dining</a:t>
            </a:r>
            <a:r>
              <a:rPr dirty="0" smtClean="0" baseline="1993" sz="1800" spc="-19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baseline="1993" sz="1800" spc="-19" u="sng">
                <a:solidFill>
                  <a:srgbClr val="3333CC"/>
                </a:solidFill>
                <a:latin typeface="Comic Sans MS"/>
                <a:cs typeface="Comic Sans MS"/>
              </a:rPr>
              <a:t>Philosophers</a:t>
            </a:r>
            <a:endParaRPr sz="1200">
              <a:latin typeface="Comic Sans MS"/>
              <a:cs typeface="Comic Sans MS"/>
            </a:endParaRPr>
          </a:p>
          <a:p>
            <a:pPr marL="180975">
              <a:lnSpc>
                <a:spcPts val="696"/>
              </a:lnSpc>
              <a:spcBef>
                <a:spcPts val="303"/>
              </a:spcBef>
            </a:pPr>
            <a:r>
              <a:rPr dirty="0" smtClean="0" baseline="6538" sz="675" spc="29">
                <a:latin typeface="Courier New"/>
                <a:cs typeface="Courier New"/>
              </a:rPr>
              <a:t>voi</a:t>
            </a:r>
            <a:r>
              <a:rPr dirty="0" smtClean="0" baseline="6538" sz="675" spc="0">
                <a:latin typeface="Courier New"/>
                <a:cs typeface="Courier New"/>
              </a:rPr>
              <a:t>d</a:t>
            </a:r>
            <a:r>
              <a:rPr dirty="0" smtClean="0" baseline="6538" sz="675" spc="-14">
                <a:latin typeface="Courier New"/>
                <a:cs typeface="Courier New"/>
              </a:rPr>
              <a:t> </a:t>
            </a:r>
            <a:r>
              <a:rPr dirty="0" smtClean="0" baseline="6538" sz="675" spc="14">
                <a:latin typeface="Courier New"/>
                <a:cs typeface="Courier New"/>
              </a:rPr>
              <a:t>philosophersLif</a:t>
            </a:r>
            <a:r>
              <a:rPr dirty="0" smtClean="0" baseline="6538" sz="675" spc="-59">
                <a:latin typeface="Courier New"/>
                <a:cs typeface="Courier New"/>
              </a:rPr>
              <a:t>e</a:t>
            </a:r>
            <a:r>
              <a:rPr dirty="0" smtClean="0" baseline="6538" sz="675" spc="29">
                <a:latin typeface="Courier New"/>
                <a:cs typeface="Courier New"/>
              </a:rPr>
              <a:t>(in</a:t>
            </a:r>
            <a:r>
              <a:rPr dirty="0" smtClean="0" baseline="6538" sz="675" spc="0">
                <a:latin typeface="Courier New"/>
                <a:cs typeface="Courier New"/>
              </a:rPr>
              <a:t>t</a:t>
            </a:r>
            <a:r>
              <a:rPr dirty="0" smtClean="0" baseline="6538" sz="675" spc="-14">
                <a:latin typeface="Courier New"/>
                <a:cs typeface="Courier New"/>
              </a:rPr>
              <a:t> </a:t>
            </a:r>
            <a:r>
              <a:rPr dirty="0" smtClean="0" baseline="6538" sz="675" spc="29">
                <a:latin typeface="Courier New"/>
                <a:cs typeface="Courier New"/>
              </a:rPr>
              <a:t>i)</a:t>
            </a:r>
            <a:r>
              <a:rPr dirty="0" smtClean="0" baseline="6538" sz="675" spc="0">
                <a:latin typeface="Courier New"/>
                <a:cs typeface="Courier New"/>
              </a:rPr>
              <a:t>{</a:t>
            </a:r>
            <a:r>
              <a:rPr dirty="0" smtClean="0" baseline="6538" sz="675" spc="0">
                <a:latin typeface="Courier New"/>
                <a:cs typeface="Courier New"/>
              </a:rPr>
              <a:t>  </a:t>
            </a:r>
            <a:r>
              <a:rPr dirty="0" smtClean="0" baseline="6538" sz="675" spc="44">
                <a:latin typeface="Courier New"/>
                <a:cs typeface="Courier New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Alway</a:t>
            </a:r>
            <a:r>
              <a:rPr dirty="0" smtClean="0" sz="500" spc="0">
                <a:latin typeface="Comic Sans MS"/>
                <a:cs typeface="Comic Sans MS"/>
              </a:rPr>
              <a:t>s</a:t>
            </a:r>
            <a:r>
              <a:rPr dirty="0" smtClean="0" sz="500" spc="70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wai</a:t>
            </a:r>
            <a:r>
              <a:rPr dirty="0" smtClean="0" sz="500" spc="0">
                <a:latin typeface="Comic Sans MS"/>
                <a:cs typeface="Comic Sans MS"/>
              </a:rPr>
              <a:t>t</a:t>
            </a:r>
            <a:r>
              <a:rPr dirty="0" smtClean="0" sz="500" spc="38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fo</a:t>
            </a:r>
            <a:r>
              <a:rPr dirty="0" smtClean="0" sz="500" spc="0">
                <a:latin typeface="Comic Sans MS"/>
                <a:cs typeface="Comic Sans MS"/>
              </a:rPr>
              <a:t>r</a:t>
            </a:r>
            <a:r>
              <a:rPr dirty="0" smtClean="0" sz="500" spc="27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lo</a:t>
            </a:r>
            <a:r>
              <a:rPr dirty="0" smtClean="0" sz="500" spc="0">
                <a:latin typeface="Comic Sans MS"/>
                <a:cs typeface="Comic Sans MS"/>
              </a:rPr>
              <a:t>w</a:t>
            </a:r>
            <a:r>
              <a:rPr dirty="0" smtClean="0" sz="500" spc="27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chopstic</a:t>
            </a:r>
            <a:r>
              <a:rPr dirty="0" smtClean="0" sz="500" spc="0">
                <a:latin typeface="Comic Sans MS"/>
                <a:cs typeface="Comic Sans MS"/>
              </a:rPr>
              <a:t>k</a:t>
            </a:r>
            <a:r>
              <a:rPr dirty="0" smtClean="0" sz="500" spc="100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first</a:t>
            </a:r>
            <a:endParaRPr sz="500">
              <a:latin typeface="Comic Sans MS"/>
              <a:cs typeface="Comic Sans MS"/>
            </a:endParaRPr>
          </a:p>
          <a:p>
            <a:pPr marL="285750">
              <a:lnSpc>
                <a:spcPct val="94401"/>
              </a:lnSpc>
              <a:spcBef>
                <a:spcPts val="5"/>
              </a:spcBef>
            </a:pPr>
            <a:r>
              <a:rPr dirty="0" smtClean="0" sz="450" spc="14">
                <a:latin typeface="Courier New"/>
                <a:cs typeface="Courier New"/>
              </a:rPr>
              <a:t>whil</a:t>
            </a:r>
            <a:r>
              <a:rPr dirty="0" smtClean="0" sz="450" spc="0">
                <a:latin typeface="Courier New"/>
                <a:cs typeface="Courier New"/>
              </a:rPr>
              <a:t>e</a:t>
            </a:r>
            <a:r>
              <a:rPr dirty="0" smtClean="0" sz="450" spc="44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(1</a:t>
            </a:r>
            <a:r>
              <a:rPr dirty="0" smtClean="0" sz="450" spc="0">
                <a:latin typeface="Courier New"/>
                <a:cs typeface="Courier New"/>
              </a:rPr>
              <a:t>)</a:t>
            </a:r>
            <a:r>
              <a:rPr dirty="0" smtClean="0" sz="450" spc="44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{</a:t>
            </a:r>
            <a:endParaRPr sz="450">
              <a:latin typeface="Courier New"/>
              <a:cs typeface="Courier New"/>
            </a:endParaRPr>
          </a:p>
          <a:p>
            <a:pPr marL="400050">
              <a:lnSpc>
                <a:spcPts val="610"/>
              </a:lnSpc>
              <a:spcBef>
                <a:spcPts val="30"/>
              </a:spcBef>
            </a:pPr>
            <a:r>
              <a:rPr dirty="0" smtClean="0" sz="450" spc="9">
                <a:latin typeface="Courier New"/>
                <a:cs typeface="Courier New"/>
              </a:rPr>
              <a:t>think()</a:t>
            </a:r>
            <a:r>
              <a:rPr dirty="0" smtClean="0" sz="450" spc="0">
                <a:latin typeface="Courier New"/>
                <a:cs typeface="Courier New"/>
              </a:rPr>
              <a:t>;</a:t>
            </a:r>
            <a:r>
              <a:rPr dirty="0" smtClean="0" sz="450" spc="0">
                <a:latin typeface="Courier New"/>
                <a:cs typeface="Courier New"/>
              </a:rPr>
              <a:t>                               </a:t>
            </a:r>
            <a:r>
              <a:rPr dirty="0" smtClean="0" sz="450" spc="144">
                <a:latin typeface="Courier New"/>
                <a:cs typeface="Courier New"/>
              </a:rPr>
              <a:t> </a:t>
            </a:r>
            <a:r>
              <a:rPr dirty="0" smtClean="0" sz="500" spc="-9">
                <a:latin typeface="Comic Sans MS"/>
                <a:cs typeface="Comic Sans MS"/>
              </a:rPr>
              <a:t>Wh</a:t>
            </a:r>
            <a:r>
              <a:rPr dirty="0" smtClean="0" sz="500" spc="0">
                <a:latin typeface="Comic Sans MS"/>
                <a:cs typeface="Comic Sans MS"/>
              </a:rPr>
              <a:t>y</a:t>
            </a:r>
            <a:r>
              <a:rPr dirty="0" smtClean="0" sz="500" spc="43">
                <a:latin typeface="Comic Sans MS"/>
                <a:cs typeface="Comic Sans MS"/>
              </a:rPr>
              <a:t> </a:t>
            </a:r>
            <a:r>
              <a:rPr dirty="0" smtClean="0" sz="500" spc="-9">
                <a:latin typeface="Comic Sans MS"/>
                <a:cs typeface="Comic Sans MS"/>
              </a:rPr>
              <a:t>better?</a:t>
            </a:r>
            <a:endParaRPr sz="500">
              <a:latin typeface="Comic Sans MS"/>
              <a:cs typeface="Comic Sans MS"/>
            </a:endParaRPr>
          </a:p>
          <a:p>
            <a:pPr marL="581025" marR="110538" indent="-180975">
              <a:lnSpc>
                <a:spcPts val="600"/>
              </a:lnSpc>
              <a:spcBef>
                <a:spcPts val="49"/>
              </a:spcBef>
            </a:pPr>
            <a:r>
              <a:rPr dirty="0" smtClean="0" sz="450" spc="4">
                <a:latin typeface="Courier New"/>
                <a:cs typeface="Courier New"/>
              </a:rPr>
              <a:t>i</a:t>
            </a:r>
            <a:r>
              <a:rPr dirty="0" smtClean="0" sz="450" spc="0">
                <a:latin typeface="Courier New"/>
                <a:cs typeface="Courier New"/>
              </a:rPr>
              <a:t>f</a:t>
            </a:r>
            <a:r>
              <a:rPr dirty="0" smtClean="0" sz="450" spc="34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(</a:t>
            </a:r>
            <a:r>
              <a:rPr dirty="0" smtClean="0" sz="450" spc="34">
                <a:latin typeface="Courier New"/>
                <a:cs typeface="Courier New"/>
              </a:rPr>
              <a:t> </a:t>
            </a:r>
            <a:r>
              <a:rPr dirty="0" smtClean="0" sz="450" spc="4">
                <a:latin typeface="Courier New"/>
                <a:cs typeface="Courier New"/>
              </a:rPr>
              <a:t>rightChopstic</a:t>
            </a:r>
            <a:r>
              <a:rPr dirty="0" smtClean="0" sz="450" spc="0">
                <a:latin typeface="Courier New"/>
                <a:cs typeface="Courier New"/>
              </a:rPr>
              <a:t>k</a:t>
            </a:r>
            <a:r>
              <a:rPr dirty="0" smtClean="0" sz="450" spc="109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&lt;</a:t>
            </a:r>
            <a:r>
              <a:rPr dirty="0" smtClean="0" sz="450" spc="-14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leftChopstick</a:t>
            </a:r>
            <a:r>
              <a:rPr dirty="0" smtClean="0" sz="450" spc="29">
                <a:latin typeface="Courier New"/>
                <a:cs typeface="Courier New"/>
              </a:rPr>
              <a:t>}{</a:t>
            </a:r>
            <a:r>
              <a:rPr dirty="0" smtClean="0" sz="450" spc="29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wait(chopstick[</a:t>
            </a:r>
            <a:r>
              <a:rPr dirty="0" smtClean="0" sz="450" spc="4">
                <a:latin typeface="Courier New"/>
                <a:cs typeface="Courier New"/>
              </a:rPr>
              <a:t>rightChopstic</a:t>
            </a:r>
            <a:r>
              <a:rPr dirty="0" smtClean="0" sz="450" spc="0">
                <a:latin typeface="Courier New"/>
                <a:cs typeface="Courier New"/>
              </a:rPr>
              <a:t>k</a:t>
            </a:r>
            <a:r>
              <a:rPr dirty="0" smtClean="0" sz="450" spc="-189">
                <a:latin typeface="Courier New"/>
                <a:cs typeface="Courier New"/>
              </a:rPr>
              <a:t> </a:t>
            </a:r>
            <a:r>
              <a:rPr dirty="0" smtClean="0" sz="450" spc="29">
                <a:latin typeface="Courier New"/>
                <a:cs typeface="Courier New"/>
              </a:rPr>
              <a:t>])</a:t>
            </a:r>
            <a:r>
              <a:rPr dirty="0" smtClean="0" sz="450" spc="0">
                <a:latin typeface="Courier New"/>
                <a:cs typeface="Courier New"/>
              </a:rPr>
              <a:t>;</a:t>
            </a:r>
            <a:r>
              <a:rPr dirty="0" smtClean="0" sz="450" spc="0">
                <a:latin typeface="Courier New"/>
                <a:cs typeface="Courier New"/>
              </a:rPr>
              <a:t>   </a:t>
            </a:r>
            <a:r>
              <a:rPr dirty="0" smtClean="0" sz="450" spc="150">
                <a:latin typeface="Courier New"/>
                <a:cs typeface="Courier New"/>
              </a:rPr>
              <a:t> </a:t>
            </a:r>
            <a:r>
              <a:rPr dirty="0" smtClean="0" sz="500" spc="9">
                <a:latin typeface="Comic Sans MS"/>
                <a:cs typeface="Comic Sans MS"/>
              </a:rPr>
              <a:t>On</a:t>
            </a:r>
            <a:r>
              <a:rPr dirty="0" smtClean="0" sz="500" spc="0">
                <a:latin typeface="Comic Sans MS"/>
                <a:cs typeface="Comic Sans MS"/>
              </a:rPr>
              <a:t>e</a:t>
            </a:r>
            <a:r>
              <a:rPr dirty="0" smtClean="0" sz="500" spc="56">
                <a:latin typeface="Comic Sans MS"/>
                <a:cs typeface="Comic Sans MS"/>
              </a:rPr>
              <a:t> </a:t>
            </a:r>
            <a:r>
              <a:rPr dirty="0" smtClean="0" sz="500" spc="9">
                <a:latin typeface="Comic Sans MS"/>
                <a:cs typeface="Comic Sans MS"/>
              </a:rPr>
              <a:t>philosopher</a:t>
            </a:r>
            <a:r>
              <a:rPr dirty="0" smtClean="0" sz="500" spc="9">
                <a:latin typeface="Comic Sans MS"/>
                <a:cs typeface="Comic Sans MS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wait(chopstick[</a:t>
            </a:r>
            <a:r>
              <a:rPr dirty="0" smtClean="0" sz="450" spc="14">
                <a:latin typeface="Courier New"/>
                <a:cs typeface="Courier New"/>
              </a:rPr>
              <a:t>leftChopstic</a:t>
            </a:r>
            <a:r>
              <a:rPr dirty="0" smtClean="0" sz="450" spc="-59">
                <a:latin typeface="Courier New"/>
                <a:cs typeface="Courier New"/>
              </a:rPr>
              <a:t>k</a:t>
            </a:r>
            <a:r>
              <a:rPr dirty="0" smtClean="0" sz="450" spc="29">
                <a:latin typeface="Courier New"/>
                <a:cs typeface="Courier New"/>
              </a:rPr>
              <a:t>])</a:t>
            </a:r>
            <a:r>
              <a:rPr dirty="0" smtClean="0" sz="450" spc="0">
                <a:latin typeface="Courier New"/>
                <a:cs typeface="Courier New"/>
              </a:rPr>
              <a:t>;</a:t>
            </a:r>
            <a:r>
              <a:rPr dirty="0" smtClean="0" sz="450" spc="0">
                <a:latin typeface="Courier New"/>
                <a:cs typeface="Courier New"/>
              </a:rPr>
              <a:t>  </a:t>
            </a:r>
            <a:r>
              <a:rPr dirty="0" smtClean="0" sz="450" spc="11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reaches</a:t>
            </a:r>
            <a:r>
              <a:rPr dirty="0" smtClean="0" sz="500" spc="91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right</a:t>
            </a:r>
            <a:r>
              <a:rPr dirty="0" smtClean="0" sz="500" spc="58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first</a:t>
            </a:r>
            <a:r>
              <a:rPr dirty="0" smtClean="0" sz="500" spc="55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when</a:t>
            </a:r>
            <a:endParaRPr sz="500">
              <a:latin typeface="Comic Sans MS"/>
              <a:cs typeface="Comic Sans MS"/>
            </a:endParaRPr>
          </a:p>
          <a:p>
            <a:pPr marL="581025" marR="110551" indent="-180975">
              <a:lnSpc>
                <a:spcPts val="696"/>
              </a:lnSpc>
            </a:pPr>
            <a:r>
              <a:rPr dirty="0" smtClean="0" sz="450" spc="0">
                <a:latin typeface="Courier New"/>
                <a:cs typeface="Courier New"/>
              </a:rPr>
              <a:t>}</a:t>
            </a:r>
            <a:r>
              <a:rPr dirty="0" smtClean="0" sz="450" spc="9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els</a:t>
            </a:r>
            <a:r>
              <a:rPr dirty="0" smtClean="0" sz="450" spc="0">
                <a:latin typeface="Courier New"/>
                <a:cs typeface="Courier New"/>
              </a:rPr>
              <a:t>e</a:t>
            </a:r>
            <a:r>
              <a:rPr dirty="0" smtClean="0" sz="450" spc="9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{</a:t>
            </a:r>
            <a:r>
              <a:rPr dirty="0" smtClean="0" sz="450" spc="0">
                <a:latin typeface="Courier New"/>
                <a:cs typeface="Courier New"/>
              </a:rPr>
              <a:t>                               </a:t>
            </a:r>
            <a:r>
              <a:rPr dirty="0" smtClean="0" sz="450" spc="154">
                <a:latin typeface="Courier New"/>
                <a:cs typeface="Courier New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al</a:t>
            </a:r>
            <a:r>
              <a:rPr dirty="0" smtClean="0" sz="500" spc="0">
                <a:latin typeface="Comic Sans MS"/>
                <a:cs typeface="Comic Sans MS"/>
              </a:rPr>
              <a:t>l</a:t>
            </a:r>
            <a:r>
              <a:rPr dirty="0" smtClean="0" sz="500" spc="31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other</a:t>
            </a:r>
            <a:r>
              <a:rPr dirty="0" smtClean="0" sz="500" spc="0">
                <a:latin typeface="Comic Sans MS"/>
                <a:cs typeface="Comic Sans MS"/>
              </a:rPr>
              <a:t>s</a:t>
            </a:r>
            <a:r>
              <a:rPr dirty="0" smtClean="0" sz="500" spc="82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reac</a:t>
            </a:r>
            <a:r>
              <a:rPr dirty="0" smtClean="0" sz="500" spc="0">
                <a:latin typeface="Comic Sans MS"/>
                <a:cs typeface="Comic Sans MS"/>
              </a:rPr>
              <a:t>h</a:t>
            </a:r>
            <a:r>
              <a:rPr dirty="0" smtClean="0" sz="500" spc="70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left</a:t>
            </a:r>
            <a:r>
              <a:rPr dirty="0" smtClean="0" sz="500" spc="4">
                <a:latin typeface="Comic Sans MS"/>
                <a:cs typeface="Comic Sans MS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wait(chopstick[</a:t>
            </a:r>
            <a:r>
              <a:rPr dirty="0" smtClean="0" sz="450" spc="14">
                <a:latin typeface="Courier New"/>
                <a:cs typeface="Courier New"/>
              </a:rPr>
              <a:t>leftChopstic</a:t>
            </a:r>
            <a:r>
              <a:rPr dirty="0" smtClean="0" sz="450" spc="-59">
                <a:latin typeface="Courier New"/>
                <a:cs typeface="Courier New"/>
              </a:rPr>
              <a:t>k</a:t>
            </a:r>
            <a:r>
              <a:rPr dirty="0" smtClean="0" sz="450" spc="29">
                <a:latin typeface="Courier New"/>
                <a:cs typeface="Courier New"/>
              </a:rPr>
              <a:t>]);</a:t>
            </a:r>
            <a:r>
              <a:rPr dirty="0" smtClean="0" sz="450" spc="29">
                <a:latin typeface="Courier New"/>
                <a:cs typeface="Courier New"/>
              </a:rPr>
              <a:t> </a:t>
            </a:r>
            <a:r>
              <a:rPr dirty="0" smtClean="0" baseline="6538" sz="675" spc="9">
                <a:latin typeface="Courier New"/>
                <a:cs typeface="Courier New"/>
              </a:rPr>
              <a:t>wait(chopstick[</a:t>
            </a:r>
            <a:r>
              <a:rPr dirty="0" smtClean="0" baseline="6538" sz="675" spc="4">
                <a:latin typeface="Courier New"/>
                <a:cs typeface="Courier New"/>
              </a:rPr>
              <a:t>rightChopstic</a:t>
            </a:r>
            <a:r>
              <a:rPr dirty="0" smtClean="0" baseline="6538" sz="675" spc="0">
                <a:latin typeface="Courier New"/>
                <a:cs typeface="Courier New"/>
              </a:rPr>
              <a:t>k</a:t>
            </a:r>
            <a:r>
              <a:rPr dirty="0" smtClean="0" baseline="6538" sz="675" spc="-189">
                <a:latin typeface="Courier New"/>
                <a:cs typeface="Courier New"/>
              </a:rPr>
              <a:t> </a:t>
            </a:r>
            <a:r>
              <a:rPr dirty="0" smtClean="0" baseline="6538" sz="675" spc="29">
                <a:latin typeface="Courier New"/>
                <a:cs typeface="Courier New"/>
              </a:rPr>
              <a:t>])</a:t>
            </a:r>
            <a:r>
              <a:rPr dirty="0" smtClean="0" baseline="6538" sz="675" spc="0">
                <a:latin typeface="Courier New"/>
                <a:cs typeface="Courier New"/>
              </a:rPr>
              <a:t>;</a:t>
            </a:r>
            <a:r>
              <a:rPr dirty="0" smtClean="0" baseline="6538" sz="675" spc="0">
                <a:latin typeface="Courier New"/>
                <a:cs typeface="Courier New"/>
              </a:rPr>
              <a:t>   </a:t>
            </a:r>
            <a:r>
              <a:rPr dirty="0" smtClean="0" baseline="6538" sz="675" spc="0">
                <a:latin typeface="Courier New"/>
                <a:cs typeface="Courier New"/>
              </a:rPr>
              <a:t> </a:t>
            </a:r>
            <a:r>
              <a:rPr dirty="0" smtClean="0" sz="500" spc="19">
                <a:latin typeface="Comic Sans MS"/>
                <a:cs typeface="Comic Sans MS"/>
              </a:rPr>
              <a:t>Tw</a:t>
            </a:r>
            <a:r>
              <a:rPr dirty="0" smtClean="0" sz="500" spc="0">
                <a:latin typeface="Comic Sans MS"/>
                <a:cs typeface="Comic Sans MS"/>
              </a:rPr>
              <a:t>o</a:t>
            </a:r>
            <a:r>
              <a:rPr dirty="0" smtClean="0" sz="500" spc="67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philsophers</a:t>
            </a:r>
            <a:r>
              <a:rPr dirty="0" smtClean="0" sz="500" spc="132">
                <a:latin typeface="Comic Sans MS"/>
                <a:cs typeface="Comic Sans MS"/>
              </a:rPr>
              <a:t> </a:t>
            </a:r>
            <a:r>
              <a:rPr dirty="0" smtClean="0" sz="500" spc="9">
                <a:latin typeface="Comic Sans MS"/>
                <a:cs typeface="Comic Sans MS"/>
              </a:rPr>
              <a:t>reach</a:t>
            </a:r>
            <a:endParaRPr sz="500">
              <a:latin typeface="Comic Sans MS"/>
              <a:cs typeface="Comic Sans MS"/>
            </a:endParaRPr>
          </a:p>
          <a:p>
            <a:pPr marL="400050">
              <a:lnSpc>
                <a:spcPts val="570"/>
              </a:lnSpc>
              <a:spcBef>
                <a:spcPts val="60"/>
              </a:spcBef>
            </a:pPr>
            <a:r>
              <a:rPr dirty="0" smtClean="0" baseline="6538" sz="675" spc="0">
                <a:latin typeface="Courier New"/>
                <a:cs typeface="Courier New"/>
              </a:rPr>
              <a:t>}</a:t>
            </a:r>
            <a:r>
              <a:rPr dirty="0" smtClean="0" baseline="6538" sz="675" spc="0">
                <a:latin typeface="Courier New"/>
                <a:cs typeface="Courier New"/>
              </a:rPr>
              <a:t>                                      </a:t>
            </a:r>
            <a:r>
              <a:rPr dirty="0" smtClean="0" baseline="6538" sz="675" spc="225">
                <a:latin typeface="Courier New"/>
                <a:cs typeface="Courier New"/>
              </a:rPr>
              <a:t> </a:t>
            </a:r>
            <a:r>
              <a:rPr dirty="0" smtClean="0" baseline="4783" sz="750" spc="9">
                <a:latin typeface="Comic Sans MS"/>
                <a:cs typeface="Comic Sans MS"/>
              </a:rPr>
              <a:t>fo</a:t>
            </a:r>
            <a:r>
              <a:rPr dirty="0" smtClean="0" baseline="4783" sz="750" spc="0">
                <a:latin typeface="Comic Sans MS"/>
                <a:cs typeface="Comic Sans MS"/>
              </a:rPr>
              <a:t>r</a:t>
            </a:r>
            <a:r>
              <a:rPr dirty="0" smtClean="0" baseline="4783" sz="750" spc="37">
                <a:latin typeface="Comic Sans MS"/>
                <a:cs typeface="Comic Sans MS"/>
              </a:rPr>
              <a:t> </a:t>
            </a:r>
            <a:r>
              <a:rPr dirty="0" smtClean="0" baseline="4783" sz="750" spc="9">
                <a:latin typeface="Comic Sans MS"/>
                <a:cs typeface="Comic Sans MS"/>
              </a:rPr>
              <a:t>sam</a:t>
            </a:r>
            <a:r>
              <a:rPr dirty="0" smtClean="0" baseline="4783" sz="750" spc="0">
                <a:latin typeface="Comic Sans MS"/>
                <a:cs typeface="Comic Sans MS"/>
              </a:rPr>
              <a:t>e</a:t>
            </a:r>
            <a:r>
              <a:rPr dirty="0" smtClean="0" baseline="4783" sz="750" spc="57">
                <a:latin typeface="Comic Sans MS"/>
                <a:cs typeface="Comic Sans MS"/>
              </a:rPr>
              <a:t> </a:t>
            </a:r>
            <a:r>
              <a:rPr dirty="0" smtClean="0" baseline="4783" sz="750" spc="9">
                <a:latin typeface="Comic Sans MS"/>
                <a:cs typeface="Comic Sans MS"/>
              </a:rPr>
              <a:t>on</a:t>
            </a:r>
            <a:r>
              <a:rPr dirty="0" smtClean="0" baseline="4783" sz="750" spc="0">
                <a:latin typeface="Comic Sans MS"/>
                <a:cs typeface="Comic Sans MS"/>
              </a:rPr>
              <a:t>e</a:t>
            </a:r>
            <a:r>
              <a:rPr dirty="0" smtClean="0" baseline="4783" sz="750" spc="39">
                <a:latin typeface="Comic Sans MS"/>
                <a:cs typeface="Comic Sans MS"/>
              </a:rPr>
              <a:t> </a:t>
            </a:r>
            <a:r>
              <a:rPr dirty="0" smtClean="0" baseline="4783" sz="750" spc="9">
                <a:latin typeface="Comic Sans MS"/>
                <a:cs typeface="Comic Sans MS"/>
              </a:rPr>
              <a:t>an</a:t>
            </a:r>
            <a:r>
              <a:rPr dirty="0" smtClean="0" baseline="4783" sz="750" spc="0">
                <a:latin typeface="Comic Sans MS"/>
                <a:cs typeface="Comic Sans MS"/>
              </a:rPr>
              <a:t>d</a:t>
            </a:r>
            <a:r>
              <a:rPr dirty="0" smtClean="0" baseline="4783" sz="750" spc="40">
                <a:latin typeface="Comic Sans MS"/>
                <a:cs typeface="Comic Sans MS"/>
              </a:rPr>
              <a:t> </a:t>
            </a:r>
            <a:r>
              <a:rPr dirty="0" smtClean="0" baseline="4783" sz="750" spc="9">
                <a:latin typeface="Comic Sans MS"/>
                <a:cs typeface="Comic Sans MS"/>
              </a:rPr>
              <a:t>on</a:t>
            </a:r>
            <a:r>
              <a:rPr dirty="0" smtClean="0" baseline="4783" sz="750" spc="0">
                <a:latin typeface="Comic Sans MS"/>
                <a:cs typeface="Comic Sans MS"/>
              </a:rPr>
              <a:t>e</a:t>
            </a:r>
            <a:r>
              <a:rPr dirty="0" smtClean="0" baseline="4783" sz="750" spc="39">
                <a:latin typeface="Comic Sans MS"/>
                <a:cs typeface="Comic Sans MS"/>
              </a:rPr>
              <a:t> </a:t>
            </a:r>
            <a:r>
              <a:rPr dirty="0" smtClean="0" baseline="4783" sz="750" spc="9">
                <a:latin typeface="Comic Sans MS"/>
                <a:cs typeface="Comic Sans MS"/>
              </a:rPr>
              <a:t>will</a:t>
            </a:r>
            <a:endParaRPr sz="500">
              <a:latin typeface="Comic Sans MS"/>
              <a:cs typeface="Comic Sans MS"/>
            </a:endParaRPr>
          </a:p>
          <a:p>
            <a:pPr marR="179057" algn="r">
              <a:lnSpc>
                <a:spcPts val="675"/>
              </a:lnSpc>
              <a:spcBef>
                <a:spcPts val="5"/>
              </a:spcBef>
            </a:pPr>
            <a:r>
              <a:rPr dirty="0" smtClean="0" sz="500" spc="9">
                <a:latin typeface="Comic Sans MS"/>
                <a:cs typeface="Comic Sans MS"/>
              </a:rPr>
              <a:t>lose</a:t>
            </a:r>
            <a:r>
              <a:rPr dirty="0" smtClean="0" sz="500" spc="0">
                <a:latin typeface="Comic Sans MS"/>
                <a:cs typeface="Comic Sans MS"/>
              </a:rPr>
              <a:t>;</a:t>
            </a:r>
            <a:r>
              <a:rPr dirty="0" smtClean="0" sz="500" spc="48">
                <a:latin typeface="Comic Sans MS"/>
                <a:cs typeface="Comic Sans MS"/>
              </a:rPr>
              <a:t> </a:t>
            </a:r>
            <a:r>
              <a:rPr dirty="0" smtClean="0" sz="500" spc="9">
                <a:latin typeface="Comic Sans MS"/>
                <a:cs typeface="Comic Sans MS"/>
              </a:rPr>
              <a:t>Th</a:t>
            </a:r>
            <a:r>
              <a:rPr dirty="0" smtClean="0" sz="500" spc="0">
                <a:latin typeface="Comic Sans MS"/>
                <a:cs typeface="Comic Sans MS"/>
              </a:rPr>
              <a:t>e</a:t>
            </a:r>
            <a:r>
              <a:rPr dirty="0" smtClean="0" sz="500" spc="40">
                <a:latin typeface="Comic Sans MS"/>
                <a:cs typeface="Comic Sans MS"/>
              </a:rPr>
              <a:t> </a:t>
            </a:r>
            <a:r>
              <a:rPr dirty="0" smtClean="0" sz="500" spc="9">
                <a:latin typeface="Comic Sans MS"/>
                <a:cs typeface="Comic Sans MS"/>
              </a:rPr>
              <a:t>on</a:t>
            </a:r>
            <a:r>
              <a:rPr dirty="0" smtClean="0" sz="500" spc="0">
                <a:latin typeface="Comic Sans MS"/>
                <a:cs typeface="Comic Sans MS"/>
              </a:rPr>
              <a:t>e</a:t>
            </a:r>
            <a:r>
              <a:rPr dirty="0" smtClean="0" sz="500" spc="34">
                <a:latin typeface="Comic Sans MS"/>
                <a:cs typeface="Comic Sans MS"/>
              </a:rPr>
              <a:t> </a:t>
            </a:r>
            <a:r>
              <a:rPr dirty="0" smtClean="0" sz="500" spc="9">
                <a:latin typeface="Comic Sans MS"/>
                <a:cs typeface="Comic Sans MS"/>
              </a:rPr>
              <a:t>wh</a:t>
            </a:r>
            <a:r>
              <a:rPr dirty="0" smtClean="0" sz="500" spc="0">
                <a:latin typeface="Comic Sans MS"/>
                <a:cs typeface="Comic Sans MS"/>
              </a:rPr>
              <a:t>o</a:t>
            </a:r>
            <a:r>
              <a:rPr dirty="0" smtClean="0" sz="500" spc="39">
                <a:latin typeface="Comic Sans MS"/>
                <a:cs typeface="Comic Sans MS"/>
              </a:rPr>
              <a:t> </a:t>
            </a:r>
            <a:r>
              <a:rPr dirty="0" smtClean="0" sz="500" spc="9">
                <a:latin typeface="Comic Sans MS"/>
                <a:cs typeface="Comic Sans MS"/>
              </a:rPr>
              <a:t>wins</a:t>
            </a:r>
            <a:endParaRPr sz="500">
              <a:latin typeface="Comic Sans MS"/>
              <a:cs typeface="Comic Sans MS"/>
            </a:endParaRPr>
          </a:p>
          <a:p>
            <a:pPr marR="142884" algn="r">
              <a:lnSpc>
                <a:spcPts val="600"/>
              </a:lnSpc>
            </a:pPr>
            <a:r>
              <a:rPr dirty="0" smtClean="0" baseline="13077" sz="675" spc="19">
                <a:latin typeface="Courier New"/>
                <a:cs typeface="Courier New"/>
              </a:rPr>
              <a:t>eat()</a:t>
            </a:r>
            <a:r>
              <a:rPr dirty="0" smtClean="0" baseline="13077" sz="675" spc="0">
                <a:latin typeface="Courier New"/>
                <a:cs typeface="Courier New"/>
              </a:rPr>
              <a:t>;</a:t>
            </a:r>
            <a:r>
              <a:rPr dirty="0" smtClean="0" baseline="13077" sz="675" spc="0">
                <a:latin typeface="Courier New"/>
                <a:cs typeface="Courier New"/>
              </a:rPr>
              <a:t>                                 </a:t>
            </a:r>
            <a:r>
              <a:rPr dirty="0" smtClean="0" baseline="13077" sz="675" spc="139">
                <a:latin typeface="Courier New"/>
                <a:cs typeface="Courier New"/>
              </a:rPr>
              <a:t> </a:t>
            </a:r>
            <a:r>
              <a:rPr dirty="0" smtClean="0" baseline="4783" sz="750" spc="4">
                <a:latin typeface="Comic Sans MS"/>
                <a:cs typeface="Comic Sans MS"/>
              </a:rPr>
              <a:t>wil</a:t>
            </a:r>
            <a:r>
              <a:rPr dirty="0" smtClean="0" baseline="4783" sz="750" spc="0">
                <a:latin typeface="Comic Sans MS"/>
                <a:cs typeface="Comic Sans MS"/>
              </a:rPr>
              <a:t>l</a:t>
            </a:r>
            <a:r>
              <a:rPr dirty="0" smtClean="0" baseline="4783" sz="750" spc="42">
                <a:latin typeface="Comic Sans MS"/>
                <a:cs typeface="Comic Sans MS"/>
              </a:rPr>
              <a:t> </a:t>
            </a:r>
            <a:r>
              <a:rPr dirty="0" smtClean="0" baseline="4783" sz="750" spc="4">
                <a:latin typeface="Comic Sans MS"/>
                <a:cs typeface="Comic Sans MS"/>
              </a:rPr>
              <a:t>ge</a:t>
            </a:r>
            <a:r>
              <a:rPr dirty="0" smtClean="0" baseline="4783" sz="750" spc="0">
                <a:latin typeface="Comic Sans MS"/>
                <a:cs typeface="Comic Sans MS"/>
              </a:rPr>
              <a:t>t</a:t>
            </a:r>
            <a:r>
              <a:rPr dirty="0" smtClean="0" baseline="4783" sz="750" spc="43">
                <a:latin typeface="Comic Sans MS"/>
                <a:cs typeface="Comic Sans MS"/>
              </a:rPr>
              <a:t> </a:t>
            </a:r>
            <a:r>
              <a:rPr dirty="0" smtClean="0" baseline="4783" sz="750" spc="4">
                <a:latin typeface="Comic Sans MS"/>
                <a:cs typeface="Comic Sans MS"/>
              </a:rPr>
              <a:t>bot</a:t>
            </a:r>
            <a:r>
              <a:rPr dirty="0" smtClean="0" baseline="4783" sz="750" spc="0">
                <a:latin typeface="Comic Sans MS"/>
                <a:cs typeface="Comic Sans MS"/>
              </a:rPr>
              <a:t>h</a:t>
            </a:r>
            <a:r>
              <a:rPr dirty="0" smtClean="0" baseline="4783" sz="750" spc="59">
                <a:latin typeface="Comic Sans MS"/>
                <a:cs typeface="Comic Sans MS"/>
              </a:rPr>
              <a:t> </a:t>
            </a:r>
            <a:r>
              <a:rPr dirty="0" smtClean="0" baseline="4783" sz="750" spc="4">
                <a:latin typeface="Comic Sans MS"/>
                <a:cs typeface="Comic Sans MS"/>
              </a:rPr>
              <a:t>chopsticks</a:t>
            </a:r>
            <a:endParaRPr sz="500">
              <a:latin typeface="Comic Sans MS"/>
              <a:cs typeface="Comic Sans MS"/>
            </a:endParaRPr>
          </a:p>
          <a:p>
            <a:pPr marL="400050" marR="253428" indent="1400175">
              <a:lnSpc>
                <a:spcPts val="600"/>
              </a:lnSpc>
              <a:spcBef>
                <a:spcPts val="50"/>
              </a:spcBef>
            </a:pPr>
            <a:r>
              <a:rPr dirty="0" smtClean="0" sz="500" spc="9">
                <a:latin typeface="Comic Sans MS"/>
                <a:cs typeface="Comic Sans MS"/>
              </a:rPr>
              <a:t>an</a:t>
            </a:r>
            <a:r>
              <a:rPr dirty="0" smtClean="0" sz="500" spc="0">
                <a:latin typeface="Comic Sans MS"/>
                <a:cs typeface="Comic Sans MS"/>
              </a:rPr>
              <a:t>d</a:t>
            </a:r>
            <a:r>
              <a:rPr dirty="0" smtClean="0" sz="500" spc="50">
                <a:latin typeface="Comic Sans MS"/>
                <a:cs typeface="Comic Sans MS"/>
              </a:rPr>
              <a:t> </a:t>
            </a:r>
            <a:r>
              <a:rPr dirty="0" smtClean="0" sz="500" spc="9">
                <a:latin typeface="Comic Sans MS"/>
                <a:cs typeface="Comic Sans MS"/>
              </a:rPr>
              <a:t>finis</a:t>
            </a:r>
            <a:r>
              <a:rPr dirty="0" smtClean="0" sz="500" spc="0">
                <a:latin typeface="Comic Sans MS"/>
                <a:cs typeface="Comic Sans MS"/>
              </a:rPr>
              <a:t>h</a:t>
            </a:r>
            <a:r>
              <a:rPr dirty="0" smtClean="0" sz="500" spc="76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–</a:t>
            </a:r>
            <a:r>
              <a:rPr dirty="0" smtClean="0" sz="500" spc="5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allowing</a:t>
            </a:r>
            <a:r>
              <a:rPr dirty="0" smtClean="0" sz="500" spc="0">
                <a:latin typeface="Comic Sans MS"/>
                <a:cs typeface="Comic Sans MS"/>
              </a:rPr>
              <a:t> </a:t>
            </a:r>
            <a:r>
              <a:rPr dirty="0" smtClean="0" baseline="6538" sz="675" spc="0">
                <a:latin typeface="Courier New"/>
                <a:cs typeface="Courier New"/>
              </a:rPr>
              <a:t>signal(</a:t>
            </a:r>
            <a:r>
              <a:rPr dirty="0" smtClean="0" baseline="6538" sz="675" spc="-194">
                <a:latin typeface="Courier New"/>
                <a:cs typeface="Courier New"/>
              </a:rPr>
              <a:t> </a:t>
            </a:r>
            <a:r>
              <a:rPr dirty="0" smtClean="0" baseline="6538" sz="675" spc="14">
                <a:latin typeface="Courier New"/>
                <a:cs typeface="Courier New"/>
              </a:rPr>
              <a:t>rightChopstick</a:t>
            </a:r>
            <a:r>
              <a:rPr dirty="0" smtClean="0" baseline="6538" sz="675" spc="-44">
                <a:latin typeface="Courier New"/>
                <a:cs typeface="Courier New"/>
              </a:rPr>
              <a:t>)</a:t>
            </a:r>
            <a:r>
              <a:rPr dirty="0" smtClean="0" baseline="6538" sz="675" spc="0">
                <a:latin typeface="Courier New"/>
                <a:cs typeface="Courier New"/>
              </a:rPr>
              <a:t>;</a:t>
            </a:r>
            <a:r>
              <a:rPr dirty="0" smtClean="0" baseline="6538" sz="675" spc="0">
                <a:latin typeface="Courier New"/>
                <a:cs typeface="Courier New"/>
              </a:rPr>
              <a:t>                </a:t>
            </a:r>
            <a:r>
              <a:rPr dirty="0" smtClean="0" baseline="6538" sz="675" spc="14">
                <a:latin typeface="Courier New"/>
                <a:cs typeface="Courier New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everyon</a:t>
            </a:r>
            <a:r>
              <a:rPr dirty="0" smtClean="0" sz="500" spc="0">
                <a:latin typeface="Comic Sans MS"/>
                <a:cs typeface="Comic Sans MS"/>
              </a:rPr>
              <a:t>e</a:t>
            </a:r>
            <a:r>
              <a:rPr dirty="0" smtClean="0" sz="500" spc="109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t</a:t>
            </a:r>
            <a:r>
              <a:rPr dirty="0" smtClean="0" sz="500" spc="0">
                <a:latin typeface="Comic Sans MS"/>
                <a:cs typeface="Comic Sans MS"/>
              </a:rPr>
              <a:t>o</a:t>
            </a:r>
            <a:r>
              <a:rPr dirty="0" smtClean="0" sz="500" spc="29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finish</a:t>
            </a:r>
            <a:r>
              <a:rPr dirty="0" smtClean="0" sz="500" spc="4">
                <a:latin typeface="Comic Sans MS"/>
                <a:cs typeface="Comic Sans MS"/>
              </a:rPr>
              <a:t> </a:t>
            </a:r>
            <a:r>
              <a:rPr dirty="0" smtClean="0" baseline="6538" sz="675" spc="0">
                <a:latin typeface="Courier New"/>
                <a:cs typeface="Courier New"/>
              </a:rPr>
              <a:t>signal(</a:t>
            </a:r>
            <a:r>
              <a:rPr dirty="0" smtClean="0" baseline="6538" sz="675" spc="-194">
                <a:latin typeface="Courier New"/>
                <a:cs typeface="Courier New"/>
              </a:rPr>
              <a:t> </a:t>
            </a:r>
            <a:r>
              <a:rPr dirty="0" smtClean="0" baseline="6538" sz="675" spc="14">
                <a:latin typeface="Courier New"/>
                <a:cs typeface="Courier New"/>
              </a:rPr>
              <a:t>leftChopstick</a:t>
            </a:r>
            <a:r>
              <a:rPr dirty="0" smtClean="0" baseline="6538" sz="675" spc="29">
                <a:latin typeface="Courier New"/>
                <a:cs typeface="Courier New"/>
              </a:rPr>
              <a:t>)</a:t>
            </a:r>
            <a:r>
              <a:rPr dirty="0" smtClean="0" baseline="6538" sz="675" spc="0">
                <a:latin typeface="Courier New"/>
                <a:cs typeface="Courier New"/>
              </a:rPr>
              <a:t>;</a:t>
            </a:r>
            <a:r>
              <a:rPr dirty="0" smtClean="0" baseline="6538" sz="675" spc="0">
                <a:latin typeface="Courier New"/>
                <a:cs typeface="Courier New"/>
              </a:rPr>
              <a:t>                </a:t>
            </a:r>
            <a:r>
              <a:rPr dirty="0" smtClean="0" baseline="6538" sz="675" spc="239">
                <a:latin typeface="Courier New"/>
                <a:cs typeface="Courier New"/>
              </a:rPr>
              <a:t> </a:t>
            </a:r>
            <a:r>
              <a:rPr dirty="0" smtClean="0" sz="500" spc="9">
                <a:latin typeface="Comic Sans MS"/>
                <a:cs typeface="Comic Sans MS"/>
              </a:rPr>
              <a:t>eventually</a:t>
            </a:r>
            <a:endParaRPr sz="500">
              <a:latin typeface="Comic Sans MS"/>
              <a:cs typeface="Comic Sans MS"/>
            </a:endParaRPr>
          </a:p>
          <a:p>
            <a:pPr marL="268049" marR="237098" algn="ctr">
              <a:lnSpc>
                <a:spcPts val="696"/>
              </a:lnSpc>
              <a:spcBef>
                <a:spcPts val="573"/>
              </a:spcBef>
            </a:pPr>
            <a:r>
              <a:rPr dirty="0" smtClean="0" baseline="6538" sz="675" spc="0">
                <a:latin typeface="Courier New"/>
                <a:cs typeface="Courier New"/>
              </a:rPr>
              <a:t>}</a:t>
            </a:r>
            <a:r>
              <a:rPr dirty="0" smtClean="0" baseline="6538" sz="675" spc="0">
                <a:latin typeface="Courier New"/>
                <a:cs typeface="Courier New"/>
              </a:rPr>
              <a:t>                                          </a:t>
            </a:r>
            <a:r>
              <a:rPr dirty="0" smtClean="0" baseline="6538" sz="675" spc="44">
                <a:latin typeface="Courier New"/>
                <a:cs typeface="Courier New"/>
              </a:rPr>
              <a:t> </a:t>
            </a:r>
            <a:r>
              <a:rPr dirty="0" smtClean="0" sz="500" spc="9">
                <a:latin typeface="Comic Sans MS"/>
                <a:cs typeface="Comic Sans MS"/>
              </a:rPr>
              <a:t>N</a:t>
            </a:r>
            <a:r>
              <a:rPr dirty="0" smtClean="0" sz="500" spc="0">
                <a:latin typeface="Comic Sans MS"/>
                <a:cs typeface="Comic Sans MS"/>
              </a:rPr>
              <a:t>o</a:t>
            </a:r>
            <a:r>
              <a:rPr dirty="0" smtClean="0" sz="500" spc="23">
                <a:latin typeface="Comic Sans MS"/>
                <a:cs typeface="Comic Sans MS"/>
              </a:rPr>
              <a:t> </a:t>
            </a:r>
            <a:r>
              <a:rPr dirty="0" smtClean="0" sz="500" spc="9">
                <a:latin typeface="Comic Sans MS"/>
                <a:cs typeface="Comic Sans MS"/>
              </a:rPr>
              <a:t>circula</a:t>
            </a:r>
            <a:r>
              <a:rPr dirty="0" smtClean="0" sz="500" spc="0">
                <a:latin typeface="Comic Sans MS"/>
                <a:cs typeface="Comic Sans MS"/>
              </a:rPr>
              <a:t>r</a:t>
            </a:r>
            <a:r>
              <a:rPr dirty="0" smtClean="0" sz="500" spc="79">
                <a:latin typeface="Comic Sans MS"/>
                <a:cs typeface="Comic Sans MS"/>
              </a:rPr>
              <a:t> </a:t>
            </a:r>
            <a:r>
              <a:rPr dirty="0" smtClean="0" sz="500" spc="9">
                <a:latin typeface="Comic Sans MS"/>
                <a:cs typeface="Comic Sans MS"/>
              </a:rPr>
              <a:t>wait</a:t>
            </a:r>
            <a:r>
              <a:rPr dirty="0" smtClean="0" sz="500" spc="0">
                <a:latin typeface="Comic Sans MS"/>
                <a:cs typeface="Comic Sans MS"/>
              </a:rPr>
              <a:t>!</a:t>
            </a:r>
            <a:r>
              <a:rPr dirty="0" smtClean="0" sz="500" spc="44">
                <a:latin typeface="Comic Sans MS"/>
                <a:cs typeface="Comic Sans MS"/>
              </a:rPr>
              <a:t> </a:t>
            </a:r>
            <a:r>
              <a:rPr dirty="0" smtClean="0" sz="500" spc="9">
                <a:latin typeface="Comic Sans MS"/>
                <a:cs typeface="Comic Sans MS"/>
              </a:rPr>
              <a:t>No</a:t>
            </a:r>
            <a:endParaRPr sz="500">
              <a:latin typeface="Comic Sans MS"/>
              <a:cs typeface="Comic Sans MS"/>
            </a:endParaRPr>
          </a:p>
          <a:p>
            <a:pPr marL="180975">
              <a:lnSpc>
                <a:spcPts val="675"/>
              </a:lnSpc>
              <a:spcBef>
                <a:spcPts val="33"/>
              </a:spcBef>
            </a:pPr>
            <a:r>
              <a:rPr dirty="0" smtClean="0" baseline="19616" sz="675" spc="0">
                <a:latin typeface="Courier New"/>
                <a:cs typeface="Courier New"/>
              </a:rPr>
              <a:t>}</a:t>
            </a:r>
            <a:r>
              <a:rPr dirty="0" smtClean="0" baseline="19616" sz="675" spc="0">
                <a:latin typeface="Courier New"/>
                <a:cs typeface="Courier New"/>
              </a:rPr>
              <a:t>                                             </a:t>
            </a:r>
            <a:r>
              <a:rPr dirty="0" smtClean="0" baseline="19616" sz="675" spc="59">
                <a:latin typeface="Courier New"/>
                <a:cs typeface="Courier New"/>
              </a:rPr>
              <a:t> </a:t>
            </a:r>
            <a:r>
              <a:rPr dirty="0" smtClean="0" sz="500" spc="9">
                <a:latin typeface="Comic Sans MS"/>
                <a:cs typeface="Comic Sans MS"/>
              </a:rPr>
              <a:t>deadlock!!</a:t>
            </a:r>
            <a:endParaRPr sz="500">
              <a:latin typeface="Comic Sans MS"/>
              <a:cs typeface="Comic Sans MS"/>
            </a:endParaRPr>
          </a:p>
          <a:p>
            <a:pPr marR="114300" algn="r">
              <a:lnSpc>
                <a:spcPts val="380"/>
              </a:lnSpc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2</a:t>
            </a:r>
            <a:r>
              <a:rPr dirty="0" smtClean="0" sz="350" spc="0">
                <a:latin typeface="Times New Roman"/>
                <a:cs typeface="Times New Roman"/>
              </a:rPr>
              <a:t>1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39670" y="2222764"/>
            <a:ext cx="409575" cy="285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311245" y="2241814"/>
            <a:ext cx="409575" cy="285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072995" y="1536964"/>
            <a:ext cx="419100" cy="285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273145" y="1536964"/>
            <a:ext cx="409575" cy="285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29025" y="904875"/>
            <a:ext cx="2676525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50415" marR="524271" algn="ctr">
              <a:lnSpc>
                <a:spcPct val="116129"/>
              </a:lnSpc>
              <a:spcBef>
                <a:spcPts val="250"/>
              </a:spcBef>
            </a:pPr>
            <a:r>
              <a:rPr dirty="0" smtClean="0" sz="1200" spc="-9" u="sng">
                <a:solidFill>
                  <a:srgbClr val="3333CC"/>
                </a:solidFill>
                <a:latin typeface="Comic Sans MS"/>
                <a:cs typeface="Comic Sans MS"/>
              </a:rPr>
              <a:t>Cycle</a:t>
            </a:r>
            <a:r>
              <a:rPr dirty="0" smtClean="0" sz="1200" spc="-39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9" u="sng">
                <a:solidFill>
                  <a:srgbClr val="3333CC"/>
                </a:solidFill>
                <a:latin typeface="Comic Sans MS"/>
                <a:cs typeface="Comic Sans MS"/>
              </a:rPr>
              <a:t>in</a:t>
            </a:r>
            <a:r>
              <a:rPr dirty="0" smtClean="0" sz="1200" spc="-39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9" u="sng">
                <a:solidFill>
                  <a:srgbClr val="3333CC"/>
                </a:solidFill>
                <a:latin typeface="Comic Sans MS"/>
                <a:cs typeface="Comic Sans MS"/>
              </a:rPr>
              <a:t>Resource</a:t>
            </a:r>
            <a:r>
              <a:rPr dirty="0" smtClean="0" sz="1200" spc="-39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9" u="sng">
                <a:solidFill>
                  <a:srgbClr val="3333CC"/>
                </a:solidFill>
                <a:latin typeface="Comic Sans MS"/>
                <a:cs typeface="Comic Sans MS"/>
              </a:rPr>
              <a:t>Allocation</a:t>
            </a:r>
            <a:endParaRPr sz="1200">
              <a:latin typeface="Comic Sans MS"/>
              <a:cs typeface="Comic Sans MS"/>
            </a:endParaRPr>
          </a:p>
          <a:p>
            <a:pPr marL="1514475" marR="120059">
              <a:lnSpc>
                <a:spcPts val="600"/>
              </a:lnSpc>
              <a:spcBef>
                <a:spcPts val="1000"/>
              </a:spcBef>
            </a:pPr>
            <a:r>
              <a:rPr dirty="0" smtClean="0" sz="500" spc="0">
                <a:latin typeface="Comic Sans MS"/>
                <a:cs typeface="Comic Sans MS"/>
              </a:rPr>
              <a:t>Philosopher</a:t>
            </a:r>
            <a:r>
              <a:rPr dirty="0" smtClean="0" sz="500" spc="137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1</a:t>
            </a:r>
            <a:r>
              <a:rPr dirty="0" smtClean="0" sz="500" spc="16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has</a:t>
            </a:r>
            <a:r>
              <a:rPr dirty="0" smtClean="0" sz="500" spc="44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chopstick</a:t>
            </a:r>
            <a:r>
              <a:rPr dirty="0" smtClean="0" sz="500" spc="115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1</a:t>
            </a:r>
            <a:r>
              <a:rPr dirty="0" smtClean="0" sz="500" spc="16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and</a:t>
            </a:r>
            <a:r>
              <a:rPr dirty="0" smtClean="0" sz="500" spc="0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want</a:t>
            </a:r>
            <a:r>
              <a:rPr dirty="0" smtClean="0" sz="500" spc="0">
                <a:latin typeface="Comic Sans MS"/>
                <a:cs typeface="Comic Sans MS"/>
              </a:rPr>
              <a:t>s</a:t>
            </a:r>
            <a:r>
              <a:rPr dirty="0" smtClean="0" sz="500" spc="71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chopstic</a:t>
            </a:r>
            <a:r>
              <a:rPr dirty="0" smtClean="0" sz="500" spc="0">
                <a:latin typeface="Comic Sans MS"/>
                <a:cs typeface="Comic Sans MS"/>
              </a:rPr>
              <a:t>k</a:t>
            </a:r>
            <a:r>
              <a:rPr dirty="0" smtClean="0" sz="500" spc="115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0</a:t>
            </a:r>
            <a:endParaRPr sz="500">
              <a:latin typeface="Comic Sans MS"/>
              <a:cs typeface="Comic Sans MS"/>
            </a:endParaRPr>
          </a:p>
          <a:p>
            <a:pPr marL="397944" marR="683800" algn="ctr">
              <a:lnSpc>
                <a:spcPts val="746"/>
              </a:lnSpc>
              <a:spcBef>
                <a:spcPts val="523"/>
              </a:spcBef>
            </a:pPr>
            <a:r>
              <a:rPr dirty="0" smtClean="0" sz="500" spc="0">
                <a:latin typeface="Comic Sans MS"/>
                <a:cs typeface="Comic Sans MS"/>
              </a:rPr>
              <a:t>Chopstick</a:t>
            </a:r>
            <a:r>
              <a:rPr dirty="0" smtClean="0" sz="500" spc="113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0</a:t>
            </a:r>
            <a:r>
              <a:rPr dirty="0" smtClean="0" sz="500" spc="0">
                <a:latin typeface="Comic Sans MS"/>
                <a:cs typeface="Comic Sans MS"/>
              </a:rPr>
              <a:t>          </a:t>
            </a:r>
            <a:r>
              <a:rPr dirty="0" smtClean="0" sz="500" spc="99">
                <a:latin typeface="Comic Sans MS"/>
                <a:cs typeface="Comic Sans MS"/>
              </a:rPr>
              <a:t> </a:t>
            </a:r>
            <a:r>
              <a:rPr dirty="0" smtClean="0" baseline="4783" sz="750" spc="4">
                <a:latin typeface="Comic Sans MS"/>
                <a:cs typeface="Comic Sans MS"/>
              </a:rPr>
              <a:t>Philosophe</a:t>
            </a:r>
            <a:r>
              <a:rPr dirty="0" smtClean="0" baseline="4783" sz="750" spc="0">
                <a:latin typeface="Comic Sans MS"/>
                <a:cs typeface="Comic Sans MS"/>
              </a:rPr>
              <a:t>r</a:t>
            </a:r>
            <a:r>
              <a:rPr dirty="0" smtClean="0" baseline="4783" sz="750" spc="137">
                <a:latin typeface="Comic Sans MS"/>
                <a:cs typeface="Comic Sans MS"/>
              </a:rPr>
              <a:t> </a:t>
            </a:r>
            <a:r>
              <a:rPr dirty="0" smtClean="0" baseline="4783" sz="750" spc="0">
                <a:latin typeface="Comic Sans MS"/>
                <a:cs typeface="Comic Sans MS"/>
              </a:rPr>
              <a:t>1</a:t>
            </a:r>
            <a:r>
              <a:rPr dirty="0" smtClean="0" baseline="4783" sz="750" spc="0">
                <a:latin typeface="Comic Sans MS"/>
                <a:cs typeface="Comic Sans MS"/>
              </a:rPr>
              <a:t>          </a:t>
            </a:r>
            <a:r>
              <a:rPr dirty="0" smtClean="0" baseline="4783" sz="750" spc="26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Chopstick</a:t>
            </a:r>
            <a:r>
              <a:rPr dirty="0" smtClean="0" sz="500" spc="113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1</a:t>
            </a:r>
            <a:endParaRPr sz="500">
              <a:latin typeface="Comic Sans MS"/>
              <a:cs typeface="Comic Sans MS"/>
            </a:endParaRPr>
          </a:p>
          <a:p>
            <a:pPr marR="85726" algn="r">
              <a:lnSpc>
                <a:spcPct val="116129"/>
              </a:lnSpc>
              <a:spcBef>
                <a:spcPts val="578"/>
              </a:spcBef>
            </a:pPr>
            <a:r>
              <a:rPr dirty="0" smtClean="0" sz="500" spc="4">
                <a:latin typeface="Comic Sans MS"/>
                <a:cs typeface="Comic Sans MS"/>
              </a:rPr>
              <a:t>Philosopher</a:t>
            </a:r>
            <a:endParaRPr sz="500">
              <a:latin typeface="Comic Sans MS"/>
              <a:cs typeface="Comic Sans MS"/>
            </a:endParaRPr>
          </a:p>
          <a:p>
            <a:pPr marL="790575">
              <a:lnSpc>
                <a:spcPts val="750"/>
              </a:lnSpc>
              <a:spcBef>
                <a:spcPts val="37"/>
              </a:spcBef>
            </a:pP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Cycle:</a:t>
            </a:r>
            <a:r>
              <a:rPr dirty="0" smtClean="0" sz="500" spc="68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P0,</a:t>
            </a:r>
            <a:r>
              <a:rPr dirty="0" smtClean="0" sz="500" spc="35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C3,</a:t>
            </a:r>
            <a:r>
              <a:rPr dirty="0" smtClean="0" sz="500" spc="37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P3,</a:t>
            </a:r>
            <a:r>
              <a:rPr dirty="0" smtClean="0" sz="500" spc="35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C2,</a:t>
            </a:r>
            <a:r>
              <a:rPr dirty="0" smtClean="0" sz="500" spc="37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P2,</a:t>
            </a:r>
            <a:r>
              <a:rPr dirty="0" smtClean="0" sz="500" spc="0">
                <a:solidFill>
                  <a:srgbClr val="FF0000"/>
                </a:solidFill>
                <a:latin typeface="Comic Sans MS"/>
                <a:cs typeface="Comic Sans MS"/>
              </a:rPr>
              <a:t>                                  </a:t>
            </a:r>
            <a:r>
              <a:rPr dirty="0" smtClean="0" sz="500" spc="144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dirty="0" smtClean="0" baseline="14351" sz="750" spc="0">
                <a:latin typeface="Comic Sans MS"/>
                <a:cs typeface="Comic Sans MS"/>
              </a:rPr>
              <a:t>2</a:t>
            </a:r>
            <a:r>
              <a:rPr dirty="0" smtClean="0" baseline="14351" sz="750" spc="10">
                <a:latin typeface="Comic Sans MS"/>
                <a:cs typeface="Comic Sans MS"/>
              </a:rPr>
              <a:t> </a:t>
            </a:r>
            <a:r>
              <a:rPr dirty="0" smtClean="0" baseline="14351" sz="750" spc="-4">
                <a:latin typeface="Comic Sans MS"/>
                <a:cs typeface="Comic Sans MS"/>
              </a:rPr>
              <a:t>has</a:t>
            </a:r>
            <a:endParaRPr sz="500">
              <a:latin typeface="Comic Sans MS"/>
              <a:cs typeface="Comic Sans MS"/>
            </a:endParaRPr>
          </a:p>
          <a:p>
            <a:pPr marL="2228850" marR="248362" indent="-1933575">
              <a:lnSpc>
                <a:spcPts val="696"/>
              </a:lnSpc>
              <a:spcBef>
                <a:spcPts val="102"/>
              </a:spcBef>
            </a:pPr>
            <a:r>
              <a:rPr dirty="0" smtClean="0" sz="500" spc="0">
                <a:latin typeface="Comic Sans MS"/>
                <a:cs typeface="Comic Sans MS"/>
              </a:rPr>
              <a:t>Philosopher</a:t>
            </a:r>
            <a:r>
              <a:rPr dirty="0" smtClean="0" sz="500" spc="137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0</a:t>
            </a:r>
            <a:r>
              <a:rPr dirty="0" smtClean="0" sz="500" spc="0">
                <a:latin typeface="Comic Sans MS"/>
                <a:cs typeface="Comic Sans MS"/>
              </a:rPr>
              <a:t>                                                                               </a:t>
            </a:r>
            <a:r>
              <a:rPr dirty="0" smtClean="0" sz="500" spc="25">
                <a:latin typeface="Comic Sans MS"/>
                <a:cs typeface="Comic Sans MS"/>
              </a:rPr>
              <a:t> </a:t>
            </a:r>
            <a:r>
              <a:rPr dirty="0" smtClean="0" baseline="-28703" sz="750" spc="14">
                <a:latin typeface="Comic Sans MS"/>
                <a:cs typeface="Comic Sans MS"/>
              </a:rPr>
              <a:t>and</a:t>
            </a:r>
            <a:r>
              <a:rPr dirty="0" smtClean="0" baseline="-28703" sz="750" spc="14">
                <a:latin typeface="Comic Sans MS"/>
                <a:cs typeface="Comic Sans MS"/>
              </a:rPr>
              <a:t> </a:t>
            </a:r>
            <a:endParaRPr sz="500">
              <a:latin typeface="Comic Sans MS"/>
              <a:cs typeface="Comic Sans MS"/>
            </a:endParaRPr>
          </a:p>
          <a:p>
            <a:pPr marL="2228850" marR="248362">
              <a:lnSpc>
                <a:spcPct val="113574"/>
              </a:lnSpc>
              <a:spcBef>
                <a:spcPts val="278"/>
              </a:spcBef>
            </a:pPr>
            <a:r>
              <a:rPr dirty="0" smtClean="0" sz="500" spc="4">
                <a:latin typeface="Comic Sans MS"/>
                <a:cs typeface="Comic Sans MS"/>
              </a:rPr>
              <a:t>wants</a:t>
            </a:r>
            <a:endParaRPr sz="500">
              <a:latin typeface="Comic Sans MS"/>
              <a:cs typeface="Comic Sans MS"/>
            </a:endParaRPr>
          </a:p>
          <a:p>
            <a:pPr marL="453432" marR="643847" algn="ctr">
              <a:lnSpc>
                <a:spcPts val="696"/>
              </a:lnSpc>
              <a:spcBef>
                <a:spcPts val="881"/>
              </a:spcBef>
            </a:pPr>
            <a:r>
              <a:rPr dirty="0" smtClean="0" sz="500" spc="0">
                <a:latin typeface="Comic Sans MS"/>
                <a:cs typeface="Comic Sans MS"/>
              </a:rPr>
              <a:t>Chopstick</a:t>
            </a:r>
            <a:r>
              <a:rPr dirty="0" smtClean="0" sz="500" spc="113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3</a:t>
            </a:r>
            <a:r>
              <a:rPr dirty="0" smtClean="0" sz="500" spc="0">
                <a:latin typeface="Comic Sans MS"/>
                <a:cs typeface="Comic Sans MS"/>
              </a:rPr>
              <a:t>                                         </a:t>
            </a:r>
            <a:r>
              <a:rPr dirty="0" smtClean="0" sz="500" spc="129">
                <a:latin typeface="Comic Sans MS"/>
                <a:cs typeface="Comic Sans MS"/>
              </a:rPr>
              <a:t> </a:t>
            </a:r>
            <a:r>
              <a:rPr dirty="0" smtClean="0" baseline="-14351" sz="750" spc="0">
                <a:latin typeface="Comic Sans MS"/>
                <a:cs typeface="Comic Sans MS"/>
              </a:rPr>
              <a:t>Chopstick</a:t>
            </a:r>
            <a:r>
              <a:rPr dirty="0" smtClean="0" baseline="-14351" sz="750" spc="113">
                <a:latin typeface="Comic Sans MS"/>
                <a:cs typeface="Comic Sans MS"/>
              </a:rPr>
              <a:t> </a:t>
            </a:r>
            <a:r>
              <a:rPr dirty="0" smtClean="0" baseline="-14351" sz="750" spc="0">
                <a:latin typeface="Comic Sans MS"/>
                <a:cs typeface="Comic Sans MS"/>
              </a:rPr>
              <a:t>2</a:t>
            </a:r>
            <a:endParaRPr sz="500">
              <a:latin typeface="Comic Sans MS"/>
              <a:cs typeface="Comic Sans MS"/>
            </a:endParaRPr>
          </a:p>
          <a:p>
            <a:pPr marL="972899" marR="1249446" algn="ctr">
              <a:lnSpc>
                <a:spcPct val="116129"/>
              </a:lnSpc>
              <a:spcBef>
                <a:spcPts val="500"/>
              </a:spcBef>
            </a:pPr>
            <a:r>
              <a:rPr dirty="0" smtClean="0" sz="500" spc="0">
                <a:latin typeface="Comic Sans MS"/>
                <a:cs typeface="Comic Sans MS"/>
              </a:rPr>
              <a:t>Philosopher</a:t>
            </a:r>
            <a:r>
              <a:rPr dirty="0" smtClean="0" sz="500" spc="137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3</a:t>
            </a:r>
            <a:endParaRPr sz="500">
              <a:latin typeface="Comic Sans MS"/>
              <a:cs typeface="Comic Sans MS"/>
            </a:endParaRPr>
          </a:p>
          <a:p>
            <a:pPr marL="52901" marR="424664" algn="ctr">
              <a:lnSpc>
                <a:spcPts val="746"/>
              </a:lnSpc>
              <a:spcBef>
                <a:spcPts val="300"/>
              </a:spcBef>
            </a:pPr>
            <a:r>
              <a:rPr dirty="0" smtClean="0" baseline="4783" sz="750" spc="4">
                <a:latin typeface="Comic Sans MS"/>
                <a:cs typeface="Comic Sans MS"/>
              </a:rPr>
              <a:t>chopstic</a:t>
            </a:r>
            <a:r>
              <a:rPr dirty="0" smtClean="0" baseline="4783" sz="750" spc="0">
                <a:latin typeface="Comic Sans MS"/>
                <a:cs typeface="Comic Sans MS"/>
              </a:rPr>
              <a:t>k</a:t>
            </a:r>
            <a:r>
              <a:rPr dirty="0" smtClean="0" baseline="4783" sz="750" spc="115">
                <a:latin typeface="Comic Sans MS"/>
                <a:cs typeface="Comic Sans MS"/>
              </a:rPr>
              <a:t> </a:t>
            </a:r>
            <a:r>
              <a:rPr dirty="0" smtClean="0" baseline="4783" sz="750" spc="0">
                <a:latin typeface="Comic Sans MS"/>
                <a:cs typeface="Comic Sans MS"/>
              </a:rPr>
              <a:t>3</a:t>
            </a:r>
            <a:r>
              <a:rPr dirty="0" smtClean="0" baseline="4783" sz="750" spc="0">
                <a:latin typeface="Comic Sans MS"/>
                <a:cs typeface="Comic Sans MS"/>
              </a:rPr>
              <a:t>                                                         </a:t>
            </a:r>
            <a:r>
              <a:rPr dirty="0" smtClean="0" baseline="4783" sz="750" spc="80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and</a:t>
            </a:r>
            <a:r>
              <a:rPr dirty="0" smtClean="0" sz="500" spc="45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wants</a:t>
            </a:r>
            <a:r>
              <a:rPr dirty="0" smtClean="0" sz="500" spc="71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chopstick</a:t>
            </a:r>
            <a:r>
              <a:rPr dirty="0" smtClean="0" sz="500" spc="115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2</a:t>
            </a:r>
            <a:endParaRPr sz="500">
              <a:latin typeface="Comic Sans MS"/>
              <a:cs typeface="Comic Sans MS"/>
            </a:endParaRPr>
          </a:p>
          <a:p>
            <a:pPr marL="371475">
              <a:lnSpc>
                <a:spcPct val="94401"/>
              </a:lnSpc>
              <a:spcBef>
                <a:spcPts val="754"/>
              </a:spcBef>
            </a:pPr>
            <a:r>
              <a:rPr dirty="0" smtClean="0" sz="450" spc="9">
                <a:latin typeface="Courier New"/>
                <a:cs typeface="Courier New"/>
              </a:rPr>
              <a:t>wait(chopstick[i])</a:t>
            </a:r>
            <a:endParaRPr sz="450">
              <a:latin typeface="Courier New"/>
              <a:cs typeface="Courier New"/>
            </a:endParaRPr>
          </a:p>
          <a:p>
            <a:pPr marL="353774" marR="763349" algn="ctr">
              <a:lnSpc>
                <a:spcPct val="94401"/>
              </a:lnSpc>
              <a:spcBef>
                <a:spcPts val="120"/>
              </a:spcBef>
            </a:pPr>
            <a:r>
              <a:rPr dirty="0" smtClean="0" sz="450" spc="14">
                <a:latin typeface="Courier New"/>
                <a:cs typeface="Courier New"/>
              </a:rPr>
              <a:t>wait(chopstick[(</a:t>
            </a:r>
            <a:r>
              <a:rPr dirty="0" smtClean="0" sz="450" spc="-59">
                <a:latin typeface="Courier New"/>
                <a:cs typeface="Courier New"/>
              </a:rPr>
              <a:t>i</a:t>
            </a:r>
            <a:r>
              <a:rPr dirty="0" smtClean="0" sz="450" spc="29">
                <a:latin typeface="Courier New"/>
                <a:cs typeface="Courier New"/>
              </a:rPr>
              <a:t>-1</a:t>
            </a:r>
            <a:r>
              <a:rPr dirty="0" smtClean="0" sz="450" spc="0">
                <a:latin typeface="Courier New"/>
                <a:cs typeface="Courier New"/>
              </a:rPr>
              <a:t>)</a:t>
            </a:r>
            <a:r>
              <a:rPr dirty="0" smtClean="0" sz="450" spc="25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%</a:t>
            </a:r>
            <a:r>
              <a:rPr dirty="0" smtClean="0" sz="450" spc="24">
                <a:latin typeface="Courier New"/>
                <a:cs typeface="Courier New"/>
              </a:rPr>
              <a:t> </a:t>
            </a:r>
            <a:r>
              <a:rPr dirty="0" smtClean="0" sz="500" spc="-9">
                <a:latin typeface="Courier New"/>
                <a:cs typeface="Courier New"/>
              </a:rPr>
              <a:t>NUM_PHILOSOPHERS</a:t>
            </a:r>
            <a:r>
              <a:rPr dirty="0" smtClean="0" sz="450" spc="29">
                <a:latin typeface="Courier New"/>
                <a:cs typeface="Courier New"/>
              </a:rPr>
              <a:t>])</a:t>
            </a:r>
            <a:endParaRPr sz="450">
              <a:latin typeface="Courier New"/>
              <a:cs typeface="Courier New"/>
            </a:endParaRPr>
          </a:p>
          <a:p>
            <a:pPr marR="104775" algn="r">
              <a:lnSpc>
                <a:spcPct val="100000"/>
              </a:lnSpc>
              <a:spcBef>
                <a:spcPts val="45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2</a:t>
            </a:r>
            <a:r>
              <a:rPr dirty="0" smtClean="0" sz="350" spc="0">
                <a:latin typeface="Times New Roman"/>
                <a:cs typeface="Times New Roman"/>
              </a:rPr>
              <a:t>0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3400" y="904875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9" u="sng">
                <a:solidFill>
                  <a:srgbClr val="3333CC"/>
                </a:solidFill>
                <a:latin typeface="Comic Sans MS"/>
                <a:cs typeface="Comic Sans MS"/>
              </a:rPr>
              <a:t>Resource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9" u="sng">
                <a:solidFill>
                  <a:srgbClr val="3333CC"/>
                </a:solidFill>
                <a:latin typeface="Comic Sans MS"/>
                <a:cs typeface="Comic Sans MS"/>
              </a:rPr>
              <a:t>Allocation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9" u="sng">
                <a:solidFill>
                  <a:srgbClr val="3333CC"/>
                </a:solidFill>
                <a:latin typeface="Comic Sans MS"/>
                <a:cs typeface="Comic Sans MS"/>
              </a:rPr>
              <a:t>Graph</a:t>
            </a:r>
            <a:endParaRPr sz="1200">
              <a:latin typeface="Comic Sans MS"/>
              <a:cs typeface="Comic Sans MS"/>
            </a:endParaRPr>
          </a:p>
          <a:p>
            <a:pPr marL="285750" marR="581687" indent="-104775">
              <a:lnSpc>
                <a:spcPts val="900"/>
              </a:lnSpc>
              <a:spcBef>
                <a:spcPts val="1300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Deadloc</a:t>
            </a:r>
            <a:r>
              <a:rPr dirty="0" smtClean="0" sz="800" spc="0">
                <a:latin typeface="Comic Sans MS"/>
                <a:cs typeface="Comic Sans MS"/>
              </a:rPr>
              <a:t>k</a:t>
            </a:r>
            <a:r>
              <a:rPr dirty="0" smtClean="0" sz="800" spc="111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ca</a:t>
            </a:r>
            <a:r>
              <a:rPr dirty="0" smtClean="0" sz="800" spc="0">
                <a:latin typeface="Comic Sans MS"/>
                <a:cs typeface="Comic Sans MS"/>
              </a:rPr>
              <a:t>n</a:t>
            </a:r>
            <a:r>
              <a:rPr dirty="0" smtClean="0" sz="800" spc="47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b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37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describe</a:t>
            </a:r>
            <a:r>
              <a:rPr dirty="0" smtClean="0" sz="800" spc="0">
                <a:latin typeface="Comic Sans MS"/>
                <a:cs typeface="Comic Sans MS"/>
              </a:rPr>
              <a:t>d</a:t>
            </a:r>
            <a:r>
              <a:rPr dirty="0" smtClean="0" sz="800" spc="120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throug</a:t>
            </a:r>
            <a:r>
              <a:rPr dirty="0" smtClean="0" sz="800" spc="0">
                <a:latin typeface="Comic Sans MS"/>
                <a:cs typeface="Comic Sans MS"/>
              </a:rPr>
              <a:t>h</a:t>
            </a:r>
            <a:r>
              <a:rPr dirty="0" smtClean="0" sz="800" spc="98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</a:t>
            </a:r>
            <a:r>
              <a:rPr dirty="0" smtClean="0" sz="800" spc="0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resource</a:t>
            </a:r>
            <a:r>
              <a:rPr dirty="0" smtClean="0" sz="800" spc="88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allocation</a:t>
            </a:r>
            <a:r>
              <a:rPr dirty="0" smtClean="0" sz="800" spc="95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graph</a:t>
            </a:r>
            <a:endParaRPr sz="800">
              <a:latin typeface="Comic Sans MS"/>
              <a:cs typeface="Comic Sans MS"/>
            </a:endParaRPr>
          </a:p>
          <a:p>
            <a:pPr marL="285750" marR="818473" indent="-104775">
              <a:lnSpc>
                <a:spcPts val="900"/>
              </a:lnSpc>
              <a:spcBef>
                <a:spcPts val="150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Each</a:t>
            </a:r>
            <a:r>
              <a:rPr dirty="0" smtClean="0" sz="800" spc="5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node</a:t>
            </a:r>
            <a:r>
              <a:rPr dirty="0" smtClean="0" sz="800" spc="52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in</a:t>
            </a:r>
            <a:r>
              <a:rPr dirty="0" smtClean="0" sz="800" spc="19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graph</a:t>
            </a:r>
            <a:r>
              <a:rPr dirty="0" smtClean="0" sz="800" spc="6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represents</a:t>
            </a:r>
            <a:r>
              <a:rPr dirty="0" smtClean="0" sz="800" spc="122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</a:t>
            </a:r>
            <a:r>
              <a:rPr dirty="0" smtClean="0" sz="800" spc="0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process/thread</a:t>
            </a:r>
            <a:r>
              <a:rPr dirty="0" smtClean="0" sz="800" spc="159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or</a:t>
            </a:r>
            <a:r>
              <a:rPr dirty="0" smtClean="0" sz="800" spc="9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</a:t>
            </a:r>
            <a:r>
              <a:rPr dirty="0" smtClean="0" sz="800" spc="-2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resource</a:t>
            </a:r>
            <a:endParaRPr sz="800">
              <a:latin typeface="Comic Sans MS"/>
              <a:cs typeface="Comic Sans MS"/>
            </a:endParaRPr>
          </a:p>
          <a:p>
            <a:pPr marL="285750" marR="456092" indent="-104775">
              <a:lnSpc>
                <a:spcPts val="900"/>
              </a:lnSpc>
              <a:spcBef>
                <a:spcPts val="150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A</a:t>
            </a:r>
            <a:r>
              <a:rPr dirty="0" smtClean="0" sz="800" spc="0">
                <a:latin typeface="Comic Sans MS"/>
                <a:cs typeface="Comic Sans MS"/>
              </a:rPr>
              <a:t>n</a:t>
            </a:r>
            <a:r>
              <a:rPr dirty="0" smtClean="0" sz="800" spc="20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edg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43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fro</a:t>
            </a:r>
            <a:r>
              <a:rPr dirty="0" smtClean="0" sz="800" spc="0">
                <a:latin typeface="Comic Sans MS"/>
                <a:cs typeface="Comic Sans MS"/>
              </a:rPr>
              <a:t>m</a:t>
            </a:r>
            <a:r>
              <a:rPr dirty="0" smtClean="0" sz="800" spc="44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nod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42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P</a:t>
            </a:r>
            <a:r>
              <a:rPr dirty="0" smtClean="0" sz="800" spc="2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t</a:t>
            </a:r>
            <a:r>
              <a:rPr dirty="0" smtClean="0" sz="800" spc="0">
                <a:latin typeface="Comic Sans MS"/>
                <a:cs typeface="Comic Sans MS"/>
              </a:rPr>
              <a:t>o</a:t>
            </a:r>
            <a:r>
              <a:rPr dirty="0" smtClean="0" sz="800" spc="1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R</a:t>
            </a:r>
            <a:r>
              <a:rPr dirty="0" smtClean="0" sz="800" spc="5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indicate</a:t>
            </a:r>
            <a:r>
              <a:rPr dirty="0" smtClean="0" sz="800" spc="0">
                <a:latin typeface="Comic Sans MS"/>
                <a:cs typeface="Comic Sans MS"/>
              </a:rPr>
              <a:t>s</a:t>
            </a:r>
            <a:r>
              <a:rPr dirty="0" smtClean="0" sz="800" spc="90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that</a:t>
            </a:r>
            <a:r>
              <a:rPr dirty="0" smtClean="0" sz="800" spc="-4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proces</a:t>
            </a:r>
            <a:r>
              <a:rPr dirty="0" smtClean="0" sz="800" spc="0">
                <a:latin typeface="Comic Sans MS"/>
                <a:cs typeface="Comic Sans MS"/>
              </a:rPr>
              <a:t>s</a:t>
            </a:r>
            <a:r>
              <a:rPr dirty="0" smtClean="0" sz="800" spc="85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P</a:t>
            </a:r>
            <a:r>
              <a:rPr dirty="0" smtClean="0" sz="800" spc="12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ha</a:t>
            </a:r>
            <a:r>
              <a:rPr dirty="0" smtClean="0" sz="800" spc="0">
                <a:latin typeface="Comic Sans MS"/>
                <a:cs typeface="Comic Sans MS"/>
              </a:rPr>
              <a:t>d</a:t>
            </a:r>
            <a:r>
              <a:rPr dirty="0" smtClean="0" sz="800" spc="40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requeste</a:t>
            </a:r>
            <a:r>
              <a:rPr dirty="0" smtClean="0" sz="800" spc="0">
                <a:latin typeface="Comic Sans MS"/>
                <a:cs typeface="Comic Sans MS"/>
              </a:rPr>
              <a:t>d</a:t>
            </a:r>
            <a:r>
              <a:rPr dirty="0" smtClean="0" sz="800" spc="112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resourc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98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R</a:t>
            </a:r>
            <a:endParaRPr sz="800">
              <a:latin typeface="Comic Sans MS"/>
              <a:cs typeface="Comic Sans MS"/>
            </a:endParaRPr>
          </a:p>
          <a:p>
            <a:pPr marL="285750" marR="427479" indent="-104775">
              <a:lnSpc>
                <a:spcPts val="900"/>
              </a:lnSpc>
              <a:spcBef>
                <a:spcPts val="225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A</a:t>
            </a:r>
            <a:r>
              <a:rPr dirty="0" smtClean="0" sz="800" spc="0">
                <a:latin typeface="Comic Sans MS"/>
                <a:cs typeface="Comic Sans MS"/>
              </a:rPr>
              <a:t>n</a:t>
            </a:r>
            <a:r>
              <a:rPr dirty="0" smtClean="0" sz="800" spc="20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edg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43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fro</a:t>
            </a:r>
            <a:r>
              <a:rPr dirty="0" smtClean="0" sz="800" spc="0">
                <a:latin typeface="Comic Sans MS"/>
                <a:cs typeface="Comic Sans MS"/>
              </a:rPr>
              <a:t>m</a:t>
            </a:r>
            <a:r>
              <a:rPr dirty="0" smtClean="0" sz="800" spc="44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nod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42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R</a:t>
            </a:r>
            <a:r>
              <a:rPr dirty="0" smtClean="0" sz="800" spc="5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t</a:t>
            </a:r>
            <a:r>
              <a:rPr dirty="0" smtClean="0" sz="800" spc="0">
                <a:latin typeface="Comic Sans MS"/>
                <a:cs typeface="Comic Sans MS"/>
              </a:rPr>
              <a:t>o</a:t>
            </a:r>
            <a:r>
              <a:rPr dirty="0" smtClean="0" sz="800" spc="13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nod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42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P</a:t>
            </a:r>
            <a:r>
              <a:rPr dirty="0" smtClean="0" sz="800" spc="2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indicates</a:t>
            </a:r>
            <a:r>
              <a:rPr dirty="0" smtClean="0" sz="800" spc="-4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that</a:t>
            </a:r>
            <a:r>
              <a:rPr dirty="0" smtClean="0" sz="800" spc="3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process</a:t>
            </a:r>
            <a:r>
              <a:rPr dirty="0" smtClean="0" sz="800" spc="70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P</a:t>
            </a:r>
            <a:r>
              <a:rPr dirty="0" smtClean="0" sz="800" spc="-2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holds</a:t>
            </a:r>
            <a:r>
              <a:rPr dirty="0" smtClean="0" sz="800" spc="4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resource</a:t>
            </a:r>
            <a:r>
              <a:rPr dirty="0" smtClean="0" sz="800" spc="8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R</a:t>
            </a:r>
            <a:endParaRPr sz="800">
              <a:latin typeface="Comic Sans MS"/>
              <a:cs typeface="Comic Sans MS"/>
            </a:endParaRPr>
          </a:p>
          <a:p>
            <a:pPr marL="285750" marR="335953" indent="-104775">
              <a:lnSpc>
                <a:spcPts val="900"/>
              </a:lnSpc>
              <a:spcBef>
                <a:spcPts val="150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I</a:t>
            </a:r>
            <a:r>
              <a:rPr dirty="0" smtClean="0" sz="800" spc="0">
                <a:latin typeface="Comic Sans MS"/>
                <a:cs typeface="Comic Sans MS"/>
              </a:rPr>
              <a:t>f</a:t>
            </a:r>
            <a:r>
              <a:rPr dirty="0" smtClean="0" sz="800" spc="15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grap</a:t>
            </a:r>
            <a:r>
              <a:rPr dirty="0" smtClean="0" sz="800" spc="0">
                <a:latin typeface="Comic Sans MS"/>
                <a:cs typeface="Comic Sans MS"/>
              </a:rPr>
              <a:t>h</a:t>
            </a:r>
            <a:r>
              <a:rPr dirty="0" smtClean="0" sz="800" spc="53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ha</a:t>
            </a:r>
            <a:r>
              <a:rPr dirty="0" smtClean="0" sz="800" spc="0">
                <a:latin typeface="Comic Sans MS"/>
                <a:cs typeface="Comic Sans MS"/>
              </a:rPr>
              <a:t>s</a:t>
            </a:r>
            <a:r>
              <a:rPr dirty="0" smtClean="0" sz="800" spc="27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cycle</a:t>
            </a:r>
            <a:r>
              <a:rPr dirty="0" smtClean="0" sz="800" spc="0">
                <a:latin typeface="Comic Sans MS"/>
                <a:cs typeface="Comic Sans MS"/>
              </a:rPr>
              <a:t>,</a:t>
            </a:r>
            <a:r>
              <a:rPr dirty="0" smtClean="0" sz="800" spc="53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deadloc</a:t>
            </a:r>
            <a:r>
              <a:rPr dirty="0" smtClean="0" sz="800" spc="0">
                <a:latin typeface="Comic Sans MS"/>
                <a:cs typeface="Comic Sans MS"/>
              </a:rPr>
              <a:t>k</a:t>
            </a:r>
            <a:r>
              <a:rPr dirty="0" smtClean="0" sz="800" spc="87">
                <a:latin typeface="Comic Sans MS"/>
                <a:cs typeface="Comic Sans MS"/>
              </a:rPr>
              <a:t> </a:t>
            </a:r>
            <a:r>
              <a:rPr dirty="0" smtClean="0" sz="800" spc="0" i="1">
                <a:latin typeface="Comic Sans MS"/>
                <a:cs typeface="Comic Sans MS"/>
              </a:rPr>
              <a:t>may</a:t>
            </a:r>
            <a:r>
              <a:rPr dirty="0" smtClean="0" sz="800" spc="33" i="1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exist</a:t>
            </a:r>
            <a:r>
              <a:rPr dirty="0" smtClean="0" sz="800" spc="0">
                <a:latin typeface="Comic Sans MS"/>
                <a:cs typeface="Comic Sans MS"/>
              </a:rPr>
              <a:t>.</a:t>
            </a:r>
            <a:r>
              <a:rPr dirty="0" smtClean="0" sz="800" spc="82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If</a:t>
            </a:r>
            <a:r>
              <a:rPr dirty="0" smtClean="0" sz="800" spc="-4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grap</a:t>
            </a:r>
            <a:r>
              <a:rPr dirty="0" smtClean="0" sz="800" spc="0">
                <a:latin typeface="Comic Sans MS"/>
                <a:cs typeface="Comic Sans MS"/>
              </a:rPr>
              <a:t>h</a:t>
            </a:r>
            <a:r>
              <a:rPr dirty="0" smtClean="0" sz="800" spc="53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ha</a:t>
            </a:r>
            <a:r>
              <a:rPr dirty="0" smtClean="0" sz="800" spc="0">
                <a:latin typeface="Comic Sans MS"/>
                <a:cs typeface="Comic Sans MS"/>
              </a:rPr>
              <a:t>s</a:t>
            </a:r>
            <a:r>
              <a:rPr dirty="0" smtClean="0" sz="800" spc="27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n</a:t>
            </a:r>
            <a:r>
              <a:rPr dirty="0" smtClean="0" sz="800" spc="0">
                <a:latin typeface="Comic Sans MS"/>
                <a:cs typeface="Comic Sans MS"/>
              </a:rPr>
              <a:t>o</a:t>
            </a:r>
            <a:r>
              <a:rPr dirty="0" smtClean="0" sz="800" spc="15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cycle</a:t>
            </a:r>
            <a:r>
              <a:rPr dirty="0" smtClean="0" sz="800" spc="0">
                <a:latin typeface="Comic Sans MS"/>
                <a:cs typeface="Comic Sans MS"/>
              </a:rPr>
              <a:t>,</a:t>
            </a:r>
            <a:r>
              <a:rPr dirty="0" smtClean="0" sz="800" spc="53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deadloc</a:t>
            </a:r>
            <a:r>
              <a:rPr dirty="0" smtClean="0" sz="800" spc="0">
                <a:latin typeface="Comic Sans MS"/>
                <a:cs typeface="Comic Sans MS"/>
              </a:rPr>
              <a:t>k</a:t>
            </a:r>
            <a:r>
              <a:rPr dirty="0" smtClean="0" sz="800" spc="87">
                <a:latin typeface="Comic Sans MS"/>
                <a:cs typeface="Comic Sans MS"/>
              </a:rPr>
              <a:t> </a:t>
            </a:r>
            <a:r>
              <a:rPr dirty="0" smtClean="0" sz="800" spc="-4" b="1">
                <a:latin typeface="Comic Sans MS"/>
                <a:cs typeface="Comic Sans MS"/>
              </a:rPr>
              <a:t>canno</a:t>
            </a:r>
            <a:r>
              <a:rPr dirty="0" smtClean="0" sz="800" spc="0" b="1">
                <a:latin typeface="Comic Sans MS"/>
                <a:cs typeface="Comic Sans MS"/>
              </a:rPr>
              <a:t>t</a:t>
            </a:r>
            <a:r>
              <a:rPr dirty="0" smtClean="0" sz="800" spc="-50" b="1">
                <a:latin typeface="Comic Sans MS"/>
                <a:cs typeface="Comic Sans MS"/>
              </a:rPr>
              <a:t> </a:t>
            </a:r>
            <a:r>
              <a:rPr dirty="0" smtClean="0" sz="800" spc="-25">
                <a:latin typeface="Comic Sans MS"/>
                <a:cs typeface="Comic Sans MS"/>
              </a:rPr>
              <a:t>exist.</a:t>
            </a:r>
            <a:endParaRPr sz="800">
              <a:latin typeface="Comic Sans MS"/>
              <a:cs typeface="Comic Sans MS"/>
            </a:endParaRPr>
          </a:p>
          <a:p>
            <a:pPr marR="114300" algn="r">
              <a:lnSpc>
                <a:spcPct val="100000"/>
              </a:lnSpc>
              <a:spcBef>
                <a:spcPts val="1473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1</a:t>
            </a:r>
            <a:r>
              <a:rPr dirty="0" smtClean="0" sz="350" spc="0">
                <a:latin typeface="Times New Roman"/>
                <a:cs typeface="Times New Roman"/>
              </a:rPr>
              <a:t>9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/>
          <p:cNvSpPr/>
          <p:nvPr/>
        </p:nvSpPr>
        <p:spPr>
          <a:xfrm>
            <a:off x="2476500" y="12096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533400" y="904875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5581650" y="12096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3629025" y="904875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2362200" y="38671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533400" y="3562350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5457825" y="38671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3629025" y="3562350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2038350" y="652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533400" y="6219825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5048250" y="652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3629025" y="6219825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016375" y="2346389"/>
            <a:ext cx="996950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750"/>
              </a:lnSpc>
              <a:spcBef>
                <a:spcPts val="37"/>
              </a:spcBef>
            </a:pPr>
            <a:r>
              <a:rPr dirty="0" smtClean="0" sz="600" spc="0">
                <a:latin typeface="Comic Sans MS"/>
                <a:cs typeface="Comic Sans MS"/>
              </a:rPr>
              <a:t>arbitrary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points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in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the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code</a:t>
            </a:r>
            <a:endParaRPr sz="6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16375" y="4260914"/>
            <a:ext cx="739786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750"/>
              </a:lnSpc>
              <a:spcBef>
                <a:spcPts val="37"/>
              </a:spcBef>
            </a:pPr>
            <a:r>
              <a:rPr dirty="0" smtClean="0" sz="600" spc="-4">
                <a:latin typeface="Comic Sans MS"/>
                <a:cs typeface="Comic Sans MS"/>
              </a:rPr>
              <a:t>necessar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conditions</a:t>
            </a:r>
            <a:endParaRPr sz="6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02075" y="7181541"/>
            <a:ext cx="1983005" cy="1301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985"/>
              </a:lnSpc>
              <a:spcBef>
                <a:spcPts val="49"/>
              </a:spcBef>
            </a:pPr>
            <a:r>
              <a:rPr dirty="0" smtClean="0" baseline="2989" sz="1200" spc="-4">
                <a:latin typeface="Comic Sans MS"/>
                <a:cs typeface="Comic Sans MS"/>
              </a:rPr>
              <a:t>syste</a:t>
            </a:r>
            <a:r>
              <a:rPr dirty="0" smtClean="0" baseline="2989" sz="1200" spc="0">
                <a:latin typeface="Comic Sans MS"/>
                <a:cs typeface="Comic Sans MS"/>
              </a:rPr>
              <a:t>m</a:t>
            </a:r>
            <a:r>
              <a:rPr dirty="0" smtClean="0" baseline="2989" sz="1200" spc="68">
                <a:latin typeface="Comic Sans MS"/>
                <a:cs typeface="Comic Sans MS"/>
              </a:rPr>
              <a:t> </a:t>
            </a:r>
            <a:r>
              <a:rPr dirty="0" smtClean="0" baseline="2989" sz="1200" spc="-4">
                <a:latin typeface="Comic Sans MS"/>
                <a:cs typeface="Comic Sans MS"/>
              </a:rPr>
              <a:t>wil</a:t>
            </a:r>
            <a:r>
              <a:rPr dirty="0" smtClean="0" baseline="2989" sz="1200" spc="0">
                <a:latin typeface="Comic Sans MS"/>
                <a:cs typeface="Comic Sans MS"/>
              </a:rPr>
              <a:t>l</a:t>
            </a:r>
            <a:r>
              <a:rPr dirty="0" smtClean="0" baseline="2989" sz="1200" spc="26">
                <a:latin typeface="Comic Sans MS"/>
                <a:cs typeface="Comic Sans MS"/>
              </a:rPr>
              <a:t> </a:t>
            </a:r>
            <a:r>
              <a:rPr dirty="0" smtClean="0" baseline="2989" sz="1200" spc="-4">
                <a:latin typeface="Comic Sans MS"/>
                <a:cs typeface="Comic Sans MS"/>
              </a:rPr>
              <a:t>gran</a:t>
            </a:r>
            <a:r>
              <a:rPr dirty="0" smtClean="0" baseline="2989" sz="1200" spc="0">
                <a:latin typeface="Comic Sans MS"/>
                <a:cs typeface="Comic Sans MS"/>
              </a:rPr>
              <a:t>t</a:t>
            </a:r>
            <a:r>
              <a:rPr dirty="0" smtClean="0" baseline="2989" sz="1200" spc="50">
                <a:latin typeface="Comic Sans MS"/>
                <a:cs typeface="Comic Sans MS"/>
              </a:rPr>
              <a:t> </a:t>
            </a:r>
            <a:r>
              <a:rPr dirty="0" smtClean="0" baseline="2989" sz="1200" spc="-4">
                <a:latin typeface="Comic Sans MS"/>
                <a:cs typeface="Comic Sans MS"/>
              </a:rPr>
              <a:t>th</a:t>
            </a:r>
            <a:r>
              <a:rPr dirty="0" smtClean="0" baseline="2989" sz="1200" spc="0">
                <a:latin typeface="Comic Sans MS"/>
                <a:cs typeface="Comic Sans MS"/>
              </a:rPr>
              <a:t>e</a:t>
            </a:r>
            <a:r>
              <a:rPr dirty="0" smtClean="0" baseline="2989" sz="1200" spc="28">
                <a:latin typeface="Comic Sans MS"/>
                <a:cs typeface="Comic Sans MS"/>
              </a:rPr>
              <a:t> </a:t>
            </a:r>
            <a:r>
              <a:rPr dirty="0" smtClean="0" baseline="2989" sz="1200" spc="-4">
                <a:latin typeface="Comic Sans MS"/>
                <a:cs typeface="Comic Sans MS"/>
              </a:rPr>
              <a:t>reques</a:t>
            </a:r>
            <a:r>
              <a:rPr dirty="0" smtClean="0" baseline="2989" sz="1200" spc="0">
                <a:latin typeface="Comic Sans MS"/>
                <a:cs typeface="Comic Sans MS"/>
              </a:rPr>
              <a:t>t</a:t>
            </a:r>
            <a:r>
              <a:rPr dirty="0" smtClean="0" baseline="2989" sz="1200" spc="75">
                <a:latin typeface="Comic Sans MS"/>
                <a:cs typeface="Comic Sans MS"/>
              </a:rPr>
              <a:t> </a:t>
            </a:r>
            <a:r>
              <a:rPr dirty="0" smtClean="0" baseline="2989" sz="1200" spc="-4">
                <a:latin typeface="Comic Sans MS"/>
                <a:cs typeface="Comic Sans MS"/>
              </a:rPr>
              <a:t>onl</a:t>
            </a:r>
            <a:r>
              <a:rPr dirty="0" smtClean="0" baseline="2989" sz="1200" spc="0">
                <a:latin typeface="Comic Sans MS"/>
                <a:cs typeface="Comic Sans MS"/>
              </a:rPr>
              <a:t>y</a:t>
            </a:r>
            <a:r>
              <a:rPr dirty="0" smtClean="0" baseline="2989" sz="1200" spc="34">
                <a:latin typeface="Comic Sans MS"/>
                <a:cs typeface="Comic Sans MS"/>
              </a:rPr>
              <a:t> </a:t>
            </a:r>
            <a:r>
              <a:rPr dirty="0" smtClean="0" baseline="2989" sz="1200" spc="-4">
                <a:latin typeface="Comic Sans MS"/>
                <a:cs typeface="Comic Sans MS"/>
              </a:rPr>
              <a:t>i</a:t>
            </a:r>
            <a:r>
              <a:rPr dirty="0" smtClean="0" baseline="2989" sz="1200" spc="0">
                <a:latin typeface="Comic Sans MS"/>
                <a:cs typeface="Comic Sans MS"/>
              </a:rPr>
              <a:t>f</a:t>
            </a:r>
            <a:r>
              <a:rPr dirty="0" smtClean="0" baseline="2989" sz="1200" spc="8">
                <a:latin typeface="Comic Sans MS"/>
                <a:cs typeface="Comic Sans MS"/>
              </a:rPr>
              <a:t> </a:t>
            </a:r>
            <a:r>
              <a:rPr dirty="0" smtClean="0" baseline="2989" sz="1200" spc="-4">
                <a:latin typeface="Comic Sans MS"/>
                <a:cs typeface="Comic Sans MS"/>
              </a:rPr>
              <a:t>the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02075" y="7629216"/>
            <a:ext cx="1059152" cy="1301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985"/>
              </a:lnSpc>
              <a:spcBef>
                <a:spcPts val="49"/>
              </a:spcBef>
            </a:pPr>
            <a:r>
              <a:rPr dirty="0" smtClean="0" baseline="2989" sz="1200" spc="-4">
                <a:latin typeface="Comic Sans MS"/>
                <a:cs typeface="Comic Sans MS"/>
              </a:rPr>
              <a:t>processe</a:t>
            </a:r>
            <a:r>
              <a:rPr dirty="0" smtClean="0" baseline="2989" sz="1200" spc="0">
                <a:latin typeface="Comic Sans MS"/>
                <a:cs typeface="Comic Sans MS"/>
              </a:rPr>
              <a:t>s</a:t>
            </a:r>
            <a:r>
              <a:rPr dirty="0" smtClean="0" baseline="2989" sz="1200" spc="90">
                <a:latin typeface="Comic Sans MS"/>
                <a:cs typeface="Comic Sans MS"/>
              </a:rPr>
              <a:t> </a:t>
            </a:r>
            <a:r>
              <a:rPr dirty="0" smtClean="0" baseline="2989" sz="1200" spc="29">
                <a:latin typeface="Comic Sans MS"/>
                <a:cs typeface="Comic Sans MS"/>
              </a:rPr>
              <a:t>P</a:t>
            </a:r>
            <a:r>
              <a:rPr dirty="0" smtClean="0" baseline="2989" sz="1200" spc="0">
                <a:latin typeface="Comic Sans MS"/>
                <a:cs typeface="Comic Sans MS"/>
              </a:rPr>
              <a:t>j</a:t>
            </a:r>
            <a:r>
              <a:rPr dirty="0" smtClean="0" baseline="2989" sz="1200" spc="-32">
                <a:latin typeface="Comic Sans MS"/>
                <a:cs typeface="Comic Sans MS"/>
              </a:rPr>
              <a:t> </a:t>
            </a:r>
            <a:r>
              <a:rPr dirty="0" smtClean="0" baseline="2989" sz="1200" spc="9">
                <a:latin typeface="Comic Sans MS"/>
                <a:cs typeface="Comic Sans MS"/>
              </a:rPr>
              <a:t>fo</a:t>
            </a:r>
            <a:r>
              <a:rPr dirty="0" smtClean="0" baseline="2989" sz="1200" spc="0">
                <a:latin typeface="Comic Sans MS"/>
                <a:cs typeface="Comic Sans MS"/>
              </a:rPr>
              <a:t>r</a:t>
            </a:r>
            <a:r>
              <a:rPr dirty="0" smtClean="0" baseline="2989" sz="1200" spc="31">
                <a:latin typeface="Comic Sans MS"/>
                <a:cs typeface="Comic Sans MS"/>
              </a:rPr>
              <a:t> </a:t>
            </a:r>
            <a:r>
              <a:rPr dirty="0" smtClean="0" baseline="2989" sz="1200" spc="0">
                <a:latin typeface="Comic Sans MS"/>
                <a:cs typeface="Comic Sans MS"/>
              </a:rPr>
              <a:t>j</a:t>
            </a:r>
            <a:r>
              <a:rPr dirty="0" smtClean="0" baseline="2989" sz="1200" spc="4">
                <a:latin typeface="Comic Sans MS"/>
                <a:cs typeface="Comic Sans MS"/>
              </a:rPr>
              <a:t> </a:t>
            </a:r>
            <a:r>
              <a:rPr dirty="0" smtClean="0" baseline="2989" sz="1200" spc="0">
                <a:latin typeface="Comic Sans MS"/>
                <a:cs typeface="Comic Sans MS"/>
              </a:rPr>
              <a:t>&lt;</a:t>
            </a:r>
            <a:r>
              <a:rPr dirty="0" smtClean="0" baseline="2989" sz="1200" spc="4">
                <a:latin typeface="Comic Sans MS"/>
                <a:cs typeface="Comic Sans MS"/>
              </a:rPr>
              <a:t> </a:t>
            </a:r>
            <a:r>
              <a:rPr dirty="0" smtClean="0" baseline="2989" sz="1200" spc="0">
                <a:latin typeface="Comic Sans MS"/>
                <a:cs typeface="Comic Sans MS"/>
              </a:rPr>
              <a:t>I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3850" y="8934579"/>
            <a:ext cx="141224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00"/>
              </a:lnSpc>
              <a:spcBef>
                <a:spcPts val="70"/>
              </a:spcBef>
            </a:pPr>
            <a:r>
              <a:rPr dirty="0" smtClean="0" baseline="1993" sz="1800" spc="0">
                <a:latin typeface="Comic Sans MS"/>
                <a:cs typeface="Comic Sans MS"/>
              </a:rPr>
              <a:t>5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29025" y="6219825"/>
            <a:ext cx="2676525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Grant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0" u="sng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dirty="0" smtClean="0" sz="1200" spc="-39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resource?</a:t>
            </a:r>
            <a:endParaRPr sz="1200">
              <a:latin typeface="Comic Sans MS"/>
              <a:cs typeface="Comic Sans MS"/>
            </a:endParaRPr>
          </a:p>
          <a:p>
            <a:pPr marL="285750" marR="275612" indent="-104775">
              <a:lnSpc>
                <a:spcPts val="1114"/>
              </a:lnSpc>
              <a:spcBef>
                <a:spcPts val="1292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Consider</a:t>
            </a:r>
            <a:r>
              <a:rPr dirty="0" smtClean="0" sz="800" spc="96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</a:t>
            </a:r>
            <a:r>
              <a:rPr dirty="0" smtClean="0" sz="800" spc="12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set</a:t>
            </a:r>
            <a:r>
              <a:rPr dirty="0" smtClean="0" sz="800" spc="36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of</a:t>
            </a:r>
            <a:r>
              <a:rPr dirty="0" smtClean="0" sz="800" spc="24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processes</a:t>
            </a:r>
            <a:r>
              <a:rPr dirty="0" smtClean="0" sz="800" spc="110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P1,</a:t>
            </a:r>
            <a:r>
              <a:rPr dirty="0" smtClean="0" sz="800" spc="29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P2,</a:t>
            </a:r>
            <a:r>
              <a:rPr dirty="0" smtClean="0" sz="800" spc="33">
                <a:latin typeface="Comic Sans MS"/>
                <a:cs typeface="Comic Sans MS"/>
              </a:rPr>
              <a:t> </a:t>
            </a:r>
            <a:r>
              <a:rPr dirty="0" smtClean="0" sz="800" spc="-150">
                <a:latin typeface="Comic Sans MS"/>
                <a:cs typeface="Comic Sans MS"/>
              </a:rPr>
              <a:t>…</a:t>
            </a:r>
            <a:r>
              <a:rPr dirty="0" smtClean="0" sz="800" spc="19">
                <a:latin typeface="Comic Sans MS"/>
                <a:cs typeface="Comic Sans MS"/>
              </a:rPr>
              <a:t>Pn</a:t>
            </a:r>
            <a:r>
              <a:rPr dirty="0" smtClean="0" sz="800" spc="19">
                <a:latin typeface="Comic Sans MS"/>
                <a:cs typeface="Comic Sans MS"/>
              </a:rPr>
              <a:t> </a:t>
            </a:r>
            <a:endParaRPr sz="800">
              <a:latin typeface="Comic Sans MS"/>
              <a:cs typeface="Comic Sans MS"/>
            </a:endParaRPr>
          </a:p>
          <a:p>
            <a:pPr marL="285750" marR="275612">
              <a:lnSpc>
                <a:spcPts val="1114"/>
              </a:lnSpc>
            </a:pPr>
            <a:r>
              <a:rPr dirty="0" smtClean="0" sz="800" spc="-4">
                <a:latin typeface="Comic Sans MS"/>
                <a:cs typeface="Comic Sans MS"/>
              </a:rPr>
              <a:t>whic</a:t>
            </a:r>
            <a:r>
              <a:rPr dirty="0" smtClean="0" sz="800" spc="0">
                <a:latin typeface="Comic Sans MS"/>
                <a:cs typeface="Comic Sans MS"/>
              </a:rPr>
              <a:t>h</a:t>
            </a:r>
            <a:r>
              <a:rPr dirty="0" smtClean="0" sz="800" spc="58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eac</a:t>
            </a:r>
            <a:r>
              <a:rPr dirty="0" smtClean="0" sz="800" spc="0">
                <a:latin typeface="Comic Sans MS"/>
                <a:cs typeface="Comic Sans MS"/>
              </a:rPr>
              <a:t>h</a:t>
            </a:r>
            <a:r>
              <a:rPr dirty="0" smtClean="0" sz="800" spc="46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declar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77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th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33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maximu</a:t>
            </a:r>
            <a:r>
              <a:rPr dirty="0" smtClean="0" sz="800" spc="0">
                <a:latin typeface="Comic Sans MS"/>
                <a:cs typeface="Comic Sans MS"/>
              </a:rPr>
              <a:t>m</a:t>
            </a:r>
            <a:r>
              <a:rPr dirty="0" smtClean="0" sz="800" spc="96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resources</a:t>
            </a:r>
            <a:r>
              <a:rPr dirty="0" smtClean="0" sz="800" spc="-4">
                <a:latin typeface="Comic Sans MS"/>
                <a:cs typeface="Comic Sans MS"/>
              </a:rPr>
              <a:t> </a:t>
            </a:r>
            <a:endParaRPr sz="800">
              <a:latin typeface="Comic Sans MS"/>
              <a:cs typeface="Comic Sans MS"/>
            </a:endParaRPr>
          </a:p>
          <a:p>
            <a:pPr marL="285750" marR="275612">
              <a:lnSpc>
                <a:spcPts val="1114"/>
              </a:lnSpc>
            </a:pPr>
            <a:r>
              <a:rPr dirty="0" smtClean="0" sz="800" spc="-9">
                <a:latin typeface="Comic Sans MS"/>
                <a:cs typeface="Comic Sans MS"/>
              </a:rPr>
              <a:t>the</a:t>
            </a:r>
            <a:r>
              <a:rPr dirty="0" smtClean="0" sz="800" spc="0">
                <a:latin typeface="Comic Sans MS"/>
                <a:cs typeface="Comic Sans MS"/>
              </a:rPr>
              <a:t>y</a:t>
            </a:r>
            <a:r>
              <a:rPr dirty="0" smtClean="0" sz="800" spc="75">
                <a:latin typeface="Comic Sans MS"/>
                <a:cs typeface="Comic Sans MS"/>
              </a:rPr>
              <a:t> </a:t>
            </a:r>
            <a:r>
              <a:rPr dirty="0" smtClean="0" sz="800" spc="-9">
                <a:latin typeface="Comic Sans MS"/>
                <a:cs typeface="Comic Sans MS"/>
              </a:rPr>
              <a:t>migh</a:t>
            </a:r>
            <a:r>
              <a:rPr dirty="0" smtClean="0" sz="800" spc="0">
                <a:latin typeface="Comic Sans MS"/>
                <a:cs typeface="Comic Sans MS"/>
              </a:rPr>
              <a:t>t</a:t>
            </a:r>
            <a:r>
              <a:rPr dirty="0" smtClean="0" sz="800" spc="88">
                <a:latin typeface="Comic Sans MS"/>
                <a:cs typeface="Comic Sans MS"/>
              </a:rPr>
              <a:t> </a:t>
            </a:r>
            <a:r>
              <a:rPr dirty="0" smtClean="0" sz="800" spc="-9">
                <a:latin typeface="Comic Sans MS"/>
                <a:cs typeface="Comic Sans MS"/>
              </a:rPr>
              <a:t>eve</a:t>
            </a:r>
            <a:r>
              <a:rPr dirty="0" smtClean="0" sz="800" spc="0">
                <a:latin typeface="Comic Sans MS"/>
                <a:cs typeface="Comic Sans MS"/>
              </a:rPr>
              <a:t>r</a:t>
            </a:r>
            <a:r>
              <a:rPr dirty="0" smtClean="0" sz="800" spc="74">
                <a:latin typeface="Comic Sans MS"/>
                <a:cs typeface="Comic Sans MS"/>
              </a:rPr>
              <a:t> </a:t>
            </a:r>
            <a:r>
              <a:rPr dirty="0" smtClean="0" sz="800" spc="-9">
                <a:latin typeface="Comic Sans MS"/>
                <a:cs typeface="Comic Sans MS"/>
              </a:rPr>
              <a:t>request</a:t>
            </a:r>
            <a:endParaRPr sz="80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Whe</a:t>
            </a:r>
            <a:r>
              <a:rPr dirty="0" smtClean="0" sz="800" spc="0">
                <a:latin typeface="Comic Sans MS"/>
                <a:cs typeface="Comic Sans MS"/>
              </a:rPr>
              <a:t>n</a:t>
            </a:r>
            <a:r>
              <a:rPr dirty="0" smtClean="0" sz="800" spc="59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P</a:t>
            </a:r>
            <a:r>
              <a:rPr dirty="0" smtClean="0" sz="800" spc="0">
                <a:latin typeface="Comic Sans MS"/>
                <a:cs typeface="Comic Sans MS"/>
              </a:rPr>
              <a:t>i</a:t>
            </a:r>
            <a:r>
              <a:rPr dirty="0" smtClean="0" sz="800" spc="14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actuall</a:t>
            </a:r>
            <a:r>
              <a:rPr dirty="0" smtClean="0" sz="800" spc="0">
                <a:latin typeface="Comic Sans MS"/>
                <a:cs typeface="Comic Sans MS"/>
              </a:rPr>
              <a:t>y</a:t>
            </a:r>
            <a:r>
              <a:rPr dirty="0" smtClean="0" sz="800" spc="81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request</a:t>
            </a:r>
            <a:r>
              <a:rPr dirty="0" smtClean="0" sz="800" spc="0">
                <a:latin typeface="Comic Sans MS"/>
                <a:cs typeface="Comic Sans MS"/>
              </a:rPr>
              <a:t>s</a:t>
            </a:r>
            <a:r>
              <a:rPr dirty="0" smtClean="0" sz="800" spc="92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</a:t>
            </a:r>
            <a:r>
              <a:rPr dirty="0" smtClean="0" sz="800" spc="7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resource</a:t>
            </a:r>
            <a:r>
              <a:rPr dirty="0" smtClean="0" sz="800" spc="0">
                <a:latin typeface="Comic Sans MS"/>
                <a:cs typeface="Comic Sans MS"/>
              </a:rPr>
              <a:t>,</a:t>
            </a:r>
            <a:r>
              <a:rPr dirty="0" smtClean="0" sz="800" spc="99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the</a:t>
            </a:r>
            <a:endParaRPr sz="800">
              <a:latin typeface="Comic Sans MS"/>
              <a:cs typeface="Comic Sans MS"/>
            </a:endParaRPr>
          </a:p>
          <a:p>
            <a:pPr marL="285750" marR="324027">
              <a:lnSpc>
                <a:spcPts val="1114"/>
              </a:lnSpc>
              <a:spcBef>
                <a:spcPts val="884"/>
              </a:spcBef>
            </a:pPr>
            <a:r>
              <a:rPr dirty="0" smtClean="0" sz="800" spc="0">
                <a:latin typeface="Comic Sans MS"/>
                <a:cs typeface="Comic Sans MS"/>
              </a:rPr>
              <a:t>system</a:t>
            </a:r>
            <a:r>
              <a:rPr dirty="0" smtClean="0" sz="800" spc="6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could</a:t>
            </a:r>
            <a:r>
              <a:rPr dirty="0" smtClean="0" sz="800" spc="4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grant</a:t>
            </a:r>
            <a:r>
              <a:rPr dirty="0" smtClean="0" sz="800" spc="45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Pi's</a:t>
            </a:r>
            <a:r>
              <a:rPr dirty="0" smtClean="0" sz="800" spc="8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maximum</a:t>
            </a:r>
            <a:r>
              <a:rPr dirty="0" smtClean="0" sz="800" spc="86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resource</a:t>
            </a:r>
            <a:r>
              <a:rPr dirty="0" smtClean="0" sz="800" spc="0">
                <a:latin typeface="Comic Sans MS"/>
                <a:cs typeface="Comic Sans MS"/>
              </a:rPr>
              <a:t> </a:t>
            </a:r>
            <a:endParaRPr sz="800">
              <a:latin typeface="Comic Sans MS"/>
              <a:cs typeface="Comic Sans MS"/>
            </a:endParaRPr>
          </a:p>
          <a:p>
            <a:pPr marL="285750" marR="324027">
              <a:lnSpc>
                <a:spcPts val="1114"/>
              </a:lnSpc>
            </a:pPr>
            <a:r>
              <a:rPr dirty="0" smtClean="0" sz="800" spc="-4">
                <a:latin typeface="Comic Sans MS"/>
                <a:cs typeface="Comic Sans MS"/>
              </a:rPr>
              <a:t>request</a:t>
            </a:r>
            <a:r>
              <a:rPr dirty="0" smtClean="0" sz="800" spc="0">
                <a:latin typeface="Comic Sans MS"/>
                <a:cs typeface="Comic Sans MS"/>
              </a:rPr>
              <a:t>s</a:t>
            </a:r>
            <a:r>
              <a:rPr dirty="0" smtClean="0" sz="800" spc="122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wit</a:t>
            </a:r>
            <a:r>
              <a:rPr dirty="0" smtClean="0" sz="800" spc="0">
                <a:latin typeface="Comic Sans MS"/>
                <a:cs typeface="Comic Sans MS"/>
              </a:rPr>
              <a:t>h</a:t>
            </a:r>
            <a:r>
              <a:rPr dirty="0" smtClean="0" sz="800" spc="73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th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63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resourc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123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currently</a:t>
            </a:r>
            <a:r>
              <a:rPr dirty="0" smtClean="0" sz="800" spc="-4">
                <a:latin typeface="Comic Sans MS"/>
                <a:cs typeface="Comic Sans MS"/>
              </a:rPr>
              <a:t> </a:t>
            </a:r>
            <a:endParaRPr sz="800">
              <a:latin typeface="Comic Sans MS"/>
              <a:cs typeface="Comic Sans MS"/>
            </a:endParaRPr>
          </a:p>
          <a:p>
            <a:pPr marL="285750" marR="324027">
              <a:lnSpc>
                <a:spcPts val="1114"/>
              </a:lnSpc>
            </a:pPr>
            <a:r>
              <a:rPr dirty="0" smtClean="0" sz="800" spc="-4">
                <a:latin typeface="Comic Sans MS"/>
                <a:cs typeface="Comic Sans MS"/>
              </a:rPr>
              <a:t>availabl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95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plu</a:t>
            </a:r>
            <a:r>
              <a:rPr dirty="0" smtClean="0" sz="800" spc="0">
                <a:latin typeface="Comic Sans MS"/>
                <a:cs typeface="Comic Sans MS"/>
              </a:rPr>
              <a:t>s</a:t>
            </a:r>
            <a:r>
              <a:rPr dirty="0" smtClean="0" sz="800" spc="43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th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38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resource</a:t>
            </a:r>
            <a:r>
              <a:rPr dirty="0" smtClean="0" sz="800" spc="0">
                <a:latin typeface="Comic Sans MS"/>
                <a:cs typeface="Comic Sans MS"/>
              </a:rPr>
              <a:t>s</a:t>
            </a:r>
            <a:r>
              <a:rPr dirty="0" smtClean="0" sz="800" spc="109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hel</a:t>
            </a:r>
            <a:r>
              <a:rPr dirty="0" smtClean="0" sz="800" spc="0">
                <a:latin typeface="Comic Sans MS"/>
                <a:cs typeface="Comic Sans MS"/>
              </a:rPr>
              <a:t>d</a:t>
            </a:r>
            <a:r>
              <a:rPr dirty="0" smtClean="0" sz="800" spc="47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b</a:t>
            </a:r>
            <a:r>
              <a:rPr dirty="0" smtClean="0" sz="800" spc="0">
                <a:latin typeface="Comic Sans MS"/>
                <a:cs typeface="Comic Sans MS"/>
              </a:rPr>
              <a:t>y</a:t>
            </a:r>
            <a:r>
              <a:rPr dirty="0" smtClean="0" sz="800" spc="26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al</a:t>
            </a:r>
            <a:r>
              <a:rPr dirty="0" smtClean="0" sz="800" spc="0">
                <a:latin typeface="Comic Sans MS"/>
                <a:cs typeface="Comic Sans MS"/>
              </a:rPr>
              <a:t>l</a:t>
            </a:r>
            <a:r>
              <a:rPr dirty="0" smtClean="0" sz="800" spc="25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the</a:t>
            </a:r>
            <a:endParaRPr sz="800">
              <a:latin typeface="Comic Sans MS"/>
              <a:cs typeface="Comic Sans MS"/>
            </a:endParaRPr>
          </a:p>
          <a:p>
            <a:pPr marL="285750" marR="446529" indent="-104775">
              <a:lnSpc>
                <a:spcPts val="900"/>
              </a:lnSpc>
              <a:spcBef>
                <a:spcPts val="917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Ma</a:t>
            </a:r>
            <a:r>
              <a:rPr dirty="0" smtClean="0" sz="800" spc="0">
                <a:latin typeface="Comic Sans MS"/>
                <a:cs typeface="Comic Sans MS"/>
              </a:rPr>
              <a:t>y</a:t>
            </a:r>
            <a:r>
              <a:rPr dirty="0" smtClean="0" sz="800" spc="35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nee</a:t>
            </a:r>
            <a:r>
              <a:rPr dirty="0" smtClean="0" sz="800" spc="0">
                <a:latin typeface="Comic Sans MS"/>
                <a:cs typeface="Comic Sans MS"/>
              </a:rPr>
              <a:t>d</a:t>
            </a:r>
            <a:r>
              <a:rPr dirty="0" smtClean="0" sz="800" spc="42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P</a:t>
            </a:r>
            <a:r>
              <a:rPr dirty="0" smtClean="0" sz="800" spc="0">
                <a:latin typeface="Comic Sans MS"/>
                <a:cs typeface="Comic Sans MS"/>
              </a:rPr>
              <a:t>1</a:t>
            </a:r>
            <a:r>
              <a:rPr dirty="0" smtClean="0" sz="800" spc="13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t</a:t>
            </a:r>
            <a:r>
              <a:rPr dirty="0" smtClean="0" sz="800" spc="0">
                <a:latin typeface="Comic Sans MS"/>
                <a:cs typeface="Comic Sans MS"/>
              </a:rPr>
              <a:t>o</a:t>
            </a:r>
            <a:r>
              <a:rPr dirty="0" smtClean="0" sz="800" spc="13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complet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90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the</a:t>
            </a:r>
            <a:r>
              <a:rPr dirty="0" smtClean="0" sz="800" spc="0">
                <a:latin typeface="Comic Sans MS"/>
                <a:cs typeface="Comic Sans MS"/>
              </a:rPr>
              <a:t>n</a:t>
            </a:r>
            <a:r>
              <a:rPr dirty="0" smtClean="0" sz="800" spc="40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P</a:t>
            </a:r>
            <a:r>
              <a:rPr dirty="0" smtClean="0" sz="800" spc="0">
                <a:latin typeface="Comic Sans MS"/>
                <a:cs typeface="Comic Sans MS"/>
              </a:rPr>
              <a:t>2</a:t>
            </a:r>
            <a:r>
              <a:rPr dirty="0" smtClean="0" sz="800" spc="17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al</a:t>
            </a:r>
            <a:r>
              <a:rPr dirty="0" smtClean="0" sz="800" spc="0">
                <a:latin typeface="Comic Sans MS"/>
                <a:cs typeface="Comic Sans MS"/>
              </a:rPr>
              <a:t>l</a:t>
            </a:r>
            <a:r>
              <a:rPr dirty="0" smtClean="0" sz="800" spc="15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the</a:t>
            </a:r>
            <a:r>
              <a:rPr dirty="0" smtClean="0" sz="800" spc="-4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way</a:t>
            </a:r>
            <a:r>
              <a:rPr dirty="0" smtClean="0" sz="800" spc="16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to</a:t>
            </a:r>
            <a:r>
              <a:rPr dirty="0" smtClean="0" sz="800" spc="-1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Pi</a:t>
            </a:r>
            <a:r>
              <a:rPr dirty="0" smtClean="0" sz="800" spc="-5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but</a:t>
            </a:r>
            <a:r>
              <a:rPr dirty="0" smtClean="0" sz="800" spc="12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Pi</a:t>
            </a:r>
            <a:r>
              <a:rPr dirty="0" smtClean="0" sz="800" spc="-5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can</a:t>
            </a:r>
            <a:r>
              <a:rPr dirty="0" smtClean="0" sz="800" spc="12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complete</a:t>
            </a:r>
            <a:endParaRPr sz="800">
              <a:latin typeface="Comic Sans MS"/>
              <a:cs typeface="Comic Sans MS"/>
            </a:endParaRPr>
          </a:p>
          <a:p>
            <a:pPr marR="104775" algn="r">
              <a:lnSpc>
                <a:spcPct val="100000"/>
              </a:lnSpc>
              <a:spcBef>
                <a:spcPts val="948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3</a:t>
            </a:r>
            <a:r>
              <a:rPr dirty="0" smtClean="0" sz="350" spc="0">
                <a:latin typeface="Times New Roman"/>
                <a:cs typeface="Times New Roman"/>
              </a:rPr>
              <a:t>0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3400" y="6219825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Deadlock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avoidance</a:t>
            </a:r>
            <a:endParaRPr sz="1200">
              <a:latin typeface="Comic Sans MS"/>
              <a:cs typeface="Comic Sans MS"/>
            </a:endParaRPr>
          </a:p>
          <a:p>
            <a:pPr marL="285750" marR="331182" indent="-104775">
              <a:lnSpc>
                <a:spcPts val="1114"/>
              </a:lnSpc>
              <a:spcBef>
                <a:spcPts val="1278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Sa</a:t>
            </a:r>
            <a:r>
              <a:rPr dirty="0" smtClean="0" sz="800" spc="0">
                <a:latin typeface="Comic Sans MS"/>
                <a:cs typeface="Comic Sans MS"/>
              </a:rPr>
              <a:t>y</a:t>
            </a:r>
            <a:r>
              <a:rPr dirty="0" smtClean="0" sz="800" spc="31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w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19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don'</a:t>
            </a:r>
            <a:r>
              <a:rPr dirty="0" smtClean="0" sz="800" spc="0">
                <a:latin typeface="Comic Sans MS"/>
                <a:cs typeface="Comic Sans MS"/>
              </a:rPr>
              <a:t>t</a:t>
            </a:r>
            <a:r>
              <a:rPr dirty="0" smtClean="0" sz="800" spc="25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wan</a:t>
            </a:r>
            <a:r>
              <a:rPr dirty="0" smtClean="0" sz="800" spc="0">
                <a:latin typeface="Comic Sans MS"/>
                <a:cs typeface="Comic Sans MS"/>
              </a:rPr>
              <a:t>t</a:t>
            </a:r>
            <a:r>
              <a:rPr dirty="0" smtClean="0" sz="800" spc="42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t</a:t>
            </a:r>
            <a:r>
              <a:rPr dirty="0" smtClean="0" sz="800" spc="0">
                <a:latin typeface="Comic Sans MS"/>
                <a:cs typeface="Comic Sans MS"/>
              </a:rPr>
              <a:t>o</a:t>
            </a:r>
            <a:r>
              <a:rPr dirty="0" smtClean="0" sz="800" spc="13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writ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49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th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28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cod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42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such</a:t>
            </a:r>
            <a:r>
              <a:rPr dirty="0" smtClean="0" sz="800" spc="-4">
                <a:latin typeface="Comic Sans MS"/>
                <a:cs typeface="Comic Sans MS"/>
              </a:rPr>
              <a:t> </a:t>
            </a:r>
            <a:endParaRPr sz="800">
              <a:latin typeface="Comic Sans MS"/>
              <a:cs typeface="Comic Sans MS"/>
            </a:endParaRPr>
          </a:p>
          <a:p>
            <a:pPr marL="285750" marR="331182">
              <a:lnSpc>
                <a:spcPts val="1114"/>
              </a:lnSpc>
            </a:pPr>
            <a:r>
              <a:rPr dirty="0" smtClean="0" sz="800" spc="0">
                <a:latin typeface="Comic Sans MS"/>
                <a:cs typeface="Comic Sans MS"/>
              </a:rPr>
              <a:t>that</a:t>
            </a:r>
            <a:r>
              <a:rPr dirty="0" smtClean="0" sz="800" spc="3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it</a:t>
            </a:r>
            <a:r>
              <a:rPr dirty="0" smtClean="0" sz="800" spc="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is</a:t>
            </a:r>
            <a:r>
              <a:rPr dirty="0" smtClean="0" sz="800" spc="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impossible</a:t>
            </a:r>
            <a:r>
              <a:rPr dirty="0" smtClean="0" sz="800" spc="99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to</a:t>
            </a:r>
            <a:r>
              <a:rPr dirty="0" smtClean="0" sz="800" spc="8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deadlock</a:t>
            </a:r>
            <a:r>
              <a:rPr dirty="0" smtClean="0" sz="800" spc="8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could</a:t>
            </a:r>
            <a:r>
              <a:rPr dirty="0" smtClean="0" sz="800" spc="4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still</a:t>
            </a:r>
            <a:r>
              <a:rPr dirty="0" smtClean="0" sz="800" spc="0">
                <a:latin typeface="Comic Sans MS"/>
                <a:cs typeface="Comic Sans MS"/>
              </a:rPr>
              <a:t> </a:t>
            </a:r>
            <a:endParaRPr sz="800">
              <a:latin typeface="Comic Sans MS"/>
              <a:cs typeface="Comic Sans MS"/>
            </a:endParaRPr>
          </a:p>
          <a:p>
            <a:pPr marL="285750" marR="331182">
              <a:lnSpc>
                <a:spcPts val="1114"/>
              </a:lnSpc>
            </a:pPr>
            <a:r>
              <a:rPr dirty="0" smtClean="0" sz="800" spc="-4">
                <a:latin typeface="Comic Sans MS"/>
                <a:cs typeface="Comic Sans MS"/>
              </a:rPr>
              <a:t>preven</a:t>
            </a:r>
            <a:r>
              <a:rPr dirty="0" smtClean="0" sz="800" spc="0">
                <a:latin typeface="Comic Sans MS"/>
                <a:cs typeface="Comic Sans MS"/>
              </a:rPr>
              <a:t>t</a:t>
            </a:r>
            <a:r>
              <a:rPr dirty="0" smtClean="0" sz="800" spc="81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deadloc</a:t>
            </a:r>
            <a:r>
              <a:rPr dirty="0" smtClean="0" sz="800" spc="0">
                <a:latin typeface="Comic Sans MS"/>
                <a:cs typeface="Comic Sans MS"/>
              </a:rPr>
              <a:t>k</a:t>
            </a:r>
            <a:r>
              <a:rPr dirty="0" smtClean="0" sz="800" spc="92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b</a:t>
            </a:r>
            <a:r>
              <a:rPr dirty="0" smtClean="0" sz="800" spc="0">
                <a:latin typeface="Comic Sans MS"/>
                <a:cs typeface="Comic Sans MS"/>
              </a:rPr>
              <a:t>y</a:t>
            </a:r>
            <a:r>
              <a:rPr dirty="0" smtClean="0" sz="800" spc="21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havin</a:t>
            </a:r>
            <a:r>
              <a:rPr dirty="0" smtClean="0" sz="800" spc="0">
                <a:latin typeface="Comic Sans MS"/>
                <a:cs typeface="Comic Sans MS"/>
              </a:rPr>
              <a:t>g</a:t>
            </a:r>
            <a:r>
              <a:rPr dirty="0" smtClean="0" sz="800" spc="64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th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33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system</a:t>
            </a:r>
            <a:r>
              <a:rPr dirty="0" smtClean="0" sz="800" spc="-4">
                <a:latin typeface="Comic Sans MS"/>
                <a:cs typeface="Comic Sans MS"/>
              </a:rPr>
              <a:t> </a:t>
            </a:r>
            <a:endParaRPr sz="800">
              <a:latin typeface="Comic Sans MS"/>
              <a:cs typeface="Comic Sans MS"/>
            </a:endParaRPr>
          </a:p>
          <a:p>
            <a:pPr marL="285750" marR="331182">
              <a:lnSpc>
                <a:spcPts val="1114"/>
              </a:lnSpc>
            </a:pPr>
            <a:r>
              <a:rPr dirty="0" smtClean="0" sz="800" spc="0">
                <a:latin typeface="Comic Sans MS"/>
                <a:cs typeface="Comic Sans MS"/>
              </a:rPr>
              <a:t>examine</a:t>
            </a:r>
            <a:r>
              <a:rPr dirty="0" smtClean="0" sz="800" spc="90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each</a:t>
            </a:r>
            <a:r>
              <a:rPr dirty="0" smtClean="0" sz="800" spc="51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request</a:t>
            </a:r>
            <a:r>
              <a:rPr dirty="0" smtClean="0" sz="800" spc="85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and</a:t>
            </a:r>
            <a:r>
              <a:rPr dirty="0" smtClean="0" sz="800" spc="38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only</a:t>
            </a:r>
            <a:r>
              <a:rPr dirty="0" smtClean="0" sz="800" spc="44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grant</a:t>
            </a:r>
            <a:r>
              <a:rPr dirty="0" smtClean="0" sz="800" spc="60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if</a:t>
            </a:r>
            <a:r>
              <a:rPr dirty="0" smtClean="0" sz="800" spc="0">
                <a:latin typeface="Comic Sans MS"/>
                <a:cs typeface="Comic Sans MS"/>
              </a:rPr>
              <a:t> </a:t>
            </a:r>
            <a:endParaRPr sz="800">
              <a:latin typeface="Comic Sans MS"/>
              <a:cs typeface="Comic Sans MS"/>
            </a:endParaRPr>
          </a:p>
          <a:p>
            <a:pPr marL="285750" marR="331182">
              <a:lnSpc>
                <a:spcPts val="1114"/>
              </a:lnSpc>
            </a:pPr>
            <a:r>
              <a:rPr dirty="0" smtClean="0" sz="800" spc="0">
                <a:latin typeface="Comic Sans MS"/>
                <a:cs typeface="Comic Sans MS"/>
              </a:rPr>
              <a:t>deadlock</a:t>
            </a:r>
            <a:r>
              <a:rPr dirty="0" smtClean="0" sz="800" spc="8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can</a:t>
            </a:r>
            <a:r>
              <a:rPr dirty="0" smtClean="0" sz="800" spc="22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be</a:t>
            </a:r>
            <a:r>
              <a:rPr dirty="0" smtClean="0" sz="800" spc="12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avoided</a:t>
            </a:r>
            <a:endParaRPr sz="800">
              <a:latin typeface="Comic Sans MS"/>
              <a:cs typeface="Comic Sans MS"/>
            </a:endParaRPr>
          </a:p>
          <a:p>
            <a:pPr marL="285750" marR="285453" indent="-104775">
              <a:lnSpc>
                <a:spcPts val="1114"/>
              </a:lnSpc>
              <a:spcBef>
                <a:spcPts val="50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Processe</a:t>
            </a:r>
            <a:r>
              <a:rPr dirty="0" smtClean="0" sz="800" spc="0">
                <a:latin typeface="Comic Sans MS"/>
                <a:cs typeface="Comic Sans MS"/>
              </a:rPr>
              <a:t>s</a:t>
            </a:r>
            <a:r>
              <a:rPr dirty="0" smtClean="0" sz="800" spc="105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declar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77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maximu</a:t>
            </a:r>
            <a:r>
              <a:rPr dirty="0" smtClean="0" sz="800" spc="0">
                <a:latin typeface="Comic Sans MS"/>
                <a:cs typeface="Comic Sans MS"/>
              </a:rPr>
              <a:t>m</a:t>
            </a:r>
            <a:r>
              <a:rPr dirty="0" smtClean="0" sz="800" spc="96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resource</a:t>
            </a:r>
            <a:r>
              <a:rPr dirty="0" smtClean="0" sz="800" spc="0">
                <a:latin typeface="Comic Sans MS"/>
                <a:cs typeface="Comic Sans MS"/>
              </a:rPr>
              <a:t>s</a:t>
            </a:r>
            <a:r>
              <a:rPr dirty="0" smtClean="0" sz="800" spc="104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they</a:t>
            </a:r>
            <a:r>
              <a:rPr dirty="0" smtClean="0" sz="800" spc="-4">
                <a:latin typeface="Comic Sans MS"/>
                <a:cs typeface="Comic Sans MS"/>
              </a:rPr>
              <a:t> </a:t>
            </a:r>
            <a:endParaRPr sz="800">
              <a:latin typeface="Comic Sans MS"/>
              <a:cs typeface="Comic Sans MS"/>
            </a:endParaRPr>
          </a:p>
          <a:p>
            <a:pPr marL="285750" marR="285453">
              <a:lnSpc>
                <a:spcPts val="1114"/>
              </a:lnSpc>
            </a:pPr>
            <a:r>
              <a:rPr dirty="0" smtClean="0" sz="800" spc="0">
                <a:latin typeface="Comic Sans MS"/>
                <a:cs typeface="Comic Sans MS"/>
              </a:rPr>
              <a:t>may</a:t>
            </a:r>
            <a:r>
              <a:rPr dirty="0" smtClean="0" sz="800" spc="4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ever</a:t>
            </a:r>
            <a:r>
              <a:rPr dirty="0" smtClean="0" sz="800" spc="49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request</a:t>
            </a:r>
            <a:r>
              <a:rPr dirty="0" smtClean="0" sz="800" spc="85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at</a:t>
            </a:r>
            <a:r>
              <a:rPr dirty="0" smtClean="0" sz="800" spc="2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the</a:t>
            </a:r>
            <a:r>
              <a:rPr dirty="0" smtClean="0" sz="800" spc="38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beginning</a:t>
            </a:r>
            <a:endParaRPr sz="800">
              <a:latin typeface="Comic Sans MS"/>
              <a:cs typeface="Comic Sans MS"/>
            </a:endParaRPr>
          </a:p>
          <a:p>
            <a:pPr marL="285750" marR="453408" indent="-104775" algn="just">
              <a:lnSpc>
                <a:spcPts val="900"/>
              </a:lnSpc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Then</a:t>
            </a:r>
            <a:r>
              <a:rPr dirty="0" smtClean="0" sz="800" spc="55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during</a:t>
            </a:r>
            <a:r>
              <a:rPr dirty="0" smtClean="0" sz="800" spc="70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execution,</a:t>
            </a:r>
            <a:r>
              <a:rPr dirty="0" smtClean="0" sz="800" spc="114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system</a:t>
            </a:r>
            <a:r>
              <a:rPr dirty="0" smtClean="0" sz="800" spc="78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will</a:t>
            </a:r>
            <a:r>
              <a:rPr dirty="0" smtClean="0" sz="800" spc="36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only</a:t>
            </a:r>
            <a:r>
              <a:rPr dirty="0" smtClean="0" sz="800" spc="0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grant</a:t>
            </a:r>
            <a:r>
              <a:rPr dirty="0" smtClean="0" sz="800" spc="45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</a:t>
            </a:r>
            <a:r>
              <a:rPr dirty="0" smtClean="0" sz="800" spc="-2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request</a:t>
            </a:r>
            <a:r>
              <a:rPr dirty="0" smtClean="0" sz="800" spc="70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if</a:t>
            </a:r>
            <a:r>
              <a:rPr dirty="0" smtClean="0" sz="800" spc="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it</a:t>
            </a:r>
            <a:r>
              <a:rPr dirty="0" smtClean="0" sz="800" spc="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can</a:t>
            </a:r>
            <a:r>
              <a:rPr dirty="0" smtClean="0" sz="800" spc="22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ensure</a:t>
            </a:r>
            <a:r>
              <a:rPr dirty="0" smtClean="0" sz="800" spc="59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that</a:t>
            </a:r>
            <a:r>
              <a:rPr dirty="0" smtClean="0" sz="800" spc="3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all</a:t>
            </a:r>
            <a:r>
              <a:rPr dirty="0" smtClean="0" sz="800" spc="0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processes</a:t>
            </a:r>
            <a:r>
              <a:rPr dirty="0" smtClean="0" sz="800" spc="80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can</a:t>
            </a:r>
            <a:r>
              <a:rPr dirty="0" smtClean="0" sz="800" spc="7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run</a:t>
            </a:r>
            <a:r>
              <a:rPr dirty="0" smtClean="0" sz="800" spc="6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to</a:t>
            </a:r>
            <a:r>
              <a:rPr dirty="0" smtClean="0" sz="800" spc="-6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completion</a:t>
            </a:r>
            <a:r>
              <a:rPr dirty="0" smtClean="0" sz="800" spc="89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without</a:t>
            </a:r>
            <a:r>
              <a:rPr dirty="0" smtClean="0" sz="800" spc="0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deadlock</a:t>
            </a:r>
            <a:endParaRPr sz="800">
              <a:latin typeface="Comic Sans MS"/>
              <a:cs typeface="Comic Sans MS"/>
            </a:endParaRPr>
          </a:p>
          <a:p>
            <a:pPr marR="114300" algn="r">
              <a:lnSpc>
                <a:spcPct val="100000"/>
              </a:lnSpc>
              <a:spcBef>
                <a:spcPts val="948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2</a:t>
            </a:r>
            <a:r>
              <a:rPr dirty="0" smtClean="0" sz="350" spc="0">
                <a:latin typeface="Times New Roman"/>
                <a:cs typeface="Times New Roman"/>
              </a:rPr>
              <a:t>9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29025" y="3562350"/>
            <a:ext cx="2676525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Prevention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vs</a:t>
            </a:r>
            <a:r>
              <a:rPr dirty="0" smtClean="0" sz="1200" spc="-59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9" u="sng">
                <a:solidFill>
                  <a:srgbClr val="3333CC"/>
                </a:solidFill>
                <a:latin typeface="Comic Sans MS"/>
                <a:cs typeface="Comic Sans MS"/>
              </a:rPr>
              <a:t>Avoidance</a:t>
            </a:r>
            <a:endParaRPr sz="1200">
              <a:latin typeface="Comic Sans MS"/>
              <a:cs typeface="Comic Sans MS"/>
            </a:endParaRPr>
          </a:p>
          <a:p>
            <a:pPr marL="180975">
              <a:lnSpc>
                <a:spcPts val="880"/>
              </a:lnSpc>
              <a:spcBef>
                <a:spcPts val="1227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Bot</a:t>
            </a:r>
            <a:r>
              <a:rPr dirty="0" smtClean="0" sz="650" spc="0">
                <a:latin typeface="Comic Sans MS"/>
                <a:cs typeface="Comic Sans MS"/>
              </a:rPr>
              <a:t>h</a:t>
            </a:r>
            <a:r>
              <a:rPr dirty="0" smtClean="0" sz="650" spc="82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actuall</a:t>
            </a:r>
            <a:r>
              <a:rPr dirty="0" smtClean="0" sz="650" spc="0">
                <a:latin typeface="Comic Sans MS"/>
                <a:cs typeface="Comic Sans MS"/>
              </a:rPr>
              <a:t>y</a:t>
            </a:r>
            <a:r>
              <a:rPr dirty="0" smtClean="0" sz="650" spc="133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preven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109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deadlock</a:t>
            </a:r>
            <a:endParaRPr sz="650">
              <a:latin typeface="Comic Sans MS"/>
              <a:cs typeface="Comic Sans MS"/>
            </a:endParaRPr>
          </a:p>
          <a:p>
            <a:pPr marL="314325">
              <a:lnSpc>
                <a:spcPts val="835"/>
              </a:lnSpc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Deadloc</a:t>
            </a:r>
            <a:r>
              <a:rPr dirty="0" smtClean="0" sz="600" spc="0">
                <a:latin typeface="Comic Sans MS"/>
                <a:cs typeface="Comic Sans MS"/>
              </a:rPr>
              <a:t>k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Preventio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doe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s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b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breakin</a:t>
            </a:r>
            <a:r>
              <a:rPr dirty="0" smtClean="0" sz="600" spc="0">
                <a:latin typeface="Comic Sans MS"/>
                <a:cs typeface="Comic Sans MS"/>
              </a:rPr>
              <a:t>g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on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</a:t>
            </a:r>
            <a:r>
              <a:rPr dirty="0" smtClean="0" sz="600" spc="0">
                <a:latin typeface="Comic Sans MS"/>
                <a:cs typeface="Comic Sans MS"/>
              </a:rPr>
              <a:t>f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four</a:t>
            </a:r>
            <a:endParaRPr sz="600">
              <a:latin typeface="Comic Sans MS"/>
              <a:cs typeface="Comic Sans MS"/>
            </a:endParaRPr>
          </a:p>
          <a:p>
            <a:pPr marL="400050" marR="261482" indent="-85725">
              <a:lnSpc>
                <a:spcPts val="836"/>
              </a:lnSpc>
              <a:spcBef>
                <a:spcPts val="804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Deadloc</a:t>
            </a:r>
            <a:r>
              <a:rPr dirty="0" smtClean="0" sz="600" spc="0">
                <a:latin typeface="Comic Sans MS"/>
                <a:cs typeface="Comic Sans MS"/>
              </a:rPr>
              <a:t>k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Avoidanc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allow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processe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mak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an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request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endParaRPr sz="600">
              <a:latin typeface="Comic Sans MS"/>
              <a:cs typeface="Comic Sans MS"/>
            </a:endParaRPr>
          </a:p>
          <a:p>
            <a:pPr marL="400050" marR="261482">
              <a:lnSpc>
                <a:spcPts val="836"/>
              </a:lnSpc>
            </a:pPr>
            <a:r>
              <a:rPr dirty="0" smtClean="0" sz="600" spc="-4">
                <a:latin typeface="Comic Sans MS"/>
                <a:cs typeface="Comic Sans MS"/>
              </a:rPr>
              <a:t>the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wan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(no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constraine</a:t>
            </a:r>
            <a:r>
              <a:rPr dirty="0" smtClean="0" sz="600" spc="0">
                <a:latin typeface="Comic Sans MS"/>
                <a:cs typeface="Comic Sans MS"/>
              </a:rPr>
              <a:t>d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i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way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s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brea</a:t>
            </a:r>
            <a:r>
              <a:rPr dirty="0" smtClean="0" sz="600" spc="0">
                <a:latin typeface="Comic Sans MS"/>
                <a:cs typeface="Comic Sans MS"/>
              </a:rPr>
              <a:t>k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on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of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endParaRPr sz="600">
              <a:latin typeface="Comic Sans MS"/>
              <a:cs typeface="Comic Sans MS"/>
            </a:endParaRPr>
          </a:p>
          <a:p>
            <a:pPr marL="400050" marR="261482">
              <a:lnSpc>
                <a:spcPts val="836"/>
              </a:lnSpc>
            </a:pPr>
            <a:r>
              <a:rPr dirty="0" smtClean="0" sz="600" spc="-4">
                <a:latin typeface="Comic Sans MS"/>
                <a:cs typeface="Comic Sans MS"/>
              </a:rPr>
              <a:t>th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fou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conditions</a:t>
            </a:r>
            <a:r>
              <a:rPr dirty="0" smtClean="0" sz="600" spc="0">
                <a:latin typeface="Comic Sans MS"/>
                <a:cs typeface="Comic Sans MS"/>
              </a:rPr>
              <a:t>)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*a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lon</a:t>
            </a:r>
            <a:r>
              <a:rPr dirty="0" smtClean="0" sz="600" spc="0">
                <a:latin typeface="Comic Sans MS"/>
                <a:cs typeface="Comic Sans MS"/>
              </a:rPr>
              <a:t>g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as</a:t>
            </a:r>
            <a:r>
              <a:rPr dirty="0" smtClean="0" sz="600" spc="0">
                <a:latin typeface="Comic Sans MS"/>
                <a:cs typeface="Comic Sans MS"/>
              </a:rPr>
              <a:t>*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the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declar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their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endParaRPr sz="600">
              <a:latin typeface="Comic Sans MS"/>
              <a:cs typeface="Comic Sans MS"/>
            </a:endParaRPr>
          </a:p>
          <a:p>
            <a:pPr marL="400050" marR="261482">
              <a:lnSpc>
                <a:spcPts val="836"/>
              </a:lnSpc>
            </a:pPr>
            <a:r>
              <a:rPr dirty="0" smtClean="0" sz="600" spc="-4">
                <a:latin typeface="Comic Sans MS"/>
                <a:cs typeface="Comic Sans MS"/>
              </a:rPr>
              <a:t>maximu</a:t>
            </a:r>
            <a:r>
              <a:rPr dirty="0" smtClean="0" sz="600" spc="0">
                <a:latin typeface="Comic Sans MS"/>
                <a:cs typeface="Comic Sans MS"/>
              </a:rPr>
              <a:t>m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possibl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resourc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request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outset</a:t>
            </a:r>
            <a:endParaRPr sz="600">
              <a:latin typeface="Comic Sans MS"/>
              <a:cs typeface="Comic Sans MS"/>
            </a:endParaRPr>
          </a:p>
          <a:p>
            <a:pPr marL="285750" marR="410201" indent="-104775">
              <a:lnSpc>
                <a:spcPts val="830"/>
              </a:lnSpc>
              <a:spcBef>
                <a:spcPts val="145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Bot</a:t>
            </a:r>
            <a:r>
              <a:rPr dirty="0" smtClean="0" sz="650" spc="0">
                <a:latin typeface="Comic Sans MS"/>
                <a:cs typeface="Comic Sans MS"/>
              </a:rPr>
              <a:t>h</a:t>
            </a:r>
            <a:r>
              <a:rPr dirty="0" smtClean="0" sz="650" spc="72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ca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6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den</a:t>
            </a:r>
            <a:r>
              <a:rPr dirty="0" smtClean="0" sz="650" spc="0">
                <a:latin typeface="Comic Sans MS"/>
                <a:cs typeface="Comic Sans MS"/>
              </a:rPr>
              <a:t>y</a:t>
            </a:r>
            <a:r>
              <a:rPr dirty="0" smtClean="0" sz="650" spc="72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resourc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09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request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109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tha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69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woul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8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not</a:t>
            </a:r>
            <a:r>
              <a:rPr dirty="0" smtClean="0" sz="650" spc="4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actuall</a:t>
            </a:r>
            <a:r>
              <a:rPr dirty="0" smtClean="0" sz="650" spc="0">
                <a:latin typeface="Comic Sans MS"/>
                <a:cs typeface="Comic Sans MS"/>
              </a:rPr>
              <a:t>y</a:t>
            </a:r>
            <a:r>
              <a:rPr dirty="0" smtClean="0" sz="650" spc="148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lea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104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t</a:t>
            </a:r>
            <a:r>
              <a:rPr dirty="0" smtClean="0" sz="650" spc="0">
                <a:latin typeface="Comic Sans MS"/>
                <a:cs typeface="Comic Sans MS"/>
              </a:rPr>
              <a:t>o</a:t>
            </a:r>
            <a:r>
              <a:rPr dirty="0" smtClean="0" sz="650" spc="74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deadloc</a:t>
            </a:r>
            <a:r>
              <a:rPr dirty="0" smtClean="0" sz="650" spc="0">
                <a:latin typeface="Comic Sans MS"/>
                <a:cs typeface="Comic Sans MS"/>
              </a:rPr>
              <a:t>k</a:t>
            </a:r>
            <a:r>
              <a:rPr dirty="0" smtClean="0" sz="650" spc="134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i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70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practice</a:t>
            </a:r>
            <a:endParaRPr sz="650">
              <a:latin typeface="Comic Sans MS"/>
              <a:cs typeface="Comic Sans MS"/>
            </a:endParaRPr>
          </a:p>
          <a:p>
            <a:pPr marL="400050" marR="280283" indent="-85725">
              <a:lnSpc>
                <a:spcPts val="750"/>
              </a:lnSpc>
              <a:spcBef>
                <a:spcPts val="51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Philosophers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may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never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get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into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deadlock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at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all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even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with</a:t>
            </a:r>
            <a:r>
              <a:rPr dirty="0" smtClean="0" sz="600" spc="0">
                <a:latin typeface="Comic Sans MS"/>
                <a:cs typeface="Comic Sans MS"/>
              </a:rPr>
              <a:t> </a:t>
            </a:r>
            <a:r>
              <a:rPr dirty="0" smtClean="0" sz="600" spc="-9">
                <a:latin typeface="Comic Sans MS"/>
                <a:cs typeface="Comic Sans MS"/>
              </a:rPr>
              <a:t>n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39">
                <a:latin typeface="Comic Sans MS"/>
                <a:cs typeface="Comic Sans MS"/>
              </a:rPr>
              <a:t> </a:t>
            </a:r>
            <a:r>
              <a:rPr dirty="0" smtClean="0" sz="600" spc="-9">
                <a:latin typeface="Comic Sans MS"/>
                <a:cs typeface="Comic Sans MS"/>
              </a:rPr>
              <a:t>intervention</a:t>
            </a:r>
            <a:endParaRPr sz="600">
              <a:latin typeface="Comic Sans MS"/>
              <a:cs typeface="Comic Sans MS"/>
            </a:endParaRPr>
          </a:p>
          <a:p>
            <a:pPr marL="314325">
              <a:lnSpc>
                <a:spcPct val="116129"/>
              </a:lnSpc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Likelihood</a:t>
            </a:r>
            <a:r>
              <a:rPr dirty="0" smtClean="0" sz="600" spc="0">
                <a:latin typeface="Comic Sans MS"/>
                <a:cs typeface="Comic Sans MS"/>
              </a:rPr>
              <a:t>?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Ho</a:t>
            </a:r>
            <a:r>
              <a:rPr dirty="0" smtClean="0" sz="600" spc="0">
                <a:latin typeface="Comic Sans MS"/>
                <a:cs typeface="Comic Sans MS"/>
              </a:rPr>
              <a:t>w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lon</a:t>
            </a:r>
            <a:r>
              <a:rPr dirty="0" smtClean="0" sz="600" spc="0">
                <a:latin typeface="Comic Sans MS"/>
                <a:cs typeface="Comic Sans MS"/>
              </a:rPr>
              <a:t>g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d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the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think</a:t>
            </a:r>
            <a:r>
              <a:rPr dirty="0" smtClean="0" sz="600" spc="0">
                <a:latin typeface="Comic Sans MS"/>
                <a:cs typeface="Comic Sans MS"/>
              </a:rPr>
              <a:t>?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Ho</a:t>
            </a:r>
            <a:r>
              <a:rPr dirty="0" smtClean="0" sz="600" spc="0">
                <a:latin typeface="Comic Sans MS"/>
                <a:cs typeface="Comic Sans MS"/>
              </a:rPr>
              <a:t>w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lon</a:t>
            </a:r>
            <a:r>
              <a:rPr dirty="0" smtClean="0" sz="600" spc="0">
                <a:latin typeface="Comic Sans MS"/>
                <a:cs typeface="Comic Sans MS"/>
              </a:rPr>
              <a:t>g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eat?</a:t>
            </a:r>
            <a:endParaRPr sz="600">
              <a:latin typeface="Comic Sans MS"/>
              <a:cs typeface="Comic Sans MS"/>
            </a:endParaRPr>
          </a:p>
          <a:p>
            <a:pPr marR="104775" algn="r">
              <a:lnSpc>
                <a:spcPct val="100000"/>
              </a:lnSpc>
              <a:spcBef>
                <a:spcPts val="1598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2</a:t>
            </a:r>
            <a:r>
              <a:rPr dirty="0" smtClean="0" sz="350" spc="0">
                <a:latin typeface="Times New Roman"/>
                <a:cs typeface="Times New Roman"/>
              </a:rPr>
              <a:t>8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400" y="3562350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9" u="sng">
                <a:solidFill>
                  <a:srgbClr val="3333CC"/>
                </a:solidFill>
                <a:latin typeface="Comic Sans MS"/>
                <a:cs typeface="Comic Sans MS"/>
              </a:rPr>
              <a:t>Preventing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9" u="sng">
                <a:solidFill>
                  <a:srgbClr val="3333CC"/>
                </a:solidFill>
                <a:latin typeface="Comic Sans MS"/>
                <a:cs typeface="Comic Sans MS"/>
              </a:rPr>
              <a:t>Circular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9" u="sng">
                <a:solidFill>
                  <a:srgbClr val="3333CC"/>
                </a:solidFill>
                <a:latin typeface="Comic Sans MS"/>
                <a:cs typeface="Comic Sans MS"/>
              </a:rPr>
              <a:t>wait</a:t>
            </a:r>
            <a:endParaRPr sz="1200">
              <a:latin typeface="Comic Sans MS"/>
              <a:cs typeface="Comic Sans MS"/>
            </a:endParaRPr>
          </a:p>
          <a:p>
            <a:pPr marL="285750" marR="335155" indent="-104775" algn="just">
              <a:lnSpc>
                <a:spcPts val="750"/>
              </a:lnSpc>
              <a:spcBef>
                <a:spcPts val="1262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4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Impos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46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a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orderin</a:t>
            </a:r>
            <a:r>
              <a:rPr dirty="0" smtClean="0" sz="650" spc="0">
                <a:latin typeface="Comic Sans MS"/>
                <a:cs typeface="Comic Sans MS"/>
              </a:rPr>
              <a:t>g</a:t>
            </a:r>
            <a:r>
              <a:rPr dirty="0" smtClean="0" sz="650" spc="56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o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th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possibl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76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resource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69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and</a:t>
            </a:r>
            <a:r>
              <a:rPr dirty="0" smtClean="0" sz="650" spc="4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requir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52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tha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26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processe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106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reques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56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the</a:t>
            </a:r>
            <a:r>
              <a:rPr dirty="0" smtClean="0" sz="650" spc="0">
                <a:latin typeface="Comic Sans MS"/>
                <a:cs typeface="Comic Sans MS"/>
              </a:rPr>
              <a:t>m</a:t>
            </a:r>
            <a:r>
              <a:rPr dirty="0" smtClean="0" sz="650" spc="32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i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2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a</a:t>
            </a:r>
            <a:r>
              <a:rPr dirty="0" smtClean="0" sz="650" spc="0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specific</a:t>
            </a:r>
            <a:r>
              <a:rPr dirty="0" smtClean="0" sz="650" spc="9">
                <a:latin typeface="Comic Sans MS"/>
                <a:cs typeface="Comic Sans MS"/>
              </a:rPr>
              <a:t> </a:t>
            </a:r>
            <a:r>
              <a:rPr dirty="0" smtClean="0" sz="650" spc="-9">
                <a:latin typeface="Comic Sans MS"/>
                <a:cs typeface="Comic Sans MS"/>
              </a:rPr>
              <a:t>order</a:t>
            </a:r>
            <a:endParaRPr sz="650">
              <a:latin typeface="Comic Sans MS"/>
              <a:cs typeface="Comic Sans MS"/>
            </a:endParaRPr>
          </a:p>
          <a:p>
            <a:pPr marL="285750" marR="803249" indent="-104775">
              <a:lnSpc>
                <a:spcPts val="750"/>
              </a:lnSpc>
              <a:spcBef>
                <a:spcPts val="225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Ho</a:t>
            </a:r>
            <a:r>
              <a:rPr dirty="0" smtClean="0" sz="650" spc="0">
                <a:latin typeface="Comic Sans MS"/>
                <a:cs typeface="Comic Sans MS"/>
              </a:rPr>
              <a:t>w</a:t>
            </a:r>
            <a:r>
              <a:rPr dirty="0" smtClean="0" sz="650" spc="88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di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78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w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73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preven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11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deadloc</a:t>
            </a:r>
            <a:r>
              <a:rPr dirty="0" smtClean="0" sz="650" spc="0">
                <a:latin typeface="Comic Sans MS"/>
                <a:cs typeface="Comic Sans MS"/>
              </a:rPr>
              <a:t>k</a:t>
            </a:r>
            <a:r>
              <a:rPr dirty="0" smtClean="0" sz="650" spc="12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i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65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dining</a:t>
            </a:r>
            <a:r>
              <a:rPr dirty="0" smtClean="0" sz="650" spc="9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philosophers?</a:t>
            </a:r>
            <a:endParaRPr sz="650">
              <a:latin typeface="Comic Sans MS"/>
              <a:cs typeface="Comic Sans MS"/>
            </a:endParaRPr>
          </a:p>
          <a:p>
            <a:pPr marL="314325">
              <a:lnSpc>
                <a:spcPts val="775"/>
              </a:lnSpc>
              <a:spcBef>
                <a:spcPts val="1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Numbered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the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chopsticks</a:t>
            </a:r>
            <a:endParaRPr sz="600">
              <a:latin typeface="Comic Sans MS"/>
              <a:cs typeface="Comic Sans MS"/>
            </a:endParaRPr>
          </a:p>
          <a:p>
            <a:pPr marL="314325">
              <a:lnSpc>
                <a:spcPts val="750"/>
              </a:lnSpc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Mad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philosopher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as</a:t>
            </a:r>
            <a:r>
              <a:rPr dirty="0" smtClean="0" sz="600" spc="0">
                <a:latin typeface="Comic Sans MS"/>
                <a:cs typeface="Comic Sans MS"/>
              </a:rPr>
              <a:t>k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fo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lowes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numbe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chopstic</a:t>
            </a:r>
            <a:r>
              <a:rPr dirty="0" smtClean="0" sz="600" spc="0">
                <a:latin typeface="Comic Sans MS"/>
                <a:cs typeface="Comic Sans MS"/>
              </a:rPr>
              <a:t>k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first</a:t>
            </a:r>
            <a:endParaRPr sz="60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42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Disadvantage:</a:t>
            </a:r>
            <a:endParaRPr sz="650">
              <a:latin typeface="Comic Sans MS"/>
              <a:cs typeface="Comic Sans MS"/>
            </a:endParaRPr>
          </a:p>
          <a:p>
            <a:pPr marL="400050" marR="355546" indent="-85725">
              <a:lnSpc>
                <a:spcPts val="680"/>
              </a:lnSpc>
              <a:spcBef>
                <a:spcPts val="49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Har</a:t>
            </a:r>
            <a:r>
              <a:rPr dirty="0" smtClean="0" sz="600" spc="0">
                <a:latin typeface="Comic Sans MS"/>
                <a:cs typeface="Comic Sans MS"/>
              </a:rPr>
              <a:t>d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thin</a:t>
            </a:r>
            <a:r>
              <a:rPr dirty="0" smtClean="0" sz="600" spc="0">
                <a:latin typeface="Comic Sans MS"/>
                <a:cs typeface="Comic Sans MS"/>
              </a:rPr>
              <a:t>k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</a:t>
            </a:r>
            <a:r>
              <a:rPr dirty="0" smtClean="0" sz="600" spc="0">
                <a:latin typeface="Comic Sans MS"/>
                <a:cs typeface="Comic Sans MS"/>
              </a:rPr>
              <a:t>f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al</a:t>
            </a:r>
            <a:r>
              <a:rPr dirty="0" smtClean="0" sz="600" spc="0">
                <a:latin typeface="Comic Sans MS"/>
                <a:cs typeface="Comic Sans MS"/>
              </a:rPr>
              <a:t>l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type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</a:t>
            </a:r>
            <a:r>
              <a:rPr dirty="0" smtClean="0" sz="600" spc="0">
                <a:latin typeface="Comic Sans MS"/>
                <a:cs typeface="Comic Sans MS"/>
              </a:rPr>
              <a:t>f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resource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i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syste</a:t>
            </a:r>
            <a:r>
              <a:rPr dirty="0" smtClean="0" sz="600" spc="0">
                <a:latin typeface="Comic Sans MS"/>
                <a:cs typeface="Comic Sans MS"/>
              </a:rPr>
              <a:t>m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and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numbe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the</a:t>
            </a:r>
            <a:r>
              <a:rPr dirty="0" smtClean="0" sz="600" spc="0">
                <a:latin typeface="Comic Sans MS"/>
                <a:cs typeface="Comic Sans MS"/>
              </a:rPr>
              <a:t>m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consistentl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fo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al</a:t>
            </a:r>
            <a:r>
              <a:rPr dirty="0" smtClean="0" sz="600" spc="0">
                <a:latin typeface="Comic Sans MS"/>
                <a:cs typeface="Comic Sans MS"/>
              </a:rPr>
              <a:t>l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cooperatin</a:t>
            </a:r>
            <a:r>
              <a:rPr dirty="0" smtClean="0" sz="600" spc="0">
                <a:latin typeface="Comic Sans MS"/>
                <a:cs typeface="Comic Sans MS"/>
              </a:rPr>
              <a:t>g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processes</a:t>
            </a:r>
            <a:endParaRPr sz="600">
              <a:latin typeface="Comic Sans MS"/>
              <a:cs typeface="Comic Sans MS"/>
            </a:endParaRPr>
          </a:p>
          <a:p>
            <a:pPr marL="400050" marR="337145" indent="-85725">
              <a:lnSpc>
                <a:spcPts val="836"/>
              </a:lnSpc>
              <a:spcBef>
                <a:spcPts val="76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I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use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resource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X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and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,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you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use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resource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and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Z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and</a:t>
            </a:r>
            <a:r>
              <a:rPr dirty="0" smtClean="0" sz="600" spc="0">
                <a:latin typeface="Comic Sans MS"/>
                <a:cs typeface="Comic Sans MS"/>
              </a:rPr>
              <a:t> </a:t>
            </a:r>
            <a:endParaRPr sz="600">
              <a:latin typeface="Comic Sans MS"/>
              <a:cs typeface="Comic Sans MS"/>
            </a:endParaRPr>
          </a:p>
          <a:p>
            <a:pPr marL="400050" marR="337145">
              <a:lnSpc>
                <a:spcPts val="836"/>
              </a:lnSpc>
            </a:pPr>
            <a:r>
              <a:rPr dirty="0" smtClean="0" sz="600" spc="-4">
                <a:latin typeface="Comic Sans MS"/>
                <a:cs typeface="Comic Sans MS"/>
              </a:rPr>
              <a:t>W</a:t>
            </a:r>
            <a:r>
              <a:rPr dirty="0" smtClean="0" sz="600" spc="0">
                <a:latin typeface="Comic Sans MS"/>
                <a:cs typeface="Comic Sans MS"/>
              </a:rPr>
              <a:t>,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someon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els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use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</a:t>
            </a:r>
            <a:r>
              <a:rPr dirty="0" smtClean="0" sz="600" spc="0">
                <a:latin typeface="Comic Sans MS"/>
                <a:cs typeface="Comic Sans MS"/>
              </a:rPr>
              <a:t>,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</a:t>
            </a:r>
            <a:r>
              <a:rPr dirty="0" smtClean="0" sz="600" spc="0">
                <a:latin typeface="Comic Sans MS"/>
                <a:cs typeface="Comic Sans MS"/>
              </a:rPr>
              <a:t>,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–</a:t>
            </a:r>
            <a:r>
              <a:rPr dirty="0" smtClean="0" sz="600" spc="4">
                <a:latin typeface="Comic Sans MS"/>
                <a:cs typeface="Comic Sans MS"/>
              </a:rPr>
              <a:t> </a:t>
            </a:r>
            <a:r>
              <a:rPr dirty="0" smtClean="0" sz="600" spc="4">
                <a:latin typeface="Comic Sans MS"/>
                <a:cs typeface="Comic Sans MS"/>
              </a:rPr>
              <a:t>whic</a:t>
            </a:r>
            <a:r>
              <a:rPr dirty="0" smtClean="0" sz="600" spc="0">
                <a:latin typeface="Comic Sans MS"/>
                <a:cs typeface="Comic Sans MS"/>
              </a:rPr>
              <a:t>h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r>
              <a:rPr dirty="0" smtClean="0" sz="600" spc="4">
                <a:latin typeface="Comic Sans MS"/>
                <a:cs typeface="Comic Sans MS"/>
              </a:rPr>
              <a:t>i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r>
              <a:rPr dirty="0" smtClean="0" sz="600" spc="4">
                <a:latin typeface="Comic Sans MS"/>
                <a:cs typeface="Comic Sans MS"/>
              </a:rPr>
              <a:t>resourc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r>
              <a:rPr dirty="0" smtClean="0" sz="600" spc="4">
                <a:latin typeface="Comic Sans MS"/>
                <a:cs typeface="Comic Sans MS"/>
              </a:rPr>
              <a:t>1?</a:t>
            </a:r>
            <a:r>
              <a:rPr dirty="0" smtClean="0" sz="600" spc="4">
                <a:latin typeface="Comic Sans MS"/>
                <a:cs typeface="Comic Sans MS"/>
              </a:rPr>
              <a:t> </a:t>
            </a:r>
            <a:endParaRPr sz="600">
              <a:latin typeface="Comic Sans MS"/>
              <a:cs typeface="Comic Sans MS"/>
            </a:endParaRPr>
          </a:p>
          <a:p>
            <a:pPr marL="400050" marR="337145">
              <a:lnSpc>
                <a:spcPts val="836"/>
              </a:lnSpc>
            </a:pPr>
            <a:r>
              <a:rPr dirty="0" smtClean="0" sz="600" spc="0">
                <a:latin typeface="Comic Sans MS"/>
                <a:cs typeface="Comic Sans MS"/>
              </a:rPr>
              <a:t>(shared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files,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databases,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chopsticks,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locks,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events,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…)</a:t>
            </a:r>
            <a:endParaRPr sz="600">
              <a:latin typeface="Comic Sans MS"/>
              <a:cs typeface="Comic Sans MS"/>
            </a:endParaRPr>
          </a:p>
          <a:p>
            <a:pPr marL="400050" marR="518556" indent="-85725">
              <a:lnSpc>
                <a:spcPts val="680"/>
              </a:lnSpc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Fo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thread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i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sam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proces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closel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related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processes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often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isn't</a:t>
            </a:r>
            <a:r>
              <a:rPr dirty="0" smtClean="0" sz="600" spc="-12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that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bad</a:t>
            </a:r>
            <a:endParaRPr sz="600">
              <a:latin typeface="Comic Sans MS"/>
              <a:cs typeface="Comic Sans MS"/>
            </a:endParaRPr>
          </a:p>
          <a:p>
            <a:pPr marR="114300" algn="r">
              <a:lnSpc>
                <a:spcPts val="315"/>
              </a:lnSpc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2</a:t>
            </a:r>
            <a:r>
              <a:rPr dirty="0" smtClean="0" sz="350" spc="0">
                <a:latin typeface="Times New Roman"/>
                <a:cs typeface="Times New Roman"/>
              </a:rPr>
              <a:t>7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29025" y="904875"/>
            <a:ext cx="2676525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Preventing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No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Preemption</a:t>
            </a:r>
            <a:endParaRPr sz="120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1183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Preemptio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141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(hav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88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t</a:t>
            </a:r>
            <a:r>
              <a:rPr dirty="0" smtClean="0" sz="650" spc="0">
                <a:latin typeface="Comic Sans MS"/>
                <a:cs typeface="Comic Sans MS"/>
              </a:rPr>
              <a:t>o</a:t>
            </a:r>
            <a:r>
              <a:rPr dirty="0" smtClean="0" sz="650" spc="5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lov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87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thos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07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doubl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9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negativ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15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Wingdings"/>
                <a:cs typeface="Wingdings"/>
              </a:rPr>
              <a:t></a:t>
            </a:r>
            <a:r>
              <a:rPr dirty="0" smtClean="0" sz="650" spc="80">
                <a:latin typeface="Times New Roman"/>
                <a:cs typeface="Times New Roman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)</a:t>
            </a:r>
            <a:endParaRPr sz="65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145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Allo</a:t>
            </a:r>
            <a:r>
              <a:rPr dirty="0" smtClean="0" sz="650" spc="0">
                <a:latin typeface="Comic Sans MS"/>
                <a:cs typeface="Comic Sans MS"/>
              </a:rPr>
              <a:t>w</a:t>
            </a:r>
            <a:r>
              <a:rPr dirty="0" smtClean="0" sz="650" spc="108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syste</a:t>
            </a:r>
            <a:r>
              <a:rPr dirty="0" smtClean="0" sz="650" spc="0">
                <a:latin typeface="Comic Sans MS"/>
                <a:cs typeface="Comic Sans MS"/>
              </a:rPr>
              <a:t>m</a:t>
            </a:r>
            <a:r>
              <a:rPr dirty="0" smtClean="0" sz="650" spc="145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t</a:t>
            </a:r>
            <a:r>
              <a:rPr dirty="0" smtClean="0" sz="650" spc="0">
                <a:latin typeface="Comic Sans MS"/>
                <a:cs typeface="Comic Sans MS"/>
              </a:rPr>
              <a:t>o</a:t>
            </a:r>
            <a:r>
              <a:rPr dirty="0" smtClean="0" sz="650" spc="79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tak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0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bac</a:t>
            </a:r>
            <a:r>
              <a:rPr dirty="0" smtClean="0" sz="650" spc="0">
                <a:latin typeface="Comic Sans MS"/>
                <a:cs typeface="Comic Sans MS"/>
              </a:rPr>
              <a:t>k</a:t>
            </a:r>
            <a:r>
              <a:rPr dirty="0" smtClean="0" sz="650" spc="101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resource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149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onc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0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granted</a:t>
            </a:r>
            <a:endParaRPr sz="650">
              <a:latin typeface="Comic Sans MS"/>
              <a:cs typeface="Comic Sans MS"/>
            </a:endParaRPr>
          </a:p>
          <a:p>
            <a:pPr marL="294481" marR="704061" algn="ctr">
              <a:lnSpc>
                <a:spcPts val="810"/>
              </a:lnSpc>
              <a:spcBef>
                <a:spcPts val="40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Mak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som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philosophe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giv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bac</a:t>
            </a:r>
            <a:r>
              <a:rPr dirty="0" smtClean="0" sz="600" spc="0">
                <a:latin typeface="Comic Sans MS"/>
                <a:cs typeface="Comic Sans MS"/>
              </a:rPr>
              <a:t>k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chopstick</a:t>
            </a:r>
            <a:endParaRPr sz="600">
              <a:latin typeface="Comic Sans MS"/>
              <a:cs typeface="Comic Sans MS"/>
            </a:endParaRPr>
          </a:p>
          <a:p>
            <a:pPr marL="180975">
              <a:lnSpc>
                <a:spcPts val="880"/>
              </a:lnSpc>
              <a:spcBef>
                <a:spcPts val="83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14">
                <a:latin typeface="Comic Sans MS"/>
                <a:cs typeface="Comic Sans MS"/>
              </a:rPr>
              <a:t>Disadvantage</a:t>
            </a:r>
            <a:r>
              <a:rPr dirty="0" smtClean="0" sz="650" spc="0">
                <a:latin typeface="Comic Sans MS"/>
                <a:cs typeface="Comic Sans MS"/>
              </a:rPr>
              <a:t>:</a:t>
            </a:r>
            <a:r>
              <a:rPr dirty="0" smtClean="0" sz="650" spc="170">
                <a:latin typeface="Comic Sans MS"/>
                <a:cs typeface="Comic Sans MS"/>
              </a:rPr>
              <a:t> </a:t>
            </a:r>
            <a:r>
              <a:rPr dirty="0" smtClean="0" sz="650" spc="14">
                <a:latin typeface="Comic Sans MS"/>
                <a:cs typeface="Comic Sans MS"/>
              </a:rPr>
              <a:t>Har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90">
                <a:latin typeface="Comic Sans MS"/>
                <a:cs typeface="Comic Sans MS"/>
              </a:rPr>
              <a:t> </a:t>
            </a:r>
            <a:r>
              <a:rPr dirty="0" smtClean="0" sz="650" spc="14">
                <a:latin typeface="Comic Sans MS"/>
                <a:cs typeface="Comic Sans MS"/>
              </a:rPr>
              <a:t>t</a:t>
            </a:r>
            <a:r>
              <a:rPr dirty="0" smtClean="0" sz="650" spc="0">
                <a:latin typeface="Comic Sans MS"/>
                <a:cs typeface="Comic Sans MS"/>
              </a:rPr>
              <a:t>o</a:t>
            </a:r>
            <a:r>
              <a:rPr dirty="0" smtClean="0" sz="650" spc="64">
                <a:latin typeface="Comic Sans MS"/>
                <a:cs typeface="Comic Sans MS"/>
              </a:rPr>
              <a:t> </a:t>
            </a:r>
            <a:r>
              <a:rPr dirty="0" smtClean="0" sz="650" spc="14">
                <a:latin typeface="Comic Sans MS"/>
                <a:cs typeface="Comic Sans MS"/>
              </a:rPr>
              <a:t>program</a:t>
            </a:r>
            <a:endParaRPr sz="650">
              <a:latin typeface="Comic Sans MS"/>
              <a:cs typeface="Comic Sans MS"/>
            </a:endParaRPr>
          </a:p>
          <a:p>
            <a:pPr marL="400050" marR="383201" indent="-85725">
              <a:lnSpc>
                <a:spcPts val="680"/>
              </a:lnSpc>
              <a:spcBef>
                <a:spcPts val="180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Syste</a:t>
            </a:r>
            <a:r>
              <a:rPr dirty="0" smtClean="0" sz="600" spc="0">
                <a:latin typeface="Comic Sans MS"/>
                <a:cs typeface="Comic Sans MS"/>
              </a:rPr>
              <a:t>m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figure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ou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ho</a:t>
            </a:r>
            <a:r>
              <a:rPr dirty="0" smtClean="0" sz="600" spc="0">
                <a:latin typeface="Comic Sans MS"/>
                <a:cs typeface="Comic Sans MS"/>
              </a:rPr>
              <a:t>w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tak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awa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CP</a:t>
            </a:r>
            <a:r>
              <a:rPr dirty="0" smtClean="0" sz="600" spc="0">
                <a:latin typeface="Comic Sans MS"/>
                <a:cs typeface="Comic Sans MS"/>
              </a:rPr>
              <a:t>U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an</a:t>
            </a:r>
            <a:r>
              <a:rPr dirty="0" smtClean="0" sz="600" spc="0">
                <a:latin typeface="Comic Sans MS"/>
                <a:cs typeface="Comic Sans MS"/>
              </a:rPr>
              <a:t>d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memory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withou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breakin</a:t>
            </a:r>
            <a:r>
              <a:rPr dirty="0" smtClean="0" sz="600" spc="0">
                <a:latin typeface="Comic Sans MS"/>
                <a:cs typeface="Comic Sans MS"/>
              </a:rPr>
              <a:t>g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programmer'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10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illusion</a:t>
            </a:r>
            <a:endParaRPr sz="600">
              <a:latin typeface="Comic Sans MS"/>
              <a:cs typeface="Comic Sans MS"/>
            </a:endParaRPr>
          </a:p>
          <a:p>
            <a:pPr marL="400050" marR="366133" indent="-85725">
              <a:lnSpc>
                <a:spcPts val="836"/>
              </a:lnSpc>
              <a:spcBef>
                <a:spcPts val="90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How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do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you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take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away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access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to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an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open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file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or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lock</a:t>
            </a:r>
            <a:r>
              <a:rPr dirty="0" smtClean="0" sz="600" spc="0">
                <a:latin typeface="Comic Sans MS"/>
                <a:cs typeface="Comic Sans MS"/>
              </a:rPr>
              <a:t> </a:t>
            </a:r>
            <a:endParaRPr sz="600">
              <a:latin typeface="Comic Sans MS"/>
              <a:cs typeface="Comic Sans MS"/>
            </a:endParaRPr>
          </a:p>
          <a:p>
            <a:pPr marL="400050" marR="366133">
              <a:lnSpc>
                <a:spcPts val="836"/>
              </a:lnSpc>
            </a:pPr>
            <a:r>
              <a:rPr dirty="0" smtClean="0" sz="600" spc="-4">
                <a:latin typeface="Comic Sans MS"/>
                <a:cs typeface="Comic Sans MS"/>
              </a:rPr>
              <a:t>onc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granted?</a:t>
            </a:r>
            <a:r>
              <a:rPr dirty="0" smtClean="0" sz="600" spc="0">
                <a:latin typeface="Comic Sans MS"/>
                <a:cs typeface="Comic Sans MS"/>
              </a:rPr>
              <a:t>?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Woul</a:t>
            </a:r>
            <a:r>
              <a:rPr dirty="0" smtClean="0" sz="600" spc="0">
                <a:latin typeface="Comic Sans MS"/>
                <a:cs typeface="Comic Sans MS"/>
              </a:rPr>
              <a:t>d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nee</a:t>
            </a:r>
            <a:r>
              <a:rPr dirty="0" smtClean="0" sz="600" spc="0">
                <a:latin typeface="Comic Sans MS"/>
                <a:cs typeface="Comic Sans MS"/>
              </a:rPr>
              <a:t>d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AP</a:t>
            </a:r>
            <a:r>
              <a:rPr dirty="0" smtClean="0" sz="600" spc="0">
                <a:latin typeface="Comic Sans MS"/>
                <a:cs typeface="Comic Sans MS"/>
              </a:rPr>
              <a:t>I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notif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progra</a:t>
            </a:r>
            <a:r>
              <a:rPr dirty="0" smtClean="0" sz="600" spc="0">
                <a:latin typeface="Comic Sans MS"/>
                <a:cs typeface="Comic Sans MS"/>
              </a:rPr>
              <a:t>m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and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endParaRPr sz="600">
              <a:latin typeface="Comic Sans MS"/>
              <a:cs typeface="Comic Sans MS"/>
            </a:endParaRPr>
          </a:p>
          <a:p>
            <a:pPr marL="400050" marR="366133">
              <a:lnSpc>
                <a:spcPts val="836"/>
              </a:lnSpc>
            </a:pPr>
            <a:r>
              <a:rPr dirty="0" smtClean="0" sz="600" spc="-4">
                <a:latin typeface="Comic Sans MS"/>
                <a:cs typeface="Comic Sans MS"/>
              </a:rPr>
              <a:t>the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cod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dea</a:t>
            </a:r>
            <a:r>
              <a:rPr dirty="0" smtClean="0" sz="600" spc="0">
                <a:latin typeface="Comic Sans MS"/>
                <a:cs typeface="Comic Sans MS"/>
              </a:rPr>
              <a:t>l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wit</a:t>
            </a:r>
            <a:r>
              <a:rPr dirty="0" smtClean="0" sz="600" spc="0">
                <a:latin typeface="Comic Sans MS"/>
                <a:cs typeface="Comic Sans MS"/>
              </a:rPr>
              <a:t>h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remova</a:t>
            </a:r>
            <a:r>
              <a:rPr dirty="0" smtClean="0" sz="600" spc="0">
                <a:latin typeface="Comic Sans MS"/>
                <a:cs typeface="Comic Sans MS"/>
              </a:rPr>
              <a:t>l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</a:t>
            </a:r>
            <a:r>
              <a:rPr dirty="0" smtClean="0" sz="600" spc="0">
                <a:latin typeface="Comic Sans MS"/>
                <a:cs typeface="Comic Sans MS"/>
              </a:rPr>
              <a:t>f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resourc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at</a:t>
            </a:r>
            <a:endParaRPr sz="600">
              <a:latin typeface="Comic Sans MS"/>
              <a:cs typeface="Comic Sans MS"/>
            </a:endParaRPr>
          </a:p>
          <a:p>
            <a:pPr marL="426701" marR="1350611" algn="ctr">
              <a:lnSpc>
                <a:spcPct val="116129"/>
              </a:lnSpc>
              <a:spcBef>
                <a:spcPts val="676"/>
              </a:spcBef>
            </a:pPr>
            <a:r>
              <a:rPr dirty="0" smtClean="0" sz="500" spc="0">
                <a:latin typeface="Comic Sans MS"/>
                <a:cs typeface="Comic Sans MS"/>
              </a:rPr>
              <a:t>•</a:t>
            </a:r>
            <a:r>
              <a:rPr dirty="0" smtClean="0" sz="500" spc="0">
                <a:latin typeface="Comic Sans MS"/>
                <a:cs typeface="Comic Sans MS"/>
              </a:rPr>
              <a:t> </a:t>
            </a:r>
            <a:r>
              <a:rPr dirty="0" smtClean="0" sz="500" spc="34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Checkpoin</a:t>
            </a:r>
            <a:r>
              <a:rPr dirty="0" smtClean="0" sz="500" spc="0">
                <a:latin typeface="Comic Sans MS"/>
                <a:cs typeface="Comic Sans MS"/>
              </a:rPr>
              <a:t>t</a:t>
            </a:r>
            <a:r>
              <a:rPr dirty="0" smtClean="0" sz="500" spc="132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an</a:t>
            </a:r>
            <a:r>
              <a:rPr dirty="0" smtClean="0" sz="500" spc="0">
                <a:latin typeface="Comic Sans MS"/>
                <a:cs typeface="Comic Sans MS"/>
              </a:rPr>
              <a:t>d</a:t>
            </a:r>
            <a:r>
              <a:rPr dirty="0" smtClean="0" sz="500" spc="45">
                <a:latin typeface="Comic Sans MS"/>
                <a:cs typeface="Comic Sans MS"/>
              </a:rPr>
              <a:t> </a:t>
            </a:r>
            <a:r>
              <a:rPr dirty="0" smtClean="0" sz="500" spc="4">
                <a:latin typeface="Comic Sans MS"/>
                <a:cs typeface="Comic Sans MS"/>
              </a:rPr>
              <a:t>Rollback?</a:t>
            </a:r>
            <a:endParaRPr sz="500">
              <a:latin typeface="Comic Sans MS"/>
              <a:cs typeface="Comic Sans MS"/>
            </a:endParaRPr>
          </a:p>
          <a:p>
            <a:pPr marR="104775" algn="r">
              <a:lnSpc>
                <a:spcPct val="100000"/>
              </a:lnSpc>
              <a:spcBef>
                <a:spcPts val="2227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2</a:t>
            </a:r>
            <a:r>
              <a:rPr dirty="0" smtClean="0" sz="350" spc="0">
                <a:latin typeface="Times New Roman"/>
                <a:cs typeface="Times New Roman"/>
              </a:rPr>
              <a:t>6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3400" y="904875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Preventing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Hold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and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Wait</a:t>
            </a:r>
            <a:endParaRPr sz="1200">
              <a:latin typeface="Comic Sans MS"/>
              <a:cs typeface="Comic Sans MS"/>
            </a:endParaRPr>
          </a:p>
          <a:p>
            <a:pPr marL="285750" marR="441011" indent="-104775">
              <a:lnSpc>
                <a:spcPts val="830"/>
              </a:lnSpc>
              <a:spcBef>
                <a:spcPts val="1277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D</a:t>
            </a:r>
            <a:r>
              <a:rPr dirty="0" smtClean="0" sz="650" spc="0">
                <a:latin typeface="Comic Sans MS"/>
                <a:cs typeface="Comic Sans MS"/>
              </a:rPr>
              <a:t>o</a:t>
            </a:r>
            <a:r>
              <a:rPr dirty="0" smtClean="0" sz="650" spc="77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no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7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allo</a:t>
            </a:r>
            <a:r>
              <a:rPr dirty="0" smtClean="0" sz="650" spc="0">
                <a:latin typeface="Comic Sans MS"/>
                <a:cs typeface="Comic Sans MS"/>
              </a:rPr>
              <a:t>w</a:t>
            </a:r>
            <a:r>
              <a:rPr dirty="0" smtClean="0" sz="650" spc="103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processe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16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t</a:t>
            </a:r>
            <a:r>
              <a:rPr dirty="0" smtClean="0" sz="650" spc="0">
                <a:latin typeface="Comic Sans MS"/>
                <a:cs typeface="Comic Sans MS"/>
              </a:rPr>
              <a:t>o</a:t>
            </a:r>
            <a:r>
              <a:rPr dirty="0" smtClean="0" sz="650" spc="6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hol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95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a</a:t>
            </a:r>
            <a:r>
              <a:rPr dirty="0" smtClean="0" sz="650" spc="58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resourc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2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when</a:t>
            </a:r>
            <a:r>
              <a:rPr dirty="0" smtClean="0" sz="650" spc="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requestin</a:t>
            </a:r>
            <a:r>
              <a:rPr dirty="0" smtClean="0" sz="650" spc="0">
                <a:latin typeface="Comic Sans MS"/>
                <a:cs typeface="Comic Sans MS"/>
              </a:rPr>
              <a:t>g</a:t>
            </a:r>
            <a:r>
              <a:rPr dirty="0" smtClean="0" sz="650" spc="13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others</a:t>
            </a:r>
            <a:endParaRPr sz="650">
              <a:latin typeface="Comic Sans MS"/>
              <a:cs typeface="Comic Sans MS"/>
            </a:endParaRPr>
          </a:p>
          <a:p>
            <a:pPr marL="314325">
              <a:lnSpc>
                <a:spcPct val="116129"/>
              </a:lnSpc>
              <a:spcBef>
                <a:spcPts val="28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Mak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philosopher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ge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bot</a:t>
            </a:r>
            <a:r>
              <a:rPr dirty="0" smtClean="0" sz="600" spc="0">
                <a:latin typeface="Comic Sans MS"/>
                <a:cs typeface="Comic Sans MS"/>
              </a:rPr>
              <a:t>h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chopstick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once</a:t>
            </a:r>
            <a:endParaRPr sz="600">
              <a:latin typeface="Comic Sans MS"/>
              <a:cs typeface="Comic Sans MS"/>
            </a:endParaRPr>
          </a:p>
          <a:p>
            <a:pPr marL="314325">
              <a:lnSpc>
                <a:spcPts val="825"/>
              </a:lnSpc>
              <a:spcBef>
                <a:spcPts val="41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Window'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0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WaitForMultipleObjects</a:t>
            </a:r>
            <a:endParaRPr sz="600">
              <a:latin typeface="Comic Sans MS"/>
              <a:cs typeface="Comic Sans MS"/>
            </a:endParaRPr>
          </a:p>
          <a:p>
            <a:pPr marL="285750" marR="316105" indent="-104775">
              <a:lnSpc>
                <a:spcPts val="900"/>
              </a:lnSpc>
              <a:spcBef>
                <a:spcPts val="83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Mak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83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processe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15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as</a:t>
            </a:r>
            <a:r>
              <a:rPr dirty="0" smtClean="0" sz="650" spc="0">
                <a:latin typeface="Comic Sans MS"/>
                <a:cs typeface="Comic Sans MS"/>
              </a:rPr>
              <a:t>k</a:t>
            </a:r>
            <a:r>
              <a:rPr dirty="0" smtClean="0" sz="650" spc="6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fo</a:t>
            </a:r>
            <a:r>
              <a:rPr dirty="0" smtClean="0" sz="650" spc="0">
                <a:latin typeface="Comic Sans MS"/>
                <a:cs typeface="Comic Sans MS"/>
              </a:rPr>
              <a:t>r</a:t>
            </a:r>
            <a:r>
              <a:rPr dirty="0" smtClean="0" sz="650" spc="6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al</a:t>
            </a:r>
            <a:r>
              <a:rPr dirty="0" smtClean="0" sz="650" spc="0">
                <a:latin typeface="Comic Sans MS"/>
                <a:cs typeface="Comic Sans MS"/>
              </a:rPr>
              <a:t>l</a:t>
            </a:r>
            <a:r>
              <a:rPr dirty="0" smtClean="0" sz="650" spc="62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resource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12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the</a:t>
            </a:r>
            <a:r>
              <a:rPr dirty="0" smtClean="0" sz="650" spc="0">
                <a:latin typeface="Comic Sans MS"/>
                <a:cs typeface="Comic Sans MS"/>
              </a:rPr>
              <a:t>y</a:t>
            </a:r>
            <a:r>
              <a:rPr dirty="0" smtClean="0" sz="650" spc="76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nee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77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at</a:t>
            </a:r>
            <a:r>
              <a:rPr dirty="0" smtClean="0" sz="650" spc="4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th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70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beginning</a:t>
            </a:r>
            <a:endParaRPr sz="650">
              <a:latin typeface="Comic Sans MS"/>
              <a:cs typeface="Comic Sans MS"/>
            </a:endParaRPr>
          </a:p>
          <a:p>
            <a:pPr marL="314325">
              <a:lnSpc>
                <a:spcPts val="819"/>
              </a:lnSpc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Disadvantage</a:t>
            </a:r>
            <a:r>
              <a:rPr dirty="0" smtClean="0" sz="600" spc="0">
                <a:latin typeface="Comic Sans MS"/>
                <a:cs typeface="Comic Sans MS"/>
              </a:rPr>
              <a:t>: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Ma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no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nee</a:t>
            </a:r>
            <a:r>
              <a:rPr dirty="0" smtClean="0" sz="600" spc="0">
                <a:latin typeface="Comic Sans MS"/>
                <a:cs typeface="Comic Sans MS"/>
              </a:rPr>
              <a:t>d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al</a:t>
            </a:r>
            <a:r>
              <a:rPr dirty="0" smtClean="0" sz="600" spc="0">
                <a:latin typeface="Comic Sans MS"/>
                <a:cs typeface="Comic Sans MS"/>
              </a:rPr>
              <a:t>l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resource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whol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time</a:t>
            </a:r>
            <a:endParaRPr sz="600">
              <a:latin typeface="Comic Sans MS"/>
              <a:cs typeface="Comic Sans MS"/>
            </a:endParaRPr>
          </a:p>
          <a:p>
            <a:pPr marL="314325">
              <a:lnSpc>
                <a:spcPts val="825"/>
              </a:lnSpc>
              <a:spcBef>
                <a:spcPts val="0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Ca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releas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the</a:t>
            </a:r>
            <a:r>
              <a:rPr dirty="0" smtClean="0" sz="600" spc="0">
                <a:latin typeface="Comic Sans MS"/>
                <a:cs typeface="Comic Sans MS"/>
              </a:rPr>
              <a:t>m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earl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bu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mus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hol</a:t>
            </a:r>
            <a:r>
              <a:rPr dirty="0" smtClean="0" sz="600" spc="0">
                <a:latin typeface="Comic Sans MS"/>
                <a:cs typeface="Comic Sans MS"/>
              </a:rPr>
              <a:t>d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unti</a:t>
            </a:r>
            <a:r>
              <a:rPr dirty="0" smtClean="0" sz="600" spc="0">
                <a:latin typeface="Comic Sans MS"/>
                <a:cs typeface="Comic Sans MS"/>
              </a:rPr>
              <a:t>l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used</a:t>
            </a:r>
            <a:endParaRPr sz="600">
              <a:latin typeface="Comic Sans MS"/>
              <a:cs typeface="Comic Sans MS"/>
            </a:endParaRPr>
          </a:p>
          <a:p>
            <a:pPr marL="285750" marR="297080" indent="-104775">
              <a:lnSpc>
                <a:spcPts val="830"/>
              </a:lnSpc>
              <a:spcBef>
                <a:spcPts val="210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Mak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88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processe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15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releas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28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an</a:t>
            </a:r>
            <a:r>
              <a:rPr dirty="0" smtClean="0" sz="650" spc="0">
                <a:latin typeface="Comic Sans MS"/>
                <a:cs typeface="Comic Sans MS"/>
              </a:rPr>
              <a:t>y</a:t>
            </a:r>
            <a:r>
              <a:rPr dirty="0" smtClean="0" sz="650" spc="70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hel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91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resource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12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before</a:t>
            </a:r>
            <a:r>
              <a:rPr dirty="0" smtClean="0" sz="650" spc="9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requesting</a:t>
            </a:r>
            <a:r>
              <a:rPr dirty="0" smtClean="0" sz="650" spc="0">
                <a:latin typeface="Comic Sans MS"/>
                <a:cs typeface="Comic Sans MS"/>
              </a:rPr>
              <a:t> </a:t>
            </a:r>
            <a:r>
              <a:rPr dirty="0" smtClean="0" sz="650" spc="5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more</a:t>
            </a:r>
            <a:endParaRPr sz="650">
              <a:latin typeface="Comic Sans MS"/>
              <a:cs typeface="Comic Sans MS"/>
            </a:endParaRPr>
          </a:p>
          <a:p>
            <a:pPr marL="314325">
              <a:lnSpc>
                <a:spcPts val="835"/>
              </a:lnSpc>
              <a:spcBef>
                <a:spcPts val="0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Hard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to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program!</a:t>
            </a:r>
            <a:endParaRPr sz="600">
              <a:latin typeface="Comic Sans MS"/>
              <a:cs typeface="Comic Sans MS"/>
            </a:endParaRPr>
          </a:p>
          <a:p>
            <a:pPr marR="114300" algn="r">
              <a:lnSpc>
                <a:spcPct val="100000"/>
              </a:lnSpc>
              <a:spcBef>
                <a:spcPts val="1556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2</a:t>
            </a:r>
            <a:r>
              <a:rPr dirty="0" smtClean="0" sz="350" spc="0">
                <a:latin typeface="Times New Roman"/>
                <a:cs typeface="Times New Roman"/>
              </a:rPr>
              <a:t>5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 34"/>
          <p:cNvSpPr/>
          <p:nvPr/>
        </p:nvSpPr>
        <p:spPr>
          <a:xfrm>
            <a:off x="2009775" y="12096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533400" y="904875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5105400" y="12096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3629025" y="904875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2009775" y="38671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533400" y="3562350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5105400" y="38671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3629025" y="3562350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2362200" y="652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533400" y="6219825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5657850" y="652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3629025" y="6219825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902075" y="1931549"/>
            <a:ext cx="968382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40"/>
              </a:spcBef>
            </a:pPr>
            <a:r>
              <a:rPr dirty="0" smtClean="0" sz="600" spc="4">
                <a:latin typeface="Courier New"/>
                <a:cs typeface="Courier New"/>
              </a:rPr>
              <a:t>fo</a:t>
            </a:r>
            <a:r>
              <a:rPr dirty="0" smtClean="0" sz="600" spc="0">
                <a:latin typeface="Courier New"/>
                <a:cs typeface="Courier New"/>
              </a:rPr>
              <a:t>r</a:t>
            </a:r>
            <a:r>
              <a:rPr dirty="0" smtClean="0" sz="600" spc="-54">
                <a:latin typeface="Courier New"/>
                <a:cs typeface="Courier New"/>
              </a:rPr>
              <a:t> </a:t>
            </a:r>
            <a:r>
              <a:rPr dirty="0" smtClean="0" sz="600" spc="4">
                <a:latin typeface="Courier New"/>
                <a:cs typeface="Courier New"/>
              </a:rPr>
              <a:t>(i=0</a:t>
            </a:r>
            <a:r>
              <a:rPr dirty="0" smtClean="0" sz="600" spc="0">
                <a:latin typeface="Courier New"/>
                <a:cs typeface="Courier New"/>
              </a:rPr>
              <a:t>;</a:t>
            </a:r>
            <a:r>
              <a:rPr dirty="0" smtClean="0" sz="600" spc="-54">
                <a:latin typeface="Courier New"/>
                <a:cs typeface="Courier New"/>
              </a:rPr>
              <a:t> </a:t>
            </a:r>
            <a:r>
              <a:rPr dirty="0" smtClean="0" sz="600" spc="4">
                <a:latin typeface="Courier New"/>
                <a:cs typeface="Courier New"/>
              </a:rPr>
              <a:t>i</a:t>
            </a:r>
            <a:r>
              <a:rPr dirty="0" smtClean="0" sz="600" spc="0">
                <a:latin typeface="Courier New"/>
                <a:cs typeface="Courier New"/>
              </a:rPr>
              <a:t>&lt;</a:t>
            </a:r>
            <a:r>
              <a:rPr dirty="0" smtClean="0" sz="600" spc="-54">
                <a:latin typeface="Courier New"/>
                <a:cs typeface="Courier New"/>
              </a:rPr>
              <a:t> </a:t>
            </a:r>
            <a:r>
              <a:rPr dirty="0" smtClean="0" sz="600" spc="4">
                <a:latin typeface="Courier New"/>
                <a:cs typeface="Courier New"/>
              </a:rPr>
              <a:t>R</a:t>
            </a:r>
            <a:r>
              <a:rPr dirty="0" smtClean="0" sz="600" spc="0">
                <a:latin typeface="Courier New"/>
                <a:cs typeface="Courier New"/>
              </a:rPr>
              <a:t>;</a:t>
            </a:r>
            <a:r>
              <a:rPr dirty="0" smtClean="0" sz="600" spc="-54">
                <a:latin typeface="Courier New"/>
                <a:cs typeface="Courier New"/>
              </a:rPr>
              <a:t> </a:t>
            </a:r>
            <a:r>
              <a:rPr dirty="0" smtClean="0" sz="600" spc="4">
                <a:latin typeface="Courier New"/>
                <a:cs typeface="Courier New"/>
              </a:rPr>
              <a:t>i++){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02075" y="2122049"/>
            <a:ext cx="1668462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40"/>
              </a:spcBef>
            </a:pPr>
            <a:r>
              <a:rPr dirty="0" smtClean="0" sz="600" spc="-9">
                <a:latin typeface="Courier New"/>
                <a:cs typeface="Courier New"/>
              </a:rPr>
              <a:t>tha</a:t>
            </a:r>
            <a:r>
              <a:rPr dirty="0" smtClean="0" sz="600" spc="0">
                <a:latin typeface="Courier New"/>
                <a:cs typeface="Courier New"/>
              </a:rPr>
              <a:t>t</a:t>
            </a:r>
            <a:r>
              <a:rPr dirty="0" smtClean="0" sz="600" spc="-29">
                <a:latin typeface="Courier New"/>
                <a:cs typeface="Courier New"/>
              </a:rPr>
              <a:t> </a:t>
            </a:r>
            <a:r>
              <a:rPr dirty="0" smtClean="0" sz="600" spc="-9">
                <a:latin typeface="Courier New"/>
                <a:cs typeface="Courier New"/>
              </a:rPr>
              <a:t>proces</a:t>
            </a:r>
            <a:r>
              <a:rPr dirty="0" smtClean="0" sz="600" spc="0">
                <a:latin typeface="Courier New"/>
                <a:cs typeface="Courier New"/>
              </a:rPr>
              <a:t>s</a:t>
            </a:r>
            <a:r>
              <a:rPr dirty="0" smtClean="0" sz="600" spc="-29">
                <a:latin typeface="Courier New"/>
                <a:cs typeface="Courier New"/>
              </a:rPr>
              <a:t> </a:t>
            </a:r>
            <a:r>
              <a:rPr dirty="0" smtClean="0" sz="600" spc="0">
                <a:latin typeface="Courier New"/>
                <a:cs typeface="Courier New"/>
              </a:rPr>
              <a:t>p</a:t>
            </a:r>
            <a:r>
              <a:rPr dirty="0" smtClean="0" sz="600" spc="-29">
                <a:latin typeface="Courier New"/>
                <a:cs typeface="Courier New"/>
              </a:rPr>
              <a:t> </a:t>
            </a:r>
            <a:r>
              <a:rPr dirty="0" smtClean="0" sz="600" spc="-9">
                <a:latin typeface="Courier New"/>
                <a:cs typeface="Courier New"/>
              </a:rPr>
              <a:t>wil</a:t>
            </a:r>
            <a:r>
              <a:rPr dirty="0" smtClean="0" sz="600" spc="0">
                <a:latin typeface="Courier New"/>
                <a:cs typeface="Courier New"/>
              </a:rPr>
              <a:t>l</a:t>
            </a:r>
            <a:r>
              <a:rPr dirty="0" smtClean="0" sz="600" spc="-29">
                <a:latin typeface="Courier New"/>
                <a:cs typeface="Courier New"/>
              </a:rPr>
              <a:t> </a:t>
            </a:r>
            <a:r>
              <a:rPr dirty="0" smtClean="0" sz="600" spc="-9">
                <a:latin typeface="Courier New"/>
                <a:cs typeface="Courier New"/>
              </a:rPr>
              <a:t>nee</a:t>
            </a:r>
            <a:r>
              <a:rPr dirty="0" smtClean="0" sz="600" spc="0">
                <a:latin typeface="Courier New"/>
                <a:cs typeface="Courier New"/>
              </a:rPr>
              <a:t>d</a:t>
            </a:r>
            <a:r>
              <a:rPr dirty="0" smtClean="0" sz="600" spc="-29">
                <a:latin typeface="Courier New"/>
                <a:cs typeface="Courier New"/>
              </a:rPr>
              <a:t> </a:t>
            </a:r>
            <a:r>
              <a:rPr dirty="0" smtClean="0" sz="600" spc="-9">
                <a:latin typeface="Courier New"/>
                <a:cs typeface="Courier New"/>
              </a:rPr>
              <a:t>a</a:t>
            </a:r>
            <a:r>
              <a:rPr dirty="0" smtClean="0" sz="600" spc="0">
                <a:latin typeface="Courier New"/>
                <a:cs typeface="Courier New"/>
              </a:rPr>
              <a:t>t</a:t>
            </a:r>
            <a:r>
              <a:rPr dirty="0" smtClean="0" sz="600" spc="-29">
                <a:latin typeface="Courier New"/>
                <a:cs typeface="Courier New"/>
              </a:rPr>
              <a:t> </a:t>
            </a:r>
            <a:r>
              <a:rPr dirty="0" smtClean="0" sz="600" spc="-9">
                <a:latin typeface="Courier New"/>
                <a:cs typeface="Courier New"/>
              </a:rPr>
              <a:t>on</a:t>
            </a:r>
            <a:r>
              <a:rPr dirty="0" smtClean="0" sz="600" spc="0">
                <a:latin typeface="Courier New"/>
                <a:cs typeface="Courier New"/>
              </a:rPr>
              <a:t>e</a:t>
            </a:r>
            <a:r>
              <a:rPr dirty="0" smtClean="0" sz="600" spc="-29">
                <a:latin typeface="Courier New"/>
                <a:cs typeface="Courier New"/>
              </a:rPr>
              <a:t> </a:t>
            </a:r>
            <a:r>
              <a:rPr dirty="0" smtClean="0" sz="600" spc="-9">
                <a:latin typeface="Courier New"/>
                <a:cs typeface="Courier New"/>
              </a:rPr>
              <a:t>time;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97300" y="2341124"/>
            <a:ext cx="71120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40"/>
              </a:spcBef>
            </a:pPr>
            <a:r>
              <a:rPr dirty="0" smtClean="0" sz="600" spc="0">
                <a:latin typeface="Courier New"/>
                <a:cs typeface="Courier New"/>
              </a:rPr>
              <a:t>}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21325" y="4019474"/>
            <a:ext cx="601662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0">
                <a:latin typeface="Courier New"/>
                <a:cs typeface="Courier New"/>
              </a:rPr>
              <a:t>if</a:t>
            </a:r>
            <a:r>
              <a:rPr dirty="0" smtClean="0" sz="350" spc="44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(</a:t>
            </a:r>
            <a:r>
              <a:rPr dirty="0" smtClean="0" sz="350" spc="19">
                <a:latin typeface="Courier New"/>
                <a:cs typeface="Courier New"/>
              </a:rPr>
              <a:t>allCanFinish</a:t>
            </a:r>
            <a:r>
              <a:rPr dirty="0" smtClean="0" sz="350" spc="0">
                <a:latin typeface="Courier New"/>
                <a:cs typeface="Courier New"/>
              </a:rPr>
              <a:t>)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50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{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63975" y="4028999"/>
            <a:ext cx="549269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14">
                <a:latin typeface="Courier New"/>
                <a:cs typeface="Courier New"/>
              </a:rPr>
              <a:t>unsigne</a:t>
            </a:r>
            <a:r>
              <a:rPr dirty="0" smtClean="0" sz="350" spc="0">
                <a:latin typeface="Courier New"/>
                <a:cs typeface="Courier New"/>
              </a:rPr>
              <a:t>d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12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free[R];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21325" y="4152824"/>
            <a:ext cx="233362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14">
                <a:latin typeface="Courier New"/>
                <a:cs typeface="Courier New"/>
              </a:rPr>
              <a:t>}els</a:t>
            </a:r>
            <a:r>
              <a:rPr dirty="0" smtClean="0" sz="350" spc="0">
                <a:latin typeface="Courier New"/>
                <a:cs typeface="Courier New"/>
              </a:rPr>
              <a:t>e</a:t>
            </a:r>
            <a:r>
              <a:rPr dirty="0" smtClean="0" sz="350" spc="98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{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21325" y="4295699"/>
            <a:ext cx="53975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63975" y="4305224"/>
            <a:ext cx="1320799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14">
                <a:latin typeface="Courier New"/>
                <a:cs typeface="Courier New"/>
              </a:rPr>
              <a:t>fo</a:t>
            </a:r>
            <a:r>
              <a:rPr dirty="0" smtClean="0" sz="350" spc="0">
                <a:latin typeface="Courier New"/>
                <a:cs typeface="Courier New"/>
              </a:rPr>
              <a:t>r</a:t>
            </a:r>
            <a:r>
              <a:rPr dirty="0" smtClean="0" sz="350" spc="88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(i=0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118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i</a:t>
            </a:r>
            <a:r>
              <a:rPr dirty="0" smtClean="0" sz="350" spc="0">
                <a:latin typeface="Courier New"/>
                <a:cs typeface="Courier New"/>
              </a:rPr>
              <a:t>&lt;</a:t>
            </a:r>
            <a:r>
              <a:rPr dirty="0" smtClean="0" sz="350" spc="74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P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74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i++</a:t>
            </a:r>
            <a:r>
              <a:rPr dirty="0" smtClean="0" sz="350" spc="0">
                <a:latin typeface="Courier New"/>
                <a:cs typeface="Courier New"/>
              </a:rPr>
              <a:t>)</a:t>
            </a:r>
            <a:r>
              <a:rPr dirty="0" smtClean="0" sz="350" spc="178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canFinis</a:t>
            </a:r>
            <a:r>
              <a:rPr dirty="0" smtClean="0" sz="350" spc="-50">
                <a:latin typeface="Courier New"/>
                <a:cs typeface="Courier New"/>
              </a:rPr>
              <a:t>h</a:t>
            </a:r>
            <a:r>
              <a:rPr dirty="0" smtClean="0" sz="350" spc="14">
                <a:latin typeface="Courier New"/>
                <a:cs typeface="Courier New"/>
              </a:rPr>
              <a:t>[i</a:t>
            </a:r>
            <a:r>
              <a:rPr dirty="0" smtClean="0" sz="350" spc="0">
                <a:latin typeface="Courier New"/>
                <a:cs typeface="Courier New"/>
              </a:rPr>
              <a:t>]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31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79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FALSE;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25900" y="4657649"/>
            <a:ext cx="663571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14">
                <a:latin typeface="Courier New"/>
                <a:cs typeface="Courier New"/>
              </a:rPr>
              <a:t>allCanFinis</a:t>
            </a:r>
            <a:r>
              <a:rPr dirty="0" smtClean="0" sz="350" spc="0">
                <a:latin typeface="Courier New"/>
                <a:cs typeface="Courier New"/>
              </a:rPr>
              <a:t>h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71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39">
                <a:latin typeface="Courier New"/>
                <a:cs typeface="Courier New"/>
              </a:rPr>
              <a:t> </a:t>
            </a:r>
            <a:r>
              <a:rPr dirty="0" smtClean="0" sz="350" spc="9">
                <a:latin typeface="Courier New"/>
                <a:cs typeface="Courier New"/>
              </a:rPr>
              <a:t>FALSE;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97325" y="5133899"/>
            <a:ext cx="844550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mtClean="0" sz="350" spc="25">
                <a:latin typeface="Courier New"/>
                <a:cs typeface="Courier New"/>
              </a:rPr>
              <a:t>i</a:t>
            </a:r>
            <a:r>
              <a:rPr dirty="0" smtClean="0" sz="350" spc="0">
                <a:latin typeface="Courier New"/>
                <a:cs typeface="Courier New"/>
              </a:rPr>
              <a:t>f</a:t>
            </a:r>
            <a:r>
              <a:rPr dirty="0" smtClean="0" sz="350" spc="39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(</a:t>
            </a:r>
            <a:r>
              <a:rPr dirty="0" smtClean="0" sz="350" spc="19">
                <a:latin typeface="Courier New"/>
                <a:cs typeface="Courier New"/>
              </a:rPr>
              <a:t>couldGetAllResources</a:t>
            </a:r>
            <a:r>
              <a:rPr dirty="0" smtClean="0" sz="350" spc="75">
                <a:latin typeface="Courier New"/>
                <a:cs typeface="Courier New"/>
              </a:rPr>
              <a:t>)</a:t>
            </a:r>
            <a:r>
              <a:rPr dirty="0" smtClean="0" sz="350" spc="0">
                <a:latin typeface="Courier New"/>
                <a:cs typeface="Courier New"/>
              </a:rPr>
              <a:t>{</a:t>
            </a:r>
            <a:r>
              <a:rPr dirty="0" smtClean="0" sz="350" spc="-134">
                <a:latin typeface="Courier New"/>
                <a:cs typeface="Courier New"/>
              </a:rPr>
              <a:t> 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11625" y="5276774"/>
            <a:ext cx="1539855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19">
                <a:latin typeface="Courier New"/>
                <a:cs typeface="Courier New"/>
              </a:rPr>
              <a:t>fo</a:t>
            </a:r>
            <a:r>
              <a:rPr dirty="0" smtClean="0" sz="350" spc="0">
                <a:latin typeface="Courier New"/>
                <a:cs typeface="Courier New"/>
              </a:rPr>
              <a:t>r</a:t>
            </a:r>
            <a:r>
              <a:rPr dirty="0" smtClean="0" sz="350" spc="88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(i=0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118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i</a:t>
            </a:r>
            <a:r>
              <a:rPr dirty="0" smtClean="0" sz="350" spc="0">
                <a:latin typeface="Courier New"/>
                <a:cs typeface="Courier New"/>
              </a:rPr>
              <a:t>&lt;</a:t>
            </a:r>
            <a:r>
              <a:rPr dirty="0" smtClean="0" sz="350" spc="74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R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74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i++</a:t>
            </a:r>
            <a:r>
              <a:rPr dirty="0" smtClean="0" sz="350" spc="0">
                <a:latin typeface="Courier New"/>
                <a:cs typeface="Courier New"/>
              </a:rPr>
              <a:t>)</a:t>
            </a:r>
            <a:r>
              <a:rPr dirty="0" smtClean="0" sz="350" spc="103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free[j</a:t>
            </a:r>
            <a:r>
              <a:rPr dirty="0" smtClean="0" sz="350" spc="0">
                <a:latin typeface="Courier New"/>
                <a:cs typeface="Courier New"/>
              </a:rPr>
              <a:t>]</a:t>
            </a:r>
            <a:r>
              <a:rPr dirty="0" smtClean="0" sz="350" spc="147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+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74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allocation[i][j];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02075" y="6929906"/>
            <a:ext cx="2105192" cy="1111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825"/>
              </a:lnSpc>
              <a:spcBef>
                <a:spcPts val="41"/>
              </a:spcBef>
            </a:pPr>
            <a:r>
              <a:rPr dirty="0" smtClean="0" sz="650" spc="4">
                <a:latin typeface="Comic Sans MS"/>
                <a:cs typeface="Comic Sans MS"/>
              </a:rPr>
              <a:t>th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75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syste</a:t>
            </a:r>
            <a:r>
              <a:rPr dirty="0" smtClean="0" sz="650" spc="0">
                <a:latin typeface="Comic Sans MS"/>
                <a:cs typeface="Comic Sans MS"/>
              </a:rPr>
              <a:t>m</a:t>
            </a:r>
            <a:r>
              <a:rPr dirty="0" smtClean="0" sz="650" spc="13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dea</a:t>
            </a:r>
            <a:r>
              <a:rPr dirty="0" smtClean="0" sz="650" spc="0">
                <a:latin typeface="Comic Sans MS"/>
                <a:cs typeface="Comic Sans MS"/>
              </a:rPr>
              <a:t>l</a:t>
            </a:r>
            <a:r>
              <a:rPr dirty="0" smtClean="0" sz="650" spc="9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wit</a:t>
            </a:r>
            <a:r>
              <a:rPr dirty="0" smtClean="0" sz="650" spc="0">
                <a:latin typeface="Comic Sans MS"/>
                <a:cs typeface="Comic Sans MS"/>
              </a:rPr>
              <a:t>h</a:t>
            </a:r>
            <a:r>
              <a:rPr dirty="0" smtClean="0" sz="650" spc="8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deadloc</a:t>
            </a:r>
            <a:r>
              <a:rPr dirty="0" smtClean="0" sz="650" spc="0">
                <a:latin typeface="Comic Sans MS"/>
                <a:cs typeface="Comic Sans MS"/>
              </a:rPr>
              <a:t>k</a:t>
            </a:r>
            <a:r>
              <a:rPr dirty="0" smtClean="0" sz="650" spc="12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i</a:t>
            </a:r>
            <a:r>
              <a:rPr dirty="0" smtClean="0" sz="650" spc="0">
                <a:latin typeface="Comic Sans MS"/>
                <a:cs typeface="Comic Sans MS"/>
              </a:rPr>
              <a:t>f</a:t>
            </a:r>
            <a:r>
              <a:rPr dirty="0" smtClean="0" sz="650" spc="6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(when!</a:t>
            </a:r>
            <a:r>
              <a:rPr dirty="0" smtClean="0" sz="650" spc="0">
                <a:latin typeface="Comic Sans MS"/>
                <a:cs typeface="Comic Sans MS"/>
              </a:rPr>
              <a:t>)</a:t>
            </a:r>
            <a:r>
              <a:rPr dirty="0" smtClean="0" sz="650" spc="109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i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59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occurs:</a:t>
            </a:r>
            <a:endParaRPr sz="65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16375" y="7261289"/>
            <a:ext cx="282577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750"/>
              </a:lnSpc>
              <a:spcBef>
                <a:spcPts val="37"/>
              </a:spcBef>
            </a:pPr>
            <a:r>
              <a:rPr dirty="0" smtClean="0" sz="600" spc="-19">
                <a:latin typeface="Comic Sans MS"/>
                <a:cs typeface="Comic Sans MS"/>
              </a:rPr>
              <a:t>recover</a:t>
            </a:r>
            <a:endParaRPr sz="6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16375" y="7451789"/>
            <a:ext cx="1901818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750"/>
              </a:lnSpc>
              <a:spcBef>
                <a:spcPts val="37"/>
              </a:spcBef>
            </a:pPr>
            <a:r>
              <a:rPr dirty="0" smtClean="0" sz="600" spc="-4">
                <a:latin typeface="Comic Sans MS"/>
                <a:cs typeface="Comic Sans MS"/>
              </a:rPr>
              <a:t>recover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("dar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6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m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proces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i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hun</a:t>
            </a:r>
            <a:r>
              <a:rPr dirty="0" smtClean="0" sz="600" spc="0">
                <a:latin typeface="Comic Sans MS"/>
                <a:cs typeface="Comic Sans MS"/>
              </a:rPr>
              <a:t>g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again..kil</a:t>
            </a:r>
            <a:r>
              <a:rPr dirty="0" smtClean="0" sz="600" spc="0">
                <a:latin typeface="Comic Sans MS"/>
                <a:cs typeface="Comic Sans MS"/>
              </a:rPr>
              <a:t>l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process")</a:t>
            </a:r>
            <a:endParaRPr sz="6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30650" y="7689914"/>
            <a:ext cx="2092305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750"/>
              </a:lnSpc>
              <a:spcBef>
                <a:spcPts val="37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Forc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philosophe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pu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dow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chopstic</a:t>
            </a:r>
            <a:r>
              <a:rPr dirty="0" smtClean="0" sz="600" spc="0">
                <a:latin typeface="Comic Sans MS"/>
                <a:cs typeface="Comic Sans MS"/>
              </a:rPr>
              <a:t>k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=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preemption</a:t>
            </a:r>
            <a:endParaRPr sz="6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3850" y="8934579"/>
            <a:ext cx="141224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00"/>
              </a:lnSpc>
              <a:spcBef>
                <a:spcPts val="70"/>
              </a:spcBef>
            </a:pPr>
            <a:r>
              <a:rPr dirty="0" smtClean="0" baseline="1993" sz="1800" spc="0">
                <a:latin typeface="Comic Sans MS"/>
                <a:cs typeface="Comic Sans MS"/>
              </a:rPr>
              <a:t>6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29025" y="6219825"/>
            <a:ext cx="2676525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If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3" u="sng">
                <a:solidFill>
                  <a:srgbClr val="3333CC"/>
                </a:solidFill>
                <a:latin typeface="Comic Sans MS"/>
                <a:cs typeface="Comic Sans MS"/>
              </a:rPr>
              <a:t>don't</a:t>
            </a:r>
            <a:r>
              <a:rPr dirty="0" smtClean="0" sz="1200" spc="73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prevent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deadlock?</a:t>
            </a:r>
            <a:endParaRPr sz="1200">
              <a:latin typeface="Comic Sans MS"/>
              <a:cs typeface="Comic Sans MS"/>
            </a:endParaRPr>
          </a:p>
          <a:p>
            <a:pPr marL="285750" marR="363743" indent="-104775">
              <a:lnSpc>
                <a:spcPts val="830"/>
              </a:lnSpc>
              <a:spcBef>
                <a:spcPts val="1277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I</a:t>
            </a:r>
            <a:r>
              <a:rPr dirty="0" smtClean="0" sz="650" spc="0">
                <a:latin typeface="Comic Sans MS"/>
                <a:cs typeface="Comic Sans MS"/>
              </a:rPr>
              <a:t>f</a:t>
            </a:r>
            <a:r>
              <a:rPr dirty="0" smtClean="0" sz="650" spc="75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don'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-26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preven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12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deadloc</a:t>
            </a:r>
            <a:r>
              <a:rPr dirty="0" smtClean="0" sz="650" spc="0">
                <a:latin typeface="Comic Sans MS"/>
                <a:cs typeface="Comic Sans MS"/>
              </a:rPr>
              <a:t>k</a:t>
            </a:r>
            <a:r>
              <a:rPr dirty="0" smtClean="0" sz="650" spc="134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-</a:t>
            </a:r>
            <a:r>
              <a:rPr dirty="0" smtClean="0" sz="650" spc="60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eithe</a:t>
            </a:r>
            <a:r>
              <a:rPr dirty="0" smtClean="0" sz="650" spc="0">
                <a:latin typeface="Comic Sans MS"/>
                <a:cs typeface="Comic Sans MS"/>
              </a:rPr>
              <a:t>r</a:t>
            </a:r>
            <a:r>
              <a:rPr dirty="0" smtClean="0" sz="650" spc="96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deadlock</a:t>
            </a:r>
            <a:r>
              <a:rPr dirty="0" smtClean="0" sz="650" spc="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preventio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135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o</a:t>
            </a:r>
            <a:r>
              <a:rPr dirty="0" smtClean="0" sz="650" spc="0">
                <a:latin typeface="Comic Sans MS"/>
                <a:cs typeface="Comic Sans MS"/>
              </a:rPr>
              <a:t>r</a:t>
            </a:r>
            <a:r>
              <a:rPr dirty="0" smtClean="0" sz="650" spc="5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deadloc</a:t>
            </a:r>
            <a:r>
              <a:rPr dirty="0" smtClean="0" sz="650" spc="0">
                <a:latin typeface="Comic Sans MS"/>
                <a:cs typeface="Comic Sans MS"/>
              </a:rPr>
              <a:t>k</a:t>
            </a:r>
            <a:r>
              <a:rPr dirty="0" smtClean="0" sz="650" spc="11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avoidance)</a:t>
            </a:r>
            <a:r>
              <a:rPr dirty="0" smtClean="0" sz="650" spc="0">
                <a:latin typeface="Comic Sans MS"/>
                <a:cs typeface="Comic Sans MS"/>
              </a:rPr>
              <a:t>-</a:t>
            </a:r>
            <a:r>
              <a:rPr dirty="0" smtClean="0" sz="650" spc="0">
                <a:latin typeface="Comic Sans MS"/>
                <a:cs typeface="Comic Sans MS"/>
              </a:rPr>
              <a:t> </a:t>
            </a:r>
            <a:r>
              <a:rPr dirty="0" smtClean="0" sz="650" spc="185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then</a:t>
            </a:r>
            <a:r>
              <a:rPr dirty="0" smtClean="0" sz="650" spc="76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how</a:t>
            </a:r>
            <a:r>
              <a:rPr dirty="0" smtClean="0" sz="650" spc="69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will</a:t>
            </a:r>
            <a:endParaRPr sz="65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951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Tw</a:t>
            </a:r>
            <a:r>
              <a:rPr dirty="0" smtClean="0" sz="650" spc="0">
                <a:latin typeface="Comic Sans MS"/>
                <a:cs typeface="Comic Sans MS"/>
              </a:rPr>
              <a:t>o</a:t>
            </a:r>
            <a:r>
              <a:rPr dirty="0" smtClean="0" sz="650" spc="76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choices</a:t>
            </a:r>
            <a:endParaRPr sz="650">
              <a:latin typeface="Comic Sans MS"/>
              <a:cs typeface="Comic Sans MS"/>
            </a:endParaRPr>
          </a:p>
          <a:p>
            <a:pPr marL="314325">
              <a:lnSpc>
                <a:spcPts val="810"/>
              </a:lnSpc>
              <a:spcBef>
                <a:spcPts val="40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Enabl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syste</a:t>
            </a:r>
            <a:r>
              <a:rPr dirty="0" smtClean="0" sz="600" spc="0">
                <a:latin typeface="Comic Sans MS"/>
                <a:cs typeface="Comic Sans MS"/>
              </a:rPr>
              <a:t>m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detec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deadlock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an</a:t>
            </a:r>
            <a:r>
              <a:rPr dirty="0" smtClean="0" sz="600" spc="0">
                <a:latin typeface="Comic Sans MS"/>
                <a:cs typeface="Comic Sans MS"/>
              </a:rPr>
              <a:t>d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i</a:t>
            </a:r>
            <a:r>
              <a:rPr dirty="0" smtClean="0" sz="600" spc="0">
                <a:latin typeface="Comic Sans MS"/>
                <a:cs typeface="Comic Sans MS"/>
              </a:rPr>
              <a:t>f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i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does</a:t>
            </a:r>
            <a:endParaRPr sz="600">
              <a:latin typeface="Comic Sans MS"/>
              <a:cs typeface="Comic Sans MS"/>
            </a:endParaRPr>
          </a:p>
          <a:p>
            <a:pPr marL="314325">
              <a:lnSpc>
                <a:spcPct val="116129"/>
              </a:lnSpc>
              <a:spcBef>
                <a:spcPts val="698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Hop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the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neve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happe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an</a:t>
            </a:r>
            <a:r>
              <a:rPr dirty="0" smtClean="0" sz="600" spc="0">
                <a:latin typeface="Comic Sans MS"/>
                <a:cs typeface="Comic Sans MS"/>
              </a:rPr>
              <a:t>d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rel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manua</a:t>
            </a:r>
            <a:r>
              <a:rPr dirty="0" smtClean="0" sz="600" spc="0">
                <a:latin typeface="Comic Sans MS"/>
                <a:cs typeface="Comic Sans MS"/>
              </a:rPr>
              <a:t>l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detectio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and</a:t>
            </a:r>
            <a:endParaRPr sz="60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833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Dinin</a:t>
            </a:r>
            <a:r>
              <a:rPr dirty="0" smtClean="0" sz="650" spc="0">
                <a:latin typeface="Comic Sans MS"/>
                <a:cs typeface="Comic Sans MS"/>
              </a:rPr>
              <a:t>g</a:t>
            </a:r>
            <a:r>
              <a:rPr dirty="0" smtClean="0" sz="650" spc="20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Philosophers?</a:t>
            </a:r>
            <a:endParaRPr sz="650">
              <a:latin typeface="Comic Sans MS"/>
              <a:cs typeface="Comic Sans MS"/>
            </a:endParaRPr>
          </a:p>
          <a:p>
            <a:pPr marL="314325">
              <a:lnSpc>
                <a:spcPct val="116129"/>
              </a:lnSpc>
              <a:spcBef>
                <a:spcPts val="874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Kill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philosopher?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(sounds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bit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brutal)</a:t>
            </a:r>
            <a:endParaRPr sz="600">
              <a:latin typeface="Comic Sans MS"/>
              <a:cs typeface="Comic Sans MS"/>
            </a:endParaRPr>
          </a:p>
          <a:p>
            <a:pPr marL="314325">
              <a:lnSpc>
                <a:spcPts val="825"/>
              </a:lnSpc>
              <a:spcBef>
                <a:spcPts val="41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Kil</a:t>
            </a:r>
            <a:r>
              <a:rPr dirty="0" smtClean="0" sz="600" spc="0">
                <a:latin typeface="Comic Sans MS"/>
                <a:cs typeface="Comic Sans MS"/>
              </a:rPr>
              <a:t>l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al</a:t>
            </a:r>
            <a:r>
              <a:rPr dirty="0" smtClean="0" sz="600" spc="0">
                <a:latin typeface="Comic Sans MS"/>
                <a:cs typeface="Comic Sans MS"/>
              </a:rPr>
              <a:t>l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philosophers?</a:t>
            </a:r>
            <a:endParaRPr sz="600">
              <a:latin typeface="Comic Sans MS"/>
              <a:cs typeface="Comic Sans MS"/>
            </a:endParaRPr>
          </a:p>
          <a:p>
            <a:pPr marR="104775" algn="r">
              <a:lnSpc>
                <a:spcPct val="100000"/>
              </a:lnSpc>
              <a:spcBef>
                <a:spcPts val="957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3</a:t>
            </a:r>
            <a:r>
              <a:rPr dirty="0" smtClean="0" sz="350" spc="0">
                <a:latin typeface="Times New Roman"/>
                <a:cs typeface="Times New Roman"/>
              </a:rPr>
              <a:t>6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3400" y="6219825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9" u="sng">
                <a:solidFill>
                  <a:srgbClr val="3333CC"/>
                </a:solidFill>
                <a:latin typeface="Comic Sans MS"/>
                <a:cs typeface="Comic Sans MS"/>
              </a:rPr>
              <a:t>Avoidance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vs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25" u="sng">
                <a:solidFill>
                  <a:srgbClr val="3333CC"/>
                </a:solidFill>
                <a:latin typeface="Comic Sans MS"/>
                <a:cs typeface="Comic Sans MS"/>
              </a:rPr>
              <a:t>Prevention</a:t>
            </a:r>
            <a:endParaRPr sz="1200">
              <a:latin typeface="Comic Sans MS"/>
              <a:cs typeface="Comic Sans MS"/>
            </a:endParaRPr>
          </a:p>
          <a:p>
            <a:pPr marL="285750" marR="762172" indent="-104775">
              <a:lnSpc>
                <a:spcPts val="980"/>
              </a:lnSpc>
              <a:spcBef>
                <a:spcPts val="1240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Typically,</a:t>
            </a:r>
            <a:r>
              <a:rPr dirty="0" smtClean="0" sz="800" spc="110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system</a:t>
            </a:r>
            <a:r>
              <a:rPr dirty="0" smtClean="0" sz="800" spc="8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does</a:t>
            </a:r>
            <a:r>
              <a:rPr dirty="0" smtClean="0" sz="800" spc="56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avoidance;</a:t>
            </a:r>
            <a:r>
              <a:rPr dirty="0" smtClean="0" sz="800" spc="0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Programmer</a:t>
            </a:r>
            <a:r>
              <a:rPr dirty="0" smtClean="0" sz="800" spc="125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does</a:t>
            </a:r>
            <a:r>
              <a:rPr dirty="0" smtClean="0" sz="800" spc="41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prevention</a:t>
            </a:r>
            <a:endParaRPr sz="80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71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Deadlock</a:t>
            </a:r>
            <a:r>
              <a:rPr dirty="0" smtClean="0" sz="800" spc="101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avoidance</a:t>
            </a:r>
            <a:r>
              <a:rPr dirty="0" smtClean="0" sz="800" spc="107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usually</a:t>
            </a:r>
            <a:r>
              <a:rPr dirty="0" smtClean="0" sz="800" spc="74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results</a:t>
            </a:r>
            <a:r>
              <a:rPr dirty="0" smtClean="0" sz="800" spc="78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in</a:t>
            </a:r>
            <a:endParaRPr sz="800">
              <a:latin typeface="Comic Sans MS"/>
              <a:cs typeface="Comic Sans MS"/>
            </a:endParaRPr>
          </a:p>
          <a:p>
            <a:pPr marL="285750">
              <a:lnSpc>
                <a:spcPts val="975"/>
              </a:lnSpc>
              <a:spcBef>
                <a:spcPts val="48"/>
              </a:spcBef>
            </a:pPr>
            <a:r>
              <a:rPr dirty="0" smtClean="0" baseline="2989" sz="1200" spc="0">
                <a:latin typeface="Comic Sans MS"/>
                <a:cs typeface="Comic Sans MS"/>
              </a:rPr>
              <a:t>higher</a:t>
            </a:r>
            <a:r>
              <a:rPr dirty="0" smtClean="0" baseline="2989" sz="1200" spc="56">
                <a:latin typeface="Comic Sans MS"/>
                <a:cs typeface="Comic Sans MS"/>
              </a:rPr>
              <a:t> </a:t>
            </a:r>
            <a:r>
              <a:rPr dirty="0" smtClean="0" baseline="2989" sz="1200" spc="0">
                <a:latin typeface="Comic Sans MS"/>
                <a:cs typeface="Comic Sans MS"/>
              </a:rPr>
              <a:t>resource</a:t>
            </a:r>
            <a:r>
              <a:rPr dirty="0" smtClean="0" baseline="2989" sz="1200" spc="83">
                <a:latin typeface="Comic Sans MS"/>
                <a:cs typeface="Comic Sans MS"/>
              </a:rPr>
              <a:t> </a:t>
            </a:r>
            <a:r>
              <a:rPr dirty="0" smtClean="0" baseline="2989" sz="1200" spc="0">
                <a:latin typeface="Comic Sans MS"/>
                <a:cs typeface="Comic Sans MS"/>
              </a:rPr>
              <a:t>allocation</a:t>
            </a:r>
            <a:r>
              <a:rPr dirty="0" smtClean="0" baseline="2989" sz="1200" spc="90">
                <a:latin typeface="Comic Sans MS"/>
                <a:cs typeface="Comic Sans MS"/>
              </a:rPr>
              <a:t> </a:t>
            </a:r>
            <a:r>
              <a:rPr dirty="0" smtClean="0" baseline="2989" sz="1200" spc="0">
                <a:latin typeface="Comic Sans MS"/>
                <a:cs typeface="Comic Sans MS"/>
              </a:rPr>
              <a:t>by</a:t>
            </a:r>
            <a:r>
              <a:rPr dirty="0" smtClean="0" baseline="2989" sz="1200" spc="11">
                <a:latin typeface="Comic Sans MS"/>
                <a:cs typeface="Comic Sans MS"/>
              </a:rPr>
              <a:t> </a:t>
            </a:r>
            <a:r>
              <a:rPr dirty="0" smtClean="0" baseline="2989" sz="1200" spc="0">
                <a:latin typeface="Comic Sans MS"/>
                <a:cs typeface="Comic Sans MS"/>
              </a:rPr>
              <a:t>allowing</a:t>
            </a:r>
            <a:r>
              <a:rPr dirty="0" smtClean="0" baseline="2989" sz="1200" spc="71">
                <a:latin typeface="Comic Sans MS"/>
                <a:cs typeface="Comic Sans MS"/>
              </a:rPr>
              <a:t> </a:t>
            </a:r>
            <a:r>
              <a:rPr dirty="0" smtClean="0" baseline="2989" sz="1200" spc="0">
                <a:latin typeface="Comic Sans MS"/>
                <a:cs typeface="Comic Sans MS"/>
              </a:rPr>
              <a:t>more</a:t>
            </a:r>
            <a:endParaRPr sz="800">
              <a:latin typeface="Comic Sans MS"/>
              <a:cs typeface="Comic Sans MS"/>
            </a:endParaRPr>
          </a:p>
          <a:p>
            <a:pPr marL="285750">
              <a:lnSpc>
                <a:spcPts val="975"/>
              </a:lnSpc>
            </a:pPr>
            <a:r>
              <a:rPr dirty="0" smtClean="0" baseline="2989" sz="1200" spc="-4">
                <a:latin typeface="Comic Sans MS"/>
                <a:cs typeface="Comic Sans MS"/>
              </a:rPr>
              <a:t>combination</a:t>
            </a:r>
            <a:r>
              <a:rPr dirty="0" smtClean="0" baseline="2989" sz="1200" spc="0">
                <a:latin typeface="Comic Sans MS"/>
                <a:cs typeface="Comic Sans MS"/>
              </a:rPr>
              <a:t>s</a:t>
            </a:r>
            <a:r>
              <a:rPr dirty="0" smtClean="0" baseline="2989" sz="1200" spc="154">
                <a:latin typeface="Comic Sans MS"/>
                <a:cs typeface="Comic Sans MS"/>
              </a:rPr>
              <a:t> </a:t>
            </a:r>
            <a:r>
              <a:rPr dirty="0" smtClean="0" baseline="2989" sz="1200" spc="-4">
                <a:latin typeface="Comic Sans MS"/>
                <a:cs typeface="Comic Sans MS"/>
              </a:rPr>
              <a:t>o</a:t>
            </a:r>
            <a:r>
              <a:rPr dirty="0" smtClean="0" baseline="2989" sz="1200" spc="0">
                <a:latin typeface="Comic Sans MS"/>
                <a:cs typeface="Comic Sans MS"/>
              </a:rPr>
              <a:t>f</a:t>
            </a:r>
            <a:r>
              <a:rPr dirty="0" smtClean="0" baseline="2989" sz="1200" spc="34">
                <a:latin typeface="Comic Sans MS"/>
                <a:cs typeface="Comic Sans MS"/>
              </a:rPr>
              <a:t> </a:t>
            </a:r>
            <a:r>
              <a:rPr dirty="0" smtClean="0" baseline="2989" sz="1200" spc="-4">
                <a:latin typeface="Comic Sans MS"/>
                <a:cs typeface="Comic Sans MS"/>
              </a:rPr>
              <a:t>resourc</a:t>
            </a:r>
            <a:r>
              <a:rPr dirty="0" smtClean="0" baseline="2989" sz="1200" spc="0">
                <a:latin typeface="Comic Sans MS"/>
                <a:cs typeface="Comic Sans MS"/>
              </a:rPr>
              <a:t>e</a:t>
            </a:r>
            <a:r>
              <a:rPr dirty="0" smtClean="0" baseline="2989" sz="1200" spc="108">
                <a:latin typeface="Comic Sans MS"/>
                <a:cs typeface="Comic Sans MS"/>
              </a:rPr>
              <a:t> </a:t>
            </a:r>
            <a:r>
              <a:rPr dirty="0" smtClean="0" baseline="2989" sz="1200" spc="-4">
                <a:latin typeface="Comic Sans MS"/>
                <a:cs typeface="Comic Sans MS"/>
              </a:rPr>
              <a:t>request</a:t>
            </a:r>
            <a:r>
              <a:rPr dirty="0" smtClean="0" baseline="2989" sz="1200" spc="0">
                <a:latin typeface="Comic Sans MS"/>
                <a:cs typeface="Comic Sans MS"/>
              </a:rPr>
              <a:t>s</a:t>
            </a:r>
            <a:r>
              <a:rPr dirty="0" smtClean="0" baseline="2989" sz="1200" spc="107">
                <a:latin typeface="Comic Sans MS"/>
                <a:cs typeface="Comic Sans MS"/>
              </a:rPr>
              <a:t> </a:t>
            </a:r>
            <a:r>
              <a:rPr dirty="0" smtClean="0" baseline="2989" sz="1200" spc="-4">
                <a:latin typeface="Comic Sans MS"/>
                <a:cs typeface="Comic Sans MS"/>
              </a:rPr>
              <a:t>to</a:t>
            </a:r>
            <a:endParaRPr sz="800">
              <a:latin typeface="Comic Sans MS"/>
              <a:cs typeface="Comic Sans MS"/>
            </a:endParaRPr>
          </a:p>
          <a:p>
            <a:pPr marL="285750">
              <a:lnSpc>
                <a:spcPts val="1050"/>
              </a:lnSpc>
              <a:spcBef>
                <a:spcPts val="3"/>
              </a:spcBef>
            </a:pPr>
            <a:r>
              <a:rPr dirty="0" smtClean="0" sz="800" spc="0">
                <a:latin typeface="Comic Sans MS"/>
                <a:cs typeface="Comic Sans MS"/>
              </a:rPr>
              <a:t>proceed</a:t>
            </a:r>
            <a:r>
              <a:rPr dirty="0" smtClean="0" sz="800" spc="74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than</a:t>
            </a:r>
            <a:r>
              <a:rPr dirty="0" smtClean="0" sz="800" spc="34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deadlock</a:t>
            </a:r>
            <a:r>
              <a:rPr dirty="0" smtClean="0" sz="800" spc="8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prevention</a:t>
            </a:r>
            <a:endParaRPr sz="800">
              <a:latin typeface="Comic Sans MS"/>
              <a:cs typeface="Comic Sans MS"/>
            </a:endParaRPr>
          </a:p>
          <a:p>
            <a:pPr marL="400050" marR="504702" indent="-85725">
              <a:lnSpc>
                <a:spcPct val="110555"/>
              </a:lnSpc>
              <a:spcBef>
                <a:spcPts val="82"/>
              </a:spcBef>
            </a:pPr>
            <a:r>
              <a:rPr dirty="0" smtClean="0" sz="50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500" spc="122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Not</a:t>
            </a:r>
            <a:r>
              <a:rPr dirty="0" smtClean="0" sz="650" spc="29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always</a:t>
            </a:r>
            <a:r>
              <a:rPr dirty="0" smtClean="0" sz="650" spc="147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–</a:t>
            </a:r>
            <a:r>
              <a:rPr dirty="0" smtClean="0" sz="650" spc="117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depend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9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o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4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rati</a:t>
            </a:r>
            <a:r>
              <a:rPr dirty="0" smtClean="0" sz="650" spc="0">
                <a:latin typeface="Comic Sans MS"/>
                <a:cs typeface="Comic Sans MS"/>
              </a:rPr>
              <a:t>o</a:t>
            </a:r>
            <a:r>
              <a:rPr dirty="0" smtClean="0" sz="650" spc="6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o</a:t>
            </a:r>
            <a:r>
              <a:rPr dirty="0" smtClean="0" sz="650" spc="0">
                <a:latin typeface="Comic Sans MS"/>
                <a:cs typeface="Comic Sans MS"/>
              </a:rPr>
              <a:t>f</a:t>
            </a:r>
            <a:r>
              <a:rPr dirty="0" smtClean="0" sz="650" spc="4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processes</a:t>
            </a:r>
            <a:r>
              <a:rPr dirty="0" smtClean="0" sz="650" spc="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maximu</a:t>
            </a:r>
            <a:r>
              <a:rPr dirty="0" smtClean="0" sz="650" spc="0">
                <a:latin typeface="Comic Sans MS"/>
                <a:cs typeface="Comic Sans MS"/>
              </a:rPr>
              <a:t>m</a:t>
            </a:r>
            <a:r>
              <a:rPr dirty="0" smtClean="0" sz="650" spc="132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resourc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29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demand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128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t</a:t>
            </a:r>
            <a:r>
              <a:rPr dirty="0" smtClean="0" sz="650" spc="0">
                <a:latin typeface="Comic Sans MS"/>
                <a:cs typeface="Comic Sans MS"/>
              </a:rPr>
              <a:t>o</a:t>
            </a:r>
            <a:r>
              <a:rPr dirty="0" smtClean="0" sz="650" spc="69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average</a:t>
            </a:r>
            <a:r>
              <a:rPr dirty="0" smtClean="0" sz="650" spc="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resourc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1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demands</a:t>
            </a:r>
            <a:endParaRPr sz="650">
              <a:latin typeface="Comic Sans MS"/>
              <a:cs typeface="Comic Sans MS"/>
            </a:endParaRPr>
          </a:p>
          <a:p>
            <a:pPr marR="114300" algn="r">
              <a:lnSpc>
                <a:spcPct val="100000"/>
              </a:lnSpc>
              <a:spcBef>
                <a:spcPts val="2342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3</a:t>
            </a:r>
            <a:r>
              <a:rPr dirty="0" smtClean="0" sz="350" spc="0">
                <a:latin typeface="Times New Roman"/>
                <a:cs typeface="Times New Roman"/>
              </a:rPr>
              <a:t>5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29025" y="3562350"/>
            <a:ext cx="2676525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56845" marR="1156962" algn="ctr">
              <a:lnSpc>
                <a:spcPct val="116129"/>
              </a:lnSpc>
            </a:pPr>
            <a:r>
              <a:rPr dirty="0" smtClean="0" sz="1200" spc="-13" u="sng">
                <a:solidFill>
                  <a:srgbClr val="3333CC"/>
                </a:solidFill>
                <a:latin typeface="Comic Sans MS"/>
                <a:cs typeface="Comic Sans MS"/>
              </a:rPr>
              <a:t>Banker's</a:t>
            </a:r>
            <a:r>
              <a:rPr dirty="0" smtClean="0" sz="1200" spc="78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Algorithm</a:t>
            </a:r>
            <a:endParaRPr sz="1200">
              <a:latin typeface="Comic Sans MS"/>
              <a:cs typeface="Comic Sans MS"/>
            </a:endParaRPr>
          </a:p>
          <a:p>
            <a:pPr marL="125699" marR="1163911" algn="ctr">
              <a:lnSpc>
                <a:spcPct val="94401"/>
              </a:lnSpc>
              <a:spcBef>
                <a:spcPts val="633"/>
              </a:spcBef>
            </a:pPr>
            <a:r>
              <a:rPr dirty="0" smtClean="0" sz="350" spc="0">
                <a:latin typeface="Courier New"/>
                <a:cs typeface="Courier New"/>
              </a:rPr>
              <a:t>BOOL</a:t>
            </a:r>
            <a:r>
              <a:rPr dirty="0" smtClean="0" sz="350" spc="148">
                <a:latin typeface="Courier New"/>
                <a:cs typeface="Courier New"/>
              </a:rPr>
              <a:t> </a:t>
            </a:r>
            <a:r>
              <a:rPr dirty="0" smtClean="0" sz="350" spc="15">
                <a:latin typeface="Courier New"/>
                <a:cs typeface="Courier New"/>
              </a:rPr>
              <a:t>canGrantSafely(unsigne</a:t>
            </a:r>
            <a:r>
              <a:rPr dirty="0" smtClean="0" sz="350" spc="0">
                <a:latin typeface="Courier New"/>
                <a:cs typeface="Courier New"/>
              </a:rPr>
              <a:t>d</a:t>
            </a:r>
            <a:r>
              <a:rPr dirty="0" smtClean="0" sz="350" spc="70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p</a:t>
            </a:r>
            <a:r>
              <a:rPr dirty="0" smtClean="0" sz="350" spc="0">
                <a:latin typeface="Courier New"/>
                <a:cs typeface="Courier New"/>
              </a:rPr>
              <a:t>,</a:t>
            </a:r>
            <a:r>
              <a:rPr dirty="0" smtClean="0" sz="350" spc="84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unsigne</a:t>
            </a:r>
            <a:r>
              <a:rPr dirty="0" smtClean="0" sz="350" spc="0">
                <a:latin typeface="Courier New"/>
                <a:cs typeface="Courier New"/>
              </a:rPr>
              <a:t>d</a:t>
            </a:r>
            <a:r>
              <a:rPr dirty="0" smtClean="0" sz="350" spc="172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r){</a:t>
            </a:r>
            <a:endParaRPr sz="350">
              <a:latin typeface="Courier New"/>
              <a:cs typeface="Courier New"/>
            </a:endParaRPr>
          </a:p>
          <a:p>
            <a:pPr marL="247650">
              <a:lnSpc>
                <a:spcPts val="546"/>
              </a:lnSpc>
              <a:spcBef>
                <a:spcPts val="578"/>
              </a:spcBef>
            </a:pPr>
            <a:r>
              <a:rPr dirty="0" smtClean="0" sz="350" spc="9">
                <a:latin typeface="Courier New"/>
                <a:cs typeface="Courier New"/>
              </a:rPr>
              <a:t>unsigne</a:t>
            </a:r>
            <a:r>
              <a:rPr dirty="0" smtClean="0" sz="350" spc="0">
                <a:latin typeface="Courier New"/>
                <a:cs typeface="Courier New"/>
              </a:rPr>
              <a:t>d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7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canFinis</a:t>
            </a:r>
            <a:r>
              <a:rPr dirty="0" smtClean="0" sz="350" spc="-50">
                <a:latin typeface="Courier New"/>
                <a:cs typeface="Courier New"/>
              </a:rPr>
              <a:t>h</a:t>
            </a:r>
            <a:r>
              <a:rPr dirty="0" smtClean="0" sz="350" spc="39">
                <a:latin typeface="Courier New"/>
                <a:cs typeface="Courier New"/>
              </a:rPr>
              <a:t>[P]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0">
                <a:latin typeface="Courier New"/>
                <a:cs typeface="Courier New"/>
              </a:rPr>
              <a:t>                                          </a:t>
            </a:r>
            <a:r>
              <a:rPr dirty="0" smtClean="0" sz="350" spc="121">
                <a:latin typeface="Courier New"/>
                <a:cs typeface="Courier New"/>
              </a:rPr>
              <a:t> </a:t>
            </a:r>
            <a:r>
              <a:rPr dirty="0" smtClean="0" baseline="25221" sz="525" spc="14">
                <a:latin typeface="Courier New"/>
                <a:cs typeface="Courier New"/>
              </a:rPr>
              <a:t>retur</a:t>
            </a:r>
            <a:r>
              <a:rPr dirty="0" smtClean="0" baseline="25221" sz="525" spc="0">
                <a:latin typeface="Courier New"/>
                <a:cs typeface="Courier New"/>
              </a:rPr>
              <a:t>n</a:t>
            </a:r>
            <a:r>
              <a:rPr dirty="0" smtClean="0" baseline="25221" sz="525" spc="118">
                <a:latin typeface="Courier New"/>
                <a:cs typeface="Courier New"/>
              </a:rPr>
              <a:t> </a:t>
            </a:r>
            <a:r>
              <a:rPr dirty="0" smtClean="0" baseline="25221" sz="525" spc="14">
                <a:latin typeface="Courier New"/>
                <a:cs typeface="Courier New"/>
              </a:rPr>
              <a:t>TRUE;</a:t>
            </a:r>
            <a:endParaRPr sz="350">
              <a:latin typeface="Courier New"/>
              <a:cs typeface="Courier New"/>
            </a:endParaRPr>
          </a:p>
          <a:p>
            <a:pPr marL="247650">
              <a:lnSpc>
                <a:spcPts val="446"/>
              </a:lnSpc>
              <a:spcBef>
                <a:spcPts val="603"/>
              </a:spcBef>
            </a:pPr>
            <a:r>
              <a:rPr dirty="0" smtClean="0" sz="350" spc="14">
                <a:latin typeface="Courier New"/>
                <a:cs typeface="Courier New"/>
              </a:rPr>
              <a:t>fo</a:t>
            </a:r>
            <a:r>
              <a:rPr dirty="0" smtClean="0" sz="350" spc="0">
                <a:latin typeface="Courier New"/>
                <a:cs typeface="Courier New"/>
              </a:rPr>
              <a:t>r</a:t>
            </a:r>
            <a:r>
              <a:rPr dirty="0" smtClean="0" sz="350" spc="104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(j=0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133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j</a:t>
            </a:r>
            <a:r>
              <a:rPr dirty="0" smtClean="0" sz="350" spc="0">
                <a:latin typeface="Courier New"/>
                <a:cs typeface="Courier New"/>
              </a:rPr>
              <a:t>&lt;</a:t>
            </a:r>
            <a:r>
              <a:rPr dirty="0" smtClean="0" sz="350" spc="89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R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89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j++</a:t>
            </a:r>
            <a:r>
              <a:rPr dirty="0" smtClean="0" sz="350" spc="0">
                <a:latin typeface="Courier New"/>
                <a:cs typeface="Courier New"/>
              </a:rPr>
              <a:t>)</a:t>
            </a:r>
            <a:r>
              <a:rPr dirty="0" smtClean="0" sz="350" spc="118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free[j</a:t>
            </a:r>
            <a:r>
              <a:rPr dirty="0" smtClean="0" sz="350" spc="0">
                <a:latin typeface="Courier New"/>
                <a:cs typeface="Courier New"/>
              </a:rPr>
              <a:t>]</a:t>
            </a:r>
            <a:r>
              <a:rPr dirty="0" smtClean="0" sz="350" spc="162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74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available[j]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0">
                <a:latin typeface="Courier New"/>
                <a:cs typeface="Courier New"/>
              </a:rPr>
              <a:t>                 </a:t>
            </a:r>
            <a:r>
              <a:rPr dirty="0" smtClean="0" sz="350" spc="101">
                <a:latin typeface="Courier New"/>
                <a:cs typeface="Courier New"/>
              </a:rPr>
              <a:t> </a:t>
            </a:r>
            <a:r>
              <a:rPr dirty="0" smtClean="0" baseline="8407" sz="525" spc="0">
                <a:latin typeface="Courier New"/>
                <a:cs typeface="Courier New"/>
              </a:rPr>
              <a:t>goto</a:t>
            </a:r>
            <a:r>
              <a:rPr dirty="0" smtClean="0" baseline="8407" sz="525" spc="148">
                <a:latin typeface="Courier New"/>
                <a:cs typeface="Courier New"/>
              </a:rPr>
              <a:t> </a:t>
            </a:r>
            <a:r>
              <a:rPr dirty="0" smtClean="0" baseline="8407" sz="525" spc="25">
                <a:latin typeface="Courier New"/>
                <a:cs typeface="Courier New"/>
              </a:rPr>
              <a:t>lookAtAl</a:t>
            </a:r>
            <a:r>
              <a:rPr dirty="0" smtClean="0" baseline="8407" sz="525" spc="-50">
                <a:latin typeface="Courier New"/>
                <a:cs typeface="Courier New"/>
              </a:rPr>
              <a:t>l</a:t>
            </a:r>
            <a:r>
              <a:rPr dirty="0" smtClean="0" baseline="8407" sz="525" spc="0">
                <a:latin typeface="Courier New"/>
                <a:cs typeface="Courier New"/>
              </a:rPr>
              <a:t>;</a:t>
            </a:r>
            <a:endParaRPr sz="350">
              <a:latin typeface="Courier New"/>
              <a:cs typeface="Courier New"/>
            </a:endParaRPr>
          </a:p>
          <a:p>
            <a:pPr marR="847725" algn="r">
              <a:lnSpc>
                <a:spcPct val="94401"/>
              </a:lnSpc>
              <a:spcBef>
                <a:spcPts val="578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  <a:p>
            <a:pPr marL="276225">
              <a:lnSpc>
                <a:spcPct val="94401"/>
              </a:lnSpc>
              <a:spcBef>
                <a:spcPts val="275"/>
              </a:spcBef>
            </a:pPr>
            <a:r>
              <a:rPr dirty="0" smtClean="0" sz="350" spc="25">
                <a:latin typeface="Courier New"/>
                <a:cs typeface="Courier New"/>
              </a:rPr>
              <a:t>lookAtAl</a:t>
            </a:r>
            <a:r>
              <a:rPr dirty="0" smtClean="0" sz="350" spc="-50">
                <a:latin typeface="Courier New"/>
                <a:cs typeface="Courier New"/>
              </a:rPr>
              <a:t>l</a:t>
            </a:r>
            <a:r>
              <a:rPr dirty="0" smtClean="0" sz="350" spc="0">
                <a:latin typeface="Courier New"/>
                <a:cs typeface="Courier New"/>
              </a:rPr>
              <a:t>:</a:t>
            </a:r>
            <a:r>
              <a:rPr dirty="0" smtClean="0" sz="350" spc="191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fo</a:t>
            </a:r>
            <a:r>
              <a:rPr dirty="0" smtClean="0" sz="350" spc="0">
                <a:latin typeface="Courier New"/>
                <a:cs typeface="Courier New"/>
              </a:rPr>
              <a:t>r</a:t>
            </a:r>
            <a:r>
              <a:rPr dirty="0" smtClean="0" sz="350" spc="88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(i=0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118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i</a:t>
            </a:r>
            <a:r>
              <a:rPr dirty="0" smtClean="0" sz="350" spc="0">
                <a:latin typeface="Courier New"/>
                <a:cs typeface="Courier New"/>
              </a:rPr>
              <a:t>&lt;</a:t>
            </a:r>
            <a:r>
              <a:rPr dirty="0" smtClean="0" sz="350" spc="74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P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74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i++){</a:t>
            </a:r>
            <a:endParaRPr sz="350">
              <a:latin typeface="Courier New"/>
              <a:cs typeface="Courier New"/>
            </a:endParaRPr>
          </a:p>
          <a:p>
            <a:pPr marL="304800">
              <a:lnSpc>
                <a:spcPct val="94401"/>
              </a:lnSpc>
              <a:spcBef>
                <a:spcPts val="125"/>
              </a:spcBef>
            </a:pPr>
            <a:r>
              <a:rPr dirty="0" smtClean="0" sz="350" spc="25">
                <a:latin typeface="Courier New"/>
                <a:cs typeface="Courier New"/>
              </a:rPr>
              <a:t>allCanFinis</a:t>
            </a:r>
            <a:r>
              <a:rPr dirty="0" smtClean="0" sz="350" spc="0">
                <a:latin typeface="Courier New"/>
                <a:cs typeface="Courier New"/>
              </a:rPr>
              <a:t>h</a:t>
            </a:r>
            <a:r>
              <a:rPr dirty="0" smtClean="0" sz="350" spc="141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79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TRUE;</a:t>
            </a:r>
            <a:endParaRPr sz="350">
              <a:latin typeface="Courier New"/>
              <a:cs typeface="Courier New"/>
            </a:endParaRPr>
          </a:p>
          <a:p>
            <a:pPr marL="304800">
              <a:lnSpc>
                <a:spcPct val="94401"/>
              </a:lnSpc>
              <a:spcBef>
                <a:spcPts val="125"/>
              </a:spcBef>
            </a:pPr>
            <a:r>
              <a:rPr dirty="0" smtClean="0" sz="350" spc="0">
                <a:latin typeface="Courier New"/>
                <a:cs typeface="Courier New"/>
              </a:rPr>
              <a:t>if</a:t>
            </a:r>
            <a:r>
              <a:rPr dirty="0" smtClean="0" sz="350" spc="119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(!</a:t>
            </a:r>
            <a:r>
              <a:rPr dirty="0" smtClean="0" sz="350" spc="14">
                <a:latin typeface="Courier New"/>
                <a:cs typeface="Courier New"/>
              </a:rPr>
              <a:t>canFinish</a:t>
            </a:r>
            <a:r>
              <a:rPr dirty="0" smtClean="0" sz="350" spc="19">
                <a:latin typeface="Courier New"/>
                <a:cs typeface="Courier New"/>
              </a:rPr>
              <a:t>[i])</a:t>
            </a:r>
            <a:endParaRPr sz="350">
              <a:latin typeface="Courier New"/>
              <a:cs typeface="Courier New"/>
            </a:endParaRPr>
          </a:p>
          <a:p>
            <a:pPr marL="383573" marR="1402748" algn="ctr">
              <a:lnSpc>
                <a:spcPct val="94401"/>
              </a:lnSpc>
              <a:spcBef>
                <a:spcPts val="728"/>
              </a:spcBef>
            </a:pPr>
            <a:r>
              <a:rPr dirty="0" smtClean="0" sz="350" spc="15">
                <a:latin typeface="Courier New"/>
                <a:cs typeface="Courier New"/>
              </a:rPr>
              <a:t>couldGetAllResource</a:t>
            </a:r>
            <a:r>
              <a:rPr dirty="0" smtClean="0" sz="350" spc="0">
                <a:latin typeface="Courier New"/>
                <a:cs typeface="Courier New"/>
              </a:rPr>
              <a:t>s</a:t>
            </a:r>
            <a:r>
              <a:rPr dirty="0" smtClean="0" sz="350" spc="117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39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TRUE;</a:t>
            </a:r>
            <a:endParaRPr sz="350">
              <a:latin typeface="Courier New"/>
              <a:cs typeface="Courier New"/>
            </a:endParaRPr>
          </a:p>
          <a:p>
            <a:pPr marL="400050">
              <a:lnSpc>
                <a:spcPct val="94401"/>
              </a:lnSpc>
              <a:spcBef>
                <a:spcPts val="125"/>
              </a:spcBef>
            </a:pPr>
            <a:r>
              <a:rPr dirty="0" smtClean="0" sz="350" spc="19">
                <a:latin typeface="Courier New"/>
                <a:cs typeface="Courier New"/>
              </a:rPr>
              <a:t>fo</a:t>
            </a:r>
            <a:r>
              <a:rPr dirty="0" smtClean="0" sz="350" spc="0">
                <a:latin typeface="Courier New"/>
                <a:cs typeface="Courier New"/>
              </a:rPr>
              <a:t>r</a:t>
            </a:r>
            <a:r>
              <a:rPr dirty="0" smtClean="0" sz="350" spc="113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(j=0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143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j</a:t>
            </a:r>
            <a:r>
              <a:rPr dirty="0" smtClean="0" sz="350" spc="0">
                <a:latin typeface="Courier New"/>
                <a:cs typeface="Courier New"/>
              </a:rPr>
              <a:t>&lt;</a:t>
            </a:r>
            <a:r>
              <a:rPr dirty="0" smtClean="0" sz="350" spc="99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R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99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j++){</a:t>
            </a:r>
            <a:endParaRPr sz="350">
              <a:latin typeface="Courier New"/>
              <a:cs typeface="Courier New"/>
            </a:endParaRPr>
          </a:p>
          <a:p>
            <a:pPr marL="495300">
              <a:lnSpc>
                <a:spcPct val="94401"/>
              </a:lnSpc>
              <a:spcBef>
                <a:spcPts val="125"/>
              </a:spcBef>
            </a:pPr>
            <a:r>
              <a:rPr dirty="0" smtClean="0" sz="350" spc="19">
                <a:latin typeface="Courier New"/>
                <a:cs typeface="Courier New"/>
              </a:rPr>
              <a:t>i</a:t>
            </a:r>
            <a:r>
              <a:rPr dirty="0" smtClean="0" sz="350" spc="0">
                <a:latin typeface="Courier New"/>
                <a:cs typeface="Courier New"/>
              </a:rPr>
              <a:t>f</a:t>
            </a:r>
            <a:r>
              <a:rPr dirty="0" smtClean="0" sz="350" spc="64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(maximum[i][j</a:t>
            </a:r>
            <a:r>
              <a:rPr dirty="0" smtClean="0" sz="350" spc="0">
                <a:latin typeface="Courier New"/>
                <a:cs typeface="Courier New"/>
              </a:rPr>
              <a:t>]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105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-</a:t>
            </a:r>
            <a:r>
              <a:rPr dirty="0" smtClean="0" sz="350" spc="29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allocation[i][j</a:t>
            </a:r>
            <a:r>
              <a:rPr dirty="0" smtClean="0" sz="350" spc="0">
                <a:latin typeface="Courier New"/>
                <a:cs typeface="Courier New"/>
              </a:rPr>
              <a:t>]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80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&gt;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109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free[j]){</a:t>
            </a:r>
            <a:endParaRPr sz="350">
              <a:latin typeface="Courier New"/>
              <a:cs typeface="Courier New"/>
            </a:endParaRPr>
          </a:p>
          <a:p>
            <a:pPr marL="704850">
              <a:lnSpc>
                <a:spcPct val="94401"/>
              </a:lnSpc>
              <a:spcBef>
                <a:spcPts val="200"/>
              </a:spcBef>
            </a:pPr>
            <a:r>
              <a:rPr dirty="0" smtClean="0" sz="350" spc="15">
                <a:latin typeface="Courier New"/>
                <a:cs typeface="Courier New"/>
              </a:rPr>
              <a:t>couldGetAllResource</a:t>
            </a:r>
            <a:r>
              <a:rPr dirty="0" smtClean="0" sz="350" spc="0">
                <a:latin typeface="Courier New"/>
                <a:cs typeface="Courier New"/>
              </a:rPr>
              <a:t>s</a:t>
            </a:r>
            <a:r>
              <a:rPr dirty="0" smtClean="0" sz="350" spc="117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59">
                <a:latin typeface="Courier New"/>
                <a:cs typeface="Courier New"/>
              </a:rPr>
              <a:t> </a:t>
            </a:r>
            <a:r>
              <a:rPr dirty="0" smtClean="0" sz="350" spc="29">
                <a:latin typeface="Courier New"/>
                <a:cs typeface="Courier New"/>
              </a:rPr>
              <a:t>FALSE;</a:t>
            </a:r>
            <a:endParaRPr sz="350">
              <a:latin typeface="Courier New"/>
              <a:cs typeface="Courier New"/>
            </a:endParaRPr>
          </a:p>
          <a:p>
            <a:pPr marL="495300">
              <a:lnSpc>
                <a:spcPct val="94401"/>
              </a:lnSpc>
              <a:spcBef>
                <a:spcPts val="125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  <a:p>
            <a:pPr marL="400050">
              <a:lnSpc>
                <a:spcPct val="94401"/>
              </a:lnSpc>
              <a:spcBef>
                <a:spcPts val="125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  <a:p>
            <a:pPr marL="476695" marR="1543495" algn="ctr">
              <a:lnSpc>
                <a:spcPct val="94401"/>
              </a:lnSpc>
              <a:spcBef>
                <a:spcPts val="728"/>
              </a:spcBef>
            </a:pPr>
            <a:r>
              <a:rPr dirty="0" smtClean="0" sz="350" spc="14">
                <a:latin typeface="Courier New"/>
                <a:cs typeface="Courier New"/>
              </a:rPr>
              <a:t>canFinish</a:t>
            </a:r>
            <a:r>
              <a:rPr dirty="0" smtClean="0" sz="350" spc="25">
                <a:latin typeface="Courier New"/>
                <a:cs typeface="Courier New"/>
              </a:rPr>
              <a:t>[i</a:t>
            </a:r>
            <a:r>
              <a:rPr dirty="0" smtClean="0" sz="350" spc="0">
                <a:latin typeface="Courier New"/>
                <a:cs typeface="Courier New"/>
              </a:rPr>
              <a:t>]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6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54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TRUE;</a:t>
            </a:r>
            <a:endParaRPr sz="350">
              <a:latin typeface="Courier New"/>
              <a:cs typeface="Courier New"/>
            </a:endParaRPr>
          </a:p>
          <a:p>
            <a:pPr marL="400050">
              <a:lnSpc>
                <a:spcPct val="94401"/>
              </a:lnSpc>
              <a:spcBef>
                <a:spcPts val="653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  <a:p>
            <a:pPr marL="333375">
              <a:lnSpc>
                <a:spcPct val="94401"/>
              </a:lnSpc>
              <a:spcBef>
                <a:spcPts val="125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  <a:p>
            <a:pPr marL="247650">
              <a:lnSpc>
                <a:spcPct val="100000"/>
              </a:lnSpc>
              <a:spcBef>
                <a:spcPts val="15"/>
              </a:spcBef>
            </a:pPr>
            <a:r>
              <a:rPr dirty="0" smtClean="0" sz="350">
                <a:latin typeface="Courier New"/>
                <a:cs typeface="Courier New"/>
              </a:rPr>
              <a:t>}</a:t>
            </a:r>
            <a:r>
              <a:rPr dirty="0" smtClean="0" sz="350" spc="29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//fo</a:t>
            </a:r>
            <a:r>
              <a:rPr dirty="0" smtClean="0" sz="350" spc="0">
                <a:latin typeface="Courier New"/>
                <a:cs typeface="Courier New"/>
              </a:rPr>
              <a:t>r</a:t>
            </a:r>
            <a:r>
              <a:rPr dirty="0" smtClean="0" sz="350" spc="29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al</a:t>
            </a:r>
            <a:r>
              <a:rPr dirty="0" smtClean="0" sz="350" spc="0">
                <a:latin typeface="Courier New"/>
                <a:cs typeface="Courier New"/>
              </a:rPr>
              <a:t>l</a:t>
            </a:r>
            <a:r>
              <a:rPr dirty="0" smtClean="0" sz="350" spc="29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processe</a:t>
            </a:r>
            <a:r>
              <a:rPr dirty="0" smtClean="0" sz="350" spc="0">
                <a:latin typeface="Courier New"/>
                <a:cs typeface="Courier New"/>
              </a:rPr>
              <a:t>s</a:t>
            </a:r>
            <a:r>
              <a:rPr dirty="0" smtClean="0" sz="350" spc="0">
                <a:latin typeface="Courier New"/>
                <a:cs typeface="Courier New"/>
              </a:rPr>
              <a:t>                                                           </a:t>
            </a:r>
            <a:r>
              <a:rPr dirty="0" smtClean="0" sz="350" spc="89">
                <a:latin typeface="Courier New"/>
                <a:cs typeface="Courier New"/>
              </a:rPr>
              <a:t> </a:t>
            </a:r>
            <a:r>
              <a:rPr dirty="0" smtClean="0" baseline="24846" sz="525" spc="0">
                <a:latin typeface="Times New Roman"/>
                <a:cs typeface="Times New Roman"/>
              </a:rPr>
              <a:t>-</a:t>
            </a:r>
            <a:r>
              <a:rPr dirty="0" smtClean="0" baseline="24846" sz="525" spc="-59">
                <a:latin typeface="Times New Roman"/>
                <a:cs typeface="Times New Roman"/>
              </a:rPr>
              <a:t> </a:t>
            </a:r>
            <a:r>
              <a:rPr dirty="0" smtClean="0" baseline="24846" sz="525" spc="39">
                <a:latin typeface="Times New Roman"/>
                <a:cs typeface="Times New Roman"/>
              </a:rPr>
              <a:t>3</a:t>
            </a:r>
            <a:r>
              <a:rPr dirty="0" smtClean="0" baseline="24846" sz="525" spc="0">
                <a:latin typeface="Times New Roman"/>
                <a:cs typeface="Times New Roman"/>
              </a:rPr>
              <a:t>4</a:t>
            </a:r>
            <a:r>
              <a:rPr dirty="0" smtClean="0" baseline="24846" sz="525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400" y="3562350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13" u="sng">
                <a:solidFill>
                  <a:srgbClr val="3333CC"/>
                </a:solidFill>
                <a:latin typeface="Comic Sans MS"/>
                <a:cs typeface="Comic Sans MS"/>
              </a:rPr>
              <a:t>Banker's</a:t>
            </a:r>
            <a:r>
              <a:rPr dirty="0" smtClean="0" sz="1200" spc="78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Algorithm</a:t>
            </a:r>
            <a:endParaRPr sz="1200">
              <a:latin typeface="Comic Sans MS"/>
              <a:cs typeface="Comic Sans MS"/>
            </a:endParaRPr>
          </a:p>
          <a:p>
            <a:pPr marL="142875">
              <a:lnSpc>
                <a:spcPct val="94401"/>
              </a:lnSpc>
              <a:spcBef>
                <a:spcPts val="625"/>
              </a:spcBef>
            </a:pPr>
            <a:r>
              <a:rPr dirty="0" smtClean="0" sz="450" spc="9">
                <a:latin typeface="Courier New"/>
                <a:cs typeface="Courier New"/>
              </a:rPr>
              <a:t>BOO</a:t>
            </a:r>
            <a:r>
              <a:rPr dirty="0" smtClean="0" sz="450" spc="0">
                <a:latin typeface="Courier New"/>
                <a:cs typeface="Courier New"/>
              </a:rPr>
              <a:t>L</a:t>
            </a:r>
            <a:r>
              <a:rPr dirty="0" smtClean="0" sz="450" spc="4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request(unsigne</a:t>
            </a:r>
            <a:r>
              <a:rPr dirty="0" smtClean="0" sz="450" spc="0">
                <a:latin typeface="Courier New"/>
                <a:cs typeface="Courier New"/>
              </a:rPr>
              <a:t>d</a:t>
            </a:r>
            <a:r>
              <a:rPr dirty="0" smtClean="0" sz="450" spc="4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p</a:t>
            </a:r>
            <a:r>
              <a:rPr dirty="0" smtClean="0" sz="450" spc="0">
                <a:latin typeface="Courier New"/>
                <a:cs typeface="Courier New"/>
              </a:rPr>
              <a:t>,</a:t>
            </a:r>
            <a:r>
              <a:rPr dirty="0" smtClean="0" sz="450" spc="4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unsigne</a:t>
            </a:r>
            <a:r>
              <a:rPr dirty="0" smtClean="0" sz="450" spc="0">
                <a:latin typeface="Courier New"/>
                <a:cs typeface="Courier New"/>
              </a:rPr>
              <a:t>d</a:t>
            </a:r>
            <a:r>
              <a:rPr dirty="0" smtClean="0" sz="450" spc="4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r){</a:t>
            </a:r>
            <a:endParaRPr sz="450">
              <a:latin typeface="Courier New"/>
              <a:cs typeface="Courier New"/>
            </a:endParaRPr>
          </a:p>
          <a:p>
            <a:pPr marL="247650">
              <a:lnSpc>
                <a:spcPct val="94401"/>
              </a:lnSpc>
              <a:spcBef>
                <a:spcPts val="90"/>
              </a:spcBef>
            </a:pPr>
            <a:r>
              <a:rPr dirty="0" smtClean="0" sz="450" spc="14">
                <a:latin typeface="Courier New"/>
                <a:cs typeface="Courier New"/>
              </a:rPr>
              <a:t>i</a:t>
            </a:r>
            <a:r>
              <a:rPr dirty="0" smtClean="0" sz="450" spc="0">
                <a:latin typeface="Courier New"/>
                <a:cs typeface="Courier New"/>
              </a:rPr>
              <a:t>f</a:t>
            </a:r>
            <a:r>
              <a:rPr dirty="0" smtClean="0" sz="450" spc="14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(allocation[p][r</a:t>
            </a:r>
            <a:r>
              <a:rPr dirty="0" smtClean="0" sz="450" spc="0">
                <a:latin typeface="Courier New"/>
                <a:cs typeface="Courier New"/>
              </a:rPr>
              <a:t>]</a:t>
            </a:r>
            <a:r>
              <a:rPr dirty="0" smtClean="0" sz="450" spc="14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+</a:t>
            </a:r>
            <a:r>
              <a:rPr dirty="0" smtClean="0" sz="450" spc="14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1</a:t>
            </a:r>
            <a:r>
              <a:rPr dirty="0" smtClean="0" sz="450" spc="14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&gt;</a:t>
            </a:r>
            <a:r>
              <a:rPr dirty="0" smtClean="0" sz="450" spc="14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maximum[p][r]){</a:t>
            </a:r>
            <a:endParaRPr sz="450">
              <a:latin typeface="Courier New"/>
              <a:cs typeface="Courier New"/>
            </a:endParaRPr>
          </a:p>
          <a:p>
            <a:pPr marL="409575" marR="1485706">
              <a:lnSpc>
                <a:spcPts val="509"/>
              </a:lnSpc>
              <a:spcBef>
                <a:spcPts val="165"/>
              </a:spcBef>
            </a:pPr>
            <a:r>
              <a:rPr dirty="0" smtClean="0" sz="450" spc="9">
                <a:latin typeface="Courier New"/>
                <a:cs typeface="Courier New"/>
              </a:rPr>
              <a:t>//</a:t>
            </a:r>
            <a:r>
              <a:rPr dirty="0" smtClean="0" sz="450" spc="0">
                <a:latin typeface="Courier New"/>
                <a:cs typeface="Courier New"/>
              </a:rPr>
              <a:t>p</a:t>
            </a:r>
            <a:r>
              <a:rPr dirty="0" smtClean="0" sz="450" spc="19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lie</a:t>
            </a:r>
            <a:r>
              <a:rPr dirty="0" smtClean="0" sz="450" spc="0">
                <a:latin typeface="Courier New"/>
                <a:cs typeface="Courier New"/>
              </a:rPr>
              <a:t>d</a:t>
            </a:r>
            <a:r>
              <a:rPr dirty="0" smtClean="0" sz="450" spc="19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abou</a:t>
            </a:r>
            <a:r>
              <a:rPr dirty="0" smtClean="0" sz="450" spc="0">
                <a:latin typeface="Courier New"/>
                <a:cs typeface="Courier New"/>
              </a:rPr>
              <a:t>t</a:t>
            </a:r>
            <a:r>
              <a:rPr dirty="0" smtClean="0" sz="450" spc="19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it</a:t>
            </a:r>
            <a:r>
              <a:rPr dirty="0" smtClean="0" sz="450" spc="0">
                <a:latin typeface="Courier New"/>
                <a:cs typeface="Courier New"/>
              </a:rPr>
              <a:t>s</a:t>
            </a:r>
            <a:r>
              <a:rPr dirty="0" smtClean="0" sz="450" spc="19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max</a:t>
            </a:r>
            <a:r>
              <a:rPr dirty="0" smtClean="0" sz="450" spc="9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retur</a:t>
            </a:r>
            <a:r>
              <a:rPr dirty="0" smtClean="0" sz="450" spc="0">
                <a:latin typeface="Courier New"/>
                <a:cs typeface="Courier New"/>
              </a:rPr>
              <a:t>n</a:t>
            </a:r>
            <a:r>
              <a:rPr dirty="0" smtClean="0" sz="450" spc="49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FALSE;</a:t>
            </a:r>
            <a:endParaRPr sz="450">
              <a:latin typeface="Courier New"/>
              <a:cs typeface="Courier New"/>
            </a:endParaRPr>
          </a:p>
          <a:p>
            <a:pPr marL="247650">
              <a:lnSpc>
                <a:spcPct val="94401"/>
              </a:lnSpc>
              <a:spcBef>
                <a:spcPts val="90"/>
              </a:spcBef>
            </a:pPr>
            <a:r>
              <a:rPr dirty="0" smtClean="0" sz="450" spc="0">
                <a:latin typeface="Courier New"/>
                <a:cs typeface="Courier New"/>
              </a:rPr>
              <a:t>}</a:t>
            </a:r>
            <a:endParaRPr sz="450">
              <a:latin typeface="Courier New"/>
              <a:cs typeface="Courier New"/>
            </a:endParaRPr>
          </a:p>
          <a:p>
            <a:pPr marL="247650">
              <a:lnSpc>
                <a:spcPct val="94401"/>
              </a:lnSpc>
              <a:spcBef>
                <a:spcPts val="765"/>
              </a:spcBef>
            </a:pPr>
            <a:r>
              <a:rPr dirty="0" smtClean="0" sz="450" spc="4">
                <a:latin typeface="Courier New"/>
                <a:cs typeface="Courier New"/>
              </a:rPr>
              <a:t>i</a:t>
            </a:r>
            <a:r>
              <a:rPr dirty="0" smtClean="0" sz="450" spc="0">
                <a:latin typeface="Courier New"/>
                <a:cs typeface="Courier New"/>
              </a:rPr>
              <a:t>f</a:t>
            </a:r>
            <a:r>
              <a:rPr dirty="0" smtClean="0" sz="450" spc="34">
                <a:latin typeface="Courier New"/>
                <a:cs typeface="Courier New"/>
              </a:rPr>
              <a:t> </a:t>
            </a:r>
            <a:r>
              <a:rPr dirty="0" smtClean="0" sz="450" spc="4">
                <a:latin typeface="Courier New"/>
                <a:cs typeface="Courier New"/>
              </a:rPr>
              <a:t>(available[p][r</a:t>
            </a:r>
            <a:r>
              <a:rPr dirty="0" smtClean="0" sz="450" spc="0">
                <a:latin typeface="Courier New"/>
                <a:cs typeface="Courier New"/>
              </a:rPr>
              <a:t>]</a:t>
            </a:r>
            <a:r>
              <a:rPr dirty="0" smtClean="0" sz="450" spc="34">
                <a:latin typeface="Courier New"/>
                <a:cs typeface="Courier New"/>
              </a:rPr>
              <a:t> </a:t>
            </a:r>
            <a:r>
              <a:rPr dirty="0" smtClean="0" sz="450" spc="4">
                <a:latin typeface="Courier New"/>
                <a:cs typeface="Courier New"/>
              </a:rPr>
              <a:t>=</a:t>
            </a:r>
            <a:r>
              <a:rPr dirty="0" smtClean="0" sz="450" spc="0">
                <a:latin typeface="Courier New"/>
                <a:cs typeface="Courier New"/>
              </a:rPr>
              <a:t>=</a:t>
            </a:r>
            <a:r>
              <a:rPr dirty="0" smtClean="0" sz="450" spc="34">
                <a:latin typeface="Courier New"/>
                <a:cs typeface="Courier New"/>
              </a:rPr>
              <a:t> </a:t>
            </a:r>
            <a:r>
              <a:rPr dirty="0" smtClean="0" sz="450" spc="4">
                <a:latin typeface="Courier New"/>
                <a:cs typeface="Courier New"/>
              </a:rPr>
              <a:t>0){</a:t>
            </a:r>
            <a:endParaRPr sz="450">
              <a:latin typeface="Courier New"/>
              <a:cs typeface="Courier New"/>
            </a:endParaRPr>
          </a:p>
          <a:p>
            <a:pPr marL="409575" marR="904683">
              <a:lnSpc>
                <a:spcPts val="509"/>
              </a:lnSpc>
              <a:spcBef>
                <a:spcPts val="90"/>
              </a:spcBef>
            </a:pPr>
            <a:r>
              <a:rPr dirty="0" smtClean="0" sz="450" spc="14">
                <a:latin typeface="Courier New"/>
                <a:cs typeface="Courier New"/>
              </a:rPr>
              <a:t>//can’</a:t>
            </a:r>
            <a:r>
              <a:rPr dirty="0" smtClean="0" sz="450" spc="0">
                <a:latin typeface="Courier New"/>
                <a:cs typeface="Courier New"/>
              </a:rPr>
              <a:t>t</a:t>
            </a:r>
            <a:r>
              <a:rPr dirty="0" smtClean="0" sz="450" spc="4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possibl</a:t>
            </a:r>
            <a:r>
              <a:rPr dirty="0" smtClean="0" sz="450" spc="0">
                <a:latin typeface="Courier New"/>
                <a:cs typeface="Courier New"/>
              </a:rPr>
              <a:t>y</a:t>
            </a:r>
            <a:r>
              <a:rPr dirty="0" smtClean="0" sz="450" spc="4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grant</a:t>
            </a:r>
            <a:r>
              <a:rPr dirty="0" smtClean="0" sz="450" spc="0">
                <a:latin typeface="Courier New"/>
                <a:cs typeface="Courier New"/>
              </a:rPr>
              <a:t>;</a:t>
            </a:r>
            <a:r>
              <a:rPr dirty="0" smtClean="0" sz="450" spc="4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non</a:t>
            </a:r>
            <a:r>
              <a:rPr dirty="0" smtClean="0" sz="450" spc="0">
                <a:latin typeface="Courier New"/>
                <a:cs typeface="Courier New"/>
              </a:rPr>
              <a:t>e</a:t>
            </a:r>
            <a:r>
              <a:rPr dirty="0" smtClean="0" sz="450" spc="4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available</a:t>
            </a:r>
            <a:r>
              <a:rPr dirty="0" smtClean="0" sz="450" spc="14">
                <a:latin typeface="Courier New"/>
                <a:cs typeface="Courier New"/>
              </a:rPr>
              <a:t> </a:t>
            </a:r>
            <a:endParaRPr sz="450">
              <a:latin typeface="Courier New"/>
              <a:cs typeface="Courier New"/>
            </a:endParaRPr>
          </a:p>
          <a:p>
            <a:pPr marL="409575" marR="904683">
              <a:lnSpc>
                <a:spcPts val="509"/>
              </a:lnSpc>
              <a:spcBef>
                <a:spcPts val="165"/>
              </a:spcBef>
            </a:pPr>
            <a:r>
              <a:rPr dirty="0" smtClean="0" sz="450" spc="19">
                <a:latin typeface="Courier New"/>
                <a:cs typeface="Courier New"/>
              </a:rPr>
              <a:t>retur</a:t>
            </a:r>
            <a:r>
              <a:rPr dirty="0" smtClean="0" sz="450" spc="0">
                <a:latin typeface="Courier New"/>
                <a:cs typeface="Courier New"/>
              </a:rPr>
              <a:t>n</a:t>
            </a:r>
            <a:r>
              <a:rPr dirty="0" smtClean="0" sz="450" spc="49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FALSE;</a:t>
            </a:r>
            <a:endParaRPr sz="450">
              <a:latin typeface="Courier New"/>
              <a:cs typeface="Courier New"/>
            </a:endParaRPr>
          </a:p>
          <a:p>
            <a:pPr marL="247650">
              <a:lnSpc>
                <a:spcPts val="434"/>
              </a:lnSpc>
              <a:spcBef>
                <a:spcPts val="186"/>
              </a:spcBef>
            </a:pPr>
            <a:r>
              <a:rPr dirty="0" smtClean="0" baseline="6538" sz="675" spc="0">
                <a:latin typeface="Courier New"/>
                <a:cs typeface="Courier New"/>
              </a:rPr>
              <a:t>}</a:t>
            </a:r>
            <a:endParaRPr sz="450">
              <a:latin typeface="Courier New"/>
              <a:cs typeface="Courier New"/>
            </a:endParaRPr>
          </a:p>
          <a:p>
            <a:pPr marL="409575" marR="1523813" indent="-161925">
              <a:lnSpc>
                <a:spcPts val="509"/>
              </a:lnSpc>
              <a:spcBef>
                <a:spcPts val="743"/>
              </a:spcBef>
            </a:pPr>
            <a:r>
              <a:rPr dirty="0" smtClean="0" sz="450" spc="29">
                <a:latin typeface="Courier New"/>
                <a:cs typeface="Courier New"/>
              </a:rPr>
              <a:t>i</a:t>
            </a:r>
            <a:r>
              <a:rPr dirty="0" smtClean="0" sz="450" spc="0">
                <a:latin typeface="Courier New"/>
                <a:cs typeface="Courier New"/>
              </a:rPr>
              <a:t>f</a:t>
            </a:r>
            <a:r>
              <a:rPr dirty="0" smtClean="0" sz="450" spc="59">
                <a:latin typeface="Courier New"/>
                <a:cs typeface="Courier New"/>
              </a:rPr>
              <a:t> </a:t>
            </a:r>
            <a:r>
              <a:rPr dirty="0" smtClean="0" sz="450" spc="29">
                <a:latin typeface="Courier New"/>
                <a:cs typeface="Courier New"/>
              </a:rPr>
              <a:t>(</a:t>
            </a:r>
            <a:r>
              <a:rPr dirty="0" smtClean="0" sz="450" spc="4">
                <a:latin typeface="Courier New"/>
                <a:cs typeface="Courier New"/>
              </a:rPr>
              <a:t>canGrantSafel</a:t>
            </a:r>
            <a:r>
              <a:rPr dirty="0" smtClean="0" sz="450" spc="0">
                <a:latin typeface="Courier New"/>
                <a:cs typeface="Courier New"/>
              </a:rPr>
              <a:t>y</a:t>
            </a:r>
            <a:r>
              <a:rPr dirty="0" smtClean="0" sz="450" spc="-189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(p</a:t>
            </a:r>
            <a:r>
              <a:rPr dirty="0" smtClean="0" sz="450" spc="0">
                <a:latin typeface="Courier New"/>
                <a:cs typeface="Courier New"/>
              </a:rPr>
              <a:t>,</a:t>
            </a:r>
            <a:r>
              <a:rPr dirty="0" smtClean="0" sz="450" spc="50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r))</a:t>
            </a:r>
            <a:r>
              <a:rPr dirty="0" smtClean="0" sz="450" spc="19">
                <a:latin typeface="Courier New"/>
                <a:cs typeface="Courier New"/>
              </a:rPr>
              <a:t> </a:t>
            </a:r>
            <a:endParaRPr sz="450">
              <a:latin typeface="Courier New"/>
              <a:cs typeface="Courier New"/>
            </a:endParaRPr>
          </a:p>
          <a:p>
            <a:pPr marL="409575" marR="1523813">
              <a:lnSpc>
                <a:spcPts val="509"/>
              </a:lnSpc>
              <a:spcBef>
                <a:spcPts val="115"/>
              </a:spcBef>
            </a:pPr>
            <a:r>
              <a:rPr dirty="0" smtClean="0" sz="450" spc="14">
                <a:latin typeface="Courier New"/>
                <a:cs typeface="Courier New"/>
              </a:rPr>
              <a:t>allocation[p][r]++;</a:t>
            </a:r>
            <a:r>
              <a:rPr dirty="0" smtClean="0" sz="450" spc="14">
                <a:latin typeface="Courier New"/>
                <a:cs typeface="Courier New"/>
              </a:rPr>
              <a:t> </a:t>
            </a:r>
            <a:endParaRPr sz="450">
              <a:latin typeface="Courier New"/>
              <a:cs typeface="Courier New"/>
            </a:endParaRPr>
          </a:p>
          <a:p>
            <a:pPr marL="409575" marR="1523813">
              <a:lnSpc>
                <a:spcPts val="509"/>
              </a:lnSpc>
              <a:spcBef>
                <a:spcPts val="115"/>
              </a:spcBef>
            </a:pPr>
            <a:r>
              <a:rPr dirty="0" smtClean="0" sz="450" spc="19">
                <a:latin typeface="Courier New"/>
                <a:cs typeface="Courier New"/>
              </a:rPr>
              <a:t>available[r]</a:t>
            </a:r>
            <a:r>
              <a:rPr dirty="0" smtClean="0" sz="450" spc="-44">
                <a:latin typeface="Courier New"/>
                <a:cs typeface="Courier New"/>
              </a:rPr>
              <a:t>-</a:t>
            </a:r>
            <a:r>
              <a:rPr dirty="0" smtClean="0" sz="450" spc="29">
                <a:latin typeface="Courier New"/>
                <a:cs typeface="Courier New"/>
              </a:rPr>
              <a:t>-</a:t>
            </a:r>
            <a:r>
              <a:rPr dirty="0" smtClean="0" sz="450" spc="0">
                <a:latin typeface="Courier New"/>
                <a:cs typeface="Courier New"/>
              </a:rPr>
              <a:t>;</a:t>
            </a:r>
            <a:r>
              <a:rPr dirty="0" smtClean="0" sz="450" spc="0">
                <a:latin typeface="Courier New"/>
                <a:cs typeface="Courier New"/>
              </a:rPr>
              <a:t> </a:t>
            </a:r>
            <a:endParaRPr sz="450">
              <a:latin typeface="Courier New"/>
              <a:cs typeface="Courier New"/>
            </a:endParaRPr>
          </a:p>
          <a:p>
            <a:pPr marL="409575" marR="1523813">
              <a:lnSpc>
                <a:spcPts val="509"/>
              </a:lnSpc>
              <a:spcBef>
                <a:spcPts val="115"/>
              </a:spcBef>
            </a:pPr>
            <a:r>
              <a:rPr dirty="0" smtClean="0" sz="450" spc="14">
                <a:latin typeface="Courier New"/>
                <a:cs typeface="Courier New"/>
              </a:rPr>
              <a:t>retur</a:t>
            </a:r>
            <a:r>
              <a:rPr dirty="0" smtClean="0" sz="450" spc="0">
                <a:latin typeface="Courier New"/>
                <a:cs typeface="Courier New"/>
              </a:rPr>
              <a:t>n</a:t>
            </a:r>
            <a:r>
              <a:rPr dirty="0" smtClean="0" sz="450" spc="44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TRUE;</a:t>
            </a:r>
            <a:endParaRPr sz="450">
              <a:latin typeface="Courier New"/>
              <a:cs typeface="Courier New"/>
            </a:endParaRPr>
          </a:p>
          <a:p>
            <a:pPr marL="247650">
              <a:lnSpc>
                <a:spcPts val="484"/>
              </a:lnSpc>
              <a:spcBef>
                <a:spcPts val="139"/>
              </a:spcBef>
            </a:pPr>
            <a:r>
              <a:rPr dirty="0" smtClean="0" baseline="6538" sz="675" spc="0">
                <a:latin typeface="Courier New"/>
                <a:cs typeface="Courier New"/>
              </a:rPr>
              <a:t>}</a:t>
            </a:r>
            <a:r>
              <a:rPr dirty="0" smtClean="0" baseline="6538" sz="675" spc="44">
                <a:latin typeface="Courier New"/>
                <a:cs typeface="Courier New"/>
              </a:rPr>
              <a:t> </a:t>
            </a:r>
            <a:r>
              <a:rPr dirty="0" smtClean="0" baseline="6538" sz="675" spc="19">
                <a:latin typeface="Courier New"/>
                <a:cs typeface="Courier New"/>
              </a:rPr>
              <a:t>els</a:t>
            </a:r>
            <a:r>
              <a:rPr dirty="0" smtClean="0" baseline="6538" sz="675" spc="0">
                <a:latin typeface="Courier New"/>
                <a:cs typeface="Courier New"/>
              </a:rPr>
              <a:t>e</a:t>
            </a:r>
            <a:r>
              <a:rPr dirty="0" smtClean="0" baseline="6538" sz="675" spc="49">
                <a:latin typeface="Courier New"/>
                <a:cs typeface="Courier New"/>
              </a:rPr>
              <a:t> </a:t>
            </a:r>
            <a:r>
              <a:rPr dirty="0" smtClean="0" baseline="6538" sz="675" spc="0">
                <a:latin typeface="Courier New"/>
                <a:cs typeface="Courier New"/>
              </a:rPr>
              <a:t>{</a:t>
            </a:r>
            <a:endParaRPr sz="450">
              <a:latin typeface="Courier New"/>
              <a:cs typeface="Courier New"/>
            </a:endParaRPr>
          </a:p>
          <a:p>
            <a:pPr marL="409575">
              <a:lnSpc>
                <a:spcPct val="94401"/>
              </a:lnSpc>
              <a:spcBef>
                <a:spcPts val="65"/>
              </a:spcBef>
            </a:pPr>
            <a:r>
              <a:rPr dirty="0" smtClean="0" sz="450" spc="19">
                <a:latin typeface="Courier New"/>
                <a:cs typeface="Courier New"/>
              </a:rPr>
              <a:t>retur</a:t>
            </a:r>
            <a:r>
              <a:rPr dirty="0" smtClean="0" sz="450" spc="0">
                <a:latin typeface="Courier New"/>
                <a:cs typeface="Courier New"/>
              </a:rPr>
              <a:t>n</a:t>
            </a:r>
            <a:r>
              <a:rPr dirty="0" smtClean="0" sz="450" spc="49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FALSE;</a:t>
            </a:r>
            <a:endParaRPr sz="450">
              <a:latin typeface="Courier New"/>
              <a:cs typeface="Courier New"/>
            </a:endParaRPr>
          </a:p>
          <a:p>
            <a:pPr marL="247650">
              <a:lnSpc>
                <a:spcPct val="94401"/>
              </a:lnSpc>
              <a:spcBef>
                <a:spcPts val="165"/>
              </a:spcBef>
            </a:pPr>
            <a:r>
              <a:rPr dirty="0" smtClean="0" sz="450" spc="0">
                <a:latin typeface="Courier New"/>
                <a:cs typeface="Courier New"/>
              </a:rPr>
              <a:t>}</a:t>
            </a:r>
            <a:endParaRPr sz="450">
              <a:latin typeface="Courier New"/>
              <a:cs typeface="Courier New"/>
            </a:endParaRPr>
          </a:p>
          <a:p>
            <a:pPr marL="142875">
              <a:lnSpc>
                <a:spcPct val="94401"/>
              </a:lnSpc>
              <a:spcBef>
                <a:spcPts val="90"/>
              </a:spcBef>
            </a:pPr>
            <a:r>
              <a:rPr dirty="0" smtClean="0" sz="450" spc="0">
                <a:latin typeface="Courier New"/>
                <a:cs typeface="Courier New"/>
              </a:rPr>
              <a:t>}</a:t>
            </a:r>
            <a:endParaRPr sz="450">
              <a:latin typeface="Courier New"/>
              <a:cs typeface="Courier New"/>
            </a:endParaRPr>
          </a:p>
          <a:p>
            <a:pPr marR="114300" algn="r">
              <a:lnSpc>
                <a:spcPct val="100000"/>
              </a:lnSpc>
              <a:spcBef>
                <a:spcPts val="60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3</a:t>
            </a:r>
            <a:r>
              <a:rPr dirty="0" smtClean="0" sz="350" spc="0">
                <a:latin typeface="Times New Roman"/>
                <a:cs typeface="Times New Roman"/>
              </a:rPr>
              <a:t>3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29025" y="904875"/>
            <a:ext cx="2676525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13" u="sng">
                <a:solidFill>
                  <a:srgbClr val="3333CC"/>
                </a:solidFill>
                <a:latin typeface="Comic Sans MS"/>
                <a:cs typeface="Comic Sans MS"/>
              </a:rPr>
              <a:t>Banker's</a:t>
            </a:r>
            <a:r>
              <a:rPr dirty="0" smtClean="0" sz="1200" spc="78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Algorithm</a:t>
            </a:r>
            <a:endParaRPr sz="1200">
              <a:latin typeface="Comic Sans MS"/>
              <a:cs typeface="Comic Sans MS"/>
            </a:endParaRPr>
          </a:p>
          <a:p>
            <a:pPr marL="180975" marR="1329826">
              <a:lnSpc>
                <a:spcPts val="679"/>
              </a:lnSpc>
              <a:spcBef>
                <a:spcPts val="1250"/>
              </a:spcBef>
            </a:pPr>
            <a:r>
              <a:rPr dirty="0" smtClean="0" sz="600" spc="-9">
                <a:latin typeface="Courier New"/>
                <a:cs typeface="Courier New"/>
              </a:rPr>
              <a:t>unsigne</a:t>
            </a:r>
            <a:r>
              <a:rPr dirty="0" smtClean="0" sz="600" spc="0">
                <a:latin typeface="Courier New"/>
                <a:cs typeface="Courier New"/>
              </a:rPr>
              <a:t>d</a:t>
            </a:r>
            <a:r>
              <a:rPr dirty="0" smtClean="0" sz="600" spc="-29">
                <a:latin typeface="Courier New"/>
                <a:cs typeface="Courier New"/>
              </a:rPr>
              <a:t> </a:t>
            </a:r>
            <a:r>
              <a:rPr dirty="0" smtClean="0" sz="600" spc="-9">
                <a:latin typeface="Courier New"/>
                <a:cs typeface="Courier New"/>
              </a:rPr>
              <a:t>available[R];</a:t>
            </a:r>
            <a:r>
              <a:rPr dirty="0" smtClean="0" sz="600" spc="-9">
                <a:latin typeface="Courier New"/>
                <a:cs typeface="Courier New"/>
              </a:rPr>
              <a:t> </a:t>
            </a:r>
            <a:endParaRPr sz="600">
              <a:latin typeface="Courier New"/>
              <a:cs typeface="Courier New"/>
            </a:endParaRPr>
          </a:p>
          <a:p>
            <a:pPr marL="180975" marR="1329826">
              <a:lnSpc>
                <a:spcPts val="679"/>
              </a:lnSpc>
              <a:spcBef>
                <a:spcPts val="182"/>
              </a:spcBef>
            </a:pPr>
            <a:r>
              <a:rPr dirty="0" smtClean="0" sz="600" spc="-9">
                <a:latin typeface="Courier New"/>
                <a:cs typeface="Courier New"/>
              </a:rPr>
              <a:t>unsigne</a:t>
            </a:r>
            <a:r>
              <a:rPr dirty="0" smtClean="0" sz="600" spc="0">
                <a:latin typeface="Courier New"/>
                <a:cs typeface="Courier New"/>
              </a:rPr>
              <a:t>d</a:t>
            </a:r>
            <a:r>
              <a:rPr dirty="0" smtClean="0" sz="600" spc="0">
                <a:latin typeface="Courier New"/>
                <a:cs typeface="Courier New"/>
              </a:rPr>
              <a:t> </a:t>
            </a:r>
            <a:r>
              <a:rPr dirty="0" smtClean="0" sz="600" spc="-9">
                <a:latin typeface="Courier New"/>
                <a:cs typeface="Courier New"/>
              </a:rPr>
              <a:t>allocation[P][R];</a:t>
            </a:r>
            <a:r>
              <a:rPr dirty="0" smtClean="0" sz="600" spc="-9">
                <a:latin typeface="Courier New"/>
                <a:cs typeface="Courier New"/>
              </a:rPr>
              <a:t> </a:t>
            </a:r>
            <a:endParaRPr sz="600">
              <a:latin typeface="Courier New"/>
              <a:cs typeface="Courier New"/>
            </a:endParaRPr>
          </a:p>
          <a:p>
            <a:pPr marL="180975" marR="1329826">
              <a:lnSpc>
                <a:spcPts val="679"/>
              </a:lnSpc>
              <a:spcBef>
                <a:spcPts val="182"/>
              </a:spcBef>
            </a:pPr>
            <a:r>
              <a:rPr dirty="0" smtClean="0" sz="600" spc="-9">
                <a:latin typeface="Courier New"/>
                <a:cs typeface="Courier New"/>
              </a:rPr>
              <a:t>unsigne</a:t>
            </a:r>
            <a:r>
              <a:rPr dirty="0" smtClean="0" sz="600" spc="0">
                <a:latin typeface="Courier New"/>
                <a:cs typeface="Courier New"/>
              </a:rPr>
              <a:t>d</a:t>
            </a:r>
            <a:r>
              <a:rPr dirty="0" smtClean="0" sz="600" spc="0">
                <a:latin typeface="Courier New"/>
                <a:cs typeface="Courier New"/>
              </a:rPr>
              <a:t> </a:t>
            </a:r>
            <a:r>
              <a:rPr dirty="0" smtClean="0" sz="600" spc="-9">
                <a:latin typeface="Courier New"/>
                <a:cs typeface="Courier New"/>
              </a:rPr>
              <a:t>maximum[P][R];</a:t>
            </a:r>
            <a:endParaRPr sz="600">
              <a:latin typeface="Courier New"/>
              <a:cs typeface="Courier New"/>
            </a:endParaRPr>
          </a:p>
          <a:p>
            <a:pPr marL="180975">
              <a:lnSpc>
                <a:spcPct val="94401"/>
              </a:lnSpc>
              <a:spcBef>
                <a:spcPts val="970"/>
              </a:spcBef>
            </a:pPr>
            <a:r>
              <a:rPr dirty="0" smtClean="0" sz="600" spc="-4">
                <a:latin typeface="Courier New"/>
                <a:cs typeface="Courier New"/>
              </a:rPr>
              <a:t>startProcess(unsigne</a:t>
            </a:r>
            <a:r>
              <a:rPr dirty="0" smtClean="0" sz="600" spc="0">
                <a:latin typeface="Courier New"/>
                <a:cs typeface="Courier New"/>
              </a:rPr>
              <a:t>d</a:t>
            </a:r>
            <a:r>
              <a:rPr dirty="0" smtClean="0" sz="600" spc="-64">
                <a:latin typeface="Courier New"/>
                <a:cs typeface="Courier New"/>
              </a:rPr>
              <a:t> </a:t>
            </a:r>
            <a:r>
              <a:rPr dirty="0" smtClean="0" sz="600" spc="-4">
                <a:latin typeface="Courier New"/>
                <a:cs typeface="Courier New"/>
              </a:rPr>
              <a:t>p){</a:t>
            </a:r>
            <a:endParaRPr sz="600">
              <a:latin typeface="Courier New"/>
              <a:cs typeface="Courier New"/>
            </a:endParaRPr>
          </a:p>
          <a:p>
            <a:pPr marL="447675">
              <a:lnSpc>
                <a:spcPct val="94401"/>
              </a:lnSpc>
              <a:spcBef>
                <a:spcPts val="1045"/>
              </a:spcBef>
            </a:pPr>
            <a:r>
              <a:rPr dirty="0" smtClean="0" sz="600" spc="-9">
                <a:latin typeface="Courier New"/>
                <a:cs typeface="Courier New"/>
              </a:rPr>
              <a:t>maximum[p][i</a:t>
            </a:r>
            <a:r>
              <a:rPr dirty="0" smtClean="0" sz="600" spc="0">
                <a:latin typeface="Courier New"/>
                <a:cs typeface="Courier New"/>
              </a:rPr>
              <a:t>]</a:t>
            </a:r>
            <a:r>
              <a:rPr dirty="0" smtClean="0" sz="600" spc="-19">
                <a:latin typeface="Courier New"/>
                <a:cs typeface="Courier New"/>
              </a:rPr>
              <a:t> </a:t>
            </a:r>
            <a:r>
              <a:rPr dirty="0" smtClean="0" sz="600" spc="0">
                <a:latin typeface="Courier New"/>
                <a:cs typeface="Courier New"/>
              </a:rPr>
              <a:t>=</a:t>
            </a:r>
            <a:r>
              <a:rPr dirty="0" smtClean="0" sz="600" spc="-19">
                <a:latin typeface="Courier New"/>
                <a:cs typeface="Courier New"/>
              </a:rPr>
              <a:t> </a:t>
            </a:r>
            <a:r>
              <a:rPr dirty="0" smtClean="0" sz="600" spc="-9">
                <a:latin typeface="Courier New"/>
                <a:cs typeface="Courier New"/>
              </a:rPr>
              <a:t>ma</a:t>
            </a:r>
            <a:r>
              <a:rPr dirty="0" smtClean="0" sz="600" spc="0">
                <a:latin typeface="Courier New"/>
                <a:cs typeface="Courier New"/>
              </a:rPr>
              <a:t>x</a:t>
            </a:r>
            <a:r>
              <a:rPr dirty="0" smtClean="0" sz="600" spc="-19">
                <a:latin typeface="Courier New"/>
                <a:cs typeface="Courier New"/>
              </a:rPr>
              <a:t> </a:t>
            </a:r>
            <a:r>
              <a:rPr dirty="0" smtClean="0" sz="600" spc="-9">
                <a:latin typeface="Courier New"/>
                <a:cs typeface="Courier New"/>
              </a:rPr>
              <a:t>numbe</a:t>
            </a:r>
            <a:r>
              <a:rPr dirty="0" smtClean="0" sz="600" spc="0">
                <a:latin typeface="Courier New"/>
                <a:cs typeface="Courier New"/>
              </a:rPr>
              <a:t>r</a:t>
            </a:r>
            <a:r>
              <a:rPr dirty="0" smtClean="0" sz="600" spc="-19">
                <a:latin typeface="Courier New"/>
                <a:cs typeface="Courier New"/>
              </a:rPr>
              <a:t> </a:t>
            </a:r>
            <a:r>
              <a:rPr dirty="0" smtClean="0" sz="600" spc="-9">
                <a:latin typeface="Courier New"/>
                <a:cs typeface="Courier New"/>
              </a:rPr>
              <a:t>o</a:t>
            </a:r>
            <a:r>
              <a:rPr dirty="0" smtClean="0" sz="600" spc="0">
                <a:latin typeface="Courier New"/>
                <a:cs typeface="Courier New"/>
              </a:rPr>
              <a:t>f</a:t>
            </a:r>
            <a:r>
              <a:rPr dirty="0" smtClean="0" sz="600" spc="-19">
                <a:latin typeface="Courier New"/>
                <a:cs typeface="Courier New"/>
              </a:rPr>
              <a:t> </a:t>
            </a:r>
            <a:r>
              <a:rPr dirty="0" smtClean="0" sz="600" spc="-9">
                <a:latin typeface="Courier New"/>
                <a:cs typeface="Courier New"/>
              </a:rPr>
              <a:t>resourc</a:t>
            </a:r>
            <a:r>
              <a:rPr dirty="0" smtClean="0" sz="600" spc="0">
                <a:latin typeface="Courier New"/>
                <a:cs typeface="Courier New"/>
              </a:rPr>
              <a:t>e</a:t>
            </a:r>
            <a:r>
              <a:rPr dirty="0" smtClean="0" sz="600" spc="-19">
                <a:latin typeface="Courier New"/>
                <a:cs typeface="Courier New"/>
              </a:rPr>
              <a:t> </a:t>
            </a:r>
            <a:r>
              <a:rPr dirty="0" smtClean="0" sz="600" spc="0">
                <a:latin typeface="Courier New"/>
                <a:cs typeface="Courier New"/>
              </a:rPr>
              <a:t>i</a:t>
            </a:r>
            <a:endParaRPr sz="600">
              <a:latin typeface="Courier New"/>
              <a:cs typeface="Courier New"/>
            </a:endParaRPr>
          </a:p>
          <a:p>
            <a:pPr marL="285750">
              <a:lnSpc>
                <a:spcPct val="94401"/>
              </a:lnSpc>
              <a:spcBef>
                <a:spcPts val="895"/>
              </a:spcBef>
            </a:pPr>
            <a:r>
              <a:rPr dirty="0" smtClean="0" sz="600" spc="0">
                <a:latin typeface="Courier New"/>
                <a:cs typeface="Courier New"/>
              </a:rPr>
              <a:t>}</a:t>
            </a:r>
            <a:endParaRPr sz="600">
              <a:latin typeface="Courier New"/>
              <a:cs typeface="Courier New"/>
            </a:endParaRPr>
          </a:p>
          <a:p>
            <a:pPr marR="104775" algn="r">
              <a:lnSpc>
                <a:spcPct val="100000"/>
              </a:lnSpc>
              <a:spcBef>
                <a:spcPts val="3843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3</a:t>
            </a:r>
            <a:r>
              <a:rPr dirty="0" smtClean="0" sz="350" spc="0">
                <a:latin typeface="Times New Roman"/>
                <a:cs typeface="Times New Roman"/>
              </a:rPr>
              <a:t>2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3400" y="904875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13" u="sng">
                <a:solidFill>
                  <a:srgbClr val="3333CC"/>
                </a:solidFill>
                <a:latin typeface="Comic Sans MS"/>
                <a:cs typeface="Comic Sans MS"/>
              </a:rPr>
              <a:t>Banker's</a:t>
            </a:r>
            <a:r>
              <a:rPr dirty="0" smtClean="0" sz="1200" spc="78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Algorithm</a:t>
            </a:r>
            <a:endParaRPr sz="1200">
              <a:latin typeface="Comic Sans MS"/>
              <a:cs typeface="Comic Sans MS"/>
            </a:endParaRPr>
          </a:p>
          <a:p>
            <a:pPr marL="285750" marR="372053" indent="-104775">
              <a:lnSpc>
                <a:spcPts val="750"/>
              </a:lnSpc>
              <a:spcBef>
                <a:spcPts val="437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Decid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92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whethe</a:t>
            </a:r>
            <a:r>
              <a:rPr dirty="0" smtClean="0" sz="650" spc="0">
                <a:latin typeface="Comic Sans MS"/>
                <a:cs typeface="Comic Sans MS"/>
              </a:rPr>
              <a:t>r</a:t>
            </a:r>
            <a:r>
              <a:rPr dirty="0" smtClean="0" sz="650" spc="105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t</a:t>
            </a:r>
            <a:r>
              <a:rPr dirty="0" smtClean="0" sz="650" spc="0">
                <a:latin typeface="Comic Sans MS"/>
                <a:cs typeface="Comic Sans MS"/>
              </a:rPr>
              <a:t>o</a:t>
            </a:r>
            <a:r>
              <a:rPr dirty="0" smtClean="0" sz="650" spc="4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gran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7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resourc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0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(loa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72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o</a:t>
            </a:r>
            <a:r>
              <a:rPr dirty="0" smtClean="0" sz="650" spc="0">
                <a:latin typeface="Comic Sans MS"/>
                <a:cs typeface="Comic Sans MS"/>
              </a:rPr>
              <a:t>r</a:t>
            </a:r>
            <a:r>
              <a:rPr dirty="0" smtClean="0" sz="650" spc="4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invest</a:t>
            </a:r>
            <a:r>
              <a:rPr dirty="0" smtClean="0" sz="650" spc="9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money</a:t>
            </a:r>
            <a:r>
              <a:rPr dirty="0" smtClean="0" sz="650" spc="0">
                <a:latin typeface="Comic Sans MS"/>
                <a:cs typeface="Comic Sans MS"/>
              </a:rPr>
              <a:t>,</a:t>
            </a:r>
            <a:r>
              <a:rPr dirty="0" smtClean="0" sz="650" spc="122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giv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75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a</a:t>
            </a:r>
            <a:r>
              <a:rPr dirty="0" smtClean="0" sz="650" spc="53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philosophe</a:t>
            </a:r>
            <a:r>
              <a:rPr dirty="0" smtClean="0" sz="650" spc="0">
                <a:latin typeface="Comic Sans MS"/>
                <a:cs typeface="Comic Sans MS"/>
              </a:rPr>
              <a:t>r</a:t>
            </a:r>
            <a:r>
              <a:rPr dirty="0" smtClean="0" sz="650" spc="178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a</a:t>
            </a:r>
            <a:r>
              <a:rPr dirty="0" smtClean="0" sz="650" spc="53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chopstick</a:t>
            </a:r>
            <a:r>
              <a:rPr dirty="0" smtClean="0" sz="650" spc="0">
                <a:latin typeface="Comic Sans MS"/>
                <a:cs typeface="Comic Sans MS"/>
              </a:rPr>
              <a:t>,</a:t>
            </a:r>
            <a:r>
              <a:rPr dirty="0" smtClean="0" sz="650" spc="162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allow</a:t>
            </a:r>
            <a:r>
              <a:rPr dirty="0" smtClean="0" sz="650" spc="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proces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127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t</a:t>
            </a:r>
            <a:r>
              <a:rPr dirty="0" smtClean="0" sz="650" spc="0">
                <a:latin typeface="Comic Sans MS"/>
                <a:cs typeface="Comic Sans MS"/>
              </a:rPr>
              <a:t>o</a:t>
            </a:r>
            <a:r>
              <a:rPr dirty="0" smtClean="0" sz="650" spc="5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obtai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91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a</a:t>
            </a:r>
            <a:r>
              <a:rPr dirty="0" smtClean="0" sz="650" spc="48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lock</a:t>
            </a:r>
            <a:r>
              <a:rPr dirty="0" smtClean="0" sz="650" spc="0">
                <a:latin typeface="Comic Sans MS"/>
                <a:cs typeface="Comic Sans MS"/>
              </a:rPr>
              <a:t>,</a:t>
            </a:r>
            <a:r>
              <a:rPr dirty="0" smtClean="0" sz="650" spc="9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…)</a:t>
            </a:r>
            <a:endParaRPr sz="650">
              <a:latin typeface="Comic Sans MS"/>
              <a:cs typeface="Comic Sans MS"/>
            </a:endParaRPr>
          </a:p>
          <a:p>
            <a:pPr marL="285750" marR="382767" indent="-104775">
              <a:lnSpc>
                <a:spcPts val="830"/>
              </a:lnSpc>
              <a:spcBef>
                <a:spcPts val="89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Le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70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ther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91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b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0">
                <a:latin typeface="Comic Sans MS"/>
                <a:cs typeface="Comic Sans MS"/>
              </a:rPr>
              <a:t> </a:t>
            </a:r>
            <a:r>
              <a:rPr dirty="0" smtClean="0" sz="650" spc="92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P</a:t>
            </a:r>
            <a:r>
              <a:rPr dirty="0" smtClean="0" sz="650" spc="53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processe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15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an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71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R</a:t>
            </a:r>
            <a:r>
              <a:rPr dirty="0" smtClean="0" sz="650" spc="52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resources</a:t>
            </a:r>
            <a:r>
              <a:rPr dirty="0" smtClean="0" sz="650" spc="0">
                <a:latin typeface="Comic Sans MS"/>
                <a:cs typeface="Comic Sans MS"/>
              </a:rPr>
              <a:t>;</a:t>
            </a:r>
            <a:r>
              <a:rPr dirty="0" smtClean="0" sz="650" spc="135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Keep</a:t>
            </a:r>
            <a:r>
              <a:rPr dirty="0" smtClean="0" sz="650" spc="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trac</a:t>
            </a:r>
            <a:r>
              <a:rPr dirty="0" smtClean="0" sz="650" spc="0">
                <a:latin typeface="Comic Sans MS"/>
                <a:cs typeface="Comic Sans MS"/>
              </a:rPr>
              <a:t>k</a:t>
            </a:r>
            <a:r>
              <a:rPr dirty="0" smtClean="0" sz="650" spc="88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of</a:t>
            </a:r>
            <a:endParaRPr sz="650">
              <a:latin typeface="Comic Sans MS"/>
              <a:cs typeface="Comic Sans MS"/>
            </a:endParaRPr>
          </a:p>
          <a:p>
            <a:pPr marL="314325">
              <a:lnSpc>
                <a:spcPts val="760"/>
              </a:lnSpc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Numbe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</a:t>
            </a:r>
            <a:r>
              <a:rPr dirty="0" smtClean="0" sz="600" spc="0">
                <a:latin typeface="Comic Sans MS"/>
                <a:cs typeface="Comic Sans MS"/>
              </a:rPr>
              <a:t>f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unit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</a:t>
            </a:r>
            <a:r>
              <a:rPr dirty="0" smtClean="0" sz="600" spc="0">
                <a:latin typeface="Comic Sans MS"/>
                <a:cs typeface="Comic Sans MS"/>
              </a:rPr>
              <a:t>f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eac</a:t>
            </a:r>
            <a:r>
              <a:rPr dirty="0" smtClean="0" sz="600" spc="0">
                <a:latin typeface="Comic Sans MS"/>
                <a:cs typeface="Comic Sans MS"/>
              </a:rPr>
              <a:t>h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resourc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available</a:t>
            </a:r>
            <a:endParaRPr sz="600">
              <a:latin typeface="Comic Sans MS"/>
              <a:cs typeface="Comic Sans MS"/>
            </a:endParaRPr>
          </a:p>
          <a:p>
            <a:pPr marL="400050" marR="413732" indent="-85725">
              <a:lnSpc>
                <a:spcPts val="680"/>
              </a:lnSpc>
              <a:spcBef>
                <a:spcPts val="26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Maximu</a:t>
            </a:r>
            <a:r>
              <a:rPr dirty="0" smtClean="0" sz="600" spc="0">
                <a:latin typeface="Comic Sans MS"/>
                <a:cs typeface="Comic Sans MS"/>
              </a:rPr>
              <a:t>m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numbe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</a:t>
            </a:r>
            <a:r>
              <a:rPr dirty="0" smtClean="0" sz="600" spc="0">
                <a:latin typeface="Comic Sans MS"/>
                <a:cs typeface="Comic Sans MS"/>
              </a:rPr>
              <a:t>f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unit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</a:t>
            </a:r>
            <a:r>
              <a:rPr dirty="0" smtClean="0" sz="600" spc="0">
                <a:latin typeface="Comic Sans MS"/>
                <a:cs typeface="Comic Sans MS"/>
              </a:rPr>
              <a:t>f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eac</a:t>
            </a:r>
            <a:r>
              <a:rPr dirty="0" smtClean="0" sz="600" spc="0">
                <a:latin typeface="Comic Sans MS"/>
                <a:cs typeface="Comic Sans MS"/>
              </a:rPr>
              <a:t>h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resourc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tha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each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proces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coul</a:t>
            </a:r>
            <a:r>
              <a:rPr dirty="0" smtClean="0" sz="600" spc="0">
                <a:latin typeface="Comic Sans MS"/>
                <a:cs typeface="Comic Sans MS"/>
              </a:rPr>
              <a:t>d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request</a:t>
            </a:r>
            <a:endParaRPr sz="600">
              <a:latin typeface="Comic Sans MS"/>
              <a:cs typeface="Comic Sans MS"/>
            </a:endParaRPr>
          </a:p>
          <a:p>
            <a:pPr marL="314325">
              <a:lnSpc>
                <a:spcPts val="790"/>
              </a:lnSpc>
              <a:spcBef>
                <a:spcPts val="5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Curren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allocatio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</a:t>
            </a:r>
            <a:r>
              <a:rPr dirty="0" smtClean="0" sz="600" spc="0">
                <a:latin typeface="Comic Sans MS"/>
                <a:cs typeface="Comic Sans MS"/>
              </a:rPr>
              <a:t>f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eac</a:t>
            </a:r>
            <a:r>
              <a:rPr dirty="0" smtClean="0" sz="600" spc="0">
                <a:latin typeface="Comic Sans MS"/>
                <a:cs typeface="Comic Sans MS"/>
              </a:rPr>
              <a:t>h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resourc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eac</a:t>
            </a:r>
            <a:r>
              <a:rPr dirty="0" smtClean="0" sz="600" spc="0">
                <a:latin typeface="Comic Sans MS"/>
                <a:cs typeface="Comic Sans MS"/>
              </a:rPr>
              <a:t>h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process</a:t>
            </a:r>
            <a:endParaRPr sz="600">
              <a:latin typeface="Comic Sans MS"/>
              <a:cs typeface="Comic Sans MS"/>
            </a:endParaRPr>
          </a:p>
          <a:p>
            <a:pPr marL="285750" marR="363723" indent="-104775">
              <a:lnSpc>
                <a:spcPts val="830"/>
              </a:lnSpc>
              <a:spcBef>
                <a:spcPts val="62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Rea</a:t>
            </a:r>
            <a:r>
              <a:rPr dirty="0" smtClean="0" sz="650" spc="0">
                <a:latin typeface="Comic Sans MS"/>
                <a:cs typeface="Comic Sans MS"/>
              </a:rPr>
              <a:t>l</a:t>
            </a:r>
            <a:r>
              <a:rPr dirty="0" smtClean="0" sz="650" spc="9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banker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111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canno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99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retur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98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mone</a:t>
            </a:r>
            <a:r>
              <a:rPr dirty="0" smtClean="0" sz="650" spc="0">
                <a:latin typeface="Comic Sans MS"/>
                <a:cs typeface="Comic Sans MS"/>
              </a:rPr>
              <a:t>y</a:t>
            </a:r>
            <a:r>
              <a:rPr dirty="0" smtClean="0" sz="650" spc="96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t</a:t>
            </a:r>
            <a:r>
              <a:rPr dirty="0" smtClean="0" sz="650" spc="0">
                <a:latin typeface="Comic Sans MS"/>
                <a:cs typeface="Comic Sans MS"/>
              </a:rPr>
              <a:t>o</a:t>
            </a:r>
            <a:r>
              <a:rPr dirty="0" smtClean="0" sz="650" spc="59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everyon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21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at</a:t>
            </a:r>
            <a:r>
              <a:rPr dirty="0" smtClean="0" sz="650" spc="4">
                <a:latin typeface="Comic Sans MS"/>
                <a:cs typeface="Comic Sans MS"/>
              </a:rPr>
              <a:t> </a:t>
            </a:r>
            <a:r>
              <a:rPr dirty="0" smtClean="0" sz="650" spc="19">
                <a:latin typeface="Comic Sans MS"/>
                <a:cs typeface="Comic Sans MS"/>
              </a:rPr>
              <a:t>once</a:t>
            </a:r>
            <a:endParaRPr sz="650">
              <a:latin typeface="Comic Sans MS"/>
              <a:cs typeface="Comic Sans MS"/>
            </a:endParaRPr>
          </a:p>
          <a:p>
            <a:pPr marL="400050" marR="355546" indent="-85725">
              <a:lnSpc>
                <a:spcPts val="836"/>
              </a:lnSpc>
              <a:spcBef>
                <a:spcPts val="68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Hav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reserv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requiremen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an</a:t>
            </a:r>
            <a:r>
              <a:rPr dirty="0" smtClean="0" sz="600" spc="0">
                <a:latin typeface="Comic Sans MS"/>
                <a:cs typeface="Comic Sans MS"/>
              </a:rPr>
              <a:t>d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rel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federa</a:t>
            </a:r>
            <a:r>
              <a:rPr dirty="0" smtClean="0" sz="600" spc="0">
                <a:latin typeface="Comic Sans MS"/>
                <a:cs typeface="Comic Sans MS"/>
              </a:rPr>
              <a:t>l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8">
                <a:latin typeface="Comic Sans MS"/>
                <a:cs typeface="Comic Sans MS"/>
              </a:rPr>
              <a:t>gov'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6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to</a:t>
            </a:r>
            <a:r>
              <a:rPr dirty="0" smtClean="0" sz="600" spc="0">
                <a:latin typeface="Comic Sans MS"/>
                <a:cs typeface="Comic Sans MS"/>
              </a:rPr>
              <a:t> </a:t>
            </a:r>
            <a:endParaRPr sz="600">
              <a:latin typeface="Comic Sans MS"/>
              <a:cs typeface="Comic Sans MS"/>
            </a:endParaRPr>
          </a:p>
          <a:p>
            <a:pPr marL="400050" marR="355546">
              <a:lnSpc>
                <a:spcPts val="836"/>
              </a:lnSpc>
            </a:pPr>
            <a:r>
              <a:rPr dirty="0" smtClean="0" sz="600" spc="0">
                <a:latin typeface="Comic Sans MS"/>
                <a:cs typeface="Comic Sans MS"/>
              </a:rPr>
              <a:t>bail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them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out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(FDIC)</a:t>
            </a:r>
            <a:endParaRPr sz="600">
              <a:latin typeface="Comic Sans MS"/>
              <a:cs typeface="Comic Sans MS"/>
            </a:endParaRPr>
          </a:p>
          <a:p>
            <a:pPr marL="314325">
              <a:lnSpc>
                <a:spcPct val="116129"/>
              </a:lnSpc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Pla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odd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wh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wil</a:t>
            </a:r>
            <a:r>
              <a:rPr dirty="0" smtClean="0" sz="600" spc="0">
                <a:latin typeface="Comic Sans MS"/>
                <a:cs typeface="Comic Sans MS"/>
              </a:rPr>
              <a:t>l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retur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money</a:t>
            </a:r>
            <a:endParaRPr sz="600">
              <a:latin typeface="Comic Sans MS"/>
              <a:cs typeface="Comic Sans MS"/>
            </a:endParaRPr>
          </a:p>
          <a:p>
            <a:pPr marL="400050" marR="431733" indent="-85725">
              <a:lnSpc>
                <a:spcPts val="680"/>
              </a:lnSpc>
              <a:spcBef>
                <a:spcPts val="64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Als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banker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typicall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loa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on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processe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resourc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to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another</a:t>
            </a:r>
            <a:r>
              <a:rPr dirty="0" smtClean="0" sz="600" spc="0">
                <a:latin typeface="Comic Sans MS"/>
                <a:cs typeface="Comic Sans MS"/>
              </a:rPr>
              <a:t>;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start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ou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ownin</a:t>
            </a:r>
            <a:r>
              <a:rPr dirty="0" smtClean="0" sz="600" spc="0">
                <a:latin typeface="Comic Sans MS"/>
                <a:cs typeface="Comic Sans MS"/>
              </a:rPr>
              <a:t>g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resource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not</a:t>
            </a:r>
            <a:endParaRPr sz="600">
              <a:latin typeface="Comic Sans MS"/>
              <a:cs typeface="Comic Sans MS"/>
            </a:endParaRPr>
          </a:p>
          <a:p>
            <a:pPr marL="400050">
              <a:lnSpc>
                <a:spcPts val="615"/>
              </a:lnSpc>
            </a:pPr>
            <a:r>
              <a:rPr dirty="0" smtClean="0" baseline="3986" sz="900">
                <a:latin typeface="Comic Sans MS"/>
                <a:cs typeface="Comic Sans MS"/>
              </a:rPr>
              <a:t>borrowing</a:t>
            </a:r>
            <a:r>
              <a:rPr dirty="0" smtClean="0" baseline="3986" sz="900">
                <a:latin typeface="Comic Sans MS"/>
                <a:cs typeface="Comic Sans MS"/>
              </a:rPr>
              <a:t>                                                                            </a:t>
            </a:r>
            <a:r>
              <a:rPr dirty="0" smtClean="0" baseline="3986" sz="900" spc="-39">
                <a:latin typeface="Comic Sans MS"/>
                <a:cs typeface="Comic Sans MS"/>
              </a:rPr>
              <a:t> </a:t>
            </a:r>
            <a:r>
              <a:rPr dirty="0" smtClean="0" baseline="57975" sz="525" spc="0">
                <a:latin typeface="Times New Roman"/>
                <a:cs typeface="Times New Roman"/>
              </a:rPr>
              <a:t>-</a:t>
            </a:r>
            <a:r>
              <a:rPr dirty="0" smtClean="0" baseline="57975" sz="525" spc="-59">
                <a:latin typeface="Times New Roman"/>
                <a:cs typeface="Times New Roman"/>
              </a:rPr>
              <a:t> </a:t>
            </a:r>
            <a:r>
              <a:rPr dirty="0" smtClean="0" baseline="57975" sz="525" spc="39">
                <a:latin typeface="Times New Roman"/>
                <a:cs typeface="Times New Roman"/>
              </a:rPr>
              <a:t>3</a:t>
            </a:r>
            <a:r>
              <a:rPr dirty="0" smtClean="0" baseline="57975" sz="525" spc="0">
                <a:latin typeface="Times New Roman"/>
                <a:cs typeface="Times New Roman"/>
              </a:rPr>
              <a:t>1</a:t>
            </a:r>
            <a:r>
              <a:rPr dirty="0" smtClean="0" baseline="57975" sz="525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26"/>
          <p:cNvSpPr/>
          <p:nvPr/>
        </p:nvSpPr>
        <p:spPr>
          <a:xfrm>
            <a:off x="2057400" y="12096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533400" y="904875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5876925" y="12096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3629025" y="904875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2781300" y="38671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533400" y="3562350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5762625" y="38671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3629025" y="3562350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2400300" y="652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533400" y="6219825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5591175" y="652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3629025" y="6219825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797300" y="1447724"/>
            <a:ext cx="53975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0">
                <a:latin typeface="Courier New"/>
                <a:cs typeface="Courier New"/>
              </a:rPr>
              <a:t>{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02075" y="1581074"/>
            <a:ext cx="711200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9">
                <a:latin typeface="Courier New"/>
                <a:cs typeface="Courier New"/>
              </a:rPr>
              <a:t>unsigne</a:t>
            </a:r>
            <a:r>
              <a:rPr dirty="0" smtClean="0" sz="350" spc="0">
                <a:latin typeface="Courier New"/>
                <a:cs typeface="Courier New"/>
              </a:rPr>
              <a:t>d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7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canFinis</a:t>
            </a:r>
            <a:r>
              <a:rPr dirty="0" smtClean="0" sz="350" spc="-50">
                <a:latin typeface="Courier New"/>
                <a:cs typeface="Courier New"/>
              </a:rPr>
              <a:t>h</a:t>
            </a:r>
            <a:r>
              <a:rPr dirty="0" smtClean="0" sz="350" spc="39">
                <a:latin typeface="Courier New"/>
                <a:cs typeface="Courier New"/>
              </a:rPr>
              <a:t>[P];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92575" y="2000174"/>
            <a:ext cx="700003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14">
                <a:latin typeface="Courier New"/>
                <a:cs typeface="Courier New"/>
              </a:rPr>
              <a:t>fo</a:t>
            </a:r>
            <a:r>
              <a:rPr dirty="0" smtClean="0" sz="350" spc="0">
                <a:latin typeface="Courier New"/>
                <a:cs typeface="Courier New"/>
              </a:rPr>
              <a:t>r</a:t>
            </a:r>
            <a:r>
              <a:rPr dirty="0" smtClean="0" sz="350" spc="104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(j=0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133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j</a:t>
            </a:r>
            <a:r>
              <a:rPr dirty="0" smtClean="0" sz="350" spc="0">
                <a:latin typeface="Courier New"/>
                <a:cs typeface="Courier New"/>
              </a:rPr>
              <a:t>&lt;</a:t>
            </a:r>
            <a:r>
              <a:rPr dirty="0" smtClean="0" sz="350" spc="89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R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89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j++</a:t>
            </a:r>
            <a:r>
              <a:rPr dirty="0" smtClean="0" sz="350" spc="0">
                <a:latin typeface="Courier New"/>
                <a:cs typeface="Courier New"/>
              </a:rPr>
              <a:t>)</a:t>
            </a:r>
            <a:r>
              <a:rPr dirty="0" smtClean="0" sz="350" spc="118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{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78300" y="2276399"/>
            <a:ext cx="1793217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14">
                <a:latin typeface="Courier New"/>
                <a:cs typeface="Courier New"/>
              </a:rPr>
              <a:t>canFinis</a:t>
            </a:r>
            <a:r>
              <a:rPr dirty="0" smtClean="0" sz="350" spc="0">
                <a:latin typeface="Courier New"/>
                <a:cs typeface="Courier New"/>
              </a:rPr>
              <a:t>h</a:t>
            </a:r>
            <a:r>
              <a:rPr dirty="0" smtClean="0" sz="350" spc="12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[i</a:t>
            </a:r>
            <a:r>
              <a:rPr dirty="0" smtClean="0" sz="350" spc="0">
                <a:latin typeface="Courier New"/>
                <a:cs typeface="Courier New"/>
              </a:rPr>
              <a:t>]</a:t>
            </a:r>
            <a:r>
              <a:rPr dirty="0" smtClean="0" sz="350" spc="104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74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TRUE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133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//can’</a:t>
            </a:r>
            <a:r>
              <a:rPr dirty="0" smtClean="0" sz="350" spc="0">
                <a:latin typeface="Courier New"/>
                <a:cs typeface="Courier New"/>
              </a:rPr>
              <a:t>t</a:t>
            </a:r>
            <a:r>
              <a:rPr dirty="0" smtClean="0" sz="350" spc="162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b</a:t>
            </a:r>
            <a:r>
              <a:rPr dirty="0" smtClean="0" sz="350" spc="0">
                <a:latin typeface="Courier New"/>
                <a:cs typeface="Courier New"/>
              </a:rPr>
              <a:t>e</a:t>
            </a:r>
            <a:r>
              <a:rPr dirty="0" smtClean="0" sz="350" spc="89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deadlocke</a:t>
            </a:r>
            <a:r>
              <a:rPr dirty="0" smtClean="0" sz="350" spc="0">
                <a:latin typeface="Courier New"/>
                <a:cs typeface="Courier New"/>
              </a:rPr>
              <a:t>d</a:t>
            </a:r>
            <a:r>
              <a:rPr dirty="0" smtClean="0" sz="350" spc="206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i</a:t>
            </a:r>
            <a:r>
              <a:rPr dirty="0" smtClean="0" sz="350" spc="0">
                <a:latin typeface="Courier New"/>
                <a:cs typeface="Courier New"/>
              </a:rPr>
              <a:t>f</a:t>
            </a:r>
            <a:r>
              <a:rPr dirty="0" smtClean="0" sz="350" spc="89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n</a:t>
            </a:r>
            <a:r>
              <a:rPr dirty="0" smtClean="0" sz="350" spc="0">
                <a:latin typeface="Courier New"/>
                <a:cs typeface="Courier New"/>
              </a:rPr>
              <a:t>o</a:t>
            </a:r>
            <a:r>
              <a:rPr dirty="0" smtClean="0" sz="350" spc="89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hol</a:t>
            </a:r>
            <a:r>
              <a:rPr dirty="0" smtClean="0" sz="350" spc="0">
                <a:latin typeface="Courier New"/>
                <a:cs typeface="Courier New"/>
              </a:rPr>
              <a:t>d</a:t>
            </a:r>
            <a:r>
              <a:rPr dirty="0" smtClean="0" sz="350" spc="118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and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02075" y="2524049"/>
            <a:ext cx="339725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25">
                <a:latin typeface="Courier New"/>
                <a:cs typeface="Courier New"/>
              </a:rPr>
              <a:t>deadlocked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16375" y="7023164"/>
            <a:ext cx="1997055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750"/>
              </a:lnSpc>
              <a:spcBef>
                <a:spcPts val="37"/>
              </a:spcBef>
            </a:pPr>
            <a:r>
              <a:rPr dirty="0" smtClean="0" sz="600" spc="-4">
                <a:latin typeface="Comic Sans MS"/>
                <a:cs typeface="Comic Sans MS"/>
              </a:rPr>
              <a:t>on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doesn'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1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resolv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deadlock</a:t>
            </a:r>
            <a:r>
              <a:rPr dirty="0" smtClean="0" sz="600" spc="0">
                <a:latin typeface="Comic Sans MS"/>
                <a:cs typeface="Comic Sans MS"/>
              </a:rPr>
              <a:t>,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wai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til</a:t>
            </a:r>
            <a:r>
              <a:rPr dirty="0" smtClean="0" sz="600" spc="0">
                <a:latin typeface="Comic Sans MS"/>
                <a:cs typeface="Comic Sans MS"/>
              </a:rPr>
              <a:t>l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deadloc</a:t>
            </a:r>
            <a:r>
              <a:rPr dirty="0" smtClean="0" sz="600" spc="0">
                <a:latin typeface="Comic Sans MS"/>
                <a:cs typeface="Comic Sans MS"/>
              </a:rPr>
              <a:t>k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detection</a:t>
            </a:r>
            <a:endParaRPr sz="6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16375" y="7204139"/>
            <a:ext cx="1673236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750"/>
              </a:lnSpc>
              <a:spcBef>
                <a:spcPts val="37"/>
              </a:spcBef>
            </a:pPr>
            <a:r>
              <a:rPr dirty="0" smtClean="0" sz="600" spc="0">
                <a:latin typeface="Comic Sans MS"/>
                <a:cs typeface="Comic Sans MS"/>
              </a:rPr>
              <a:t>assumption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that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one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of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the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processes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is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dead?)</a:t>
            </a:r>
            <a:endParaRPr sz="6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3850" y="8934579"/>
            <a:ext cx="141224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00"/>
              </a:lnSpc>
              <a:spcBef>
                <a:spcPts val="70"/>
              </a:spcBef>
            </a:pPr>
            <a:r>
              <a:rPr dirty="0" smtClean="0" baseline="1993" sz="1800" spc="0">
                <a:latin typeface="Comic Sans MS"/>
                <a:cs typeface="Comic Sans MS"/>
              </a:rPr>
              <a:t>7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29025" y="6219825"/>
            <a:ext cx="2676525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Recovering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from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deadlock</a:t>
            </a:r>
            <a:endParaRPr sz="120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1183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Ho</a:t>
            </a:r>
            <a:r>
              <a:rPr dirty="0" smtClean="0" sz="650" spc="0">
                <a:latin typeface="Comic Sans MS"/>
                <a:cs typeface="Comic Sans MS"/>
              </a:rPr>
              <a:t>w</a:t>
            </a:r>
            <a:r>
              <a:rPr dirty="0" smtClean="0" sz="650" spc="73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many?</a:t>
            </a:r>
            <a:endParaRPr sz="650">
              <a:latin typeface="Comic Sans MS"/>
              <a:cs typeface="Comic Sans MS"/>
            </a:endParaRPr>
          </a:p>
          <a:p>
            <a:pPr marL="314325">
              <a:lnSpc>
                <a:spcPts val="810"/>
              </a:lnSpc>
              <a:spcBef>
                <a:spcPts val="40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Abor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al</a:t>
            </a:r>
            <a:r>
              <a:rPr dirty="0" smtClean="0" sz="600" spc="0">
                <a:latin typeface="Comic Sans MS"/>
                <a:cs typeface="Comic Sans MS"/>
              </a:rPr>
              <a:t>l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deadlocke</a:t>
            </a:r>
            <a:r>
              <a:rPr dirty="0" smtClean="0" sz="600" spc="0">
                <a:latin typeface="Comic Sans MS"/>
                <a:cs typeface="Comic Sans MS"/>
              </a:rPr>
              <a:t>d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processes</a:t>
            </a:r>
            <a:endParaRPr sz="600">
              <a:latin typeface="Comic Sans MS"/>
              <a:cs typeface="Comic Sans MS"/>
            </a:endParaRPr>
          </a:p>
          <a:p>
            <a:pPr marL="400050" marR="346924" indent="-85725">
              <a:lnSpc>
                <a:spcPts val="836"/>
              </a:lnSpc>
              <a:spcBef>
                <a:spcPts val="19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Abor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on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proces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tim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unti</a:t>
            </a:r>
            <a:r>
              <a:rPr dirty="0" smtClean="0" sz="600" spc="0">
                <a:latin typeface="Comic Sans MS"/>
                <a:cs typeface="Comic Sans MS"/>
              </a:rPr>
              <a:t>l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cycl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i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eliminate</a:t>
            </a:r>
            <a:r>
              <a:rPr dirty="0" smtClean="0" sz="600" spc="0">
                <a:latin typeface="Comic Sans MS"/>
                <a:cs typeface="Comic Sans MS"/>
              </a:rPr>
              <a:t>d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(If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endParaRPr sz="600">
              <a:latin typeface="Comic Sans MS"/>
              <a:cs typeface="Comic Sans MS"/>
            </a:endParaRPr>
          </a:p>
          <a:p>
            <a:pPr marL="400050" marR="346924">
              <a:lnSpc>
                <a:spcPts val="836"/>
              </a:lnSpc>
              <a:spcBef>
                <a:spcPts val="514"/>
              </a:spcBef>
            </a:pPr>
            <a:r>
              <a:rPr dirty="0" smtClean="0" sz="600" spc="-4">
                <a:latin typeface="Comic Sans MS"/>
                <a:cs typeface="Comic Sans MS"/>
              </a:rPr>
              <a:t>algorith</a:t>
            </a:r>
            <a:r>
              <a:rPr dirty="0" smtClean="0" sz="600" spc="0">
                <a:latin typeface="Comic Sans MS"/>
                <a:cs typeface="Comic Sans MS"/>
              </a:rPr>
              <a:t>m</a:t>
            </a:r>
            <a:r>
              <a:rPr dirty="0" smtClean="0" sz="600" spc="-1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run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1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again</a:t>
            </a:r>
            <a:r>
              <a:rPr dirty="0" smtClean="0" sz="600" spc="0">
                <a:latin typeface="Comic Sans MS"/>
                <a:cs typeface="Comic Sans MS"/>
              </a:rPr>
              <a:t>?</a:t>
            </a:r>
            <a:r>
              <a:rPr dirty="0" smtClean="0" sz="600" spc="-1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Specificall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1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ru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1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agai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1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with</a:t>
            </a:r>
            <a:endParaRPr sz="60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834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Whic</a:t>
            </a:r>
            <a:r>
              <a:rPr dirty="0" smtClean="0" sz="650" spc="0">
                <a:latin typeface="Comic Sans MS"/>
                <a:cs typeface="Comic Sans MS"/>
              </a:rPr>
              <a:t>h</a:t>
            </a:r>
            <a:r>
              <a:rPr dirty="0" smtClean="0" sz="650" spc="93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ones?</a:t>
            </a:r>
            <a:endParaRPr sz="650">
              <a:latin typeface="Comic Sans MS"/>
              <a:cs typeface="Comic Sans MS"/>
            </a:endParaRPr>
          </a:p>
          <a:p>
            <a:pPr marL="314325">
              <a:lnSpc>
                <a:spcPct val="116129"/>
              </a:lnSpc>
              <a:spcBef>
                <a:spcPts val="50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Lowes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priorit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wit</a:t>
            </a:r>
            <a:r>
              <a:rPr dirty="0" smtClean="0" sz="600" spc="0">
                <a:latin typeface="Comic Sans MS"/>
                <a:cs typeface="Comic Sans MS"/>
              </a:rPr>
              <a:t>h</a:t>
            </a:r>
            <a:r>
              <a:rPr dirty="0" smtClean="0" sz="600" spc="-7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canFinis</a:t>
            </a:r>
            <a:r>
              <a:rPr dirty="0" smtClean="0" sz="600" spc="0">
                <a:latin typeface="Comic Sans MS"/>
                <a:cs typeface="Comic Sans MS"/>
              </a:rPr>
              <a:t>h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=</a:t>
            </a:r>
            <a:r>
              <a:rPr dirty="0" smtClean="0" sz="600" spc="-50">
                <a:latin typeface="Comic Sans MS"/>
                <a:cs typeface="Comic Sans MS"/>
              </a:rPr>
              <a:t> </a:t>
            </a:r>
            <a:r>
              <a:rPr dirty="0" smtClean="0" sz="600" spc="-19">
                <a:latin typeface="Comic Sans MS"/>
                <a:cs typeface="Comic Sans MS"/>
              </a:rPr>
              <a:t>FALSE?</a:t>
            </a:r>
            <a:endParaRPr sz="600">
              <a:latin typeface="Comic Sans MS"/>
              <a:cs typeface="Comic Sans MS"/>
            </a:endParaRPr>
          </a:p>
          <a:p>
            <a:pPr marL="400050" marR="298376" indent="-85725">
              <a:lnSpc>
                <a:spcPts val="680"/>
              </a:lnSpc>
              <a:spcBef>
                <a:spcPts val="139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On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tha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ha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bee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runnin</a:t>
            </a:r>
            <a:r>
              <a:rPr dirty="0" smtClean="0" sz="600" spc="0">
                <a:latin typeface="Comic Sans MS"/>
                <a:cs typeface="Comic Sans MS"/>
              </a:rPr>
              <a:t>g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leas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amoun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</a:t>
            </a:r>
            <a:r>
              <a:rPr dirty="0" smtClean="0" sz="600" spc="0">
                <a:latin typeface="Comic Sans MS"/>
                <a:cs typeface="Comic Sans MS"/>
              </a:rPr>
              <a:t>f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tim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(less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work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to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redo)</a:t>
            </a:r>
            <a:endParaRPr sz="600">
              <a:latin typeface="Comic Sans MS"/>
              <a:cs typeface="Comic Sans MS"/>
            </a:endParaRPr>
          </a:p>
          <a:p>
            <a:pPr marL="314325">
              <a:lnSpc>
                <a:spcPct val="116129"/>
              </a:lnSpc>
              <a:spcBef>
                <a:spcPts val="65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Proces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tha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hasn'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bee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kille</a:t>
            </a:r>
            <a:r>
              <a:rPr dirty="0" smtClean="0" sz="600" spc="0">
                <a:latin typeface="Comic Sans MS"/>
                <a:cs typeface="Comic Sans MS"/>
              </a:rPr>
              <a:t>d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before</a:t>
            </a:r>
            <a:r>
              <a:rPr dirty="0" smtClean="0" sz="600" spc="0">
                <a:latin typeface="Comic Sans MS"/>
                <a:cs typeface="Comic Sans MS"/>
              </a:rPr>
              <a:t>?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Anywa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tell?</a:t>
            </a:r>
            <a:endParaRPr sz="600">
              <a:latin typeface="Comic Sans MS"/>
              <a:cs typeface="Comic Sans MS"/>
            </a:endParaRPr>
          </a:p>
          <a:p>
            <a:pPr marR="104775" algn="r">
              <a:lnSpc>
                <a:spcPct val="100000"/>
              </a:lnSpc>
              <a:spcBef>
                <a:spcPts val="2273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4</a:t>
            </a:r>
            <a:r>
              <a:rPr dirty="0" smtClean="0" sz="350" spc="0">
                <a:latin typeface="Times New Roman"/>
                <a:cs typeface="Times New Roman"/>
              </a:rPr>
              <a:t>2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3400" y="6219825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Recovery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from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Deadlock</a:t>
            </a:r>
            <a:endParaRPr sz="1200">
              <a:latin typeface="Comic Sans MS"/>
              <a:cs typeface="Comic Sans MS"/>
            </a:endParaRPr>
          </a:p>
          <a:p>
            <a:pPr marL="285750" marR="294271" indent="-104775">
              <a:lnSpc>
                <a:spcPts val="980"/>
              </a:lnSpc>
              <a:spcBef>
                <a:spcPts val="1240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If</a:t>
            </a:r>
            <a:r>
              <a:rPr dirty="0" smtClean="0" sz="800" spc="20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system</a:t>
            </a:r>
            <a:r>
              <a:rPr dirty="0" smtClean="0" sz="800" spc="7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detects</a:t>
            </a:r>
            <a:r>
              <a:rPr dirty="0" smtClean="0" sz="800" spc="81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deadlock,</a:t>
            </a:r>
            <a:r>
              <a:rPr dirty="0" smtClean="0" sz="800" spc="99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what</a:t>
            </a:r>
            <a:r>
              <a:rPr dirty="0" smtClean="0" sz="800" spc="48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can</a:t>
            </a:r>
            <a:r>
              <a:rPr dirty="0" smtClean="0" sz="800" spc="32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it</a:t>
            </a:r>
            <a:r>
              <a:rPr dirty="0" smtClean="0" sz="800" spc="12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do</a:t>
            </a:r>
            <a:r>
              <a:rPr dirty="0" smtClean="0" sz="800" spc="0">
                <a:latin typeface="Comic Sans MS"/>
                <a:cs typeface="Comic Sans MS"/>
              </a:rPr>
              <a:t> </a:t>
            </a:r>
            <a:r>
              <a:rPr dirty="0" smtClean="0" sz="800" spc="-9">
                <a:latin typeface="Comic Sans MS"/>
                <a:cs typeface="Comic Sans MS"/>
              </a:rPr>
              <a:t>t</a:t>
            </a:r>
            <a:r>
              <a:rPr dirty="0" smtClean="0" sz="800" spc="0">
                <a:latin typeface="Comic Sans MS"/>
                <a:cs typeface="Comic Sans MS"/>
              </a:rPr>
              <a:t>o</a:t>
            </a:r>
            <a:r>
              <a:rPr dirty="0" smtClean="0" sz="800" spc="53">
                <a:latin typeface="Comic Sans MS"/>
                <a:cs typeface="Comic Sans MS"/>
              </a:rPr>
              <a:t> </a:t>
            </a:r>
            <a:r>
              <a:rPr dirty="0" smtClean="0" sz="800" spc="-9">
                <a:latin typeface="Comic Sans MS"/>
                <a:cs typeface="Comic Sans MS"/>
              </a:rPr>
              <a:t>brea</a:t>
            </a:r>
            <a:r>
              <a:rPr dirty="0" smtClean="0" sz="800" spc="0">
                <a:latin typeface="Comic Sans MS"/>
                <a:cs typeface="Comic Sans MS"/>
              </a:rPr>
              <a:t>k</a:t>
            </a:r>
            <a:r>
              <a:rPr dirty="0" smtClean="0" sz="800" spc="94">
                <a:latin typeface="Comic Sans MS"/>
                <a:cs typeface="Comic Sans MS"/>
              </a:rPr>
              <a:t> </a:t>
            </a:r>
            <a:r>
              <a:rPr dirty="0" smtClean="0" sz="800" spc="-9">
                <a:latin typeface="Comic Sans MS"/>
                <a:cs typeface="Comic Sans MS"/>
              </a:rPr>
              <a:t>th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68">
                <a:latin typeface="Comic Sans MS"/>
                <a:cs typeface="Comic Sans MS"/>
              </a:rPr>
              <a:t> </a:t>
            </a:r>
            <a:r>
              <a:rPr dirty="0" smtClean="0" sz="800" spc="-9">
                <a:latin typeface="Comic Sans MS"/>
                <a:cs typeface="Comic Sans MS"/>
              </a:rPr>
              <a:t>deadlock</a:t>
            </a:r>
            <a:endParaRPr sz="80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71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What</a:t>
            </a:r>
            <a:r>
              <a:rPr dirty="0" smtClean="0" sz="800" spc="47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do</a:t>
            </a:r>
            <a:r>
              <a:rPr dirty="0" smtClean="0" sz="800" spc="11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people</a:t>
            </a:r>
            <a:r>
              <a:rPr dirty="0" smtClean="0" sz="800" spc="56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do</a:t>
            </a:r>
            <a:r>
              <a:rPr dirty="0" smtClean="0" sz="800" spc="11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after</a:t>
            </a:r>
            <a:r>
              <a:rPr dirty="0" smtClean="0" sz="800" spc="45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manual</a:t>
            </a:r>
            <a:r>
              <a:rPr dirty="0" smtClean="0" sz="800" spc="59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detection?</a:t>
            </a:r>
            <a:endParaRPr sz="800">
              <a:latin typeface="Comic Sans MS"/>
              <a:cs typeface="Comic Sans MS"/>
            </a:endParaRPr>
          </a:p>
          <a:p>
            <a:pPr marL="314325">
              <a:lnSpc>
                <a:spcPct val="116129"/>
              </a:lnSpc>
              <a:spcBef>
                <a:spcPts val="175"/>
              </a:spcBef>
            </a:pPr>
            <a:r>
              <a:rPr dirty="0" smtClean="0" sz="50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500" spc="122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Kil</a:t>
            </a:r>
            <a:r>
              <a:rPr dirty="0" smtClean="0" sz="650" spc="0">
                <a:latin typeface="Comic Sans MS"/>
                <a:cs typeface="Comic Sans MS"/>
              </a:rPr>
              <a:t>l</a:t>
            </a:r>
            <a:r>
              <a:rPr dirty="0" smtClean="0" sz="650" spc="72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a</a:t>
            </a:r>
            <a:r>
              <a:rPr dirty="0" smtClean="0" sz="650" spc="48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proces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127">
                <a:latin typeface="Comic Sans MS"/>
                <a:cs typeface="Comic Sans MS"/>
              </a:rPr>
              <a:t> </a:t>
            </a:r>
            <a:r>
              <a:rPr dirty="0" smtClean="0" sz="650" spc="-69">
                <a:latin typeface="Comic Sans MS"/>
                <a:cs typeface="Comic Sans MS"/>
              </a:rPr>
              <a:t>(</a:t>
            </a:r>
            <a:r>
              <a:rPr dirty="0" smtClean="0" sz="650" spc="64">
                <a:latin typeface="Comic Sans MS"/>
                <a:cs typeface="Comic Sans MS"/>
              </a:rPr>
              <a:t>e</a:t>
            </a:r>
            <a:r>
              <a:rPr dirty="0" smtClean="0" sz="650" spc="-9">
                <a:latin typeface="Comic Sans MS"/>
                <a:cs typeface="Comic Sans MS"/>
              </a:rPr>
              <a:t>s</a:t>
            </a:r>
            <a:r>
              <a:rPr dirty="0" smtClean="0" sz="650" spc="0">
                <a:latin typeface="Comic Sans MS"/>
                <a:cs typeface="Comic Sans MS"/>
              </a:rPr>
              <a:t>)</a:t>
            </a:r>
            <a:endParaRPr sz="650">
              <a:latin typeface="Comic Sans MS"/>
              <a:cs typeface="Comic Sans MS"/>
            </a:endParaRPr>
          </a:p>
          <a:p>
            <a:pPr marL="314325">
              <a:lnSpc>
                <a:spcPct val="116129"/>
              </a:lnSpc>
              <a:spcBef>
                <a:spcPts val="70"/>
              </a:spcBef>
            </a:pPr>
            <a:r>
              <a:rPr dirty="0" smtClean="0" sz="50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500" spc="122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Reboo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144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th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11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system</a:t>
            </a:r>
            <a:endParaRPr sz="650">
              <a:latin typeface="Comic Sans MS"/>
              <a:cs typeface="Comic Sans MS"/>
            </a:endParaRPr>
          </a:p>
          <a:p>
            <a:pPr marR="114300" algn="r">
              <a:lnSpc>
                <a:spcPct val="100000"/>
              </a:lnSpc>
              <a:spcBef>
                <a:spcPts val="6008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4</a:t>
            </a:r>
            <a:r>
              <a:rPr dirty="0" smtClean="0" sz="350" spc="0">
                <a:latin typeface="Times New Roman"/>
                <a:cs typeface="Times New Roman"/>
              </a:rPr>
              <a:t>1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29025" y="3562350"/>
            <a:ext cx="2676525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Running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deadlock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detection?</a:t>
            </a:r>
            <a:endParaRPr sz="1200">
              <a:latin typeface="Comic Sans MS"/>
              <a:cs typeface="Comic Sans MS"/>
            </a:endParaRPr>
          </a:p>
          <a:p>
            <a:pPr marL="285750" marR="470090" indent="-104775">
              <a:lnSpc>
                <a:spcPts val="830"/>
              </a:lnSpc>
              <a:spcBef>
                <a:spcPts val="1277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Unlik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06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wit</a:t>
            </a:r>
            <a:r>
              <a:rPr dirty="0" smtClean="0" sz="650" spc="0">
                <a:latin typeface="Comic Sans MS"/>
                <a:cs typeface="Comic Sans MS"/>
              </a:rPr>
              <a:t>h</a:t>
            </a:r>
            <a:r>
              <a:rPr dirty="0" smtClean="0" sz="650" spc="89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deadloc</a:t>
            </a:r>
            <a:r>
              <a:rPr dirty="0" smtClean="0" sz="650" spc="0">
                <a:latin typeface="Comic Sans MS"/>
                <a:cs typeface="Comic Sans MS"/>
              </a:rPr>
              <a:t>k</a:t>
            </a:r>
            <a:r>
              <a:rPr dirty="0" smtClean="0" sz="650" spc="129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avoidanc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37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algorith</a:t>
            </a:r>
            <a:r>
              <a:rPr dirty="0" smtClean="0" sz="650" spc="0">
                <a:latin typeface="Comic Sans MS"/>
                <a:cs typeface="Comic Sans MS"/>
              </a:rPr>
              <a:t>m</a:t>
            </a:r>
            <a:r>
              <a:rPr dirty="0" smtClean="0" sz="650" spc="136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have</a:t>
            </a:r>
            <a:r>
              <a:rPr dirty="0" smtClean="0" sz="650" spc="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choic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11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o</a:t>
            </a:r>
            <a:r>
              <a:rPr dirty="0" smtClean="0" sz="650" spc="0">
                <a:latin typeface="Comic Sans MS"/>
                <a:cs typeface="Comic Sans MS"/>
              </a:rPr>
              <a:t>f</a:t>
            </a:r>
            <a:r>
              <a:rPr dirty="0" smtClean="0" sz="650" spc="55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whe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8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t</a:t>
            </a:r>
            <a:r>
              <a:rPr dirty="0" smtClean="0" sz="650" spc="0">
                <a:latin typeface="Comic Sans MS"/>
                <a:cs typeface="Comic Sans MS"/>
              </a:rPr>
              <a:t>o</a:t>
            </a:r>
            <a:r>
              <a:rPr dirty="0" smtClean="0" sz="650" spc="5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run</a:t>
            </a:r>
            <a:endParaRPr sz="650">
              <a:latin typeface="Comic Sans MS"/>
              <a:cs typeface="Comic Sans MS"/>
            </a:endParaRPr>
          </a:p>
          <a:p>
            <a:pPr marL="285750" marR="536552" indent="-104775">
              <a:lnSpc>
                <a:spcPts val="830"/>
              </a:lnSpc>
              <a:spcBef>
                <a:spcPts val="219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I</a:t>
            </a:r>
            <a:r>
              <a:rPr dirty="0" smtClean="0" sz="650" spc="0">
                <a:latin typeface="Comic Sans MS"/>
                <a:cs typeface="Comic Sans MS"/>
              </a:rPr>
              <a:t>f</a:t>
            </a:r>
            <a:r>
              <a:rPr dirty="0" smtClean="0" sz="650" spc="65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ru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7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o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65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ever</a:t>
            </a:r>
            <a:r>
              <a:rPr dirty="0" smtClean="0" sz="650" spc="0">
                <a:latin typeface="Comic Sans MS"/>
                <a:cs typeface="Comic Sans MS"/>
              </a:rPr>
              <a:t>y</a:t>
            </a:r>
            <a:r>
              <a:rPr dirty="0" smtClean="0" sz="650" spc="95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resourc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2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reques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11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approaches</a:t>
            </a:r>
            <a:r>
              <a:rPr dirty="0" smtClean="0" sz="650" spc="4">
                <a:latin typeface="Comic Sans MS"/>
                <a:cs typeface="Comic Sans MS"/>
              </a:rPr>
              <a:t> </a:t>
            </a:r>
            <a:r>
              <a:rPr dirty="0" smtClean="0" sz="650" spc="14">
                <a:latin typeface="Comic Sans MS"/>
                <a:cs typeface="Comic Sans MS"/>
              </a:rPr>
              <a:t>avoidance</a:t>
            </a:r>
            <a:endParaRPr sz="650">
              <a:latin typeface="Comic Sans MS"/>
              <a:cs typeface="Comic Sans MS"/>
            </a:endParaRPr>
          </a:p>
          <a:p>
            <a:pPr marL="314325">
              <a:lnSpc>
                <a:spcPts val="835"/>
              </a:lnSpc>
              <a:spcBef>
                <a:spcPts val="0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N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sens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</a:t>
            </a:r>
            <a:r>
              <a:rPr dirty="0" smtClean="0" sz="600" spc="0">
                <a:latin typeface="Comic Sans MS"/>
                <a:cs typeface="Comic Sans MS"/>
              </a:rPr>
              <a:t>f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maximu</a:t>
            </a:r>
            <a:r>
              <a:rPr dirty="0" smtClean="0" sz="600" spc="0">
                <a:latin typeface="Comic Sans MS"/>
                <a:cs typeface="Comic Sans MS"/>
              </a:rPr>
              <a:t>m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resourc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requiremen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though</a:t>
            </a:r>
            <a:endParaRPr sz="60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113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Decidin</a:t>
            </a:r>
            <a:r>
              <a:rPr dirty="0" smtClean="0" sz="650" spc="0">
                <a:latin typeface="Comic Sans MS"/>
                <a:cs typeface="Comic Sans MS"/>
              </a:rPr>
              <a:t>g</a:t>
            </a:r>
            <a:r>
              <a:rPr dirty="0" smtClean="0" sz="650" spc="117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ho</a:t>
            </a:r>
            <a:r>
              <a:rPr dirty="0" smtClean="0" sz="650" spc="0">
                <a:latin typeface="Comic Sans MS"/>
                <a:cs typeface="Comic Sans MS"/>
              </a:rPr>
              <a:t>w</a:t>
            </a:r>
            <a:r>
              <a:rPr dirty="0" smtClean="0" sz="650" spc="74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often</a:t>
            </a:r>
            <a:endParaRPr sz="650">
              <a:latin typeface="Comic Sans MS"/>
              <a:cs typeface="Comic Sans MS"/>
            </a:endParaRPr>
          </a:p>
          <a:p>
            <a:pPr marL="314325">
              <a:lnSpc>
                <a:spcPts val="810"/>
              </a:lnSpc>
              <a:spcBef>
                <a:spcPts val="40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Ho</a:t>
            </a:r>
            <a:r>
              <a:rPr dirty="0" smtClean="0" sz="600" spc="0">
                <a:latin typeface="Comic Sans MS"/>
                <a:cs typeface="Comic Sans MS"/>
              </a:rPr>
              <a:t>w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ofte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i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deadloc</a:t>
            </a:r>
            <a:r>
              <a:rPr dirty="0" smtClean="0" sz="600" spc="0">
                <a:latin typeface="Comic Sans MS"/>
                <a:cs typeface="Comic Sans MS"/>
              </a:rPr>
              <a:t>k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likel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occur?</a:t>
            </a:r>
            <a:endParaRPr sz="600">
              <a:latin typeface="Comic Sans MS"/>
              <a:cs typeface="Comic Sans MS"/>
            </a:endParaRPr>
          </a:p>
          <a:p>
            <a:pPr marL="314325">
              <a:lnSpc>
                <a:spcPts val="825"/>
              </a:lnSpc>
              <a:spcBef>
                <a:spcPts val="0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Ho</a:t>
            </a:r>
            <a:r>
              <a:rPr dirty="0" smtClean="0" sz="600" spc="0">
                <a:latin typeface="Comic Sans MS"/>
                <a:cs typeface="Comic Sans MS"/>
              </a:rPr>
              <a:t>w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man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processe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wil</a:t>
            </a:r>
            <a:r>
              <a:rPr dirty="0" smtClean="0" sz="600" spc="0">
                <a:latin typeface="Comic Sans MS"/>
                <a:cs typeface="Comic Sans MS"/>
              </a:rPr>
              <a:t>l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b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affected?</a:t>
            </a:r>
            <a:endParaRPr sz="600">
              <a:latin typeface="Comic Sans MS"/>
              <a:cs typeface="Comic Sans MS"/>
            </a:endParaRPr>
          </a:p>
          <a:p>
            <a:pPr marL="400050" marR="356579" indent="-85725">
              <a:lnSpc>
                <a:spcPts val="680"/>
              </a:lnSpc>
              <a:spcBef>
                <a:spcPts val="172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Whe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CP</a:t>
            </a:r>
            <a:r>
              <a:rPr dirty="0" smtClean="0" sz="600" spc="0">
                <a:latin typeface="Comic Sans MS"/>
                <a:cs typeface="Comic Sans MS"/>
              </a:rPr>
              <a:t>U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utilizatio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drop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belo</a:t>
            </a:r>
            <a:r>
              <a:rPr dirty="0" smtClean="0" sz="600" spc="0">
                <a:latin typeface="Comic Sans MS"/>
                <a:cs typeface="Comic Sans MS"/>
              </a:rPr>
              <a:t>w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X%</a:t>
            </a:r>
            <a:r>
              <a:rPr dirty="0" smtClean="0" sz="600" spc="0">
                <a:latin typeface="Comic Sans MS"/>
                <a:cs typeface="Comic Sans MS"/>
              </a:rPr>
              <a:t>?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(Overal</a:t>
            </a:r>
            <a:r>
              <a:rPr dirty="0" smtClean="0" sz="600" spc="0">
                <a:latin typeface="Comic Sans MS"/>
                <a:cs typeface="Comic Sans MS"/>
              </a:rPr>
              <a:t>l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just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for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some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processes?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What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if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spin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locks?)</a:t>
            </a:r>
            <a:endParaRPr sz="600">
              <a:latin typeface="Comic Sans MS"/>
              <a:cs typeface="Comic Sans MS"/>
            </a:endParaRPr>
          </a:p>
          <a:p>
            <a:pPr marL="400050" marR="404020" indent="-85725">
              <a:lnSpc>
                <a:spcPts val="750"/>
              </a:lnSpc>
              <a:spcBef>
                <a:spcPts val="88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What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are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signs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that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it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might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be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good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to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run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deadlock</a:t>
            </a:r>
            <a:r>
              <a:rPr dirty="0" smtClean="0" sz="600" spc="0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detectio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algorithm?</a:t>
            </a:r>
            <a:endParaRPr sz="600">
              <a:latin typeface="Comic Sans MS"/>
              <a:cs typeface="Comic Sans MS"/>
            </a:endParaRPr>
          </a:p>
          <a:p>
            <a:pPr marR="104775" algn="r">
              <a:lnSpc>
                <a:spcPct val="100000"/>
              </a:lnSpc>
              <a:spcBef>
                <a:spcPts val="985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4</a:t>
            </a:r>
            <a:r>
              <a:rPr dirty="0" smtClean="0" sz="350" spc="0">
                <a:latin typeface="Times New Roman"/>
                <a:cs typeface="Times New Roman"/>
              </a:rPr>
              <a:t>0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400" y="3562350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Deadlock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Detection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Algorithm</a:t>
            </a:r>
            <a:endParaRPr sz="1200">
              <a:latin typeface="Comic Sans MS"/>
              <a:cs typeface="Comic Sans MS"/>
            </a:endParaRPr>
          </a:p>
          <a:p>
            <a:pPr marL="390525" marR="1268789" indent="-123825">
              <a:lnSpc>
                <a:spcPts val="396"/>
              </a:lnSpc>
              <a:spcBef>
                <a:spcPts val="1233"/>
              </a:spcBef>
            </a:pPr>
            <a:r>
              <a:rPr dirty="0" smtClean="0" sz="350" spc="14">
                <a:latin typeface="Courier New"/>
                <a:cs typeface="Courier New"/>
              </a:rPr>
              <a:t>tryToFinishOn</a:t>
            </a:r>
            <a:r>
              <a:rPr dirty="0" smtClean="0" sz="350" spc="0">
                <a:latin typeface="Courier New"/>
                <a:cs typeface="Courier New"/>
              </a:rPr>
              <a:t>e</a:t>
            </a:r>
            <a:r>
              <a:rPr dirty="0" smtClean="0" sz="350" spc="85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:</a:t>
            </a:r>
            <a:r>
              <a:rPr dirty="0" smtClean="0" sz="350" spc="59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fo</a:t>
            </a:r>
            <a:r>
              <a:rPr dirty="0" smtClean="0" sz="350" spc="0">
                <a:latin typeface="Courier New"/>
                <a:cs typeface="Courier New"/>
              </a:rPr>
              <a:t>r</a:t>
            </a:r>
            <a:r>
              <a:rPr dirty="0" smtClean="0" sz="350" spc="88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(i=0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118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i</a:t>
            </a:r>
            <a:r>
              <a:rPr dirty="0" smtClean="0" sz="350" spc="0">
                <a:latin typeface="Courier New"/>
                <a:cs typeface="Courier New"/>
              </a:rPr>
              <a:t>&lt;</a:t>
            </a:r>
            <a:r>
              <a:rPr dirty="0" smtClean="0" sz="350" spc="74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P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74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i++){</a:t>
            </a:r>
            <a:r>
              <a:rPr dirty="0" smtClean="0" sz="350" spc="14">
                <a:latin typeface="Courier New"/>
                <a:cs typeface="Courier New"/>
              </a:rPr>
              <a:t> </a:t>
            </a:r>
            <a:endParaRPr sz="350">
              <a:latin typeface="Courier New"/>
              <a:cs typeface="Courier New"/>
            </a:endParaRPr>
          </a:p>
          <a:p>
            <a:pPr marL="390525" marR="1268789">
              <a:lnSpc>
                <a:spcPts val="396"/>
              </a:lnSpc>
              <a:spcBef>
                <a:spcPts val="128"/>
              </a:spcBef>
            </a:pPr>
            <a:r>
              <a:rPr dirty="0" smtClean="0" sz="350" spc="21">
                <a:latin typeface="Courier New"/>
                <a:cs typeface="Courier New"/>
              </a:rPr>
              <a:t>finishedSomeoneThisTim</a:t>
            </a:r>
            <a:r>
              <a:rPr dirty="0" smtClean="0" sz="350" spc="0">
                <a:latin typeface="Courier New"/>
                <a:cs typeface="Courier New"/>
              </a:rPr>
              <a:t>e</a:t>
            </a:r>
            <a:r>
              <a:rPr dirty="0" smtClean="0" sz="350" spc="44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49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FALSE;</a:t>
            </a:r>
            <a:r>
              <a:rPr dirty="0" smtClean="0" sz="350" spc="19">
                <a:latin typeface="Courier New"/>
                <a:cs typeface="Courier New"/>
              </a:rPr>
              <a:t> </a:t>
            </a:r>
            <a:endParaRPr sz="350">
              <a:latin typeface="Courier New"/>
              <a:cs typeface="Courier New"/>
            </a:endParaRPr>
          </a:p>
          <a:p>
            <a:pPr marL="390525" marR="1268789">
              <a:lnSpc>
                <a:spcPts val="396"/>
              </a:lnSpc>
              <a:spcBef>
                <a:spcPts val="128"/>
              </a:spcBef>
            </a:pPr>
            <a:r>
              <a:rPr dirty="0" smtClean="0" sz="350" spc="25">
                <a:latin typeface="Courier New"/>
                <a:cs typeface="Courier New"/>
              </a:rPr>
              <a:t>allFinishe</a:t>
            </a:r>
            <a:r>
              <a:rPr dirty="0" smtClean="0" sz="350" spc="0">
                <a:latin typeface="Courier New"/>
                <a:cs typeface="Courier New"/>
              </a:rPr>
              <a:t>d</a:t>
            </a:r>
            <a:r>
              <a:rPr dirty="0" smtClean="0" sz="350" spc="126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129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TRUE;</a:t>
            </a:r>
            <a:endParaRPr sz="350">
              <a:latin typeface="Courier New"/>
              <a:cs typeface="Courier New"/>
            </a:endParaRPr>
          </a:p>
          <a:p>
            <a:pPr marL="400050">
              <a:lnSpc>
                <a:spcPct val="94401"/>
              </a:lnSpc>
              <a:spcBef>
                <a:spcPts val="128"/>
              </a:spcBef>
            </a:pPr>
            <a:r>
              <a:rPr dirty="0" smtClean="0" sz="350" spc="19">
                <a:latin typeface="Courier New"/>
                <a:cs typeface="Courier New"/>
              </a:rPr>
              <a:t>i</a:t>
            </a:r>
            <a:r>
              <a:rPr dirty="0" smtClean="0" sz="350" spc="0">
                <a:latin typeface="Courier New"/>
                <a:cs typeface="Courier New"/>
              </a:rPr>
              <a:t>f</a:t>
            </a:r>
            <a:r>
              <a:rPr dirty="0" smtClean="0" sz="350" spc="64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(</a:t>
            </a:r>
            <a:r>
              <a:rPr dirty="0" smtClean="0" sz="350" spc="0">
                <a:latin typeface="Courier New"/>
                <a:cs typeface="Courier New"/>
              </a:rPr>
              <a:t>!</a:t>
            </a:r>
            <a:r>
              <a:rPr dirty="0" smtClean="0" sz="350" spc="-114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canFinis</a:t>
            </a:r>
            <a:r>
              <a:rPr dirty="0" smtClean="0" sz="350" spc="-50">
                <a:latin typeface="Courier New"/>
                <a:cs typeface="Courier New"/>
              </a:rPr>
              <a:t>h</a:t>
            </a:r>
            <a:r>
              <a:rPr dirty="0" smtClean="0" sz="350" spc="14">
                <a:latin typeface="Courier New"/>
                <a:cs typeface="Courier New"/>
              </a:rPr>
              <a:t>[i]){</a:t>
            </a:r>
            <a:endParaRPr sz="350">
              <a:latin typeface="Courier New"/>
              <a:cs typeface="Courier New"/>
            </a:endParaRPr>
          </a:p>
          <a:p>
            <a:pPr marL="514350">
              <a:lnSpc>
                <a:spcPct val="94401"/>
              </a:lnSpc>
              <a:spcBef>
                <a:spcPts val="200"/>
              </a:spcBef>
            </a:pPr>
            <a:r>
              <a:rPr dirty="0" smtClean="0" sz="350" spc="25">
                <a:latin typeface="Courier New"/>
                <a:cs typeface="Courier New"/>
              </a:rPr>
              <a:t>allFinishe</a:t>
            </a:r>
            <a:r>
              <a:rPr dirty="0" smtClean="0" sz="350" spc="0">
                <a:latin typeface="Courier New"/>
                <a:cs typeface="Courier New"/>
              </a:rPr>
              <a:t>d</a:t>
            </a:r>
            <a:r>
              <a:rPr dirty="0" smtClean="0" sz="350" spc="126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64">
                <a:latin typeface="Courier New"/>
                <a:cs typeface="Courier New"/>
              </a:rPr>
              <a:t> </a:t>
            </a:r>
            <a:r>
              <a:rPr dirty="0" smtClean="0" sz="350" spc="9">
                <a:latin typeface="Courier New"/>
                <a:cs typeface="Courier New"/>
              </a:rPr>
              <a:t>FALSE;</a:t>
            </a:r>
            <a:endParaRPr sz="350">
              <a:latin typeface="Courier New"/>
              <a:cs typeface="Courier New"/>
            </a:endParaRPr>
          </a:p>
          <a:p>
            <a:pPr marL="714375" marR="1011621" indent="-180975">
              <a:lnSpc>
                <a:spcPts val="396"/>
              </a:lnSpc>
              <a:spcBef>
                <a:spcPts val="125"/>
              </a:spcBef>
            </a:pPr>
            <a:r>
              <a:rPr dirty="0" smtClean="0" sz="350" spc="19">
                <a:latin typeface="Courier New"/>
                <a:cs typeface="Courier New"/>
              </a:rPr>
              <a:t>i</a:t>
            </a:r>
            <a:r>
              <a:rPr dirty="0" smtClean="0" sz="350" spc="0">
                <a:latin typeface="Courier New"/>
                <a:cs typeface="Courier New"/>
              </a:rPr>
              <a:t>f</a:t>
            </a:r>
            <a:r>
              <a:rPr dirty="0" smtClean="0" sz="350" spc="84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(</a:t>
            </a:r>
            <a:r>
              <a:rPr dirty="0" smtClean="0" sz="350" spc="69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(</a:t>
            </a:r>
            <a:r>
              <a:rPr dirty="0" smtClean="0" sz="350" spc="0">
                <a:latin typeface="Courier New"/>
                <a:cs typeface="Courier New"/>
              </a:rPr>
              <a:t>i</a:t>
            </a:r>
            <a:r>
              <a:rPr dirty="0" smtClean="0" sz="350" spc="84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!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84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p</a:t>
            </a:r>
            <a:r>
              <a:rPr dirty="0" smtClean="0" sz="350" spc="0">
                <a:latin typeface="Courier New"/>
                <a:cs typeface="Courier New"/>
              </a:rPr>
              <a:t>)</a:t>
            </a:r>
            <a:r>
              <a:rPr dirty="0" smtClean="0" sz="350" spc="84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|</a:t>
            </a:r>
            <a:r>
              <a:rPr dirty="0" smtClean="0" sz="350" spc="0">
                <a:latin typeface="Courier New"/>
                <a:cs typeface="Courier New"/>
              </a:rPr>
              <a:t>|</a:t>
            </a:r>
            <a:r>
              <a:rPr dirty="0" smtClean="0" sz="350" spc="84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(work[r</a:t>
            </a:r>
            <a:r>
              <a:rPr dirty="0" smtClean="0" sz="350" spc="0">
                <a:latin typeface="Courier New"/>
                <a:cs typeface="Courier New"/>
              </a:rPr>
              <a:t>]</a:t>
            </a:r>
            <a:r>
              <a:rPr dirty="0" smtClean="0" sz="350" spc="172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&gt;</a:t>
            </a:r>
            <a:r>
              <a:rPr dirty="0" smtClean="0" sz="350" spc="69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1</a:t>
            </a:r>
            <a:r>
              <a:rPr dirty="0" smtClean="0" sz="350" spc="0">
                <a:latin typeface="Courier New"/>
                <a:cs typeface="Courier New"/>
              </a:rPr>
              <a:t>)</a:t>
            </a:r>
            <a:r>
              <a:rPr dirty="0" smtClean="0" sz="350" spc="84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)</a:t>
            </a:r>
            <a:r>
              <a:rPr dirty="0" smtClean="0" sz="350" spc="69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)</a:t>
            </a:r>
            <a:r>
              <a:rPr dirty="0" smtClean="0" sz="350" spc="69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{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endParaRPr sz="350">
              <a:latin typeface="Courier New"/>
              <a:cs typeface="Courier New"/>
            </a:endParaRPr>
          </a:p>
          <a:p>
            <a:pPr marL="714375" marR="1011621">
              <a:lnSpc>
                <a:spcPts val="396"/>
              </a:lnSpc>
              <a:spcBef>
                <a:spcPts val="128"/>
              </a:spcBef>
            </a:pPr>
            <a:r>
              <a:rPr dirty="0" smtClean="0" sz="350" spc="9">
                <a:latin typeface="Courier New"/>
                <a:cs typeface="Courier New"/>
              </a:rPr>
              <a:t>canFinis</a:t>
            </a:r>
            <a:r>
              <a:rPr dirty="0" smtClean="0" sz="350" spc="0">
                <a:latin typeface="Courier New"/>
                <a:cs typeface="Courier New"/>
              </a:rPr>
              <a:t>h</a:t>
            </a:r>
            <a:r>
              <a:rPr dirty="0" smtClean="0" sz="350" spc="7">
                <a:latin typeface="Courier New"/>
                <a:cs typeface="Courier New"/>
              </a:rPr>
              <a:t> </a:t>
            </a:r>
            <a:r>
              <a:rPr dirty="0" smtClean="0" sz="350" spc="9">
                <a:latin typeface="Courier New"/>
                <a:cs typeface="Courier New"/>
              </a:rPr>
              <a:t>[i</a:t>
            </a:r>
            <a:r>
              <a:rPr dirty="0" smtClean="0" sz="350" spc="0">
                <a:latin typeface="Courier New"/>
                <a:cs typeface="Courier New"/>
              </a:rPr>
              <a:t>]</a:t>
            </a:r>
            <a:r>
              <a:rPr dirty="0" smtClean="0" sz="350" spc="94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64">
                <a:latin typeface="Courier New"/>
                <a:cs typeface="Courier New"/>
              </a:rPr>
              <a:t> </a:t>
            </a:r>
            <a:r>
              <a:rPr dirty="0" smtClean="0" sz="350" spc="9">
                <a:latin typeface="Courier New"/>
                <a:cs typeface="Courier New"/>
              </a:rPr>
              <a:t>TRUE;</a:t>
            </a:r>
            <a:r>
              <a:rPr dirty="0" smtClean="0" sz="350" spc="9">
                <a:latin typeface="Courier New"/>
                <a:cs typeface="Courier New"/>
              </a:rPr>
              <a:t> </a:t>
            </a:r>
            <a:endParaRPr sz="350">
              <a:latin typeface="Courier New"/>
              <a:cs typeface="Courier New"/>
            </a:endParaRPr>
          </a:p>
          <a:p>
            <a:pPr marL="714375" marR="1011621">
              <a:lnSpc>
                <a:spcPts val="396"/>
              </a:lnSpc>
              <a:spcBef>
                <a:spcPts val="128"/>
              </a:spcBef>
            </a:pPr>
            <a:r>
              <a:rPr dirty="0" smtClean="0" sz="350" spc="15">
                <a:latin typeface="Courier New"/>
                <a:cs typeface="Courier New"/>
              </a:rPr>
              <a:t>finishedSomeoneThisTim</a:t>
            </a:r>
            <a:r>
              <a:rPr dirty="0" smtClean="0" sz="350" spc="0">
                <a:latin typeface="Courier New"/>
                <a:cs typeface="Courier New"/>
              </a:rPr>
              <a:t>e</a:t>
            </a:r>
            <a:r>
              <a:rPr dirty="0" smtClean="0" sz="350" spc="45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54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TRUE;</a:t>
            </a:r>
            <a:endParaRPr sz="350">
              <a:latin typeface="Courier New"/>
              <a:cs typeface="Courier New"/>
            </a:endParaRPr>
          </a:p>
          <a:p>
            <a:pPr marL="714375">
              <a:lnSpc>
                <a:spcPct val="94401"/>
              </a:lnSpc>
              <a:spcBef>
                <a:spcPts val="203"/>
              </a:spcBef>
            </a:pPr>
            <a:r>
              <a:rPr dirty="0" smtClean="0" sz="350" spc="19">
                <a:latin typeface="Courier New"/>
                <a:cs typeface="Courier New"/>
              </a:rPr>
              <a:t>fo</a:t>
            </a:r>
            <a:r>
              <a:rPr dirty="0" smtClean="0" sz="350" spc="0">
                <a:latin typeface="Courier New"/>
                <a:cs typeface="Courier New"/>
              </a:rPr>
              <a:t>r</a:t>
            </a:r>
            <a:r>
              <a:rPr dirty="0" smtClean="0" sz="350" spc="108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(j=0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138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j</a:t>
            </a:r>
            <a:r>
              <a:rPr dirty="0" smtClean="0" sz="350" spc="0">
                <a:latin typeface="Courier New"/>
                <a:cs typeface="Courier New"/>
              </a:rPr>
              <a:t>&lt;</a:t>
            </a:r>
            <a:r>
              <a:rPr dirty="0" smtClean="0" sz="350" spc="94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R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94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j++</a:t>
            </a:r>
            <a:r>
              <a:rPr dirty="0" smtClean="0" sz="350" spc="0">
                <a:latin typeface="Courier New"/>
                <a:cs typeface="Courier New"/>
              </a:rPr>
              <a:t>)</a:t>
            </a:r>
            <a:r>
              <a:rPr dirty="0" smtClean="0" sz="350" spc="123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work[j</a:t>
            </a:r>
            <a:r>
              <a:rPr dirty="0" smtClean="0" sz="350" spc="0">
                <a:latin typeface="Courier New"/>
                <a:cs typeface="Courier New"/>
              </a:rPr>
              <a:t>]</a:t>
            </a:r>
            <a:r>
              <a:rPr dirty="0" smtClean="0" sz="350" spc="167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+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94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allocation[i][j];</a:t>
            </a:r>
            <a:endParaRPr sz="350">
              <a:latin typeface="Courier New"/>
              <a:cs typeface="Courier New"/>
            </a:endParaRPr>
          </a:p>
          <a:p>
            <a:pPr marL="533400">
              <a:lnSpc>
                <a:spcPct val="94401"/>
              </a:lnSpc>
              <a:spcBef>
                <a:spcPts val="125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  <a:p>
            <a:pPr marL="447675">
              <a:lnSpc>
                <a:spcPct val="94401"/>
              </a:lnSpc>
              <a:spcBef>
                <a:spcPts val="125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  <a:p>
            <a:pPr marL="285750">
              <a:lnSpc>
                <a:spcPct val="94401"/>
              </a:lnSpc>
              <a:spcBef>
                <a:spcPts val="200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  <a:p>
            <a:pPr marL="285750">
              <a:lnSpc>
                <a:spcPct val="94401"/>
              </a:lnSpc>
              <a:spcBef>
                <a:spcPts val="125"/>
              </a:spcBef>
            </a:pPr>
            <a:r>
              <a:rPr dirty="0" smtClean="0" sz="350" spc="0">
                <a:latin typeface="Courier New"/>
                <a:cs typeface="Courier New"/>
              </a:rPr>
              <a:t>if</a:t>
            </a:r>
            <a:r>
              <a:rPr dirty="0" smtClean="0" sz="350" spc="44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(</a:t>
            </a:r>
            <a:r>
              <a:rPr dirty="0" smtClean="0" sz="350" spc="19">
                <a:latin typeface="Courier New"/>
                <a:cs typeface="Courier New"/>
              </a:rPr>
              <a:t>allFinished</a:t>
            </a:r>
            <a:r>
              <a:rPr dirty="0" smtClean="0" sz="350" spc="0">
                <a:latin typeface="Courier New"/>
                <a:cs typeface="Courier New"/>
              </a:rPr>
              <a:t>){</a:t>
            </a:r>
            <a:endParaRPr sz="350">
              <a:latin typeface="Courier New"/>
              <a:cs typeface="Courier New"/>
            </a:endParaRPr>
          </a:p>
          <a:p>
            <a:pPr marL="447675">
              <a:lnSpc>
                <a:spcPct val="94401"/>
              </a:lnSpc>
              <a:spcBef>
                <a:spcPts val="125"/>
              </a:spcBef>
            </a:pPr>
            <a:r>
              <a:rPr dirty="0" smtClean="0" sz="350" spc="19">
                <a:latin typeface="Courier New"/>
                <a:cs typeface="Courier New"/>
              </a:rPr>
              <a:t>retur</a:t>
            </a:r>
            <a:r>
              <a:rPr dirty="0" smtClean="0" sz="350" spc="0">
                <a:latin typeface="Courier New"/>
                <a:cs typeface="Courier New"/>
              </a:rPr>
              <a:t>n</a:t>
            </a:r>
            <a:r>
              <a:rPr dirty="0" smtClean="0" sz="350" spc="123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FALSE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123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//n</a:t>
            </a:r>
            <a:r>
              <a:rPr dirty="0" smtClean="0" sz="350" spc="0">
                <a:latin typeface="Courier New"/>
                <a:cs typeface="Courier New"/>
              </a:rPr>
              <a:t>o</a:t>
            </a:r>
            <a:r>
              <a:rPr dirty="0" smtClean="0" sz="350" spc="93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deadlock</a:t>
            </a:r>
            <a:endParaRPr sz="350">
              <a:latin typeface="Courier New"/>
              <a:cs typeface="Courier New"/>
            </a:endParaRPr>
          </a:p>
          <a:p>
            <a:pPr marL="285750">
              <a:lnSpc>
                <a:spcPct val="94401"/>
              </a:lnSpc>
              <a:spcBef>
                <a:spcPts val="125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r>
              <a:rPr dirty="0" smtClean="0" sz="350" spc="39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els</a:t>
            </a:r>
            <a:r>
              <a:rPr dirty="0" smtClean="0" sz="350" spc="0">
                <a:latin typeface="Courier New"/>
                <a:cs typeface="Courier New"/>
              </a:rPr>
              <a:t>e</a:t>
            </a:r>
            <a:r>
              <a:rPr dirty="0" smtClean="0" sz="350" spc="83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{</a:t>
            </a:r>
            <a:endParaRPr sz="350">
              <a:latin typeface="Courier New"/>
              <a:cs typeface="Courier New"/>
            </a:endParaRPr>
          </a:p>
          <a:p>
            <a:pPr marL="447675">
              <a:lnSpc>
                <a:spcPct val="94401"/>
              </a:lnSpc>
              <a:spcBef>
                <a:spcPts val="200"/>
              </a:spcBef>
            </a:pPr>
            <a:r>
              <a:rPr dirty="0" smtClean="0" sz="350" spc="19">
                <a:latin typeface="Courier New"/>
                <a:cs typeface="Courier New"/>
              </a:rPr>
              <a:t>i</a:t>
            </a:r>
            <a:r>
              <a:rPr dirty="0" smtClean="0" sz="350" spc="0">
                <a:latin typeface="Courier New"/>
                <a:cs typeface="Courier New"/>
              </a:rPr>
              <a:t>f</a:t>
            </a:r>
            <a:r>
              <a:rPr dirty="0" smtClean="0" sz="350" spc="99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(</a:t>
            </a:r>
            <a:r>
              <a:rPr dirty="0" smtClean="0" sz="350" spc="0">
                <a:latin typeface="Courier New"/>
                <a:cs typeface="Courier New"/>
              </a:rPr>
              <a:t>!</a:t>
            </a:r>
            <a:r>
              <a:rPr dirty="0" smtClean="0" sz="350" spc="24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finishedSomeoneThisTim</a:t>
            </a:r>
            <a:r>
              <a:rPr dirty="0" smtClean="0" sz="350" spc="0">
                <a:latin typeface="Courier New"/>
                <a:cs typeface="Courier New"/>
              </a:rPr>
              <a:t>e</a:t>
            </a:r>
            <a:r>
              <a:rPr dirty="0" smtClean="0" sz="350" spc="-119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){</a:t>
            </a:r>
            <a:endParaRPr sz="350">
              <a:latin typeface="Courier New"/>
              <a:cs typeface="Courier New"/>
            </a:endParaRPr>
          </a:p>
          <a:p>
            <a:pPr marL="533400">
              <a:lnSpc>
                <a:spcPct val="94401"/>
              </a:lnSpc>
              <a:spcBef>
                <a:spcPts val="125"/>
              </a:spcBef>
            </a:pPr>
            <a:r>
              <a:rPr dirty="0" smtClean="0" sz="350" spc="25">
                <a:latin typeface="Courier New"/>
                <a:cs typeface="Courier New"/>
              </a:rPr>
              <a:t>retur</a:t>
            </a:r>
            <a:r>
              <a:rPr dirty="0" smtClean="0" sz="350" spc="0">
                <a:latin typeface="Courier New"/>
                <a:cs typeface="Courier New"/>
              </a:rPr>
              <a:t>n</a:t>
            </a:r>
            <a:r>
              <a:rPr dirty="0" smtClean="0" sz="350" spc="143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TRUE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128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//deadloc</a:t>
            </a:r>
            <a:r>
              <a:rPr dirty="0" smtClean="0" sz="350" spc="0">
                <a:latin typeface="Courier New"/>
                <a:cs typeface="Courier New"/>
              </a:rPr>
              <a:t>k</a:t>
            </a:r>
            <a:r>
              <a:rPr dirty="0" smtClean="0" sz="350" spc="201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fo</a:t>
            </a:r>
            <a:r>
              <a:rPr dirty="0" smtClean="0" sz="350" spc="0">
                <a:latin typeface="Courier New"/>
                <a:cs typeface="Courier New"/>
              </a:rPr>
              <a:t>r</a:t>
            </a:r>
            <a:r>
              <a:rPr dirty="0" smtClean="0" sz="350" spc="99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p</a:t>
            </a:r>
            <a:r>
              <a:rPr dirty="0" smtClean="0" sz="350" spc="0">
                <a:latin typeface="Courier New"/>
                <a:cs typeface="Courier New"/>
              </a:rPr>
              <a:t>i</a:t>
            </a:r>
            <a:r>
              <a:rPr dirty="0" smtClean="0" sz="350" spc="9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st</a:t>
            </a:r>
            <a:r>
              <a:rPr dirty="0" smtClean="0" sz="350" spc="119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canFinish</a:t>
            </a:r>
            <a:r>
              <a:rPr dirty="0" smtClean="0" sz="350" spc="25">
                <a:latin typeface="Courier New"/>
                <a:cs typeface="Courier New"/>
              </a:rPr>
              <a:t>[i</a:t>
            </a:r>
            <a:r>
              <a:rPr dirty="0" smtClean="0" sz="350" spc="0">
                <a:latin typeface="Courier New"/>
                <a:cs typeface="Courier New"/>
              </a:rPr>
              <a:t>]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6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=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69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FALSE</a:t>
            </a:r>
            <a:endParaRPr sz="350">
              <a:latin typeface="Courier New"/>
              <a:cs typeface="Courier New"/>
            </a:endParaRPr>
          </a:p>
          <a:p>
            <a:pPr marL="447675">
              <a:lnSpc>
                <a:spcPct val="94401"/>
              </a:lnSpc>
              <a:spcBef>
                <a:spcPts val="125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r>
              <a:rPr dirty="0" smtClean="0" sz="350" spc="39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els</a:t>
            </a:r>
            <a:r>
              <a:rPr dirty="0" smtClean="0" sz="350" spc="0">
                <a:latin typeface="Courier New"/>
                <a:cs typeface="Courier New"/>
              </a:rPr>
              <a:t>e</a:t>
            </a:r>
            <a:r>
              <a:rPr dirty="0" smtClean="0" sz="350" spc="83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{</a:t>
            </a:r>
            <a:endParaRPr sz="350">
              <a:latin typeface="Courier New"/>
              <a:cs typeface="Courier New"/>
            </a:endParaRPr>
          </a:p>
          <a:p>
            <a:pPr marL="561975">
              <a:lnSpc>
                <a:spcPct val="94401"/>
              </a:lnSpc>
              <a:spcBef>
                <a:spcPts val="125"/>
              </a:spcBef>
            </a:pPr>
            <a:r>
              <a:rPr dirty="0" smtClean="0" sz="350" spc="19">
                <a:latin typeface="Courier New"/>
                <a:cs typeface="Courier New"/>
              </a:rPr>
              <a:t>got</a:t>
            </a:r>
            <a:r>
              <a:rPr dirty="0" smtClean="0" sz="350" spc="0">
                <a:latin typeface="Courier New"/>
                <a:cs typeface="Courier New"/>
              </a:rPr>
              <a:t>o</a:t>
            </a:r>
            <a:r>
              <a:rPr dirty="0" smtClean="0" sz="350" spc="168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tryToFinishOne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endParaRPr sz="350">
              <a:latin typeface="Courier New"/>
              <a:cs typeface="Courier New"/>
            </a:endParaRPr>
          </a:p>
          <a:p>
            <a:pPr marL="447675">
              <a:lnSpc>
                <a:spcPct val="94401"/>
              </a:lnSpc>
              <a:spcBef>
                <a:spcPts val="200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  <a:p>
            <a:pPr marL="285750">
              <a:lnSpc>
                <a:spcPts val="380"/>
              </a:lnSpc>
              <a:spcBef>
                <a:spcPts val="144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  <a:p>
            <a:pPr marL="180975">
              <a:lnSpc>
                <a:spcPts val="540"/>
              </a:lnSpc>
            </a:pPr>
            <a:r>
              <a:rPr dirty="0" smtClean="0" sz="350">
                <a:latin typeface="Courier New"/>
                <a:cs typeface="Courier New"/>
              </a:rPr>
              <a:t>}</a:t>
            </a:r>
            <a:r>
              <a:rPr dirty="0" smtClean="0" sz="350" spc="25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//en</a:t>
            </a:r>
            <a:r>
              <a:rPr dirty="0" smtClean="0" sz="350" spc="0">
                <a:latin typeface="Courier New"/>
                <a:cs typeface="Courier New"/>
              </a:rPr>
              <a:t>d</a:t>
            </a:r>
            <a:r>
              <a:rPr dirty="0" smtClean="0" sz="350" spc="25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deadlockHasOccure</a:t>
            </a:r>
            <a:r>
              <a:rPr dirty="0" smtClean="0" sz="350" spc="0">
                <a:latin typeface="Courier New"/>
                <a:cs typeface="Courier New"/>
              </a:rPr>
              <a:t>d</a:t>
            </a:r>
            <a:r>
              <a:rPr dirty="0" smtClean="0" sz="350" spc="0">
                <a:latin typeface="Courier New"/>
                <a:cs typeface="Courier New"/>
              </a:rPr>
              <a:t>                                                        </a:t>
            </a:r>
            <a:r>
              <a:rPr dirty="0" smtClean="0" sz="350" spc="-94">
                <a:latin typeface="Courier New"/>
                <a:cs typeface="Courier New"/>
              </a:rPr>
              <a:t> </a:t>
            </a:r>
            <a:r>
              <a:rPr dirty="0" smtClean="0" baseline="24846" sz="525" spc="0">
                <a:latin typeface="Times New Roman"/>
                <a:cs typeface="Times New Roman"/>
              </a:rPr>
              <a:t>-</a:t>
            </a:r>
            <a:r>
              <a:rPr dirty="0" smtClean="0" baseline="24846" sz="525" spc="-59">
                <a:latin typeface="Times New Roman"/>
                <a:cs typeface="Times New Roman"/>
              </a:rPr>
              <a:t> </a:t>
            </a:r>
            <a:r>
              <a:rPr dirty="0" smtClean="0" baseline="24846" sz="525" spc="39">
                <a:latin typeface="Times New Roman"/>
                <a:cs typeface="Times New Roman"/>
              </a:rPr>
              <a:t>3</a:t>
            </a:r>
            <a:r>
              <a:rPr dirty="0" smtClean="0" baseline="24846" sz="525" spc="0">
                <a:latin typeface="Times New Roman"/>
                <a:cs typeface="Times New Roman"/>
              </a:rPr>
              <a:t>9</a:t>
            </a:r>
            <a:r>
              <a:rPr dirty="0" smtClean="0" baseline="24846" sz="525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29025" y="904875"/>
            <a:ext cx="2676525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Deadlock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Detection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Algorithm</a:t>
            </a:r>
            <a:endParaRPr sz="1200">
              <a:latin typeface="Comic Sans MS"/>
              <a:cs typeface="Comic Sans MS"/>
            </a:endParaRPr>
          </a:p>
          <a:p>
            <a:pPr marL="160733" marR="1027496" algn="ctr">
              <a:lnSpc>
                <a:spcPct val="94401"/>
              </a:lnSpc>
              <a:spcBef>
                <a:spcPts val="1233"/>
              </a:spcBef>
            </a:pPr>
            <a:r>
              <a:rPr dirty="0" smtClean="0" sz="350" spc="0">
                <a:latin typeface="Courier New"/>
                <a:cs typeface="Courier New"/>
              </a:rPr>
              <a:t>BOOL</a:t>
            </a:r>
            <a:r>
              <a:rPr dirty="0" smtClean="0" sz="350" spc="148">
                <a:latin typeface="Courier New"/>
                <a:cs typeface="Courier New"/>
              </a:rPr>
              <a:t> </a:t>
            </a:r>
            <a:r>
              <a:rPr dirty="0" smtClean="0" sz="350" spc="15">
                <a:latin typeface="Courier New"/>
                <a:cs typeface="Courier New"/>
              </a:rPr>
              <a:t>deadlockHasOccured(unsigne</a:t>
            </a:r>
            <a:r>
              <a:rPr dirty="0" smtClean="0" sz="350" spc="0">
                <a:latin typeface="Courier New"/>
                <a:cs typeface="Courier New"/>
              </a:rPr>
              <a:t>d</a:t>
            </a:r>
            <a:r>
              <a:rPr dirty="0" smtClean="0" sz="350" spc="100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p</a:t>
            </a:r>
            <a:r>
              <a:rPr dirty="0" smtClean="0" sz="350" spc="0">
                <a:latin typeface="Courier New"/>
                <a:cs typeface="Courier New"/>
              </a:rPr>
              <a:t>,</a:t>
            </a:r>
            <a:r>
              <a:rPr dirty="0" smtClean="0" sz="350" spc="109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unsigne</a:t>
            </a:r>
            <a:r>
              <a:rPr dirty="0" smtClean="0" sz="350" spc="0">
                <a:latin typeface="Courier New"/>
                <a:cs typeface="Courier New"/>
              </a:rPr>
              <a:t>d</a:t>
            </a:r>
            <a:r>
              <a:rPr dirty="0" smtClean="0" sz="350" spc="197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r)</a:t>
            </a:r>
            <a:endParaRPr sz="350">
              <a:latin typeface="Courier New"/>
              <a:cs typeface="Courier New"/>
            </a:endParaRPr>
          </a:p>
          <a:p>
            <a:pPr marL="285750">
              <a:lnSpc>
                <a:spcPct val="94401"/>
              </a:lnSpc>
              <a:spcBef>
                <a:spcPts val="653"/>
              </a:spcBef>
            </a:pPr>
            <a:r>
              <a:rPr dirty="0" smtClean="0" sz="350" spc="14">
                <a:latin typeface="Courier New"/>
                <a:cs typeface="Courier New"/>
              </a:rPr>
              <a:t>unsigne</a:t>
            </a:r>
            <a:r>
              <a:rPr dirty="0" smtClean="0" sz="350" spc="0">
                <a:latin typeface="Courier New"/>
                <a:cs typeface="Courier New"/>
              </a:rPr>
              <a:t>d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12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work[R];</a:t>
            </a:r>
            <a:endParaRPr sz="350">
              <a:latin typeface="Courier New"/>
              <a:cs typeface="Courier New"/>
            </a:endParaRPr>
          </a:p>
          <a:p>
            <a:pPr marL="285750">
              <a:lnSpc>
                <a:spcPct val="94401"/>
              </a:lnSpc>
              <a:spcBef>
                <a:spcPts val="1253"/>
              </a:spcBef>
            </a:pPr>
            <a:r>
              <a:rPr dirty="0" smtClean="0" sz="350" spc="14">
                <a:latin typeface="Courier New"/>
                <a:cs typeface="Courier New"/>
              </a:rPr>
              <a:t>//initialization</a:t>
            </a:r>
            <a:endParaRPr sz="350">
              <a:latin typeface="Courier New"/>
              <a:cs typeface="Courier New"/>
            </a:endParaRPr>
          </a:p>
          <a:p>
            <a:pPr marL="285750">
              <a:lnSpc>
                <a:spcPct val="94401"/>
              </a:lnSpc>
              <a:spcBef>
                <a:spcPts val="125"/>
              </a:spcBef>
            </a:pPr>
            <a:r>
              <a:rPr dirty="0" smtClean="0" sz="350" spc="14">
                <a:latin typeface="Courier New"/>
                <a:cs typeface="Courier New"/>
              </a:rPr>
              <a:t>fo</a:t>
            </a:r>
            <a:r>
              <a:rPr dirty="0" smtClean="0" sz="350" spc="0">
                <a:latin typeface="Courier New"/>
                <a:cs typeface="Courier New"/>
              </a:rPr>
              <a:t>r</a:t>
            </a:r>
            <a:r>
              <a:rPr dirty="0" smtClean="0" sz="350" spc="104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(j=0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133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j</a:t>
            </a:r>
            <a:r>
              <a:rPr dirty="0" smtClean="0" sz="350" spc="0">
                <a:latin typeface="Courier New"/>
                <a:cs typeface="Courier New"/>
              </a:rPr>
              <a:t>&lt;</a:t>
            </a:r>
            <a:r>
              <a:rPr dirty="0" smtClean="0" sz="350" spc="89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R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89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j++</a:t>
            </a:r>
            <a:r>
              <a:rPr dirty="0" smtClean="0" sz="350" spc="0">
                <a:latin typeface="Courier New"/>
                <a:cs typeface="Courier New"/>
              </a:rPr>
              <a:t>)</a:t>
            </a:r>
            <a:r>
              <a:rPr dirty="0" smtClean="0" sz="350" spc="118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work[j</a:t>
            </a:r>
            <a:r>
              <a:rPr dirty="0" smtClean="0" sz="350" spc="0">
                <a:latin typeface="Courier New"/>
                <a:cs typeface="Courier New"/>
              </a:rPr>
              <a:t>]</a:t>
            </a:r>
            <a:r>
              <a:rPr dirty="0" smtClean="0" sz="350" spc="162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74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available[j];</a:t>
            </a:r>
            <a:endParaRPr sz="350">
              <a:latin typeface="Courier New"/>
              <a:cs typeface="Courier New"/>
            </a:endParaRPr>
          </a:p>
          <a:p>
            <a:pPr marL="285750">
              <a:lnSpc>
                <a:spcPct val="94401"/>
              </a:lnSpc>
              <a:spcBef>
                <a:spcPts val="125"/>
              </a:spcBef>
            </a:pPr>
            <a:r>
              <a:rPr dirty="0" smtClean="0" sz="350" spc="14">
                <a:latin typeface="Courier New"/>
                <a:cs typeface="Courier New"/>
              </a:rPr>
              <a:t>fo</a:t>
            </a:r>
            <a:r>
              <a:rPr dirty="0" smtClean="0" sz="350" spc="0">
                <a:latin typeface="Courier New"/>
                <a:cs typeface="Courier New"/>
              </a:rPr>
              <a:t>r</a:t>
            </a:r>
            <a:r>
              <a:rPr dirty="0" smtClean="0" sz="350" spc="88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(i=0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118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i</a:t>
            </a:r>
            <a:r>
              <a:rPr dirty="0" smtClean="0" sz="350" spc="0">
                <a:latin typeface="Courier New"/>
                <a:cs typeface="Courier New"/>
              </a:rPr>
              <a:t>&lt;</a:t>
            </a:r>
            <a:r>
              <a:rPr dirty="0" smtClean="0" sz="350" spc="74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P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74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i++){</a:t>
            </a:r>
            <a:endParaRPr sz="350">
              <a:latin typeface="Courier New"/>
              <a:cs typeface="Courier New"/>
            </a:endParaRPr>
          </a:p>
          <a:p>
            <a:pPr marL="447675">
              <a:lnSpc>
                <a:spcPct val="94401"/>
              </a:lnSpc>
              <a:spcBef>
                <a:spcPts val="200"/>
              </a:spcBef>
            </a:pPr>
            <a:r>
              <a:rPr dirty="0" smtClean="0" sz="350" spc="15">
                <a:latin typeface="Courier New"/>
                <a:cs typeface="Courier New"/>
              </a:rPr>
              <a:t>numResourcesAllocate</a:t>
            </a:r>
            <a:r>
              <a:rPr dirty="0" smtClean="0" sz="350" spc="0">
                <a:latin typeface="Courier New"/>
                <a:cs typeface="Courier New"/>
              </a:rPr>
              <a:t>d</a:t>
            </a:r>
            <a:r>
              <a:rPr dirty="0" smtClean="0" sz="350" spc="118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79">
                <a:latin typeface="Courier New"/>
                <a:cs typeface="Courier New"/>
              </a:rPr>
              <a:t> </a:t>
            </a:r>
            <a:r>
              <a:rPr dirty="0" smtClean="0" sz="350" spc="50">
                <a:latin typeface="Courier New"/>
                <a:cs typeface="Courier New"/>
              </a:rPr>
              <a:t>0;</a:t>
            </a:r>
            <a:endParaRPr sz="350">
              <a:latin typeface="Courier New"/>
              <a:cs typeface="Courier New"/>
            </a:endParaRPr>
          </a:p>
          <a:p>
            <a:pPr marL="561975">
              <a:lnSpc>
                <a:spcPct val="94401"/>
              </a:lnSpc>
              <a:spcBef>
                <a:spcPts val="653"/>
              </a:spcBef>
            </a:pPr>
            <a:r>
              <a:rPr dirty="0" smtClean="0" sz="350" spc="21">
                <a:latin typeface="Courier New"/>
                <a:cs typeface="Courier New"/>
              </a:rPr>
              <a:t>numResourcesAllocate</a:t>
            </a:r>
            <a:r>
              <a:rPr dirty="0" smtClean="0" sz="350" spc="0">
                <a:latin typeface="Courier New"/>
                <a:cs typeface="Courier New"/>
              </a:rPr>
              <a:t>d</a:t>
            </a:r>
            <a:r>
              <a:rPr dirty="0" smtClean="0" sz="350" spc="117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+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134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allocation[i][j];</a:t>
            </a:r>
            <a:endParaRPr sz="350">
              <a:latin typeface="Courier New"/>
              <a:cs typeface="Courier New"/>
            </a:endParaRPr>
          </a:p>
          <a:p>
            <a:pPr marL="447675">
              <a:lnSpc>
                <a:spcPct val="94401"/>
              </a:lnSpc>
              <a:spcBef>
                <a:spcPts val="200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  <a:p>
            <a:pPr marL="447675">
              <a:lnSpc>
                <a:spcPct val="94401"/>
              </a:lnSpc>
              <a:spcBef>
                <a:spcPts val="125"/>
              </a:spcBef>
            </a:pPr>
            <a:r>
              <a:rPr dirty="0" smtClean="0" sz="350" spc="0">
                <a:latin typeface="Courier New"/>
                <a:cs typeface="Courier New"/>
              </a:rPr>
              <a:t>if</a:t>
            </a:r>
            <a:r>
              <a:rPr dirty="0" smtClean="0" sz="350" spc="44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(</a:t>
            </a:r>
            <a:r>
              <a:rPr dirty="0" smtClean="0" sz="350" spc="21">
                <a:latin typeface="Courier New"/>
                <a:cs typeface="Courier New"/>
              </a:rPr>
              <a:t>numResourcesAllocate</a:t>
            </a:r>
            <a:r>
              <a:rPr dirty="0" smtClean="0" sz="350" spc="0">
                <a:latin typeface="Courier New"/>
                <a:cs typeface="Courier New"/>
              </a:rPr>
              <a:t>d</a:t>
            </a:r>
            <a:r>
              <a:rPr dirty="0" smtClean="0" sz="350" spc="119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==</a:t>
            </a:r>
            <a:r>
              <a:rPr dirty="0" smtClean="0" sz="350" spc="119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0){</a:t>
            </a:r>
            <a:endParaRPr sz="350">
              <a:latin typeface="Courier New"/>
              <a:cs typeface="Courier New"/>
            </a:endParaRPr>
          </a:p>
          <a:p>
            <a:pPr marL="285750">
              <a:lnSpc>
                <a:spcPct val="94401"/>
              </a:lnSpc>
              <a:spcBef>
                <a:spcPts val="578"/>
              </a:spcBef>
            </a:pPr>
            <a:r>
              <a:rPr dirty="0" smtClean="0" sz="350" spc="0">
                <a:latin typeface="Courier New"/>
                <a:cs typeface="Courier New"/>
              </a:rPr>
              <a:t>wait</a:t>
            </a:r>
            <a:endParaRPr sz="350">
              <a:latin typeface="Courier New"/>
              <a:cs typeface="Courier New"/>
            </a:endParaRPr>
          </a:p>
          <a:p>
            <a:pPr marL="447675">
              <a:lnSpc>
                <a:spcPct val="94401"/>
              </a:lnSpc>
              <a:spcBef>
                <a:spcPts val="125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r>
              <a:rPr dirty="0" smtClean="0" sz="350" spc="39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els</a:t>
            </a:r>
            <a:r>
              <a:rPr dirty="0" smtClean="0" sz="350" spc="0">
                <a:latin typeface="Courier New"/>
                <a:cs typeface="Courier New"/>
              </a:rPr>
              <a:t>e</a:t>
            </a:r>
            <a:r>
              <a:rPr dirty="0" smtClean="0" sz="350" spc="83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{</a:t>
            </a:r>
            <a:endParaRPr sz="350">
              <a:latin typeface="Courier New"/>
              <a:cs typeface="Courier New"/>
            </a:endParaRPr>
          </a:p>
          <a:p>
            <a:pPr marL="561975">
              <a:lnSpc>
                <a:spcPct val="94401"/>
              </a:lnSpc>
              <a:spcBef>
                <a:spcPts val="125"/>
              </a:spcBef>
            </a:pPr>
            <a:r>
              <a:rPr dirty="0" smtClean="0" sz="350" spc="14">
                <a:latin typeface="Courier New"/>
                <a:cs typeface="Courier New"/>
              </a:rPr>
              <a:t>canFinis</a:t>
            </a:r>
            <a:r>
              <a:rPr dirty="0" smtClean="0" sz="350" spc="0">
                <a:latin typeface="Courier New"/>
                <a:cs typeface="Courier New"/>
              </a:rPr>
              <a:t>h</a:t>
            </a:r>
            <a:r>
              <a:rPr dirty="0" smtClean="0" sz="350" spc="12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[i</a:t>
            </a:r>
            <a:r>
              <a:rPr dirty="0" smtClean="0" sz="350" spc="0">
                <a:latin typeface="Courier New"/>
                <a:cs typeface="Courier New"/>
              </a:rPr>
              <a:t>]</a:t>
            </a:r>
            <a:r>
              <a:rPr dirty="0" smtClean="0" sz="350" spc="88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</a:t>
            </a:r>
            <a:r>
              <a:rPr dirty="0" smtClean="0" sz="350" spc="59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FALSE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133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//don’</a:t>
            </a:r>
            <a:r>
              <a:rPr dirty="0" smtClean="0" sz="350" spc="0">
                <a:latin typeface="Courier New"/>
                <a:cs typeface="Courier New"/>
              </a:rPr>
              <a:t>t</a:t>
            </a:r>
            <a:r>
              <a:rPr dirty="0" smtClean="0" sz="350" spc="147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kno</a:t>
            </a:r>
            <a:r>
              <a:rPr dirty="0" smtClean="0" sz="350" spc="0">
                <a:latin typeface="Courier New"/>
                <a:cs typeface="Courier New"/>
              </a:rPr>
              <a:t>w</a:t>
            </a:r>
            <a:r>
              <a:rPr dirty="0" smtClean="0" sz="350" spc="103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i</a:t>
            </a:r>
            <a:r>
              <a:rPr dirty="0" smtClean="0" sz="350" spc="0">
                <a:latin typeface="Courier New"/>
                <a:cs typeface="Courier New"/>
              </a:rPr>
              <a:t>f</a:t>
            </a:r>
            <a:r>
              <a:rPr dirty="0" smtClean="0" sz="350" spc="74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thi</a:t>
            </a:r>
            <a:r>
              <a:rPr dirty="0" smtClean="0" sz="350" spc="0">
                <a:latin typeface="Courier New"/>
                <a:cs typeface="Courier New"/>
              </a:rPr>
              <a:t>s</a:t>
            </a:r>
            <a:r>
              <a:rPr dirty="0" smtClean="0" sz="350" spc="103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on</a:t>
            </a:r>
            <a:r>
              <a:rPr dirty="0" smtClean="0" sz="350" spc="0">
                <a:latin typeface="Courier New"/>
                <a:cs typeface="Courier New"/>
              </a:rPr>
              <a:t>e</a:t>
            </a:r>
            <a:r>
              <a:rPr dirty="0" smtClean="0" sz="350" spc="88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is</a:t>
            </a:r>
            <a:endParaRPr sz="350">
              <a:latin typeface="Courier New"/>
              <a:cs typeface="Courier New"/>
            </a:endParaRPr>
          </a:p>
          <a:p>
            <a:pPr marL="447675">
              <a:lnSpc>
                <a:spcPct val="94401"/>
              </a:lnSpc>
              <a:spcBef>
                <a:spcPts val="653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  <a:p>
            <a:pPr marL="285750">
              <a:lnSpc>
                <a:spcPct val="94401"/>
              </a:lnSpc>
              <a:spcBef>
                <a:spcPts val="125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  <a:p>
            <a:pPr marL="209550">
              <a:lnSpc>
                <a:spcPct val="94401"/>
              </a:lnSpc>
              <a:spcBef>
                <a:spcPts val="125"/>
              </a:spcBef>
            </a:pPr>
            <a:r>
              <a:rPr dirty="0" smtClean="0" sz="350" spc="25">
                <a:latin typeface="Courier New"/>
                <a:cs typeface="Courier New"/>
              </a:rPr>
              <a:t>.</a:t>
            </a:r>
            <a:r>
              <a:rPr dirty="0" smtClean="0" sz="350" spc="0">
                <a:latin typeface="Courier New"/>
                <a:cs typeface="Courier New"/>
              </a:rPr>
              <a:t>.</a:t>
            </a:r>
            <a:r>
              <a:rPr dirty="0" smtClean="0" sz="350" spc="94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.</a:t>
            </a:r>
            <a:r>
              <a:rPr dirty="0" smtClean="0" sz="350" spc="0">
                <a:latin typeface="Courier New"/>
                <a:cs typeface="Courier New"/>
              </a:rPr>
              <a:t>.</a:t>
            </a:r>
            <a:r>
              <a:rPr dirty="0" smtClean="0" sz="350" spc="94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..</a:t>
            </a:r>
            <a:endParaRPr sz="350">
              <a:latin typeface="Courier New"/>
              <a:cs typeface="Courier New"/>
            </a:endParaRPr>
          </a:p>
          <a:p>
            <a:pPr marR="104775" algn="r">
              <a:lnSpc>
                <a:spcPct val="100000"/>
              </a:lnSpc>
              <a:spcBef>
                <a:spcPts val="165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3</a:t>
            </a:r>
            <a:r>
              <a:rPr dirty="0" smtClean="0" sz="350" spc="0">
                <a:latin typeface="Times New Roman"/>
                <a:cs typeface="Times New Roman"/>
              </a:rPr>
              <a:t>8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3400" y="904875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Deadlock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Detection</a:t>
            </a:r>
            <a:endParaRPr sz="1200">
              <a:latin typeface="Comic Sans MS"/>
              <a:cs typeface="Comic Sans MS"/>
            </a:endParaRPr>
          </a:p>
          <a:p>
            <a:pPr marL="285750" marR="297071" indent="-104775">
              <a:lnSpc>
                <a:spcPts val="830"/>
              </a:lnSpc>
              <a:spcBef>
                <a:spcPts val="1277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I</a:t>
            </a:r>
            <a:r>
              <a:rPr dirty="0" smtClean="0" sz="650" spc="0">
                <a:latin typeface="Comic Sans MS"/>
                <a:cs typeface="Comic Sans MS"/>
              </a:rPr>
              <a:t>f</a:t>
            </a:r>
            <a:r>
              <a:rPr dirty="0" smtClean="0" sz="650" spc="65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don'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-36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wan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87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t</a:t>
            </a:r>
            <a:r>
              <a:rPr dirty="0" smtClean="0" sz="650" spc="0">
                <a:latin typeface="Comic Sans MS"/>
                <a:cs typeface="Comic Sans MS"/>
              </a:rPr>
              <a:t>o</a:t>
            </a:r>
            <a:r>
              <a:rPr dirty="0" smtClean="0" sz="650" spc="6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eve</a:t>
            </a:r>
            <a:r>
              <a:rPr dirty="0" smtClean="0" sz="650" spc="0">
                <a:latin typeface="Comic Sans MS"/>
                <a:cs typeface="Comic Sans MS"/>
              </a:rPr>
              <a:t>r</a:t>
            </a:r>
            <a:r>
              <a:rPr dirty="0" smtClean="0" sz="650" spc="85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den</a:t>
            </a:r>
            <a:r>
              <a:rPr dirty="0" smtClean="0" sz="650" spc="0">
                <a:latin typeface="Comic Sans MS"/>
                <a:cs typeface="Comic Sans MS"/>
              </a:rPr>
              <a:t>y</a:t>
            </a:r>
            <a:r>
              <a:rPr dirty="0" smtClean="0" sz="650" spc="87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request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12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whe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9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have</a:t>
            </a:r>
            <a:r>
              <a:rPr dirty="0" smtClean="0" sz="650" spc="4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resource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13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t</a:t>
            </a:r>
            <a:r>
              <a:rPr dirty="0" smtClean="0" sz="650" spc="0">
                <a:latin typeface="Comic Sans MS"/>
                <a:cs typeface="Comic Sans MS"/>
              </a:rPr>
              <a:t>o</a:t>
            </a:r>
            <a:r>
              <a:rPr dirty="0" smtClean="0" sz="650" spc="6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gran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9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them</a:t>
            </a:r>
            <a:r>
              <a:rPr dirty="0" smtClean="0" sz="650" spc="0">
                <a:latin typeface="Comic Sans MS"/>
                <a:cs typeface="Comic Sans MS"/>
              </a:rPr>
              <a:t>,</a:t>
            </a:r>
            <a:r>
              <a:rPr dirty="0" smtClean="0" sz="650" spc="118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the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91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deadloc</a:t>
            </a:r>
            <a:r>
              <a:rPr dirty="0" smtClean="0" sz="650" spc="0">
                <a:latin typeface="Comic Sans MS"/>
                <a:cs typeface="Comic Sans MS"/>
              </a:rPr>
              <a:t>k</a:t>
            </a:r>
            <a:r>
              <a:rPr dirty="0" smtClean="0" sz="650" spc="12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ma</a:t>
            </a:r>
            <a:r>
              <a:rPr dirty="0" smtClean="0" sz="650" spc="0">
                <a:latin typeface="Comic Sans MS"/>
                <a:cs typeface="Comic Sans MS"/>
              </a:rPr>
              <a:t>y</a:t>
            </a:r>
            <a:r>
              <a:rPr dirty="0" smtClean="0" sz="650" spc="96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occur</a:t>
            </a:r>
            <a:endParaRPr sz="650">
              <a:latin typeface="Comic Sans MS"/>
              <a:cs typeface="Comic Sans MS"/>
            </a:endParaRPr>
          </a:p>
          <a:p>
            <a:pPr marL="180975">
              <a:lnSpc>
                <a:spcPct val="94401"/>
              </a:lnSpc>
              <a:spcBef>
                <a:spcPts val="2117"/>
              </a:spcBef>
            </a:pPr>
            <a:r>
              <a:rPr dirty="0" smtClean="0" sz="450" spc="9">
                <a:latin typeface="Courier New"/>
                <a:cs typeface="Courier New"/>
              </a:rPr>
              <a:t>BOO</a:t>
            </a:r>
            <a:r>
              <a:rPr dirty="0" smtClean="0" sz="450" spc="0">
                <a:latin typeface="Courier New"/>
                <a:cs typeface="Courier New"/>
              </a:rPr>
              <a:t>L</a:t>
            </a:r>
            <a:r>
              <a:rPr dirty="0" smtClean="0" sz="450" spc="4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request(unsigne</a:t>
            </a:r>
            <a:r>
              <a:rPr dirty="0" smtClean="0" sz="450" spc="0">
                <a:latin typeface="Courier New"/>
                <a:cs typeface="Courier New"/>
              </a:rPr>
              <a:t>d</a:t>
            </a:r>
            <a:r>
              <a:rPr dirty="0" smtClean="0" sz="450" spc="4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p</a:t>
            </a:r>
            <a:r>
              <a:rPr dirty="0" smtClean="0" sz="450" spc="0">
                <a:latin typeface="Courier New"/>
                <a:cs typeface="Courier New"/>
              </a:rPr>
              <a:t>,</a:t>
            </a:r>
            <a:r>
              <a:rPr dirty="0" smtClean="0" sz="450" spc="4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unsigne</a:t>
            </a:r>
            <a:r>
              <a:rPr dirty="0" smtClean="0" sz="450" spc="0">
                <a:latin typeface="Courier New"/>
                <a:cs typeface="Courier New"/>
              </a:rPr>
              <a:t>d</a:t>
            </a:r>
            <a:r>
              <a:rPr dirty="0" smtClean="0" sz="450" spc="4">
                <a:latin typeface="Courier New"/>
                <a:cs typeface="Courier New"/>
              </a:rPr>
              <a:t> </a:t>
            </a:r>
            <a:r>
              <a:rPr dirty="0" smtClean="0" sz="450" spc="9">
                <a:latin typeface="Courier New"/>
                <a:cs typeface="Courier New"/>
              </a:rPr>
              <a:t>r){</a:t>
            </a:r>
            <a:endParaRPr sz="450">
              <a:latin typeface="Courier New"/>
              <a:cs typeface="Courier New"/>
            </a:endParaRPr>
          </a:p>
          <a:p>
            <a:pPr marL="447675" marR="1485724" indent="-161925">
              <a:lnSpc>
                <a:spcPts val="509"/>
              </a:lnSpc>
              <a:spcBef>
                <a:spcPts val="240"/>
              </a:spcBef>
            </a:pPr>
            <a:r>
              <a:rPr dirty="0" smtClean="0" sz="450" spc="14">
                <a:latin typeface="Courier New"/>
                <a:cs typeface="Courier New"/>
              </a:rPr>
              <a:t>if(available[p][r</a:t>
            </a:r>
            <a:r>
              <a:rPr dirty="0" smtClean="0" sz="450" spc="0">
                <a:latin typeface="Courier New"/>
                <a:cs typeface="Courier New"/>
              </a:rPr>
              <a:t>]</a:t>
            </a:r>
            <a:r>
              <a:rPr dirty="0" smtClean="0" sz="450" spc="19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&gt;</a:t>
            </a:r>
            <a:r>
              <a:rPr dirty="0" smtClean="0" sz="450" spc="0">
                <a:latin typeface="Courier New"/>
                <a:cs typeface="Courier New"/>
              </a:rPr>
              <a:t> </a:t>
            </a:r>
            <a:r>
              <a:rPr dirty="0" smtClean="0" sz="450" spc="25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0){</a:t>
            </a:r>
            <a:r>
              <a:rPr dirty="0" smtClean="0" sz="450" spc="14">
                <a:latin typeface="Courier New"/>
                <a:cs typeface="Courier New"/>
              </a:rPr>
              <a:t> </a:t>
            </a:r>
            <a:endParaRPr sz="450">
              <a:latin typeface="Courier New"/>
              <a:cs typeface="Courier New"/>
            </a:endParaRPr>
          </a:p>
          <a:p>
            <a:pPr marL="447675" marR="1485724">
              <a:lnSpc>
                <a:spcPts val="509"/>
              </a:lnSpc>
              <a:spcBef>
                <a:spcPts val="165"/>
              </a:spcBef>
            </a:pPr>
            <a:r>
              <a:rPr dirty="0" smtClean="0" sz="450" spc="14">
                <a:latin typeface="Courier New"/>
                <a:cs typeface="Courier New"/>
              </a:rPr>
              <a:t>allocation[p][r]++;</a:t>
            </a:r>
            <a:r>
              <a:rPr dirty="0" smtClean="0" sz="450" spc="14">
                <a:latin typeface="Courier New"/>
                <a:cs typeface="Courier New"/>
              </a:rPr>
              <a:t> </a:t>
            </a:r>
            <a:endParaRPr sz="450">
              <a:latin typeface="Courier New"/>
              <a:cs typeface="Courier New"/>
            </a:endParaRPr>
          </a:p>
          <a:p>
            <a:pPr marL="447675" marR="1485724">
              <a:lnSpc>
                <a:spcPts val="509"/>
              </a:lnSpc>
              <a:spcBef>
                <a:spcPts val="165"/>
              </a:spcBef>
            </a:pPr>
            <a:r>
              <a:rPr dirty="0" smtClean="0" sz="450" spc="19">
                <a:latin typeface="Courier New"/>
                <a:cs typeface="Courier New"/>
              </a:rPr>
              <a:t>available[r]</a:t>
            </a:r>
            <a:r>
              <a:rPr dirty="0" smtClean="0" sz="450" spc="-44">
                <a:latin typeface="Courier New"/>
                <a:cs typeface="Courier New"/>
              </a:rPr>
              <a:t>-</a:t>
            </a:r>
            <a:r>
              <a:rPr dirty="0" smtClean="0" sz="450" spc="29">
                <a:latin typeface="Courier New"/>
                <a:cs typeface="Courier New"/>
              </a:rPr>
              <a:t>-</a:t>
            </a:r>
            <a:r>
              <a:rPr dirty="0" smtClean="0" sz="450" spc="0">
                <a:latin typeface="Courier New"/>
                <a:cs typeface="Courier New"/>
              </a:rPr>
              <a:t>;</a:t>
            </a:r>
            <a:r>
              <a:rPr dirty="0" smtClean="0" sz="450" spc="0">
                <a:latin typeface="Courier New"/>
                <a:cs typeface="Courier New"/>
              </a:rPr>
              <a:t> </a:t>
            </a:r>
            <a:endParaRPr sz="450">
              <a:latin typeface="Courier New"/>
              <a:cs typeface="Courier New"/>
            </a:endParaRPr>
          </a:p>
          <a:p>
            <a:pPr marL="447675" marR="1485724">
              <a:lnSpc>
                <a:spcPts val="509"/>
              </a:lnSpc>
              <a:spcBef>
                <a:spcPts val="165"/>
              </a:spcBef>
            </a:pPr>
            <a:r>
              <a:rPr dirty="0" smtClean="0" sz="450" spc="14">
                <a:latin typeface="Courier New"/>
                <a:cs typeface="Courier New"/>
              </a:rPr>
              <a:t>retur</a:t>
            </a:r>
            <a:r>
              <a:rPr dirty="0" smtClean="0" sz="450" spc="0">
                <a:latin typeface="Courier New"/>
                <a:cs typeface="Courier New"/>
              </a:rPr>
              <a:t>n</a:t>
            </a:r>
            <a:r>
              <a:rPr dirty="0" smtClean="0" sz="450" spc="44">
                <a:latin typeface="Courier New"/>
                <a:cs typeface="Courier New"/>
              </a:rPr>
              <a:t> </a:t>
            </a:r>
            <a:r>
              <a:rPr dirty="0" smtClean="0" sz="450" spc="14">
                <a:latin typeface="Courier New"/>
                <a:cs typeface="Courier New"/>
              </a:rPr>
              <a:t>TRUE;</a:t>
            </a:r>
            <a:endParaRPr sz="450">
              <a:latin typeface="Courier New"/>
              <a:cs typeface="Courier New"/>
            </a:endParaRPr>
          </a:p>
          <a:p>
            <a:pPr marL="285750">
              <a:lnSpc>
                <a:spcPct val="94401"/>
              </a:lnSpc>
              <a:spcBef>
                <a:spcPts val="165"/>
              </a:spcBef>
            </a:pPr>
            <a:r>
              <a:rPr dirty="0" smtClean="0" sz="450" spc="0">
                <a:latin typeface="Courier New"/>
                <a:cs typeface="Courier New"/>
              </a:rPr>
              <a:t>}</a:t>
            </a:r>
            <a:r>
              <a:rPr dirty="0" smtClean="0" sz="450" spc="44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els</a:t>
            </a:r>
            <a:r>
              <a:rPr dirty="0" smtClean="0" sz="450" spc="0">
                <a:latin typeface="Courier New"/>
                <a:cs typeface="Courier New"/>
              </a:rPr>
              <a:t>e</a:t>
            </a:r>
            <a:r>
              <a:rPr dirty="0" smtClean="0" sz="450" spc="49">
                <a:latin typeface="Courier New"/>
                <a:cs typeface="Courier New"/>
              </a:rPr>
              <a:t> </a:t>
            </a:r>
            <a:r>
              <a:rPr dirty="0" smtClean="0" sz="450" spc="0">
                <a:latin typeface="Courier New"/>
                <a:cs typeface="Courier New"/>
              </a:rPr>
              <a:t>{</a:t>
            </a:r>
            <a:endParaRPr sz="450">
              <a:latin typeface="Courier New"/>
              <a:cs typeface="Courier New"/>
            </a:endParaRPr>
          </a:p>
          <a:p>
            <a:pPr marL="447675">
              <a:lnSpc>
                <a:spcPct val="94401"/>
              </a:lnSpc>
              <a:spcBef>
                <a:spcPts val="165"/>
              </a:spcBef>
            </a:pPr>
            <a:r>
              <a:rPr dirty="0" smtClean="0" sz="450" spc="19">
                <a:latin typeface="Courier New"/>
                <a:cs typeface="Courier New"/>
              </a:rPr>
              <a:t>retur</a:t>
            </a:r>
            <a:r>
              <a:rPr dirty="0" smtClean="0" sz="450" spc="0">
                <a:latin typeface="Courier New"/>
                <a:cs typeface="Courier New"/>
              </a:rPr>
              <a:t>n</a:t>
            </a:r>
            <a:r>
              <a:rPr dirty="0" smtClean="0" sz="450" spc="49">
                <a:latin typeface="Courier New"/>
                <a:cs typeface="Courier New"/>
              </a:rPr>
              <a:t> </a:t>
            </a:r>
            <a:r>
              <a:rPr dirty="0" smtClean="0" sz="450" spc="19">
                <a:latin typeface="Courier New"/>
                <a:cs typeface="Courier New"/>
              </a:rPr>
              <a:t>FALSE;</a:t>
            </a:r>
            <a:endParaRPr sz="450">
              <a:latin typeface="Courier New"/>
              <a:cs typeface="Courier New"/>
            </a:endParaRPr>
          </a:p>
          <a:p>
            <a:pPr marL="285750">
              <a:lnSpc>
                <a:spcPct val="94401"/>
              </a:lnSpc>
              <a:spcBef>
                <a:spcPts val="165"/>
              </a:spcBef>
            </a:pPr>
            <a:r>
              <a:rPr dirty="0" smtClean="0" sz="450" spc="0">
                <a:latin typeface="Courier New"/>
                <a:cs typeface="Courier New"/>
              </a:rPr>
              <a:t>}</a:t>
            </a:r>
            <a:endParaRPr sz="450">
              <a:latin typeface="Courier New"/>
              <a:cs typeface="Courier New"/>
            </a:endParaRPr>
          </a:p>
          <a:p>
            <a:pPr marL="180975">
              <a:lnSpc>
                <a:spcPct val="94401"/>
              </a:lnSpc>
              <a:spcBef>
                <a:spcPts val="165"/>
              </a:spcBef>
            </a:pPr>
            <a:r>
              <a:rPr dirty="0" smtClean="0" sz="450" spc="0">
                <a:latin typeface="Courier New"/>
                <a:cs typeface="Courier New"/>
              </a:rPr>
              <a:t>}</a:t>
            </a:r>
            <a:endParaRPr sz="450">
              <a:latin typeface="Courier New"/>
              <a:cs typeface="Courier New"/>
            </a:endParaRPr>
          </a:p>
          <a:p>
            <a:pPr marR="114300" algn="r">
              <a:lnSpc>
                <a:spcPct val="100000"/>
              </a:lnSpc>
              <a:spcBef>
                <a:spcPts val="1413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3</a:t>
            </a:r>
            <a:r>
              <a:rPr dirty="0" smtClean="0" sz="350" spc="0">
                <a:latin typeface="Times New Roman"/>
                <a:cs typeface="Times New Roman"/>
              </a:rPr>
              <a:t>7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/>
          <p:nvPr/>
        </p:nvSpPr>
        <p:spPr>
          <a:xfrm>
            <a:off x="2552700" y="11239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13811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533400" y="904875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4457700" y="12096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3629025" y="904875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1343025" y="38671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533400" y="3562350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4343400" y="38671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3629025" y="3562350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2647950" y="652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533400" y="6219825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5124450" y="652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3629025" y="6219825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064000" y="6739149"/>
            <a:ext cx="730260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70"/>
              </a:spcBef>
            </a:pPr>
            <a:r>
              <a:rPr dirty="0" smtClean="0" sz="500" spc="-4">
                <a:latin typeface="Courier New"/>
                <a:cs typeface="Courier New"/>
              </a:rPr>
              <a:t>state[i</a:t>
            </a:r>
            <a:r>
              <a:rPr dirty="0" smtClean="0" sz="500" spc="0">
                <a:latin typeface="Courier New"/>
                <a:cs typeface="Courier New"/>
              </a:rPr>
              <a:t>]</a:t>
            </a:r>
            <a:r>
              <a:rPr dirty="0" smtClean="0" sz="500" spc="114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=</a:t>
            </a:r>
            <a:r>
              <a:rPr dirty="0" smtClean="0" sz="500" spc="9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hungry;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64000" y="6910599"/>
            <a:ext cx="930274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70"/>
              </a:spcBef>
            </a:pPr>
            <a:r>
              <a:rPr dirty="0" smtClean="0" sz="500" spc="-9">
                <a:latin typeface="Courier New"/>
                <a:cs typeface="Courier New"/>
              </a:rPr>
              <a:t>i</a:t>
            </a:r>
            <a:r>
              <a:rPr dirty="0" smtClean="0" sz="500" spc="0">
                <a:latin typeface="Courier New"/>
                <a:cs typeface="Courier New"/>
              </a:rPr>
              <a:t>f</a:t>
            </a:r>
            <a:r>
              <a:rPr dirty="0" smtClean="0" sz="500" spc="49">
                <a:latin typeface="Courier New"/>
                <a:cs typeface="Courier New"/>
              </a:rPr>
              <a:t> </a:t>
            </a:r>
            <a:r>
              <a:rPr dirty="0" smtClean="0" sz="500" spc="-9">
                <a:latin typeface="Courier New"/>
                <a:cs typeface="Courier New"/>
              </a:rPr>
              <a:t>(state[i</a:t>
            </a:r>
            <a:r>
              <a:rPr dirty="0" smtClean="0" sz="500" spc="0">
                <a:latin typeface="Courier New"/>
                <a:cs typeface="Courier New"/>
              </a:rPr>
              <a:t>]</a:t>
            </a:r>
            <a:r>
              <a:rPr dirty="0" smtClean="0" sz="500" spc="154">
                <a:latin typeface="Courier New"/>
                <a:cs typeface="Courier New"/>
              </a:rPr>
              <a:t> </a:t>
            </a:r>
            <a:r>
              <a:rPr dirty="0" smtClean="0" sz="500" spc="-9">
                <a:latin typeface="Courier New"/>
                <a:cs typeface="Courier New"/>
              </a:rPr>
              <a:t>!</a:t>
            </a:r>
            <a:r>
              <a:rPr dirty="0" smtClean="0" sz="500" spc="0">
                <a:latin typeface="Courier New"/>
                <a:cs typeface="Courier New"/>
              </a:rPr>
              <a:t>=</a:t>
            </a:r>
            <a:r>
              <a:rPr dirty="0" smtClean="0" sz="500" spc="49">
                <a:latin typeface="Courier New"/>
                <a:cs typeface="Courier New"/>
              </a:rPr>
              <a:t> </a:t>
            </a:r>
            <a:r>
              <a:rPr dirty="0" smtClean="0" sz="500" spc="-9">
                <a:latin typeface="Courier New"/>
                <a:cs typeface="Courier New"/>
              </a:rPr>
              <a:t>eating)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02075" y="7082049"/>
            <a:ext cx="65404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70"/>
              </a:spcBef>
            </a:pPr>
            <a:r>
              <a:rPr dirty="0" smtClean="0" sz="500" spc="0"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64000" y="7339224"/>
            <a:ext cx="825507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70"/>
              </a:spcBef>
            </a:pPr>
            <a:r>
              <a:rPr dirty="0" smtClean="0" sz="500" spc="0">
                <a:latin typeface="Courier New"/>
                <a:cs typeface="Courier New"/>
              </a:rPr>
              <a:t>state[i]</a:t>
            </a:r>
            <a:r>
              <a:rPr dirty="0" smtClean="0" sz="500" spc="11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=</a:t>
            </a:r>
            <a:r>
              <a:rPr dirty="0" smtClean="0" sz="500" spc="14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thinking;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64000" y="7510674"/>
            <a:ext cx="1367948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70"/>
              </a:spcBef>
            </a:pPr>
            <a:r>
              <a:rPr dirty="0" smtClean="0" sz="500" spc="-4">
                <a:latin typeface="Courier New"/>
                <a:cs typeface="Courier New"/>
              </a:rPr>
              <a:t>test((i</a:t>
            </a:r>
            <a:r>
              <a:rPr dirty="0" smtClean="0" sz="500" spc="0">
                <a:latin typeface="Courier New"/>
                <a:cs typeface="Courier New"/>
              </a:rPr>
              <a:t>+</a:t>
            </a:r>
            <a:r>
              <a:rPr dirty="0" smtClean="0" sz="500" spc="119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(NUM_PHILOSOPHERS</a:t>
            </a:r>
            <a:r>
              <a:rPr dirty="0" smtClean="0" sz="500" spc="-14">
                <a:latin typeface="Courier New"/>
                <a:cs typeface="Courier New"/>
              </a:rPr>
              <a:t>-</a:t>
            </a:r>
            <a:r>
              <a:rPr dirty="0" smtClean="0" sz="500" spc="0">
                <a:latin typeface="Courier New"/>
                <a:cs typeface="Courier New"/>
              </a:rPr>
              <a:t>1</a:t>
            </a:r>
            <a:r>
              <a:rPr dirty="0" smtClean="0" sz="500" spc="28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)</a:t>
            </a:r>
            <a:r>
              <a:rPr dirty="0" smtClean="0" sz="500" spc="1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)</a:t>
            </a:r>
            <a:r>
              <a:rPr dirty="0" smtClean="0" sz="500" spc="1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%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64000" y="7663074"/>
            <a:ext cx="1263646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70"/>
              </a:spcBef>
            </a:pPr>
            <a:r>
              <a:rPr dirty="0" smtClean="0" sz="500" spc="0">
                <a:latin typeface="Courier New"/>
                <a:cs typeface="Courier New"/>
              </a:rPr>
              <a:t>test((i+1)</a:t>
            </a:r>
            <a:r>
              <a:rPr dirty="0" smtClean="0" sz="500" spc="184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%</a:t>
            </a:r>
            <a:r>
              <a:rPr dirty="0" smtClean="0" sz="500" spc="4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NUM_PHILOSOPHERS);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3850" y="8934579"/>
            <a:ext cx="141224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00"/>
              </a:lnSpc>
              <a:spcBef>
                <a:spcPts val="70"/>
              </a:spcBef>
            </a:pPr>
            <a:r>
              <a:rPr dirty="0" smtClean="0" baseline="1993" sz="1800" spc="0">
                <a:latin typeface="Comic Sans MS"/>
                <a:cs typeface="Comic Sans MS"/>
              </a:rPr>
              <a:t>8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29025" y="6219825"/>
            <a:ext cx="2676525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56845" marR="1137920" algn="ctr">
              <a:lnSpc>
                <a:spcPct val="116129"/>
              </a:lnSpc>
            </a:pP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Dining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Philosophers</a:t>
            </a:r>
            <a:endParaRPr sz="1200">
              <a:latin typeface="Comic Sans MS"/>
              <a:cs typeface="Comic Sans MS"/>
            </a:endParaRPr>
          </a:p>
          <a:p>
            <a:pPr marL="285750">
              <a:lnSpc>
                <a:spcPct val="94401"/>
              </a:lnSpc>
              <a:spcBef>
                <a:spcPts val="883"/>
              </a:spcBef>
            </a:pPr>
            <a:r>
              <a:rPr dirty="0" smtClean="0" sz="500" spc="-14">
                <a:latin typeface="Courier New"/>
                <a:cs typeface="Courier New"/>
              </a:rPr>
              <a:t>voi</a:t>
            </a:r>
            <a:r>
              <a:rPr dirty="0" smtClean="0" sz="500" spc="0">
                <a:latin typeface="Courier New"/>
                <a:cs typeface="Courier New"/>
              </a:rPr>
              <a:t>d</a:t>
            </a:r>
            <a:r>
              <a:rPr dirty="0" smtClean="0" sz="500" spc="45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pickupChopsticks</a:t>
            </a:r>
            <a:r>
              <a:rPr dirty="0" smtClean="0" sz="500" spc="-14">
                <a:latin typeface="Courier New"/>
                <a:cs typeface="Courier New"/>
              </a:rPr>
              <a:t>(</a:t>
            </a:r>
            <a:r>
              <a:rPr dirty="0" smtClean="0" sz="500" spc="34">
                <a:latin typeface="Courier New"/>
                <a:cs typeface="Courier New"/>
              </a:rPr>
              <a:t>in</a:t>
            </a:r>
            <a:r>
              <a:rPr dirty="0" smtClean="0" sz="500" spc="0">
                <a:latin typeface="Courier New"/>
                <a:cs typeface="Courier New"/>
              </a:rPr>
              <a:t>t</a:t>
            </a:r>
            <a:r>
              <a:rPr dirty="0" smtClean="0" sz="500" spc="260">
                <a:latin typeface="Courier New"/>
                <a:cs typeface="Courier New"/>
              </a:rPr>
              <a:t> </a:t>
            </a:r>
            <a:r>
              <a:rPr dirty="0" smtClean="0" sz="500" spc="-14">
                <a:latin typeface="Courier New"/>
                <a:cs typeface="Courier New"/>
              </a:rPr>
              <a:t>i</a:t>
            </a:r>
            <a:r>
              <a:rPr dirty="0" smtClean="0" sz="500" spc="0">
                <a:latin typeface="Courier New"/>
                <a:cs typeface="Courier New"/>
              </a:rPr>
              <a:t>)</a:t>
            </a:r>
            <a:r>
              <a:rPr dirty="0" smtClean="0" sz="500" spc="15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447675">
              <a:lnSpc>
                <a:spcPct val="94401"/>
              </a:lnSpc>
              <a:spcBef>
                <a:spcPts val="783"/>
              </a:spcBef>
            </a:pPr>
            <a:r>
              <a:rPr dirty="0" smtClean="0" sz="500" spc="-14">
                <a:latin typeface="Courier New"/>
                <a:cs typeface="Courier New"/>
              </a:rPr>
              <a:t>test[i];</a:t>
            </a:r>
            <a:endParaRPr sz="500">
              <a:latin typeface="Courier New"/>
              <a:cs typeface="Courier New"/>
            </a:endParaRPr>
          </a:p>
          <a:p>
            <a:pPr marL="608806" marR="1437481" algn="ctr">
              <a:lnSpc>
                <a:spcPct val="94401"/>
              </a:lnSpc>
              <a:spcBef>
                <a:spcPts val="783"/>
              </a:spcBef>
            </a:pPr>
            <a:r>
              <a:rPr dirty="0" smtClean="0" sz="500" spc="-4">
                <a:latin typeface="Courier New"/>
                <a:cs typeface="Courier New"/>
              </a:rPr>
              <a:t>self[i].wait();</a:t>
            </a:r>
            <a:endParaRPr sz="500">
              <a:latin typeface="Courier New"/>
              <a:cs typeface="Courier New"/>
            </a:endParaRPr>
          </a:p>
          <a:p>
            <a:pPr marL="285750">
              <a:lnSpc>
                <a:spcPct val="94401"/>
              </a:lnSpc>
              <a:spcBef>
                <a:spcPts val="1458"/>
              </a:spcBef>
            </a:pPr>
            <a:r>
              <a:rPr dirty="0" smtClean="0" sz="500" spc="-14">
                <a:latin typeface="Courier New"/>
                <a:cs typeface="Courier New"/>
              </a:rPr>
              <a:t>voi</a:t>
            </a:r>
            <a:r>
              <a:rPr dirty="0" smtClean="0" sz="500" spc="0">
                <a:latin typeface="Courier New"/>
                <a:cs typeface="Courier New"/>
              </a:rPr>
              <a:t>d</a:t>
            </a:r>
            <a:r>
              <a:rPr dirty="0" smtClean="0" sz="500" spc="45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putdownChopsticks</a:t>
            </a:r>
            <a:r>
              <a:rPr dirty="0" smtClean="0" sz="500" spc="-14">
                <a:latin typeface="Courier New"/>
                <a:cs typeface="Courier New"/>
              </a:rPr>
              <a:t>(</a:t>
            </a:r>
            <a:r>
              <a:rPr dirty="0" smtClean="0" sz="500" spc="9">
                <a:latin typeface="Courier New"/>
                <a:cs typeface="Courier New"/>
              </a:rPr>
              <a:t>in</a:t>
            </a:r>
            <a:r>
              <a:rPr dirty="0" smtClean="0" sz="500" spc="0">
                <a:latin typeface="Courier New"/>
                <a:cs typeface="Courier New"/>
              </a:rPr>
              <a:t>t</a:t>
            </a:r>
            <a:r>
              <a:rPr dirty="0" smtClean="0" sz="500" spc="0">
                <a:latin typeface="Courier New"/>
                <a:cs typeface="Courier New"/>
              </a:rPr>
              <a:t> </a:t>
            </a:r>
            <a:r>
              <a:rPr dirty="0" smtClean="0" sz="500" spc="24">
                <a:latin typeface="Courier New"/>
                <a:cs typeface="Courier New"/>
              </a:rPr>
              <a:t> </a:t>
            </a:r>
            <a:r>
              <a:rPr dirty="0" smtClean="0" sz="500" spc="9">
                <a:latin typeface="Courier New"/>
                <a:cs typeface="Courier New"/>
              </a:rPr>
              <a:t>i</a:t>
            </a:r>
            <a:r>
              <a:rPr dirty="0" smtClean="0" sz="500" spc="0">
                <a:latin typeface="Courier New"/>
                <a:cs typeface="Courier New"/>
              </a:rPr>
              <a:t>)</a:t>
            </a:r>
            <a:r>
              <a:rPr dirty="0" smtClean="0" sz="500" spc="114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447675">
              <a:lnSpc>
                <a:spcPct val="94401"/>
              </a:lnSpc>
              <a:spcBef>
                <a:spcPts val="783"/>
              </a:spcBef>
            </a:pPr>
            <a:r>
              <a:rPr dirty="0" smtClean="0" sz="500" spc="-4">
                <a:latin typeface="Courier New"/>
                <a:cs typeface="Courier New"/>
              </a:rPr>
              <a:t>/</a:t>
            </a:r>
            <a:r>
              <a:rPr dirty="0" smtClean="0" sz="500" spc="0">
                <a:latin typeface="Courier New"/>
                <a:cs typeface="Courier New"/>
              </a:rPr>
              <a:t>/</a:t>
            </a:r>
            <a:r>
              <a:rPr dirty="0" smtClean="0" sz="500" spc="54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tes</a:t>
            </a:r>
            <a:r>
              <a:rPr dirty="0" smtClean="0" sz="500" spc="0">
                <a:latin typeface="Courier New"/>
                <a:cs typeface="Courier New"/>
              </a:rPr>
              <a:t>t</a:t>
            </a:r>
            <a:r>
              <a:rPr dirty="0" smtClean="0" sz="500" spc="84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lef</a:t>
            </a:r>
            <a:r>
              <a:rPr dirty="0" smtClean="0" sz="500" spc="0">
                <a:latin typeface="Courier New"/>
                <a:cs typeface="Courier New"/>
              </a:rPr>
              <a:t>t</a:t>
            </a:r>
            <a:r>
              <a:rPr dirty="0" smtClean="0" sz="500" spc="84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an</a:t>
            </a:r>
            <a:r>
              <a:rPr dirty="0" smtClean="0" sz="500" spc="0">
                <a:latin typeface="Courier New"/>
                <a:cs typeface="Courier New"/>
              </a:rPr>
              <a:t>d</a:t>
            </a:r>
            <a:r>
              <a:rPr dirty="0" smtClean="0" sz="500" spc="69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righ</a:t>
            </a:r>
            <a:r>
              <a:rPr dirty="0" smtClean="0" sz="500" spc="0">
                <a:latin typeface="Courier New"/>
                <a:cs typeface="Courier New"/>
              </a:rPr>
              <a:t>t</a:t>
            </a:r>
            <a:r>
              <a:rPr dirty="0" smtClean="0" sz="500" spc="100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neighbors</a:t>
            </a:r>
            <a:endParaRPr sz="500">
              <a:latin typeface="Courier New"/>
              <a:cs typeface="Courier New"/>
            </a:endParaRPr>
          </a:p>
          <a:p>
            <a:pPr marL="285750">
              <a:lnSpc>
                <a:spcPct val="94401"/>
              </a:lnSpc>
              <a:spcBef>
                <a:spcPts val="633"/>
              </a:spcBef>
            </a:pPr>
            <a:r>
              <a:rPr dirty="0" smtClean="0" sz="500" spc="-4">
                <a:latin typeface="Courier New"/>
                <a:cs typeface="Courier New"/>
              </a:rPr>
              <a:t>NUM_PHILOSOPHERS);</a:t>
            </a:r>
            <a:endParaRPr sz="500">
              <a:latin typeface="Courier New"/>
              <a:cs typeface="Courier New"/>
            </a:endParaRPr>
          </a:p>
          <a:p>
            <a:pPr marL="285750">
              <a:lnSpc>
                <a:spcPct val="94401"/>
              </a:lnSpc>
              <a:spcBef>
                <a:spcPts val="783"/>
              </a:spcBef>
            </a:pPr>
            <a:r>
              <a:rPr dirty="0" smtClean="0" sz="500" spc="0"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 marR="104775" algn="r">
              <a:lnSpc>
                <a:spcPct val="100000"/>
              </a:lnSpc>
              <a:spcBef>
                <a:spcPts val="2373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4</a:t>
            </a:r>
            <a:r>
              <a:rPr dirty="0" smtClean="0" sz="350" spc="0">
                <a:latin typeface="Times New Roman"/>
                <a:cs typeface="Times New Roman"/>
              </a:rPr>
              <a:t>8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3400" y="6219825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56844" marR="528319" algn="ctr">
              <a:lnSpc>
                <a:spcPct val="116129"/>
              </a:lnSpc>
            </a:pP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Dining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Philosophers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Example</a:t>
            </a:r>
            <a:endParaRPr sz="1200">
              <a:latin typeface="Comic Sans MS"/>
              <a:cs typeface="Comic Sans MS"/>
            </a:endParaRPr>
          </a:p>
          <a:p>
            <a:pPr marL="390525">
              <a:lnSpc>
                <a:spcPct val="94401"/>
              </a:lnSpc>
              <a:spcBef>
                <a:spcPts val="1183"/>
              </a:spcBef>
            </a:pPr>
            <a:r>
              <a:rPr dirty="0" smtClean="0" sz="500" spc="-14">
                <a:latin typeface="Courier New"/>
                <a:cs typeface="Courier New"/>
              </a:rPr>
              <a:t>monito</a:t>
            </a:r>
            <a:r>
              <a:rPr dirty="0" smtClean="0" sz="500" spc="0">
                <a:latin typeface="Courier New"/>
                <a:cs typeface="Courier New"/>
              </a:rPr>
              <a:t>r</a:t>
            </a:r>
            <a:r>
              <a:rPr dirty="0" smtClean="0" sz="500" spc="164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diningPhilosophers</a:t>
            </a:r>
            <a:endParaRPr sz="500">
              <a:latin typeface="Courier New"/>
              <a:cs typeface="Courier New"/>
            </a:endParaRPr>
          </a:p>
          <a:p>
            <a:pPr marL="390525">
              <a:lnSpc>
                <a:spcPct val="94401"/>
              </a:lnSpc>
              <a:spcBef>
                <a:spcPts val="105"/>
              </a:spcBef>
            </a:pPr>
            <a:r>
              <a:rPr dirty="0" smtClean="0" sz="500" spc="0"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438150">
              <a:lnSpc>
                <a:spcPct val="94401"/>
              </a:lnSpc>
              <a:spcBef>
                <a:spcPts val="105"/>
              </a:spcBef>
            </a:pPr>
            <a:r>
              <a:rPr dirty="0" smtClean="0" sz="500" spc="-14">
                <a:latin typeface="Courier New"/>
                <a:cs typeface="Courier New"/>
              </a:rPr>
              <a:t>enu</a:t>
            </a:r>
            <a:r>
              <a:rPr dirty="0" smtClean="0" sz="500" spc="0">
                <a:latin typeface="Courier New"/>
                <a:cs typeface="Courier New"/>
              </a:rPr>
              <a:t>m</a:t>
            </a:r>
            <a:r>
              <a:rPr dirty="0" smtClean="0" sz="500" spc="45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State{thinking,</a:t>
            </a:r>
            <a:r>
              <a:rPr dirty="0" smtClean="0" sz="500" spc="224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hungry,</a:t>
            </a:r>
            <a:r>
              <a:rPr dirty="0" smtClean="0" sz="500" spc="104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eating};</a:t>
            </a:r>
            <a:endParaRPr sz="500">
              <a:latin typeface="Courier New"/>
              <a:cs typeface="Courier New"/>
            </a:endParaRPr>
          </a:p>
          <a:p>
            <a:pPr marL="438150">
              <a:lnSpc>
                <a:spcPct val="94401"/>
              </a:lnSpc>
              <a:spcBef>
                <a:spcPts val="708"/>
              </a:spcBef>
            </a:pPr>
            <a:r>
              <a:rPr dirty="0" smtClean="0" sz="500" spc="0">
                <a:latin typeface="Courier New"/>
                <a:cs typeface="Courier New"/>
              </a:rPr>
              <a:t>State</a:t>
            </a:r>
            <a:r>
              <a:rPr dirty="0" smtClean="0" sz="500" spc="75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moods[NUM_PHILOSOPHERS];</a:t>
            </a:r>
            <a:endParaRPr sz="500">
              <a:latin typeface="Courier New"/>
              <a:cs typeface="Courier New"/>
            </a:endParaRPr>
          </a:p>
          <a:p>
            <a:pPr marL="438150">
              <a:lnSpc>
                <a:spcPct val="94401"/>
              </a:lnSpc>
              <a:spcBef>
                <a:spcPts val="105"/>
              </a:spcBef>
            </a:pPr>
            <a:r>
              <a:rPr dirty="0" smtClean="0" sz="500" spc="-4">
                <a:latin typeface="Courier New"/>
                <a:cs typeface="Courier New"/>
              </a:rPr>
              <a:t>conditionVariabl</a:t>
            </a:r>
            <a:r>
              <a:rPr dirty="0" smtClean="0" sz="500" spc="0">
                <a:latin typeface="Courier New"/>
                <a:cs typeface="Courier New"/>
              </a:rPr>
              <a:t>e</a:t>
            </a:r>
            <a:r>
              <a:rPr dirty="0" smtClean="0" sz="500" spc="250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self[NUM_PHILOSOPHERS];</a:t>
            </a:r>
            <a:endParaRPr sz="500">
              <a:latin typeface="Courier New"/>
              <a:cs typeface="Courier New"/>
            </a:endParaRPr>
          </a:p>
          <a:p>
            <a:pPr marL="438150" marR="1409704">
              <a:lnSpc>
                <a:spcPts val="566"/>
              </a:lnSpc>
              <a:spcBef>
                <a:spcPts val="783"/>
              </a:spcBef>
            </a:pPr>
            <a:r>
              <a:rPr dirty="0" smtClean="0" sz="500" spc="-9">
                <a:latin typeface="Courier New"/>
                <a:cs typeface="Courier New"/>
              </a:rPr>
              <a:t>voi</a:t>
            </a:r>
            <a:r>
              <a:rPr dirty="0" smtClean="0" sz="500" spc="0">
                <a:latin typeface="Courier New"/>
                <a:cs typeface="Courier New"/>
              </a:rPr>
              <a:t>d</a:t>
            </a:r>
            <a:r>
              <a:rPr dirty="0" smtClean="0" sz="500" spc="50">
                <a:latin typeface="Courier New"/>
                <a:cs typeface="Courier New"/>
              </a:rPr>
              <a:t> </a:t>
            </a:r>
            <a:r>
              <a:rPr dirty="0" smtClean="0" sz="500" spc="-9">
                <a:latin typeface="Courier New"/>
                <a:cs typeface="Courier New"/>
              </a:rPr>
              <a:t>pickup(</a:t>
            </a:r>
            <a:r>
              <a:rPr dirty="0" smtClean="0" sz="500" spc="9">
                <a:latin typeface="Courier New"/>
                <a:cs typeface="Courier New"/>
              </a:rPr>
              <a:t>in</a:t>
            </a:r>
            <a:r>
              <a:rPr dirty="0" smtClean="0" sz="500" spc="0">
                <a:latin typeface="Courier New"/>
                <a:cs typeface="Courier New"/>
              </a:rPr>
              <a:t>t</a:t>
            </a:r>
            <a:r>
              <a:rPr dirty="0" smtClean="0" sz="500" spc="159">
                <a:latin typeface="Courier New"/>
                <a:cs typeface="Courier New"/>
              </a:rPr>
              <a:t> </a:t>
            </a:r>
            <a:r>
              <a:rPr dirty="0" smtClean="0" sz="500" spc="9">
                <a:latin typeface="Courier New"/>
                <a:cs typeface="Courier New"/>
              </a:rPr>
              <a:t>i);</a:t>
            </a:r>
            <a:r>
              <a:rPr dirty="0" smtClean="0" sz="500" spc="9">
                <a:latin typeface="Courier New"/>
                <a:cs typeface="Courier New"/>
              </a:rPr>
              <a:t> </a:t>
            </a:r>
            <a:endParaRPr sz="500">
              <a:latin typeface="Courier New"/>
              <a:cs typeface="Courier New"/>
            </a:endParaRPr>
          </a:p>
          <a:p>
            <a:pPr marL="438150" marR="1409704">
              <a:lnSpc>
                <a:spcPts val="566"/>
              </a:lnSpc>
              <a:spcBef>
                <a:spcPts val="108"/>
              </a:spcBef>
            </a:pPr>
            <a:r>
              <a:rPr dirty="0" smtClean="0" sz="500" spc="-9">
                <a:latin typeface="Courier New"/>
                <a:cs typeface="Courier New"/>
              </a:rPr>
              <a:t>voi</a:t>
            </a:r>
            <a:r>
              <a:rPr dirty="0" smtClean="0" sz="500" spc="0">
                <a:latin typeface="Courier New"/>
                <a:cs typeface="Courier New"/>
              </a:rPr>
              <a:t>d</a:t>
            </a:r>
            <a:r>
              <a:rPr dirty="0" smtClean="0" sz="500" spc="50">
                <a:latin typeface="Courier New"/>
                <a:cs typeface="Courier New"/>
              </a:rPr>
              <a:t> </a:t>
            </a:r>
            <a:r>
              <a:rPr dirty="0" smtClean="0" sz="500" spc="-9">
                <a:latin typeface="Courier New"/>
                <a:cs typeface="Courier New"/>
              </a:rPr>
              <a:t>putdown</a:t>
            </a:r>
            <a:r>
              <a:rPr dirty="0" smtClean="0" sz="500" spc="64">
                <a:latin typeface="Courier New"/>
                <a:cs typeface="Courier New"/>
              </a:rPr>
              <a:t>(</a:t>
            </a:r>
            <a:r>
              <a:rPr dirty="0" smtClean="0" sz="500" spc="-14">
                <a:latin typeface="Courier New"/>
                <a:cs typeface="Courier New"/>
              </a:rPr>
              <a:t>in</a:t>
            </a:r>
            <a:r>
              <a:rPr dirty="0" smtClean="0" sz="500" spc="0">
                <a:latin typeface="Courier New"/>
                <a:cs typeface="Courier New"/>
              </a:rPr>
              <a:t>t</a:t>
            </a:r>
            <a:r>
              <a:rPr dirty="0" smtClean="0" sz="500" spc="150">
                <a:latin typeface="Courier New"/>
                <a:cs typeface="Courier New"/>
              </a:rPr>
              <a:t> </a:t>
            </a:r>
            <a:r>
              <a:rPr dirty="0" smtClean="0" sz="500" spc="9">
                <a:latin typeface="Courier New"/>
                <a:cs typeface="Courier New"/>
              </a:rPr>
              <a:t>i</a:t>
            </a:r>
            <a:r>
              <a:rPr dirty="0" smtClean="0" sz="500" spc="0">
                <a:latin typeface="Courier New"/>
                <a:cs typeface="Courier New"/>
              </a:rPr>
              <a:t>)</a:t>
            </a:r>
            <a:r>
              <a:rPr dirty="0" smtClean="0" sz="500" spc="3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;</a:t>
            </a:r>
            <a:r>
              <a:rPr dirty="0" smtClean="0" sz="500" spc="0">
                <a:latin typeface="Courier New"/>
                <a:cs typeface="Courier New"/>
              </a:rPr>
              <a:t> </a:t>
            </a:r>
            <a:endParaRPr sz="500">
              <a:latin typeface="Courier New"/>
              <a:cs typeface="Courier New"/>
            </a:endParaRPr>
          </a:p>
          <a:p>
            <a:pPr marL="438150" marR="1409704">
              <a:lnSpc>
                <a:spcPts val="566"/>
              </a:lnSpc>
              <a:spcBef>
                <a:spcPts val="108"/>
              </a:spcBef>
            </a:pPr>
            <a:r>
              <a:rPr dirty="0" smtClean="0" sz="500" spc="-4">
                <a:latin typeface="Courier New"/>
                <a:cs typeface="Courier New"/>
              </a:rPr>
              <a:t>voi</a:t>
            </a:r>
            <a:r>
              <a:rPr dirty="0" smtClean="0" sz="500" spc="0">
                <a:latin typeface="Courier New"/>
                <a:cs typeface="Courier New"/>
              </a:rPr>
              <a:t>d</a:t>
            </a:r>
            <a:r>
              <a:rPr dirty="0" smtClean="0" sz="500" spc="54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test(</a:t>
            </a:r>
            <a:r>
              <a:rPr dirty="0" smtClean="0" sz="500" spc="-14">
                <a:latin typeface="Courier New"/>
                <a:cs typeface="Courier New"/>
              </a:rPr>
              <a:t>in</a:t>
            </a:r>
            <a:r>
              <a:rPr dirty="0" smtClean="0" sz="500" spc="0">
                <a:latin typeface="Courier New"/>
                <a:cs typeface="Courier New"/>
              </a:rPr>
              <a:t>t</a:t>
            </a:r>
            <a:r>
              <a:rPr dirty="0" smtClean="0" sz="500" spc="179">
                <a:latin typeface="Courier New"/>
                <a:cs typeface="Courier New"/>
              </a:rPr>
              <a:t> </a:t>
            </a:r>
            <a:r>
              <a:rPr dirty="0" smtClean="0" sz="500" spc="-14">
                <a:latin typeface="Courier New"/>
                <a:cs typeface="Courier New"/>
              </a:rPr>
              <a:t>i</a:t>
            </a:r>
            <a:r>
              <a:rPr dirty="0" smtClean="0" sz="500" spc="0">
                <a:latin typeface="Courier New"/>
                <a:cs typeface="Courier New"/>
              </a:rPr>
              <a:t>)</a:t>
            </a:r>
            <a:r>
              <a:rPr dirty="0" smtClean="0" sz="500" spc="15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;</a:t>
            </a:r>
            <a:r>
              <a:rPr dirty="0" smtClean="0" sz="500" spc="0">
                <a:latin typeface="Courier New"/>
                <a:cs typeface="Courier New"/>
              </a:rPr>
              <a:t> </a:t>
            </a:r>
            <a:endParaRPr sz="500">
              <a:latin typeface="Courier New"/>
              <a:cs typeface="Courier New"/>
            </a:endParaRPr>
          </a:p>
          <a:p>
            <a:pPr marL="438150" marR="1409704">
              <a:lnSpc>
                <a:spcPts val="566"/>
              </a:lnSpc>
              <a:spcBef>
                <a:spcPts val="108"/>
              </a:spcBef>
            </a:pPr>
            <a:r>
              <a:rPr dirty="0" smtClean="0" sz="500" spc="-9">
                <a:latin typeface="Courier New"/>
                <a:cs typeface="Courier New"/>
              </a:rPr>
              <a:t>voi</a:t>
            </a:r>
            <a:r>
              <a:rPr dirty="0" smtClean="0" sz="500" spc="0">
                <a:latin typeface="Courier New"/>
                <a:cs typeface="Courier New"/>
              </a:rPr>
              <a:t>d</a:t>
            </a:r>
            <a:r>
              <a:rPr dirty="0" smtClean="0" sz="500" spc="50">
                <a:latin typeface="Courier New"/>
                <a:cs typeface="Courier New"/>
              </a:rPr>
              <a:t> </a:t>
            </a:r>
            <a:r>
              <a:rPr dirty="0" smtClean="0" sz="500" spc="-9">
                <a:latin typeface="Courier New"/>
                <a:cs typeface="Courier New"/>
              </a:rPr>
              <a:t>init(</a:t>
            </a:r>
            <a:r>
              <a:rPr dirty="0" smtClean="0" sz="500" spc="0">
                <a:latin typeface="Courier New"/>
                <a:cs typeface="Courier New"/>
              </a:rPr>
              <a:t>)</a:t>
            </a:r>
            <a:r>
              <a:rPr dirty="0" smtClean="0" sz="500" spc="7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571500">
              <a:lnSpc>
                <a:spcPct val="94401"/>
              </a:lnSpc>
              <a:spcBef>
                <a:spcPts val="108"/>
              </a:spcBef>
            </a:pPr>
            <a:r>
              <a:rPr dirty="0" smtClean="0" sz="500" spc="-14">
                <a:latin typeface="Courier New"/>
                <a:cs typeface="Courier New"/>
              </a:rPr>
              <a:t>fo</a:t>
            </a:r>
            <a:r>
              <a:rPr dirty="0" smtClean="0" sz="500" spc="0">
                <a:latin typeface="Courier New"/>
                <a:cs typeface="Courier New"/>
              </a:rPr>
              <a:t>r</a:t>
            </a:r>
            <a:r>
              <a:rPr dirty="0" smtClean="0" sz="500" spc="29">
                <a:latin typeface="Courier New"/>
                <a:cs typeface="Courier New"/>
              </a:rPr>
              <a:t> </a:t>
            </a:r>
            <a:r>
              <a:rPr dirty="0" smtClean="0" sz="500" spc="-14">
                <a:latin typeface="Courier New"/>
                <a:cs typeface="Courier New"/>
              </a:rPr>
              <a:t>(in</a:t>
            </a:r>
            <a:r>
              <a:rPr dirty="0" smtClean="0" sz="500" spc="0">
                <a:latin typeface="Courier New"/>
                <a:cs typeface="Courier New"/>
              </a:rPr>
              <a:t>t</a:t>
            </a:r>
            <a:r>
              <a:rPr dirty="0" smtClean="0" sz="500" spc="11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i</a:t>
            </a:r>
            <a:r>
              <a:rPr dirty="0" smtClean="0" sz="500" spc="2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=</a:t>
            </a:r>
            <a:r>
              <a:rPr dirty="0" smtClean="0" sz="500" spc="2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0;</a:t>
            </a:r>
            <a:r>
              <a:rPr dirty="0" smtClean="0" sz="500" spc="44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i</a:t>
            </a:r>
            <a:r>
              <a:rPr dirty="0" smtClean="0" sz="500" spc="2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&lt;</a:t>
            </a:r>
            <a:r>
              <a:rPr dirty="0" smtClean="0" sz="500" spc="2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NUM_PHILOSOPHERS;</a:t>
            </a:r>
            <a:r>
              <a:rPr dirty="0" smtClean="0" sz="500" spc="26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i++)</a:t>
            </a:r>
            <a:endParaRPr sz="500">
              <a:latin typeface="Courier New"/>
              <a:cs typeface="Courier New"/>
            </a:endParaRPr>
          </a:p>
          <a:p>
            <a:pPr marL="801449" marR="1049091" algn="ctr">
              <a:lnSpc>
                <a:spcPct val="94401"/>
              </a:lnSpc>
              <a:spcBef>
                <a:spcPts val="105"/>
              </a:spcBef>
            </a:pPr>
            <a:r>
              <a:rPr dirty="0" smtClean="0" sz="500" spc="0">
                <a:latin typeface="Courier New"/>
                <a:cs typeface="Courier New"/>
              </a:rPr>
              <a:t>state[i]</a:t>
            </a:r>
            <a:r>
              <a:rPr dirty="0" smtClean="0" sz="500" spc="11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=</a:t>
            </a:r>
            <a:r>
              <a:rPr dirty="0" smtClean="0" sz="500" spc="14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thinking;</a:t>
            </a:r>
            <a:endParaRPr sz="500">
              <a:latin typeface="Courier New"/>
              <a:cs typeface="Courier New"/>
            </a:endParaRPr>
          </a:p>
          <a:p>
            <a:pPr marL="438150">
              <a:lnSpc>
                <a:spcPct val="94401"/>
              </a:lnSpc>
              <a:spcBef>
                <a:spcPts val="105"/>
              </a:spcBef>
            </a:pPr>
            <a:r>
              <a:rPr dirty="0" smtClean="0" sz="500" spc="0"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 marL="390525">
              <a:lnSpc>
                <a:spcPct val="94401"/>
              </a:lnSpc>
              <a:spcBef>
                <a:spcPts val="105"/>
              </a:spcBef>
            </a:pPr>
            <a:r>
              <a:rPr dirty="0" smtClean="0" sz="500" spc="0"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 marR="114300" algn="r">
              <a:lnSpc>
                <a:spcPct val="100000"/>
              </a:lnSpc>
              <a:spcBef>
                <a:spcPts val="1323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4</a:t>
            </a:r>
            <a:r>
              <a:rPr dirty="0" smtClean="0" sz="350" spc="0">
                <a:latin typeface="Times New Roman"/>
                <a:cs typeface="Times New Roman"/>
              </a:rPr>
              <a:t>7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29025" y="3562350"/>
            <a:ext cx="2676525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Gridapp</a:t>
            </a:r>
            <a:endParaRPr sz="1200">
              <a:latin typeface="Comic Sans MS"/>
              <a:cs typeface="Comic Sans MS"/>
            </a:endParaRPr>
          </a:p>
          <a:p>
            <a:pPr marL="285750" marR="608601" indent="-104775">
              <a:lnSpc>
                <a:spcPts val="980"/>
              </a:lnSpc>
              <a:spcBef>
                <a:spcPts val="1240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Wha</a:t>
            </a:r>
            <a:r>
              <a:rPr dirty="0" smtClean="0" sz="800" spc="0">
                <a:latin typeface="Comic Sans MS"/>
                <a:cs typeface="Comic Sans MS"/>
              </a:rPr>
              <a:t>t</a:t>
            </a:r>
            <a:r>
              <a:rPr dirty="0" smtClean="0" sz="800" spc="57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woul</a:t>
            </a:r>
            <a:r>
              <a:rPr dirty="0" smtClean="0" sz="800" spc="0">
                <a:latin typeface="Comic Sans MS"/>
                <a:cs typeface="Comic Sans MS"/>
              </a:rPr>
              <a:t>d</a:t>
            </a:r>
            <a:r>
              <a:rPr dirty="0" smtClean="0" sz="800" spc="57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i</a:t>
            </a:r>
            <a:r>
              <a:rPr dirty="0" smtClean="0" sz="800" spc="0">
                <a:latin typeface="Comic Sans MS"/>
                <a:cs typeface="Comic Sans MS"/>
              </a:rPr>
              <a:t>t</a:t>
            </a:r>
            <a:r>
              <a:rPr dirty="0" smtClean="0" sz="800" spc="12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b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22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lik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34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t</a:t>
            </a:r>
            <a:r>
              <a:rPr dirty="0" smtClean="0" sz="800" spc="0">
                <a:latin typeface="Comic Sans MS"/>
                <a:cs typeface="Comic Sans MS"/>
              </a:rPr>
              <a:t>o</a:t>
            </a:r>
            <a:r>
              <a:rPr dirty="0" smtClean="0" sz="800" spc="18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d</a:t>
            </a:r>
            <a:r>
              <a:rPr dirty="0" smtClean="0" sz="800" spc="0">
                <a:latin typeface="Comic Sans MS"/>
                <a:cs typeface="Comic Sans MS"/>
              </a:rPr>
              <a:t>o</a:t>
            </a:r>
            <a:r>
              <a:rPr dirty="0" smtClean="0" sz="800" spc="21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deadlock</a:t>
            </a:r>
            <a:r>
              <a:rPr dirty="0" smtClean="0" sz="800" spc="-4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avoidance/detection</a:t>
            </a:r>
            <a:r>
              <a:rPr dirty="0" smtClean="0" sz="800" spc="212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for</a:t>
            </a:r>
            <a:r>
              <a:rPr dirty="0" smtClean="0" sz="800" spc="21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gridapp?</a:t>
            </a:r>
            <a:endParaRPr sz="80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71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Fo</a:t>
            </a:r>
            <a:r>
              <a:rPr dirty="0" smtClean="0" sz="800" spc="0">
                <a:latin typeface="Comic Sans MS"/>
                <a:cs typeface="Comic Sans MS"/>
              </a:rPr>
              <a:t>r</a:t>
            </a:r>
            <a:r>
              <a:rPr dirty="0" smtClean="0" sz="800" spc="28">
                <a:latin typeface="Comic Sans MS"/>
                <a:cs typeface="Comic Sans MS"/>
              </a:rPr>
              <a:t> </a:t>
            </a:r>
            <a:r>
              <a:rPr dirty="0" smtClean="0" sz="800" spc="4">
                <a:latin typeface="Comic Sans MS"/>
                <a:cs typeface="Comic Sans MS"/>
              </a:rPr>
              <a:t>avoidance:</a:t>
            </a:r>
            <a:endParaRPr sz="800">
              <a:latin typeface="Comic Sans MS"/>
              <a:cs typeface="Comic Sans MS"/>
            </a:endParaRPr>
          </a:p>
          <a:p>
            <a:pPr marL="400050" marR="316095" indent="-85725">
              <a:lnSpc>
                <a:spcPts val="830"/>
              </a:lnSpc>
              <a:spcBef>
                <a:spcPts val="266"/>
              </a:spcBef>
            </a:pPr>
            <a:r>
              <a:rPr dirty="0" smtClean="0" sz="50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500" spc="122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Woul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92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hav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76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t</a:t>
            </a:r>
            <a:r>
              <a:rPr dirty="0" smtClean="0" sz="650" spc="0">
                <a:latin typeface="Comic Sans MS"/>
                <a:cs typeface="Comic Sans MS"/>
              </a:rPr>
              <a:t>o</a:t>
            </a:r>
            <a:r>
              <a:rPr dirty="0" smtClean="0" sz="650" spc="5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declar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02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it'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-7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ma</a:t>
            </a:r>
            <a:r>
              <a:rPr dirty="0" smtClean="0" sz="650" spc="0">
                <a:latin typeface="Comic Sans MS"/>
                <a:cs typeface="Comic Sans MS"/>
              </a:rPr>
              <a:t>x</a:t>
            </a:r>
            <a:r>
              <a:rPr dirty="0" smtClean="0" sz="650" spc="71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usag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02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eac</a:t>
            </a:r>
            <a:r>
              <a:rPr dirty="0" smtClean="0" sz="650" spc="0">
                <a:latin typeface="Comic Sans MS"/>
                <a:cs typeface="Comic Sans MS"/>
              </a:rPr>
              <a:t>h</a:t>
            </a:r>
            <a:r>
              <a:rPr dirty="0" smtClean="0" sz="650" spc="9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time</a:t>
            </a:r>
            <a:r>
              <a:rPr dirty="0" smtClean="0" sz="650" spc="4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through</a:t>
            </a:r>
            <a:r>
              <a:rPr dirty="0" smtClean="0" sz="650" spc="131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the</a:t>
            </a:r>
            <a:r>
              <a:rPr dirty="0" smtClean="0" sz="650" spc="91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loop</a:t>
            </a:r>
            <a:r>
              <a:rPr dirty="0" smtClean="0" sz="650" spc="108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for</a:t>
            </a:r>
            <a:r>
              <a:rPr dirty="0" smtClean="0" sz="650" spc="89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a</a:t>
            </a:r>
            <a:r>
              <a:rPr dirty="0" smtClean="0" sz="650" spc="73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thread</a:t>
            </a:r>
            <a:r>
              <a:rPr dirty="0" smtClean="0" sz="650" spc="121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or</a:t>
            </a:r>
            <a:r>
              <a:rPr dirty="0" smtClean="0" sz="650" spc="79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max</a:t>
            </a:r>
            <a:r>
              <a:rPr dirty="0" smtClean="0" sz="650" spc="96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usage</a:t>
            </a:r>
            <a:r>
              <a:rPr dirty="0" smtClean="0" sz="650" spc="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woul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95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b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67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th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75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whol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12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gri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81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an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76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ge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75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no</a:t>
            </a:r>
            <a:r>
              <a:rPr dirty="0" smtClean="0" sz="650" spc="4">
                <a:latin typeface="Comic Sans MS"/>
                <a:cs typeface="Comic Sans MS"/>
              </a:rPr>
              <a:t> </a:t>
            </a:r>
            <a:r>
              <a:rPr dirty="0" smtClean="0" sz="650" spc="14">
                <a:latin typeface="Comic Sans MS"/>
                <a:cs typeface="Comic Sans MS"/>
              </a:rPr>
              <a:t>concurrency?</a:t>
            </a:r>
            <a:endParaRPr sz="65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33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Fo</a:t>
            </a:r>
            <a:r>
              <a:rPr dirty="0" smtClean="0" sz="800" spc="0">
                <a:latin typeface="Comic Sans MS"/>
                <a:cs typeface="Comic Sans MS"/>
              </a:rPr>
              <a:t>r</a:t>
            </a:r>
            <a:r>
              <a:rPr dirty="0" smtClean="0" sz="800" spc="33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detection</a:t>
            </a:r>
            <a:r>
              <a:rPr dirty="0" smtClean="0" sz="800" spc="0">
                <a:latin typeface="Comic Sans MS"/>
                <a:cs typeface="Comic Sans MS"/>
              </a:rPr>
              <a:t>,</a:t>
            </a:r>
            <a:r>
              <a:rPr dirty="0" smtClean="0" sz="800" spc="108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tha</a:t>
            </a:r>
            <a:r>
              <a:rPr dirty="0" smtClean="0" sz="800" spc="0">
                <a:latin typeface="Comic Sans MS"/>
                <a:cs typeface="Comic Sans MS"/>
              </a:rPr>
              <a:t>t</a:t>
            </a:r>
            <a:r>
              <a:rPr dirty="0" smtClean="0" sz="800" spc="43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woul</a:t>
            </a:r>
            <a:r>
              <a:rPr dirty="0" smtClean="0" sz="800" spc="0">
                <a:latin typeface="Comic Sans MS"/>
                <a:cs typeface="Comic Sans MS"/>
              </a:rPr>
              <a:t>d</a:t>
            </a:r>
            <a:r>
              <a:rPr dirty="0" smtClean="0" sz="800" spc="57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b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22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b</a:t>
            </a:r>
            <a:r>
              <a:rPr dirty="0" smtClean="0" sz="800" spc="0">
                <a:latin typeface="Comic Sans MS"/>
                <a:cs typeface="Comic Sans MS"/>
              </a:rPr>
              <a:t>e</a:t>
            </a:r>
            <a:r>
              <a:rPr dirty="0" smtClean="0" sz="800" spc="22">
                <a:latin typeface="Comic Sans MS"/>
                <a:cs typeface="Comic Sans MS"/>
              </a:rPr>
              <a:t> </a:t>
            </a:r>
            <a:r>
              <a:rPr dirty="0" smtClean="0" sz="800" spc="-4">
                <a:latin typeface="Comic Sans MS"/>
                <a:cs typeface="Comic Sans MS"/>
              </a:rPr>
              <a:t>cool</a:t>
            </a:r>
            <a:endParaRPr sz="800">
              <a:latin typeface="Comic Sans MS"/>
              <a:cs typeface="Comic Sans MS"/>
            </a:endParaRPr>
          </a:p>
          <a:p>
            <a:pPr marR="104775" algn="r">
              <a:lnSpc>
                <a:spcPct val="100000"/>
              </a:lnSpc>
              <a:spcBef>
                <a:spcPts val="3340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4</a:t>
            </a:r>
            <a:r>
              <a:rPr dirty="0" smtClean="0" sz="350" spc="0">
                <a:latin typeface="Times New Roman"/>
                <a:cs typeface="Times New Roman"/>
              </a:rPr>
              <a:t>6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400" y="3562350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25" u="sng">
                <a:solidFill>
                  <a:srgbClr val="3333CC"/>
                </a:solidFill>
                <a:latin typeface="Comic Sans MS"/>
                <a:cs typeface="Comic Sans MS"/>
              </a:rPr>
              <a:t>Outtakes</a:t>
            </a:r>
            <a:endParaRPr sz="1200">
              <a:latin typeface="Comic Sans MS"/>
              <a:cs typeface="Comic Sans MS"/>
            </a:endParaRPr>
          </a:p>
          <a:p>
            <a:pPr marR="114300" algn="r">
              <a:lnSpc>
                <a:spcPct val="100000"/>
              </a:lnSpc>
              <a:spcBef>
                <a:spcPts val="12448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4</a:t>
            </a:r>
            <a:r>
              <a:rPr dirty="0" smtClean="0" sz="350" spc="0">
                <a:latin typeface="Times New Roman"/>
                <a:cs typeface="Times New Roman"/>
              </a:rPr>
              <a:t>5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29025" y="904875"/>
            <a:ext cx="2676525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Real</a:t>
            </a:r>
            <a:r>
              <a:rPr dirty="0" smtClean="0" sz="1200" spc="-59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life?</a:t>
            </a:r>
            <a:endParaRPr sz="1200">
              <a:latin typeface="Comic Sans MS"/>
              <a:cs typeface="Comic Sans MS"/>
            </a:endParaRPr>
          </a:p>
          <a:p>
            <a:pPr marL="285750" marR="287558" indent="-104775">
              <a:lnSpc>
                <a:spcPts val="830"/>
              </a:lnSpc>
              <a:spcBef>
                <a:spcPts val="1277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Mos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86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use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81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preventio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135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techniqu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27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i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54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resource</a:t>
            </a:r>
            <a:r>
              <a:rPr dirty="0" smtClean="0" sz="650" spc="9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orderin</a:t>
            </a:r>
            <a:r>
              <a:rPr dirty="0" smtClean="0" sz="650" spc="0">
                <a:latin typeface="Comic Sans MS"/>
                <a:cs typeface="Comic Sans MS"/>
              </a:rPr>
              <a:t>g</a:t>
            </a:r>
            <a:r>
              <a:rPr dirty="0" smtClean="0" sz="650" spc="112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–</a:t>
            </a:r>
            <a:r>
              <a:rPr dirty="0" smtClean="0" sz="650" spc="43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reasonabl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52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fo</a:t>
            </a:r>
            <a:r>
              <a:rPr dirty="0" smtClean="0" sz="650" spc="0">
                <a:latin typeface="Comic Sans MS"/>
                <a:cs typeface="Comic Sans MS"/>
              </a:rPr>
              <a:t>r</a:t>
            </a:r>
            <a:r>
              <a:rPr dirty="0" smtClean="0" sz="650" spc="8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programmer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17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t</a:t>
            </a:r>
            <a:r>
              <a:rPr dirty="0" smtClean="0" sz="650" spc="0">
                <a:latin typeface="Comic Sans MS"/>
                <a:cs typeface="Comic Sans MS"/>
              </a:rPr>
              <a:t>o</a:t>
            </a:r>
            <a:r>
              <a:rPr dirty="0" smtClean="0" sz="650" spc="7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attempt</a:t>
            </a:r>
            <a:endParaRPr sz="65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123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Avoidanc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31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an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71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Detectio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12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t</a:t>
            </a:r>
            <a:r>
              <a:rPr dirty="0" smtClean="0" sz="650" spc="0">
                <a:latin typeface="Comic Sans MS"/>
                <a:cs typeface="Comic Sans MS"/>
              </a:rPr>
              <a:t>o</a:t>
            </a:r>
            <a:r>
              <a:rPr dirty="0" smtClean="0" sz="650" spc="5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expensive</a:t>
            </a:r>
            <a:endParaRPr sz="65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70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Mos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96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system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148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us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8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manua</a:t>
            </a:r>
            <a:r>
              <a:rPr dirty="0" smtClean="0" sz="650" spc="0">
                <a:latin typeface="Comic Sans MS"/>
                <a:cs typeface="Comic Sans MS"/>
              </a:rPr>
              <a:t>l</a:t>
            </a:r>
            <a:r>
              <a:rPr dirty="0" smtClean="0" sz="650" spc="110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detectio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137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an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81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recovery</a:t>
            </a:r>
            <a:endParaRPr sz="650">
              <a:latin typeface="Comic Sans MS"/>
              <a:cs typeface="Comic Sans MS"/>
            </a:endParaRPr>
          </a:p>
          <a:p>
            <a:pPr marL="314325">
              <a:lnSpc>
                <a:spcPct val="116129"/>
              </a:lnSpc>
              <a:spcBef>
                <a:spcPts val="50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M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proces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i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hun</a:t>
            </a:r>
            <a:r>
              <a:rPr dirty="0" smtClean="0" sz="600" spc="0">
                <a:latin typeface="Comic Sans MS"/>
                <a:cs typeface="Comic Sans MS"/>
              </a:rPr>
              <a:t>g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–</a:t>
            </a:r>
            <a:r>
              <a:rPr dirty="0" smtClean="0" sz="600" spc="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kil</a:t>
            </a:r>
            <a:r>
              <a:rPr dirty="0" smtClean="0" sz="600" spc="0">
                <a:latin typeface="Comic Sans MS"/>
                <a:cs typeface="Comic Sans MS"/>
              </a:rPr>
              <a:t>l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process</a:t>
            </a:r>
            <a:endParaRPr sz="600">
              <a:latin typeface="Comic Sans MS"/>
              <a:cs typeface="Comic Sans MS"/>
            </a:endParaRPr>
          </a:p>
          <a:p>
            <a:pPr marL="314325">
              <a:lnSpc>
                <a:spcPts val="825"/>
              </a:lnSpc>
              <a:spcBef>
                <a:spcPts val="41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M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machin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i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locke</a:t>
            </a:r>
            <a:r>
              <a:rPr dirty="0" smtClean="0" sz="600" spc="0">
                <a:latin typeface="Comic Sans MS"/>
                <a:cs typeface="Comic Sans MS"/>
              </a:rPr>
              <a:t>d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u</a:t>
            </a:r>
            <a:r>
              <a:rPr dirty="0" smtClean="0" sz="600" spc="0">
                <a:latin typeface="Comic Sans MS"/>
                <a:cs typeface="Comic Sans MS"/>
              </a:rPr>
              <a:t>p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–</a:t>
            </a:r>
            <a:r>
              <a:rPr dirty="0" smtClean="0" sz="600" spc="4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reboot</a:t>
            </a:r>
            <a:endParaRPr sz="600">
              <a:latin typeface="Comic Sans MS"/>
              <a:cs typeface="Comic Sans MS"/>
            </a:endParaRPr>
          </a:p>
          <a:p>
            <a:pPr marL="285750" marR="305647" indent="-104775">
              <a:lnSpc>
                <a:spcPts val="900"/>
              </a:lnSpc>
              <a:spcBef>
                <a:spcPts val="83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Writ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8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cod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77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tha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74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deadlock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124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an</a:t>
            </a:r>
            <a:r>
              <a:rPr dirty="0" smtClean="0" sz="650" spc="0">
                <a:latin typeface="Comic Sans MS"/>
                <a:cs typeface="Comic Sans MS"/>
              </a:rPr>
              <a:t>d</a:t>
            </a:r>
            <a:r>
              <a:rPr dirty="0" smtClean="0" sz="650" spc="66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ru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64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i</a:t>
            </a:r>
            <a:r>
              <a:rPr dirty="0" smtClean="0" sz="650" spc="0">
                <a:latin typeface="Comic Sans MS"/>
                <a:cs typeface="Comic Sans MS"/>
              </a:rPr>
              <a:t>t</a:t>
            </a:r>
            <a:r>
              <a:rPr dirty="0" smtClean="0" sz="650" spc="4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o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55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Linu</a:t>
            </a:r>
            <a:r>
              <a:rPr dirty="0" smtClean="0" sz="650" spc="0">
                <a:latin typeface="Comic Sans MS"/>
                <a:cs typeface="Comic Sans MS"/>
              </a:rPr>
              <a:t>x</a:t>
            </a:r>
            <a:r>
              <a:rPr dirty="0" smtClean="0" sz="650" spc="82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and</a:t>
            </a:r>
            <a:r>
              <a:rPr dirty="0" smtClean="0" sz="650" spc="9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o</a:t>
            </a:r>
            <a:r>
              <a:rPr dirty="0" smtClean="0" sz="650" spc="0">
                <a:latin typeface="Comic Sans MS"/>
                <a:cs typeface="Comic Sans MS"/>
              </a:rPr>
              <a:t>n</a:t>
            </a:r>
            <a:r>
              <a:rPr dirty="0" smtClean="0" sz="650" spc="25">
                <a:latin typeface="Comic Sans MS"/>
                <a:cs typeface="Comic Sans MS"/>
              </a:rPr>
              <a:t> </a:t>
            </a:r>
            <a:r>
              <a:rPr dirty="0" smtClean="0" sz="650" spc="9">
                <a:latin typeface="Comic Sans MS"/>
                <a:cs typeface="Comic Sans MS"/>
              </a:rPr>
              <a:t>Window</a:t>
            </a:r>
            <a:r>
              <a:rPr dirty="0" smtClean="0" sz="650" spc="0">
                <a:latin typeface="Comic Sans MS"/>
                <a:cs typeface="Comic Sans MS"/>
              </a:rPr>
              <a:t>s</a:t>
            </a:r>
            <a:r>
              <a:rPr dirty="0" smtClean="0" sz="650" spc="160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–</a:t>
            </a:r>
            <a:r>
              <a:rPr dirty="0" smtClean="0" sz="650" spc="43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what</a:t>
            </a:r>
            <a:r>
              <a:rPr dirty="0" smtClean="0" sz="650" spc="73">
                <a:latin typeface="Comic Sans MS"/>
                <a:cs typeface="Comic Sans MS"/>
              </a:rPr>
              <a:t> </a:t>
            </a:r>
            <a:r>
              <a:rPr dirty="0" smtClean="0" sz="650" spc="0">
                <a:latin typeface="Comic Sans MS"/>
                <a:cs typeface="Comic Sans MS"/>
              </a:rPr>
              <a:t>happens?</a:t>
            </a:r>
            <a:endParaRPr sz="650">
              <a:latin typeface="Comic Sans MS"/>
              <a:cs typeface="Comic Sans MS"/>
            </a:endParaRPr>
          </a:p>
          <a:p>
            <a:pPr marR="104775" algn="r">
              <a:lnSpc>
                <a:spcPct val="100000"/>
              </a:lnSpc>
              <a:spcBef>
                <a:spcPts val="3873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4</a:t>
            </a:r>
            <a:r>
              <a:rPr dirty="0" smtClean="0" sz="350" spc="0">
                <a:latin typeface="Times New Roman"/>
                <a:cs typeface="Times New Roman"/>
              </a:rPr>
              <a:t>4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3400" y="904875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0975">
              <a:lnSpc>
                <a:spcPct val="116129"/>
              </a:lnSpc>
              <a:spcBef>
                <a:spcPts val="250"/>
              </a:spcBef>
            </a:pP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Prevention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vs</a:t>
            </a:r>
            <a:r>
              <a:rPr dirty="0" smtClean="0" sz="1200" spc="-59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Avoidance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vs</a:t>
            </a:r>
            <a:endParaRPr sz="1200">
              <a:latin typeface="Comic Sans MS"/>
              <a:cs typeface="Comic Sans MS"/>
            </a:endParaRPr>
          </a:p>
          <a:p>
            <a:pPr marL="180975">
              <a:lnSpc>
                <a:spcPts val="1425"/>
              </a:lnSpc>
              <a:spcBef>
                <a:spcPts val="71"/>
              </a:spcBef>
            </a:pPr>
            <a:r>
              <a:rPr dirty="0" smtClean="0" baseline="1993" sz="1800" spc="-19" u="sng">
                <a:solidFill>
                  <a:srgbClr val="3333CC"/>
                </a:solidFill>
                <a:latin typeface="Comic Sans MS"/>
                <a:cs typeface="Comic Sans MS"/>
              </a:rPr>
              <a:t>Detection</a:t>
            </a:r>
            <a:endParaRPr sz="120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358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Spectru</a:t>
            </a:r>
            <a:r>
              <a:rPr dirty="0" smtClean="0" sz="650" spc="0">
                <a:latin typeface="Comic Sans MS"/>
                <a:cs typeface="Comic Sans MS"/>
              </a:rPr>
              <a:t>m</a:t>
            </a:r>
            <a:r>
              <a:rPr dirty="0" smtClean="0" sz="650" spc="143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o</a:t>
            </a:r>
            <a:r>
              <a:rPr dirty="0" smtClean="0" sz="650" spc="0">
                <a:latin typeface="Comic Sans MS"/>
                <a:cs typeface="Comic Sans MS"/>
              </a:rPr>
              <a:t>f</a:t>
            </a:r>
            <a:r>
              <a:rPr dirty="0" smtClean="0" sz="650" spc="75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lo</a:t>
            </a:r>
            <a:r>
              <a:rPr dirty="0" smtClean="0" sz="650" spc="0">
                <a:latin typeface="Comic Sans MS"/>
                <a:cs typeface="Comic Sans MS"/>
              </a:rPr>
              <a:t>w</a:t>
            </a:r>
            <a:r>
              <a:rPr dirty="0" smtClean="0" sz="650" spc="83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resourc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34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utilization</a:t>
            </a:r>
            <a:endParaRPr sz="650">
              <a:latin typeface="Comic Sans MS"/>
              <a:cs typeface="Comic Sans MS"/>
            </a:endParaRPr>
          </a:p>
          <a:p>
            <a:pPr marL="314325">
              <a:lnSpc>
                <a:spcPts val="810"/>
              </a:lnSpc>
              <a:spcBef>
                <a:spcPts val="40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Preventio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give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u</a:t>
            </a:r>
            <a:r>
              <a:rPr dirty="0" smtClean="0" sz="600" spc="0">
                <a:latin typeface="Comic Sans MS"/>
                <a:cs typeface="Comic Sans MS"/>
              </a:rPr>
              <a:t>p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mos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chance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</a:t>
            </a:r>
            <a:r>
              <a:rPr dirty="0" smtClean="0" sz="600" spc="0">
                <a:latin typeface="Comic Sans MS"/>
                <a:cs typeface="Comic Sans MS"/>
              </a:rPr>
              <a:t>o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allocat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resources</a:t>
            </a:r>
            <a:endParaRPr sz="600">
              <a:latin typeface="Comic Sans MS"/>
              <a:cs typeface="Comic Sans MS"/>
            </a:endParaRPr>
          </a:p>
          <a:p>
            <a:pPr marL="400050" marR="403169" indent="-85725">
              <a:lnSpc>
                <a:spcPts val="680"/>
              </a:lnSpc>
              <a:spcBef>
                <a:spcPts val="173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Detectio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alway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grant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resourc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i</a:t>
            </a:r>
            <a:r>
              <a:rPr dirty="0" smtClean="0" sz="600" spc="0">
                <a:latin typeface="Comic Sans MS"/>
                <a:cs typeface="Comic Sans MS"/>
              </a:rPr>
              <a:t>f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the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ar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available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r>
              <a:rPr dirty="0" smtClean="0" sz="600" spc="-9">
                <a:latin typeface="Comic Sans MS"/>
                <a:cs typeface="Comic Sans MS"/>
              </a:rPr>
              <a:t>whe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9">
                <a:latin typeface="Comic Sans MS"/>
                <a:cs typeface="Comic Sans MS"/>
              </a:rPr>
              <a:t>requested</a:t>
            </a:r>
            <a:endParaRPr sz="60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161"/>
              </a:spcBef>
            </a:pPr>
            <a:r>
              <a:rPr dirty="0" smtClean="0" sz="60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00" spc="9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Als</a:t>
            </a:r>
            <a:r>
              <a:rPr dirty="0" smtClean="0" sz="650" spc="0">
                <a:latin typeface="Comic Sans MS"/>
                <a:cs typeface="Comic Sans MS"/>
              </a:rPr>
              <a:t>o</a:t>
            </a:r>
            <a:r>
              <a:rPr dirty="0" smtClean="0" sz="650" spc="107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spectru</a:t>
            </a:r>
            <a:r>
              <a:rPr dirty="0" smtClean="0" sz="650" spc="0">
                <a:latin typeface="Comic Sans MS"/>
                <a:cs typeface="Comic Sans MS"/>
              </a:rPr>
              <a:t>m</a:t>
            </a:r>
            <a:r>
              <a:rPr dirty="0" smtClean="0" sz="650" spc="139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o</a:t>
            </a:r>
            <a:r>
              <a:rPr dirty="0" smtClean="0" sz="650" spc="0">
                <a:latin typeface="Comic Sans MS"/>
                <a:cs typeface="Comic Sans MS"/>
              </a:rPr>
              <a:t>f</a:t>
            </a:r>
            <a:r>
              <a:rPr dirty="0" smtClean="0" sz="650" spc="75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runtim</a:t>
            </a:r>
            <a:r>
              <a:rPr dirty="0" smtClean="0" sz="650" spc="0">
                <a:latin typeface="Comic Sans MS"/>
                <a:cs typeface="Comic Sans MS"/>
              </a:rPr>
              <a:t>e</a:t>
            </a:r>
            <a:r>
              <a:rPr dirty="0" smtClean="0" sz="650" spc="125">
                <a:latin typeface="Comic Sans MS"/>
                <a:cs typeface="Comic Sans MS"/>
              </a:rPr>
              <a:t> </a:t>
            </a:r>
            <a:r>
              <a:rPr dirty="0" smtClean="0" sz="650" spc="4">
                <a:latin typeface="Comic Sans MS"/>
                <a:cs typeface="Comic Sans MS"/>
              </a:rPr>
              <a:t>"overhead"</a:t>
            </a:r>
            <a:endParaRPr sz="650">
              <a:latin typeface="Comic Sans MS"/>
              <a:cs typeface="Comic Sans MS"/>
            </a:endParaRPr>
          </a:p>
          <a:p>
            <a:pPr marL="400050" marR="384105" indent="-85725">
              <a:lnSpc>
                <a:spcPts val="680"/>
              </a:lnSpc>
              <a:spcBef>
                <a:spcPts val="124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Preventio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ha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ver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littl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overhead</a:t>
            </a:r>
            <a:r>
              <a:rPr dirty="0" smtClean="0" sz="600" spc="0">
                <a:latin typeface="Comic Sans MS"/>
                <a:cs typeface="Comic Sans MS"/>
              </a:rPr>
              <a:t>;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programme</a:t>
            </a:r>
            <a:r>
              <a:rPr dirty="0" smtClean="0" sz="600" spc="0">
                <a:latin typeface="Comic Sans MS"/>
                <a:cs typeface="Comic Sans MS"/>
              </a:rPr>
              <a:t>r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obeys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rule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an</a:t>
            </a:r>
            <a:r>
              <a:rPr dirty="0" smtClean="0" sz="600" spc="0">
                <a:latin typeface="Comic Sans MS"/>
                <a:cs typeface="Comic Sans MS"/>
              </a:rPr>
              <a:t>d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runtim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syste</a:t>
            </a:r>
            <a:r>
              <a:rPr dirty="0" smtClean="0" sz="600" spc="0">
                <a:latin typeface="Comic Sans MS"/>
                <a:cs typeface="Comic Sans MS"/>
              </a:rPr>
              <a:t>m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doe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little</a:t>
            </a:r>
            <a:endParaRPr sz="600">
              <a:latin typeface="Comic Sans MS"/>
              <a:cs typeface="Comic Sans MS"/>
            </a:endParaRPr>
          </a:p>
          <a:p>
            <a:pPr marL="400050" marR="290057" indent="-85725">
              <a:lnSpc>
                <a:spcPts val="750"/>
              </a:lnSpc>
              <a:spcBef>
                <a:spcPts val="88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Avoidanc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use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banker'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9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algorith</a:t>
            </a:r>
            <a:r>
              <a:rPr dirty="0" smtClean="0" sz="600" spc="0">
                <a:latin typeface="Comic Sans MS"/>
                <a:cs typeface="Comic Sans MS"/>
              </a:rPr>
              <a:t>m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(kee</a:t>
            </a:r>
            <a:r>
              <a:rPr dirty="0" smtClean="0" sz="600" spc="0">
                <a:latin typeface="Comic Sans MS"/>
                <a:cs typeface="Comic Sans MS"/>
              </a:rPr>
              <a:t>p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ma</a:t>
            </a:r>
            <a:r>
              <a:rPr dirty="0" smtClean="0" sz="600" spc="0">
                <a:latin typeface="Comic Sans MS"/>
                <a:cs typeface="Comic Sans MS"/>
              </a:rPr>
              <a:t>x</a:t>
            </a:r>
            <a:r>
              <a:rPr dirty="0" smtClean="0" sz="600" spc="-25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reques</a:t>
            </a:r>
            <a:r>
              <a:rPr dirty="0" smtClean="0" sz="600" spc="0">
                <a:latin typeface="Comic Sans MS"/>
                <a:cs typeface="Comic Sans MS"/>
              </a:rPr>
              <a:t>t</a:t>
            </a:r>
            <a:r>
              <a:rPr dirty="0" smtClean="0" sz="600" spc="-2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for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eac</a:t>
            </a:r>
            <a:r>
              <a:rPr dirty="0" smtClean="0" sz="600" spc="0">
                <a:latin typeface="Comic Sans MS"/>
                <a:cs typeface="Comic Sans MS"/>
              </a:rPr>
              <a:t>h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proces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an</a:t>
            </a:r>
            <a:r>
              <a:rPr dirty="0" smtClean="0" sz="600" spc="0">
                <a:latin typeface="Comic Sans MS"/>
                <a:cs typeface="Comic Sans MS"/>
              </a:rPr>
              <a:t>d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the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loo</a:t>
            </a:r>
            <a:r>
              <a:rPr dirty="0" smtClean="0" sz="600" spc="0">
                <a:latin typeface="Comic Sans MS"/>
                <a:cs typeface="Comic Sans MS"/>
              </a:rPr>
              <a:t>k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befor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leap)</a:t>
            </a:r>
            <a:endParaRPr sz="600">
              <a:latin typeface="Comic Sans MS"/>
              <a:cs typeface="Comic Sans MS"/>
            </a:endParaRPr>
          </a:p>
          <a:p>
            <a:pPr marL="400050" marR="412696" indent="-85725">
              <a:lnSpc>
                <a:spcPts val="750"/>
              </a:lnSpc>
              <a:spcBef>
                <a:spcPts val="75"/>
              </a:spcBef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Detectio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algorith</a:t>
            </a:r>
            <a:r>
              <a:rPr dirty="0" smtClean="0" sz="600" spc="0">
                <a:latin typeface="Comic Sans MS"/>
                <a:cs typeface="Comic Sans MS"/>
              </a:rPr>
              <a:t>m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basicall</a:t>
            </a:r>
            <a:r>
              <a:rPr dirty="0" smtClean="0" sz="600" spc="0">
                <a:latin typeface="Comic Sans MS"/>
                <a:cs typeface="Comic Sans MS"/>
              </a:rPr>
              <a:t>y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involve</a:t>
            </a:r>
            <a:r>
              <a:rPr dirty="0" smtClean="0" sz="600" spc="0">
                <a:latin typeface="Comic Sans MS"/>
                <a:cs typeface="Comic Sans MS"/>
              </a:rPr>
              <a:t>s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buildin</a:t>
            </a:r>
            <a:r>
              <a:rPr dirty="0" smtClean="0" sz="600" spc="0">
                <a:latin typeface="Comic Sans MS"/>
                <a:cs typeface="Comic Sans MS"/>
              </a:rPr>
              <a:t>g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th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full</a:t>
            </a:r>
            <a:r>
              <a:rPr dirty="0" smtClean="0" sz="600" spc="-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resourc</a:t>
            </a:r>
            <a:r>
              <a:rPr dirty="0" smtClean="0" sz="600" spc="0">
                <a:latin typeface="Comic Sans MS"/>
                <a:cs typeface="Comic Sans MS"/>
              </a:rPr>
              <a:t>e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allocatio</a:t>
            </a:r>
            <a:r>
              <a:rPr dirty="0" smtClean="0" sz="600" spc="0">
                <a:latin typeface="Comic Sans MS"/>
                <a:cs typeface="Comic Sans MS"/>
              </a:rPr>
              <a:t>n</a:t>
            </a:r>
            <a:r>
              <a:rPr dirty="0" smtClean="0" sz="600" spc="-34">
                <a:latin typeface="Comic Sans MS"/>
                <a:cs typeface="Comic Sans MS"/>
              </a:rPr>
              <a:t> </a:t>
            </a:r>
            <a:r>
              <a:rPr dirty="0" smtClean="0" sz="600" spc="-4">
                <a:latin typeface="Comic Sans MS"/>
                <a:cs typeface="Comic Sans MS"/>
              </a:rPr>
              <a:t>graph</a:t>
            </a:r>
            <a:endParaRPr sz="600">
              <a:latin typeface="Comic Sans MS"/>
              <a:cs typeface="Comic Sans MS"/>
            </a:endParaRPr>
          </a:p>
          <a:p>
            <a:pPr marL="314325">
              <a:lnSpc>
                <a:spcPts val="836"/>
              </a:lnSpc>
            </a:pPr>
            <a:r>
              <a:rPr dirty="0" smtClean="0" sz="450" spc="0">
                <a:solidFill>
                  <a:srgbClr val="3333CC"/>
                </a:solidFill>
                <a:latin typeface="Wingdings"/>
                <a:cs typeface="Wingdings"/>
              </a:rPr>
              <a:t></a:t>
            </a:r>
            <a:r>
              <a:rPr dirty="0" smtClean="0" sz="4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450" spc="6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Avoidance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and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detection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algorithms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both</a:t>
            </a:r>
            <a:r>
              <a:rPr dirty="0" smtClean="0" sz="600" spc="-29">
                <a:latin typeface="Comic Sans MS"/>
                <a:cs typeface="Comic Sans MS"/>
              </a:rPr>
              <a:t> </a:t>
            </a:r>
            <a:r>
              <a:rPr dirty="0" smtClean="0" sz="600" spc="0">
                <a:latin typeface="Comic Sans MS"/>
                <a:cs typeface="Comic Sans MS"/>
              </a:rPr>
              <a:t>O(R*</a:t>
            </a:r>
            <a:r>
              <a:rPr dirty="0" smtClean="0" sz="600" spc="-75">
                <a:latin typeface="Comic Sans MS"/>
                <a:cs typeface="Comic Sans MS"/>
              </a:rPr>
              <a:t>P</a:t>
            </a:r>
            <a:r>
              <a:rPr dirty="0" smtClean="0" baseline="20502" sz="525" spc="-4">
                <a:latin typeface="Comic Sans MS"/>
                <a:cs typeface="Comic Sans MS"/>
              </a:rPr>
              <a:t>2</a:t>
            </a:r>
            <a:r>
              <a:rPr dirty="0" smtClean="0" sz="600" spc="0">
                <a:latin typeface="Comic Sans MS"/>
                <a:cs typeface="Comic Sans MS"/>
              </a:rPr>
              <a:t>)</a:t>
            </a:r>
            <a:endParaRPr sz="600">
              <a:latin typeface="Comic Sans MS"/>
              <a:cs typeface="Comic Sans MS"/>
            </a:endParaRPr>
          </a:p>
          <a:p>
            <a:pPr marR="114300" algn="r">
              <a:lnSpc>
                <a:spcPct val="100000"/>
              </a:lnSpc>
              <a:spcBef>
                <a:spcPts val="1448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4</a:t>
            </a:r>
            <a:r>
              <a:rPr dirty="0" smtClean="0" sz="350" spc="0">
                <a:latin typeface="Times New Roman"/>
                <a:cs typeface="Times New Roman"/>
              </a:rPr>
              <a:t>3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 34"/>
          <p:cNvSpPr/>
          <p:nvPr/>
        </p:nvSpPr>
        <p:spPr>
          <a:xfrm>
            <a:off x="2028825" y="12096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533400" y="904875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5124450" y="12096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3629025" y="904875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2962275" y="3781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2724150" y="39624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533400" y="3562350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6057900" y="3781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5819775" y="39624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3629025" y="3562350"/>
            <a:ext cx="2676525" cy="2009775"/>
          </a:xfrm>
          <a:custGeom>
            <a:avLst/>
            <a:gdLst/>
            <a:ahLst/>
            <a:cxnLst/>
            <a:rect l="l" t="t" r="r" b="b"/>
            <a:pathLst>
              <a:path w="2676525" h="2009775">
                <a:moveTo>
                  <a:pt x="0" y="2009775"/>
                </a:moveTo>
                <a:lnTo>
                  <a:pt x="2676525" y="2009775"/>
                </a:lnTo>
                <a:lnTo>
                  <a:pt x="2676525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2800350" y="64389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1314450" y="66198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9525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533400" y="6219825"/>
            <a:ext cx="2686050" cy="2009775"/>
          </a:xfrm>
          <a:custGeom>
            <a:avLst/>
            <a:gdLst/>
            <a:ahLst/>
            <a:cxnLst/>
            <a:rect l="l" t="t" r="r" b="b"/>
            <a:pathLst>
              <a:path w="2686050" h="2009775">
                <a:moveTo>
                  <a:pt x="0" y="2009775"/>
                </a:moveTo>
                <a:lnTo>
                  <a:pt x="2686050" y="2009775"/>
                </a:lnTo>
                <a:lnTo>
                  <a:pt x="2686050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330700" y="1548024"/>
            <a:ext cx="330200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70"/>
              </a:spcBef>
            </a:pPr>
            <a:r>
              <a:rPr dirty="0" smtClean="0" sz="500" spc="-14">
                <a:latin typeface="Courier New"/>
                <a:cs typeface="Courier New"/>
              </a:rPr>
              <a:t>think();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30700" y="1728999"/>
            <a:ext cx="254000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70"/>
              </a:spcBef>
            </a:pPr>
            <a:r>
              <a:rPr dirty="0" smtClean="0" sz="500" spc="-14">
                <a:latin typeface="Courier New"/>
                <a:cs typeface="Courier New"/>
              </a:rPr>
              <a:t>eat();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49725" y="1919499"/>
            <a:ext cx="65404" cy="920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70"/>
              </a:spcBef>
            </a:pPr>
            <a:r>
              <a:rPr dirty="0" smtClean="0" sz="500" spc="0"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45100" y="4076624"/>
            <a:ext cx="625475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mtClean="0" sz="350" spc="14">
                <a:latin typeface="Courier New"/>
                <a:cs typeface="Courier New"/>
              </a:rPr>
              <a:t>wait(</a:t>
            </a:r>
            <a:r>
              <a:rPr dirty="0" smtClean="0" sz="350" spc="19">
                <a:latin typeface="Courier New"/>
                <a:cs typeface="Courier New"/>
              </a:rPr>
              <a:t>writePending</a:t>
            </a:r>
            <a:r>
              <a:rPr dirty="0" smtClean="0" sz="350" spc="75">
                <a:latin typeface="Courier New"/>
                <a:cs typeface="Courier New"/>
              </a:rPr>
              <a:t>)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-134">
                <a:latin typeface="Courier New"/>
                <a:cs typeface="Courier New"/>
              </a:rPr>
              <a:t> 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97325" y="4086149"/>
            <a:ext cx="425453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14">
                <a:latin typeface="Courier New"/>
                <a:cs typeface="Courier New"/>
              </a:rPr>
              <a:t>wait(mutex2);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45100" y="4286174"/>
            <a:ext cx="425450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14">
                <a:latin typeface="Courier New"/>
                <a:cs typeface="Courier New"/>
              </a:rPr>
              <a:t>numReader</a:t>
            </a:r>
            <a:r>
              <a:rPr dirty="0" smtClean="0" sz="350" spc="0">
                <a:latin typeface="Courier New"/>
                <a:cs typeface="Courier New"/>
              </a:rPr>
              <a:t>s</a:t>
            </a:r>
            <a:r>
              <a:rPr dirty="0" smtClean="0" sz="350" spc="27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++;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30675" y="4295699"/>
            <a:ext cx="615950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14">
                <a:latin typeface="Courier New"/>
                <a:cs typeface="Courier New"/>
              </a:rPr>
              <a:t>wait</a:t>
            </a:r>
            <a:r>
              <a:rPr dirty="0" smtClean="0" sz="350" spc="0">
                <a:latin typeface="Courier New"/>
                <a:cs typeface="Courier New"/>
              </a:rPr>
              <a:t>(</a:t>
            </a:r>
            <a:r>
              <a:rPr dirty="0" smtClean="0" sz="350" spc="-46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readersBloc</a:t>
            </a:r>
            <a:r>
              <a:rPr dirty="0" smtClean="0" sz="350" spc="0">
                <a:latin typeface="Courier New"/>
                <a:cs typeface="Courier New"/>
              </a:rPr>
              <a:t>k</a:t>
            </a:r>
            <a:r>
              <a:rPr dirty="0" smtClean="0" sz="350" spc="51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);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45100" y="4562399"/>
            <a:ext cx="501650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25">
                <a:latin typeface="Courier New"/>
                <a:cs typeface="Courier New"/>
              </a:rPr>
              <a:t>signal(mutex1);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97325" y="4571924"/>
            <a:ext cx="625475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mtClean="0" sz="350" spc="14">
                <a:latin typeface="Courier New"/>
                <a:cs typeface="Courier New"/>
              </a:rPr>
              <a:t>wait(</a:t>
            </a:r>
            <a:r>
              <a:rPr dirty="0" smtClean="0" sz="350" spc="19">
                <a:latin typeface="Courier New"/>
                <a:cs typeface="Courier New"/>
              </a:rPr>
              <a:t>writersBlock</a:t>
            </a:r>
            <a:r>
              <a:rPr dirty="0" smtClean="0" sz="350" spc="75">
                <a:latin typeface="Courier New"/>
                <a:cs typeface="Courier New"/>
              </a:rPr>
              <a:t>)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-134">
                <a:latin typeface="Courier New"/>
                <a:cs typeface="Courier New"/>
              </a:rPr>
              <a:t> 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45100" y="4771949"/>
            <a:ext cx="673100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29">
                <a:latin typeface="Courier New"/>
                <a:cs typeface="Courier New"/>
              </a:rPr>
              <a:t>signal</a:t>
            </a:r>
            <a:r>
              <a:rPr dirty="0" smtClean="0" sz="350" spc="-44">
                <a:latin typeface="Courier New"/>
                <a:cs typeface="Courier New"/>
              </a:rPr>
              <a:t>(</a:t>
            </a:r>
            <a:r>
              <a:rPr dirty="0" smtClean="0" sz="350" spc="25">
                <a:latin typeface="Courier New"/>
                <a:cs typeface="Courier New"/>
              </a:rPr>
              <a:t>writePendin</a:t>
            </a:r>
            <a:r>
              <a:rPr dirty="0" smtClean="0" sz="350" spc="-50">
                <a:latin typeface="Courier New"/>
                <a:cs typeface="Courier New"/>
              </a:rPr>
              <a:t>g</a:t>
            </a:r>
            <a:r>
              <a:rPr dirty="0" smtClean="0" sz="350" spc="0">
                <a:latin typeface="Courier New"/>
                <a:cs typeface="Courier New"/>
              </a:rPr>
              <a:t>);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44950" y="5048174"/>
            <a:ext cx="682625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mtClean="0" sz="350" spc="9">
                <a:latin typeface="Courier New"/>
                <a:cs typeface="Courier New"/>
              </a:rPr>
              <a:t>signal(</a:t>
            </a:r>
            <a:r>
              <a:rPr dirty="0" smtClean="0" sz="350" spc="19">
                <a:latin typeface="Courier New"/>
                <a:cs typeface="Courier New"/>
              </a:rPr>
              <a:t>readersBlock</a:t>
            </a:r>
            <a:r>
              <a:rPr dirty="0" smtClean="0" sz="350" spc="75">
                <a:latin typeface="Courier New"/>
                <a:cs typeface="Courier New"/>
              </a:rPr>
              <a:t>)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-134">
                <a:latin typeface="Courier New"/>
                <a:cs typeface="Courier New"/>
              </a:rPr>
              <a:t> 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45100" y="5048174"/>
            <a:ext cx="454028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14">
                <a:latin typeface="Courier New"/>
                <a:cs typeface="Courier New"/>
              </a:rPr>
              <a:t>wai</a:t>
            </a:r>
            <a:r>
              <a:rPr dirty="0" smtClean="0" sz="350" spc="0">
                <a:latin typeface="Courier New"/>
                <a:cs typeface="Courier New"/>
              </a:rPr>
              <a:t>t</a:t>
            </a:r>
            <a:r>
              <a:rPr dirty="0" smtClean="0" sz="350" spc="88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(mutex1);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92725" y="5248199"/>
            <a:ext cx="682625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mtClean="0" sz="350" spc="9">
                <a:latin typeface="Courier New"/>
                <a:cs typeface="Courier New"/>
              </a:rPr>
              <a:t>signal(</a:t>
            </a:r>
            <a:r>
              <a:rPr dirty="0" smtClean="0" sz="350" spc="19">
                <a:latin typeface="Courier New"/>
                <a:cs typeface="Courier New"/>
              </a:rPr>
              <a:t>writersBlock</a:t>
            </a:r>
            <a:r>
              <a:rPr dirty="0" smtClean="0" sz="350" spc="75">
                <a:latin typeface="Courier New"/>
                <a:cs typeface="Courier New"/>
              </a:rPr>
              <a:t>)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-134">
                <a:latin typeface="Courier New"/>
                <a:cs typeface="Courier New"/>
              </a:rPr>
              <a:t> 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11600" y="5257724"/>
            <a:ext cx="53975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45100" y="5391074"/>
            <a:ext cx="501650" cy="730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85"/>
              </a:spcBef>
            </a:pPr>
            <a:r>
              <a:rPr dirty="0" smtClean="0" sz="350" spc="25">
                <a:latin typeface="Courier New"/>
                <a:cs typeface="Courier New"/>
              </a:rPr>
              <a:t>signal(mutex1);</a:t>
            </a:r>
            <a:endParaRPr sz="3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73850" y="8934579"/>
            <a:ext cx="141224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00"/>
              </a:lnSpc>
              <a:spcBef>
                <a:spcPts val="70"/>
              </a:spcBef>
            </a:pPr>
            <a:r>
              <a:rPr dirty="0" smtClean="0" baseline="1993" sz="1800" spc="0">
                <a:latin typeface="Comic Sans MS"/>
                <a:cs typeface="Comic Sans MS"/>
              </a:rPr>
              <a:t>9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3400" y="6219825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0975">
              <a:lnSpc>
                <a:spcPct val="116129"/>
              </a:lnSpc>
              <a:spcBef>
                <a:spcPts val="250"/>
              </a:spcBef>
            </a:pP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Other</a:t>
            </a:r>
            <a:r>
              <a:rPr dirty="0" smtClean="0" sz="1200" spc="-9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Classic</a:t>
            </a:r>
            <a:r>
              <a:rPr dirty="0" smtClean="0" sz="1200" spc="-9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9" u="sng">
                <a:solidFill>
                  <a:srgbClr val="3333CC"/>
                </a:solidFill>
                <a:latin typeface="Comic Sans MS"/>
                <a:cs typeface="Comic Sans MS"/>
              </a:rPr>
              <a:t>Synchronization</a:t>
            </a:r>
            <a:endParaRPr sz="1200">
              <a:latin typeface="Comic Sans MS"/>
              <a:cs typeface="Comic Sans MS"/>
            </a:endParaRPr>
          </a:p>
          <a:p>
            <a:pPr marL="180975">
              <a:lnSpc>
                <a:spcPts val="1425"/>
              </a:lnSpc>
              <a:spcBef>
                <a:spcPts val="71"/>
              </a:spcBef>
            </a:pPr>
            <a:r>
              <a:rPr dirty="0" smtClean="0" baseline="1993" sz="1800" spc="-39" u="sng">
                <a:solidFill>
                  <a:srgbClr val="3333CC"/>
                </a:solidFill>
                <a:latin typeface="Comic Sans MS"/>
                <a:cs typeface="Comic Sans MS"/>
              </a:rPr>
              <a:t>Problems</a:t>
            </a:r>
            <a:endParaRPr sz="1200">
              <a:latin typeface="Comic Sans MS"/>
              <a:cs typeface="Comic Sans MS"/>
            </a:endParaRPr>
          </a:p>
          <a:p>
            <a:pPr marL="180975">
              <a:lnSpc>
                <a:spcPct val="116129"/>
              </a:lnSpc>
              <a:spcBef>
                <a:spcPts val="268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Sleepy</a:t>
            </a:r>
            <a:r>
              <a:rPr dirty="0" smtClean="0" sz="800" spc="59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Barber</a:t>
            </a:r>
            <a:endParaRPr sz="800">
              <a:latin typeface="Comic Sans MS"/>
              <a:cs typeface="Comic Sans MS"/>
            </a:endParaRPr>
          </a:p>
          <a:p>
            <a:pPr marL="285750" marR="342833" indent="-104775">
              <a:lnSpc>
                <a:spcPts val="980"/>
              </a:lnSpc>
              <a:spcBef>
                <a:spcPts val="229"/>
              </a:spcBef>
            </a:pPr>
            <a:r>
              <a:rPr dirty="0" smtClean="0" sz="650" spc="0">
                <a:solidFill>
                  <a:srgbClr val="3333CC"/>
                </a:solidFill>
                <a:latin typeface="Wingdings"/>
                <a:cs typeface="Wingdings"/>
              </a:rPr>
              <a:t></a:t>
            </a:r>
            <a:r>
              <a:rPr dirty="0" smtClean="0" sz="650" spc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Traffic</a:t>
            </a:r>
            <a:r>
              <a:rPr dirty="0" smtClean="0" sz="800" spc="88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lights</a:t>
            </a:r>
            <a:r>
              <a:rPr dirty="0" smtClean="0" sz="800" spc="67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for</a:t>
            </a:r>
            <a:r>
              <a:rPr dirty="0" smtClean="0" sz="800" spc="41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two</a:t>
            </a:r>
            <a:r>
              <a:rPr dirty="0" smtClean="0" sz="800" spc="45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lane</a:t>
            </a:r>
            <a:r>
              <a:rPr dirty="0" smtClean="0" sz="800" spc="49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road</a:t>
            </a:r>
            <a:r>
              <a:rPr dirty="0" smtClean="0" sz="800" spc="55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through</a:t>
            </a:r>
            <a:r>
              <a:rPr dirty="0" smtClean="0" sz="800" spc="9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a</a:t>
            </a:r>
            <a:r>
              <a:rPr dirty="0" smtClean="0" sz="800" spc="0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one</a:t>
            </a:r>
            <a:r>
              <a:rPr dirty="0" smtClean="0" sz="800" spc="2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lane</a:t>
            </a:r>
            <a:r>
              <a:rPr dirty="0" smtClean="0" sz="800" spc="29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tunnel</a:t>
            </a:r>
            <a:r>
              <a:rPr dirty="0" smtClean="0" sz="800" spc="5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(McNutt</a:t>
            </a:r>
            <a:r>
              <a:rPr dirty="0" smtClean="0" sz="800" spc="81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ch8</a:t>
            </a:r>
            <a:r>
              <a:rPr dirty="0" smtClean="0" sz="800" spc="25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+</a:t>
            </a:r>
            <a:r>
              <a:rPr dirty="0" smtClean="0" sz="800" spc="-3">
                <a:latin typeface="Comic Sans MS"/>
                <a:cs typeface="Comic Sans MS"/>
              </a:rPr>
              <a:t> </a:t>
            </a:r>
            <a:r>
              <a:rPr dirty="0" smtClean="0" sz="800" spc="0">
                <a:latin typeface="Comic Sans MS"/>
                <a:cs typeface="Comic Sans MS"/>
              </a:rPr>
              <a:t>9)</a:t>
            </a:r>
            <a:endParaRPr sz="800">
              <a:latin typeface="Comic Sans MS"/>
              <a:cs typeface="Comic Sans MS"/>
            </a:endParaRPr>
          </a:p>
          <a:p>
            <a:pPr marR="114300" algn="r">
              <a:lnSpc>
                <a:spcPct val="100000"/>
              </a:lnSpc>
              <a:spcBef>
                <a:spcPts val="8053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5</a:t>
            </a:r>
            <a:r>
              <a:rPr dirty="0" smtClean="0" sz="350" spc="0">
                <a:latin typeface="Times New Roman"/>
                <a:cs typeface="Times New Roman"/>
              </a:rPr>
              <a:t>3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29025" y="3562350"/>
            <a:ext cx="2676525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0975" marR="196739">
              <a:lnSpc>
                <a:spcPts val="1430"/>
              </a:lnSpc>
              <a:spcBef>
                <a:spcPts val="501"/>
              </a:spcBef>
            </a:pP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Semaphore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Solution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Readers/</a:t>
            </a:r>
            <a:r>
              <a:rPr dirty="0" smtClean="0" sz="1200" spc="-14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25" u="sng">
                <a:solidFill>
                  <a:srgbClr val="3333CC"/>
                </a:solidFill>
                <a:latin typeface="Comic Sans MS"/>
                <a:cs typeface="Comic Sans MS"/>
              </a:rPr>
              <a:t>Writers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25" u="sng">
                <a:solidFill>
                  <a:srgbClr val="3333CC"/>
                </a:solidFill>
                <a:latin typeface="Comic Sans MS"/>
                <a:cs typeface="Comic Sans MS"/>
              </a:rPr>
              <a:t>(Writer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25" u="sng">
                <a:solidFill>
                  <a:srgbClr val="3333CC"/>
                </a:solidFill>
                <a:latin typeface="Comic Sans MS"/>
                <a:cs typeface="Comic Sans MS"/>
              </a:rPr>
              <a:t>Preference)</a:t>
            </a:r>
            <a:endParaRPr sz="1200">
              <a:latin typeface="Comic Sans MS"/>
              <a:cs typeface="Comic Sans MS"/>
            </a:endParaRPr>
          </a:p>
          <a:p>
            <a:pPr marL="275052" marR="656049" algn="ctr">
              <a:lnSpc>
                <a:spcPts val="446"/>
              </a:lnSpc>
              <a:spcBef>
                <a:spcPts val="273"/>
              </a:spcBef>
            </a:pPr>
            <a:r>
              <a:rPr dirty="0" smtClean="0" sz="350" spc="9">
                <a:latin typeface="Courier New"/>
                <a:cs typeface="Courier New"/>
              </a:rPr>
              <a:t>voi</a:t>
            </a:r>
            <a:r>
              <a:rPr dirty="0" smtClean="0" sz="350" spc="0">
                <a:latin typeface="Courier New"/>
                <a:cs typeface="Courier New"/>
              </a:rPr>
              <a:t>d</a:t>
            </a:r>
            <a:r>
              <a:rPr dirty="0" smtClean="0" sz="350" spc="123">
                <a:latin typeface="Courier New"/>
                <a:cs typeface="Courier New"/>
              </a:rPr>
              <a:t> </a:t>
            </a:r>
            <a:r>
              <a:rPr dirty="0" smtClean="0" sz="350" spc="9">
                <a:latin typeface="Courier New"/>
                <a:cs typeface="Courier New"/>
              </a:rPr>
              <a:t>write</a:t>
            </a:r>
            <a:r>
              <a:rPr dirty="0" smtClean="0" sz="350" spc="0">
                <a:latin typeface="Courier New"/>
                <a:cs typeface="Courier New"/>
              </a:rPr>
              <a:t>r</a:t>
            </a:r>
            <a:r>
              <a:rPr dirty="0" smtClean="0" sz="350" spc="153">
                <a:latin typeface="Courier New"/>
                <a:cs typeface="Courier New"/>
              </a:rPr>
              <a:t> </a:t>
            </a:r>
            <a:r>
              <a:rPr dirty="0" smtClean="0" sz="350" spc="9">
                <a:latin typeface="Courier New"/>
                <a:cs typeface="Courier New"/>
              </a:rPr>
              <a:t>()</a:t>
            </a:r>
            <a:r>
              <a:rPr dirty="0" smtClean="0" sz="350" spc="0">
                <a:latin typeface="Courier New"/>
                <a:cs typeface="Courier New"/>
              </a:rPr>
              <a:t>{</a:t>
            </a:r>
            <a:r>
              <a:rPr dirty="0" smtClean="0" sz="350" spc="0">
                <a:latin typeface="Courier New"/>
                <a:cs typeface="Courier New"/>
              </a:rPr>
              <a:t>                            </a:t>
            </a:r>
            <a:r>
              <a:rPr dirty="0" smtClean="0" sz="350" spc="189">
                <a:latin typeface="Courier New"/>
                <a:cs typeface="Courier New"/>
              </a:rPr>
              <a:t> </a:t>
            </a:r>
            <a:r>
              <a:rPr dirty="0" smtClean="0" baseline="8407" sz="525" spc="9">
                <a:latin typeface="Courier New"/>
                <a:cs typeface="Courier New"/>
              </a:rPr>
              <a:t>voi</a:t>
            </a:r>
            <a:r>
              <a:rPr dirty="0" smtClean="0" baseline="8407" sz="525" spc="0">
                <a:latin typeface="Courier New"/>
                <a:cs typeface="Courier New"/>
              </a:rPr>
              <a:t>d</a:t>
            </a:r>
            <a:r>
              <a:rPr dirty="0" smtClean="0" baseline="8407" sz="525" spc="123">
                <a:latin typeface="Courier New"/>
                <a:cs typeface="Courier New"/>
              </a:rPr>
              <a:t> </a:t>
            </a:r>
            <a:r>
              <a:rPr dirty="0" smtClean="0" baseline="8407" sz="525" spc="9">
                <a:latin typeface="Courier New"/>
                <a:cs typeface="Courier New"/>
              </a:rPr>
              <a:t>reade</a:t>
            </a:r>
            <a:r>
              <a:rPr dirty="0" smtClean="0" baseline="8407" sz="525" spc="0">
                <a:latin typeface="Courier New"/>
                <a:cs typeface="Courier New"/>
              </a:rPr>
              <a:t>r</a:t>
            </a:r>
            <a:r>
              <a:rPr dirty="0" smtClean="0" baseline="8407" sz="525" spc="153">
                <a:latin typeface="Courier New"/>
                <a:cs typeface="Courier New"/>
              </a:rPr>
              <a:t> </a:t>
            </a:r>
            <a:r>
              <a:rPr dirty="0" smtClean="0" baseline="8407" sz="525" spc="9">
                <a:latin typeface="Courier New"/>
                <a:cs typeface="Courier New"/>
              </a:rPr>
              <a:t>(){</a:t>
            </a:r>
            <a:endParaRPr sz="350">
              <a:latin typeface="Courier New"/>
              <a:cs typeface="Courier New"/>
            </a:endParaRPr>
          </a:p>
          <a:p>
            <a:pPr marL="400050">
              <a:lnSpc>
                <a:spcPts val="446"/>
              </a:lnSpc>
              <a:spcBef>
                <a:spcPts val="603"/>
              </a:spcBef>
            </a:pPr>
            <a:r>
              <a:rPr dirty="0" smtClean="0" sz="350" spc="25">
                <a:latin typeface="Courier New"/>
                <a:cs typeface="Courier New"/>
              </a:rPr>
              <a:t>numWriter</a:t>
            </a:r>
            <a:r>
              <a:rPr dirty="0" smtClean="0" sz="350" spc="-54">
                <a:latin typeface="Courier New"/>
                <a:cs typeface="Courier New"/>
              </a:rPr>
              <a:t>s</a:t>
            </a:r>
            <a:r>
              <a:rPr dirty="0" smtClean="0" sz="350" spc="0">
                <a:latin typeface="Courier New"/>
                <a:cs typeface="Courier New"/>
              </a:rPr>
              <a:t>++;</a:t>
            </a:r>
            <a:r>
              <a:rPr dirty="0" smtClean="0" sz="350" spc="0">
                <a:latin typeface="Courier New"/>
                <a:cs typeface="Courier New"/>
              </a:rPr>
              <a:t>                               </a:t>
            </a:r>
            <a:r>
              <a:rPr dirty="0" smtClean="0" sz="350" spc="70">
                <a:latin typeface="Courier New"/>
                <a:cs typeface="Courier New"/>
              </a:rPr>
              <a:t> </a:t>
            </a:r>
            <a:r>
              <a:rPr dirty="0" smtClean="0" baseline="8407" sz="525" spc="14">
                <a:latin typeface="Courier New"/>
                <a:cs typeface="Courier New"/>
              </a:rPr>
              <a:t>wai</a:t>
            </a:r>
            <a:r>
              <a:rPr dirty="0" smtClean="0" baseline="8407" sz="525" spc="0">
                <a:latin typeface="Courier New"/>
                <a:cs typeface="Courier New"/>
              </a:rPr>
              <a:t>t</a:t>
            </a:r>
            <a:r>
              <a:rPr dirty="0" smtClean="0" baseline="8407" sz="525" spc="88">
                <a:latin typeface="Courier New"/>
                <a:cs typeface="Courier New"/>
              </a:rPr>
              <a:t> </a:t>
            </a:r>
            <a:r>
              <a:rPr dirty="0" smtClean="0" baseline="8407" sz="525" spc="0">
                <a:latin typeface="Courier New"/>
                <a:cs typeface="Courier New"/>
              </a:rPr>
              <a:t>(</a:t>
            </a:r>
            <a:r>
              <a:rPr dirty="0" smtClean="0" baseline="8407" sz="525" spc="-119">
                <a:latin typeface="Courier New"/>
                <a:cs typeface="Courier New"/>
              </a:rPr>
              <a:t> </a:t>
            </a:r>
            <a:r>
              <a:rPr dirty="0" smtClean="0" baseline="8407" sz="525" spc="14">
                <a:latin typeface="Courier New"/>
                <a:cs typeface="Courier New"/>
              </a:rPr>
              <a:t>readersBloc</a:t>
            </a:r>
            <a:r>
              <a:rPr dirty="0" smtClean="0" baseline="8407" sz="525" spc="0">
                <a:latin typeface="Courier New"/>
                <a:cs typeface="Courier New"/>
              </a:rPr>
              <a:t>k</a:t>
            </a:r>
            <a:r>
              <a:rPr dirty="0" smtClean="0" baseline="8407" sz="525" spc="51">
                <a:latin typeface="Courier New"/>
                <a:cs typeface="Courier New"/>
              </a:rPr>
              <a:t> </a:t>
            </a:r>
            <a:r>
              <a:rPr dirty="0" smtClean="0" baseline="8407" sz="525" spc="0">
                <a:latin typeface="Courier New"/>
                <a:cs typeface="Courier New"/>
              </a:rPr>
              <a:t>);</a:t>
            </a:r>
            <a:endParaRPr sz="350">
              <a:latin typeface="Courier New"/>
              <a:cs typeface="Courier New"/>
            </a:endParaRPr>
          </a:p>
          <a:p>
            <a:pPr marL="381000">
              <a:lnSpc>
                <a:spcPct val="94401"/>
              </a:lnSpc>
              <a:spcBef>
                <a:spcPts val="125"/>
              </a:spcBef>
            </a:pPr>
            <a:r>
              <a:rPr dirty="0" smtClean="0" sz="350" spc="25">
                <a:latin typeface="Courier New"/>
                <a:cs typeface="Courier New"/>
              </a:rPr>
              <a:t>i</a:t>
            </a:r>
            <a:r>
              <a:rPr dirty="0" smtClean="0" sz="350" spc="0">
                <a:latin typeface="Courier New"/>
                <a:cs typeface="Courier New"/>
              </a:rPr>
              <a:t>f</a:t>
            </a:r>
            <a:r>
              <a:rPr dirty="0" smtClean="0" sz="350" spc="69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(</a:t>
            </a:r>
            <a:r>
              <a:rPr dirty="0" smtClean="0" sz="350" spc="14">
                <a:latin typeface="Courier New"/>
                <a:cs typeface="Courier New"/>
              </a:rPr>
              <a:t>numWriter</a:t>
            </a:r>
            <a:r>
              <a:rPr dirty="0" smtClean="0" sz="350" spc="0">
                <a:latin typeface="Courier New"/>
                <a:cs typeface="Courier New"/>
              </a:rPr>
              <a:t>s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56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==1)</a:t>
            </a:r>
            <a:r>
              <a:rPr dirty="0" smtClean="0" sz="350" spc="0">
                <a:latin typeface="Courier New"/>
                <a:cs typeface="Courier New"/>
              </a:rPr>
              <a:t>{</a:t>
            </a:r>
            <a:r>
              <a:rPr dirty="0" smtClean="0" sz="350" spc="0">
                <a:latin typeface="Courier New"/>
                <a:cs typeface="Courier New"/>
              </a:rPr>
              <a:t>                      </a:t>
            </a:r>
            <a:r>
              <a:rPr dirty="0" smtClean="0" sz="350" spc="208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wai</a:t>
            </a:r>
            <a:r>
              <a:rPr dirty="0" smtClean="0" sz="350" spc="0">
                <a:latin typeface="Courier New"/>
                <a:cs typeface="Courier New"/>
              </a:rPr>
              <a:t>t</a:t>
            </a:r>
            <a:r>
              <a:rPr dirty="0" smtClean="0" sz="350" spc="88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(mutex1);</a:t>
            </a:r>
            <a:endParaRPr sz="350">
              <a:latin typeface="Courier New"/>
              <a:cs typeface="Courier New"/>
            </a:endParaRPr>
          </a:p>
          <a:p>
            <a:pPr marL="381000">
              <a:lnSpc>
                <a:spcPts val="446"/>
              </a:lnSpc>
              <a:spcBef>
                <a:spcPts val="678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r>
              <a:rPr dirty="0" smtClean="0" sz="350" spc="0">
                <a:latin typeface="Courier New"/>
                <a:cs typeface="Courier New"/>
              </a:rPr>
              <a:t>                                            </a:t>
            </a:r>
            <a:r>
              <a:rPr dirty="0" smtClean="0" sz="350" spc="164">
                <a:latin typeface="Courier New"/>
                <a:cs typeface="Courier New"/>
              </a:rPr>
              <a:t> </a:t>
            </a:r>
            <a:r>
              <a:rPr dirty="0" smtClean="0" baseline="8407" sz="525" spc="25">
                <a:latin typeface="Courier New"/>
                <a:cs typeface="Courier New"/>
              </a:rPr>
              <a:t>i</a:t>
            </a:r>
            <a:r>
              <a:rPr dirty="0" smtClean="0" baseline="8407" sz="525" spc="0">
                <a:latin typeface="Courier New"/>
                <a:cs typeface="Courier New"/>
              </a:rPr>
              <a:t>f</a:t>
            </a:r>
            <a:r>
              <a:rPr dirty="0" smtClean="0" baseline="8407" sz="525" spc="69">
                <a:latin typeface="Courier New"/>
                <a:cs typeface="Courier New"/>
              </a:rPr>
              <a:t> </a:t>
            </a:r>
            <a:r>
              <a:rPr dirty="0" smtClean="0" baseline="8407" sz="525" spc="25">
                <a:latin typeface="Courier New"/>
                <a:cs typeface="Courier New"/>
              </a:rPr>
              <a:t>(</a:t>
            </a:r>
            <a:r>
              <a:rPr dirty="0" smtClean="0" baseline="8407" sz="525" spc="14">
                <a:latin typeface="Courier New"/>
                <a:cs typeface="Courier New"/>
              </a:rPr>
              <a:t>numReader</a:t>
            </a:r>
            <a:r>
              <a:rPr dirty="0" smtClean="0" baseline="8407" sz="525" spc="0">
                <a:latin typeface="Courier New"/>
                <a:cs typeface="Courier New"/>
              </a:rPr>
              <a:t>s</a:t>
            </a:r>
            <a:r>
              <a:rPr dirty="0" smtClean="0" baseline="8407" sz="525" spc="0">
                <a:latin typeface="Courier New"/>
                <a:cs typeface="Courier New"/>
              </a:rPr>
              <a:t> </a:t>
            </a:r>
            <a:r>
              <a:rPr dirty="0" smtClean="0" baseline="8407" sz="525" spc="56">
                <a:latin typeface="Courier New"/>
                <a:cs typeface="Courier New"/>
              </a:rPr>
              <a:t> </a:t>
            </a:r>
            <a:r>
              <a:rPr dirty="0" smtClean="0" baseline="8407" sz="525" spc="0">
                <a:latin typeface="Courier New"/>
                <a:cs typeface="Courier New"/>
              </a:rPr>
              <a:t>==</a:t>
            </a:r>
            <a:r>
              <a:rPr dirty="0" smtClean="0" baseline="8407" sz="525" spc="119">
                <a:latin typeface="Courier New"/>
                <a:cs typeface="Courier New"/>
              </a:rPr>
              <a:t> </a:t>
            </a:r>
            <a:r>
              <a:rPr dirty="0" smtClean="0" baseline="8407" sz="525" spc="0">
                <a:latin typeface="Courier New"/>
                <a:cs typeface="Courier New"/>
              </a:rPr>
              <a:t>1){</a:t>
            </a:r>
            <a:endParaRPr sz="350">
              <a:latin typeface="Courier New"/>
              <a:cs typeface="Courier New"/>
            </a:endParaRPr>
          </a:p>
          <a:p>
            <a:pPr marL="381000">
              <a:lnSpc>
                <a:spcPts val="446"/>
              </a:lnSpc>
              <a:spcBef>
                <a:spcPts val="75"/>
              </a:spcBef>
            </a:pPr>
            <a:r>
              <a:rPr dirty="0" smtClean="0" sz="350" spc="25">
                <a:latin typeface="Courier New"/>
                <a:cs typeface="Courier New"/>
              </a:rPr>
              <a:t>signal(mutex2)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0">
                <a:latin typeface="Courier New"/>
                <a:cs typeface="Courier New"/>
              </a:rPr>
              <a:t>                               </a:t>
            </a:r>
            <a:r>
              <a:rPr dirty="0" smtClean="0" sz="350" spc="125">
                <a:latin typeface="Courier New"/>
                <a:cs typeface="Courier New"/>
              </a:rPr>
              <a:t> </a:t>
            </a:r>
            <a:r>
              <a:rPr dirty="0" smtClean="0" baseline="8407" sz="525" spc="29">
                <a:latin typeface="Courier New"/>
                <a:cs typeface="Courier New"/>
              </a:rPr>
              <a:t>wait</a:t>
            </a:r>
            <a:r>
              <a:rPr dirty="0" smtClean="0" baseline="8407" sz="525" spc="-44">
                <a:latin typeface="Courier New"/>
                <a:cs typeface="Courier New"/>
              </a:rPr>
              <a:t>(</a:t>
            </a:r>
            <a:r>
              <a:rPr dirty="0" smtClean="0" baseline="8407" sz="525" spc="25">
                <a:latin typeface="Courier New"/>
                <a:cs typeface="Courier New"/>
              </a:rPr>
              <a:t>writersBloc</a:t>
            </a:r>
            <a:r>
              <a:rPr dirty="0" smtClean="0" baseline="8407" sz="525" spc="-50">
                <a:latin typeface="Courier New"/>
                <a:cs typeface="Courier New"/>
              </a:rPr>
              <a:t>k</a:t>
            </a:r>
            <a:r>
              <a:rPr dirty="0" smtClean="0" baseline="8407" sz="525" spc="0">
                <a:latin typeface="Courier New"/>
                <a:cs typeface="Courier New"/>
              </a:rPr>
              <a:t>);</a:t>
            </a:r>
            <a:endParaRPr sz="350">
              <a:latin typeface="Courier New"/>
              <a:cs typeface="Courier New"/>
            </a:endParaRPr>
          </a:p>
          <a:p>
            <a:pPr marL="1609266" marR="999666" algn="ctr">
              <a:lnSpc>
                <a:spcPct val="94401"/>
              </a:lnSpc>
              <a:spcBef>
                <a:spcPts val="125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  <a:p>
            <a:pPr marL="381000">
              <a:lnSpc>
                <a:spcPct val="94401"/>
              </a:lnSpc>
              <a:spcBef>
                <a:spcPts val="728"/>
              </a:spcBef>
            </a:pPr>
            <a:r>
              <a:rPr dirty="0" smtClean="0" sz="350" spc="19">
                <a:latin typeface="Courier New"/>
                <a:cs typeface="Courier New"/>
              </a:rPr>
              <a:t>d</a:t>
            </a:r>
            <a:r>
              <a:rPr dirty="0" smtClean="0" sz="350" spc="0">
                <a:latin typeface="Courier New"/>
                <a:cs typeface="Courier New"/>
              </a:rPr>
              <a:t>o</a:t>
            </a:r>
            <a:r>
              <a:rPr dirty="0" smtClean="0" sz="350" spc="64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th</a:t>
            </a:r>
            <a:r>
              <a:rPr dirty="0" smtClean="0" sz="350" spc="0">
                <a:latin typeface="Courier New"/>
                <a:cs typeface="Courier New"/>
              </a:rPr>
              <a:t>e</a:t>
            </a:r>
            <a:r>
              <a:rPr dirty="0" smtClean="0" sz="350" spc="79">
                <a:latin typeface="Courier New"/>
                <a:cs typeface="Courier New"/>
              </a:rPr>
              <a:t> </a:t>
            </a:r>
            <a:r>
              <a:rPr dirty="0" smtClean="0" sz="350" spc="19">
                <a:latin typeface="Courier New"/>
                <a:cs typeface="Courier New"/>
              </a:rPr>
              <a:t>writing</a:t>
            </a:r>
            <a:endParaRPr sz="350">
              <a:latin typeface="Courier New"/>
              <a:cs typeface="Courier New"/>
            </a:endParaRPr>
          </a:p>
          <a:p>
            <a:pPr marL="381000">
              <a:lnSpc>
                <a:spcPts val="446"/>
              </a:lnSpc>
              <a:spcBef>
                <a:spcPts val="75"/>
              </a:spcBef>
            </a:pPr>
            <a:r>
              <a:rPr dirty="0" smtClean="0" sz="350" spc="31">
                <a:latin typeface="Courier New"/>
                <a:cs typeface="Courier New"/>
              </a:rPr>
              <a:t>signal</a:t>
            </a:r>
            <a:r>
              <a:rPr dirty="0" smtClean="0" sz="350" spc="-47">
                <a:latin typeface="Courier New"/>
                <a:cs typeface="Courier New"/>
              </a:rPr>
              <a:t>(</a:t>
            </a:r>
            <a:r>
              <a:rPr dirty="0" smtClean="0" sz="350" spc="26">
                <a:latin typeface="Courier New"/>
                <a:cs typeface="Courier New"/>
              </a:rPr>
              <a:t>writersBloc</a:t>
            </a:r>
            <a:r>
              <a:rPr dirty="0" smtClean="0" sz="350" spc="-52">
                <a:latin typeface="Courier New"/>
                <a:cs typeface="Courier New"/>
              </a:rPr>
              <a:t>k</a:t>
            </a:r>
            <a:r>
              <a:rPr dirty="0" smtClean="0" sz="350" spc="0">
                <a:latin typeface="Courier New"/>
                <a:cs typeface="Courier New"/>
              </a:rPr>
              <a:t>);</a:t>
            </a:r>
            <a:r>
              <a:rPr dirty="0" smtClean="0" sz="350" spc="0">
                <a:latin typeface="Courier New"/>
                <a:cs typeface="Courier New"/>
              </a:rPr>
              <a:t>                    </a:t>
            </a:r>
            <a:r>
              <a:rPr dirty="0" smtClean="0" sz="350" spc="72">
                <a:latin typeface="Courier New"/>
                <a:cs typeface="Courier New"/>
              </a:rPr>
              <a:t> </a:t>
            </a:r>
            <a:r>
              <a:rPr dirty="0" smtClean="0" baseline="8407" sz="525" spc="29">
                <a:latin typeface="Courier New"/>
                <a:cs typeface="Courier New"/>
              </a:rPr>
              <a:t>signal</a:t>
            </a:r>
            <a:r>
              <a:rPr dirty="0" smtClean="0" baseline="8407" sz="525" spc="-44">
                <a:latin typeface="Courier New"/>
                <a:cs typeface="Courier New"/>
              </a:rPr>
              <a:t>(</a:t>
            </a:r>
            <a:r>
              <a:rPr dirty="0" smtClean="0" baseline="8407" sz="525" spc="25">
                <a:latin typeface="Courier New"/>
                <a:cs typeface="Courier New"/>
              </a:rPr>
              <a:t>readersBloc</a:t>
            </a:r>
            <a:r>
              <a:rPr dirty="0" smtClean="0" baseline="8407" sz="525" spc="-50">
                <a:latin typeface="Courier New"/>
                <a:cs typeface="Courier New"/>
              </a:rPr>
              <a:t>k</a:t>
            </a:r>
            <a:r>
              <a:rPr dirty="0" smtClean="0" baseline="8407" sz="525" spc="0">
                <a:latin typeface="Courier New"/>
                <a:cs typeface="Courier New"/>
              </a:rPr>
              <a:t>);</a:t>
            </a:r>
            <a:endParaRPr sz="350">
              <a:latin typeface="Courier New"/>
              <a:cs typeface="Courier New"/>
            </a:endParaRPr>
          </a:p>
          <a:p>
            <a:pPr marL="381000">
              <a:lnSpc>
                <a:spcPct val="94401"/>
              </a:lnSpc>
              <a:spcBef>
                <a:spcPts val="728"/>
              </a:spcBef>
            </a:pPr>
            <a:r>
              <a:rPr dirty="0" smtClean="0" sz="350" spc="14">
                <a:latin typeface="Courier New"/>
                <a:cs typeface="Courier New"/>
              </a:rPr>
              <a:t>wai</a:t>
            </a:r>
            <a:r>
              <a:rPr dirty="0" smtClean="0" sz="350" spc="0">
                <a:latin typeface="Courier New"/>
                <a:cs typeface="Courier New"/>
              </a:rPr>
              <a:t>t</a:t>
            </a:r>
            <a:r>
              <a:rPr dirty="0" smtClean="0" sz="350" spc="88">
                <a:latin typeface="Courier New"/>
                <a:cs typeface="Courier New"/>
              </a:rPr>
              <a:t> </a:t>
            </a:r>
            <a:r>
              <a:rPr dirty="0" smtClean="0" sz="350" spc="14">
                <a:latin typeface="Courier New"/>
                <a:cs typeface="Courier New"/>
              </a:rPr>
              <a:t>(mutex2);</a:t>
            </a:r>
            <a:endParaRPr sz="350">
              <a:latin typeface="Courier New"/>
              <a:cs typeface="Courier New"/>
            </a:endParaRPr>
          </a:p>
          <a:p>
            <a:pPr marL="381000" marR="732944">
              <a:lnSpc>
                <a:spcPts val="446"/>
              </a:lnSpc>
              <a:spcBef>
                <a:spcPts val="75"/>
              </a:spcBef>
            </a:pPr>
            <a:r>
              <a:rPr dirty="0" smtClean="0" sz="350" spc="14">
                <a:latin typeface="Courier New"/>
                <a:cs typeface="Courier New"/>
              </a:rPr>
              <a:t>numWriter</a:t>
            </a:r>
            <a:r>
              <a:rPr dirty="0" smtClean="0" sz="350" spc="0">
                <a:latin typeface="Courier New"/>
                <a:cs typeface="Courier New"/>
              </a:rPr>
              <a:t>s</a:t>
            </a:r>
            <a:r>
              <a:rPr dirty="0" smtClean="0" sz="350" spc="27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--;</a:t>
            </a:r>
            <a:r>
              <a:rPr dirty="0" smtClean="0" sz="350" spc="0">
                <a:latin typeface="Courier New"/>
                <a:cs typeface="Courier New"/>
              </a:rPr>
              <a:t>                              </a:t>
            </a:r>
            <a:r>
              <a:rPr dirty="0" smtClean="0" sz="350" spc="209">
                <a:latin typeface="Courier New"/>
                <a:cs typeface="Courier New"/>
              </a:rPr>
              <a:t> </a:t>
            </a:r>
            <a:r>
              <a:rPr dirty="0" smtClean="0" baseline="8407" sz="525" spc="14">
                <a:latin typeface="Courier New"/>
                <a:cs typeface="Courier New"/>
              </a:rPr>
              <a:t>d</a:t>
            </a:r>
            <a:r>
              <a:rPr dirty="0" smtClean="0" baseline="8407" sz="525" spc="0">
                <a:latin typeface="Courier New"/>
                <a:cs typeface="Courier New"/>
              </a:rPr>
              <a:t>o</a:t>
            </a:r>
            <a:r>
              <a:rPr dirty="0" smtClean="0" baseline="8407" sz="525" spc="59">
                <a:latin typeface="Courier New"/>
                <a:cs typeface="Courier New"/>
              </a:rPr>
              <a:t> </a:t>
            </a:r>
            <a:r>
              <a:rPr dirty="0" smtClean="0" baseline="8407" sz="525" spc="14">
                <a:latin typeface="Courier New"/>
                <a:cs typeface="Courier New"/>
              </a:rPr>
              <a:t>reading</a:t>
            </a:r>
            <a:r>
              <a:rPr dirty="0" smtClean="0" baseline="8407" sz="525" spc="14">
                <a:latin typeface="Courier New"/>
                <a:cs typeface="Courier New"/>
              </a:rPr>
              <a:t> </a:t>
            </a:r>
            <a:endParaRPr sz="350">
              <a:latin typeface="Courier New"/>
              <a:cs typeface="Courier New"/>
            </a:endParaRPr>
          </a:p>
          <a:p>
            <a:pPr marL="381000" marR="732944">
              <a:lnSpc>
                <a:spcPts val="396"/>
              </a:lnSpc>
              <a:spcBef>
                <a:spcPts val="128"/>
              </a:spcBef>
            </a:pPr>
            <a:r>
              <a:rPr dirty="0" smtClean="0" sz="350" spc="25">
                <a:latin typeface="Courier New"/>
                <a:cs typeface="Courier New"/>
              </a:rPr>
              <a:t>i</a:t>
            </a:r>
            <a:r>
              <a:rPr dirty="0" smtClean="0" sz="350" spc="0">
                <a:latin typeface="Courier New"/>
                <a:cs typeface="Courier New"/>
              </a:rPr>
              <a:t>f</a:t>
            </a:r>
            <a:r>
              <a:rPr dirty="0" smtClean="0" sz="350" spc="69">
                <a:latin typeface="Courier New"/>
                <a:cs typeface="Courier New"/>
              </a:rPr>
              <a:t> </a:t>
            </a:r>
            <a:r>
              <a:rPr dirty="0" smtClean="0" sz="350" spc="25">
                <a:latin typeface="Courier New"/>
                <a:cs typeface="Courier New"/>
              </a:rPr>
              <a:t>(</a:t>
            </a:r>
            <a:r>
              <a:rPr dirty="0" smtClean="0" sz="350" spc="14">
                <a:latin typeface="Courier New"/>
                <a:cs typeface="Courier New"/>
              </a:rPr>
              <a:t>numWriter</a:t>
            </a:r>
            <a:r>
              <a:rPr dirty="0" smtClean="0" sz="350" spc="0">
                <a:latin typeface="Courier New"/>
                <a:cs typeface="Courier New"/>
              </a:rPr>
              <a:t>s</a:t>
            </a:r>
            <a:r>
              <a:rPr dirty="0" smtClean="0" sz="350" spc="0">
                <a:latin typeface="Courier New"/>
                <a:cs typeface="Courier New"/>
              </a:rPr>
              <a:t> </a:t>
            </a:r>
            <a:r>
              <a:rPr dirty="0" smtClean="0" sz="350" spc="56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==</a:t>
            </a:r>
            <a:r>
              <a:rPr dirty="0" smtClean="0" sz="350" spc="119">
                <a:latin typeface="Courier New"/>
                <a:cs typeface="Courier New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0){</a:t>
            </a:r>
            <a:endParaRPr sz="350">
              <a:latin typeface="Courier New"/>
              <a:cs typeface="Courier New"/>
            </a:endParaRPr>
          </a:p>
          <a:p>
            <a:pPr marL="381000">
              <a:lnSpc>
                <a:spcPts val="446"/>
              </a:lnSpc>
              <a:spcBef>
                <a:spcPts val="678"/>
              </a:spcBef>
            </a:pPr>
            <a:r>
              <a:rPr dirty="0" smtClean="0" sz="350" spc="0">
                <a:latin typeface="Courier New"/>
                <a:cs typeface="Courier New"/>
              </a:rPr>
              <a:t>}</a:t>
            </a:r>
            <a:r>
              <a:rPr dirty="0" smtClean="0" sz="350" spc="0">
                <a:latin typeface="Courier New"/>
                <a:cs typeface="Courier New"/>
              </a:rPr>
              <a:t>                                            </a:t>
            </a:r>
            <a:r>
              <a:rPr dirty="0" smtClean="0" sz="350" spc="164">
                <a:latin typeface="Courier New"/>
                <a:cs typeface="Courier New"/>
              </a:rPr>
              <a:t> </a:t>
            </a:r>
            <a:r>
              <a:rPr dirty="0" smtClean="0" baseline="8407" sz="525" spc="14">
                <a:latin typeface="Courier New"/>
                <a:cs typeface="Courier New"/>
              </a:rPr>
              <a:t>numReader</a:t>
            </a:r>
            <a:r>
              <a:rPr dirty="0" smtClean="0" baseline="8407" sz="525" spc="0">
                <a:latin typeface="Courier New"/>
                <a:cs typeface="Courier New"/>
              </a:rPr>
              <a:t>s</a:t>
            </a:r>
            <a:r>
              <a:rPr dirty="0" smtClean="0" baseline="8407" sz="525" spc="27">
                <a:latin typeface="Courier New"/>
                <a:cs typeface="Courier New"/>
              </a:rPr>
              <a:t> </a:t>
            </a:r>
            <a:r>
              <a:rPr dirty="0" smtClean="0" baseline="8407" sz="525" spc="0">
                <a:latin typeface="Courier New"/>
                <a:cs typeface="Courier New"/>
              </a:rPr>
              <a:t>--;</a:t>
            </a:r>
            <a:endParaRPr sz="350">
              <a:latin typeface="Courier New"/>
              <a:cs typeface="Courier New"/>
            </a:endParaRPr>
          </a:p>
          <a:p>
            <a:pPr marL="381000">
              <a:lnSpc>
                <a:spcPts val="446"/>
              </a:lnSpc>
              <a:spcBef>
                <a:spcPts val="75"/>
              </a:spcBef>
            </a:pPr>
            <a:r>
              <a:rPr dirty="0" smtClean="0" sz="350" spc="25">
                <a:latin typeface="Courier New"/>
                <a:cs typeface="Courier New"/>
              </a:rPr>
              <a:t>signal(mutex2)</a:t>
            </a:r>
            <a:r>
              <a:rPr dirty="0" smtClean="0" sz="350" spc="0">
                <a:latin typeface="Courier New"/>
                <a:cs typeface="Courier New"/>
              </a:rPr>
              <a:t>;</a:t>
            </a:r>
            <a:r>
              <a:rPr dirty="0" smtClean="0" sz="350" spc="0">
                <a:latin typeface="Courier New"/>
                <a:cs typeface="Courier New"/>
              </a:rPr>
              <a:t>                             </a:t>
            </a:r>
            <a:r>
              <a:rPr dirty="0" smtClean="0" sz="350" spc="20">
                <a:latin typeface="Courier New"/>
                <a:cs typeface="Courier New"/>
              </a:rPr>
              <a:t> </a:t>
            </a:r>
            <a:r>
              <a:rPr dirty="0" smtClean="0" baseline="8407" sz="525" spc="25">
                <a:latin typeface="Courier New"/>
                <a:cs typeface="Courier New"/>
              </a:rPr>
              <a:t>i</a:t>
            </a:r>
            <a:r>
              <a:rPr dirty="0" smtClean="0" baseline="8407" sz="525" spc="0">
                <a:latin typeface="Courier New"/>
                <a:cs typeface="Courier New"/>
              </a:rPr>
              <a:t>f</a:t>
            </a:r>
            <a:r>
              <a:rPr dirty="0" smtClean="0" baseline="8407" sz="525" spc="69">
                <a:latin typeface="Courier New"/>
                <a:cs typeface="Courier New"/>
              </a:rPr>
              <a:t> </a:t>
            </a:r>
            <a:r>
              <a:rPr dirty="0" smtClean="0" baseline="8407" sz="525" spc="25">
                <a:latin typeface="Courier New"/>
                <a:cs typeface="Courier New"/>
              </a:rPr>
              <a:t>(</a:t>
            </a:r>
            <a:r>
              <a:rPr dirty="0" smtClean="0" baseline="8407" sz="525" spc="14">
                <a:latin typeface="Courier New"/>
                <a:cs typeface="Courier New"/>
              </a:rPr>
              <a:t>numReader</a:t>
            </a:r>
            <a:r>
              <a:rPr dirty="0" smtClean="0" baseline="8407" sz="525" spc="0">
                <a:latin typeface="Courier New"/>
                <a:cs typeface="Courier New"/>
              </a:rPr>
              <a:t>s</a:t>
            </a:r>
            <a:r>
              <a:rPr dirty="0" smtClean="0" baseline="8407" sz="525" spc="0">
                <a:latin typeface="Courier New"/>
                <a:cs typeface="Courier New"/>
              </a:rPr>
              <a:t> </a:t>
            </a:r>
            <a:r>
              <a:rPr dirty="0" smtClean="0" baseline="8407" sz="525" spc="56">
                <a:latin typeface="Courier New"/>
                <a:cs typeface="Courier New"/>
              </a:rPr>
              <a:t> </a:t>
            </a:r>
            <a:r>
              <a:rPr dirty="0" smtClean="0" baseline="8407" sz="525" spc="14">
                <a:latin typeface="Courier New"/>
                <a:cs typeface="Courier New"/>
              </a:rPr>
              <a:t>==0){</a:t>
            </a:r>
            <a:endParaRPr sz="350">
              <a:latin typeface="Courier New"/>
              <a:cs typeface="Courier New"/>
            </a:endParaRPr>
          </a:p>
          <a:p>
            <a:pPr marL="28575">
              <a:lnSpc>
                <a:spcPts val="696"/>
              </a:lnSpc>
              <a:spcBef>
                <a:spcPts val="653"/>
              </a:spcBef>
            </a:pPr>
            <a:r>
              <a:rPr dirty="0" smtClean="0" sz="500" spc="0">
                <a:latin typeface="Comic Sans MS"/>
                <a:cs typeface="Comic Sans MS"/>
              </a:rPr>
              <a:t>First</a:t>
            </a:r>
            <a:r>
              <a:rPr dirty="0" smtClean="0" sz="500" spc="58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writer</a:t>
            </a:r>
            <a:r>
              <a:rPr dirty="0" smtClean="0" sz="500" spc="73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waits</a:t>
            </a:r>
            <a:r>
              <a:rPr dirty="0" smtClean="0" sz="500" spc="60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in</a:t>
            </a:r>
            <a:r>
              <a:rPr dirty="0" smtClean="0" sz="500" spc="20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line</a:t>
            </a:r>
            <a:r>
              <a:rPr dirty="0" smtClean="0" sz="500" spc="40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with</a:t>
            </a:r>
            <a:r>
              <a:rPr dirty="0" smtClean="0" sz="500" spc="50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the</a:t>
            </a:r>
            <a:r>
              <a:rPr dirty="0" smtClean="0" sz="500" spc="39">
                <a:latin typeface="Comic Sans MS"/>
                <a:cs typeface="Comic Sans MS"/>
              </a:rPr>
              <a:t> </a:t>
            </a:r>
            <a:r>
              <a:rPr dirty="0" smtClean="0" sz="500" spc="0">
                <a:latin typeface="Comic Sans MS"/>
                <a:cs typeface="Comic Sans MS"/>
              </a:rPr>
              <a:t>readers;</a:t>
            </a:r>
            <a:r>
              <a:rPr dirty="0" smtClean="0" sz="500" spc="0">
                <a:latin typeface="Comic Sans MS"/>
                <a:cs typeface="Comic Sans MS"/>
              </a:rPr>
              <a:t>               </a:t>
            </a:r>
            <a:r>
              <a:rPr dirty="0" smtClean="0" sz="500" spc="38">
                <a:latin typeface="Comic Sans MS"/>
                <a:cs typeface="Comic Sans MS"/>
              </a:rPr>
              <a:t> </a:t>
            </a:r>
            <a:r>
              <a:rPr dirty="0" smtClean="0" baseline="50443" sz="525" spc="0">
                <a:latin typeface="Courier New"/>
                <a:cs typeface="Courier New"/>
              </a:rPr>
              <a:t>}</a:t>
            </a:r>
            <a:endParaRPr sz="350">
              <a:latin typeface="Courier New"/>
              <a:cs typeface="Courier New"/>
            </a:endParaRPr>
          </a:p>
          <a:p>
            <a:pPr marL="9079" marR="85279" algn="ctr">
              <a:lnSpc>
                <a:spcPts val="780"/>
              </a:lnSpc>
            </a:pPr>
            <a:r>
              <a:rPr dirty="0" smtClean="0" baseline="14351" sz="750">
                <a:latin typeface="Comic Sans MS"/>
                <a:cs typeface="Comic Sans MS"/>
              </a:rPr>
              <a:t>Other</a:t>
            </a:r>
            <a:r>
              <a:rPr dirty="0" smtClean="0" baseline="14351" sz="750">
                <a:latin typeface="Comic Sans MS"/>
                <a:cs typeface="Comic Sans MS"/>
              </a:rPr>
              <a:t> </a:t>
            </a:r>
            <a:r>
              <a:rPr dirty="0" smtClean="0" baseline="14351" sz="750">
                <a:latin typeface="Comic Sans MS"/>
                <a:cs typeface="Comic Sans MS"/>
              </a:rPr>
              <a:t>writers</a:t>
            </a:r>
            <a:r>
              <a:rPr dirty="0" smtClean="0" baseline="14351" sz="750">
                <a:latin typeface="Comic Sans MS"/>
                <a:cs typeface="Comic Sans MS"/>
              </a:rPr>
              <a:t> </a:t>
            </a:r>
            <a:r>
              <a:rPr dirty="0" smtClean="0" baseline="14351" sz="750">
                <a:latin typeface="Comic Sans MS"/>
                <a:cs typeface="Comic Sans MS"/>
              </a:rPr>
              <a:t>wait</a:t>
            </a:r>
            <a:r>
              <a:rPr dirty="0" smtClean="0" baseline="14351" sz="750">
                <a:latin typeface="Comic Sans MS"/>
                <a:cs typeface="Comic Sans MS"/>
              </a:rPr>
              <a:t> </a:t>
            </a:r>
            <a:r>
              <a:rPr dirty="0" smtClean="0" baseline="14351" sz="750">
                <a:latin typeface="Comic Sans MS"/>
                <a:cs typeface="Comic Sans MS"/>
              </a:rPr>
              <a:t>with</a:t>
            </a:r>
            <a:r>
              <a:rPr dirty="0" smtClean="0" baseline="14351" sz="750">
                <a:latin typeface="Comic Sans MS"/>
                <a:cs typeface="Comic Sans MS"/>
              </a:rPr>
              <a:t> </a:t>
            </a:r>
            <a:r>
              <a:rPr dirty="0" smtClean="0" baseline="14351" sz="750">
                <a:latin typeface="Comic Sans MS"/>
                <a:cs typeface="Comic Sans MS"/>
              </a:rPr>
              <a:t>writers</a:t>
            </a:r>
            <a:r>
              <a:rPr dirty="0" smtClean="0" baseline="14351" sz="750">
                <a:latin typeface="Comic Sans MS"/>
                <a:cs typeface="Comic Sans MS"/>
              </a:rPr>
              <a:t>                           </a:t>
            </a:r>
            <a:r>
              <a:rPr dirty="0" smtClean="0" baseline="14351" sz="750" spc="25">
                <a:latin typeface="Comic Sans MS"/>
                <a:cs typeface="Comic Sans MS"/>
              </a:rPr>
              <a:t> </a:t>
            </a:r>
            <a:r>
              <a:rPr dirty="0" smtClean="0" sz="350" spc="0">
                <a:latin typeface="Courier New"/>
                <a:cs typeface="Courier New"/>
              </a:rPr>
              <a:t>}</a:t>
            </a:r>
            <a:r>
              <a:rPr dirty="0" smtClean="0" sz="350" spc="0">
                <a:latin typeface="Courier New"/>
                <a:cs typeface="Courier New"/>
              </a:rPr>
              <a:t>                                  </a:t>
            </a:r>
            <a:r>
              <a:rPr dirty="0" smtClean="0" sz="350" spc="-75">
                <a:latin typeface="Courier New"/>
                <a:cs typeface="Courier New"/>
              </a:rPr>
              <a:t> </a:t>
            </a:r>
            <a:r>
              <a:rPr dirty="0" smtClean="0" baseline="-8282" sz="525" spc="0">
                <a:latin typeface="Times New Roman"/>
                <a:cs typeface="Times New Roman"/>
              </a:rPr>
              <a:t>-</a:t>
            </a:r>
            <a:r>
              <a:rPr dirty="0" smtClean="0" baseline="-8282" sz="525" spc="-59">
                <a:latin typeface="Times New Roman"/>
                <a:cs typeface="Times New Roman"/>
              </a:rPr>
              <a:t> </a:t>
            </a:r>
            <a:r>
              <a:rPr dirty="0" smtClean="0" baseline="-8282" sz="525" spc="39">
                <a:latin typeface="Times New Roman"/>
                <a:cs typeface="Times New Roman"/>
              </a:rPr>
              <a:t>5</a:t>
            </a:r>
            <a:r>
              <a:rPr dirty="0" smtClean="0" baseline="-8282" sz="525" spc="0">
                <a:latin typeface="Times New Roman"/>
                <a:cs typeface="Times New Roman"/>
              </a:rPr>
              <a:t>2</a:t>
            </a:r>
            <a:r>
              <a:rPr dirty="0" smtClean="0" baseline="-8282" sz="525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400" y="3562350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0975" marR="206264">
              <a:lnSpc>
                <a:spcPts val="1430"/>
              </a:lnSpc>
              <a:spcBef>
                <a:spcPts val="501"/>
              </a:spcBef>
            </a:pP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Semaphore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Solution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Readers/</a:t>
            </a:r>
            <a:r>
              <a:rPr dirty="0" smtClean="0" sz="1200" spc="-14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25" u="sng">
                <a:solidFill>
                  <a:srgbClr val="3333CC"/>
                </a:solidFill>
                <a:latin typeface="Comic Sans MS"/>
                <a:cs typeface="Comic Sans MS"/>
              </a:rPr>
              <a:t>Writers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25" u="sng">
                <a:solidFill>
                  <a:srgbClr val="3333CC"/>
                </a:solidFill>
                <a:latin typeface="Comic Sans MS"/>
                <a:cs typeface="Comic Sans MS"/>
              </a:rPr>
              <a:t>(Writer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25" u="sng">
                <a:solidFill>
                  <a:srgbClr val="3333CC"/>
                </a:solidFill>
                <a:latin typeface="Comic Sans MS"/>
                <a:cs typeface="Comic Sans MS"/>
              </a:rPr>
              <a:t>Preference)</a:t>
            </a:r>
            <a:endParaRPr sz="1200">
              <a:latin typeface="Comic Sans MS"/>
              <a:cs typeface="Comic Sans MS"/>
            </a:endParaRPr>
          </a:p>
          <a:p>
            <a:pPr marL="180975">
              <a:lnSpc>
                <a:spcPct val="94401"/>
              </a:lnSpc>
              <a:spcBef>
                <a:spcPts val="501"/>
              </a:spcBef>
            </a:pPr>
            <a:r>
              <a:rPr dirty="0" smtClean="0" sz="500" spc="-4">
                <a:latin typeface="Courier New"/>
                <a:cs typeface="Courier New"/>
              </a:rPr>
              <a:t>semaphore_</a:t>
            </a:r>
            <a:r>
              <a:rPr dirty="0" smtClean="0" sz="500" spc="0">
                <a:latin typeface="Courier New"/>
                <a:cs typeface="Courier New"/>
              </a:rPr>
              <a:t>t</a:t>
            </a:r>
            <a:r>
              <a:rPr dirty="0" smtClean="0" sz="500" spc="164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mutex1</a:t>
            </a:r>
            <a:r>
              <a:rPr dirty="0" smtClean="0" sz="500" spc="0">
                <a:latin typeface="Courier New"/>
                <a:cs typeface="Courier New"/>
              </a:rPr>
              <a:t>,</a:t>
            </a:r>
            <a:r>
              <a:rPr dirty="0" smtClean="0" sz="500" spc="104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mutex2;</a:t>
            </a:r>
            <a:endParaRPr sz="500">
              <a:latin typeface="Courier New"/>
              <a:cs typeface="Courier New"/>
            </a:endParaRPr>
          </a:p>
          <a:p>
            <a:pPr marL="180975">
              <a:lnSpc>
                <a:spcPct val="94401"/>
              </a:lnSpc>
              <a:spcBef>
                <a:spcPts val="150"/>
              </a:spcBef>
            </a:pPr>
            <a:r>
              <a:rPr dirty="0" smtClean="0" sz="500" spc="-9">
                <a:latin typeface="Courier New"/>
                <a:cs typeface="Courier New"/>
              </a:rPr>
              <a:t>semaphore_</a:t>
            </a:r>
            <a:r>
              <a:rPr dirty="0" smtClean="0" sz="500" spc="0">
                <a:latin typeface="Courier New"/>
                <a:cs typeface="Courier New"/>
              </a:rPr>
              <a:t>t</a:t>
            </a:r>
            <a:r>
              <a:rPr dirty="0" smtClean="0" sz="500" spc="154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writePendin</a:t>
            </a:r>
            <a:r>
              <a:rPr dirty="0" smtClean="0" sz="500" spc="75">
                <a:latin typeface="Courier New"/>
                <a:cs typeface="Courier New"/>
              </a:rPr>
              <a:t>g</a:t>
            </a:r>
            <a:r>
              <a:rPr dirty="0" smtClean="0" sz="500" spc="0">
                <a:latin typeface="Courier New"/>
                <a:cs typeface="Courier New"/>
              </a:rPr>
              <a:t>,</a:t>
            </a:r>
            <a:r>
              <a:rPr dirty="0" smtClean="0" sz="500" spc="179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readersBlock</a:t>
            </a:r>
            <a:r>
              <a:rPr dirty="0" smtClean="0" sz="500" spc="0">
                <a:latin typeface="Courier New"/>
                <a:cs typeface="Courier New"/>
              </a:rPr>
              <a:t>,</a:t>
            </a:r>
            <a:r>
              <a:rPr dirty="0" smtClean="0" sz="500" spc="179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writersBloc</a:t>
            </a:r>
            <a:r>
              <a:rPr dirty="0" smtClean="0" sz="500" spc="75">
                <a:latin typeface="Courier New"/>
                <a:cs typeface="Courier New"/>
              </a:rPr>
              <a:t>k</a:t>
            </a:r>
            <a:r>
              <a:rPr dirty="0" smtClean="0" sz="500" spc="-14">
                <a:latin typeface="Courier New"/>
                <a:cs typeface="Courier New"/>
              </a:rPr>
              <a:t>;//</a:t>
            </a:r>
            <a:r>
              <a:rPr dirty="0" smtClean="0" sz="500" spc="0">
                <a:latin typeface="Wingdings"/>
                <a:cs typeface="Wingdings"/>
              </a:rPr>
              <a:t></a:t>
            </a:r>
            <a:endParaRPr sz="500">
              <a:latin typeface="Wingdings"/>
              <a:cs typeface="Wingdings"/>
            </a:endParaRPr>
          </a:p>
          <a:p>
            <a:pPr marL="285750">
              <a:lnSpc>
                <a:spcPct val="94401"/>
              </a:lnSpc>
              <a:spcBef>
                <a:spcPts val="105"/>
              </a:spcBef>
            </a:pPr>
            <a:r>
              <a:rPr dirty="0" smtClean="0" sz="500" spc="0">
                <a:latin typeface="Courier New"/>
                <a:cs typeface="Courier New"/>
              </a:rPr>
              <a:t>;</a:t>
            </a:r>
            <a:endParaRPr sz="500">
              <a:latin typeface="Courier New"/>
              <a:cs typeface="Courier New"/>
            </a:endParaRPr>
          </a:p>
          <a:p>
            <a:pPr marL="180975">
              <a:lnSpc>
                <a:spcPct val="94401"/>
              </a:lnSpc>
              <a:spcBef>
                <a:spcPts val="180"/>
              </a:spcBef>
            </a:pPr>
            <a:r>
              <a:rPr dirty="0" smtClean="0" sz="500" spc="-4">
                <a:latin typeface="Courier New"/>
                <a:cs typeface="Courier New"/>
              </a:rPr>
              <a:t>in</a:t>
            </a:r>
            <a:r>
              <a:rPr dirty="0" smtClean="0" sz="500" spc="0">
                <a:latin typeface="Courier New"/>
                <a:cs typeface="Courier New"/>
              </a:rPr>
              <a:t>t</a:t>
            </a:r>
            <a:r>
              <a:rPr dirty="0" smtClean="0" sz="500" spc="0">
                <a:latin typeface="Courier New"/>
                <a:cs typeface="Courier New"/>
              </a:rPr>
              <a:t>        </a:t>
            </a:r>
            <a:r>
              <a:rPr dirty="0" smtClean="0" sz="500" spc="114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numReaders</a:t>
            </a:r>
            <a:r>
              <a:rPr dirty="0" smtClean="0" sz="500" spc="0">
                <a:latin typeface="Courier New"/>
                <a:cs typeface="Courier New"/>
              </a:rPr>
              <a:t>,</a:t>
            </a:r>
            <a:r>
              <a:rPr dirty="0" smtClean="0" sz="500" spc="224">
                <a:latin typeface="Courier New"/>
                <a:cs typeface="Courier New"/>
              </a:rPr>
              <a:t> </a:t>
            </a:r>
            <a:r>
              <a:rPr dirty="0" smtClean="0" sz="500" spc="-9">
                <a:latin typeface="Courier New"/>
                <a:cs typeface="Courier New"/>
              </a:rPr>
              <a:t>numWriters</a:t>
            </a:r>
            <a:r>
              <a:rPr dirty="0" smtClean="0" sz="500" spc="0">
                <a:latin typeface="Courier New"/>
                <a:cs typeface="Courier New"/>
              </a:rPr>
              <a:t>;</a:t>
            </a:r>
            <a:endParaRPr sz="500">
              <a:latin typeface="Courier New"/>
              <a:cs typeface="Courier New"/>
            </a:endParaRPr>
          </a:p>
          <a:p>
            <a:pPr marL="285750" marR="1484638" indent="-104775">
              <a:lnSpc>
                <a:spcPts val="566"/>
              </a:lnSpc>
              <a:spcBef>
                <a:spcPts val="1008"/>
              </a:spcBef>
            </a:pPr>
            <a:r>
              <a:rPr dirty="0" smtClean="0" sz="500" spc="-4">
                <a:latin typeface="Courier New"/>
                <a:cs typeface="Courier New"/>
              </a:rPr>
              <a:t>voi</a:t>
            </a:r>
            <a:r>
              <a:rPr dirty="0" smtClean="0" sz="500" spc="0">
                <a:latin typeface="Courier New"/>
                <a:cs typeface="Courier New"/>
              </a:rPr>
              <a:t>d</a:t>
            </a:r>
            <a:r>
              <a:rPr dirty="0" smtClean="0" sz="500" spc="54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init{</a:t>
            </a:r>
            <a:r>
              <a:rPr dirty="0" smtClean="0" sz="500" spc="84">
                <a:latin typeface="Courier New"/>
                <a:cs typeface="Courier New"/>
              </a:rPr>
              <a:t> </a:t>
            </a:r>
            <a:r>
              <a:rPr dirty="0" smtClean="0" sz="500" spc="-9">
                <a:latin typeface="Courier New"/>
                <a:cs typeface="Courier New"/>
              </a:rPr>
              <a:t>mutex1.valu</a:t>
            </a:r>
            <a:r>
              <a:rPr dirty="0" smtClean="0" sz="500" spc="0">
                <a:latin typeface="Courier New"/>
                <a:cs typeface="Courier New"/>
              </a:rPr>
              <a:t>e</a:t>
            </a:r>
            <a:r>
              <a:rPr dirty="0" smtClean="0" sz="500" spc="204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=</a:t>
            </a:r>
            <a:r>
              <a:rPr dirty="0" smtClean="0" sz="500" spc="29">
                <a:latin typeface="Courier New"/>
                <a:cs typeface="Courier New"/>
              </a:rPr>
              <a:t> </a:t>
            </a:r>
            <a:endParaRPr sz="500">
              <a:latin typeface="Courier New"/>
              <a:cs typeface="Courier New"/>
            </a:endParaRPr>
          </a:p>
          <a:p>
            <a:pPr marL="285750" marR="1484638">
              <a:lnSpc>
                <a:spcPts val="566"/>
              </a:lnSpc>
              <a:spcBef>
                <a:spcPts val="183"/>
              </a:spcBef>
            </a:pPr>
            <a:r>
              <a:rPr dirty="0" smtClean="0" sz="500" spc="-9">
                <a:latin typeface="Courier New"/>
                <a:cs typeface="Courier New"/>
              </a:rPr>
              <a:t>1;</a:t>
            </a:r>
            <a:r>
              <a:rPr dirty="0" smtClean="0" sz="500" spc="34">
                <a:latin typeface="Courier New"/>
                <a:cs typeface="Courier New"/>
              </a:rPr>
              <a:t> </a:t>
            </a:r>
            <a:r>
              <a:rPr dirty="0" smtClean="0" sz="500" spc="-9">
                <a:latin typeface="Courier New"/>
                <a:cs typeface="Courier New"/>
              </a:rPr>
              <a:t>mutex2.valu</a:t>
            </a:r>
            <a:r>
              <a:rPr dirty="0" smtClean="0" sz="500" spc="0">
                <a:latin typeface="Courier New"/>
                <a:cs typeface="Courier New"/>
              </a:rPr>
              <a:t>e</a:t>
            </a:r>
            <a:r>
              <a:rPr dirty="0" smtClean="0" sz="500" spc="204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=</a:t>
            </a:r>
            <a:r>
              <a:rPr dirty="0" smtClean="0" sz="500" spc="44">
                <a:latin typeface="Courier New"/>
                <a:cs typeface="Courier New"/>
              </a:rPr>
              <a:t> </a:t>
            </a:r>
            <a:r>
              <a:rPr dirty="0" smtClean="0" sz="500" spc="-9">
                <a:latin typeface="Courier New"/>
                <a:cs typeface="Courier New"/>
              </a:rPr>
              <a:t>1;</a:t>
            </a:r>
            <a:r>
              <a:rPr dirty="0" smtClean="0" sz="500" spc="-9">
                <a:latin typeface="Courier New"/>
                <a:cs typeface="Courier New"/>
              </a:rPr>
              <a:t> </a:t>
            </a:r>
            <a:endParaRPr sz="500">
              <a:latin typeface="Courier New"/>
              <a:cs typeface="Courier New"/>
            </a:endParaRPr>
          </a:p>
          <a:p>
            <a:pPr marL="285750" marR="1484638">
              <a:lnSpc>
                <a:spcPts val="566"/>
              </a:lnSpc>
              <a:spcBef>
                <a:spcPts val="183"/>
              </a:spcBef>
            </a:pPr>
            <a:r>
              <a:rPr dirty="0" smtClean="0" sz="500" spc="-9">
                <a:latin typeface="Courier New"/>
                <a:cs typeface="Courier New"/>
              </a:rPr>
              <a:t>writePending</a:t>
            </a:r>
            <a:r>
              <a:rPr dirty="0" smtClean="0" sz="500" spc="-4">
                <a:latin typeface="Courier New"/>
                <a:cs typeface="Courier New"/>
              </a:rPr>
              <a:t>.valu</a:t>
            </a:r>
            <a:r>
              <a:rPr dirty="0" smtClean="0" sz="500" spc="0">
                <a:latin typeface="Courier New"/>
                <a:cs typeface="Courier New"/>
              </a:rPr>
              <a:t>e</a:t>
            </a:r>
            <a:r>
              <a:rPr dirty="0" smtClean="0" sz="500" spc="29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=</a:t>
            </a:r>
            <a:r>
              <a:rPr dirty="0" smtClean="0" sz="500" spc="44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1;</a:t>
            </a:r>
            <a:r>
              <a:rPr dirty="0" smtClean="0" sz="500" spc="-4">
                <a:latin typeface="Courier New"/>
                <a:cs typeface="Courier New"/>
              </a:rPr>
              <a:t> </a:t>
            </a:r>
            <a:endParaRPr sz="500">
              <a:latin typeface="Courier New"/>
              <a:cs typeface="Courier New"/>
            </a:endParaRPr>
          </a:p>
          <a:p>
            <a:pPr marL="285750" marR="1484638">
              <a:lnSpc>
                <a:spcPts val="566"/>
              </a:lnSpc>
              <a:spcBef>
                <a:spcPts val="183"/>
              </a:spcBef>
            </a:pPr>
            <a:r>
              <a:rPr dirty="0" smtClean="0" sz="500" spc="-9">
                <a:latin typeface="Courier New"/>
                <a:cs typeface="Courier New"/>
              </a:rPr>
              <a:t>readersBlock</a:t>
            </a:r>
            <a:r>
              <a:rPr dirty="0" smtClean="0" sz="500" spc="-4">
                <a:latin typeface="Courier New"/>
                <a:cs typeface="Courier New"/>
              </a:rPr>
              <a:t>.valu</a:t>
            </a:r>
            <a:r>
              <a:rPr dirty="0" smtClean="0" sz="500" spc="0">
                <a:latin typeface="Courier New"/>
                <a:cs typeface="Courier New"/>
              </a:rPr>
              <a:t>e</a:t>
            </a:r>
            <a:r>
              <a:rPr dirty="0" smtClean="0" sz="500" spc="29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=</a:t>
            </a:r>
            <a:r>
              <a:rPr dirty="0" smtClean="0" sz="500" spc="44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1;</a:t>
            </a:r>
            <a:r>
              <a:rPr dirty="0" smtClean="0" sz="500" spc="-4">
                <a:latin typeface="Courier New"/>
                <a:cs typeface="Courier New"/>
              </a:rPr>
              <a:t> </a:t>
            </a:r>
            <a:endParaRPr sz="500">
              <a:latin typeface="Courier New"/>
              <a:cs typeface="Courier New"/>
            </a:endParaRPr>
          </a:p>
          <a:p>
            <a:pPr marL="285750" marR="1484638">
              <a:lnSpc>
                <a:spcPts val="566"/>
              </a:lnSpc>
              <a:spcBef>
                <a:spcPts val="183"/>
              </a:spcBef>
            </a:pPr>
            <a:r>
              <a:rPr dirty="0" smtClean="0" sz="500" spc="-9">
                <a:latin typeface="Courier New"/>
                <a:cs typeface="Courier New"/>
              </a:rPr>
              <a:t>writersBlock</a:t>
            </a:r>
            <a:r>
              <a:rPr dirty="0" smtClean="0" sz="500" spc="-4">
                <a:latin typeface="Courier New"/>
                <a:cs typeface="Courier New"/>
              </a:rPr>
              <a:t>.valu</a:t>
            </a:r>
            <a:r>
              <a:rPr dirty="0" smtClean="0" sz="500" spc="0">
                <a:latin typeface="Courier New"/>
                <a:cs typeface="Courier New"/>
              </a:rPr>
              <a:t>e</a:t>
            </a:r>
            <a:r>
              <a:rPr dirty="0" smtClean="0" sz="500" spc="29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=</a:t>
            </a:r>
            <a:r>
              <a:rPr dirty="0" smtClean="0" sz="500" spc="44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1;</a:t>
            </a:r>
            <a:endParaRPr sz="500">
              <a:latin typeface="Courier New"/>
              <a:cs typeface="Courier New"/>
            </a:endParaRPr>
          </a:p>
          <a:p>
            <a:pPr marL="285750">
              <a:lnSpc>
                <a:spcPct val="94401"/>
              </a:lnSpc>
              <a:spcBef>
                <a:spcPts val="258"/>
              </a:spcBef>
            </a:pPr>
            <a:r>
              <a:rPr dirty="0" smtClean="0" sz="500" spc="-9">
                <a:latin typeface="Courier New"/>
                <a:cs typeface="Courier New"/>
              </a:rPr>
              <a:t>numReader</a:t>
            </a:r>
            <a:r>
              <a:rPr dirty="0" smtClean="0" sz="500" spc="0">
                <a:latin typeface="Courier New"/>
                <a:cs typeface="Courier New"/>
              </a:rPr>
              <a:t>s</a:t>
            </a:r>
            <a:r>
              <a:rPr dirty="0" smtClean="0" sz="500" spc="140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=</a:t>
            </a:r>
            <a:r>
              <a:rPr dirty="0" smtClean="0" sz="500" spc="74">
                <a:latin typeface="Courier New"/>
                <a:cs typeface="Courier New"/>
              </a:rPr>
              <a:t> </a:t>
            </a:r>
            <a:r>
              <a:rPr dirty="0" smtClean="0" sz="500" spc="-14">
                <a:latin typeface="Courier New"/>
                <a:cs typeface="Courier New"/>
              </a:rPr>
              <a:t>0;</a:t>
            </a:r>
            <a:endParaRPr sz="500">
              <a:latin typeface="Courier New"/>
              <a:cs typeface="Courier New"/>
            </a:endParaRPr>
          </a:p>
          <a:p>
            <a:pPr marL="285750">
              <a:lnSpc>
                <a:spcPct val="94401"/>
              </a:lnSpc>
              <a:spcBef>
                <a:spcPts val="180"/>
              </a:spcBef>
            </a:pPr>
            <a:r>
              <a:rPr dirty="0" smtClean="0" sz="500" spc="-9">
                <a:latin typeface="Courier New"/>
                <a:cs typeface="Courier New"/>
              </a:rPr>
              <a:t>numWriter</a:t>
            </a:r>
            <a:r>
              <a:rPr dirty="0" smtClean="0" sz="500" spc="0">
                <a:latin typeface="Courier New"/>
                <a:cs typeface="Courier New"/>
              </a:rPr>
              <a:t>s</a:t>
            </a:r>
            <a:r>
              <a:rPr dirty="0" smtClean="0" sz="500" spc="140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=</a:t>
            </a:r>
            <a:r>
              <a:rPr dirty="0" smtClean="0" sz="500" spc="74">
                <a:latin typeface="Courier New"/>
                <a:cs typeface="Courier New"/>
              </a:rPr>
              <a:t> </a:t>
            </a:r>
            <a:r>
              <a:rPr dirty="0" smtClean="0" sz="500" spc="-14">
                <a:latin typeface="Courier New"/>
                <a:cs typeface="Courier New"/>
              </a:rPr>
              <a:t>0;</a:t>
            </a:r>
            <a:endParaRPr sz="500">
              <a:latin typeface="Courier New"/>
              <a:cs typeface="Courier New"/>
            </a:endParaRPr>
          </a:p>
          <a:p>
            <a:pPr marL="180975">
              <a:lnSpc>
                <a:spcPct val="94401"/>
              </a:lnSpc>
              <a:spcBef>
                <a:spcPts val="180"/>
              </a:spcBef>
            </a:pPr>
            <a:r>
              <a:rPr dirty="0" smtClean="0" sz="500" spc="0"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 marR="114300" algn="r">
              <a:lnSpc>
                <a:spcPct val="100000"/>
              </a:lnSpc>
              <a:spcBef>
                <a:spcPts val="798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5</a:t>
            </a:r>
            <a:r>
              <a:rPr dirty="0" smtClean="0" sz="350" spc="0">
                <a:latin typeface="Times New Roman"/>
                <a:cs typeface="Times New Roman"/>
              </a:rPr>
              <a:t>1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29025" y="904875"/>
            <a:ext cx="2676525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80975">
              <a:lnSpc>
                <a:spcPct val="116129"/>
              </a:lnSpc>
            </a:pP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Dining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Philosophers</a:t>
            </a:r>
            <a:endParaRPr sz="1200">
              <a:latin typeface="Comic Sans MS"/>
              <a:cs typeface="Comic Sans MS"/>
            </a:endParaRPr>
          </a:p>
          <a:p>
            <a:pPr marL="371475">
              <a:lnSpc>
                <a:spcPct val="94401"/>
              </a:lnSpc>
              <a:spcBef>
                <a:spcPts val="958"/>
              </a:spcBef>
            </a:pPr>
            <a:r>
              <a:rPr dirty="0" smtClean="0" sz="500" spc="-14">
                <a:latin typeface="Courier New"/>
                <a:cs typeface="Courier New"/>
              </a:rPr>
              <a:t>voi</a:t>
            </a:r>
            <a:r>
              <a:rPr dirty="0" smtClean="0" sz="500" spc="0">
                <a:latin typeface="Courier New"/>
                <a:cs typeface="Courier New"/>
              </a:rPr>
              <a:t>d</a:t>
            </a:r>
            <a:r>
              <a:rPr dirty="0" smtClean="0" sz="500" spc="45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philosophersLife</a:t>
            </a:r>
            <a:r>
              <a:rPr dirty="0" smtClean="0" sz="500" spc="-14">
                <a:latin typeface="Courier New"/>
                <a:cs typeface="Courier New"/>
              </a:rPr>
              <a:t>(</a:t>
            </a:r>
            <a:r>
              <a:rPr dirty="0" smtClean="0" sz="500" spc="34">
                <a:latin typeface="Courier New"/>
                <a:cs typeface="Courier New"/>
              </a:rPr>
              <a:t>in</a:t>
            </a:r>
            <a:r>
              <a:rPr dirty="0" smtClean="0" sz="500" spc="0">
                <a:latin typeface="Courier New"/>
                <a:cs typeface="Courier New"/>
              </a:rPr>
              <a:t>t</a:t>
            </a:r>
            <a:r>
              <a:rPr dirty="0" smtClean="0" sz="500" spc="260">
                <a:latin typeface="Courier New"/>
                <a:cs typeface="Courier New"/>
              </a:rPr>
              <a:t> </a:t>
            </a:r>
            <a:r>
              <a:rPr dirty="0" smtClean="0" sz="500" spc="-14">
                <a:latin typeface="Courier New"/>
                <a:cs typeface="Courier New"/>
              </a:rPr>
              <a:t>i</a:t>
            </a:r>
            <a:r>
              <a:rPr dirty="0" smtClean="0" sz="500" spc="0">
                <a:latin typeface="Courier New"/>
                <a:cs typeface="Courier New"/>
              </a:rPr>
              <a:t>)</a:t>
            </a:r>
            <a:r>
              <a:rPr dirty="0" smtClean="0" sz="500" spc="15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533400">
              <a:lnSpc>
                <a:spcPct val="94401"/>
              </a:lnSpc>
              <a:spcBef>
                <a:spcPts val="254"/>
              </a:spcBef>
            </a:pPr>
            <a:r>
              <a:rPr dirty="0" smtClean="0" sz="500" spc="0">
                <a:latin typeface="Courier New"/>
                <a:cs typeface="Courier New"/>
              </a:rPr>
              <a:t>while(1){</a:t>
            </a:r>
            <a:endParaRPr sz="500">
              <a:latin typeface="Courier New"/>
              <a:cs typeface="Courier New"/>
            </a:endParaRPr>
          </a:p>
          <a:p>
            <a:pPr marL="714375">
              <a:lnSpc>
                <a:spcPct val="94401"/>
              </a:lnSpc>
              <a:spcBef>
                <a:spcPts val="858"/>
              </a:spcBef>
            </a:pPr>
            <a:r>
              <a:rPr dirty="0" smtClean="0" sz="500" spc="-4">
                <a:latin typeface="Courier New"/>
                <a:cs typeface="Courier New"/>
              </a:rPr>
              <a:t>pickupChopticks</a:t>
            </a:r>
            <a:r>
              <a:rPr dirty="0" smtClean="0" sz="500" spc="-14">
                <a:latin typeface="Courier New"/>
                <a:cs typeface="Courier New"/>
              </a:rPr>
              <a:t>();</a:t>
            </a:r>
            <a:endParaRPr sz="500">
              <a:latin typeface="Courier New"/>
              <a:cs typeface="Courier New"/>
            </a:endParaRPr>
          </a:p>
          <a:p>
            <a:pPr marL="714375">
              <a:lnSpc>
                <a:spcPct val="94401"/>
              </a:lnSpc>
              <a:spcBef>
                <a:spcPts val="933"/>
              </a:spcBef>
            </a:pPr>
            <a:r>
              <a:rPr dirty="0" smtClean="0" sz="500" spc="-4">
                <a:latin typeface="Courier New"/>
                <a:cs typeface="Courier New"/>
              </a:rPr>
              <a:t>putdownChopsicks</a:t>
            </a:r>
            <a:r>
              <a:rPr dirty="0" smtClean="0" sz="500" spc="-14">
                <a:latin typeface="Courier New"/>
                <a:cs typeface="Courier New"/>
              </a:rPr>
              <a:t>();</a:t>
            </a:r>
            <a:endParaRPr sz="500">
              <a:latin typeface="Courier New"/>
              <a:cs typeface="Courier New"/>
            </a:endParaRPr>
          </a:p>
          <a:p>
            <a:pPr marL="371475">
              <a:lnSpc>
                <a:spcPct val="94401"/>
              </a:lnSpc>
              <a:spcBef>
                <a:spcPts val="858"/>
              </a:spcBef>
            </a:pPr>
            <a:r>
              <a:rPr dirty="0" smtClean="0" sz="500" spc="0"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 marR="104775" algn="r">
              <a:lnSpc>
                <a:spcPct val="100000"/>
              </a:lnSpc>
              <a:spcBef>
                <a:spcPts val="5748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5</a:t>
            </a:r>
            <a:r>
              <a:rPr dirty="0" smtClean="0" sz="350" spc="0">
                <a:latin typeface="Times New Roman"/>
                <a:cs typeface="Times New Roman"/>
              </a:rPr>
              <a:t>0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3400" y="904875"/>
            <a:ext cx="2686050" cy="20097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27"/>
              </a:spcBef>
            </a:pPr>
            <a:endParaRPr sz="900"/>
          </a:p>
          <a:p>
            <a:pPr marL="156845" marR="1147445" algn="ctr">
              <a:lnSpc>
                <a:spcPct val="116129"/>
              </a:lnSpc>
            </a:pP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Dining</a:t>
            </a:r>
            <a:r>
              <a:rPr dirty="0" smtClean="0" sz="1200" spc="14" u="sng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dirty="0" smtClean="0" sz="1200" spc="-14" u="sng">
                <a:solidFill>
                  <a:srgbClr val="3333CC"/>
                </a:solidFill>
                <a:latin typeface="Comic Sans MS"/>
                <a:cs typeface="Comic Sans MS"/>
              </a:rPr>
              <a:t>Philosophers</a:t>
            </a:r>
            <a:endParaRPr sz="1200">
              <a:latin typeface="Comic Sans MS"/>
              <a:cs typeface="Comic Sans MS"/>
            </a:endParaRPr>
          </a:p>
          <a:p>
            <a:pPr marL="247650">
              <a:lnSpc>
                <a:spcPct val="94401"/>
              </a:lnSpc>
              <a:spcBef>
                <a:spcPts val="1333"/>
              </a:spcBef>
            </a:pPr>
            <a:r>
              <a:rPr dirty="0" smtClean="0" sz="500" spc="-4">
                <a:latin typeface="Courier New"/>
                <a:cs typeface="Courier New"/>
              </a:rPr>
              <a:t>voi</a:t>
            </a:r>
            <a:r>
              <a:rPr dirty="0" smtClean="0" sz="500" spc="0">
                <a:latin typeface="Courier New"/>
                <a:cs typeface="Courier New"/>
              </a:rPr>
              <a:t>d</a:t>
            </a:r>
            <a:r>
              <a:rPr dirty="0" smtClean="0" sz="500" spc="54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test(</a:t>
            </a:r>
            <a:r>
              <a:rPr dirty="0" smtClean="0" sz="500" spc="-14">
                <a:latin typeface="Courier New"/>
                <a:cs typeface="Courier New"/>
              </a:rPr>
              <a:t>in</a:t>
            </a:r>
            <a:r>
              <a:rPr dirty="0" smtClean="0" sz="500" spc="0">
                <a:latin typeface="Courier New"/>
                <a:cs typeface="Courier New"/>
              </a:rPr>
              <a:t>t</a:t>
            </a:r>
            <a:r>
              <a:rPr dirty="0" smtClean="0" sz="500" spc="179">
                <a:latin typeface="Courier New"/>
                <a:cs typeface="Courier New"/>
              </a:rPr>
              <a:t> </a:t>
            </a:r>
            <a:r>
              <a:rPr dirty="0" smtClean="0" sz="500" spc="-14">
                <a:latin typeface="Courier New"/>
                <a:cs typeface="Courier New"/>
              </a:rPr>
              <a:t>i</a:t>
            </a:r>
            <a:r>
              <a:rPr dirty="0" smtClean="0" sz="500" spc="0">
                <a:latin typeface="Courier New"/>
                <a:cs typeface="Courier New"/>
              </a:rPr>
              <a:t>)</a:t>
            </a:r>
            <a:r>
              <a:rPr dirty="0" smtClean="0" sz="500" spc="15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409575">
              <a:lnSpc>
                <a:spcPct val="94401"/>
              </a:lnSpc>
              <a:spcBef>
                <a:spcPts val="250"/>
              </a:spcBef>
            </a:pPr>
            <a:r>
              <a:rPr dirty="0" smtClean="0" sz="500" spc="-4">
                <a:latin typeface="Courier New"/>
                <a:cs typeface="Courier New"/>
              </a:rPr>
              <a:t>i</a:t>
            </a:r>
            <a:r>
              <a:rPr dirty="0" smtClean="0" sz="500" spc="0">
                <a:latin typeface="Courier New"/>
                <a:cs typeface="Courier New"/>
              </a:rPr>
              <a:t>f</a:t>
            </a:r>
            <a:r>
              <a:rPr dirty="0" smtClean="0" sz="500" spc="25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(</a:t>
            </a:r>
            <a:r>
              <a:rPr dirty="0" smtClean="0" sz="500" spc="9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(state[(</a:t>
            </a:r>
            <a:r>
              <a:rPr dirty="0" smtClean="0" sz="500" spc="0">
                <a:latin typeface="Courier New"/>
                <a:cs typeface="Courier New"/>
              </a:rPr>
              <a:t>I</a:t>
            </a:r>
            <a:r>
              <a:rPr dirty="0" smtClean="0" sz="500" spc="12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+</a:t>
            </a:r>
            <a:r>
              <a:rPr dirty="0" smtClean="0" sz="500" spc="9">
                <a:latin typeface="Courier New"/>
                <a:cs typeface="Courier New"/>
              </a:rPr>
              <a:t> </a:t>
            </a:r>
            <a:r>
              <a:rPr dirty="0" smtClean="0" sz="600" spc="-4">
                <a:latin typeface="Courier New"/>
                <a:cs typeface="Courier New"/>
              </a:rPr>
              <a:t>NUM_PHILOSOPHER</a:t>
            </a:r>
            <a:r>
              <a:rPr dirty="0" smtClean="0" sz="600" spc="0">
                <a:latin typeface="Courier New"/>
                <a:cs typeface="Courier New"/>
              </a:rPr>
              <a:t>S</a:t>
            </a:r>
            <a:r>
              <a:rPr dirty="0" smtClean="0" sz="600" spc="9">
                <a:latin typeface="Courier New"/>
                <a:cs typeface="Courier New"/>
              </a:rPr>
              <a:t> </a:t>
            </a:r>
            <a:r>
              <a:rPr dirty="0" smtClean="0" sz="600" spc="14">
                <a:latin typeface="Courier New"/>
                <a:cs typeface="Courier New"/>
              </a:rPr>
              <a:t>-</a:t>
            </a:r>
            <a:r>
              <a:rPr dirty="0" smtClean="0" sz="600" spc="14">
                <a:latin typeface="Courier New"/>
                <a:cs typeface="Courier New"/>
              </a:rPr>
              <a:t>1</a:t>
            </a:r>
            <a:r>
              <a:rPr dirty="0" smtClean="0" sz="500" spc="0">
                <a:latin typeface="Courier New"/>
                <a:cs typeface="Courier New"/>
              </a:rPr>
              <a:t>)</a:t>
            </a:r>
            <a:r>
              <a:rPr dirty="0" smtClean="0" sz="500" spc="0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%</a:t>
            </a:r>
            <a:endParaRPr sz="500">
              <a:latin typeface="Courier New"/>
              <a:cs typeface="Courier New"/>
            </a:endParaRPr>
          </a:p>
          <a:p>
            <a:pPr marL="229234" marR="1124585" algn="ctr">
              <a:lnSpc>
                <a:spcPts val="675"/>
              </a:lnSpc>
              <a:spcBef>
                <a:spcPts val="33"/>
              </a:spcBef>
            </a:pPr>
            <a:r>
              <a:rPr dirty="0" smtClean="0" baseline="4904" sz="900" spc="-4">
                <a:latin typeface="Courier New"/>
                <a:cs typeface="Courier New"/>
              </a:rPr>
              <a:t>NUM_PHILOSOPHERS</a:t>
            </a:r>
            <a:r>
              <a:rPr dirty="0" smtClean="0" baseline="5885" sz="750" spc="0">
                <a:latin typeface="Courier New"/>
                <a:cs typeface="Courier New"/>
              </a:rPr>
              <a:t>]</a:t>
            </a:r>
            <a:r>
              <a:rPr dirty="0" smtClean="0" baseline="5885" sz="750" spc="0">
                <a:latin typeface="Courier New"/>
                <a:cs typeface="Courier New"/>
              </a:rPr>
              <a:t> </a:t>
            </a:r>
            <a:r>
              <a:rPr dirty="0" smtClean="0" baseline="5885" sz="750" spc="-14">
                <a:latin typeface="Courier New"/>
                <a:cs typeface="Courier New"/>
              </a:rPr>
              <a:t>!</a:t>
            </a:r>
            <a:r>
              <a:rPr dirty="0" smtClean="0" baseline="5885" sz="750" spc="0">
                <a:latin typeface="Courier New"/>
                <a:cs typeface="Courier New"/>
              </a:rPr>
              <a:t>=</a:t>
            </a:r>
            <a:r>
              <a:rPr dirty="0" smtClean="0" baseline="5885" sz="750" spc="15">
                <a:latin typeface="Courier New"/>
                <a:cs typeface="Courier New"/>
              </a:rPr>
              <a:t> </a:t>
            </a:r>
            <a:r>
              <a:rPr dirty="0" smtClean="0" baseline="5885" sz="750" spc="-14">
                <a:latin typeface="Courier New"/>
                <a:cs typeface="Courier New"/>
              </a:rPr>
              <a:t>eating</a:t>
            </a:r>
            <a:r>
              <a:rPr dirty="0" smtClean="0" baseline="5885" sz="750" spc="0">
                <a:latin typeface="Courier New"/>
                <a:cs typeface="Courier New"/>
              </a:rPr>
              <a:t>)</a:t>
            </a:r>
            <a:r>
              <a:rPr dirty="0" smtClean="0" baseline="5885" sz="750" spc="90">
                <a:latin typeface="Courier New"/>
                <a:cs typeface="Courier New"/>
              </a:rPr>
              <a:t> </a:t>
            </a:r>
            <a:r>
              <a:rPr dirty="0" smtClean="0" baseline="5885" sz="750" spc="-14">
                <a:latin typeface="Courier New"/>
                <a:cs typeface="Courier New"/>
              </a:rPr>
              <a:t>&amp;&amp;</a:t>
            </a:r>
            <a:endParaRPr sz="500">
              <a:latin typeface="Courier New"/>
              <a:cs typeface="Courier New"/>
            </a:endParaRPr>
          </a:p>
          <a:p>
            <a:pPr marL="468074" marR="1258649" algn="ctr">
              <a:lnSpc>
                <a:spcPct val="94401"/>
              </a:lnSpc>
              <a:spcBef>
                <a:spcPts val="116"/>
              </a:spcBef>
            </a:pPr>
            <a:r>
              <a:rPr dirty="0" smtClean="0" sz="500" spc="4">
                <a:latin typeface="Courier New"/>
                <a:cs typeface="Courier New"/>
              </a:rPr>
              <a:t>(state[i</a:t>
            </a:r>
            <a:r>
              <a:rPr dirty="0" smtClean="0" sz="500" spc="0">
                <a:latin typeface="Courier New"/>
                <a:cs typeface="Courier New"/>
              </a:rPr>
              <a:t>]</a:t>
            </a:r>
            <a:r>
              <a:rPr dirty="0" smtClean="0" sz="500" spc="139">
                <a:latin typeface="Courier New"/>
                <a:cs typeface="Courier New"/>
              </a:rPr>
              <a:t> </a:t>
            </a:r>
            <a:r>
              <a:rPr dirty="0" smtClean="0" sz="500" spc="4">
                <a:latin typeface="Courier New"/>
                <a:cs typeface="Courier New"/>
              </a:rPr>
              <a:t>=</a:t>
            </a:r>
            <a:r>
              <a:rPr dirty="0" smtClean="0" sz="500" spc="0">
                <a:latin typeface="Courier New"/>
                <a:cs typeface="Courier New"/>
              </a:rPr>
              <a:t>=</a:t>
            </a:r>
            <a:r>
              <a:rPr dirty="0" smtClean="0" sz="500" spc="34">
                <a:latin typeface="Courier New"/>
                <a:cs typeface="Courier New"/>
              </a:rPr>
              <a:t> </a:t>
            </a:r>
            <a:r>
              <a:rPr dirty="0" smtClean="0" sz="500" spc="4">
                <a:latin typeface="Courier New"/>
                <a:cs typeface="Courier New"/>
              </a:rPr>
              <a:t>hungry</a:t>
            </a:r>
            <a:r>
              <a:rPr dirty="0" smtClean="0" sz="500" spc="0">
                <a:latin typeface="Courier New"/>
                <a:cs typeface="Courier New"/>
              </a:rPr>
              <a:t>)</a:t>
            </a:r>
            <a:r>
              <a:rPr dirty="0" smtClean="0" sz="500" spc="109">
                <a:latin typeface="Courier New"/>
                <a:cs typeface="Courier New"/>
              </a:rPr>
              <a:t> </a:t>
            </a:r>
            <a:r>
              <a:rPr dirty="0" smtClean="0" sz="500" spc="4">
                <a:latin typeface="Courier New"/>
                <a:cs typeface="Courier New"/>
              </a:rPr>
              <a:t>&amp;&amp;</a:t>
            </a:r>
            <a:endParaRPr sz="500">
              <a:latin typeface="Courier New"/>
              <a:cs typeface="Courier New"/>
            </a:endParaRPr>
          </a:p>
          <a:p>
            <a:pPr marL="485775">
              <a:lnSpc>
                <a:spcPct val="94401"/>
              </a:lnSpc>
              <a:spcBef>
                <a:spcPts val="175"/>
              </a:spcBef>
            </a:pPr>
            <a:r>
              <a:rPr dirty="0" smtClean="0" sz="500" spc="-4">
                <a:latin typeface="Courier New"/>
                <a:cs typeface="Courier New"/>
              </a:rPr>
              <a:t>(state[(</a:t>
            </a:r>
            <a:r>
              <a:rPr dirty="0" smtClean="0" sz="500" spc="0">
                <a:latin typeface="Courier New"/>
                <a:cs typeface="Courier New"/>
              </a:rPr>
              <a:t>i</a:t>
            </a:r>
            <a:r>
              <a:rPr dirty="0" smtClean="0" sz="500" spc="12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+</a:t>
            </a:r>
            <a:r>
              <a:rPr dirty="0" smtClean="0" sz="500" spc="9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1</a:t>
            </a:r>
            <a:r>
              <a:rPr dirty="0" smtClean="0" sz="500" spc="0">
                <a:latin typeface="Courier New"/>
                <a:cs typeface="Courier New"/>
              </a:rPr>
              <a:t>)</a:t>
            </a:r>
            <a:r>
              <a:rPr dirty="0" smtClean="0" sz="500" spc="25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%</a:t>
            </a:r>
            <a:r>
              <a:rPr dirty="0" smtClean="0" sz="500" spc="9">
                <a:latin typeface="Courier New"/>
                <a:cs typeface="Courier New"/>
              </a:rPr>
              <a:t> </a:t>
            </a:r>
            <a:r>
              <a:rPr dirty="0" smtClean="0" sz="600" spc="0">
                <a:latin typeface="Courier New"/>
                <a:cs typeface="Courier New"/>
              </a:rPr>
              <a:t>NUM_PHILOSOPHERS</a:t>
            </a:r>
            <a:r>
              <a:rPr dirty="0" smtClean="0" sz="500" spc="0">
                <a:latin typeface="Courier New"/>
                <a:cs typeface="Courier New"/>
              </a:rPr>
              <a:t>]</a:t>
            </a:r>
            <a:r>
              <a:rPr dirty="0" smtClean="0" sz="500" spc="4">
                <a:latin typeface="Courier New"/>
                <a:cs typeface="Courier New"/>
              </a:rPr>
              <a:t> </a:t>
            </a:r>
            <a:r>
              <a:rPr dirty="0" smtClean="0" sz="500" spc="-9">
                <a:latin typeface="Courier New"/>
                <a:cs typeface="Courier New"/>
              </a:rPr>
              <a:t>!</a:t>
            </a:r>
            <a:r>
              <a:rPr dirty="0" smtClean="0" sz="500" spc="0">
                <a:latin typeface="Courier New"/>
                <a:cs typeface="Courier New"/>
              </a:rPr>
              <a:t>=</a:t>
            </a:r>
            <a:r>
              <a:rPr dirty="0" smtClean="0" sz="500" spc="20">
                <a:latin typeface="Courier New"/>
                <a:cs typeface="Courier New"/>
              </a:rPr>
              <a:t> </a:t>
            </a:r>
            <a:r>
              <a:rPr dirty="0" smtClean="0" sz="500" spc="-9">
                <a:latin typeface="Courier New"/>
                <a:cs typeface="Courier New"/>
              </a:rPr>
              <a:t>eating)</a:t>
            </a:r>
            <a:r>
              <a:rPr dirty="0" smtClean="0" sz="500" spc="0">
                <a:latin typeface="Courier New"/>
                <a:cs typeface="Courier New"/>
              </a:rPr>
              <a:t>)</a:t>
            </a:r>
            <a:r>
              <a:rPr dirty="0" smtClean="0" sz="500" spc="109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572454" marR="1372544" algn="ctr">
              <a:lnSpc>
                <a:spcPct val="94401"/>
              </a:lnSpc>
              <a:spcBef>
                <a:spcPts val="75"/>
              </a:spcBef>
            </a:pPr>
            <a:r>
              <a:rPr dirty="0" smtClean="0" sz="500" spc="-4">
                <a:latin typeface="Courier New"/>
                <a:cs typeface="Courier New"/>
              </a:rPr>
              <a:t>state[i</a:t>
            </a:r>
            <a:r>
              <a:rPr dirty="0" smtClean="0" sz="500" spc="0">
                <a:latin typeface="Courier New"/>
                <a:cs typeface="Courier New"/>
              </a:rPr>
              <a:t>]</a:t>
            </a:r>
            <a:r>
              <a:rPr dirty="0" smtClean="0" sz="500" spc="114">
                <a:latin typeface="Courier New"/>
                <a:cs typeface="Courier New"/>
              </a:rPr>
              <a:t> </a:t>
            </a:r>
            <a:r>
              <a:rPr dirty="0" smtClean="0" sz="500" spc="0">
                <a:latin typeface="Courier New"/>
                <a:cs typeface="Courier New"/>
              </a:rPr>
              <a:t>=</a:t>
            </a:r>
            <a:r>
              <a:rPr dirty="0" smtClean="0" sz="500" spc="9">
                <a:latin typeface="Courier New"/>
                <a:cs typeface="Courier New"/>
              </a:rPr>
              <a:t> </a:t>
            </a:r>
            <a:r>
              <a:rPr dirty="0" smtClean="0" sz="500" spc="-4">
                <a:latin typeface="Courier New"/>
                <a:cs typeface="Courier New"/>
              </a:rPr>
              <a:t>eating;</a:t>
            </a:r>
            <a:endParaRPr sz="500">
              <a:latin typeface="Courier New"/>
              <a:cs typeface="Courier New"/>
            </a:endParaRPr>
          </a:p>
          <a:p>
            <a:pPr marL="572849" marR="1411056" algn="ctr">
              <a:lnSpc>
                <a:spcPct val="94401"/>
              </a:lnSpc>
              <a:spcBef>
                <a:spcPts val="180"/>
              </a:spcBef>
            </a:pPr>
            <a:r>
              <a:rPr dirty="0" smtClean="0" sz="500" spc="-4">
                <a:latin typeface="Courier New"/>
                <a:cs typeface="Courier New"/>
              </a:rPr>
              <a:t>self[i].signal();</a:t>
            </a:r>
            <a:endParaRPr sz="500">
              <a:latin typeface="Courier New"/>
              <a:cs typeface="Courier New"/>
            </a:endParaRPr>
          </a:p>
          <a:p>
            <a:pPr marL="409575">
              <a:lnSpc>
                <a:spcPct val="94401"/>
              </a:lnSpc>
              <a:spcBef>
                <a:spcPts val="180"/>
              </a:spcBef>
            </a:pPr>
            <a:r>
              <a:rPr dirty="0" smtClean="0" sz="500" spc="0"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 marL="247650">
              <a:lnSpc>
                <a:spcPct val="94401"/>
              </a:lnSpc>
              <a:spcBef>
                <a:spcPts val="180"/>
              </a:spcBef>
            </a:pPr>
            <a:r>
              <a:rPr dirty="0" smtClean="0" sz="500" spc="0"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 marR="114300" algn="r">
              <a:lnSpc>
                <a:spcPct val="100000"/>
              </a:lnSpc>
              <a:spcBef>
                <a:spcPts val="4473"/>
              </a:spcBef>
            </a:pPr>
            <a:r>
              <a:rPr dirty="0" smtClean="0" sz="350">
                <a:latin typeface="Times New Roman"/>
                <a:cs typeface="Times New Roman"/>
              </a:rPr>
              <a:t>-</a:t>
            </a:r>
            <a:r>
              <a:rPr dirty="0" smtClean="0" sz="350" spc="-59">
                <a:latin typeface="Times New Roman"/>
                <a:cs typeface="Times New Roman"/>
              </a:rPr>
              <a:t> </a:t>
            </a:r>
            <a:r>
              <a:rPr dirty="0" smtClean="0" sz="350" spc="39">
                <a:latin typeface="Times New Roman"/>
                <a:cs typeface="Times New Roman"/>
              </a:rPr>
              <a:t>4</a:t>
            </a:r>
            <a:r>
              <a:rPr dirty="0" smtClean="0" sz="350" spc="0">
                <a:latin typeface="Times New Roman"/>
                <a:cs typeface="Times New Roman"/>
              </a:rPr>
              <a:t>9</a:t>
            </a:r>
            <a:r>
              <a:rPr dirty="0" smtClean="0" sz="350" spc="-50">
                <a:latin typeface="Times New Roman"/>
                <a:cs typeface="Times New Roman"/>
              </a:rPr>
              <a:t> </a:t>
            </a:r>
            <a:endParaRPr sz="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xsi="http://www.w3.org/2001/XMLSchema-instance"/>
</file>
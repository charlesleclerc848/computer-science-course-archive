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072" autoAdjust="0"/>
  </p:normalViewPr>
  <p:slideViewPr>
    <p:cSldViewPr snapToGrid="0">
      <p:cViewPr varScale="1">
        <p:scale>
          <a:sx n="59" d="100"/>
          <a:sy n="59" d="100"/>
        </p:scale>
        <p:origin x="11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13B52-6633-4761-B3BC-6F1505F662EA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A3AEA-6619-4EEA-83D8-C93218C1A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39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Real-Life Examples of Constant Time O(1)</a:t>
            </a:r>
          </a:p>
          <a:p>
            <a:r>
              <a:rPr lang="en-US" dirty="0" smtClean="0"/>
              <a:t>- Checking the time on a digital clock.</a:t>
            </a:r>
          </a:p>
          <a:p>
            <a:r>
              <a:rPr lang="en-US" dirty="0" smtClean="0"/>
              <a:t>- Retrieving an element from an array by index.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A3AEA-6619-4EEA-83D8-C93218C1AE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55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Real-Life Examples of Linear Time O(n)</a:t>
            </a:r>
          </a:p>
          <a:p>
            <a:r>
              <a:rPr lang="en-US" dirty="0" smtClean="0"/>
              <a:t>- Reading a book page by page.</a:t>
            </a:r>
          </a:p>
          <a:p>
            <a:r>
              <a:rPr lang="en-US" dirty="0" smtClean="0"/>
              <a:t>- Counting the number of students in a class.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A3AEA-6619-4EEA-83D8-C93218C1AE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91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Real-Life Examples of Quadratic Time </a:t>
            </a:r>
            <a:r>
              <a:rPr lang="pt-BR" b="1" dirty="0" smtClean="0"/>
              <a:t>O(n²)</a:t>
            </a:r>
            <a:endParaRPr lang="en-US" b="1" dirty="0" smtClean="0"/>
          </a:p>
          <a:p>
            <a:r>
              <a:rPr lang="en-US" dirty="0" smtClean="0"/>
              <a:t>-</a:t>
            </a:r>
            <a:r>
              <a:rPr lang="en-US" baseline="0" dirty="0" smtClean="0"/>
              <a:t> </a:t>
            </a:r>
            <a:r>
              <a:rPr lang="en-US" dirty="0" smtClean="0"/>
              <a:t>Comparing every student’s grades with others to find rank.</a:t>
            </a:r>
          </a:p>
          <a:p>
            <a:r>
              <a:rPr lang="en-US" dirty="0" smtClean="0"/>
              <a:t>- Multiplying two matrices.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A3AEA-6619-4EEA-83D8-C93218C1AE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87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Mathematical Definition of Logarithm</a:t>
            </a:r>
          </a:p>
          <a:p>
            <a:r>
              <a:rPr lang="en-US" dirty="0" smtClean="0"/>
              <a:t>The logarithm of a number x with base b is written as:</a:t>
            </a:r>
          </a:p>
          <a:p>
            <a:r>
              <a:rPr lang="en-US" dirty="0" err="1" smtClean="0"/>
              <a:t>log⁡</a:t>
            </a:r>
            <a:r>
              <a:rPr lang="en-US" baseline="-25000" dirty="0" err="1" smtClean="0"/>
              <a:t>b</a:t>
            </a:r>
            <a:r>
              <a:rPr lang="en-US" dirty="0" smtClean="0"/>
              <a:t>(x)=y</a:t>
            </a:r>
          </a:p>
          <a:p>
            <a:r>
              <a:rPr lang="en-US" dirty="0" smtClean="0"/>
              <a:t>which means:</a:t>
            </a:r>
          </a:p>
          <a:p>
            <a:r>
              <a:rPr lang="en-US" dirty="0" smtClean="0"/>
              <a:t>b</a:t>
            </a:r>
            <a:r>
              <a:rPr lang="en-US" baseline="30000" dirty="0" smtClean="0"/>
              <a:t>y</a:t>
            </a:r>
            <a:r>
              <a:rPr lang="en-US" dirty="0" smtClean="0"/>
              <a:t>=x</a:t>
            </a:r>
          </a:p>
          <a:p>
            <a:r>
              <a:rPr lang="en-US" dirty="0" smtClean="0"/>
              <a:t>where: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b</a:t>
            </a:r>
            <a:r>
              <a:rPr lang="en-US" baseline="0" dirty="0" smtClean="0"/>
              <a:t> </a:t>
            </a:r>
            <a:r>
              <a:rPr lang="en-US" dirty="0" smtClean="0"/>
              <a:t>is the base of the logarithm,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x is the number you take the logarithm of,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y is the exponent (the answer).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A3AEA-6619-4EEA-83D8-C93218C1AE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94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Suppose</a:t>
            </a:r>
            <a:r>
              <a:rPr lang="en-US" baseline="0" dirty="0" smtClean="0"/>
              <a:t> we have </a:t>
            </a:r>
            <a:r>
              <a:rPr lang="en-US" dirty="0" smtClean="0"/>
              <a:t>a </a:t>
            </a:r>
            <a:r>
              <a:rPr lang="en-US" b="1" dirty="0" smtClean="0"/>
              <a:t>1024-element array</a:t>
            </a:r>
            <a:r>
              <a:rPr lang="en-US" dirty="0" smtClean="0"/>
              <a:t>, Binary Search only needs </a:t>
            </a:r>
            <a:r>
              <a:rPr lang="en-US" b="1" dirty="0" smtClean="0"/>
              <a:t>10</a:t>
            </a:r>
            <a:r>
              <a:rPr lang="en-US" dirty="0" smtClean="0"/>
              <a:t> comparisons instead of 1024. That's the power of logarithmic time complexity! </a:t>
            </a:r>
          </a:p>
          <a:p>
            <a:r>
              <a:rPr lang="en-US" dirty="0" smtClean="0"/>
              <a:t>If the array has 16 elements → at most 4 steps.</a:t>
            </a:r>
          </a:p>
          <a:p>
            <a:r>
              <a:rPr lang="en-US" dirty="0" smtClean="0"/>
              <a:t>If the array has 1,000,000 elements → at most 20 steps.</a:t>
            </a:r>
          </a:p>
          <a:p>
            <a:r>
              <a:rPr lang="en-US" dirty="0" smtClean="0"/>
              <a:t>This is much faster than O(n).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A3AEA-6619-4EEA-83D8-C93218C1AE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74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A3AEA-6619-4EEA-83D8-C93218C1AE3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88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A3AEA-6619-4EEA-83D8-C93218C1AE3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60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3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2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3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2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2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72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20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277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78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7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6E157-D4F5-4FB7-B036-A33E5BD72C6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E3A7B-3269-4AF9-8B50-76E164E9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6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Asymptotic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5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Algorithm?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step-by-step procedure to solve a problem.</a:t>
            </a:r>
          </a:p>
          <a:p>
            <a:pPr algn="just"/>
            <a:r>
              <a:rPr lang="en-US" dirty="0" smtClean="0"/>
              <a:t>Example: Finding the largest number in a list.</a:t>
            </a:r>
          </a:p>
          <a:p>
            <a:pPr algn="just"/>
            <a:r>
              <a:rPr lang="en-US" dirty="0" smtClean="0"/>
              <a:t>Why do we need efficient algorithms? (Faster execution, better performance)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76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Analyze Algorithms?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We need to compare different algorithms for the same task.</a:t>
            </a:r>
          </a:p>
          <a:p>
            <a:pPr algn="just"/>
            <a:r>
              <a:rPr lang="en-US" dirty="0" smtClean="0"/>
              <a:t>Helps in choosing the best approach for large inputs.</a:t>
            </a:r>
          </a:p>
          <a:p>
            <a:pPr algn="just"/>
            <a:r>
              <a:rPr lang="en-US" dirty="0" smtClean="0"/>
              <a:t>Example: Searching for a name in a phonebook (Linear Search </a:t>
            </a:r>
            <a:r>
              <a:rPr lang="en-US" dirty="0" err="1" smtClean="0"/>
              <a:t>vs</a:t>
            </a:r>
            <a:r>
              <a:rPr lang="en-US" dirty="0" smtClean="0"/>
              <a:t> Binary Search).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20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Asymptotic 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Asymptotic analysis is a method used to evaluate the efficiency of an algorithm in terms of time and space complexity as the input size grows. </a:t>
            </a:r>
          </a:p>
          <a:p>
            <a:pPr algn="just"/>
            <a:r>
              <a:rPr lang="en-US" dirty="0" smtClean="0"/>
              <a:t>It helps in comparing different algorithms without running them on actual hardware.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40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Asymptotic 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When designing an algorithm, we need to measure its efficiency. </a:t>
            </a:r>
          </a:p>
          <a:p>
            <a:pPr algn="just"/>
            <a:r>
              <a:rPr lang="en-US" dirty="0" smtClean="0"/>
              <a:t>Instead of measuring the exact execution time (which depends on hardware, compiler, and system load), we use asymptotic analysis to determine how an algorithm's performance scales with input size.</a:t>
            </a:r>
          </a:p>
          <a:p>
            <a:pPr algn="just"/>
            <a:r>
              <a:rPr lang="en-US" dirty="0" smtClean="0"/>
              <a:t>It helps in understanding the growth rate of an algorithm.</a:t>
            </a:r>
          </a:p>
          <a:p>
            <a:pPr algn="just"/>
            <a:r>
              <a:rPr lang="en-US" dirty="0" smtClean="0"/>
              <a:t>It provides a mathematical way to compare algorithms.</a:t>
            </a:r>
          </a:p>
          <a:p>
            <a:pPr algn="just"/>
            <a:r>
              <a:rPr lang="en-US" dirty="0" smtClean="0"/>
              <a:t>It focuses on the worst, average, and best-case scenarios.</a:t>
            </a:r>
          </a:p>
          <a:p>
            <a:pPr algn="just"/>
            <a:r>
              <a:rPr lang="en-US" dirty="0" smtClean="0"/>
              <a:t>It helps in choosing the best algorithm for a given problem.</a:t>
            </a:r>
          </a:p>
        </p:txBody>
      </p:sp>
    </p:spTree>
    <p:extLst>
      <p:ext uri="{BB962C8B-B14F-4D97-AF65-F5344CB8AC3E}">
        <p14:creationId xmlns:p14="http://schemas.microsoft.com/office/powerpoint/2010/main" val="2726165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Asymptotic Notations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Asymptotic notations describe the time complexity of an algorithm.</a:t>
            </a:r>
          </a:p>
          <a:p>
            <a:pPr algn="just"/>
            <a:r>
              <a:rPr lang="en-US" dirty="0" smtClean="0"/>
              <a:t>Big-O Notation (O)</a:t>
            </a:r>
          </a:p>
          <a:p>
            <a:pPr algn="just"/>
            <a:r>
              <a:rPr lang="en-US" dirty="0" smtClean="0"/>
              <a:t>Omega </a:t>
            </a:r>
            <a:r>
              <a:rPr lang="en-US" dirty="0" smtClean="0"/>
              <a:t>Notations </a:t>
            </a:r>
            <a:r>
              <a:rPr lang="en-US" dirty="0" smtClean="0"/>
              <a:t>(</a:t>
            </a:r>
            <a:r>
              <a:rPr lang="el-GR" dirty="0" smtClean="0"/>
              <a:t>Ω)</a:t>
            </a:r>
            <a:endParaRPr lang="en-US" dirty="0" smtClean="0"/>
          </a:p>
          <a:p>
            <a:pPr algn="just"/>
            <a:r>
              <a:rPr lang="en-US" dirty="0" smtClean="0"/>
              <a:t>Theta </a:t>
            </a:r>
            <a:r>
              <a:rPr lang="en-US" dirty="0" smtClean="0"/>
              <a:t>Notations </a:t>
            </a:r>
            <a:r>
              <a:rPr lang="en-US" dirty="0" smtClean="0"/>
              <a:t>(</a:t>
            </a:r>
            <a:r>
              <a:rPr lang="el-GR" dirty="0" smtClean="0"/>
              <a:t>Θ)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841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Big-O Notation (O)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Describes the </a:t>
            </a:r>
            <a:r>
              <a:rPr lang="en-US" b="1" dirty="0" smtClean="0"/>
              <a:t>worst-case </a:t>
            </a:r>
            <a:r>
              <a:rPr lang="en-US" dirty="0" smtClean="0"/>
              <a:t>scenario.</a:t>
            </a:r>
          </a:p>
          <a:p>
            <a:pPr algn="just"/>
            <a:r>
              <a:rPr lang="en-US" dirty="0" smtClean="0"/>
              <a:t>Upper bound of an algorithm’s time complexity.</a:t>
            </a:r>
            <a:endParaRPr lang="en-US" dirty="0" smtClean="0"/>
          </a:p>
          <a:p>
            <a:pPr algn="just"/>
            <a:r>
              <a:rPr lang="en-US" dirty="0" smtClean="0"/>
              <a:t>Ensures the algorithm won’t perform worse than this bound.</a:t>
            </a:r>
          </a:p>
          <a:p>
            <a:pPr algn="just"/>
            <a:r>
              <a:rPr lang="en-US" dirty="0" smtClean="0"/>
              <a:t>Example:</a:t>
            </a:r>
          </a:p>
          <a:p>
            <a:pPr lvl="1" algn="just"/>
            <a:r>
              <a:rPr lang="en-US" dirty="0" smtClean="0"/>
              <a:t>Linear Search: O(n)</a:t>
            </a:r>
          </a:p>
          <a:p>
            <a:pPr lvl="1" algn="just"/>
            <a:r>
              <a:rPr lang="en-US" dirty="0" smtClean="0"/>
              <a:t>Binary Search: O(log n)</a:t>
            </a:r>
          </a:p>
          <a:p>
            <a:pPr lvl="1" algn="just"/>
            <a:r>
              <a:rPr lang="en-US" dirty="0" smtClean="0"/>
              <a:t>Bubble Sort: O(n²)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93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Omega Notation (</a:t>
            </a:r>
            <a:r>
              <a:rPr lang="el-GR" dirty="0" smtClean="0"/>
              <a:t>Ω)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Represents the </a:t>
            </a:r>
            <a:r>
              <a:rPr lang="en-US" b="1" dirty="0" smtClean="0"/>
              <a:t>best-case</a:t>
            </a:r>
            <a:r>
              <a:rPr lang="en-US" dirty="0" smtClean="0"/>
              <a:t> time complexity.</a:t>
            </a:r>
          </a:p>
          <a:p>
            <a:pPr algn="just"/>
            <a:r>
              <a:rPr lang="en-US" dirty="0" smtClean="0"/>
              <a:t>Lower </a:t>
            </a:r>
            <a:r>
              <a:rPr lang="en-US" dirty="0" smtClean="0"/>
              <a:t>bound of an algorithm’s time complexity</a:t>
            </a:r>
          </a:p>
          <a:p>
            <a:pPr algn="just"/>
            <a:r>
              <a:rPr lang="en-US" dirty="0" smtClean="0"/>
              <a:t>Example:</a:t>
            </a:r>
          </a:p>
          <a:p>
            <a:pPr lvl="1" algn="just"/>
            <a:r>
              <a:rPr lang="en-US" dirty="0" smtClean="0"/>
              <a:t>If an algorithm has a complexity of Ω(n), it means it will take at least linear time.</a:t>
            </a:r>
          </a:p>
          <a:p>
            <a:pPr lvl="1" algn="just"/>
            <a:r>
              <a:rPr lang="en-US" dirty="0" smtClean="0"/>
              <a:t>Linear search </a:t>
            </a:r>
            <a:r>
              <a:rPr lang="en-US" dirty="0" smtClean="0"/>
              <a:t>Ω(1).</a:t>
            </a:r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182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Theta Notations (</a:t>
            </a:r>
            <a:r>
              <a:rPr lang="el-GR" dirty="0" smtClean="0"/>
              <a:t>Θ)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Represents the </a:t>
            </a:r>
            <a:r>
              <a:rPr lang="en-US" b="1" dirty="0" smtClean="0"/>
              <a:t>average-case</a:t>
            </a:r>
            <a:r>
              <a:rPr lang="en-US" dirty="0" smtClean="0"/>
              <a:t> or </a:t>
            </a:r>
            <a:r>
              <a:rPr lang="en-US" b="1" dirty="0" smtClean="0"/>
              <a:t>tight bound</a:t>
            </a:r>
            <a:r>
              <a:rPr lang="en-US" dirty="0" smtClean="0"/>
              <a:t> time complexity.</a:t>
            </a:r>
          </a:p>
          <a:p>
            <a:pPr algn="just"/>
            <a:r>
              <a:rPr lang="en-US" dirty="0" smtClean="0"/>
              <a:t>Used when an algorithm behaves consistently.</a:t>
            </a:r>
          </a:p>
          <a:p>
            <a:pPr algn="just"/>
            <a:r>
              <a:rPr lang="en-US" dirty="0" smtClean="0"/>
              <a:t>Example:</a:t>
            </a:r>
          </a:p>
          <a:p>
            <a:pPr lvl="1" algn="just"/>
            <a:r>
              <a:rPr lang="en-US" dirty="0" smtClean="0"/>
              <a:t>If an algorithm has a complexity of Θ(n log ⁡n), it means its runtime is approximately proportional to </a:t>
            </a:r>
            <a:r>
              <a:rPr lang="en-US" dirty="0" err="1" smtClean="0"/>
              <a:t>nlog⁡n</a:t>
            </a:r>
            <a:r>
              <a:rPr lang="en-US" dirty="0" smtClean="0"/>
              <a:t> in all cases.</a:t>
            </a:r>
          </a:p>
          <a:p>
            <a:pPr lvl="1" algn="just"/>
            <a:r>
              <a:rPr lang="en-US" dirty="0" smtClean="0"/>
              <a:t>In </a:t>
            </a:r>
            <a:r>
              <a:rPr lang="en-US" b="1" dirty="0" smtClean="0"/>
              <a:t>linear search</a:t>
            </a:r>
            <a:r>
              <a:rPr lang="en-US" dirty="0" smtClean="0"/>
              <a:t>, the key may be found anywhere.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Complexity?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Complexity tells us how much time (speed) or space (memory) an algorithm needs as the input size increases.</a:t>
            </a:r>
          </a:p>
          <a:p>
            <a:pPr algn="just"/>
            <a:r>
              <a:rPr lang="en-US" dirty="0" smtClean="0"/>
              <a:t>There are two types of complexity:</a:t>
            </a:r>
          </a:p>
          <a:p>
            <a:pPr lvl="1" algn="just"/>
            <a:r>
              <a:rPr lang="en-US" dirty="0" smtClean="0"/>
              <a:t>Time Complexity → How long does the algorithm take to complete?</a:t>
            </a:r>
          </a:p>
          <a:p>
            <a:pPr lvl="1" algn="just"/>
            <a:r>
              <a:rPr lang="en-US" dirty="0" smtClean="0"/>
              <a:t>Space Complexity → How much memory does the algorithm use?</a:t>
            </a:r>
          </a:p>
          <a:p>
            <a:pPr lvl="1" algn="just"/>
            <a:endParaRPr lang="en-US" dirty="0" smtClean="0"/>
          </a:p>
          <a:p>
            <a:pPr algn="just"/>
            <a:r>
              <a:rPr lang="en-US" dirty="0" smtClean="0"/>
              <a:t>In this explanation, we will focus on Time Complexity.</a:t>
            </a:r>
          </a:p>
        </p:txBody>
      </p:sp>
    </p:spTree>
    <p:extLst>
      <p:ext uri="{BB962C8B-B14F-4D97-AF65-F5344CB8AC3E}">
        <p14:creationId xmlns:p14="http://schemas.microsoft.com/office/powerpoint/2010/main" val="395748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We Measure Time Complexity?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Let’s say you have two algorithms to solve a problem. You need to decide which one is better.</a:t>
            </a:r>
          </a:p>
          <a:p>
            <a:pPr algn="just"/>
            <a:r>
              <a:rPr lang="en-US" b="1" dirty="0" smtClean="0"/>
              <a:t>Example:</a:t>
            </a:r>
          </a:p>
          <a:p>
            <a:pPr algn="just"/>
            <a:r>
              <a:rPr lang="en-US" dirty="0" smtClean="0"/>
              <a:t>Imagine you want to search for a name in a phonebook with 1,000,000 names.</a:t>
            </a:r>
          </a:p>
          <a:p>
            <a:pPr lvl="1" algn="just"/>
            <a:r>
              <a:rPr lang="en-US" dirty="0" smtClean="0"/>
              <a:t>Algorithm A: Reads every name one by one (Takes a long time!).</a:t>
            </a:r>
          </a:p>
          <a:p>
            <a:pPr lvl="1" algn="just"/>
            <a:r>
              <a:rPr lang="en-US" dirty="0" smtClean="0"/>
              <a:t>Algorithm B: Quickly jumps and cuts the search space in half (Much faster!).</a:t>
            </a:r>
          </a:p>
          <a:p>
            <a:pPr algn="just"/>
            <a:r>
              <a:rPr lang="en-US" dirty="0" smtClean="0"/>
              <a:t>Instead of running both algorithms on a computer for every possible input, we analyze their performance mathematically using complexity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020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Measure Time Complexity?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We count the number of operations (steps) an algorithm takes based on the input size n.</a:t>
            </a:r>
          </a:p>
          <a:p>
            <a:pPr algn="just"/>
            <a:r>
              <a:rPr lang="en-US" dirty="0" smtClean="0"/>
              <a:t>Let’s analyze some examples.</a:t>
            </a:r>
          </a:p>
          <a:p>
            <a:pPr algn="just"/>
            <a:r>
              <a:rPr lang="en-US" b="1" dirty="0" smtClean="0"/>
              <a:t>Example 1: Constant Time - O(1)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457200" lvl="1" indent="0" algn="just">
              <a:buNone/>
            </a:pPr>
            <a:r>
              <a:rPr lang="en-US" sz="3300" dirty="0" err="1" smtClean="0"/>
              <a:t>int</a:t>
            </a:r>
            <a:r>
              <a:rPr lang="en-US" sz="3300" dirty="0" smtClean="0"/>
              <a:t> </a:t>
            </a:r>
            <a:r>
              <a:rPr lang="en-US" sz="3300" dirty="0" err="1" smtClean="0"/>
              <a:t>get_first_element</a:t>
            </a:r>
            <a:r>
              <a:rPr lang="en-US" sz="3300" dirty="0" smtClean="0"/>
              <a:t>(</a:t>
            </a:r>
            <a:r>
              <a:rPr lang="en-US" sz="3300" dirty="0" err="1" smtClean="0"/>
              <a:t>arr</a:t>
            </a:r>
            <a:r>
              <a:rPr lang="en-US" sz="3300" dirty="0" smtClean="0"/>
              <a:t>):</a:t>
            </a:r>
          </a:p>
          <a:p>
            <a:pPr marL="914400" lvl="2" indent="0" algn="just">
              <a:buNone/>
            </a:pPr>
            <a:r>
              <a:rPr lang="en-US" sz="2400" dirty="0" smtClean="0"/>
              <a:t>return </a:t>
            </a:r>
            <a:r>
              <a:rPr lang="en-US" sz="2400" dirty="0" err="1" smtClean="0"/>
              <a:t>arr</a:t>
            </a:r>
            <a:r>
              <a:rPr lang="en-US" sz="2400" dirty="0" smtClean="0"/>
              <a:t>[0] # Only 1 step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No matter how large </a:t>
            </a:r>
            <a:r>
              <a:rPr lang="en-US" dirty="0" err="1" smtClean="0"/>
              <a:t>arr</a:t>
            </a:r>
            <a:r>
              <a:rPr lang="en-US" dirty="0" smtClean="0"/>
              <a:t> is, this function always does 1 step.</a:t>
            </a:r>
          </a:p>
          <a:p>
            <a:pPr algn="just"/>
            <a:r>
              <a:rPr lang="en-US" dirty="0" smtClean="0"/>
              <a:t>Time Complexity = O(1) (Constant Time).</a:t>
            </a:r>
          </a:p>
          <a:p>
            <a:pPr algn="just"/>
            <a:r>
              <a:rPr lang="en-US" b="1" dirty="0" smtClean="0"/>
              <a:t>Example:</a:t>
            </a:r>
            <a:r>
              <a:rPr lang="en-US" dirty="0" smtClean="0"/>
              <a:t> If </a:t>
            </a:r>
            <a:r>
              <a:rPr lang="en-US" dirty="0" err="1" smtClean="0"/>
              <a:t>arr</a:t>
            </a:r>
            <a:r>
              <a:rPr lang="en-US" dirty="0" smtClean="0"/>
              <a:t> has 10 elements or 1,000,000 elements, the function still takes only 1 step.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054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Measure Time Complexity?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Example 2: Linear Time - O(n)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print_elements</a:t>
            </a:r>
            <a:r>
              <a:rPr lang="en-US" dirty="0" smtClean="0"/>
              <a:t>(</a:t>
            </a:r>
            <a:r>
              <a:rPr lang="en-US" dirty="0" err="1" smtClean="0"/>
              <a:t>arr</a:t>
            </a:r>
            <a:r>
              <a:rPr lang="en-US" dirty="0" smtClean="0"/>
              <a:t>):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for item in </a:t>
            </a:r>
            <a:r>
              <a:rPr lang="en-US" dirty="0" err="1" smtClean="0"/>
              <a:t>arr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        </a:t>
            </a:r>
            <a:r>
              <a:rPr lang="en-US" dirty="0" smtClean="0"/>
              <a:t>print(item) # Runs ‘n’ times</a:t>
            </a:r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 err="1" smtClean="0"/>
              <a:t>arr</a:t>
            </a:r>
            <a:r>
              <a:rPr lang="en-US" dirty="0" smtClean="0"/>
              <a:t> has 10 elements → 10 steps.</a:t>
            </a:r>
          </a:p>
          <a:p>
            <a:r>
              <a:rPr lang="en-US" dirty="0" smtClean="0"/>
              <a:t>If </a:t>
            </a:r>
            <a:r>
              <a:rPr lang="en-US" dirty="0" err="1" smtClean="0"/>
              <a:t>arr</a:t>
            </a:r>
            <a:r>
              <a:rPr lang="en-US" dirty="0" smtClean="0"/>
              <a:t> has 1,000 elements → 1,000 steps.</a:t>
            </a:r>
          </a:p>
          <a:p>
            <a:r>
              <a:rPr lang="en-US" dirty="0" smtClean="0"/>
              <a:t>Time Complexity = O(n) (Linear Time).</a:t>
            </a:r>
          </a:p>
          <a:p>
            <a:r>
              <a:rPr lang="en-US" dirty="0" smtClean="0"/>
              <a:t>Why? Because the function runs once for each element in the input.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55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Measure Time Complexity?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pt-BR" b="1" dirty="0" smtClean="0"/>
              <a:t>Example 3: Quadratic Time - O(n²)</a:t>
            </a:r>
          </a:p>
          <a:p>
            <a:pPr algn="just"/>
            <a:endParaRPr lang="pt-BR" dirty="0"/>
          </a:p>
          <a:p>
            <a:pPr marL="0" indent="0" algn="just"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print_pairs</a:t>
            </a:r>
            <a:r>
              <a:rPr lang="en-US" dirty="0" smtClean="0"/>
              <a:t>(</a:t>
            </a:r>
            <a:r>
              <a:rPr lang="en-US" dirty="0" err="1" smtClean="0"/>
              <a:t>arr</a:t>
            </a:r>
            <a:r>
              <a:rPr lang="en-US" dirty="0" smtClean="0"/>
              <a:t>):</a:t>
            </a:r>
          </a:p>
          <a:p>
            <a:pPr marL="0" indent="0" algn="just">
              <a:buNone/>
            </a:pPr>
            <a:r>
              <a:rPr lang="en-US" dirty="0" smtClean="0"/>
              <a:t>    for </a:t>
            </a:r>
            <a:r>
              <a:rPr lang="en-US" dirty="0" err="1" smtClean="0"/>
              <a:t>i</a:t>
            </a:r>
            <a:r>
              <a:rPr lang="en-US" dirty="0" smtClean="0"/>
              <a:t> in </a:t>
            </a:r>
            <a:r>
              <a:rPr lang="en-US" dirty="0" err="1" smtClean="0"/>
              <a:t>arr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    </a:t>
            </a:r>
            <a:r>
              <a:rPr lang="en-US" dirty="0" smtClean="0"/>
              <a:t>    </a:t>
            </a:r>
            <a:r>
              <a:rPr lang="en-US" dirty="0" smtClean="0"/>
              <a:t>for j in </a:t>
            </a:r>
            <a:r>
              <a:rPr lang="en-US" dirty="0" err="1" smtClean="0"/>
              <a:t>arr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            </a:t>
            </a:r>
            <a:r>
              <a:rPr lang="en-US" dirty="0" smtClean="0"/>
              <a:t>print(</a:t>
            </a:r>
            <a:r>
              <a:rPr lang="en-US" dirty="0" err="1" smtClean="0"/>
              <a:t>i</a:t>
            </a:r>
            <a:r>
              <a:rPr lang="en-US" dirty="0" smtClean="0"/>
              <a:t>, j) # Runs ‘n * n’ times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 err="1" smtClean="0"/>
              <a:t>arr</a:t>
            </a:r>
            <a:r>
              <a:rPr lang="en-US" dirty="0" smtClean="0"/>
              <a:t> has 10 elements → 10 × 10 = 100 steps.</a:t>
            </a:r>
          </a:p>
          <a:p>
            <a:pPr algn="just"/>
            <a:r>
              <a:rPr lang="en-US" dirty="0" smtClean="0"/>
              <a:t>If </a:t>
            </a:r>
            <a:r>
              <a:rPr lang="en-US" dirty="0" err="1" smtClean="0"/>
              <a:t>arr</a:t>
            </a:r>
            <a:r>
              <a:rPr lang="en-US" dirty="0" smtClean="0"/>
              <a:t> has 1,000 elements → 1,000 × 1,000 = 1,000,000 steps.</a:t>
            </a:r>
          </a:p>
          <a:p>
            <a:pPr algn="just"/>
            <a:r>
              <a:rPr lang="en-US" dirty="0" smtClean="0"/>
              <a:t>Time Complexity = O(n²) (Quadratic Time).</a:t>
            </a:r>
          </a:p>
          <a:p>
            <a:pPr algn="just"/>
            <a:r>
              <a:rPr lang="en-US" dirty="0" smtClean="0"/>
              <a:t>Why? Because for each element </a:t>
            </a:r>
            <a:r>
              <a:rPr lang="en-US" dirty="0" err="1" smtClean="0"/>
              <a:t>i</a:t>
            </a:r>
            <a:r>
              <a:rPr lang="en-US" dirty="0" smtClean="0"/>
              <a:t>, we loop through n elements again (j), creating nested</a:t>
            </a:r>
          </a:p>
          <a:p>
            <a:pPr algn="just"/>
            <a:r>
              <a:rPr lang="en-US" dirty="0" smtClean="0"/>
              <a:t>loops.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405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Measure Time Complexity?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b="1" dirty="0" smtClean="0"/>
              <a:t>Example 4: Logarithmic Time Complexity - O(log n)</a:t>
            </a:r>
          </a:p>
          <a:p>
            <a:pPr algn="just"/>
            <a:r>
              <a:rPr lang="en-US" dirty="0" smtClean="0"/>
              <a:t>What Does Logarithmic Mean?</a:t>
            </a:r>
          </a:p>
          <a:p>
            <a:pPr lvl="1" algn="just"/>
            <a:r>
              <a:rPr lang="en-US" sz="2800" dirty="0" smtClean="0"/>
              <a:t>A logarithm (log) is the inverse of exponentiation.</a:t>
            </a:r>
          </a:p>
          <a:p>
            <a:pPr lvl="1" algn="just"/>
            <a:r>
              <a:rPr lang="en-US" sz="2800" dirty="0" smtClean="0"/>
              <a:t>Example:</a:t>
            </a:r>
          </a:p>
          <a:p>
            <a:pPr lvl="2" algn="just"/>
            <a:r>
              <a:rPr lang="en-US" sz="2400" dirty="0" smtClean="0"/>
              <a:t>If 2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=8, then log₂(8) = 3.</a:t>
            </a:r>
          </a:p>
          <a:p>
            <a:pPr lvl="2" algn="just"/>
            <a:r>
              <a:rPr lang="en-US" sz="2400" dirty="0" smtClean="0"/>
              <a:t>If 10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=10,000 then log₁₀(10,000) = 4.</a:t>
            </a:r>
          </a:p>
          <a:p>
            <a:pPr algn="just"/>
            <a:r>
              <a:rPr lang="en-US" dirty="0" smtClean="0"/>
              <a:t>Logarithmic time complexity means the number of operations grows very slowly as the input size increases.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725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Measure Time Complexity?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/>
              <a:t>Example: Binary Search O(log n)</a:t>
            </a:r>
          </a:p>
          <a:p>
            <a:pPr algn="just"/>
            <a:r>
              <a:rPr lang="en-US" dirty="0" smtClean="0"/>
              <a:t>Imagine you have a dictionary with 100,000 words, and you are searching for ‘apple’. Instead of checking every word one by one (O(n)), you can:</a:t>
            </a:r>
          </a:p>
          <a:p>
            <a:pPr lvl="1" algn="just"/>
            <a:r>
              <a:rPr lang="en-US" dirty="0" smtClean="0"/>
              <a:t>Open the dictionary in the middle.</a:t>
            </a:r>
          </a:p>
          <a:p>
            <a:pPr lvl="1" algn="just"/>
            <a:r>
              <a:rPr lang="en-US" dirty="0" smtClean="0"/>
              <a:t>If ‘apple’ is before the middle word, search the left half.</a:t>
            </a:r>
          </a:p>
          <a:p>
            <a:pPr lvl="1" algn="just"/>
            <a:r>
              <a:rPr lang="en-US" dirty="0" smtClean="0"/>
              <a:t>If </a:t>
            </a:r>
            <a:r>
              <a:rPr lang="en-US" dirty="0" smtClean="0"/>
              <a:t>‘apple’</a:t>
            </a:r>
            <a:r>
              <a:rPr lang="en-US" dirty="0" smtClean="0"/>
              <a:t> is after the middle word, search the right half.</a:t>
            </a:r>
          </a:p>
          <a:p>
            <a:pPr lvl="1" algn="just"/>
            <a:r>
              <a:rPr lang="en-US" dirty="0" smtClean="0"/>
              <a:t>Repeat until you find </a:t>
            </a:r>
            <a:r>
              <a:rPr lang="en-US" dirty="0" smtClean="0"/>
              <a:t>‘apple’</a:t>
            </a:r>
            <a:r>
              <a:rPr lang="en-US" dirty="0"/>
              <a:t>.</a:t>
            </a:r>
            <a:endParaRPr lang="en-US" dirty="0" smtClean="0"/>
          </a:p>
          <a:p>
            <a:pPr algn="just"/>
            <a:r>
              <a:rPr lang="en-US" dirty="0" smtClean="0"/>
              <a:t>Each time, you reduce the search space by half.</a:t>
            </a:r>
          </a:p>
          <a:p>
            <a:pPr algn="just"/>
            <a:r>
              <a:rPr lang="en-US" dirty="0" smtClean="0"/>
              <a:t>If there are n words, the number of steps required is log₂(n).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227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Step-by-Step Example: Finding 13 in a Sorted Array (Binary Search)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Let’s say we have this sorted array:</a:t>
            </a:r>
          </a:p>
          <a:p>
            <a:pPr marL="0" indent="0" algn="ctr">
              <a:buNone/>
            </a:pPr>
            <a:r>
              <a:rPr lang="en-US" dirty="0" smtClean="0"/>
              <a:t>[2, 5, 8, 10, 13, 17, 21, 25, 30]</a:t>
            </a:r>
          </a:p>
          <a:p>
            <a:r>
              <a:rPr lang="en-US" dirty="0" smtClean="0"/>
              <a:t>We are searching for 13.</a:t>
            </a:r>
          </a:p>
          <a:p>
            <a:r>
              <a:rPr lang="en-US" dirty="0" smtClean="0"/>
              <a:t>Step 1: Find the Middle Element</a:t>
            </a:r>
          </a:p>
          <a:p>
            <a:r>
              <a:rPr lang="en-US" dirty="0" smtClean="0"/>
              <a:t>Middle index = (0+8)/2=4</a:t>
            </a:r>
          </a:p>
          <a:p>
            <a:r>
              <a:rPr lang="en-US" dirty="0" smtClean="0"/>
              <a:t>Middle element = 13</a:t>
            </a:r>
          </a:p>
          <a:p>
            <a:r>
              <a:rPr lang="en-US" dirty="0" smtClean="0"/>
              <a:t>Match found! (Only 1 step needed)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45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Step-by-Step Example: Finding 17 in a Sorted Array (Binary Search)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98869"/>
          </a:xfrm>
        </p:spPr>
        <p:txBody>
          <a:bodyPr>
            <a:noAutofit/>
          </a:bodyPr>
          <a:lstStyle/>
          <a:p>
            <a:r>
              <a:rPr lang="en-US" sz="1400" dirty="0" smtClean="0"/>
              <a:t>Now finding 17 in the Same Array</a:t>
            </a:r>
          </a:p>
          <a:p>
            <a:pPr marL="0" indent="0" algn="ctr">
              <a:buNone/>
            </a:pPr>
            <a:r>
              <a:rPr lang="en-US" sz="1400" dirty="0" smtClean="0"/>
              <a:t>[2, 5, 8, 10, 13, 17, 21, 25, 30]</a:t>
            </a:r>
          </a:p>
          <a:p>
            <a:r>
              <a:rPr lang="en-US" sz="1400" b="1" dirty="0" smtClean="0"/>
              <a:t>Step 1:</a:t>
            </a:r>
            <a:r>
              <a:rPr lang="en-US" sz="1400" dirty="0" smtClean="0"/>
              <a:t> Find the Middle Element</a:t>
            </a:r>
          </a:p>
          <a:p>
            <a:r>
              <a:rPr lang="en-US" sz="1400" dirty="0" smtClean="0"/>
              <a:t>Middle index = (0+8)/2=4</a:t>
            </a:r>
          </a:p>
          <a:p>
            <a:r>
              <a:rPr lang="en-US" sz="1400" dirty="0" smtClean="0"/>
              <a:t>Middle element = 13</a:t>
            </a:r>
          </a:p>
          <a:p>
            <a:r>
              <a:rPr lang="en-US" sz="1400" dirty="0" smtClean="0"/>
              <a:t>17 is greater than 13, so search the right half.</a:t>
            </a:r>
          </a:p>
          <a:p>
            <a:r>
              <a:rPr lang="en-US" sz="1400" b="1" dirty="0" smtClean="0"/>
              <a:t>Step 2:</a:t>
            </a:r>
            <a:r>
              <a:rPr lang="en-US" sz="1400" dirty="0" smtClean="0"/>
              <a:t> New Search Space</a:t>
            </a:r>
          </a:p>
          <a:p>
            <a:pPr marL="0" indent="0" algn="ctr">
              <a:buNone/>
            </a:pPr>
            <a:r>
              <a:rPr lang="en-US" sz="1400" dirty="0" smtClean="0"/>
              <a:t>[17, 21, 25, 30] (index 5 to 8)</a:t>
            </a:r>
          </a:p>
          <a:p>
            <a:r>
              <a:rPr lang="en-US" sz="1400" dirty="0" smtClean="0"/>
              <a:t>Middle index = (5+8)/2=6</a:t>
            </a:r>
          </a:p>
          <a:p>
            <a:r>
              <a:rPr lang="en-US" sz="1400" dirty="0" smtClean="0"/>
              <a:t>Middle element = 21</a:t>
            </a:r>
          </a:p>
          <a:p>
            <a:r>
              <a:rPr lang="en-US" sz="1400" dirty="0" smtClean="0"/>
              <a:t>17 is smaller than 21, so search the left half.</a:t>
            </a:r>
          </a:p>
          <a:p>
            <a:r>
              <a:rPr lang="en-US" sz="1400" b="1" dirty="0" smtClean="0"/>
              <a:t>Step 3:</a:t>
            </a:r>
            <a:r>
              <a:rPr lang="en-US" sz="1400" dirty="0" smtClean="0"/>
              <a:t> New Search Space</a:t>
            </a:r>
          </a:p>
          <a:p>
            <a:pPr marL="0" indent="0" algn="ctr">
              <a:buNone/>
            </a:pPr>
            <a:r>
              <a:rPr lang="en-US" sz="1400" dirty="0" smtClean="0"/>
              <a:t>[17] (index 5)</a:t>
            </a:r>
          </a:p>
          <a:p>
            <a:r>
              <a:rPr lang="en-US" sz="1400" dirty="0" smtClean="0"/>
              <a:t>Middle index = 5</a:t>
            </a:r>
          </a:p>
          <a:p>
            <a:r>
              <a:rPr lang="en-US" sz="1400" dirty="0" smtClean="0"/>
              <a:t>Middle element = 17</a:t>
            </a:r>
          </a:p>
          <a:p>
            <a:r>
              <a:rPr lang="en-US" sz="1400" dirty="0" smtClean="0"/>
              <a:t>Match found! (Took 3 steps)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4662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Measure Time Complexity?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Example 5: Exponential Time Complexity - O(2ⁿ)</a:t>
            </a:r>
          </a:p>
          <a:p>
            <a:pPr algn="just"/>
            <a:r>
              <a:rPr lang="en-US" dirty="0" smtClean="0"/>
              <a:t>What Does Exponential Mean?</a:t>
            </a:r>
          </a:p>
          <a:p>
            <a:pPr lvl="1" algn="just"/>
            <a:r>
              <a:rPr lang="en-US" sz="2800" dirty="0" smtClean="0"/>
              <a:t>Exponential growth means doubling at each step.</a:t>
            </a:r>
          </a:p>
          <a:p>
            <a:pPr lvl="1" algn="just"/>
            <a:r>
              <a:rPr lang="en-US" sz="2800" dirty="0" smtClean="0"/>
              <a:t>If n = 1 → 2¹ = 2 steps.</a:t>
            </a:r>
          </a:p>
          <a:p>
            <a:pPr lvl="1" algn="just"/>
            <a:r>
              <a:rPr lang="en-US" sz="2800" dirty="0" smtClean="0"/>
              <a:t>If n = 5 → 2⁵ = 32 steps.</a:t>
            </a:r>
          </a:p>
          <a:p>
            <a:pPr lvl="1" algn="just"/>
            <a:r>
              <a:rPr lang="en-US" sz="2800" dirty="0" smtClean="0"/>
              <a:t>If n = 10 → 2¹⁰ = 1024 steps!</a:t>
            </a:r>
          </a:p>
          <a:p>
            <a:pPr lvl="1" algn="just"/>
            <a:r>
              <a:rPr lang="en-US" sz="2800" dirty="0" smtClean="0"/>
              <a:t>This complexity grows extremely fast and is not practical for large inputs.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2685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Measure Time Complexity?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7891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b="1" dirty="0" smtClean="0"/>
              <a:t>Example: Recursive Fibonacci (O(2ⁿ))</a:t>
            </a:r>
          </a:p>
          <a:p>
            <a:pPr algn="just"/>
            <a:r>
              <a:rPr lang="en-US" dirty="0" smtClean="0"/>
              <a:t>The Fibonacci sequence is:</a:t>
            </a:r>
          </a:p>
          <a:p>
            <a:pPr algn="just"/>
            <a:r>
              <a:rPr lang="en-US" dirty="0" smtClean="0"/>
              <a:t>1, 1, 2, 3, 5, 8, 13, 21, … (Each number is the sum of the previous two).</a:t>
            </a:r>
          </a:p>
          <a:p>
            <a:pPr algn="just"/>
            <a:r>
              <a:rPr lang="en-US" dirty="0" smtClean="0"/>
              <a:t>A naive recursive approach is:</a:t>
            </a:r>
          </a:p>
          <a:p>
            <a:pPr marL="457200" lvl="1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fibonacci</a:t>
            </a:r>
            <a:r>
              <a:rPr lang="en-US" dirty="0" smtClean="0"/>
              <a:t>(n)</a:t>
            </a:r>
            <a:endParaRPr lang="en-US" dirty="0"/>
          </a:p>
          <a:p>
            <a:pPr marL="457200" lvl="1" indent="0" algn="just">
              <a:buNone/>
            </a:pPr>
            <a:r>
              <a:rPr lang="en-US" dirty="0" smtClean="0"/>
              <a:t>	if </a:t>
            </a:r>
            <a:r>
              <a:rPr lang="en-US" dirty="0"/>
              <a:t>n &lt;</a:t>
            </a:r>
            <a:r>
              <a:rPr lang="en-US" dirty="0" smtClean="0"/>
              <a:t>= 1</a:t>
            </a:r>
            <a:endParaRPr lang="en-US" dirty="0"/>
          </a:p>
          <a:p>
            <a:pPr marL="457200" lvl="1" indent="0" algn="just">
              <a:buNone/>
            </a:pPr>
            <a:r>
              <a:rPr lang="en-US" dirty="0" smtClean="0"/>
              <a:t>	     return </a:t>
            </a:r>
            <a:r>
              <a:rPr lang="en-US" dirty="0"/>
              <a:t>n</a:t>
            </a:r>
          </a:p>
          <a:p>
            <a:pPr marL="457200" lvl="1" indent="0" algn="just">
              <a:buNone/>
            </a:pPr>
            <a:r>
              <a:rPr lang="en-US" dirty="0" smtClean="0"/>
              <a:t>	else</a:t>
            </a:r>
          </a:p>
          <a:p>
            <a:pPr marL="457200" lvl="1" indent="0" algn="just">
              <a:buNone/>
            </a:pPr>
            <a:r>
              <a:rPr lang="en-US" dirty="0"/>
              <a:t>	 </a:t>
            </a:r>
            <a:r>
              <a:rPr lang="en-US" dirty="0" smtClean="0"/>
              <a:t>    return </a:t>
            </a:r>
            <a:r>
              <a:rPr lang="en-US" dirty="0" err="1"/>
              <a:t>fibonacci</a:t>
            </a:r>
            <a:r>
              <a:rPr lang="en-US" dirty="0"/>
              <a:t>(n - 1) + </a:t>
            </a:r>
            <a:r>
              <a:rPr lang="en-US" dirty="0" err="1"/>
              <a:t>fibonacci</a:t>
            </a:r>
            <a:r>
              <a:rPr lang="en-US" dirty="0"/>
              <a:t>(n - 2)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n = 5, the function calls itself 15 times.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n = 10, the function calls itself 109 times.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n = 50, it would take years to run</a:t>
            </a:r>
            <a:r>
              <a:rPr lang="en-US" dirty="0" smtClean="0"/>
              <a:t>!</a:t>
            </a:r>
          </a:p>
          <a:p>
            <a:pPr algn="just"/>
            <a:r>
              <a:rPr lang="en-US" b="1" dirty="0"/>
              <a:t>Why is it O(2ⁿ)?</a:t>
            </a:r>
          </a:p>
          <a:p>
            <a:pPr algn="just"/>
            <a:r>
              <a:rPr lang="en-US" dirty="0"/>
              <a:t>Each call splits into two recursive calls, making it double each time → O(2ⁿ).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5039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Calculate Time Complexity?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Step 1: Count the number of operations</a:t>
            </a:r>
          </a:p>
          <a:p>
            <a:pPr lvl="1" algn="just"/>
            <a:r>
              <a:rPr lang="en-US" dirty="0" smtClean="0"/>
              <a:t>We analyze loops and statements.</a:t>
            </a:r>
          </a:p>
          <a:p>
            <a:pPr algn="just"/>
            <a:r>
              <a:rPr lang="en-US" dirty="0" smtClean="0"/>
              <a:t>Step 2: Remove constants</a:t>
            </a:r>
          </a:p>
          <a:p>
            <a:pPr algn="just"/>
            <a:r>
              <a:rPr lang="en-US" dirty="0" smtClean="0"/>
              <a:t>Example:</a:t>
            </a:r>
          </a:p>
          <a:p>
            <a:pPr marL="457200" lvl="1" indent="0" algn="just">
              <a:buNone/>
            </a:pPr>
            <a:r>
              <a:rPr lang="en-US" dirty="0" smtClean="0"/>
              <a:t>void example(n):</a:t>
            </a:r>
          </a:p>
          <a:p>
            <a:pPr marL="457200" lvl="1" indent="0" algn="just">
              <a:buNone/>
            </a:pPr>
            <a:r>
              <a:rPr lang="en-US" dirty="0" smtClean="0"/>
              <a:t>	for </a:t>
            </a:r>
            <a:r>
              <a:rPr lang="en-US" dirty="0" err="1" smtClean="0"/>
              <a:t>i</a:t>
            </a:r>
            <a:r>
              <a:rPr lang="en-US" dirty="0" smtClean="0"/>
              <a:t> in range(n): # O(n)</a:t>
            </a:r>
          </a:p>
          <a:p>
            <a:pPr marL="457200" lvl="1" indent="0" algn="just">
              <a:buNone/>
            </a:pPr>
            <a:r>
              <a:rPr lang="en-US" dirty="0" smtClean="0"/>
              <a:t>	      print(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pPr marL="457200" lvl="1" indent="0" algn="just">
              <a:buNone/>
            </a:pPr>
            <a:r>
              <a:rPr lang="en-US" dirty="0" smtClean="0"/>
              <a:t>	for j in range(n): # O(n)</a:t>
            </a:r>
          </a:p>
          <a:p>
            <a:pPr marL="457200" lvl="1" indent="0" algn="just">
              <a:buNone/>
            </a:pPr>
            <a:r>
              <a:rPr lang="en-US" dirty="0" smtClean="0"/>
              <a:t>	</a:t>
            </a:r>
            <a:r>
              <a:rPr lang="en-US" dirty="0" smtClean="0"/>
              <a:t>      </a:t>
            </a:r>
            <a:r>
              <a:rPr lang="en-US" dirty="0" smtClean="0"/>
              <a:t>print(j)</a:t>
            </a:r>
          </a:p>
          <a:p>
            <a:pPr algn="just"/>
            <a:r>
              <a:rPr lang="en-US" dirty="0" smtClean="0"/>
              <a:t>Total operations = O(n) + O(n) = O(2n)</a:t>
            </a:r>
          </a:p>
          <a:p>
            <a:pPr algn="just"/>
            <a:r>
              <a:rPr lang="en-US" dirty="0" smtClean="0"/>
              <a:t>Since we ignore constants → O(n)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19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1577</Words>
  <Application>Microsoft Office PowerPoint</Application>
  <PresentationFormat>Widescreen</PresentationFormat>
  <Paragraphs>200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Asymptotic Analysis</vt:lpstr>
      <vt:lpstr>What is an Algorithm?</vt:lpstr>
      <vt:lpstr>Why Analyze Algorithms?</vt:lpstr>
      <vt:lpstr>What is Asymptotic Analysis?</vt:lpstr>
      <vt:lpstr>Why Asymptotic Analysis?</vt:lpstr>
      <vt:lpstr>Types of Asymptotic Notations</vt:lpstr>
      <vt:lpstr>Big-O Notation (O)</vt:lpstr>
      <vt:lpstr>Omega Notation (Ω)</vt:lpstr>
      <vt:lpstr>Theta Notations (Θ)</vt:lpstr>
      <vt:lpstr>What is Complexity?</vt:lpstr>
      <vt:lpstr>Why Do We Measure Time Complexity?</vt:lpstr>
      <vt:lpstr>How to Measure Time Complexity?</vt:lpstr>
      <vt:lpstr>How to Measure Time Complexity?</vt:lpstr>
      <vt:lpstr>How to Measure Time Complexity?</vt:lpstr>
      <vt:lpstr>How to Measure Time Complexity?</vt:lpstr>
      <vt:lpstr>How to Measure Time Complexity?</vt:lpstr>
      <vt:lpstr>Step-by-Step Example: Finding 13 in a Sorted Array (Binary Search)</vt:lpstr>
      <vt:lpstr>Step-by-Step Example: Finding 17 in a Sorted Array (Binary Search)</vt:lpstr>
      <vt:lpstr>How to Measure Time Complexity?</vt:lpstr>
      <vt:lpstr>How to Measure Time Complexity?</vt:lpstr>
      <vt:lpstr>How to Calculate Time Complexity?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Asymptotic Analysis</dc:title>
  <dc:creator>Majid Hussain</dc:creator>
  <cp:lastModifiedBy>Majid Hussain</cp:lastModifiedBy>
  <cp:revision>82</cp:revision>
  <dcterms:created xsi:type="dcterms:W3CDTF">2025-02-27T04:00:24Z</dcterms:created>
  <dcterms:modified xsi:type="dcterms:W3CDTF">2025-02-27T06:06:34Z</dcterms:modified>
</cp:coreProperties>
</file>
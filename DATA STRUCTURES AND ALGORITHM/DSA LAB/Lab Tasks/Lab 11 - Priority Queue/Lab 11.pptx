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7"/>
  </p:notesMasterIdLst>
  <p:sldIdLst>
    <p:sldId id="256" r:id="rId2"/>
    <p:sldId id="262" r:id="rId3"/>
    <p:sldId id="274" r:id="rId4"/>
    <p:sldId id="272" r:id="rId5"/>
    <p:sldId id="2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75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B2439D-EB4B-4FB0-8FCF-F98E8606EACA}" type="datetimeFigureOut">
              <a:rPr lang="en-US" smtClean="0"/>
              <a:t>4/23/2025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128867-5CFB-4CF7-B5DC-CFC116C37B29}" type="slidenum">
              <a:rPr lang="en-US" smtClean="0"/>
              <a:t>‹#›</a:t>
            </a:fld>
            <a:endParaRPr lang="en-US"/>
          </a:p>
        </p:txBody>
      </p:sp>
    </p:spTree>
    <p:extLst>
      <p:ext uri="{BB962C8B-B14F-4D97-AF65-F5344CB8AC3E}">
        <p14:creationId xmlns:p14="http://schemas.microsoft.com/office/powerpoint/2010/main" val="896952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128867-5CFB-4CF7-B5DC-CFC116C37B29}" type="slidenum">
              <a:rPr lang="en-US" smtClean="0"/>
              <a:t>1</a:t>
            </a:fld>
            <a:endParaRPr lang="en-US"/>
          </a:p>
        </p:txBody>
      </p:sp>
    </p:spTree>
    <p:extLst>
      <p:ext uri="{BB962C8B-B14F-4D97-AF65-F5344CB8AC3E}">
        <p14:creationId xmlns:p14="http://schemas.microsoft.com/office/powerpoint/2010/main" val="2843863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684046B-4E25-4DF1-9DE1-12E4A41B97A6}" type="datetime1">
              <a:rPr lang="en-US" smtClean="0"/>
              <a:t>4/23/2025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799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5DE1216-3170-4F6D-A3CF-E5C5608AA8CF}" type="datetime1">
              <a:rPr lang="en-US" smtClean="0"/>
              <a:t>4/23/2025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19325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FEE345-4D4B-489D-AE9E-E4830A31EDB1}" type="datetime1">
              <a:rPr lang="en-US" smtClean="0"/>
              <a:t>4/23/2025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5977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C7ACABA-1141-4E49-A369-9B6F45643DFF}" type="datetime1">
              <a:rPr lang="en-US" smtClean="0"/>
              <a:t>4/23/2025</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5337127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4704340-9E8F-4ED5-AC11-E5BB2925CA43}" type="datetime1">
              <a:rPr lang="en-US" smtClean="0"/>
              <a:t>4/23/2025</a:t>
            </a:fld>
            <a:endParaRPr lang="en-US"/>
          </a:p>
        </p:txBody>
      </p:sp>
      <p:sp>
        <p:nvSpPr>
          <p:cNvPr id="8" name="Footer Placeholder 7"/>
          <p:cNvSpPr>
            <a:spLocks noGrp="1"/>
          </p:cNvSpPr>
          <p:nvPr>
            <p:ph type="ftr" sz="quarter" idx="11"/>
          </p:nvPr>
        </p:nvSpPr>
        <p:spPr/>
        <p:txBody>
          <a:body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29555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CDAE39F-54E1-4E4D-A3A6-583B543675EE}" type="datetime1">
              <a:rPr lang="en-US" smtClean="0"/>
              <a:t>4/23/2025</a:t>
            </a:fld>
            <a:endParaRPr lang="en-US"/>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500909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88CE462-0C8B-4901-9C7A-7FEF6BCCE1D9}" type="datetime1">
              <a:rPr lang="en-US" smtClean="0"/>
              <a:t>4/23/2025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smtClean="0"/>
              <a:t>The University of Lahore</a:t>
            </a:r>
            <a:endParaRPr lang="en-US"/>
          </a:p>
        </p:txBody>
      </p:sp>
      <p:sp>
        <p:nvSpPr>
          <p:cNvPr id="9" name="Slide Number Placeholder 8"/>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923552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A8872F5-177D-4534-9718-DD8D4001B234}" type="datetime1">
              <a:rPr lang="en-US" smtClean="0"/>
              <a:t>4/23/2025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4CEE02E-1D84-46BB-93EA-A480D0C19957}" type="slidenum">
              <a:rPr lang="en-US" smtClean="0"/>
              <a:t>‹#›</a:t>
            </a:fld>
            <a:endParaRPr lang="en-US"/>
          </a:p>
        </p:txBody>
      </p:sp>
    </p:spTree>
    <p:extLst>
      <p:ext uri="{BB962C8B-B14F-4D97-AF65-F5344CB8AC3E}">
        <p14:creationId xmlns:p14="http://schemas.microsoft.com/office/powerpoint/2010/main" val="357319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255ECED-6A20-494B-8D7D-788231577CE4}" type="datetime1">
              <a:rPr lang="en-US" smtClean="0"/>
              <a:t>4/23/2025</a:t>
            </a:fld>
            <a:endParaRPr lang="en-US"/>
          </a:p>
        </p:txBody>
      </p:sp>
      <p:sp>
        <p:nvSpPr>
          <p:cNvPr id="6" name="Footer Placeholder 5"/>
          <p:cNvSpPr>
            <a:spLocks noGrp="1"/>
          </p:cNvSpPr>
          <p:nvPr>
            <p:ph type="ftr" sz="quarter" idx="11"/>
          </p:nvPr>
        </p:nvSpPr>
        <p:spPr/>
        <p:txBody>
          <a:bodyPr/>
          <a:lstStyle/>
          <a:p>
            <a:r>
              <a:rPr lang="en-US" smtClean="0"/>
              <a:t>The University of Lahore</a:t>
            </a:r>
            <a:endParaRPr lang="en-US"/>
          </a:p>
        </p:txBody>
      </p:sp>
      <p:sp>
        <p:nvSpPr>
          <p:cNvPr id="7" name="Slide Number Placeholder 6"/>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2612522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EFD0AE-6D5A-40E9-98F9-7B2CF6A45989}" type="datetime1">
              <a:rPr lang="en-US" smtClean="0"/>
              <a:t>4/23/2025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04505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48482EA-7E95-40E9-9BD0-5300AFC5B999}" type="datetime1">
              <a:rPr lang="en-US" smtClean="0"/>
              <a:t>4/23/2025</a:t>
            </a:fld>
            <a:endParaRPr lang="en-US"/>
          </a:p>
        </p:txBody>
      </p:sp>
      <p:sp>
        <p:nvSpPr>
          <p:cNvPr id="5" name="Footer Placeholder 4"/>
          <p:cNvSpPr>
            <a:spLocks noGrp="1"/>
          </p:cNvSpPr>
          <p:nvPr>
            <p:ph type="ftr" sz="quarter" idx="11"/>
          </p:nvPr>
        </p:nvSpPr>
        <p:spPr/>
        <p:txBody>
          <a:bodyPr/>
          <a:lstStyle/>
          <a:p>
            <a:r>
              <a:rPr lang="en-US" smtClean="0"/>
              <a:t>The University of Lahore</a:t>
            </a:r>
            <a:endParaRPr lang="en-US"/>
          </a:p>
        </p:txBody>
      </p:sp>
      <p:sp>
        <p:nvSpPr>
          <p:cNvPr id="6" name="Slide Number Placeholder 5"/>
          <p:cNvSpPr>
            <a:spLocks noGrp="1"/>
          </p:cNvSpPr>
          <p:nvPr>
            <p:ph type="sldNum" sz="quarter" idx="12"/>
          </p:nvPr>
        </p:nvSpPr>
        <p:spPr/>
        <p:txBody>
          <a:bodyPr/>
          <a:lstStyle/>
          <a:p>
            <a:fld id="{F4CEE02E-1D84-46BB-93EA-A480D0C19957}" type="slidenum">
              <a:rPr lang="en-US" smtClean="0"/>
              <a:t>‹#›</a:t>
            </a:fld>
            <a:endParaRPr lang="en-US"/>
          </a:p>
        </p:txBody>
      </p:sp>
    </p:spTree>
    <p:extLst>
      <p:ext uri="{BB962C8B-B14F-4D97-AF65-F5344CB8AC3E}">
        <p14:creationId xmlns:p14="http://schemas.microsoft.com/office/powerpoint/2010/main" val="17661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82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232830"/>
            <a:ext cx="10058400" cy="504250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52434106-2ABE-4E26-B24F-AA7802E7B0E5}" type="datetime1">
              <a:rPr lang="en-US" smtClean="0"/>
              <a:t>4/23/2025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smtClean="0"/>
              <a:t>The University of Lahore</a:t>
            </a:r>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4CEE02E-1D84-46BB-93EA-A480D0C19957}" type="slidenum">
              <a:rPr lang="en-US" smtClean="0"/>
              <a:t>‹#›</a:t>
            </a:fld>
            <a:endParaRPr lang="en-US"/>
          </a:p>
        </p:txBody>
      </p:sp>
      <p:cxnSp>
        <p:nvCxnSpPr>
          <p:cNvPr id="10" name="Straight Connector 9"/>
          <p:cNvCxnSpPr/>
          <p:nvPr/>
        </p:nvCxnSpPr>
        <p:spPr>
          <a:xfrm>
            <a:off x="1188720" y="11663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079339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latin typeface="Times New Roman" panose="02020603050405020304" pitchFamily="18" charset="0"/>
                <a:cs typeface="Times New Roman" panose="02020603050405020304" pitchFamily="18" charset="0"/>
              </a:rPr>
              <a:t>LAB – </a:t>
            </a:r>
            <a:r>
              <a:rPr lang="en-US" sz="4800" dirty="0" smtClean="0">
                <a:latin typeface="Times New Roman" panose="02020603050405020304" pitchFamily="18" charset="0"/>
                <a:cs typeface="Times New Roman" panose="02020603050405020304" pitchFamily="18" charset="0"/>
              </a:rPr>
              <a:t>11</a:t>
            </a:r>
            <a:endParaRPr lang="en-US" sz="4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latin typeface="Times New Roman" panose="02020603050405020304" pitchFamily="18" charset="0"/>
                <a:cs typeface="Times New Roman" panose="02020603050405020304" pitchFamily="18" charset="0"/>
              </a:rPr>
              <a:t>Priority Queue and </a:t>
            </a:r>
            <a:r>
              <a:rPr lang="en-US" dirty="0">
                <a:latin typeface="Times New Roman" panose="02020603050405020304" pitchFamily="18" charset="0"/>
                <a:cs typeface="Times New Roman" panose="02020603050405020304" pitchFamily="18" charset="0"/>
              </a:rPr>
              <a:t>sorting algorithm</a:t>
            </a:r>
            <a:endParaRPr lang="en-US" dirty="0" smtClean="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Footer Placeholder 8"/>
          <p:cNvSpPr>
            <a:spLocks noGrp="1"/>
          </p:cNvSpPr>
          <p:nvPr>
            <p:ph type="ftr" sz="quarter" idx="11"/>
          </p:nvPr>
        </p:nvSpPr>
        <p:spPr/>
        <p:txBody>
          <a:bodyPr/>
          <a:lstStyle/>
          <a:p>
            <a:r>
              <a:rPr lang="en-US" dirty="0" smtClean="0">
                <a:cs typeface="Times New Roman" panose="02020603050405020304" pitchFamily="18" charset="0"/>
              </a:rPr>
              <a:t>The University of Lahore</a:t>
            </a:r>
            <a:endParaRPr lang="en-US" dirty="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F4CEE02E-1D84-46BB-93EA-A480D0C19957}" type="slidenum">
              <a:rPr lang="en-US" smtClean="0">
                <a:cs typeface="Times New Roman" panose="02020603050405020304" pitchFamily="18" charset="0"/>
              </a:rPr>
              <a:t>1</a:t>
            </a:fld>
            <a:endParaRPr lang="en-US" dirty="0">
              <a:cs typeface="Times New Roman" panose="02020603050405020304" pitchFamily="18" charset="0"/>
            </a:endParaRPr>
          </a:p>
        </p:txBody>
      </p:sp>
    </p:spTree>
    <p:extLst>
      <p:ext uri="{BB962C8B-B14F-4D97-AF65-F5344CB8AC3E}">
        <p14:creationId xmlns:p14="http://schemas.microsoft.com/office/powerpoint/2010/main" val="126281074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- 1</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2905" y="1251222"/>
            <a:ext cx="6075045" cy="5042500"/>
          </a:xfrm>
        </p:spPr>
        <p:txBody>
          <a:bodyPr>
            <a:noAutofit/>
          </a:bodyPr>
          <a:lstStyle/>
          <a:p>
            <a:pPr algn="just">
              <a:lnSpc>
                <a:spcPct val="100000"/>
              </a:lnSpc>
            </a:pPr>
            <a:r>
              <a:rPr lang="en-US" sz="2400" dirty="0">
                <a:solidFill>
                  <a:schemeClr val="tx1"/>
                </a:solidFill>
                <a:latin typeface="Times New Roman" panose="02020603050405020304" pitchFamily="18" charset="0"/>
                <a:cs typeface="Times New Roman" panose="02020603050405020304" pitchFamily="18" charset="0"/>
              </a:rPr>
              <a:t>Design a hospital Emergency Room Management System using a priority queue, where each patient has a name, a unique patient ID, and a criticality level ranging from 1 (least critical) to 5 (most critical). Patients with higher criticality levels should be prioritized for treatment. In case two patients have the same criticality level, the one who arrived earlier should be treated first. The system should support operations like admitting a new patient, viewing the current patient queue, treating the highest-priority patient, and searching for a patient by ID.</a:t>
            </a:r>
            <a:endParaRPr lang="en-US" sz="24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2</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8" name="Rectangle 7"/>
          <p:cNvSpPr/>
          <p:nvPr/>
        </p:nvSpPr>
        <p:spPr>
          <a:xfrm>
            <a:off x="6738471" y="646246"/>
            <a:ext cx="4949017" cy="5631316"/>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pPr algn="ctr"/>
            <a:endParaRPr lang="en-US" sz="2000" dirty="0">
              <a:latin typeface="Times New Roman" panose="02020603050405020304" pitchFamily="18" charset="0"/>
              <a:cs typeface="Times New Roman" panose="02020603050405020304" pitchFamily="18" charset="0"/>
            </a:endParaRPr>
          </a:p>
          <a:p>
            <a:r>
              <a:rPr lang="en-US" sz="2000" dirty="0"/>
              <a:t>Admitted: Bob (ID: 102, Criticality: 5)</a:t>
            </a:r>
          </a:p>
          <a:p>
            <a:r>
              <a:rPr lang="en-US" sz="2000" dirty="0"/>
              <a:t>Admitted: Charlie (ID: 103, Criticality: 4)</a:t>
            </a:r>
          </a:p>
          <a:p>
            <a:r>
              <a:rPr lang="en-US" sz="2000" dirty="0"/>
              <a:t>Admitted: Diana (ID: 104, Criticality: 5)</a:t>
            </a:r>
          </a:p>
          <a:p>
            <a:endParaRPr lang="en-US" sz="2000" dirty="0"/>
          </a:p>
          <a:p>
            <a:r>
              <a:rPr lang="en-US" sz="2000" dirty="0"/>
              <a:t>Current Patient Queue:</a:t>
            </a:r>
          </a:p>
          <a:p>
            <a:r>
              <a:rPr lang="en-US" sz="2000" dirty="0"/>
              <a:t>Name: Bob, ID: 102, Criticality: 5</a:t>
            </a:r>
          </a:p>
          <a:p>
            <a:r>
              <a:rPr lang="en-US" sz="2000" dirty="0"/>
              <a:t>Name: Diana, ID: 104, Criticality: 5</a:t>
            </a:r>
          </a:p>
          <a:p>
            <a:r>
              <a:rPr lang="en-US" sz="2000" dirty="0"/>
              <a:t>Name: Charlie, ID: 103, Criticality: 4</a:t>
            </a:r>
          </a:p>
          <a:p>
            <a:endParaRPr lang="en-US" sz="2000" dirty="0"/>
          </a:p>
          <a:p>
            <a:r>
              <a:rPr lang="en-US" sz="2000" dirty="0"/>
              <a:t>Treating patient: Bob (ID: 102, Criticality: 5)</a:t>
            </a:r>
          </a:p>
          <a:p>
            <a:r>
              <a:rPr lang="en-US" sz="2000" dirty="0"/>
              <a:t>Treating patient: Diana (ID: 104, Criticality: 5)</a:t>
            </a:r>
          </a:p>
          <a:p>
            <a:r>
              <a:rPr lang="en-US" sz="2000" dirty="0"/>
              <a:t>Found patient: Charlie (ID: 103, Criticality: 4)</a:t>
            </a:r>
          </a:p>
          <a:p>
            <a:r>
              <a:rPr lang="en-US" sz="2000" dirty="0"/>
              <a:t>Patient with ID 999 not found.</a:t>
            </a:r>
          </a:p>
          <a:p>
            <a:endParaRPr lang="en-US" sz="2000" dirty="0"/>
          </a:p>
          <a:p>
            <a:r>
              <a:rPr lang="en-US" sz="2000" dirty="0"/>
              <a:t>Current Patient Queue:</a:t>
            </a:r>
          </a:p>
          <a:p>
            <a:r>
              <a:rPr lang="en-US" sz="2000" dirty="0"/>
              <a:t>Name: Charlie, ID: 103, Criticality: 4</a:t>
            </a:r>
            <a:endParaRPr lang="en-US" sz="2000" dirty="0"/>
          </a:p>
        </p:txBody>
      </p:sp>
    </p:spTree>
    <p:extLst>
      <p:ext uri="{BB962C8B-B14F-4D97-AF65-F5344CB8AC3E}">
        <p14:creationId xmlns:p14="http://schemas.microsoft.com/office/powerpoint/2010/main" val="27405291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a:t>
            </a:r>
            <a:r>
              <a:rPr lang="en-US" sz="3600" b="1" dirty="0" smtClean="0">
                <a:solidFill>
                  <a:schemeClr val="tx1"/>
                </a:solidFill>
                <a:latin typeface="Times New Roman" panose="02020603050405020304" pitchFamily="18" charset="0"/>
                <a:cs typeface="Times New Roman" panose="02020603050405020304" pitchFamily="18" charset="0"/>
              </a:rPr>
              <a:t>2</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2905" y="1251222"/>
            <a:ext cx="6075045" cy="5042500"/>
          </a:xfrm>
        </p:spPr>
        <p:txBody>
          <a:bodyPr>
            <a:noAutofit/>
          </a:bodyPr>
          <a:lstStyle/>
          <a:p>
            <a:pPr algn="just">
              <a:lnSpc>
                <a:spcPct val="100000"/>
              </a:lnSpc>
            </a:pPr>
            <a:r>
              <a:rPr lang="en-US" sz="2200" dirty="0">
                <a:solidFill>
                  <a:schemeClr val="tx1"/>
                </a:solidFill>
                <a:latin typeface="Times New Roman" panose="02020603050405020304" pitchFamily="18" charset="0"/>
                <a:cs typeface="Times New Roman" panose="02020603050405020304" pitchFamily="18" charset="0"/>
              </a:rPr>
              <a:t>Design an Air Traffic Control Landing System using a priority queue to manage airplane landings based on fuel levels. Each airplane is represented by a unique flight number, fuel level (in minutes), and destination. The system must prioritize landings for airplanes with lower fuel levels, as they are at greater risk and require immediate attention. In cases where two airplanes have the same fuel level, the one with the shorter destination name alphabetically will be given priority to ensure a deterministic landing order. The system should support operations such as adding a new airplane, viewing the current landing queue, processing the landing of the highest-priority airplane, and searching for a flight by its flight number.</a:t>
            </a:r>
            <a:endParaRPr lang="en-US" sz="2200" dirty="0" smtClean="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3</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8" name="Rectangle 7"/>
          <p:cNvSpPr/>
          <p:nvPr/>
        </p:nvSpPr>
        <p:spPr>
          <a:xfrm>
            <a:off x="6709896" y="498902"/>
            <a:ext cx="5291604" cy="5926004"/>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pPr algn="ctr"/>
            <a:endParaRPr lang="en-US" sz="2000" dirty="0">
              <a:latin typeface="Times New Roman" panose="02020603050405020304" pitchFamily="18" charset="0"/>
              <a:cs typeface="Times New Roman" panose="02020603050405020304" pitchFamily="18" charset="0"/>
            </a:endParaRPr>
          </a:p>
          <a:p>
            <a:r>
              <a:rPr lang="en-US" sz="2000" dirty="0"/>
              <a:t>Airplane BA202 added to queue.</a:t>
            </a:r>
          </a:p>
          <a:p>
            <a:r>
              <a:rPr lang="en-US" sz="2000" dirty="0"/>
              <a:t>Airplane UA404 added to queue.</a:t>
            </a:r>
          </a:p>
          <a:p>
            <a:r>
              <a:rPr lang="en-US" sz="2000" dirty="0"/>
              <a:t>Airplane QR303 added to queue.</a:t>
            </a:r>
          </a:p>
          <a:p>
            <a:r>
              <a:rPr lang="en-US" sz="2000" dirty="0"/>
              <a:t>Landing Queue:</a:t>
            </a:r>
          </a:p>
          <a:p>
            <a:r>
              <a:rPr lang="en-US" sz="2000" dirty="0"/>
              <a:t>Flight: QR303 | Fuel: 10 | Destination: </a:t>
            </a:r>
            <a:r>
              <a:rPr lang="en-US" sz="2000" dirty="0" err="1"/>
              <a:t>AbuDhabi</a:t>
            </a:r>
            <a:endParaRPr lang="en-US" sz="2000" dirty="0"/>
          </a:p>
          <a:p>
            <a:r>
              <a:rPr lang="en-US" sz="2000" dirty="0"/>
              <a:t>Flight: BA202 | Fuel: 10 | Destination: London</a:t>
            </a:r>
          </a:p>
          <a:p>
            <a:r>
              <a:rPr lang="en-US" sz="2000" dirty="0"/>
              <a:t>Flight: UA404 | Fuel: 20 | Destination: </a:t>
            </a:r>
            <a:r>
              <a:rPr lang="en-US" sz="2000" dirty="0" err="1"/>
              <a:t>NewYork</a:t>
            </a:r>
            <a:endParaRPr lang="en-US" sz="2000" dirty="0"/>
          </a:p>
          <a:p>
            <a:endParaRPr lang="en-US" sz="2000" dirty="0" smtClean="0"/>
          </a:p>
          <a:p>
            <a:r>
              <a:rPr lang="en-US" sz="2000" dirty="0" smtClean="0"/>
              <a:t>Flight </a:t>
            </a:r>
            <a:r>
              <a:rPr lang="en-US" sz="2000" dirty="0"/>
              <a:t>QR303 is landing (Fuel: 10).</a:t>
            </a:r>
          </a:p>
          <a:p>
            <a:r>
              <a:rPr lang="en-US" sz="2000" dirty="0"/>
              <a:t>Flight BA202 is landing (Fuel: 10).</a:t>
            </a:r>
          </a:p>
          <a:p>
            <a:endParaRPr lang="en-US" sz="2000" dirty="0"/>
          </a:p>
          <a:p>
            <a:r>
              <a:rPr lang="en-US" sz="2000" dirty="0"/>
              <a:t>After Landing 2 planes:</a:t>
            </a:r>
          </a:p>
          <a:p>
            <a:r>
              <a:rPr lang="en-US" sz="2000" dirty="0"/>
              <a:t>Landing Queue:</a:t>
            </a:r>
          </a:p>
          <a:p>
            <a:r>
              <a:rPr lang="en-US" sz="2000" dirty="0"/>
              <a:t>Flight: UA404 | Fuel: 20 | Destination: </a:t>
            </a:r>
            <a:r>
              <a:rPr lang="en-US" sz="2000" dirty="0" err="1"/>
              <a:t>NewYork</a:t>
            </a:r>
            <a:endParaRPr lang="en-US" sz="2000" dirty="0"/>
          </a:p>
          <a:p>
            <a:endParaRPr lang="en-US" sz="2000" dirty="0"/>
          </a:p>
          <a:p>
            <a:r>
              <a:rPr lang="en-US" sz="2000" dirty="0"/>
              <a:t>Searching for BA202:</a:t>
            </a:r>
          </a:p>
          <a:p>
            <a:r>
              <a:rPr lang="en-US" sz="2000" dirty="0"/>
              <a:t>Flight BA202 not found.</a:t>
            </a:r>
            <a:endParaRPr lang="en-US" sz="2000" dirty="0"/>
          </a:p>
        </p:txBody>
      </p:sp>
    </p:spTree>
    <p:extLst>
      <p:ext uri="{BB962C8B-B14F-4D97-AF65-F5344CB8AC3E}">
        <p14:creationId xmlns:p14="http://schemas.microsoft.com/office/powerpoint/2010/main" val="40884499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- 3</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84409" y="1262322"/>
            <a:ext cx="10284142" cy="5042500"/>
          </a:xfrm>
        </p:spPr>
        <p:txBody>
          <a:bodyPr>
            <a:noAutofit/>
          </a:bodyPr>
          <a:lstStyle/>
          <a:p>
            <a:pPr lvl="0" algn="just">
              <a:lnSpc>
                <a:spcPct val="100000"/>
              </a:lnSpc>
              <a:buClr>
                <a:srgbClr val="549E39"/>
              </a:buClr>
            </a:pPr>
            <a:r>
              <a:rPr lang="en-US" sz="2500" dirty="0">
                <a:solidFill>
                  <a:prstClr val="black"/>
                </a:solidFill>
                <a:latin typeface="Times New Roman" panose="02020603050405020304" pitchFamily="18" charset="0"/>
                <a:cs typeface="Times New Roman" panose="02020603050405020304" pitchFamily="18" charset="0"/>
              </a:rPr>
              <a:t>Design an intelligent Vehicle Intersection Management System using a priority queue to manage vehicles waiting to pass through an intersection. Each vehicle has a type (e.g., ambulance, firetruck, police, bus, truck, car, bike), and is assigned an initial priority based on its type—emergency vehicles like ambulances, firetrucks, and police receive the highest priority (5), followed by buses and trucks, while regular vehicles like cars and bikes receive lower priorities. Vehicles are processed in order of their priority, with higher-priority vehicles allowed to pass first. To ensure fairness and prevent starvation of low-priority vehicles, the system tracks each vehicle’s wait time, and if a vehicle waits for 3 or more cycles, its priority is incremented (up to a maximum of 5). The queue is dynamically re-sorted after each cycle to reflect any priority boosts. The system supports admitting new vehicles, displaying the current queue, processing the next vehicle, and updating priorities over time.</a:t>
            </a:r>
            <a:endParaRPr lang="en-US" sz="2500" dirty="0">
              <a:solidFill>
                <a:prstClr val="black"/>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4</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Tree>
    <p:extLst>
      <p:ext uri="{BB962C8B-B14F-4D97-AF65-F5344CB8AC3E}">
        <p14:creationId xmlns:p14="http://schemas.microsoft.com/office/powerpoint/2010/main" val="2177004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chemeClr val="tx1"/>
                </a:solidFill>
                <a:latin typeface="Times New Roman" panose="02020603050405020304" pitchFamily="18" charset="0"/>
                <a:cs typeface="Times New Roman" panose="02020603050405020304" pitchFamily="18" charset="0"/>
              </a:rPr>
              <a:t>Task - 4</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pPr algn="just">
              <a:lnSpc>
                <a:spcPct val="100000"/>
              </a:lnSpc>
            </a:pPr>
            <a:r>
              <a:rPr lang="en-US" sz="2800" dirty="0">
                <a:solidFill>
                  <a:schemeClr val="tx1"/>
                </a:solidFill>
                <a:latin typeface="Times New Roman" panose="02020603050405020304" pitchFamily="18" charset="0"/>
                <a:cs typeface="Times New Roman" panose="02020603050405020304" pitchFamily="18" charset="0"/>
              </a:rPr>
              <a:t>Given a list of student exam scores stored in an array, implement Merge Sort to sort the scores in ascending order. After sorting, display the top 5 and bottom 5 scores.</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The University of Lahore</a:t>
            </a:r>
            <a:endParaRPr lang="en-US"/>
          </a:p>
        </p:txBody>
      </p:sp>
      <p:sp>
        <p:nvSpPr>
          <p:cNvPr id="5" name="Slide Number Placeholder 4"/>
          <p:cNvSpPr>
            <a:spLocks noGrp="1"/>
          </p:cNvSpPr>
          <p:nvPr>
            <p:ph type="sldNum" sz="quarter" idx="12"/>
          </p:nvPr>
        </p:nvSpPr>
        <p:spPr/>
        <p:txBody>
          <a:bodyPr/>
          <a:lstStyle/>
          <a:p>
            <a:fld id="{F4CEE02E-1D84-46BB-93EA-A480D0C19957}" type="slidenum">
              <a:rPr lang="en-US" smtClean="0"/>
              <a:t>5</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0" y="-5"/>
            <a:ext cx="12219296" cy="464028"/>
          </a:xfrm>
          <a:prstGeom prst="rect">
            <a:avLst/>
          </a:prstGeom>
        </p:spPr>
      </p:pic>
      <p:sp>
        <p:nvSpPr>
          <p:cNvPr id="9" name="Rectangle 8"/>
          <p:cNvSpPr/>
          <p:nvPr/>
        </p:nvSpPr>
        <p:spPr>
          <a:xfrm>
            <a:off x="2200198" y="2974729"/>
            <a:ext cx="7818900" cy="2970308"/>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000" dirty="0">
                <a:latin typeface="Times New Roman" panose="02020603050405020304" pitchFamily="18" charset="0"/>
                <a:cs typeface="Times New Roman" panose="02020603050405020304" pitchFamily="18" charset="0"/>
              </a:rPr>
              <a:t>Sample Output</a:t>
            </a:r>
          </a:p>
          <a:p>
            <a:pPr algn="ct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Original scores:72 85 90 65 78 99 58 88 94 60 70 83 76 89 91 </a:t>
            </a:r>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Sorted </a:t>
            </a:r>
            <a:r>
              <a:rPr lang="en-US" sz="2000" dirty="0">
                <a:latin typeface="Times New Roman" panose="02020603050405020304" pitchFamily="18" charset="0"/>
                <a:cs typeface="Times New Roman" panose="02020603050405020304" pitchFamily="18" charset="0"/>
              </a:rPr>
              <a:t>scores (ascending):58 60 65 70 72 76 78 83 85 88 89 90 91 94 99 </a:t>
            </a:r>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Bottom </a:t>
            </a:r>
            <a:r>
              <a:rPr lang="en-US" sz="2000" dirty="0">
                <a:latin typeface="Times New Roman" panose="02020603050405020304" pitchFamily="18" charset="0"/>
                <a:cs typeface="Times New Roman" panose="02020603050405020304" pitchFamily="18" charset="0"/>
              </a:rPr>
              <a:t>5 scores: 58 60 65 70 72 </a:t>
            </a:r>
            <a:endParaRPr lang="en-US" sz="2000" dirty="0" smtClean="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smtClean="0">
                <a:latin typeface="Times New Roman" panose="02020603050405020304" pitchFamily="18" charset="0"/>
                <a:cs typeface="Times New Roman" panose="02020603050405020304" pitchFamily="18" charset="0"/>
              </a:rPr>
              <a:t>Top </a:t>
            </a:r>
            <a:r>
              <a:rPr lang="en-US" sz="2000" dirty="0">
                <a:latin typeface="Times New Roman" panose="02020603050405020304" pitchFamily="18" charset="0"/>
                <a:cs typeface="Times New Roman" panose="02020603050405020304" pitchFamily="18" charset="0"/>
              </a:rPr>
              <a:t>5 scores: 89 90 91 94 99</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6073931"/>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8573</TotalTime>
  <Words>785</Words>
  <Application>Microsoft Office PowerPoint</Application>
  <PresentationFormat>Widescreen</PresentationFormat>
  <Paragraphs>67</Paragraphs>
  <Slides>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Calibri</vt:lpstr>
      <vt:lpstr>Calibri Light</vt:lpstr>
      <vt:lpstr>Times New Roman</vt:lpstr>
      <vt:lpstr>Retrospect</vt:lpstr>
      <vt:lpstr>LAB – 11</vt:lpstr>
      <vt:lpstr>Task - 1</vt:lpstr>
      <vt:lpstr>Task - 2</vt:lpstr>
      <vt:lpstr>Task - 3</vt:lpstr>
      <vt:lpstr>Task - 4</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Majid Hussain</dc:creator>
  <cp:lastModifiedBy>Majid Hussain</cp:lastModifiedBy>
  <cp:revision>705</cp:revision>
  <dcterms:created xsi:type="dcterms:W3CDTF">2022-09-18T18:36:50Z</dcterms:created>
  <dcterms:modified xsi:type="dcterms:W3CDTF">2025-04-23T08:50:35Z</dcterms:modified>
</cp:coreProperties>
</file>
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6"/>
  </p:notesMasterIdLst>
  <p:sldIdLst>
    <p:sldId id="256" r:id="rId2"/>
    <p:sldId id="267" r:id="rId3"/>
    <p:sldId id="270" r:id="rId4"/>
    <p:sldId id="268" r:id="rId5"/>
    <p:sldId id="269" r:id="rId6"/>
    <p:sldId id="271" r:id="rId7"/>
    <p:sldId id="272" r:id="rId8"/>
    <p:sldId id="262" r:id="rId9"/>
    <p:sldId id="263" r:id="rId10"/>
    <p:sldId id="264" r:id="rId11"/>
    <p:sldId id="265" r:id="rId12"/>
    <p:sldId id="266" r:id="rId13"/>
    <p:sldId id="273" r:id="rId14"/>
    <p:sldId id="27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2439D-EB4B-4FB0-8FCF-F98E8606EACA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28867-5CFB-4CF7-B5DC-CFC116C37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952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28867-5CFB-4CF7-B5DC-CFC116C37B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63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046B-4E25-4DF1-9DE1-12E4A41B97A6}" type="datetime1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99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E1216-3170-4F6D-A3CF-E5C5608AA8CF}" type="datetime1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254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E345-4D4B-489D-AE9E-E4830A31EDB1}" type="datetime1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977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CABA-1141-4E49-A369-9B6F45643DFF}" type="datetime1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712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4340-9E8F-4ED5-AC11-E5BB2925CA43}" type="datetime1">
              <a:rPr lang="en-US" smtClean="0"/>
              <a:t>3/3/2025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55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AE39F-54E1-4E4D-A3A6-583B543675EE}" type="datetime1">
              <a:rPr lang="en-US" smtClean="0"/>
              <a:t>3/3/2025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09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E462-0C8B-4901-9C7A-7FEF6BCCE1D9}" type="datetime1">
              <a:rPr lang="en-US" smtClean="0"/>
              <a:t>3/3/2025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52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A8872F5-177D-4534-9718-DD8D4001B234}" type="datetime1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99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5ECED-6A20-494B-8D7D-788231577CE4}" type="datetime1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522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D0AE-6D5A-40E9-98F9-7B2CF6A45989}" type="datetime1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050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482EA-7E95-40E9-9BD0-5300AFC5B999}" type="datetime1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6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2434106-2ABE-4E26-B24F-AA7802E7B0E5}" type="datetime1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793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Linear and binary search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cs typeface="Times New Roman" panose="02020603050405020304" pitchFamily="18" charset="0"/>
              </a:rPr>
              <a:t>The University of Lahore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>
                <a:cs typeface="Times New Roman" panose="02020603050405020304" pitchFamily="18" charset="0"/>
              </a:rPr>
              <a:t>1</a:t>
            </a:fld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81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Searching Algorithms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060504"/>
            <a:ext cx="10058400" cy="3749597"/>
          </a:xfrm>
        </p:spPr>
        <p:txBody>
          <a:bodyPr>
            <a:noAutofit/>
          </a:bodyPr>
          <a:lstStyle/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Searching algorithms help find a specific element in a given data structure (array, list, etc.). Two basic types are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22833" lvl="1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Search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Works on both sorted and unsorted data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22833" lvl="1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Only works on sorted data, but is more efficient.</a:t>
            </a:r>
            <a:endParaRPr lang="en-US" sz="2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45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Search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060504"/>
            <a:ext cx="10058400" cy="3749597"/>
          </a:xfrm>
        </p:spPr>
        <p:txBody>
          <a:bodyPr>
            <a:noAutofit/>
          </a:bodyPr>
          <a:lstStyle/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search is a sequential searching algorithm where we start from one end and check every element of the list until the desired element is found. </a:t>
            </a:r>
            <a:endParaRPr lang="en-US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simplest searching algorithm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a match is found, return the index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end of the array is reached without finding the element, return -1.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steps are followed to search for an 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k=1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the list below.</a:t>
            </a:r>
            <a:endParaRPr lang="en-US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4959" t="18630" r="4685" b="18960"/>
          <a:stretch/>
        </p:blipFill>
        <p:spPr>
          <a:xfrm>
            <a:off x="2881835" y="5198043"/>
            <a:ext cx="6489290" cy="1165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82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Search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086892"/>
            <a:ext cx="4937760" cy="4023360"/>
          </a:xfrm>
        </p:spPr>
        <p:txBody>
          <a:bodyPr>
            <a:noAutofit/>
          </a:bodyPr>
          <a:lstStyle/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from the first element, compare </a:t>
            </a:r>
            <a:r>
              <a:rPr lang="en-US" sz="3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each element of array.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3716" t="4301" r="2870" b="5806"/>
          <a:stretch/>
        </p:blipFill>
        <p:spPr>
          <a:xfrm>
            <a:off x="7091824" y="1722613"/>
            <a:ext cx="4063856" cy="461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571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Search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060504"/>
            <a:ext cx="10058400" cy="3749597"/>
          </a:xfrm>
        </p:spPr>
        <p:txBody>
          <a:bodyPr>
            <a:noAutofit/>
          </a:bodyPr>
          <a:lstStyle/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30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== k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return the index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3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Else, return </a:t>
            </a:r>
            <a:r>
              <a:rPr lang="en-US" sz="3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found.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4959" t="14366" r="5096" b="15905"/>
          <a:stretch/>
        </p:blipFill>
        <p:spPr>
          <a:xfrm>
            <a:off x="2867690" y="2932411"/>
            <a:ext cx="6459794" cy="200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183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</a:t>
            </a:r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Implementation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1097278" y="1832086"/>
            <a:ext cx="4937760" cy="4023360"/>
          </a:xfrm>
        </p:spPr>
        <p:txBody>
          <a:bodyPr>
            <a:noAutofit/>
          </a:bodyPr>
          <a:lstStyle/>
          <a:p>
            <a:r>
              <a:rPr lang="en-US" dirty="0"/>
              <a:t>#include &lt;</a:t>
            </a:r>
            <a:r>
              <a:rPr lang="en-US" dirty="0" err="1"/>
              <a:t>iostream</a:t>
            </a:r>
            <a:r>
              <a:rPr lang="en-US" dirty="0"/>
              <a:t>&gt;</a:t>
            </a:r>
          </a:p>
          <a:p>
            <a:r>
              <a:rPr lang="en-US" dirty="0"/>
              <a:t>using namespace </a:t>
            </a:r>
            <a:r>
              <a:rPr lang="en-US" dirty="0" err="1"/>
              <a:t>std</a:t>
            </a:r>
            <a:r>
              <a:rPr lang="en-US" dirty="0" smtClean="0"/>
              <a:t>;</a:t>
            </a:r>
            <a:endParaRPr lang="en-US" dirty="0"/>
          </a:p>
          <a:p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linearSearch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arr</a:t>
            </a:r>
            <a:r>
              <a:rPr lang="en-US" dirty="0"/>
              <a:t>[], </a:t>
            </a:r>
            <a:r>
              <a:rPr lang="en-US" dirty="0" err="1"/>
              <a:t>int</a:t>
            </a:r>
            <a:r>
              <a:rPr lang="en-US" dirty="0"/>
              <a:t> n, </a:t>
            </a:r>
            <a:r>
              <a:rPr lang="en-US" dirty="0" err="1"/>
              <a:t>int</a:t>
            </a:r>
            <a:r>
              <a:rPr lang="en-US" dirty="0"/>
              <a:t> target) {</a:t>
            </a:r>
          </a:p>
          <a:p>
            <a:r>
              <a:rPr lang="en-US" dirty="0"/>
              <a:t>    for 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n;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    if (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== target) {</a:t>
            </a:r>
          </a:p>
          <a:p>
            <a:r>
              <a:rPr lang="en-US" dirty="0"/>
              <a:t>            return </a:t>
            </a:r>
            <a:r>
              <a:rPr lang="en-US" dirty="0" err="1"/>
              <a:t>i</a:t>
            </a:r>
            <a:r>
              <a:rPr lang="en-US" dirty="0"/>
              <a:t>;  // Element found, return index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return -1;  // Element not found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>
          <a:xfrm>
            <a:off x="6204272" y="1763847"/>
            <a:ext cx="5437268" cy="4023360"/>
          </a:xfrm>
        </p:spPr>
        <p:txBody>
          <a:bodyPr>
            <a:noAutofit/>
          </a:bodyPr>
          <a:lstStyle/>
          <a:p>
            <a:r>
              <a:rPr lang="en-US" sz="1800" dirty="0" err="1"/>
              <a:t>int</a:t>
            </a:r>
            <a:r>
              <a:rPr lang="en-US" sz="1800" dirty="0"/>
              <a:t> main() {</a:t>
            </a:r>
          </a:p>
          <a:p>
            <a:r>
              <a:rPr lang="en-US" sz="1800" dirty="0"/>
              <a:t>    </a:t>
            </a:r>
            <a:r>
              <a:rPr lang="en-US" sz="1800" dirty="0" err="1"/>
              <a:t>int</a:t>
            </a:r>
            <a:r>
              <a:rPr lang="en-US" sz="1800" dirty="0"/>
              <a:t> </a:t>
            </a:r>
            <a:r>
              <a:rPr lang="en-US" sz="1800" dirty="0" err="1"/>
              <a:t>arr</a:t>
            </a:r>
            <a:r>
              <a:rPr lang="en-US" sz="1800" dirty="0"/>
              <a:t>[] = {10, 20, 30, 40, 50};</a:t>
            </a:r>
          </a:p>
          <a:p>
            <a:r>
              <a:rPr lang="en-US" sz="1800" dirty="0"/>
              <a:t>    </a:t>
            </a:r>
            <a:r>
              <a:rPr lang="en-US" sz="1800" dirty="0" err="1"/>
              <a:t>int</a:t>
            </a:r>
            <a:r>
              <a:rPr lang="en-US" sz="1800" dirty="0"/>
              <a:t> n = </a:t>
            </a:r>
            <a:r>
              <a:rPr lang="en-US" sz="1800" dirty="0" err="1"/>
              <a:t>sizeof</a:t>
            </a:r>
            <a:r>
              <a:rPr lang="en-US" sz="1800" dirty="0"/>
              <a:t>(</a:t>
            </a:r>
            <a:r>
              <a:rPr lang="en-US" sz="1800" dirty="0" err="1"/>
              <a:t>arr</a:t>
            </a:r>
            <a:r>
              <a:rPr lang="en-US" sz="1800" dirty="0"/>
              <a:t>) / </a:t>
            </a:r>
            <a:r>
              <a:rPr lang="en-US" sz="1800" dirty="0" err="1"/>
              <a:t>sizeof</a:t>
            </a:r>
            <a:r>
              <a:rPr lang="en-US" sz="1800" dirty="0"/>
              <a:t>(</a:t>
            </a:r>
            <a:r>
              <a:rPr lang="en-US" sz="1800" dirty="0" err="1"/>
              <a:t>arr</a:t>
            </a:r>
            <a:r>
              <a:rPr lang="en-US" sz="1800" dirty="0"/>
              <a:t>[0]);</a:t>
            </a:r>
          </a:p>
          <a:p>
            <a:r>
              <a:rPr lang="en-US" sz="1800" dirty="0"/>
              <a:t>    </a:t>
            </a:r>
            <a:r>
              <a:rPr lang="en-US" sz="1800" dirty="0" err="1"/>
              <a:t>int</a:t>
            </a:r>
            <a:r>
              <a:rPr lang="en-US" sz="1800" dirty="0"/>
              <a:t> target = 30</a:t>
            </a:r>
            <a:r>
              <a:rPr lang="en-US" sz="1800" dirty="0" smtClean="0"/>
              <a:t>;</a:t>
            </a:r>
            <a:endParaRPr lang="en-US" sz="1800" dirty="0"/>
          </a:p>
          <a:p>
            <a:r>
              <a:rPr lang="en-US" sz="1800" dirty="0"/>
              <a:t>    </a:t>
            </a:r>
            <a:r>
              <a:rPr lang="en-US" sz="1800" dirty="0" err="1"/>
              <a:t>int</a:t>
            </a:r>
            <a:r>
              <a:rPr lang="en-US" sz="1800" dirty="0"/>
              <a:t> result = </a:t>
            </a:r>
            <a:r>
              <a:rPr lang="en-US" sz="1800" dirty="0" err="1"/>
              <a:t>linearSearch</a:t>
            </a:r>
            <a:r>
              <a:rPr lang="en-US" sz="1800" dirty="0"/>
              <a:t>(</a:t>
            </a:r>
            <a:r>
              <a:rPr lang="en-US" sz="1800" dirty="0" err="1"/>
              <a:t>arr</a:t>
            </a:r>
            <a:r>
              <a:rPr lang="en-US" sz="1800" dirty="0"/>
              <a:t>, n, target);</a:t>
            </a:r>
          </a:p>
          <a:p>
            <a:r>
              <a:rPr lang="en-US" sz="1800" dirty="0"/>
              <a:t>    if (result != -1)</a:t>
            </a:r>
          </a:p>
          <a:p>
            <a:r>
              <a:rPr lang="en-US" sz="1800" dirty="0"/>
              <a:t>        </a:t>
            </a:r>
            <a:r>
              <a:rPr lang="en-US" sz="1800" dirty="0" err="1"/>
              <a:t>cout</a:t>
            </a:r>
            <a:r>
              <a:rPr lang="en-US" sz="1800" dirty="0"/>
              <a:t> &lt;&lt; "Element found at index " &lt;&lt; result &lt;&lt; </a:t>
            </a:r>
            <a:r>
              <a:rPr lang="en-US" sz="1800" dirty="0" err="1"/>
              <a:t>endl</a:t>
            </a:r>
            <a:r>
              <a:rPr lang="en-US" sz="1800" dirty="0"/>
              <a:t>;</a:t>
            </a:r>
          </a:p>
          <a:p>
            <a:r>
              <a:rPr lang="en-US" sz="1800" dirty="0"/>
              <a:t>    else</a:t>
            </a:r>
          </a:p>
          <a:p>
            <a:r>
              <a:rPr lang="en-US" sz="1800" dirty="0"/>
              <a:t>        </a:t>
            </a:r>
            <a:r>
              <a:rPr lang="en-US" sz="1800" dirty="0" err="1"/>
              <a:t>cout</a:t>
            </a:r>
            <a:r>
              <a:rPr lang="en-US" sz="1800" dirty="0"/>
              <a:t> &lt;&lt; "Element not found" &lt;&lt; </a:t>
            </a:r>
            <a:r>
              <a:rPr lang="en-US" sz="1800" dirty="0" err="1"/>
              <a:t>endl</a:t>
            </a:r>
            <a:r>
              <a:rPr lang="en-US" sz="1800" dirty="0" smtClean="0"/>
              <a:t>;</a:t>
            </a:r>
            <a:endParaRPr lang="en-US" sz="1800" dirty="0"/>
          </a:p>
          <a:p>
            <a:r>
              <a:rPr lang="en-US" sz="1800" dirty="0"/>
              <a:t>    return 0;</a:t>
            </a:r>
          </a:p>
          <a:p>
            <a:r>
              <a:rPr lang="en-US" sz="1800" dirty="0" smtClean="0"/>
              <a:t>}</a:t>
            </a:r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834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Run-Time </a:t>
            </a:r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Let </a:t>
            </a:r>
            <a:r>
              <a:rPr lang="en-US" dirty="0" smtClean="0"/>
              <a:t>𝑛 </a:t>
            </a:r>
            <a:r>
              <a:rPr lang="en-US" dirty="0"/>
              <a:t>be the </a:t>
            </a:r>
            <a:r>
              <a:rPr lang="en-US" dirty="0" smtClean="0"/>
              <a:t>number </a:t>
            </a:r>
            <a:r>
              <a:rPr lang="en-US" dirty="0"/>
              <a:t>of elements in the array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969233"/>
              </p:ext>
            </p:extLst>
          </p:nvPr>
        </p:nvGraphicFramePr>
        <p:xfrm>
          <a:off x="1201955" y="2615213"/>
          <a:ext cx="9849050" cy="1997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6314"/>
                <a:gridCol w="2122996"/>
                <a:gridCol w="5789740"/>
              </a:tblGrid>
              <a:tr h="510124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Case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Complexity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Explanation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477672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Case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O(1)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When the target element is the first element.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491319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Worst Case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When the target element is the last element or not present.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518615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Case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 average, it will search half of the elements.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908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060504"/>
            <a:ext cx="10058400" cy="3749597"/>
          </a:xfrm>
        </p:spPr>
        <p:txBody>
          <a:bodyPr>
            <a:noAutofit/>
          </a:bodyPr>
          <a:lstStyle/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 is a searching algorithm for finding an element's position in a sorted array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this approach, the element is always searched in the middle of a portion of an array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 can be implemented only on a sorted list of items. </a:t>
            </a:r>
            <a:endParaRPr lang="en-US" sz="3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elements are not sorted already, we need to sort them first.</a:t>
            </a:r>
            <a:endParaRPr lang="en-US" sz="3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529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060504"/>
            <a:ext cx="10058400" cy="3749597"/>
          </a:xfrm>
        </p:spPr>
        <p:txBody>
          <a:bodyPr>
            <a:noAutofit/>
          </a:bodyPr>
          <a:lstStyle/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array in which searching is to be performed is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76212" indent="0" algn="just">
              <a:lnSpc>
                <a:spcPct val="100000"/>
              </a:lnSpc>
              <a:buNone/>
            </a:pPr>
            <a:endParaRPr lang="en-US" sz="3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x=4 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the element to be searched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two pointers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 the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lowest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the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highest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positions 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respectively.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4685" t="17660" r="4636" b="17237"/>
          <a:stretch/>
        </p:blipFill>
        <p:spPr>
          <a:xfrm>
            <a:off x="3303639" y="2448238"/>
            <a:ext cx="5648632" cy="109138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l="5159" t="15142" r="5110" b="13700"/>
          <a:stretch/>
        </p:blipFill>
        <p:spPr>
          <a:xfrm>
            <a:off x="5102942" y="4483509"/>
            <a:ext cx="5589639" cy="184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883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060504"/>
            <a:ext cx="10058400" cy="3749597"/>
          </a:xfrm>
        </p:spPr>
        <p:txBody>
          <a:bodyPr>
            <a:noAutofit/>
          </a:bodyPr>
          <a:lstStyle/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the middle element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of the </a:t>
            </a:r>
            <a:r>
              <a:rPr lang="en-US" sz="3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 </a:t>
            </a:r>
            <a:r>
              <a:rPr lang="en-US" sz="3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i.e. </a:t>
            </a:r>
            <a:r>
              <a:rPr lang="en-US" sz="3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rr</a:t>
            </a:r>
            <a:r>
              <a:rPr lang="en-US" sz="3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[(</a:t>
            </a:r>
            <a:r>
              <a:rPr lang="en-US" sz="3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low+high</a:t>
            </a:r>
            <a:r>
              <a:rPr lang="en-US" sz="3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)/2] = 6</a:t>
            </a: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3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3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== mid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then return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Else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compare the element to be searched with 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elements of array.</a:t>
            </a:r>
            <a:endParaRPr 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3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6121" t="14991" r="6279" b="14991"/>
          <a:stretch/>
        </p:blipFill>
        <p:spPr>
          <a:xfrm>
            <a:off x="3398028" y="3264250"/>
            <a:ext cx="5456904" cy="181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570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060504"/>
            <a:ext cx="10058400" cy="3749597"/>
          </a:xfrm>
        </p:spPr>
        <p:txBody>
          <a:bodyPr>
            <a:noAutofit/>
          </a:bodyPr>
          <a:lstStyle/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&gt; mid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compare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the middle element of the elements on the right side 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3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This is done by setting </a:t>
            </a:r>
            <a:r>
              <a:rPr lang="en-US" sz="3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3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= mid + 1;</a:t>
            </a: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Else, 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middle element of the elements on the left side 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3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This 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done by 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setting high to </a:t>
            </a:r>
            <a:r>
              <a:rPr lang="en-US" sz="3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= mid -1;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5648" t="13852" r="6042" b="16129"/>
          <a:stretch/>
        </p:blipFill>
        <p:spPr>
          <a:xfrm>
            <a:off x="3375905" y="4519986"/>
            <a:ext cx="5501149" cy="1814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145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060504"/>
            <a:ext cx="10058400" cy="3749597"/>
          </a:xfrm>
        </p:spPr>
        <p:txBody>
          <a:bodyPr>
            <a:noAutofit/>
          </a:bodyPr>
          <a:lstStyle/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 steps 3 to 6 until low meets 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high.</a:t>
            </a: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6212" indent="0" algn="just">
              <a:lnSpc>
                <a:spcPct val="100000"/>
              </a:lnSpc>
              <a:buNone/>
            </a:pPr>
            <a:endParaRPr 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= 4 is 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found.</a:t>
            </a:r>
            <a:endParaRPr lang="en-US" sz="3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30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11318" t="12526" r="9409" b="13470"/>
          <a:stretch/>
        </p:blipFill>
        <p:spPr>
          <a:xfrm>
            <a:off x="4836600" y="2477730"/>
            <a:ext cx="2521974" cy="191729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/>
          <a:srcRect l="10099" t="14706" r="10628" b="14137"/>
          <a:stretch/>
        </p:blipFill>
        <p:spPr>
          <a:xfrm>
            <a:off x="4836600" y="4395020"/>
            <a:ext cx="2521974" cy="184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685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</a:t>
            </a:r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Implementation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1097278" y="1737360"/>
            <a:ext cx="4937760" cy="455425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#include &lt;</a:t>
            </a:r>
            <a:r>
              <a:rPr lang="en-US" sz="1400" dirty="0" err="1"/>
              <a:t>iostream</a:t>
            </a:r>
            <a:r>
              <a:rPr lang="en-US" sz="1400" dirty="0"/>
              <a:t>&gt;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using namespace </a:t>
            </a:r>
            <a:r>
              <a:rPr lang="en-US" sz="1400" dirty="0" err="1"/>
              <a:t>std</a:t>
            </a:r>
            <a:r>
              <a:rPr lang="en-US" sz="1400" dirty="0"/>
              <a:t>;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 err="1" smtClean="0"/>
              <a:t>int</a:t>
            </a:r>
            <a:r>
              <a:rPr lang="en-US" sz="1400" dirty="0" smtClean="0"/>
              <a:t> </a:t>
            </a:r>
            <a:r>
              <a:rPr lang="en-US" sz="1400" dirty="0" err="1"/>
              <a:t>binarySearch</a:t>
            </a:r>
            <a:r>
              <a:rPr lang="en-US" sz="1400" dirty="0"/>
              <a:t>(</a:t>
            </a:r>
            <a:r>
              <a:rPr lang="en-US" sz="1400" dirty="0" err="1"/>
              <a:t>int</a:t>
            </a:r>
            <a:r>
              <a:rPr lang="en-US" sz="1400" dirty="0"/>
              <a:t> </a:t>
            </a:r>
            <a:r>
              <a:rPr lang="en-US" sz="1400" dirty="0" err="1"/>
              <a:t>arr</a:t>
            </a:r>
            <a:r>
              <a:rPr lang="en-US" sz="1400" dirty="0"/>
              <a:t>[], </a:t>
            </a:r>
            <a:r>
              <a:rPr lang="en-US" sz="1400" dirty="0" err="1"/>
              <a:t>int</a:t>
            </a:r>
            <a:r>
              <a:rPr lang="en-US" sz="1400" dirty="0"/>
              <a:t> </a:t>
            </a:r>
            <a:r>
              <a:rPr lang="en-US" sz="1400" dirty="0" smtClean="0"/>
              <a:t>low, </a:t>
            </a:r>
            <a:r>
              <a:rPr lang="en-US" sz="1400" dirty="0" err="1"/>
              <a:t>int</a:t>
            </a:r>
            <a:r>
              <a:rPr lang="en-US" sz="1400" dirty="0"/>
              <a:t> </a:t>
            </a:r>
            <a:r>
              <a:rPr lang="en-US" sz="1400" dirty="0" smtClean="0"/>
              <a:t>high, </a:t>
            </a:r>
            <a:r>
              <a:rPr lang="en-US" sz="1400" dirty="0" err="1"/>
              <a:t>int</a:t>
            </a:r>
            <a:r>
              <a:rPr lang="en-US" sz="1400" dirty="0"/>
              <a:t> target) {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    while </a:t>
            </a:r>
            <a:r>
              <a:rPr lang="en-US" sz="1400" dirty="0" smtClean="0"/>
              <a:t>(</a:t>
            </a:r>
            <a:r>
              <a:rPr lang="en-US" sz="1400" dirty="0"/>
              <a:t>low </a:t>
            </a:r>
            <a:r>
              <a:rPr lang="en-US" sz="1400" dirty="0" smtClean="0"/>
              <a:t>&lt;= </a:t>
            </a:r>
            <a:r>
              <a:rPr lang="en-US" sz="1400" dirty="0"/>
              <a:t>high</a:t>
            </a:r>
            <a:r>
              <a:rPr lang="en-US" sz="1400" dirty="0" smtClean="0"/>
              <a:t>) </a:t>
            </a:r>
            <a:r>
              <a:rPr lang="en-US" sz="1400" dirty="0"/>
              <a:t>{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        </a:t>
            </a:r>
            <a:r>
              <a:rPr lang="en-US" sz="1400" dirty="0" err="1"/>
              <a:t>int</a:t>
            </a:r>
            <a:r>
              <a:rPr lang="en-US" sz="1400" dirty="0"/>
              <a:t> mid = </a:t>
            </a:r>
            <a:r>
              <a:rPr lang="en-US" sz="1400" dirty="0" smtClean="0"/>
              <a:t>(low + high) </a:t>
            </a:r>
            <a:r>
              <a:rPr lang="en-US" sz="1400" dirty="0"/>
              <a:t>/ 2;  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 smtClean="0"/>
              <a:t>        </a:t>
            </a:r>
            <a:r>
              <a:rPr lang="en-US" sz="1400" dirty="0"/>
              <a:t>if (</a:t>
            </a:r>
            <a:r>
              <a:rPr lang="en-US" sz="1400" dirty="0" err="1"/>
              <a:t>arr</a:t>
            </a:r>
            <a:r>
              <a:rPr lang="en-US" sz="1400" dirty="0"/>
              <a:t>[mid] == target)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            return mid;  // Target found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 smtClean="0"/>
              <a:t>        </a:t>
            </a:r>
            <a:r>
              <a:rPr lang="en-US" sz="1400" dirty="0"/>
              <a:t>if (</a:t>
            </a:r>
            <a:r>
              <a:rPr lang="en-US" sz="1400" dirty="0" err="1"/>
              <a:t>arr</a:t>
            </a:r>
            <a:r>
              <a:rPr lang="en-US" sz="1400" dirty="0"/>
              <a:t>[mid] &lt; target)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            </a:t>
            </a:r>
            <a:r>
              <a:rPr lang="en-US" sz="1400" dirty="0" smtClean="0"/>
              <a:t>low = </a:t>
            </a:r>
            <a:r>
              <a:rPr lang="en-US" sz="1400" dirty="0"/>
              <a:t>mid + 1;  // Search in the right half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        else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            </a:t>
            </a:r>
            <a:r>
              <a:rPr lang="en-US" sz="1400" dirty="0" smtClean="0"/>
              <a:t>high = </a:t>
            </a:r>
            <a:r>
              <a:rPr lang="en-US" sz="1400" dirty="0"/>
              <a:t>mid - 1;  // Search in the left half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    }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    return -1;  // Element not found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 smtClean="0"/>
              <a:t>}</a:t>
            </a:r>
            <a:endParaRPr lang="en-US" sz="1400" dirty="0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6217920" y="1845734"/>
            <a:ext cx="4937760" cy="4445883"/>
          </a:xfrm>
        </p:spPr>
        <p:txBody>
          <a:bodyPr>
            <a:noAutofit/>
          </a:bodyPr>
          <a:lstStyle/>
          <a:p>
            <a:r>
              <a:rPr lang="en-US" sz="1600" dirty="0" err="1" smtClean="0"/>
              <a:t>int</a:t>
            </a:r>
            <a:r>
              <a:rPr lang="en-US" sz="1600" dirty="0" smtClean="0"/>
              <a:t> </a:t>
            </a:r>
            <a:r>
              <a:rPr lang="en-US" sz="1600" dirty="0"/>
              <a:t>main() {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int</a:t>
            </a:r>
            <a:r>
              <a:rPr lang="en-US" sz="1600" dirty="0"/>
              <a:t> </a:t>
            </a:r>
            <a:r>
              <a:rPr lang="en-US" sz="1600" dirty="0" err="1"/>
              <a:t>arr</a:t>
            </a:r>
            <a:r>
              <a:rPr lang="en-US" sz="1600" dirty="0"/>
              <a:t>[] = {10, 20, 30, 40, 50};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int</a:t>
            </a:r>
            <a:r>
              <a:rPr lang="en-US" sz="1600" dirty="0"/>
              <a:t> n = </a:t>
            </a:r>
            <a:r>
              <a:rPr lang="en-US" sz="1600" dirty="0" err="1"/>
              <a:t>sizeof</a:t>
            </a:r>
            <a:r>
              <a:rPr lang="en-US" sz="1600" dirty="0"/>
              <a:t>(</a:t>
            </a:r>
            <a:r>
              <a:rPr lang="en-US" sz="1600" dirty="0" err="1"/>
              <a:t>arr</a:t>
            </a:r>
            <a:r>
              <a:rPr lang="en-US" sz="1600" dirty="0"/>
              <a:t>) / </a:t>
            </a:r>
            <a:r>
              <a:rPr lang="en-US" sz="1600" dirty="0" err="1"/>
              <a:t>sizeof</a:t>
            </a:r>
            <a:r>
              <a:rPr lang="en-US" sz="1600" dirty="0"/>
              <a:t>(</a:t>
            </a:r>
            <a:r>
              <a:rPr lang="en-US" sz="1600" dirty="0" err="1"/>
              <a:t>arr</a:t>
            </a:r>
            <a:r>
              <a:rPr lang="en-US" sz="1600" dirty="0"/>
              <a:t>[0]);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int</a:t>
            </a:r>
            <a:r>
              <a:rPr lang="en-US" sz="1600" dirty="0"/>
              <a:t> target = 30;</a:t>
            </a:r>
          </a:p>
          <a:p>
            <a:r>
              <a:rPr lang="en-US" sz="1600" dirty="0" smtClean="0"/>
              <a:t>    </a:t>
            </a:r>
            <a:r>
              <a:rPr lang="en-US" sz="1600" dirty="0" err="1"/>
              <a:t>int</a:t>
            </a:r>
            <a:r>
              <a:rPr lang="en-US" sz="1600" dirty="0"/>
              <a:t> result = </a:t>
            </a:r>
            <a:r>
              <a:rPr lang="en-US" sz="1600" dirty="0" err="1"/>
              <a:t>binarySearch</a:t>
            </a:r>
            <a:r>
              <a:rPr lang="en-US" sz="1600" dirty="0"/>
              <a:t>(</a:t>
            </a:r>
            <a:r>
              <a:rPr lang="en-US" sz="1600" dirty="0" err="1"/>
              <a:t>arr</a:t>
            </a:r>
            <a:r>
              <a:rPr lang="en-US" sz="1600" dirty="0"/>
              <a:t>, 0, n - 1, target);</a:t>
            </a:r>
          </a:p>
          <a:p>
            <a:r>
              <a:rPr lang="en-US" sz="1600" dirty="0"/>
              <a:t>    if (result != -1)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cout</a:t>
            </a:r>
            <a:r>
              <a:rPr lang="en-US" sz="1600" dirty="0"/>
              <a:t> &lt;&lt; "Element found at index " &lt;&lt; result &lt;&lt; </a:t>
            </a:r>
            <a:r>
              <a:rPr lang="en-US" sz="1600" dirty="0" err="1"/>
              <a:t>endl</a:t>
            </a:r>
            <a:r>
              <a:rPr lang="en-US" sz="1600" dirty="0"/>
              <a:t>;</a:t>
            </a:r>
          </a:p>
          <a:p>
            <a:r>
              <a:rPr lang="en-US" sz="1600" dirty="0"/>
              <a:t>    else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cout</a:t>
            </a:r>
            <a:r>
              <a:rPr lang="en-US" sz="1600" dirty="0"/>
              <a:t> &lt;&lt; "Element not found" &lt;&lt; </a:t>
            </a:r>
            <a:r>
              <a:rPr lang="en-US" sz="1600" dirty="0" err="1"/>
              <a:t>endl</a:t>
            </a:r>
            <a:r>
              <a:rPr lang="en-US" sz="1600" dirty="0"/>
              <a:t>;</a:t>
            </a:r>
          </a:p>
          <a:p>
            <a:r>
              <a:rPr lang="en-US" sz="1600" dirty="0" smtClean="0"/>
              <a:t>    </a:t>
            </a:r>
            <a:r>
              <a:rPr lang="en-US" sz="1600" dirty="0"/>
              <a:t>return 0;</a:t>
            </a:r>
          </a:p>
          <a:p>
            <a:r>
              <a:rPr lang="en-US" sz="1600" dirty="0"/>
              <a:t>}</a:t>
            </a:r>
          </a:p>
          <a:p>
            <a:endParaRPr lang="en-US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561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Run-Time Analysis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Let </a:t>
            </a:r>
            <a:r>
              <a:rPr lang="en-US" dirty="0" smtClean="0"/>
              <a:t>𝑛 </a:t>
            </a:r>
            <a:r>
              <a:rPr lang="en-US" dirty="0"/>
              <a:t>be the number of elements in the array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276668"/>
              </p:ext>
            </p:extLst>
          </p:nvPr>
        </p:nvGraphicFramePr>
        <p:xfrm>
          <a:off x="1201955" y="2615213"/>
          <a:ext cx="9849050" cy="1997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6314"/>
                <a:gridCol w="2122996"/>
                <a:gridCol w="5789740"/>
              </a:tblGrid>
              <a:tr h="510124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Case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Complexity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Explanation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477672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Case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O(1)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the middle element is the target.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491319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Worst Case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O(log n)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search space reduces by half in each step.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518615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Case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O(log n)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Similar to the worst case as we always divide the array.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9284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4531</TotalTime>
  <Words>949</Words>
  <Application>Microsoft Office PowerPoint</Application>
  <PresentationFormat>Widescreen</PresentationFormat>
  <Paragraphs>148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Wingdings</vt:lpstr>
      <vt:lpstr>Retrospect</vt:lpstr>
      <vt:lpstr>Linear and binary search</vt:lpstr>
      <vt:lpstr>Introduction to Searching Algorithms</vt:lpstr>
      <vt:lpstr>Linear Search</vt:lpstr>
      <vt:lpstr>Linear Search</vt:lpstr>
      <vt:lpstr>Linear Search</vt:lpstr>
      <vt:lpstr>Linear Search Implementation</vt:lpstr>
      <vt:lpstr>Linear Search Run-Time Analysis</vt:lpstr>
      <vt:lpstr>Binary Search</vt:lpstr>
      <vt:lpstr>Binary Search</vt:lpstr>
      <vt:lpstr>Binary Search</vt:lpstr>
      <vt:lpstr>Binary Search</vt:lpstr>
      <vt:lpstr>Binary Search</vt:lpstr>
      <vt:lpstr>Binary Search Implementation</vt:lpstr>
      <vt:lpstr>Binary Search Run-Time Analysis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Majid Hussain</dc:creator>
  <cp:lastModifiedBy>Majid Hussain</cp:lastModifiedBy>
  <cp:revision>308</cp:revision>
  <dcterms:created xsi:type="dcterms:W3CDTF">2022-09-18T18:36:50Z</dcterms:created>
  <dcterms:modified xsi:type="dcterms:W3CDTF">2025-03-04T05:05:33Z</dcterms:modified>
</cp:coreProperties>
</file>
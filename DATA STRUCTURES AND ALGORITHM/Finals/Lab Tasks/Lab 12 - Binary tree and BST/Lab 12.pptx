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9"/>
  </p:notesMasterIdLst>
  <p:sldIdLst>
    <p:sldId id="256" r:id="rId2"/>
    <p:sldId id="262" r:id="rId3"/>
    <p:sldId id="275" r:id="rId4"/>
    <p:sldId id="276" r:id="rId5"/>
    <p:sldId id="277" r:id="rId6"/>
    <p:sldId id="278" r:id="rId7"/>
    <p:sldId id="27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75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4/30/2025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4/30/2025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4/30/2025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4/30/2025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4/30/2025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4/30/2025</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4/30/2025</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4/30/2025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4/30/2025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4/30/2025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4/30/2025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4/30/2025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82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232830"/>
            <a:ext cx="10058400" cy="5042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4/30/2025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88720" y="11663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12</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Binary tree and binary search tree</a:t>
            </a:r>
            <a:endParaRPr lang="en-US" dirty="0" smtClean="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program to create a binary tree using </a:t>
            </a:r>
            <a:r>
              <a:rPr lang="en-US" sz="2800" dirty="0" smtClean="0">
                <a:solidFill>
                  <a:schemeClr val="tx1"/>
                </a:solidFill>
                <a:latin typeface="Times New Roman" panose="02020603050405020304" pitchFamily="18" charset="0"/>
                <a:cs typeface="Times New Roman" panose="02020603050405020304" pitchFamily="18" charset="0"/>
              </a:rPr>
              <a:t>input </a:t>
            </a:r>
            <a:r>
              <a:rPr lang="en-US" sz="2800" dirty="0">
                <a:solidFill>
                  <a:schemeClr val="tx1"/>
                </a:solidFill>
                <a:latin typeface="Times New Roman" panose="02020603050405020304" pitchFamily="18" charset="0"/>
                <a:cs typeface="Times New Roman" panose="02020603050405020304" pitchFamily="18" charset="0"/>
              </a:rPr>
              <a:t>from the user. At each step, prompt the user to enter the value of the current node, and then </a:t>
            </a:r>
            <a:r>
              <a:rPr lang="en-US" sz="2800" dirty="0" smtClean="0">
                <a:solidFill>
                  <a:schemeClr val="tx1"/>
                </a:solidFill>
                <a:latin typeface="Times New Roman" panose="02020603050405020304" pitchFamily="18" charset="0"/>
                <a:cs typeface="Times New Roman" panose="02020603050405020304" pitchFamily="18" charset="0"/>
              </a:rPr>
              <a:t>recursively </a:t>
            </a:r>
            <a:r>
              <a:rPr lang="en-US" sz="2800" dirty="0">
                <a:solidFill>
                  <a:schemeClr val="tx1"/>
                </a:solidFill>
                <a:latin typeface="Times New Roman" panose="02020603050405020304" pitchFamily="18" charset="0"/>
                <a:cs typeface="Times New Roman" panose="02020603050405020304" pitchFamily="18" charset="0"/>
              </a:rPr>
              <a:t>(use -1 to represent NULL</a:t>
            </a:r>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ask whether they want to add a left child and a right child for that node. If the user chooses not to add a child, treat it as NULL. After the tree has been constructed, display the elements of the tree using three standard traversal methods: preorder traversal (root, left, right), </a:t>
            </a:r>
            <a:r>
              <a:rPr lang="en-US" sz="2800" dirty="0" err="1">
                <a:solidFill>
                  <a:schemeClr val="tx1"/>
                </a:solidFill>
                <a:latin typeface="Times New Roman" panose="02020603050405020304" pitchFamily="18" charset="0"/>
                <a:cs typeface="Times New Roman" panose="02020603050405020304" pitchFamily="18" charset="0"/>
              </a:rPr>
              <a:t>inorder</a:t>
            </a:r>
            <a:r>
              <a:rPr lang="en-US" sz="2800" dirty="0">
                <a:solidFill>
                  <a:schemeClr val="tx1"/>
                </a:solidFill>
                <a:latin typeface="Times New Roman" panose="02020603050405020304" pitchFamily="18" charset="0"/>
                <a:cs typeface="Times New Roman" panose="02020603050405020304" pitchFamily="18" charset="0"/>
              </a:rPr>
              <a:t> traversal (left, root, right), and </a:t>
            </a:r>
            <a:r>
              <a:rPr lang="en-US" sz="2800" dirty="0" err="1">
                <a:solidFill>
                  <a:schemeClr val="tx1"/>
                </a:solidFill>
                <a:latin typeface="Times New Roman" panose="02020603050405020304" pitchFamily="18" charset="0"/>
                <a:cs typeface="Times New Roman" panose="02020603050405020304" pitchFamily="18" charset="0"/>
              </a:rPr>
              <a:t>postorder</a:t>
            </a:r>
            <a:r>
              <a:rPr lang="en-US" sz="2800" dirty="0">
                <a:solidFill>
                  <a:schemeClr val="tx1"/>
                </a:solidFill>
                <a:latin typeface="Times New Roman" panose="02020603050405020304" pitchFamily="18" charset="0"/>
                <a:cs typeface="Times New Roman" panose="02020603050405020304" pitchFamily="18" charset="0"/>
              </a:rPr>
              <a:t> traversal (left, right, root).</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800" dirty="0" smtClean="0">
                <a:solidFill>
                  <a:schemeClr val="tx1"/>
                </a:solidFill>
                <a:latin typeface="Times New Roman" panose="02020603050405020304" pitchFamily="18" charset="0"/>
                <a:cs typeface="Times New Roman" panose="02020603050405020304" pitchFamily="18" charset="0"/>
              </a:rPr>
              <a:t>Write </a:t>
            </a:r>
            <a:r>
              <a:rPr lang="en-US" sz="2800" dirty="0">
                <a:solidFill>
                  <a:schemeClr val="tx1"/>
                </a:solidFill>
                <a:latin typeface="Times New Roman" panose="02020603050405020304" pitchFamily="18" charset="0"/>
                <a:cs typeface="Times New Roman" panose="02020603050405020304" pitchFamily="18" charset="0"/>
              </a:rPr>
              <a:t>a program to construct a binary tree using </a:t>
            </a:r>
            <a:r>
              <a:rPr lang="en-US" sz="2800" dirty="0" smtClean="0">
                <a:solidFill>
                  <a:schemeClr val="tx1"/>
                </a:solidFill>
                <a:latin typeface="Times New Roman" panose="02020603050405020304" pitchFamily="18" charset="0"/>
                <a:cs typeface="Times New Roman" panose="02020603050405020304" pitchFamily="18" charset="0"/>
              </a:rPr>
              <a:t>input </a:t>
            </a:r>
            <a:r>
              <a:rPr lang="en-US" sz="2800" dirty="0">
                <a:solidFill>
                  <a:schemeClr val="tx1"/>
                </a:solidFill>
                <a:latin typeface="Times New Roman" panose="02020603050405020304" pitchFamily="18" charset="0"/>
                <a:cs typeface="Times New Roman" panose="02020603050405020304" pitchFamily="18" charset="0"/>
              </a:rPr>
              <a:t>from the user and then count two specific values: the </a:t>
            </a:r>
            <a:r>
              <a:rPr lang="en-US" sz="2800" b="1" dirty="0">
                <a:solidFill>
                  <a:schemeClr val="tx1"/>
                </a:solidFill>
                <a:latin typeface="Times New Roman" panose="02020603050405020304" pitchFamily="18" charset="0"/>
                <a:cs typeface="Times New Roman" panose="02020603050405020304" pitchFamily="18" charset="0"/>
              </a:rPr>
              <a:t>total number of nodes </a:t>
            </a:r>
            <a:r>
              <a:rPr lang="en-US" sz="2800" dirty="0">
                <a:solidFill>
                  <a:schemeClr val="tx1"/>
                </a:solidFill>
                <a:latin typeface="Times New Roman" panose="02020603050405020304" pitchFamily="18" charset="0"/>
                <a:cs typeface="Times New Roman" panose="02020603050405020304" pitchFamily="18" charset="0"/>
              </a:rPr>
              <a:t>and the </a:t>
            </a:r>
            <a:r>
              <a:rPr lang="en-US" sz="2800" b="1" dirty="0">
                <a:solidFill>
                  <a:schemeClr val="tx1"/>
                </a:solidFill>
                <a:latin typeface="Times New Roman" panose="02020603050405020304" pitchFamily="18" charset="0"/>
                <a:cs typeface="Times New Roman" panose="02020603050405020304" pitchFamily="18" charset="0"/>
              </a:rPr>
              <a:t>number of leaf nodes</a:t>
            </a:r>
            <a:r>
              <a:rPr lang="en-US" sz="2800" dirty="0">
                <a:solidFill>
                  <a:schemeClr val="tx1"/>
                </a:solidFill>
                <a:latin typeface="Times New Roman" panose="02020603050405020304" pitchFamily="18" charset="0"/>
                <a:cs typeface="Times New Roman" panose="02020603050405020304" pitchFamily="18" charset="0"/>
              </a:rPr>
              <a:t>. A node is considered a leaf node if it does not have any left or right children. The program should prompt the user to input node values recursively (use -1 to represent NULL), and once the tree is built, it should display the total number of nodes and the number of leaf nodes found in the binary tree.</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1150753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program to create a binary tree using </a:t>
            </a:r>
            <a:r>
              <a:rPr lang="en-US" sz="2800" dirty="0" smtClean="0">
                <a:solidFill>
                  <a:schemeClr val="tx1"/>
                </a:solidFill>
                <a:latin typeface="Times New Roman" panose="02020603050405020304" pitchFamily="18" charset="0"/>
                <a:cs typeface="Times New Roman" panose="02020603050405020304" pitchFamily="18" charset="0"/>
              </a:rPr>
              <a:t>input </a:t>
            </a:r>
            <a:r>
              <a:rPr lang="en-US" sz="2800" dirty="0">
                <a:solidFill>
                  <a:schemeClr val="tx1"/>
                </a:solidFill>
                <a:latin typeface="Times New Roman" panose="02020603050405020304" pitchFamily="18" charset="0"/>
                <a:cs typeface="Times New Roman" panose="02020603050405020304" pitchFamily="18" charset="0"/>
              </a:rPr>
              <a:t>from the user, where -1 denotes a NULL (non-existent) node, and then count the number of nodes that have exactly one child—meaning the node has either a left child or a right child, but not both. After constructing the binary tree, the program should recursively traverse the tree and display the total count of such </a:t>
            </a:r>
            <a:r>
              <a:rPr lang="en-US" sz="2800" dirty="0" smtClean="0">
                <a:solidFill>
                  <a:schemeClr val="tx1"/>
                </a:solidFill>
                <a:latin typeface="Times New Roman" panose="02020603050405020304" pitchFamily="18" charset="0"/>
                <a:cs typeface="Times New Roman" panose="02020603050405020304" pitchFamily="18" charset="0"/>
              </a:rPr>
              <a:t>nodes.</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4809032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Write a program to create a Binary Search Tree (BST) by inserting elements one by one using a recursive insert function, which ensures the BST property (left &lt; root &lt; right) is maintained. After constructing the BST, implement a search function that checks whether a given key exists in the tree by traversing left or right depending on the comparison with the current node's value. The program should prompt the user to enter elements for insertion and then a key to search, displaying whether the key is found in the tree.</a:t>
            </a:r>
            <a:endParaRPr lang="en-US" sz="24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7" name="Rectangle 6"/>
          <p:cNvSpPr/>
          <p:nvPr/>
        </p:nvSpPr>
        <p:spPr>
          <a:xfrm>
            <a:off x="6900396" y="3464381"/>
            <a:ext cx="5291604" cy="282934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r>
              <a:rPr lang="en-US" sz="2000" dirty="0"/>
              <a:t>Enter number of elements to insert: 5</a:t>
            </a:r>
          </a:p>
          <a:p>
            <a:r>
              <a:rPr lang="en-US" sz="2000" dirty="0"/>
              <a:t>Enter elements:</a:t>
            </a:r>
          </a:p>
          <a:p>
            <a:r>
              <a:rPr lang="en-US" sz="2000" dirty="0"/>
              <a:t>34 45 23 4 2</a:t>
            </a:r>
          </a:p>
          <a:p>
            <a:endParaRPr lang="en-US" sz="2000" dirty="0"/>
          </a:p>
          <a:p>
            <a:r>
              <a:rPr lang="en-US" sz="2000" dirty="0" err="1"/>
              <a:t>Inorder</a:t>
            </a:r>
            <a:r>
              <a:rPr lang="en-US" sz="2000" dirty="0"/>
              <a:t> traversal of BST: 2 4 23 34 45</a:t>
            </a:r>
          </a:p>
          <a:p>
            <a:r>
              <a:rPr lang="en-US" sz="2000" dirty="0"/>
              <a:t>Enter key to search: 4</a:t>
            </a:r>
          </a:p>
          <a:p>
            <a:r>
              <a:rPr lang="en-US" sz="2000" dirty="0"/>
              <a:t>4 is found in the BST.</a:t>
            </a:r>
            <a:endParaRPr lang="en-US" sz="2000" dirty="0"/>
          </a:p>
        </p:txBody>
      </p:sp>
    </p:spTree>
    <p:extLst>
      <p:ext uri="{BB962C8B-B14F-4D97-AF65-F5344CB8AC3E}">
        <p14:creationId xmlns:p14="http://schemas.microsoft.com/office/powerpoint/2010/main" val="36122173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Write a program to construct a Binary Search Tree (BST) by inserting elements recursively and then find the smallest (minimum) and largest (maximum) elements in the BST using recursive traversal. In a BST, the smallest element is located at the leftmost node, and the largest element is at the rightmost node. The program should prompt the user for input values to build the tree, then display both the minimum and maximum values found in the BST using recursive functions that follow the left and right child pointers respectively.</a:t>
            </a:r>
            <a:endParaRPr lang="en-US" sz="24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7" name="Rectangle 6"/>
          <p:cNvSpPr/>
          <p:nvPr/>
        </p:nvSpPr>
        <p:spPr>
          <a:xfrm>
            <a:off x="3451785" y="4047685"/>
            <a:ext cx="5291604" cy="254433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r>
              <a:rPr lang="en-US" sz="2000" dirty="0"/>
              <a:t>Enter number of elements to insert: 5</a:t>
            </a:r>
          </a:p>
          <a:p>
            <a:r>
              <a:rPr lang="en-US" sz="2000" dirty="0"/>
              <a:t>Enter elements:</a:t>
            </a:r>
          </a:p>
          <a:p>
            <a:r>
              <a:rPr lang="en-US" sz="2000" dirty="0"/>
              <a:t>32 45 2 45 12</a:t>
            </a:r>
          </a:p>
          <a:p>
            <a:endParaRPr lang="en-US" sz="2000" dirty="0"/>
          </a:p>
          <a:p>
            <a:r>
              <a:rPr lang="en-US" sz="2000" dirty="0"/>
              <a:t>Smallest element in BST: 2</a:t>
            </a:r>
          </a:p>
          <a:p>
            <a:r>
              <a:rPr lang="en-US" sz="2000" dirty="0"/>
              <a:t>Largest element in BST: 45</a:t>
            </a:r>
            <a:endParaRPr lang="en-US" sz="2000" dirty="0"/>
          </a:p>
        </p:txBody>
      </p:sp>
    </p:spTree>
    <p:extLst>
      <p:ext uri="{BB962C8B-B14F-4D97-AF65-F5344CB8AC3E}">
        <p14:creationId xmlns:p14="http://schemas.microsoft.com/office/powerpoint/2010/main" val="6985136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6</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251222"/>
            <a:ext cx="10058400" cy="5042500"/>
          </a:xfrm>
        </p:spPr>
        <p:txBody>
          <a:bodyPr>
            <a:noAutofit/>
          </a:bodyPr>
          <a:lstStyle/>
          <a:p>
            <a:pPr algn="just">
              <a:lnSpc>
                <a:spcPct val="100000"/>
              </a:lnSpc>
            </a:pPr>
            <a:r>
              <a:rPr lang="en-US" sz="2600" dirty="0">
                <a:solidFill>
                  <a:schemeClr val="tx1"/>
                </a:solidFill>
                <a:latin typeface="Times New Roman" panose="02020603050405020304" pitchFamily="18" charset="0"/>
                <a:cs typeface="Times New Roman" panose="02020603050405020304" pitchFamily="18" charset="0"/>
              </a:rPr>
              <a:t>Write a program to construct a Binary Search Tree (BST) by inserting elements provided by the user, and then use in-order traversal to print all the node values that lie within a specified value range. </a:t>
            </a:r>
            <a:r>
              <a:rPr lang="en-US" sz="2600" dirty="0" smtClean="0">
                <a:solidFill>
                  <a:schemeClr val="tx1"/>
                </a:solidFill>
                <a:latin typeface="Times New Roman" panose="02020603050405020304" pitchFamily="18" charset="0"/>
                <a:cs typeface="Times New Roman" panose="02020603050405020304" pitchFamily="18" charset="0"/>
              </a:rPr>
              <a:t>The </a:t>
            </a:r>
            <a:r>
              <a:rPr lang="en-US" sz="2600" dirty="0">
                <a:solidFill>
                  <a:schemeClr val="tx1"/>
                </a:solidFill>
                <a:latin typeface="Times New Roman" panose="02020603050405020304" pitchFamily="18" charset="0"/>
                <a:cs typeface="Times New Roman" panose="02020603050405020304" pitchFamily="18" charset="0"/>
              </a:rPr>
              <a:t>user will input a lower bound and an upper bound, and the program should efficiently display all node values in the BST that fall between these two limits (inclusive). </a:t>
            </a:r>
            <a:endParaRPr lang="en-US" sz="26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7" name="Rectangle 6"/>
          <p:cNvSpPr/>
          <p:nvPr/>
        </p:nvSpPr>
        <p:spPr>
          <a:xfrm>
            <a:off x="3451785" y="3633347"/>
            <a:ext cx="5291604" cy="254433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r>
              <a:rPr lang="en-US" sz="2000" dirty="0"/>
              <a:t>Enter number of elements to insert: 7</a:t>
            </a:r>
          </a:p>
          <a:p>
            <a:r>
              <a:rPr lang="en-US" sz="2000" dirty="0"/>
              <a:t>Enter elements:</a:t>
            </a:r>
          </a:p>
          <a:p>
            <a:r>
              <a:rPr lang="en-US" sz="2000" dirty="0"/>
              <a:t>2 34 56 12 3 6 99</a:t>
            </a:r>
          </a:p>
          <a:p>
            <a:r>
              <a:rPr lang="en-US" sz="2000" dirty="0"/>
              <a:t>Enter lower and upper bounds: 3 56</a:t>
            </a:r>
          </a:p>
          <a:p>
            <a:r>
              <a:rPr lang="en-US" sz="2000" dirty="0"/>
              <a:t>Nodes in the range [3, 56]: 3 6 12 34 56</a:t>
            </a:r>
            <a:endParaRPr lang="en-US" sz="2000" dirty="0"/>
          </a:p>
        </p:txBody>
      </p:sp>
    </p:spTree>
    <p:extLst>
      <p:ext uri="{BB962C8B-B14F-4D97-AF65-F5344CB8AC3E}">
        <p14:creationId xmlns:p14="http://schemas.microsoft.com/office/powerpoint/2010/main" val="105344588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8666</TotalTime>
  <Words>740</Words>
  <Application>Microsoft Office PowerPoint</Application>
  <PresentationFormat>Widescreen</PresentationFormat>
  <Paragraphs>53</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Calibri Light</vt:lpstr>
      <vt:lpstr>Times New Roman</vt:lpstr>
      <vt:lpstr>Retrospect</vt:lpstr>
      <vt:lpstr>LAB – 12</vt:lpstr>
      <vt:lpstr>Task - 1</vt:lpstr>
      <vt:lpstr>Task - 2</vt:lpstr>
      <vt:lpstr>Task - 3</vt:lpstr>
      <vt:lpstr>Task - 4</vt:lpstr>
      <vt:lpstr>Task - 5</vt:lpstr>
      <vt:lpstr>Task - 6</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Majid Hussain</cp:lastModifiedBy>
  <cp:revision>725</cp:revision>
  <dcterms:created xsi:type="dcterms:W3CDTF">2022-09-18T18:36:50Z</dcterms:created>
  <dcterms:modified xsi:type="dcterms:W3CDTF">2025-04-30T05:56:36Z</dcterms:modified>
</cp:coreProperties>
</file>
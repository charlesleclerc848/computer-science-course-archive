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8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8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6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2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7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0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2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7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7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DE348-999D-4CD0-AAC5-F61D037F42EE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C7BAD-86AE-49E0-B64D-21C0C3BE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8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Vectors in C++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24100" y="553244"/>
            <a:ext cx="7543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ts val="1200"/>
              </a:spcBef>
            </a:pPr>
            <a:r>
              <a:rPr lang="en-US" altLang="en-US" sz="2800" b="1" dirty="0"/>
              <a:t>In the Name of Allah the Most Beneficent the Most Merciful</a:t>
            </a:r>
          </a:p>
        </p:txBody>
      </p:sp>
    </p:spTree>
    <p:extLst>
      <p:ext uri="{BB962C8B-B14F-4D97-AF65-F5344CB8AC3E}">
        <p14:creationId xmlns:p14="http://schemas.microsoft.com/office/powerpoint/2010/main" val="62717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Vector?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vector</a:t>
            </a:r>
            <a:r>
              <a:rPr lang="en-US" dirty="0" smtClean="0"/>
              <a:t> in C++ is a </a:t>
            </a:r>
            <a:r>
              <a:rPr lang="en-US" b="1" dirty="0" smtClean="0"/>
              <a:t>dynamic array</a:t>
            </a:r>
            <a:r>
              <a:rPr lang="en-US" dirty="0" smtClean="0"/>
              <a:t> that can grow or shrink in size automatically. It is part of the </a:t>
            </a:r>
            <a:r>
              <a:rPr lang="en-US" b="1" dirty="0" smtClean="0"/>
              <a:t>Standard Template Library (STL)</a:t>
            </a:r>
            <a:r>
              <a:rPr lang="en-US" dirty="0" smtClean="0"/>
              <a:t> and provides </a:t>
            </a:r>
            <a:r>
              <a:rPr lang="en-US" b="1" dirty="0" smtClean="0"/>
              <a:t>powerful features</a:t>
            </a:r>
            <a:r>
              <a:rPr lang="en-US" dirty="0" smtClean="0"/>
              <a:t> such as:</a:t>
            </a:r>
          </a:p>
          <a:p>
            <a:pPr lvl="1"/>
            <a:r>
              <a:rPr lang="en-US" b="1" dirty="0" smtClean="0"/>
              <a:t>Dynamic resizing</a:t>
            </a:r>
            <a:r>
              <a:rPr lang="en-US" dirty="0" smtClean="0"/>
              <a:t> (unlike static arrays)</a:t>
            </a:r>
          </a:p>
          <a:p>
            <a:pPr lvl="1"/>
            <a:r>
              <a:rPr lang="en-US" b="1" dirty="0" smtClean="0"/>
              <a:t>Automatic memory management</a:t>
            </a:r>
            <a:endParaRPr lang="en-US" dirty="0" smtClean="0"/>
          </a:p>
          <a:p>
            <a:pPr lvl="1"/>
            <a:r>
              <a:rPr lang="en-US" b="1" dirty="0" smtClean="0"/>
              <a:t>Built-in functions for insertion, deletion, and searching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Header File: #include &lt;vector&gt;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17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Declaring &amp; Initializing a Vector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Syntax:</a:t>
            </a:r>
          </a:p>
          <a:p>
            <a:pPr marL="0" indent="0" algn="ctr">
              <a:buNone/>
            </a:pPr>
            <a:r>
              <a:rPr lang="en-US" dirty="0" smtClean="0"/>
              <a:t>vector&lt;</a:t>
            </a:r>
            <a:r>
              <a:rPr lang="en-US" dirty="0" err="1" smtClean="0"/>
              <a:t>data_type</a:t>
            </a:r>
            <a:r>
              <a:rPr lang="en-US" dirty="0" smtClean="0"/>
              <a:t>&gt; </a:t>
            </a:r>
            <a:r>
              <a:rPr lang="en-US" dirty="0" err="1" smtClean="0"/>
              <a:t>vector_name</a:t>
            </a:r>
            <a:r>
              <a:rPr lang="en-US" dirty="0" smtClean="0"/>
              <a:t>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05719"/>
            <a:ext cx="5181600" cy="4771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Example:</a:t>
            </a:r>
            <a:endParaRPr lang="en-US" sz="1800" dirty="0" smtClean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1800" dirty="0" smtClean="0">
                <a:solidFill>
                  <a:prstClr val="black"/>
                </a:solidFill>
              </a:rPr>
              <a:t>#</a:t>
            </a:r>
            <a:r>
              <a:rPr lang="en-US" sz="1800" dirty="0">
                <a:solidFill>
                  <a:prstClr val="black"/>
                </a:solidFill>
              </a:rPr>
              <a:t>include &lt;</a:t>
            </a:r>
            <a:r>
              <a:rPr lang="en-US" sz="1800" dirty="0" err="1">
                <a:solidFill>
                  <a:prstClr val="black"/>
                </a:solidFill>
              </a:rPr>
              <a:t>iostream</a:t>
            </a:r>
            <a:r>
              <a:rPr lang="en-US" sz="1800" dirty="0">
                <a:solidFill>
                  <a:prstClr val="black"/>
                </a:solidFill>
              </a:rPr>
              <a:t>&gt;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#include &lt;vector&gt;  // Required for vector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using namespace </a:t>
            </a:r>
            <a:r>
              <a:rPr lang="en-US" sz="1800" dirty="0" err="1">
                <a:solidFill>
                  <a:prstClr val="black"/>
                </a:solidFill>
              </a:rPr>
              <a:t>std</a:t>
            </a:r>
            <a:r>
              <a:rPr lang="en-US" sz="1800" dirty="0">
                <a:solidFill>
                  <a:prstClr val="black"/>
                </a:solidFill>
              </a:rPr>
              <a:t>;</a:t>
            </a:r>
          </a:p>
          <a:p>
            <a:pPr marL="0" lvl="0" indent="0">
              <a:buNone/>
            </a:pPr>
            <a:r>
              <a:rPr lang="en-US" sz="1800" dirty="0" err="1">
                <a:solidFill>
                  <a:prstClr val="black"/>
                </a:solidFill>
              </a:rPr>
              <a:t>int</a:t>
            </a:r>
            <a:r>
              <a:rPr lang="en-US" sz="1800" dirty="0">
                <a:solidFill>
                  <a:prstClr val="black"/>
                </a:solidFill>
              </a:rPr>
              <a:t> main()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    vector&lt;</a:t>
            </a:r>
            <a:r>
              <a:rPr lang="en-US" sz="1800" dirty="0" err="1">
                <a:solidFill>
                  <a:prstClr val="black"/>
                </a:solidFill>
              </a:rPr>
              <a:t>int</a:t>
            </a:r>
            <a:r>
              <a:rPr lang="en-US" sz="1800" dirty="0">
                <a:solidFill>
                  <a:prstClr val="black"/>
                </a:solidFill>
              </a:rPr>
              <a:t>&gt; v;  // Declaring an empty vector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    </a:t>
            </a:r>
            <a:r>
              <a:rPr lang="en-US" sz="1800" dirty="0" err="1">
                <a:solidFill>
                  <a:prstClr val="black"/>
                </a:solidFill>
              </a:rPr>
              <a:t>v.push_back</a:t>
            </a:r>
            <a:r>
              <a:rPr lang="en-US" sz="1800" dirty="0">
                <a:solidFill>
                  <a:prstClr val="black"/>
                </a:solidFill>
              </a:rPr>
              <a:t>(10);  // Add elements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    </a:t>
            </a:r>
            <a:r>
              <a:rPr lang="en-US" sz="1800" dirty="0" err="1">
                <a:solidFill>
                  <a:prstClr val="black"/>
                </a:solidFill>
              </a:rPr>
              <a:t>v.push_back</a:t>
            </a:r>
            <a:r>
              <a:rPr lang="en-US" sz="1800" dirty="0">
                <a:solidFill>
                  <a:prstClr val="black"/>
                </a:solidFill>
              </a:rPr>
              <a:t>(20);</a:t>
            </a:r>
          </a:p>
          <a:p>
            <a:pPr marL="0" lvl="0" indent="0">
              <a:buNone/>
            </a:pPr>
            <a:r>
              <a:rPr lang="en-US" sz="1800" dirty="0" smtClean="0">
                <a:solidFill>
                  <a:prstClr val="black"/>
                </a:solidFill>
              </a:rPr>
              <a:t>    </a:t>
            </a:r>
            <a:r>
              <a:rPr lang="en-US" sz="1800" dirty="0" err="1" smtClean="0">
                <a:solidFill>
                  <a:prstClr val="black"/>
                </a:solidFill>
              </a:rPr>
              <a:t>cout</a:t>
            </a:r>
            <a:r>
              <a:rPr lang="en-US" sz="1800" dirty="0" smtClean="0">
                <a:solidFill>
                  <a:prstClr val="black"/>
                </a:solidFill>
              </a:rPr>
              <a:t> </a:t>
            </a:r>
            <a:r>
              <a:rPr lang="en-US" sz="1800" dirty="0">
                <a:solidFill>
                  <a:prstClr val="black"/>
                </a:solidFill>
              </a:rPr>
              <a:t>&lt;&lt; "Vector elements: ";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    for (</a:t>
            </a:r>
            <a:r>
              <a:rPr lang="en-US" sz="1800" dirty="0" err="1">
                <a:solidFill>
                  <a:prstClr val="black"/>
                </a:solidFill>
              </a:rPr>
              <a:t>int</a:t>
            </a:r>
            <a:r>
              <a:rPr lang="en-US" sz="1800" dirty="0">
                <a:solidFill>
                  <a:prstClr val="black"/>
                </a:solidFill>
              </a:rPr>
              <a:t> </a:t>
            </a:r>
            <a:r>
              <a:rPr lang="en-US" sz="1800" dirty="0" err="1">
                <a:solidFill>
                  <a:prstClr val="black"/>
                </a:solidFill>
              </a:rPr>
              <a:t>i</a:t>
            </a:r>
            <a:r>
              <a:rPr lang="en-US" sz="1800" dirty="0">
                <a:solidFill>
                  <a:prstClr val="black"/>
                </a:solidFill>
              </a:rPr>
              <a:t> = 0; </a:t>
            </a:r>
            <a:r>
              <a:rPr lang="en-US" sz="1800" dirty="0" err="1">
                <a:solidFill>
                  <a:prstClr val="black"/>
                </a:solidFill>
              </a:rPr>
              <a:t>i</a:t>
            </a:r>
            <a:r>
              <a:rPr lang="en-US" sz="1800" dirty="0">
                <a:solidFill>
                  <a:prstClr val="black"/>
                </a:solidFill>
              </a:rPr>
              <a:t> &lt; </a:t>
            </a:r>
            <a:r>
              <a:rPr lang="en-US" sz="1800" dirty="0" err="1">
                <a:solidFill>
                  <a:prstClr val="black"/>
                </a:solidFill>
              </a:rPr>
              <a:t>v.size</a:t>
            </a:r>
            <a:r>
              <a:rPr lang="en-US" sz="1800" dirty="0">
                <a:solidFill>
                  <a:prstClr val="black"/>
                </a:solidFill>
              </a:rPr>
              <a:t>(); </a:t>
            </a:r>
            <a:r>
              <a:rPr lang="en-US" sz="1800" dirty="0" err="1">
                <a:solidFill>
                  <a:prstClr val="black"/>
                </a:solidFill>
              </a:rPr>
              <a:t>i</a:t>
            </a:r>
            <a:r>
              <a:rPr lang="en-US" sz="1800" dirty="0">
                <a:solidFill>
                  <a:prstClr val="black"/>
                </a:solidFill>
              </a:rPr>
              <a:t>++) {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        </a:t>
            </a:r>
            <a:r>
              <a:rPr lang="en-US" sz="1800" dirty="0" err="1">
                <a:solidFill>
                  <a:prstClr val="black"/>
                </a:solidFill>
              </a:rPr>
              <a:t>cout</a:t>
            </a:r>
            <a:r>
              <a:rPr lang="en-US" sz="1800" dirty="0">
                <a:solidFill>
                  <a:prstClr val="black"/>
                </a:solidFill>
              </a:rPr>
              <a:t> &lt;&lt; v[</a:t>
            </a:r>
            <a:r>
              <a:rPr lang="en-US" sz="1800" dirty="0" err="1">
                <a:solidFill>
                  <a:prstClr val="black"/>
                </a:solidFill>
              </a:rPr>
              <a:t>i</a:t>
            </a:r>
            <a:r>
              <a:rPr lang="en-US" sz="1800" dirty="0">
                <a:solidFill>
                  <a:prstClr val="black"/>
                </a:solidFill>
              </a:rPr>
              <a:t>] &lt;&lt; " ";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    }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    return 0;</a:t>
            </a:r>
          </a:p>
          <a:p>
            <a:pPr marL="0" lvl="0" indent="0">
              <a:buNone/>
            </a:pPr>
            <a:r>
              <a:rPr lang="en-US" sz="1800" dirty="0">
                <a:solidFill>
                  <a:prstClr val="black"/>
                </a:solidFill>
              </a:rPr>
              <a:t>}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0079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Ways to Initialize a Vector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Default Initialization</a:t>
            </a:r>
          </a:p>
          <a:p>
            <a:pPr marL="0" indent="0">
              <a:buNone/>
            </a:pPr>
            <a:r>
              <a:rPr lang="en-US" dirty="0" smtClean="0"/>
              <a:t>	vector&lt;</a:t>
            </a:r>
            <a:r>
              <a:rPr lang="en-US" dirty="0" err="1" smtClean="0"/>
              <a:t>int</a:t>
            </a:r>
            <a:r>
              <a:rPr lang="en-US" dirty="0" smtClean="0"/>
              <a:t>&gt; v; // Empty vector</a:t>
            </a:r>
          </a:p>
          <a:p>
            <a:r>
              <a:rPr lang="en-US" dirty="0" smtClean="0"/>
              <a:t>Initializing with Values</a:t>
            </a:r>
          </a:p>
          <a:p>
            <a:pPr marL="0" indent="0">
              <a:buNone/>
            </a:pPr>
            <a:r>
              <a:rPr lang="en-US" dirty="0" smtClean="0"/>
              <a:t>	vector&lt;</a:t>
            </a:r>
            <a:r>
              <a:rPr lang="en-US" dirty="0" err="1" smtClean="0"/>
              <a:t>int</a:t>
            </a:r>
            <a:r>
              <a:rPr lang="en-US" dirty="0" smtClean="0"/>
              <a:t>&gt; v = {1, 2, 3, 4, 5};  // Direct Initialization</a:t>
            </a:r>
          </a:p>
          <a:p>
            <a:pPr marL="0" indent="0">
              <a:buNone/>
            </a:pPr>
            <a:r>
              <a:rPr lang="en-US" dirty="0" smtClean="0"/>
              <a:t>	vector&lt;</a:t>
            </a:r>
            <a:r>
              <a:rPr lang="en-US" dirty="0" err="1" smtClean="0"/>
              <a:t>int</a:t>
            </a:r>
            <a:r>
              <a:rPr lang="en-US" dirty="0" smtClean="0"/>
              <a:t>&gt; v{1, 2, 3, 4, 5};  // Without '='</a:t>
            </a:r>
          </a:p>
          <a:p>
            <a:r>
              <a:rPr lang="en-US" dirty="0" smtClean="0"/>
              <a:t>Initializing with a Specific Size</a:t>
            </a:r>
          </a:p>
          <a:p>
            <a:pPr marL="0" indent="0">
              <a:buNone/>
            </a:pPr>
            <a:r>
              <a:rPr lang="en-US" dirty="0" smtClean="0"/>
              <a:t>	vector&lt;</a:t>
            </a:r>
            <a:r>
              <a:rPr lang="en-US" dirty="0" err="1" smtClean="0"/>
              <a:t>int</a:t>
            </a:r>
            <a:r>
              <a:rPr lang="en-US" dirty="0" smtClean="0"/>
              <a:t>&gt; v(5, 100); // Creates vector of size 5, all values = 100</a:t>
            </a:r>
          </a:p>
          <a:p>
            <a:r>
              <a:rPr lang="en-US" dirty="0" smtClean="0"/>
              <a:t>Copying from Another Vector</a:t>
            </a:r>
          </a:p>
          <a:p>
            <a:pPr marL="0" indent="0">
              <a:buNone/>
            </a:pPr>
            <a:r>
              <a:rPr lang="en-US" dirty="0" smtClean="0"/>
              <a:t>	vector&lt;</a:t>
            </a:r>
            <a:r>
              <a:rPr lang="en-US" dirty="0" err="1" smtClean="0"/>
              <a:t>int</a:t>
            </a:r>
            <a:r>
              <a:rPr lang="en-US" dirty="0" smtClean="0"/>
              <a:t>&gt; v1 = {10, 20, 30};</a:t>
            </a:r>
          </a:p>
          <a:p>
            <a:pPr marL="0" indent="0">
              <a:buNone/>
            </a:pPr>
            <a:r>
              <a:rPr lang="en-US" dirty="0" smtClean="0"/>
              <a:t>	vector&lt;</a:t>
            </a:r>
            <a:r>
              <a:rPr lang="en-US" dirty="0" err="1" smtClean="0"/>
              <a:t>int</a:t>
            </a:r>
            <a:r>
              <a:rPr lang="en-US" dirty="0" smtClean="0"/>
              <a:t>&gt; v2(v1);  // Copy all elements of v1 to v2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4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Vector Functions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152243"/>
              </p:ext>
            </p:extLst>
          </p:nvPr>
        </p:nvGraphicFramePr>
        <p:xfrm>
          <a:off x="838200" y="1825625"/>
          <a:ext cx="105156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Function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Description</a:t>
                      </a:r>
                      <a:endParaRPr lang="en-US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v.size</a:t>
                      </a:r>
                      <a:r>
                        <a:rPr lang="en-US" sz="2000" dirty="0" smtClean="0"/>
                        <a:t>()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Returns the number of elements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v.capacity</a:t>
                      </a:r>
                      <a:r>
                        <a:rPr lang="en-US" sz="2000" dirty="0" smtClean="0"/>
                        <a:t>()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Returns the allocated memory size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v.push_back</a:t>
                      </a:r>
                      <a:r>
                        <a:rPr lang="en-US" sz="2000" dirty="0" smtClean="0"/>
                        <a:t>(value)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Adds an element at the end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v.pop_back</a:t>
                      </a:r>
                      <a:r>
                        <a:rPr lang="en-US" sz="2000" dirty="0" smtClean="0"/>
                        <a:t>()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Removes the last element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v.insert</a:t>
                      </a:r>
                      <a:r>
                        <a:rPr lang="en-US" sz="2000" dirty="0" smtClean="0"/>
                        <a:t>(</a:t>
                      </a:r>
                      <a:r>
                        <a:rPr lang="en-US" sz="2000" dirty="0" err="1" smtClean="0"/>
                        <a:t>pos</a:t>
                      </a:r>
                      <a:r>
                        <a:rPr lang="en-US" sz="2000" dirty="0" smtClean="0"/>
                        <a:t>, value)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Inserts an element at a specific position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v.erase</a:t>
                      </a:r>
                      <a:r>
                        <a:rPr lang="en-US" sz="2000" dirty="0" smtClean="0"/>
                        <a:t>(</a:t>
                      </a:r>
                      <a:r>
                        <a:rPr lang="en-US" sz="2000" dirty="0" err="1" smtClean="0"/>
                        <a:t>pos</a:t>
                      </a:r>
                      <a:r>
                        <a:rPr lang="en-US" sz="2000" dirty="0" smtClean="0"/>
                        <a:t>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Removes an element from a position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v.clear</a:t>
                      </a:r>
                      <a:r>
                        <a:rPr lang="en-US" sz="2000" dirty="0" smtClean="0"/>
                        <a:t>()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Deletes all elements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v.front</a:t>
                      </a:r>
                      <a:r>
                        <a:rPr lang="en-US" sz="2000" dirty="0" smtClean="0"/>
                        <a:t>()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Returns the first element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v.back</a:t>
                      </a:r>
                      <a:r>
                        <a:rPr lang="en-US" sz="2000" dirty="0" smtClean="0"/>
                        <a:t>()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Returns the last element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v.empty</a:t>
                      </a:r>
                      <a:r>
                        <a:rPr lang="en-US" sz="2000" dirty="0" smtClean="0"/>
                        <a:t>()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Returns true if the vector is empty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05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Elements in a Vector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03340" cy="4351338"/>
          </a:xfrm>
        </p:spPr>
        <p:txBody>
          <a:bodyPr/>
          <a:lstStyle/>
          <a:p>
            <a:r>
              <a:rPr lang="en-US" dirty="0" smtClean="0"/>
              <a:t>Using [] Operator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cout</a:t>
            </a:r>
            <a:r>
              <a:rPr lang="en-US" dirty="0" smtClean="0"/>
              <a:t> &lt;&lt; v[2];  // Access the 3rd element</a:t>
            </a:r>
          </a:p>
          <a:p>
            <a:endParaRPr lang="en-US" dirty="0" smtClean="0"/>
          </a:p>
          <a:p>
            <a:r>
              <a:rPr lang="en-US" dirty="0" smtClean="0"/>
              <a:t>Using .at(index) (Safer)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cout</a:t>
            </a:r>
            <a:r>
              <a:rPr lang="en-US" dirty="0" smtClean="0"/>
              <a:t> &lt;&lt; v.at(2); // Same as v[2], but throws an error if out of range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&amp; Deleting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01254"/>
            <a:ext cx="5181600" cy="5131558"/>
          </a:xfrm>
        </p:spPr>
        <p:txBody>
          <a:bodyPr>
            <a:noAutofit/>
          </a:bodyPr>
          <a:lstStyle/>
          <a:p>
            <a:r>
              <a:rPr lang="en-US" dirty="0"/>
              <a:t>Inserting Elements</a:t>
            </a:r>
          </a:p>
          <a:p>
            <a:pPr marL="0" indent="0">
              <a:buNone/>
            </a:pPr>
            <a:r>
              <a:rPr lang="en-US" sz="2000" dirty="0" smtClean="0"/>
              <a:t>#include &lt;</a:t>
            </a:r>
            <a:r>
              <a:rPr lang="en-US" sz="2000" dirty="0" err="1" smtClean="0"/>
              <a:t>iostream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r>
              <a:rPr lang="en-US" sz="2000" dirty="0" smtClean="0"/>
              <a:t>#include &lt;vector&gt;</a:t>
            </a:r>
          </a:p>
          <a:p>
            <a:pPr marL="0" indent="0">
              <a:buNone/>
            </a:pPr>
            <a:r>
              <a:rPr lang="en-US" sz="2000" dirty="0" smtClean="0"/>
              <a:t>using namespace </a:t>
            </a:r>
            <a:r>
              <a:rPr lang="en-US" sz="2000" dirty="0" err="1" smtClean="0"/>
              <a:t>std</a:t>
            </a:r>
            <a:r>
              <a:rPr lang="en-US" sz="2000" dirty="0" smtClean="0"/>
              <a:t>;</a:t>
            </a:r>
          </a:p>
          <a:p>
            <a:pPr marL="0" indent="0"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main() {</a:t>
            </a:r>
          </a:p>
          <a:p>
            <a:pPr marL="0" indent="0">
              <a:buNone/>
            </a:pPr>
            <a:r>
              <a:rPr lang="en-US" sz="2000" dirty="0" smtClean="0"/>
              <a:t>    vector&lt;</a:t>
            </a:r>
            <a:r>
              <a:rPr lang="en-US" sz="2000" dirty="0" err="1" smtClean="0"/>
              <a:t>int</a:t>
            </a:r>
            <a:r>
              <a:rPr lang="en-US" sz="2000" dirty="0" smtClean="0"/>
              <a:t>&gt; v = {10, 20, 30};</a:t>
            </a:r>
          </a:p>
          <a:p>
            <a:pPr marL="0" indent="0"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v.insert</a:t>
            </a:r>
            <a:r>
              <a:rPr lang="en-US" sz="2000" dirty="0" smtClean="0"/>
              <a:t>(</a:t>
            </a:r>
            <a:r>
              <a:rPr lang="en-US" sz="2000" dirty="0" err="1" smtClean="0"/>
              <a:t>v.begin</a:t>
            </a:r>
            <a:r>
              <a:rPr lang="en-US" sz="2000" dirty="0" smtClean="0"/>
              <a:t>() + 1, 15); // Insert 15 at index 1</a:t>
            </a:r>
          </a:p>
          <a:p>
            <a:pPr marL="0" indent="0"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cout</a:t>
            </a:r>
            <a:r>
              <a:rPr lang="en-US" sz="2000" dirty="0" smtClean="0"/>
              <a:t> &lt;&lt; "After insertion: ";</a:t>
            </a:r>
          </a:p>
          <a:p>
            <a:pPr marL="0" lvl="0" indent="0">
              <a:buNone/>
            </a:pPr>
            <a:r>
              <a:rPr lang="en-US" sz="2000" dirty="0" smtClean="0"/>
              <a:t>    </a:t>
            </a:r>
            <a:r>
              <a:rPr lang="en-US" sz="2000" dirty="0">
                <a:solidFill>
                  <a:prstClr val="black"/>
                </a:solidFill>
              </a:rPr>
              <a:t>for (</a:t>
            </a:r>
            <a:r>
              <a:rPr lang="en-US" sz="2000" dirty="0" err="1">
                <a:solidFill>
                  <a:prstClr val="black"/>
                </a:solidFill>
              </a:rPr>
              <a:t>int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i</a:t>
            </a:r>
            <a:r>
              <a:rPr lang="en-US" sz="2000" dirty="0">
                <a:solidFill>
                  <a:prstClr val="black"/>
                </a:solidFill>
              </a:rPr>
              <a:t> = 0; </a:t>
            </a:r>
            <a:r>
              <a:rPr lang="en-US" sz="2000" dirty="0" err="1">
                <a:solidFill>
                  <a:prstClr val="black"/>
                </a:solidFill>
              </a:rPr>
              <a:t>i</a:t>
            </a:r>
            <a:r>
              <a:rPr lang="en-US" sz="2000" dirty="0">
                <a:solidFill>
                  <a:prstClr val="black"/>
                </a:solidFill>
              </a:rPr>
              <a:t> &lt; </a:t>
            </a:r>
            <a:r>
              <a:rPr lang="en-US" sz="2000" dirty="0" err="1">
                <a:solidFill>
                  <a:prstClr val="black"/>
                </a:solidFill>
              </a:rPr>
              <a:t>v.size</a:t>
            </a:r>
            <a:r>
              <a:rPr lang="en-US" sz="2000" dirty="0">
                <a:solidFill>
                  <a:prstClr val="black"/>
                </a:solidFill>
              </a:rPr>
              <a:t>(); </a:t>
            </a:r>
            <a:r>
              <a:rPr lang="en-US" sz="2000" dirty="0" err="1">
                <a:solidFill>
                  <a:prstClr val="black"/>
                </a:solidFill>
              </a:rPr>
              <a:t>i</a:t>
            </a:r>
            <a:r>
              <a:rPr lang="en-US" sz="2000" dirty="0">
                <a:solidFill>
                  <a:prstClr val="black"/>
                </a:solidFill>
              </a:rPr>
              <a:t>++) {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</a:rPr>
              <a:t>        </a:t>
            </a:r>
            <a:r>
              <a:rPr lang="en-US" sz="2000" dirty="0" err="1">
                <a:solidFill>
                  <a:prstClr val="black"/>
                </a:solidFill>
              </a:rPr>
              <a:t>cout</a:t>
            </a:r>
            <a:r>
              <a:rPr lang="en-US" sz="2000" dirty="0">
                <a:solidFill>
                  <a:prstClr val="black"/>
                </a:solidFill>
              </a:rPr>
              <a:t> &lt;&lt; v[</a:t>
            </a:r>
            <a:r>
              <a:rPr lang="en-US" sz="2000" dirty="0" err="1">
                <a:solidFill>
                  <a:prstClr val="black"/>
                </a:solidFill>
              </a:rPr>
              <a:t>i</a:t>
            </a:r>
            <a:r>
              <a:rPr lang="en-US" sz="2000" dirty="0">
                <a:solidFill>
                  <a:prstClr val="black"/>
                </a:solidFill>
              </a:rPr>
              <a:t>] &lt;&lt; " ";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</a:rPr>
              <a:t>    </a:t>
            </a:r>
            <a:r>
              <a:rPr lang="en-US" sz="2000" dirty="0" smtClean="0">
                <a:solidFill>
                  <a:prstClr val="black"/>
                </a:solidFill>
              </a:rPr>
              <a:t>}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return 0;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01254"/>
            <a:ext cx="5181600" cy="4675709"/>
          </a:xfrm>
        </p:spPr>
        <p:txBody>
          <a:bodyPr/>
          <a:lstStyle/>
          <a:p>
            <a:r>
              <a:rPr lang="en-US" dirty="0" smtClean="0"/>
              <a:t>Deleting Elements</a:t>
            </a:r>
          </a:p>
          <a:p>
            <a:pPr marL="0" indent="0">
              <a:buNone/>
            </a:pPr>
            <a:r>
              <a:rPr lang="en-US" dirty="0" smtClean="0"/>
              <a:t>// Deletes element at index 1	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v.erase</a:t>
            </a:r>
            <a:r>
              <a:rPr lang="en-US" dirty="0" smtClean="0"/>
              <a:t>(</a:t>
            </a:r>
            <a:r>
              <a:rPr lang="en-US" dirty="0" err="1" smtClean="0"/>
              <a:t>v.begin</a:t>
            </a:r>
            <a:r>
              <a:rPr lang="en-US" dirty="0" smtClean="0"/>
              <a:t>() + 1);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176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a Vector in Ascending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310"/>
            <a:ext cx="10515600" cy="47166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#include &lt;</a:t>
            </a:r>
            <a:r>
              <a:rPr lang="en-US" sz="2000" dirty="0" err="1" smtClean="0"/>
              <a:t>iostream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r>
              <a:rPr lang="en-US" sz="2000" dirty="0" smtClean="0"/>
              <a:t>#include &lt;vector&gt;</a:t>
            </a:r>
          </a:p>
          <a:p>
            <a:pPr marL="0" indent="0">
              <a:buNone/>
            </a:pPr>
            <a:r>
              <a:rPr lang="en-US" sz="2000" dirty="0" smtClean="0"/>
              <a:t>#include &lt;algorithm&gt; // Required for sort()</a:t>
            </a:r>
          </a:p>
          <a:p>
            <a:pPr marL="0" indent="0">
              <a:buNone/>
            </a:pPr>
            <a:r>
              <a:rPr lang="en-US" sz="2000" dirty="0" smtClean="0"/>
              <a:t>using namespace </a:t>
            </a:r>
            <a:r>
              <a:rPr lang="en-US" sz="2000" dirty="0" err="1" smtClean="0"/>
              <a:t>std</a:t>
            </a:r>
            <a:r>
              <a:rPr lang="en-US" sz="2000" dirty="0" smtClean="0"/>
              <a:t>;</a:t>
            </a:r>
          </a:p>
          <a:p>
            <a:pPr marL="0" indent="0"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main() {</a:t>
            </a:r>
          </a:p>
          <a:p>
            <a:pPr marL="0" indent="0">
              <a:buNone/>
            </a:pPr>
            <a:r>
              <a:rPr lang="en-US" sz="2000" dirty="0" smtClean="0"/>
              <a:t>    vector&lt;</a:t>
            </a:r>
            <a:r>
              <a:rPr lang="en-US" sz="2000" dirty="0" err="1" smtClean="0"/>
              <a:t>int</a:t>
            </a:r>
            <a:r>
              <a:rPr lang="en-US" sz="2000" dirty="0" smtClean="0"/>
              <a:t>&gt; v = {40, 10, 50, 20, 30};</a:t>
            </a:r>
          </a:p>
          <a:p>
            <a:pPr marL="0" indent="0">
              <a:buNone/>
            </a:pPr>
            <a:r>
              <a:rPr lang="en-US" sz="2000" dirty="0" smtClean="0"/>
              <a:t>    sort(</a:t>
            </a:r>
            <a:r>
              <a:rPr lang="en-US" sz="2000" dirty="0" err="1" smtClean="0"/>
              <a:t>v.begin</a:t>
            </a:r>
            <a:r>
              <a:rPr lang="en-US" sz="2000" dirty="0" smtClean="0"/>
              <a:t>(), </a:t>
            </a:r>
            <a:r>
              <a:rPr lang="en-US" sz="2000" dirty="0" err="1" smtClean="0"/>
              <a:t>v.end</a:t>
            </a:r>
            <a:r>
              <a:rPr lang="en-US" sz="2000" dirty="0" smtClean="0"/>
              <a:t>()); // Sorting in ascending order</a:t>
            </a:r>
          </a:p>
          <a:p>
            <a:pPr marL="0" indent="0"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cout</a:t>
            </a:r>
            <a:r>
              <a:rPr lang="en-US" sz="2000" dirty="0" smtClean="0"/>
              <a:t> &lt;&lt; "Sorted Vector: ";</a:t>
            </a:r>
          </a:p>
          <a:p>
            <a:pPr marL="0" indent="0">
              <a:buNone/>
            </a:pPr>
            <a:r>
              <a:rPr lang="en-US" sz="2000" dirty="0" smtClean="0"/>
              <a:t>    </a:t>
            </a:r>
            <a:r>
              <a:rPr lang="nn-NO" sz="2000" dirty="0" smtClean="0"/>
              <a:t>for (int i = 0; i &lt; v.size(); i++) {</a:t>
            </a:r>
          </a:p>
          <a:p>
            <a:pPr marL="0" indent="0">
              <a:buNone/>
            </a:pPr>
            <a:r>
              <a:rPr lang="nn-NO" sz="2000" dirty="0" smtClean="0"/>
              <a:t>        cout &lt;&lt; v[i] &lt;&lt; " ";</a:t>
            </a:r>
          </a:p>
          <a:p>
            <a:pPr marL="0" indent="0">
              <a:buNone/>
            </a:pPr>
            <a:r>
              <a:rPr lang="nn-NO" sz="2000" dirty="0" smtClean="0"/>
              <a:t>    }</a:t>
            </a:r>
          </a:p>
          <a:p>
            <a:pPr marL="0" indent="0">
              <a:buNone/>
            </a:pPr>
            <a:r>
              <a:rPr lang="en-US" sz="2000" dirty="0" smtClean="0"/>
              <a:t>    return 0;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428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a Vector in Descending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310"/>
            <a:ext cx="10515600" cy="47166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#include &lt;</a:t>
            </a:r>
            <a:r>
              <a:rPr lang="en-US" sz="2000" dirty="0" err="1" smtClean="0"/>
              <a:t>iostream</a:t>
            </a:r>
            <a:r>
              <a:rPr lang="en-US" sz="2000" dirty="0" smtClean="0"/>
              <a:t>&gt;</a:t>
            </a:r>
          </a:p>
          <a:p>
            <a:pPr marL="0" indent="0">
              <a:buNone/>
            </a:pPr>
            <a:r>
              <a:rPr lang="en-US" sz="2000" dirty="0" smtClean="0"/>
              <a:t>#include &lt;vector&gt;</a:t>
            </a:r>
          </a:p>
          <a:p>
            <a:pPr marL="0" indent="0">
              <a:buNone/>
            </a:pPr>
            <a:r>
              <a:rPr lang="en-US" sz="2000" dirty="0" smtClean="0"/>
              <a:t>#include &lt;algorithm&gt; // Required for sort()</a:t>
            </a:r>
          </a:p>
          <a:p>
            <a:pPr marL="0" indent="0">
              <a:buNone/>
            </a:pPr>
            <a:r>
              <a:rPr lang="en-US" sz="2000" dirty="0" smtClean="0"/>
              <a:t>using namespace </a:t>
            </a:r>
            <a:r>
              <a:rPr lang="en-US" sz="2000" dirty="0" err="1" smtClean="0"/>
              <a:t>std</a:t>
            </a:r>
            <a:r>
              <a:rPr lang="en-US" sz="2000" dirty="0" smtClean="0"/>
              <a:t>;</a:t>
            </a:r>
          </a:p>
          <a:p>
            <a:pPr marL="0" indent="0">
              <a:buNone/>
            </a:pPr>
            <a:r>
              <a:rPr lang="en-US" sz="2000" dirty="0" err="1" smtClean="0"/>
              <a:t>int</a:t>
            </a:r>
            <a:r>
              <a:rPr lang="en-US" sz="2000" dirty="0" smtClean="0"/>
              <a:t> main() {</a:t>
            </a:r>
          </a:p>
          <a:p>
            <a:pPr marL="0" indent="0">
              <a:buNone/>
            </a:pPr>
            <a:r>
              <a:rPr lang="en-US" sz="2000" dirty="0" smtClean="0"/>
              <a:t>    vector&lt;</a:t>
            </a:r>
            <a:r>
              <a:rPr lang="en-US" sz="2000" dirty="0" err="1" smtClean="0"/>
              <a:t>int</a:t>
            </a:r>
            <a:r>
              <a:rPr lang="en-US" sz="2000" dirty="0" smtClean="0"/>
              <a:t>&gt; v = {40, 10, 50, 20, 30};</a:t>
            </a:r>
          </a:p>
          <a:p>
            <a:pPr marL="0" indent="0">
              <a:buNone/>
            </a:pPr>
            <a:r>
              <a:rPr lang="en-US" sz="2000" dirty="0" smtClean="0"/>
              <a:t>    sort(</a:t>
            </a:r>
            <a:r>
              <a:rPr lang="en-US" sz="2000" dirty="0" err="1" smtClean="0"/>
              <a:t>v.begin</a:t>
            </a:r>
            <a:r>
              <a:rPr lang="en-US" sz="2000" dirty="0" smtClean="0"/>
              <a:t>(), </a:t>
            </a:r>
            <a:r>
              <a:rPr lang="en-US" sz="2000" dirty="0" err="1" smtClean="0"/>
              <a:t>v.end</a:t>
            </a:r>
            <a:r>
              <a:rPr lang="en-US" sz="2000" dirty="0" smtClean="0"/>
              <a:t>(), greater&lt;</a:t>
            </a:r>
            <a:r>
              <a:rPr lang="en-US" sz="2000" dirty="0" err="1" smtClean="0"/>
              <a:t>int</a:t>
            </a:r>
            <a:r>
              <a:rPr lang="en-US" sz="2000" dirty="0" smtClean="0"/>
              <a:t>&gt;());</a:t>
            </a:r>
          </a:p>
          <a:p>
            <a:pPr marL="0" indent="0"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cout</a:t>
            </a:r>
            <a:r>
              <a:rPr lang="en-US" sz="2000" dirty="0" smtClean="0"/>
              <a:t> &lt;&lt; "Sorted Vector: ";</a:t>
            </a:r>
          </a:p>
          <a:p>
            <a:pPr marL="0" indent="0">
              <a:buNone/>
            </a:pPr>
            <a:r>
              <a:rPr lang="en-US" sz="2000" dirty="0" smtClean="0"/>
              <a:t>    </a:t>
            </a:r>
            <a:r>
              <a:rPr lang="nn-NO" sz="2000" dirty="0" smtClean="0"/>
              <a:t>for (int i = 0; i &lt; v.size(); i++) {</a:t>
            </a:r>
          </a:p>
          <a:p>
            <a:pPr marL="0" indent="0">
              <a:buNone/>
            </a:pPr>
            <a:r>
              <a:rPr lang="nn-NO" sz="2000" dirty="0" smtClean="0"/>
              <a:t>        cout &lt;&lt; v[i] &lt;&lt; " ";</a:t>
            </a:r>
          </a:p>
          <a:p>
            <a:pPr marL="0" indent="0">
              <a:buNone/>
            </a:pPr>
            <a:r>
              <a:rPr lang="nn-NO" sz="2000" dirty="0" smtClean="0"/>
              <a:t>    }</a:t>
            </a:r>
          </a:p>
          <a:p>
            <a:pPr marL="0" indent="0">
              <a:buNone/>
            </a:pPr>
            <a:r>
              <a:rPr lang="en-US" sz="2000" dirty="0" smtClean="0"/>
              <a:t>    return 0;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961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Vectors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vector&lt;</a:t>
            </a:r>
            <a:r>
              <a:rPr lang="en-US" dirty="0" err="1" smtClean="0"/>
              <a:t>int</a:t>
            </a:r>
            <a:r>
              <a:rPr lang="en-US" dirty="0" smtClean="0"/>
              <a:t>&gt; v1 = {1, 2, 3};</a:t>
            </a:r>
          </a:p>
          <a:p>
            <a:pPr marL="0" indent="0">
              <a:buNone/>
            </a:pPr>
            <a:r>
              <a:rPr lang="en-US" dirty="0" smtClean="0"/>
              <a:t>vector&lt;</a:t>
            </a:r>
            <a:r>
              <a:rPr lang="en-US" dirty="0" err="1" smtClean="0"/>
              <a:t>int</a:t>
            </a:r>
            <a:r>
              <a:rPr lang="en-US" dirty="0" smtClean="0"/>
              <a:t>&gt; v2 = {1, 2, 3};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(v1 == v2)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cout</a:t>
            </a:r>
            <a:r>
              <a:rPr lang="en-US" dirty="0" smtClean="0"/>
              <a:t> &lt;&lt; "Vectors are equal";</a:t>
            </a:r>
          </a:p>
          <a:p>
            <a:pPr marL="0" indent="0">
              <a:buNone/>
            </a:pPr>
            <a:r>
              <a:rPr lang="en-US" dirty="0" smtClean="0"/>
              <a:t>else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cout</a:t>
            </a:r>
            <a:r>
              <a:rPr lang="en-US" dirty="0" smtClean="0"/>
              <a:t> &lt;&lt; "Vectors are different";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81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Vectors over Arrays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781080"/>
              </p:ext>
            </p:extLst>
          </p:nvPr>
        </p:nvGraphicFramePr>
        <p:xfrm>
          <a:off x="838200" y="1825625"/>
          <a:ext cx="957504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457"/>
                <a:gridCol w="4231943"/>
                <a:gridCol w="256464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Feature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Array</a:t>
                      </a:r>
                      <a:endParaRPr lang="en-US" sz="28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Size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Dynamic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Fixed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Memory Management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Automatic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Manual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Insertion &amp; Deletion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Easier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Difficult</a:t>
                      </a:r>
                      <a:endParaRPr lang="en-US" sz="2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Safety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Uses .at() to avoid out-of-bounds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 safety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93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When to Use Vectors?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need </a:t>
            </a:r>
            <a:r>
              <a:rPr lang="en-US" b="1" dirty="0" smtClean="0"/>
              <a:t>dynamic resizing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When you frequently </a:t>
            </a:r>
            <a:r>
              <a:rPr lang="en-US" b="1" dirty="0" smtClean="0"/>
              <a:t>insert/delete</a:t>
            </a:r>
            <a:r>
              <a:rPr lang="en-US" dirty="0" smtClean="0"/>
              <a:t> elements.</a:t>
            </a:r>
            <a:endParaRPr lang="en-US" dirty="0"/>
          </a:p>
          <a:p>
            <a:r>
              <a:rPr lang="en-US" dirty="0" smtClean="0"/>
              <a:t>When you want </a:t>
            </a:r>
            <a:r>
              <a:rPr lang="en-US" b="1" dirty="0" smtClean="0"/>
              <a:t>safer memory management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234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659</Words>
  <Application>Microsoft Office PowerPoint</Application>
  <PresentationFormat>Widescreen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Office Theme</vt:lpstr>
      <vt:lpstr>Vectors in C++</vt:lpstr>
      <vt:lpstr>What is a Vector?</vt:lpstr>
      <vt:lpstr>Declaring &amp; Initializing a Vector</vt:lpstr>
      <vt:lpstr>Different Ways to Initialize a Vector</vt:lpstr>
      <vt:lpstr>Common Vector Functions</vt:lpstr>
      <vt:lpstr>Accessing Elements in a Vector</vt:lpstr>
      <vt:lpstr>Inserting &amp; Deleting Elements</vt:lpstr>
      <vt:lpstr>Sorting a Vector in Ascending Order</vt:lpstr>
      <vt:lpstr>Sorting a Vector in Descending Order</vt:lpstr>
      <vt:lpstr>Comparing Vectors</vt:lpstr>
      <vt:lpstr>Advantages of Vectors over Arrays</vt:lpstr>
      <vt:lpstr>When to Use Vectors?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 in C++</dc:title>
  <dc:creator>Majid Hussain</dc:creator>
  <cp:lastModifiedBy>Majid Hussain</cp:lastModifiedBy>
  <cp:revision>23</cp:revision>
  <dcterms:created xsi:type="dcterms:W3CDTF">2025-02-25T06:58:29Z</dcterms:created>
  <dcterms:modified xsi:type="dcterms:W3CDTF">2025-02-26T04:49:20Z</dcterms:modified>
</cp:coreProperties>
</file>